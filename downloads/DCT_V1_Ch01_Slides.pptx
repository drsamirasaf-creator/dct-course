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e785d7-1f25-a8d5-d95b-22d66c45ee0b}">
          <p14:sldIdLst>
            <p14:sldId id="256"/>
            <p14:sldId id="257"/>
            <p14:sldId id="258"/>
            <p14:sldId id="259"/>
          </p14:sldIdLst>
        </p14:section>
        <p14:section name="1.1 The Transformation Question" id="{ef3dfcdd-bdd5-202e-87d2-f8b892948815}">
          <p14:sldIdLst>
            <p14:sldId id="260"/>
            <p14:sldId id="261"/>
          </p14:sldIdLst>
        </p14:section>
        <p14:section name="1.2 How We Got Here" id="{750617e9-57e7-2963-c210-dd234973584b}">
          <p14:sldIdLst>
            <p14:sldId id="262"/>
          </p14:sldIdLst>
        </p14:section>
        <p14:section name="1.3 Why Existing Frameworks Fall Short" id="{5a2c16f5-12cc-af9b-cad6-1517ddf7d67c}">
          <p14:sldIdLst>
            <p14:sldId id="263"/>
          </p14:sldIdLst>
        </p14:section>
        <p14:section name="1.4 What DCT Is" id="{cbc8d737-659f-29e3-df65-3e62548a7f71}">
          <p14:sldIdLst>
            <p14:sldId id="264"/>
            <p14:sldId id="265"/>
            <p14:sldId id="266"/>
          </p14:sldIdLst>
        </p14:section>
        <p14:section name="1.5 The DCT Map" id="{28c1b099-8825-973e-e66c-4b6b39d19b1c}">
          <p14:sldIdLst>
            <p14:sldId id="267"/>
            <p14:sldId id="268"/>
            <p14:sldId id="269"/>
          </p14:sldIdLst>
        </p14:section>
        <p14:section name="1.6 Learning with This Book" id="{f35b2d34-bfce-10d0-4d4b-03c96e7c5bf7}">
          <p14:sldIdLst>
            <p14:sldId id="270"/>
          </p14:sldIdLst>
        </p14:section>
        <p14:section name="Worked Example 1.1" id="{83e7d7f0-dc2e-ea0b-9ace-ed084870f094}">
          <p14:sldIdLst>
            <p14:sldId id="271"/>
            <p14:sldId id="272"/>
            <p14:sldId id="273"/>
            <p14:sldId id="274"/>
            <p14:sldId id="275"/>
          </p14:sldIdLst>
        </p14:section>
        <p14:section name="AXIOM Lab 1.1" id="{9cf6b65a-cba7-d588-b3ac-96dfa277d930}">
          <p14:sldIdLst>
            <p14:sldId id="276"/>
          </p14:sldIdLst>
        </p14:section>
        <p14:section name="Close" id="{d494857d-9b75-538e-49d6-0b3d53d3f506}">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 The chapter follows the Meridian Group as its board weighs a digital pivot, a restructuring and an operational turnaround, describes the company as a state and a transformation as a path, shows why no smooth single score can rank the options, and tours the DCT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a deliberate change of the company's state (Definition 1.4): a company that adapts itself to the world drifts; one that sets out to change its position transforms. The epigraph and its source open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of Chapter 1; LOS Guidance at the end of the chapter explains what a strong answer to each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Propositions 1.1 and 1.2 are in Appendix 1.A; the stronger form of Proposition 1.2, the linear-scorecard case and the Chapter 1 model are in Online Appendix 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Digital moves capital and people from the core into Digital Solutions; restructuring sells part of Industrial Systems and pays down debt; the turnaround defends the core through cost and productivity programs. Meridian accompanies the reader through both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 1.1 and Worked Example 1.1, Step 1. Today's values are the state Chapter 3 declares (Table 3.1); sources and error bands are Chapter 5's (Table 5.2). The eight readings are a modeling choice, not a discovery (Chapter 4). Chapter 1's model moves four readings; Chapters 5-8 let all eight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Control theory had the mathematics without the enterprise; systems theory had the enterprise without the mathematics. Joining the two for the transformation problem is the central gap the book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1.1 and Section 1.3. The four questions: does it describe the whole company, capture change over time, compute, and rank alternatives? The five limitations are the book's negative space: every later chapter removes one or more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1.1-1.5 and the four principles of Section 1.4. Principle 2, declare with owners: the state, the decisions, the commitments, the objective and the outside forces are declared, and every commitment has an owner and a consequence if it is broken. The framework's answers are answers about the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1.2 and Proposition 1.1; proof in Appendix 1.A. Once a state is declared, transformation is not merely like motion through a space, it is motion through a space, and everything known about steering moving systems becomes available to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1.2; proof in Appendix 1.A. It makes Limitation L3 exact. Scores that jump erratically could avoid ties, but they say nothing reliable about nearby states and cannot be managed by (Online Appendix 1.B.3).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1.4 and Section 1.5.1. The map is the book's table of contents redrawn as a system: DCT represents a company as an evolving state, changed by transformation operators, resourced by a capital architecture, measured by a performance architecture, exposed through a risk architecture, integrated into one unified architecture, and steered by the General Enterprise Optimization Problem. An interactive version is on the course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 and Section 1.5.10. The order is not a convention: nothing can be analyzed before it is represented, an uncertified program can be optimal and still fail, and a policy that is never executed, monitored and revised is a report, not a transformation. Each Meridian number is derived in the chapters that follow (Worked Examples 13.1, 14.1, 15.1, 16.1; Volume II, Worked Example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1.5.10, What the framework tells Meridian's board. The options are moves that combine, and each worked example settles one piece under its chapter's declared model. The scorecard's scale reverses the ranking and its review window ranks digital last for two years (Worked Examples 11.1 and 16.1). Volume II, Chapter 16, puts the pieces into one declared model and one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1.6. AXIOM Labs 1.1-1.16 accompany Volume I and Labs 2.1-2.16 Volume II. Every lab follows the same pattern: a business situation and your role in it, step-by-step work in AXIOM, what to look for, questions for discussion and a short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the situation and Step 1. The model is the one behind Figure 1.3 and AXIOM Lab 1.1; its equations and parameters are in Online Appendix 1.B.4. Liquidity is indexed to today = 100 ($0.62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1.9 and Worked Example 1.1, Steps 2-3. Digital scores 47.1 and restructuring 46.1, a one-point gap well inside any forecast error; the turnaround, at 38.4, is clearly behind. With four more points of liquidity the restructuring scores 1/4 (125.2 + 38.9 + 73.7 - 49.4) = 47.1, exactly matching the digital option (Online Appendix 1.B.2: 4.05 points at $6.2 million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Steps 4 and 6. The two equal futures are very different companies: the same score hides different futures. Online Appendix 1.B.2: any further change along a direction that leaves the score unchanged keeps the tie, so the board faces a three-dimensional family of equal Year-5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Step 5, and Figure 1.3. A downturn or a delay at the trough could leave Meridian with the costs of the program but not its benefits. The risk peak and the score's path are in Section 1.5 (Tables 1.4 and 1.5; Worked Examples 11.1 and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1.1, what the board should take away, and the discussion question: what would you have to believe about markets, technology and financing for your answer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 What to look for: the digital path's liquidity trough around month 21; the restructuring's jump at the sale date; and every scorecard producing ties between genuinely different companies, Proposition 1.2 at work. Discussion: which path would worry a lender most, and when; which reading would break the tie, and would a new tie appear; what would make the turnaround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notebook's fan uses Chapter 8's declared uncertainty, drawn as in the book with seed 8 (Volume II, Online Appendix 1.B.4); the lab's seed 26101 is used only for a fresh stream,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Enterprise Systems and Transformation: the enterprise system as a septuple with a transition and an output function (Equation 2.2); Worked Example 2.1 asks where Meridian ends, with its dealer network inside or outside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 · WEEK 1</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Introduction to Dynamic Corporate Transformation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A company is a state and a transformation is the path that state travels: the path matters, and no single number can decide between the options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26101 · AXIOM Lab 1.1 (AXIOM-01)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“The reasonable man adapts himself to the world: the unreasonable one persists in trying to adapt the world to himself. Therefore all progress depends on the unreasonable man.”</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George Bernard Shaw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1925; Man and Superman, “Maxims for Revolutionists” (1903)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boards struggle to compare transformation options such as a digital pivot, a restructuring, and a turnaround, and what a complete picture of the company would need to show.</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Compare the main lenses used to analyze a company—finance, strategy, operations and control, systems thinking, and enterprise architecture—and say what each sees well and what it misses.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a company as a state and a transformation as the path that state travels, and explain why the path matters as much as the destination.</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using Meridian, why a single number such as enterprise value, ROIC, or a scorecard total cannot by itself decide between transformation options.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Use the DCT Map to explain the whole DCT framework—its moves, architectures, certificates, and methods—and how the two volumes, the course website, and the AXIOM laboratory take a company from description to decision, execution, and adaptation.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Transformation Question</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Meridian · Equation 1.1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How We Got Here: Six Ways of Looking at a Company</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Figure 1.1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Why Existing Frameworks Fall Short</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1.1 · Limitations L1–L5</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What DCT Is: Core Ideas and Two Key Results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Definitions 1.1–1.5 · Propositions 1.1–1.2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DCT Map: How the Two Volumes Fit Together</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Figure 1.4 · seven moves</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with This Book</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Figure 1.5</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Same Score, Different Company</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1.9 · Figure 1.3</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Meridian at a Crossroads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AXIOM-01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 · THE MERIDIAN GROUP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 at a moment of decision</a:t>
            </a:r>
            <a:endParaRPr lang="en-US" sz="3200" dirty="0"/>
          </a:p>
        </p:txBody>
      </p:sp>
      <p:sp>
        <p:nvSpPr>
          <p:cNvPr id="5" name="Stat card"/>
          <p:cNvSpPr/>
          <p:nvPr/>
        </p:nvSpPr>
        <p:spPr>
          <a:xfrm>
            <a:off x="548640" y="1691640"/>
            <a:ext cx="2567864"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$4.2bn</a:t>
            </a:r>
            <a:endParaRPr lang="en-US" sz="4000" dirty="0"/>
          </a:p>
        </p:txBody>
      </p:sp>
      <p:sp>
        <p:nvSpPr>
          <p:cNvPr id="7" name="Stat label"/>
          <p:cNvSpPr txBox="1"/>
          <p:nvPr/>
        </p:nvSpPr>
        <p:spPr>
          <a:xfrm>
            <a:off x="685800" y="2697480"/>
            <a:ext cx="2293544" cy="749808"/>
          </a:xfrm>
          <a:prstGeom prst="rect">
            <a:avLst/>
          </a:prstGeom>
          <a:noFill/>
          <a:ln/>
        </p:spPr>
        <p:txBody>
          <a:bodyPr wrap="square" lIns="0" tIns="0" rIns="0" bIns="0" rtlCol="0" anchor="t"/>
          <a:lstStyle/>
          <a:p>
            <a:pPr algn="ctr" indent="0" marL="0">
              <a:buNone/>
            </a:pPr>
            <a:r>
              <a:rPr lang="en-US" sz="1400" dirty="0">
                <a:solidFill>
                  <a:schemeClr val="bg2"/>
                </a:solidFill>
              </a:rPr>
              <a:t>revenue; founded 1952, publicly listed</a:t>
            </a:r>
            <a:endParaRPr lang="en-US" sz="1400" dirty="0"/>
          </a:p>
        </p:txBody>
      </p:sp>
      <p:sp>
        <p:nvSpPr>
          <p:cNvPr id="8" name="Stat card"/>
          <p:cNvSpPr/>
          <p:nvPr/>
        </p:nvSpPr>
        <p:spPr>
          <a:xfrm>
            <a:off x="3390824" y="1691640"/>
            <a:ext cx="2567864"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11.8%</a:t>
            </a:r>
            <a:endParaRPr lang="en-US" sz="4000" dirty="0"/>
          </a:p>
        </p:txBody>
      </p:sp>
      <p:sp>
        <p:nvSpPr>
          <p:cNvPr id="10" name="Stat label"/>
          <p:cNvSpPr txBox="1"/>
          <p:nvPr/>
        </p:nvSpPr>
        <p:spPr>
          <a:xfrm>
            <a:off x="3527984" y="2697480"/>
            <a:ext cx="2293544" cy="749808"/>
          </a:xfrm>
          <a:prstGeom prst="rect">
            <a:avLst/>
          </a:prstGeom>
          <a:noFill/>
          <a:ln/>
        </p:spPr>
        <p:txBody>
          <a:bodyPr wrap="square" lIns="0" tIns="0" rIns="0" bIns="0" rtlCol="0" anchor="t"/>
          <a:lstStyle/>
          <a:p>
            <a:pPr algn="ctr" indent="0" marL="0">
              <a:buNone/>
            </a:pPr>
            <a:r>
              <a:rPr lang="en-US" sz="1400" dirty="0">
                <a:solidFill>
                  <a:schemeClr val="tx2"/>
                </a:solidFill>
              </a:rPr>
              <a:t>EBITDA margin</a:t>
            </a:r>
            <a:endParaRPr lang="en-US" sz="1400" dirty="0"/>
          </a:p>
        </p:txBody>
      </p:sp>
      <p:sp>
        <p:nvSpPr>
          <p:cNvPr id="11" name="Stat card"/>
          <p:cNvSpPr/>
          <p:nvPr/>
        </p:nvSpPr>
        <p:spPr>
          <a:xfrm>
            <a:off x="6233008" y="1691640"/>
            <a:ext cx="2567864"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3.4×</a:t>
            </a:r>
            <a:endParaRPr lang="en-US" sz="4000" dirty="0"/>
          </a:p>
        </p:txBody>
      </p:sp>
      <p:sp>
        <p:nvSpPr>
          <p:cNvPr id="13" name="Stat label"/>
          <p:cNvSpPr txBox="1"/>
          <p:nvPr/>
        </p:nvSpPr>
        <p:spPr>
          <a:xfrm>
            <a:off x="6370168" y="2697480"/>
            <a:ext cx="2293544" cy="749808"/>
          </a:xfrm>
          <a:prstGeom prst="rect">
            <a:avLst/>
          </a:prstGeom>
          <a:noFill/>
          <a:ln/>
        </p:spPr>
        <p:txBody>
          <a:bodyPr wrap="square" lIns="0" tIns="0" rIns="0" bIns="0" rtlCol="0" anchor="t"/>
          <a:lstStyle/>
          <a:p>
            <a:pPr algn="ctr" indent="0" marL="0">
              <a:buNone/>
            </a:pPr>
            <a:r>
              <a:rPr lang="en-US" sz="1400" dirty="0">
                <a:solidFill>
                  <a:schemeClr val="tx2"/>
                </a:solidFill>
              </a:rPr>
              <a:t>net leverage, net debt to EBITDA</a:t>
            </a:r>
            <a:endParaRPr lang="en-US" sz="1400" dirty="0"/>
          </a:p>
        </p:txBody>
      </p:sp>
      <p:sp>
        <p:nvSpPr>
          <p:cNvPr id="14" name="Stat card"/>
          <p:cNvSpPr/>
          <p:nvPr/>
        </p:nvSpPr>
        <p:spPr>
          <a:xfrm>
            <a:off x="9075191" y="1691640"/>
            <a:ext cx="2567864" cy="1828800"/>
          </a:xfrm>
          <a:prstGeom prst="roundRect">
            <a:avLst>
              <a:gd name="adj" fmla="val 4000"/>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18,400</a:t>
            </a:r>
            <a:endParaRPr lang="en-US" sz="4000" dirty="0"/>
          </a:p>
        </p:txBody>
      </p:sp>
      <p:sp>
        <p:nvSpPr>
          <p:cNvPr id="16" name="Stat label"/>
          <p:cNvSpPr txBox="1"/>
          <p:nvPr/>
        </p:nvSpPr>
        <p:spPr>
          <a:xfrm>
            <a:off x="9212351" y="2697480"/>
            <a:ext cx="2293544" cy="749808"/>
          </a:xfrm>
          <a:prstGeom prst="rect">
            <a:avLst/>
          </a:prstGeom>
          <a:noFill/>
          <a:ln/>
        </p:spPr>
        <p:txBody>
          <a:bodyPr wrap="square" lIns="0" tIns="0" rIns="0" bIns="0" rtlCol="0" anchor="t"/>
          <a:lstStyle/>
          <a:p>
            <a:pPr algn="ctr" indent="0" marL="0">
              <a:buNone/>
            </a:pPr>
            <a:r>
              <a:rPr lang="en-US" sz="1400" dirty="0">
                <a:solidFill>
                  <a:schemeClr val="tx2"/>
                </a:solidFill>
              </a:rPr>
              <a:t>employees in three divisions</a:t>
            </a:r>
            <a:endParaRPr lang="en-US" sz="1400" dirty="0"/>
          </a:p>
        </p:txBody>
      </p:sp>
      <p:sp>
        <p:nvSpPr>
          <p:cNvPr id="17"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Industrial Systems</a:t>
            </a:r>
            <a:r>
              <a:rPr lang="en-US" sz="1800" dirty="0">
                <a:solidFill>
                  <a:schemeClr val="tx1"/>
                </a:solidFill>
              </a:rPr>
              <a:t>, the historic core: 61% of revenue, shrinking for five years in a row</a:t>
            </a:r>
            <a:endParaRPr lang="en-US" sz="1800" dirty="0"/>
          </a:p>
          <a:p>
            <a:pPr marL="228600" indent="-228600">
              <a:spcAft>
                <a:spcPts val="800"/>
              </a:spcAft>
              <a:buSzPct val="100000"/>
              <a:buChar char="•"/>
            </a:pPr>
            <a:r>
              <a:rPr lang="en-US" sz="1800" b="1" dirty="0">
                <a:solidFill>
                  <a:schemeClr val="tx1"/>
                </a:solidFill>
              </a:rPr>
              <a:t>Digital Solutions</a:t>
            </a:r>
            <a:r>
              <a:rPr lang="en-US" sz="1800" dirty="0">
                <a:solidFill>
                  <a:schemeClr val="tx1"/>
                </a:solidFill>
              </a:rPr>
              <a:t>: 17% of revenue, growing 22% a year, consuming cash and talent faster than it replaces them</a:t>
            </a:r>
            <a:endParaRPr lang="en-US" sz="1800" dirty="0"/>
          </a:p>
          <a:p>
            <a:pPr marL="228600" indent="-228600">
              <a:spcAft>
                <a:spcPts val="800"/>
              </a:spcAft>
              <a:buSzPct val="100000"/>
              <a:buChar char="•"/>
            </a:pPr>
            <a:r>
              <a:rPr lang="en-US" sz="1800" b="1" dirty="0">
                <a:solidFill>
                  <a:schemeClr val="tx1"/>
                </a:solidFill>
              </a:rPr>
              <a:t>Advanced Materials</a:t>
            </a:r>
            <a:r>
              <a:rPr lang="en-US" sz="1800" dirty="0">
                <a:solidFill>
                  <a:schemeClr val="tx1"/>
                </a:solidFill>
              </a:rPr>
              <a:t>: 22% of revenue, profitable, capital-intensive and strategically ambiguous</a:t>
            </a:r>
            <a:endParaRPr lang="en-US" sz="1800" dirty="0"/>
          </a:p>
          <a:p>
            <a:pPr marL="228600" indent="-228600">
              <a:spcAft>
                <a:spcPts val="800"/>
              </a:spcAft>
              <a:buSzPct val="100000"/>
              <a:buChar char="•"/>
            </a:pPr>
            <a:r>
              <a:rPr lang="en-US" sz="1800" dirty="0">
                <a:solidFill>
                  <a:schemeClr val="tx1"/>
                </a:solidFill>
              </a:rPr>
              <a:t>The board weighs a </a:t>
            </a:r>
            <a:r>
              <a:rPr lang="en-US" sz="1800" b="1" dirty="0">
                <a:solidFill>
                  <a:schemeClr val="tx1"/>
                </a:solidFill>
              </a:rPr>
              <a:t>digital transformation</a:t>
            </a:r>
            <a:r>
              <a:rPr lang="en-US" sz="1800" dirty="0">
                <a:solidFill>
                  <a:schemeClr val="tx1"/>
                </a:solidFill>
              </a:rPr>
              <a:t>, a </a:t>
            </a:r>
            <a:r>
              <a:rPr lang="en-US" sz="1800" b="1" dirty="0">
                <a:solidFill>
                  <a:schemeClr val="tx1"/>
                </a:solidFill>
              </a:rPr>
              <a:t>restructuring</a:t>
            </a:r>
            <a:r>
              <a:rPr lang="en-US" sz="1800" dirty="0">
                <a:solidFill>
                  <a:schemeClr val="tx1"/>
                </a:solidFill>
              </a:rPr>
              <a:t> and an </a:t>
            </a:r>
            <a:r>
              <a:rPr lang="en-US" sz="1800" b="1" dirty="0">
                <a:solidFill>
                  <a:schemeClr val="tx1"/>
                </a:solidFill>
              </a:rPr>
              <a:t>operational turnaround</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§1.1 · EQUATION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readings say where Meridian stands</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36827"/>
                <a:gridCol w="3220959"/>
                <a:gridCol w="2147306"/>
                <a:gridCol w="3042017"/>
                <a:gridCol w="2147306"/>
              </a:tblGrid>
              <a:tr h="420624">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Reading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Today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Measured by (error band)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 Chapter 1's model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x₁</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$0.62bn (index 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treasury systems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moves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x₂</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Net leverage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audited accounts (±2%)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held at today's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x₃</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Workforce capability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skills survey (±5)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held at today's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x₄</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Technology platform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architecture audit (±4)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moves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x₅</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Operational efficiency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cost benchmarking (±3)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moves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x₆</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audited accounts (±0.4 pp)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held at today's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x₇</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 risk (lower is better)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committee (±6)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moves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x₈</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Market share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industry data (±0.8 pp)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held at today's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Equation 1.1: </a:t>
            </a:r>
            <a:r>
              <a:rPr lang="en-US" sz="1600" b="1" dirty="0">
                <a:solidFill>
                  <a:schemeClr val="accent2"/>
                </a:solidFill>
              </a:rPr>
              <a:t>x</a:t>
            </a:r>
            <a:r>
              <a:rPr lang="en-US" sz="1600" dirty="0">
                <a:solidFill>
                  <a:schemeClr val="accent2"/>
                </a:solidFill>
              </a:rPr>
              <a:t>(t) = [x₁(t), …, x₈(t)]</a:t>
            </a:r>
            <a:r>
              <a:rPr lang="en-US" sz="1600" baseline="30000" dirty="0">
                <a:solidFill>
                  <a:schemeClr val="accent2"/>
                </a:solidFill>
              </a:rPr>
              <a:t>T</a:t>
            </a:r>
            <a:r>
              <a:rPr lang="en-US" sz="1600" dirty="0">
                <a:solidFill>
                  <a:schemeClr val="accent2"/>
                </a:solidFill>
              </a:rPr>
              <a:t>, the company's dashboard at time 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 · FIGURE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ways of looking at a company</a:t>
            </a:r>
            <a:endParaRPr lang="en-US" sz="3200" dirty="0"/>
          </a:p>
        </p:txBody>
      </p:sp>
      <p:sp>
        <p:nvSpPr>
          <p:cNvPr id="5" name="Bullets"/>
          <p:cNvSpPr txBox="1"/>
          <p:nvPr/>
        </p:nvSpPr>
        <p:spPr>
          <a:xfrm>
            <a:off x="548640" y="1691640"/>
            <a:ext cx="4698663"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Scientific management</a:t>
            </a:r>
            <a:r>
              <a:rPr lang="en-US" sz="1600" dirty="0">
                <a:solidFill>
                  <a:schemeClr val="tx1"/>
                </a:solidFill>
              </a:rPr>
              <a:t> made the company measurable, one task at a time</a:t>
            </a:r>
            <a:endParaRPr lang="en-US" sz="1600" dirty="0"/>
          </a:p>
          <a:p>
            <a:pPr marL="228600" indent="-228600">
              <a:spcAft>
                <a:spcPts val="800"/>
              </a:spcAft>
              <a:buSzPct val="100000"/>
              <a:buChar char="•"/>
            </a:pPr>
            <a:r>
              <a:rPr lang="en-US" sz="1600" b="1" dirty="0">
                <a:solidFill>
                  <a:schemeClr val="tx1"/>
                </a:solidFill>
              </a:rPr>
              <a:t>Systems theory</a:t>
            </a:r>
            <a:r>
              <a:rPr lang="en-US" sz="1600" dirty="0">
                <a:solidFill>
                  <a:schemeClr val="tx1"/>
                </a:solidFill>
              </a:rPr>
              <a:t> saw feedback and adaptation, but simulates rather than proves</a:t>
            </a:r>
            <a:endParaRPr lang="en-US" sz="1600" dirty="0"/>
          </a:p>
          <a:p>
            <a:pPr marL="228600" indent="-228600">
              <a:spcAft>
                <a:spcPts val="800"/>
              </a:spcAft>
              <a:buSzPct val="100000"/>
              <a:buChar char="•"/>
            </a:pPr>
            <a:r>
              <a:rPr lang="en-US" sz="1600" b="1" dirty="0">
                <a:solidFill>
                  <a:schemeClr val="tx1"/>
                </a:solidFill>
              </a:rPr>
              <a:t>Operations research and control</a:t>
            </a:r>
            <a:r>
              <a:rPr lang="en-US" sz="1600" dirty="0">
                <a:solidFill>
                  <a:schemeClr val="tx1"/>
                </a:solidFill>
              </a:rPr>
              <a:t> steer systems over time, applied piece by piece</a:t>
            </a:r>
            <a:endParaRPr lang="en-US" sz="1600" dirty="0"/>
          </a:p>
          <a:p>
            <a:pPr marL="228600" indent="-228600">
              <a:spcAft>
                <a:spcPts val="800"/>
              </a:spcAft>
              <a:buSzPct val="100000"/>
              <a:buChar char="•"/>
            </a:pPr>
            <a:r>
              <a:rPr lang="en-US" sz="1600" b="1" dirty="0">
                <a:solidFill>
                  <a:schemeClr val="tx1"/>
                </a:solidFill>
              </a:rPr>
              <a:t>Corporate finance</a:t>
            </a:r>
            <a:r>
              <a:rPr lang="en-US" sz="1600" dirty="0">
                <a:solidFill>
                  <a:schemeClr val="tx1"/>
                </a:solidFill>
              </a:rPr>
              <a:t> prices capital precisely by projecting the company onto cash flows</a:t>
            </a:r>
            <a:endParaRPr lang="en-US" sz="1600" dirty="0"/>
          </a:p>
          <a:p>
            <a:pPr marL="228600" indent="-228600">
              <a:spcAft>
                <a:spcPts val="800"/>
              </a:spcAft>
              <a:buSzPct val="100000"/>
              <a:buChar char="•"/>
            </a:pPr>
            <a:r>
              <a:rPr lang="en-US" sz="1600" b="1" dirty="0">
                <a:solidFill>
                  <a:schemeClr val="tx1"/>
                </a:solidFill>
              </a:rPr>
              <a:t>Strategy</a:t>
            </a:r>
            <a:r>
              <a:rPr lang="en-US" sz="1600" dirty="0">
                <a:solidFill>
                  <a:schemeClr val="tx1"/>
                </a:solidFill>
              </a:rPr>
              <a:t> names the capacity to transform, but in words</a:t>
            </a:r>
            <a:endParaRPr lang="en-US" sz="1600" dirty="0"/>
          </a:p>
          <a:p>
            <a:pPr marL="228600" indent="-228600">
              <a:spcAft>
                <a:spcPts val="800"/>
              </a:spcAft>
              <a:buSzPct val="100000"/>
              <a:buChar char="•"/>
            </a:pPr>
            <a:r>
              <a:rPr lang="en-US" sz="1600" b="1" dirty="0">
                <a:solidFill>
                  <a:schemeClr val="tx1"/>
                </a:solidFill>
              </a:rPr>
              <a:t>Enterprise architecture</a:t>
            </a:r>
            <a:r>
              <a:rPr lang="en-US" sz="1600" dirty="0">
                <a:solidFill>
                  <a:schemeClr val="tx1"/>
                </a:solidFill>
              </a:rPr>
              <a:t> describes structure, but not movement</a:t>
            </a:r>
            <a:endParaRPr lang="en-US" sz="1600" dirty="0"/>
          </a:p>
          <a:p>
            <a:pPr marL="228600" indent="-228600">
              <a:spcAft>
                <a:spcPts val="800"/>
              </a:spcAft>
              <a:buSzPct val="100000"/>
              <a:buChar char="•"/>
            </a:pPr>
            <a:r>
              <a:rPr lang="en-US" sz="1600" dirty="0">
                <a:solidFill>
                  <a:schemeClr val="tx1"/>
                </a:solidFill>
              </a:rPr>
              <a:t>Every ingredient exists; no single discipline combines them. That combination is DCT</a:t>
            </a:r>
            <a:endParaRPr lang="en-US" sz="1600" dirty="0"/>
          </a:p>
        </p:txBody>
      </p:sp>
      <p:pic>
        <p:nvPicPr>
          <p:cNvPr id="6" name="Figure" descr="Figure 1.1: how enterprise analysis evolved">    </p:cNvPr>
          <p:cNvPicPr>
            <a:picLocks noChangeAspect="1"/>
          </p:cNvPicPr>
          <p:nvPr/>
        </p:nvPicPr>
        <p:blipFill>
          <a:blip r:embed="rId1"/>
          <a:stretch>
            <a:fillRect/>
          </a:stretch>
        </p:blipFill>
        <p:spPr>
          <a:xfrm>
            <a:off x="5902240" y="1691640"/>
            <a:ext cx="5451637" cy="3913632"/>
          </a:xfrm>
          <a:prstGeom prst="rect">
            <a:avLst/>
          </a:prstGeom>
        </p:spPr>
      </p:pic>
      <p:sp>
        <p:nvSpPr>
          <p:cNvPr id="7" name="Caption"/>
          <p:cNvSpPr txBox="1"/>
          <p:nvPr/>
        </p:nvSpPr>
        <p:spPr>
          <a:xfrm>
            <a:off x="5613063" y="5678424"/>
            <a:ext cx="6029993" cy="502920"/>
          </a:xfrm>
          <a:prstGeom prst="rect">
            <a:avLst/>
          </a:prstGeom>
          <a:noFill/>
          <a:ln/>
        </p:spPr>
        <p:txBody>
          <a:bodyPr wrap="square" lIns="0" tIns="0" rIns="0" bIns="0" rtlCol="0" anchor="t"/>
          <a:lstStyle/>
          <a:p>
            <a:pPr indent="0" marL="0">
              <a:buNone/>
            </a:pPr>
            <a:r>
              <a:rPr lang="en-US" sz="1100" i="1" dirty="0">
                <a:solidFill>
                  <a:schemeClr val="tx2"/>
                </a:solidFill>
              </a:rPr>
              <a:t>Figure 1.1. How enterprise analysis evolved: six streams developed largely in parallel over the twentieth century; DCT brings them together for the transformation problem.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 · TABLE 1.1 · LIMITATIONS L1–L5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discipline answers yes to all four</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77375"/>
                <a:gridCol w="2201273"/>
                <a:gridCol w="2289324"/>
                <a:gridCol w="1100636"/>
                <a:gridCol w="1364789"/>
                <a:gridCol w="1761018"/>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Discipline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analyzes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Form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Over time?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Whole company?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Ranks options?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Scientific management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tasks, processes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arithmetic, statistics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locally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Systems theory, system dynamics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feedback structures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simulation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Operations research, control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engineered subsystems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state models, optimization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Corporate finance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cash flows, claims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stochastic models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 (projection)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 (financial)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Strategic management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positioning, capabilities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largely verbal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implicitly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Enterprise architecture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structure, components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diagrams, metamodels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300" b="1" dirty="0">
                          <a:solidFill>
                            <a:srgbClr val="0F1E3D"/>
                          </a:solidFill>
                          <a:latin typeface="Calibri" pitchFamily="34" charset="0"/>
                          <a:ea typeface="Calibri" pitchFamily="34" charset="-122"/>
                          <a:cs typeface="Calibri" pitchFamily="34" charset="-120"/>
                        </a:rPr>
                        <a:t>DCT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company as a dynamic system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state, operators, optimization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yes (one declared problem)</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23036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L1 Fragmentation · L2 Snapshots · L3 One-number summaries · L4 No state · L5 No well-posed problem. Chapters 5–8 remove L4 and L2; 9–12 remove L3; 13 removes L1; 14–16 remove L5.</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No discipline gives a dynamic, whole-company, optimizable description; DCT is built to do so</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 · DEFINITIONS 1.1–1.5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DCT describes a company as a dynamic system</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DEFINITIONS 1.1–1.5</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Dynamic Corporate Transformation</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DCT</a:t>
            </a:r>
            <a:r>
              <a:rPr lang="en-US" sz="1400" dirty="0">
                <a:solidFill>
                  <a:schemeClr val="tx1"/>
                </a:solidFill>
              </a:rPr>
              <a:t> describes a company as a dynamic system and treats transformation as analysis and optimization over it</a:t>
            </a:r>
            <a:endParaRPr lang="en-US" sz="1400" dirty="0"/>
          </a:p>
          <a:p>
            <a:pPr marL="228600" indent="-228600">
              <a:spcAft>
                <a:spcPts val="600"/>
              </a:spcAft>
              <a:buSzPct val="100000"/>
              <a:buChar char="•"/>
            </a:pPr>
            <a:r>
              <a:rPr lang="en-US" sz="1400" b="1" dirty="0">
                <a:solidFill>
                  <a:schemeClr val="tx1"/>
                </a:solidFill>
              </a:rPr>
              <a:t>Enterprise system</a:t>
            </a:r>
            <a:r>
              <a:rPr lang="en-US" sz="1400" dirty="0">
                <a:solidFill>
                  <a:schemeClr val="tx1"/>
                </a:solidFill>
              </a:rPr>
              <a:t>: purposeful, open, adaptive, and able to change its own configuration</a:t>
            </a:r>
            <a:endParaRPr lang="en-US" sz="1400" dirty="0"/>
          </a:p>
          <a:p>
            <a:pPr marL="228600" indent="-228600">
              <a:spcAft>
                <a:spcPts val="600"/>
              </a:spcAft>
              <a:buSzPct val="100000"/>
              <a:buChar char="•"/>
            </a:pPr>
            <a:r>
              <a:rPr lang="en-US" sz="1400" b="1" dirty="0">
                <a:solidFill>
                  <a:schemeClr val="tx1"/>
                </a:solidFill>
              </a:rPr>
              <a:t>Enterprise state</a:t>
            </a:r>
            <a:r>
              <a:rPr lang="en-US" sz="1400" dirty="0">
                <a:solidFill>
                  <a:schemeClr val="tx1"/>
                </a:solidFill>
              </a:rPr>
              <a:t>: a complete description, at a chosen level of detail, of the decision-relevant condition</a:t>
            </a:r>
            <a:endParaRPr lang="en-US" sz="1400" dirty="0"/>
          </a:p>
          <a:p>
            <a:pPr marL="228600" indent="-228600">
              <a:spcAft>
                <a:spcPts val="600"/>
              </a:spcAft>
              <a:buSzPct val="100000"/>
              <a:buChar char="•"/>
            </a:pPr>
            <a:r>
              <a:rPr lang="en-US" sz="1400" b="1" dirty="0">
                <a:solidFill>
                  <a:schemeClr val="tx1"/>
                </a:solidFill>
              </a:rPr>
              <a:t>Transformation</a:t>
            </a:r>
            <a:r>
              <a:rPr lang="en-US" sz="1400" dirty="0">
                <a:solidFill>
                  <a:schemeClr val="tx1"/>
                </a:solidFill>
              </a:rPr>
              <a:t>: a deliberate change of state over time, by management's decisions, under uncertainty</a:t>
            </a:r>
            <a:endParaRPr lang="en-US" sz="1400" dirty="0"/>
          </a:p>
          <a:p>
            <a:pPr marL="228600" indent="-228600">
              <a:spcAft>
                <a:spcPts val="600"/>
              </a:spcAft>
              <a:buSzPct val="100000"/>
              <a:buChar char="•"/>
            </a:pPr>
            <a:r>
              <a:rPr lang="en-US" sz="1400" b="1" dirty="0">
                <a:solidFill>
                  <a:schemeClr val="tx1"/>
                </a:solidFill>
              </a:rPr>
              <a:t>Architecture</a:t>
            </a:r>
            <a:r>
              <a:rPr lang="en-US" sz="1400" dirty="0">
                <a:solidFill>
                  <a:schemeClr val="tx1"/>
                </a:solidFill>
              </a:rPr>
              <a:t>: a structure that organizes one aspect of the company and plugs into a model that moves</a:t>
            </a:r>
            <a:endParaRPr lang="en-US" sz="14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Six architectures organize the book</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ESA</a:t>
            </a:r>
            <a:r>
              <a:rPr lang="en-US" sz="1500" dirty="0">
                <a:solidFill>
                  <a:schemeClr val="tx1"/>
                </a:solidFill>
              </a:rPr>
              <a:t> what is the company? (Chapter 9)</a:t>
            </a:r>
            <a:endParaRPr lang="en-US" sz="1500" dirty="0"/>
          </a:p>
          <a:p>
            <a:pPr marL="228600" indent="-228600">
              <a:spcAft>
                <a:spcPts val="800"/>
              </a:spcAft>
              <a:buSzPct val="100000"/>
              <a:buChar char="•"/>
            </a:pPr>
            <a:r>
              <a:rPr lang="en-US" sz="1500" b="1" dirty="0">
                <a:solidFill>
                  <a:schemeClr val="tx1"/>
                </a:solidFill>
              </a:rPr>
              <a:t>ETA</a:t>
            </a:r>
            <a:r>
              <a:rPr lang="en-US" sz="1500" dirty="0">
                <a:solidFill>
                  <a:schemeClr val="tx1"/>
                </a:solidFill>
              </a:rPr>
              <a:t> how does it change? (Chapters 6–8)</a:t>
            </a:r>
            <a:endParaRPr lang="en-US" sz="1500" dirty="0"/>
          </a:p>
          <a:p>
            <a:pPr marL="228600" indent="-228600">
              <a:spcAft>
                <a:spcPts val="800"/>
              </a:spcAft>
              <a:buSzPct val="100000"/>
              <a:buChar char="•"/>
            </a:pPr>
            <a:r>
              <a:rPr lang="en-US" sz="1500" b="1" dirty="0">
                <a:solidFill>
                  <a:schemeClr val="tx1"/>
                </a:solidFill>
              </a:rPr>
              <a:t>ECA</a:t>
            </a:r>
            <a:r>
              <a:rPr lang="en-US" sz="1500" dirty="0">
                <a:solidFill>
                  <a:schemeClr val="tx1"/>
                </a:solidFill>
              </a:rPr>
              <a:t> what makes change possible? Ten forms of capital (Chapter 10)</a:t>
            </a:r>
            <a:endParaRPr lang="en-US" sz="1500" dirty="0"/>
          </a:p>
          <a:p>
            <a:pPr marL="228600" indent="-228600">
              <a:spcAft>
                <a:spcPts val="800"/>
              </a:spcAft>
              <a:buSzPct val="100000"/>
              <a:buChar char="•"/>
            </a:pPr>
            <a:r>
              <a:rPr lang="en-US" sz="1500" b="1" dirty="0">
                <a:solidFill>
                  <a:schemeClr val="tx1"/>
                </a:solidFill>
              </a:rPr>
              <a:t>EPA</a:t>
            </a:r>
            <a:r>
              <a:rPr lang="en-US" sz="1500" dirty="0">
                <a:solidFill>
                  <a:schemeClr val="tx1"/>
                </a:solidFill>
              </a:rPr>
              <a:t> how is change measured? Ten dimensions of performance (Chapter 11)</a:t>
            </a:r>
            <a:endParaRPr lang="en-US" sz="1500" dirty="0"/>
          </a:p>
          <a:p>
            <a:pPr marL="228600" indent="-228600">
              <a:spcAft>
                <a:spcPts val="800"/>
              </a:spcAft>
              <a:buSzPct val="100000"/>
              <a:buChar char="•"/>
            </a:pPr>
            <a:r>
              <a:rPr lang="en-US" sz="1500" b="1" dirty="0">
                <a:solidFill>
                  <a:schemeClr val="tx1"/>
                </a:solidFill>
              </a:rPr>
              <a:t>ERRA</a:t>
            </a:r>
            <a:r>
              <a:rPr lang="en-US" sz="1500" dirty="0">
                <a:solidFill>
                  <a:schemeClr val="tx1"/>
                </a:solidFill>
              </a:rPr>
              <a:t> how does it withstand uncertainty? (Chapter 12)</a:t>
            </a:r>
            <a:endParaRPr lang="en-US" sz="1500" dirty="0"/>
          </a:p>
          <a:p>
            <a:pPr marL="228600" indent="-228600">
              <a:spcAft>
                <a:spcPts val="800"/>
              </a:spcAft>
              <a:buSzPct val="100000"/>
              <a:buChar char="•"/>
            </a:pPr>
            <a:r>
              <a:rPr lang="en-US" sz="1500" b="1" dirty="0">
                <a:solidFill>
                  <a:schemeClr val="tx1"/>
                </a:solidFill>
              </a:rPr>
              <a:t>UETA</a:t>
            </a:r>
            <a:r>
              <a:rPr lang="en-US" sz="1500" dirty="0">
                <a:solidFill>
                  <a:schemeClr val="tx1"/>
                </a:solidFill>
              </a:rPr>
              <a:t> integrates the five into one model (Chapter 13)</a:t>
            </a:r>
            <a:endParaRPr lang="en-US" sz="1500" dirty="0"/>
          </a:p>
          <a:p>
            <a:pPr marL="228600" indent="-228600">
              <a:spcAft>
                <a:spcPts val="800"/>
              </a:spcAft>
              <a:buSzPct val="100000"/>
              <a:buChar char="•"/>
            </a:pPr>
            <a:r>
              <a:rPr lang="en-US" sz="1500" b="1" dirty="0">
                <a:solidFill>
                  <a:schemeClr val="tx1"/>
                </a:solidFill>
              </a:rPr>
              <a:t>Principles</a:t>
            </a:r>
            <a:r>
              <a:rPr lang="en-US" sz="1500" dirty="0">
                <a:solidFill>
                  <a:schemeClr val="tx1"/>
                </a:solidFill>
              </a:rPr>
              <a:t>: describe before you analyze; declare, with owners; build in order; give every result a meaning</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 · TABLE 1.2 · PROPOSITION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options, three paths from one start</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5477"/>
                <a:gridCol w="3025750"/>
                <a:gridCol w="3117439"/>
                <a:gridCol w="302575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improves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suffers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Signature of the path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8046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Digital transformation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technology platform and workforce capability; later, strategic risk falls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liquidity (deep dip in years 1–2); efficiency while old and new platforms run side by side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mid-path liquidity trough, where programs are most exposed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046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Restructuring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leverage and liquidity, at the sale date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market share; workforce capability, if shared engineering leaves with the sold unit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jump: the state moves at once when the sale closes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8046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Operational turnaround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efficiency, ROIC, some liquidity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technology platform and market share keep eroding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improving locally, possibly worse overall: the digital window may close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48006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Proposition 1.1: if a company's condition can be described by a state at every moment, every transformation traces a path of that state, and transformations that leave the company in different conditions at any moment trace different paths.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Read the options as paths: where along the way the company is weakest, and for how long</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 · PROPOSITION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smooth single score tells all states apart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Why one number is not enough</a:t>
            </a:r>
            <a:endParaRPr lang="en-US" sz="2100" dirty="0"/>
          </a:p>
        </p:txBody>
      </p:sp>
      <p:pic>
        <p:nvPicPr>
          <p:cNvPr id="8" name="Equation" descr="Equation: \begin{array}{l}\mathcal{X}\subseteq\mathbb{R}^{n} \text{ contains an open set},\ n \ge 2:\\ \text{no continuous } v:\mathcal{X}\to\mathbb{R} \text{ is one-to-one}\end{array}">    </p:cNvPr>
          <p:cNvPicPr>
            <a:picLocks noChangeAspect="1"/>
          </p:cNvPicPr>
          <p:nvPr/>
        </p:nvPicPr>
        <p:blipFill>
          <a:blip r:embed="rId1"/>
          <a:stretch>
            <a:fillRect/>
          </a:stretch>
        </p:blipFill>
        <p:spPr>
          <a:xfrm>
            <a:off x="822960" y="2743200"/>
            <a:ext cx="4066058" cy="658368"/>
          </a:xfrm>
          <a:prstGeom prst="rect">
            <a:avLst/>
          </a:prstGeom>
        </p:spPr>
      </p:pic>
      <p:sp>
        <p:nvSpPr>
          <p:cNvPr id="9" name="Bullets"/>
          <p:cNvSpPr txBox="1"/>
          <p:nvPr/>
        </p:nvSpPr>
        <p:spPr>
          <a:xfrm>
            <a:off x="822960" y="3566160"/>
            <a:ext cx="5394960" cy="246888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Measures that vary independently: any score that moves smoothly with them ties some different states</a:t>
            </a:r>
            <a:endParaRPr lang="en-US" sz="1500" dirty="0"/>
          </a:p>
          <a:p>
            <a:pPr marL="228600" indent="-228600">
              <a:spcAft>
                <a:spcPts val="600"/>
              </a:spcAft>
              <a:buSzPct val="100000"/>
              <a:buChar char="•"/>
            </a:pPr>
            <a:r>
              <a:rPr lang="en-US" sz="1500" dirty="0">
                <a:solidFill>
                  <a:schemeClr val="tx1"/>
                </a:solidFill>
              </a:rPr>
              <a:t>Enterprise value, ROIC and a weighted scorecard are all such scores</a:t>
            </a:r>
            <a:endParaRPr lang="en-US" sz="1500" dirty="0"/>
          </a:p>
          <a:p>
            <a:pPr marL="228600" indent="-228600">
              <a:spcAft>
                <a:spcPts val="600"/>
              </a:spcAft>
              <a:buSzPct val="100000"/>
              <a:buChar char="•"/>
            </a:pPr>
            <a:r>
              <a:rPr lang="en-US" sz="1500" b="1" dirty="0">
                <a:solidFill>
                  <a:schemeClr val="tx1"/>
                </a:solidFill>
              </a:rPr>
              <a:t>Ties are everywhere</a:t>
            </a:r>
            <a:r>
              <a:rPr lang="en-US" sz="1500" dirty="0">
                <a:solidFill>
                  <a:schemeClr val="tx1"/>
                </a:solidFill>
              </a:rPr>
              <a:t>: every reading strictly inside a score's range near a company is shared by infinitely many states</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law of conservation of information, not an attack on metrics</a:t>
            </a:r>
            <a:endParaRPr lang="en-US" sz="1600" dirty="0"/>
          </a:p>
          <a:p>
            <a:pPr marL="228600" indent="-228600">
              <a:spcAft>
                <a:spcPts val="800"/>
              </a:spcAft>
              <a:buSzPct val="100000"/>
              <a:buChar char="•"/>
            </a:pPr>
            <a:r>
              <a:rPr lang="en-US" sz="1600" dirty="0">
                <a:solidFill>
                  <a:schemeClr val="tx1"/>
                </a:solidFill>
              </a:rPr>
              <a:t>A good score is an excellent screening tool; the full state decides</a:t>
            </a:r>
            <a:endParaRPr lang="en-US" sz="1600" dirty="0"/>
          </a:p>
          <a:p>
            <a:pPr marL="228600" indent="-228600">
              <a:spcAft>
                <a:spcPts val="800"/>
              </a:spcAft>
              <a:buSzPct val="100000"/>
              <a:buChar char="•"/>
            </a:pPr>
            <a:r>
              <a:rPr lang="en-US" sz="1600" dirty="0">
                <a:solidFill>
                  <a:schemeClr val="tx1"/>
                </a:solidFill>
              </a:rPr>
              <a:t>The proof: a smooth score takes every value between two states along two routes that never meet</a:t>
            </a:r>
            <a:endParaRPr lang="en-US" sz="1600" dirty="0"/>
          </a:p>
          <a:p>
            <a:pPr marL="228600" indent="-228600">
              <a:spcAft>
                <a:spcPts val="800"/>
              </a:spcAft>
              <a:buSzPct val="100000"/>
              <a:buChar char="•"/>
            </a:pPr>
            <a:r>
              <a:rPr lang="en-US" sz="1600" dirty="0">
                <a:solidFill>
                  <a:schemeClr val="tx1"/>
                </a:solidFill>
              </a:rPr>
              <a:t>So the multidimensional architectures of Chapters 9–12 are required by the subject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 · FIGURE 1.4 · THE DCT 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DCT Map: the whole discipline on one page</a:t>
            </a:r>
            <a:endParaRPr lang="en-US" sz="3200" dirty="0"/>
          </a:p>
        </p:txBody>
      </p:sp>
      <p:sp>
        <p:nvSpPr>
          <p:cNvPr id="5" name="Bullets"/>
          <p:cNvSpPr txBox="1"/>
          <p:nvPr/>
        </p:nvSpPr>
        <p:spPr>
          <a:xfrm>
            <a:off x="548640" y="1691640"/>
            <a:ext cx="2701668" cy="448056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Seven moves</a:t>
            </a:r>
            <a:r>
              <a:rPr lang="en-US" sz="1400" dirty="0">
                <a:solidFill>
                  <a:schemeClr val="tx1"/>
                </a:solidFill>
              </a:rPr>
              <a:t> on top: a loop, Adapt back to Represent</a:t>
            </a:r>
            <a:endParaRPr lang="en-US" sz="1400" dirty="0"/>
          </a:p>
          <a:p>
            <a:pPr marL="228600" indent="-228600">
              <a:spcAft>
                <a:spcPts val="800"/>
              </a:spcAft>
              <a:buSzPct val="100000"/>
              <a:buChar char="•"/>
            </a:pPr>
            <a:r>
              <a:rPr lang="en-US" sz="1400" b="1" dirty="0">
                <a:solidFill>
                  <a:schemeClr val="tx1"/>
                </a:solidFill>
              </a:rPr>
              <a:t>Eight columns</a:t>
            </a:r>
            <a:r>
              <a:rPr lang="en-US" sz="1400" dirty="0">
                <a:solidFill>
                  <a:schemeClr val="tx1"/>
                </a:solidFill>
              </a:rPr>
              <a:t>: each uses only what lies to its left</a:t>
            </a:r>
            <a:endParaRPr lang="en-US" sz="1400" dirty="0"/>
          </a:p>
          <a:p>
            <a:pPr marL="228600" indent="-228600">
              <a:spcAft>
                <a:spcPts val="800"/>
              </a:spcAft>
              <a:buSzPct val="100000"/>
              <a:buChar char="•"/>
            </a:pPr>
            <a:r>
              <a:rPr lang="en-US" sz="1400" b="1" dirty="0">
                <a:solidFill>
                  <a:schemeClr val="tx1"/>
                </a:solidFill>
              </a:rPr>
              <a:t>Dashed line</a:t>
            </a:r>
            <a:r>
              <a:rPr lang="en-US" sz="1400" dirty="0">
                <a:solidFill>
                  <a:schemeClr val="tx1"/>
                </a:solidFill>
              </a:rPr>
              <a:t>: Volume I poses, Volume II solves</a:t>
            </a:r>
            <a:endParaRPr lang="en-US" sz="1400" dirty="0"/>
          </a:p>
          <a:p>
            <a:pPr marL="228600" indent="-228600">
              <a:spcAft>
                <a:spcPts val="800"/>
              </a:spcAft>
              <a:buSzPct val="100000"/>
              <a:buChar char="•"/>
            </a:pPr>
            <a:r>
              <a:rPr lang="en-US" sz="1400" b="1" dirty="0">
                <a:solidFill>
                  <a:schemeClr val="tx1"/>
                </a:solidFill>
              </a:rPr>
              <a:t>UETA</a:t>
            </a:r>
            <a:r>
              <a:rPr lang="en-US" sz="1400" dirty="0">
                <a:solidFill>
                  <a:schemeClr val="tx1"/>
                </a:solidFill>
              </a:rPr>
              <a:t> and </a:t>
            </a:r>
            <a:r>
              <a:rPr lang="en-US" sz="1400" b="1" dirty="0">
                <a:solidFill>
                  <a:schemeClr val="tx1"/>
                </a:solidFill>
              </a:rPr>
              <a:t>GEOP</a:t>
            </a:r>
            <a:r>
              <a:rPr lang="en-US" sz="1400" dirty="0">
                <a:solidFill>
                  <a:schemeClr val="tx1"/>
                </a:solidFill>
              </a:rPr>
              <a:t>: the series turns on them</a:t>
            </a:r>
            <a:endParaRPr lang="en-US" sz="1400" dirty="0"/>
          </a:p>
          <a:p>
            <a:pPr marL="228600" indent="-228600">
              <a:spcAft>
                <a:spcPts val="800"/>
              </a:spcAft>
              <a:buSzPct val="100000"/>
              <a:buChar char="•"/>
            </a:pPr>
            <a:r>
              <a:rPr lang="en-US" sz="1400" b="1" dirty="0">
                <a:solidFill>
                  <a:schemeClr val="tx1"/>
                </a:solidFill>
              </a:rPr>
              <a:t>Toolkit band</a:t>
            </a:r>
            <a:r>
              <a:rPr lang="en-US" sz="1400" dirty="0">
                <a:solidFill>
                  <a:schemeClr val="tx1"/>
                </a:solidFill>
              </a:rPr>
              <a:t>: the mathematics beneath every box</a:t>
            </a:r>
            <a:endParaRPr lang="en-US" sz="1400" dirty="0"/>
          </a:p>
        </p:txBody>
      </p:sp>
      <p:pic>
        <p:nvPicPr>
          <p:cNvPr id="6" name="Figure" descr="Figure 1.4: the DCT Map">    </p:cNvPr>
          <p:cNvPicPr>
            <a:picLocks noChangeAspect="1"/>
          </p:cNvPicPr>
          <p:nvPr/>
        </p:nvPicPr>
        <p:blipFill>
          <a:blip r:embed="rId1"/>
          <a:stretch>
            <a:fillRect/>
          </a:stretch>
        </p:blipFill>
        <p:spPr>
          <a:xfrm>
            <a:off x="3616068" y="1797314"/>
            <a:ext cx="8026987" cy="4269213"/>
          </a:xfrm>
          <a:prstGeom prst="rect">
            <a:avLst/>
          </a:prstGeom>
        </p:spPr>
      </p:pic>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TABLE 1.3 · MERIDIAN'S DIGITAL PROGRAM</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moves, run as a loop</a:t>
            </a:r>
            <a:endParaRPr lang="en-US" sz="3200" dirty="0"/>
          </a:p>
        </p:txBody>
      </p:sp>
      <p:sp>
        <p:nvSpPr>
          <p:cNvPr id="5" name="Lead"/>
          <p:cNvSpPr txBox="1"/>
          <p:nvPr/>
        </p:nvSpPr>
        <p:spPr>
          <a:xfrm>
            <a:off x="548640" y="1645920"/>
            <a:ext cx="11094415" cy="457200"/>
          </a:xfrm>
          <a:prstGeom prst="rect">
            <a:avLst/>
          </a:prstGeom>
          <a:noFill/>
          <a:ln/>
        </p:spPr>
        <p:txBody>
          <a:bodyPr wrap="square" lIns="0" tIns="0" rIns="0" bIns="0" rtlCol="0" anchor="ctr"/>
          <a:lstStyle/>
          <a:p>
            <a:pPr indent="0" marL="0">
              <a:buNone/>
            </a:pPr>
            <a:r>
              <a:rPr lang="en-US" sz="1600" dirty="0">
                <a:solidFill>
                  <a:schemeClr val="tx1"/>
                </a:solidFill>
              </a:rPr>
              <a:t>Each move answers one board question and hands its product to the next</a:t>
            </a:r>
            <a:endParaRPr lang="en-US" sz="1600" dirty="0"/>
          </a:p>
        </p:txBody>
      </p:sp>
      <p:sp>
        <p:nvSpPr>
          <p:cNvPr id="6" name="Step card"/>
          <p:cNvSpPr/>
          <p:nvPr/>
        </p:nvSpPr>
        <p:spPr>
          <a:xfrm>
            <a:off x="548640" y="2240280"/>
            <a:ext cx="2567864" cy="1828800"/>
          </a:xfrm>
          <a:prstGeom prst="roundRect">
            <a:avLst>
              <a:gd name="adj" fmla="val 4000"/>
            </a:avLst>
          </a:prstGeom>
          <a:solidFill>
            <a:schemeClr val="bg2"/>
          </a:solidFill>
          <a:ln w="9525">
            <a:solidFill>
              <a:srgbClr val="C4CBD8"/>
            </a:solidFill>
            <a:prstDash val="solid"/>
          </a:ln>
        </p:spPr>
      </p:sp>
      <p:sp>
        <p:nvSpPr>
          <p:cNvPr id="7" name="Number"/>
          <p:cNvSpPr/>
          <p:nvPr/>
        </p:nvSpPr>
        <p:spPr>
          <a:xfrm>
            <a:off x="731520" y="2423160"/>
            <a:ext cx="457200" cy="457200"/>
          </a:xfrm>
          <a:prstGeom prst="ellipse">
            <a:avLst/>
          </a:prstGeom>
          <a:solidFill>
            <a:schemeClr val="accent1"/>
          </a:solidFill>
          <a:ln w="6350">
            <a:solidFill>
              <a:schemeClr val="accent1"/>
            </a:solidFill>
            <a:prstDash val="solid"/>
          </a:ln>
        </p:spPr>
      </p:sp>
      <p:sp>
        <p:nvSpPr>
          <p:cNvPr id="8" name="Text 5"/>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9" name="Step head"/>
          <p:cNvSpPr txBox="1"/>
          <p:nvPr/>
        </p:nvSpPr>
        <p:spPr>
          <a:xfrm>
            <a:off x="1325880" y="240487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Represent</a:t>
            </a:r>
            <a:endParaRPr lang="en-US" sz="1700" dirty="0"/>
          </a:p>
        </p:txBody>
      </p:sp>
      <p:sp>
        <p:nvSpPr>
          <p:cNvPr id="10" name="Step text"/>
          <p:cNvSpPr txBox="1"/>
          <p:nvPr/>
        </p:nvSpPr>
        <p:spPr>
          <a:xfrm>
            <a:off x="731520" y="3017520"/>
            <a:ext cx="2202104" cy="960120"/>
          </a:xfrm>
          <a:prstGeom prst="rect">
            <a:avLst/>
          </a:prstGeom>
          <a:noFill/>
          <a:ln/>
        </p:spPr>
        <p:txBody>
          <a:bodyPr wrap="square" lIns="0" tIns="0" rIns="0" bIns="0" rtlCol="0" anchor="t"/>
          <a:lstStyle/>
          <a:p>
            <a:pPr indent="0" marL="0">
              <a:buNone/>
            </a:pPr>
            <a:r>
              <a:rPr lang="en-US" sz="1300" dirty="0">
                <a:solidFill>
                  <a:schemeClr val="tx1"/>
                </a:solidFill>
              </a:rPr>
              <a:t>What is the company? Meridian: eight readings with error bands, five owned commitments</a:t>
            </a:r>
            <a:endParaRPr lang="en-US" sz="1300" dirty="0"/>
          </a:p>
        </p:txBody>
      </p:sp>
      <p:sp>
        <p:nvSpPr>
          <p:cNvPr id="11" name="Step card"/>
          <p:cNvSpPr/>
          <p:nvPr/>
        </p:nvSpPr>
        <p:spPr>
          <a:xfrm>
            <a:off x="3390824" y="2240280"/>
            <a:ext cx="2567864" cy="1828800"/>
          </a:xfrm>
          <a:prstGeom prst="roundRect">
            <a:avLst>
              <a:gd name="adj" fmla="val 4000"/>
            </a:avLst>
          </a:prstGeom>
          <a:solidFill>
            <a:schemeClr val="bg2"/>
          </a:solidFill>
          <a:ln w="9525">
            <a:solidFill>
              <a:srgbClr val="C4CBD8"/>
            </a:solidFill>
            <a:prstDash val="solid"/>
          </a:ln>
        </p:spPr>
      </p:sp>
      <p:sp>
        <p:nvSpPr>
          <p:cNvPr id="12" name="Number"/>
          <p:cNvSpPr/>
          <p:nvPr/>
        </p:nvSpPr>
        <p:spPr>
          <a:xfrm>
            <a:off x="3573704" y="2423160"/>
            <a:ext cx="457200" cy="457200"/>
          </a:xfrm>
          <a:prstGeom prst="ellipse">
            <a:avLst/>
          </a:prstGeom>
          <a:solidFill>
            <a:schemeClr val="accent1"/>
          </a:solidFill>
          <a:ln w="6350">
            <a:solidFill>
              <a:schemeClr val="accent1"/>
            </a:solidFill>
            <a:prstDash val="solid"/>
          </a:ln>
        </p:spPr>
      </p:sp>
      <p:sp>
        <p:nvSpPr>
          <p:cNvPr id="13" name="Text 10"/>
          <p:cNvSpPr txBox="1"/>
          <p:nvPr/>
        </p:nvSpPr>
        <p:spPr>
          <a:xfrm>
            <a:off x="3573704"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4" name="Step head"/>
          <p:cNvSpPr txBox="1"/>
          <p:nvPr/>
        </p:nvSpPr>
        <p:spPr>
          <a:xfrm>
            <a:off x="4168064" y="240487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Analyze</a:t>
            </a:r>
            <a:endParaRPr lang="en-US" sz="1700" dirty="0"/>
          </a:p>
        </p:txBody>
      </p:sp>
      <p:sp>
        <p:nvSpPr>
          <p:cNvPr id="15" name="Step text"/>
          <p:cNvSpPr txBox="1"/>
          <p:nvPr/>
        </p:nvSpPr>
        <p:spPr>
          <a:xfrm>
            <a:off x="3573704" y="3017520"/>
            <a:ext cx="2202104" cy="960120"/>
          </a:xfrm>
          <a:prstGeom prst="rect">
            <a:avLst/>
          </a:prstGeom>
          <a:noFill/>
          <a:ln/>
        </p:spPr>
        <p:txBody>
          <a:bodyPr wrap="square" lIns="0" tIns="0" rIns="0" bIns="0" rtlCol="0" anchor="t"/>
          <a:lstStyle/>
          <a:p>
            <a:pPr indent="0" marL="0">
              <a:buNone/>
            </a:pPr>
            <a:r>
              <a:rPr lang="en-US" sz="1300" dirty="0">
                <a:solidFill>
                  <a:schemeClr val="tx1"/>
                </a:solidFill>
              </a:rPr>
              <a:t>What is it made of? A feedback core of four units; the same cash promised twice</a:t>
            </a:r>
            <a:endParaRPr lang="en-US" sz="1300" dirty="0"/>
          </a:p>
        </p:txBody>
      </p:sp>
      <p:sp>
        <p:nvSpPr>
          <p:cNvPr id="16" name="Step card"/>
          <p:cNvSpPr/>
          <p:nvPr/>
        </p:nvSpPr>
        <p:spPr>
          <a:xfrm>
            <a:off x="6233008" y="2240280"/>
            <a:ext cx="2567864" cy="1828800"/>
          </a:xfrm>
          <a:prstGeom prst="roundRect">
            <a:avLst>
              <a:gd name="adj" fmla="val 4000"/>
            </a:avLst>
          </a:prstGeom>
          <a:solidFill>
            <a:schemeClr val="bg2"/>
          </a:solidFill>
          <a:ln w="9525">
            <a:solidFill>
              <a:srgbClr val="C4CBD8"/>
            </a:solidFill>
            <a:prstDash val="solid"/>
          </a:ln>
        </p:spPr>
      </p:sp>
      <p:sp>
        <p:nvSpPr>
          <p:cNvPr id="17" name="Number"/>
          <p:cNvSpPr/>
          <p:nvPr/>
        </p:nvSpPr>
        <p:spPr>
          <a:xfrm>
            <a:off x="6415888" y="2423160"/>
            <a:ext cx="457200" cy="457200"/>
          </a:xfrm>
          <a:prstGeom prst="ellipse">
            <a:avLst/>
          </a:prstGeom>
          <a:solidFill>
            <a:schemeClr val="accent1"/>
          </a:solidFill>
          <a:ln w="6350">
            <a:solidFill>
              <a:schemeClr val="accent1"/>
            </a:solidFill>
            <a:prstDash val="solid"/>
          </a:ln>
        </p:spPr>
      </p:sp>
      <p:sp>
        <p:nvSpPr>
          <p:cNvPr id="18" name="Text 15"/>
          <p:cNvSpPr txBox="1"/>
          <p:nvPr/>
        </p:nvSpPr>
        <p:spPr>
          <a:xfrm>
            <a:off x="6415888"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Step head"/>
          <p:cNvSpPr txBox="1"/>
          <p:nvPr/>
        </p:nvSpPr>
        <p:spPr>
          <a:xfrm>
            <a:off x="7010248" y="240487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Certify</a:t>
            </a:r>
            <a:endParaRPr lang="en-US" sz="1700" dirty="0"/>
          </a:p>
        </p:txBody>
      </p:sp>
      <p:sp>
        <p:nvSpPr>
          <p:cNvPr id="20" name="Step text"/>
          <p:cNvSpPr txBox="1"/>
          <p:nvPr/>
        </p:nvSpPr>
        <p:spPr>
          <a:xfrm>
            <a:off x="6415888" y="3017520"/>
            <a:ext cx="2202104" cy="960120"/>
          </a:xfrm>
          <a:prstGeom prst="rect">
            <a:avLst/>
          </a:prstGeom>
          <a:noFill/>
          <a:ln/>
        </p:spPr>
        <p:txBody>
          <a:bodyPr wrap="square" lIns="0" tIns="0" rIns="0" bIns="0" rtlCol="0" anchor="t"/>
          <a:lstStyle/>
          <a:p>
            <a:pPr indent="0" marL="0">
              <a:buNone/>
            </a:pPr>
            <a:r>
              <a:rPr lang="en-US" sz="1300" dirty="0">
                <a:solidFill>
                  <a:schemeClr val="tx1"/>
                </a:solidFill>
              </a:rPr>
              <a:t>Is the problem fit to optimize? Core ρ = 0.80; the trough $132m above the floor</a:t>
            </a:r>
            <a:endParaRPr lang="en-US" sz="1300" dirty="0"/>
          </a:p>
        </p:txBody>
      </p:sp>
      <p:sp>
        <p:nvSpPr>
          <p:cNvPr id="21" name="Step card"/>
          <p:cNvSpPr/>
          <p:nvPr/>
        </p:nvSpPr>
        <p:spPr>
          <a:xfrm>
            <a:off x="9075191" y="2240280"/>
            <a:ext cx="2567864" cy="1828800"/>
          </a:xfrm>
          <a:prstGeom prst="roundRect">
            <a:avLst>
              <a:gd name="adj" fmla="val 4000"/>
            </a:avLst>
          </a:prstGeom>
          <a:solidFill>
            <a:schemeClr val="bg2"/>
          </a:solidFill>
          <a:ln w="9525">
            <a:solidFill>
              <a:srgbClr val="C4CBD8"/>
            </a:solidFill>
            <a:prstDash val="solid"/>
          </a:ln>
        </p:spPr>
      </p:sp>
      <p:sp>
        <p:nvSpPr>
          <p:cNvPr id="22" name="Number"/>
          <p:cNvSpPr/>
          <p:nvPr/>
        </p:nvSpPr>
        <p:spPr>
          <a:xfrm>
            <a:off x="9258071" y="2423160"/>
            <a:ext cx="457200" cy="457200"/>
          </a:xfrm>
          <a:prstGeom prst="ellipse">
            <a:avLst/>
          </a:prstGeom>
          <a:solidFill>
            <a:schemeClr val="accent1"/>
          </a:solidFill>
          <a:ln w="6350">
            <a:solidFill>
              <a:schemeClr val="accent1"/>
            </a:solidFill>
            <a:prstDash val="solid"/>
          </a:ln>
        </p:spPr>
      </p:sp>
      <p:sp>
        <p:nvSpPr>
          <p:cNvPr id="23" name="Text 20"/>
          <p:cNvSpPr txBox="1"/>
          <p:nvPr/>
        </p:nvSpPr>
        <p:spPr>
          <a:xfrm>
            <a:off x="9258071" y="2423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4" name="Step head"/>
          <p:cNvSpPr txBox="1"/>
          <p:nvPr/>
        </p:nvSpPr>
        <p:spPr>
          <a:xfrm>
            <a:off x="9852431" y="240487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Optimize</a:t>
            </a:r>
            <a:endParaRPr lang="en-US" sz="1700" dirty="0"/>
          </a:p>
        </p:txBody>
      </p:sp>
      <p:sp>
        <p:nvSpPr>
          <p:cNvPr id="25" name="Step text"/>
          <p:cNvSpPr txBox="1"/>
          <p:nvPr/>
        </p:nvSpPr>
        <p:spPr>
          <a:xfrm>
            <a:off x="9258071" y="3017520"/>
            <a:ext cx="2202104" cy="960120"/>
          </a:xfrm>
          <a:prstGeom prst="rect">
            <a:avLst/>
          </a:prstGeom>
          <a:noFill/>
          <a:ln/>
        </p:spPr>
        <p:txBody>
          <a:bodyPr wrap="square" lIns="0" tIns="0" rIns="0" bIns="0" rtlCol="0" anchor="t"/>
          <a:lstStyle/>
          <a:p>
            <a:pPr indent="0" marL="0">
              <a:buNone/>
            </a:pPr>
            <a:r>
              <a:rPr lang="en-US" sz="1300" dirty="0">
                <a:solidFill>
                  <a:schemeClr val="tx1"/>
                </a:solidFill>
              </a:rPr>
              <a:t>Which program is best? A 5% appetite met for $10.4m; $12.50m once in lumps</a:t>
            </a:r>
            <a:endParaRPr lang="en-US" sz="1300" dirty="0"/>
          </a:p>
        </p:txBody>
      </p:sp>
      <p:sp>
        <p:nvSpPr>
          <p:cNvPr id="26" name="Step card"/>
          <p:cNvSpPr/>
          <p:nvPr/>
        </p:nvSpPr>
        <p:spPr>
          <a:xfrm>
            <a:off x="548640" y="4343400"/>
            <a:ext cx="2567864" cy="1828800"/>
          </a:xfrm>
          <a:prstGeom prst="roundRect">
            <a:avLst>
              <a:gd name="adj" fmla="val 4000"/>
            </a:avLst>
          </a:prstGeom>
          <a:solidFill>
            <a:schemeClr val="bg2"/>
          </a:solidFill>
          <a:ln w="9525">
            <a:solidFill>
              <a:srgbClr val="C4CBD8"/>
            </a:solidFill>
            <a:prstDash val="solid"/>
          </a:ln>
        </p:spPr>
      </p:sp>
      <p:sp>
        <p:nvSpPr>
          <p:cNvPr id="27" name="Number"/>
          <p:cNvSpPr/>
          <p:nvPr/>
        </p:nvSpPr>
        <p:spPr>
          <a:xfrm>
            <a:off x="731520" y="4526280"/>
            <a:ext cx="457200" cy="457200"/>
          </a:xfrm>
          <a:prstGeom prst="ellipse">
            <a:avLst/>
          </a:prstGeom>
          <a:solidFill>
            <a:schemeClr val="accent1"/>
          </a:solidFill>
          <a:ln w="6350">
            <a:solidFill>
              <a:schemeClr val="accent1"/>
            </a:solidFill>
            <a:prstDash val="solid"/>
          </a:ln>
        </p:spPr>
      </p:sp>
      <p:sp>
        <p:nvSpPr>
          <p:cNvPr id="28" name="Text 25"/>
          <p:cNvSpPr txBox="1"/>
          <p:nvPr/>
        </p:nvSpPr>
        <p:spPr>
          <a:xfrm>
            <a:off x="731520"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9" name="Step head"/>
          <p:cNvSpPr txBox="1"/>
          <p:nvPr/>
        </p:nvSpPr>
        <p:spPr>
          <a:xfrm>
            <a:off x="1325880" y="450799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Execute</a:t>
            </a:r>
            <a:endParaRPr lang="en-US" sz="1700" dirty="0"/>
          </a:p>
        </p:txBody>
      </p:sp>
      <p:sp>
        <p:nvSpPr>
          <p:cNvPr id="30" name="Step text"/>
          <p:cNvSpPr txBox="1"/>
          <p:nvPr/>
        </p:nvSpPr>
        <p:spPr>
          <a:xfrm>
            <a:off x="731520" y="5120640"/>
            <a:ext cx="2202104" cy="960120"/>
          </a:xfrm>
          <a:prstGeom prst="rect">
            <a:avLst/>
          </a:prstGeom>
          <a:noFill/>
          <a:ln/>
        </p:spPr>
        <p:txBody>
          <a:bodyPr wrap="square" lIns="0" tIns="0" rIns="0" bIns="0" rtlCol="0" anchor="t"/>
          <a:lstStyle/>
          <a:p>
            <a:pPr indent="0" marL="0">
              <a:buNone/>
            </a:pPr>
            <a:r>
              <a:rPr lang="en-US" sz="1300" dirty="0">
                <a:solidFill>
                  <a:schemeClr val="tx1"/>
                </a:solidFill>
              </a:rPr>
              <a:t>How does a policy become decisions? Sign the lumpy package</a:t>
            </a:r>
            <a:endParaRPr lang="en-US" sz="1300" dirty="0"/>
          </a:p>
        </p:txBody>
      </p:sp>
      <p:sp>
        <p:nvSpPr>
          <p:cNvPr id="31" name="Step card"/>
          <p:cNvSpPr/>
          <p:nvPr/>
        </p:nvSpPr>
        <p:spPr>
          <a:xfrm>
            <a:off x="3390824" y="4343400"/>
            <a:ext cx="2567864" cy="1828800"/>
          </a:xfrm>
          <a:prstGeom prst="roundRect">
            <a:avLst>
              <a:gd name="adj" fmla="val 4000"/>
            </a:avLst>
          </a:prstGeom>
          <a:solidFill>
            <a:schemeClr val="bg2"/>
          </a:solidFill>
          <a:ln w="9525">
            <a:solidFill>
              <a:srgbClr val="C4CBD8"/>
            </a:solidFill>
            <a:prstDash val="solid"/>
          </a:ln>
        </p:spPr>
      </p:sp>
      <p:sp>
        <p:nvSpPr>
          <p:cNvPr id="32" name="Number"/>
          <p:cNvSpPr/>
          <p:nvPr/>
        </p:nvSpPr>
        <p:spPr>
          <a:xfrm>
            <a:off x="3573704" y="4526280"/>
            <a:ext cx="457200" cy="457200"/>
          </a:xfrm>
          <a:prstGeom prst="ellipse">
            <a:avLst/>
          </a:prstGeom>
          <a:solidFill>
            <a:schemeClr val="accent1"/>
          </a:solidFill>
          <a:ln w="6350">
            <a:solidFill>
              <a:schemeClr val="accent1"/>
            </a:solidFill>
            <a:prstDash val="solid"/>
          </a:ln>
        </p:spPr>
      </p:sp>
      <p:sp>
        <p:nvSpPr>
          <p:cNvPr id="33" name="Text 30"/>
          <p:cNvSpPr txBox="1"/>
          <p:nvPr/>
        </p:nvSpPr>
        <p:spPr>
          <a:xfrm>
            <a:off x="3573704"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4" name="Step head"/>
          <p:cNvSpPr txBox="1"/>
          <p:nvPr/>
        </p:nvSpPr>
        <p:spPr>
          <a:xfrm>
            <a:off x="4168064" y="450799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Monitor</a:t>
            </a:r>
            <a:endParaRPr lang="en-US" sz="1700" dirty="0"/>
          </a:p>
        </p:txBody>
      </p:sp>
      <p:sp>
        <p:nvSpPr>
          <p:cNvPr id="35" name="Step text"/>
          <p:cNvSpPr txBox="1"/>
          <p:nvPr/>
        </p:nvSpPr>
        <p:spPr>
          <a:xfrm>
            <a:off x="3573704" y="5120640"/>
            <a:ext cx="2202104" cy="960120"/>
          </a:xfrm>
          <a:prstGeom prst="rect">
            <a:avLst/>
          </a:prstGeom>
          <a:noFill/>
          <a:ln/>
        </p:spPr>
        <p:txBody>
          <a:bodyPr wrap="square" lIns="0" tIns="0" rIns="0" bIns="0" rtlCol="0" anchor="t"/>
          <a:lstStyle/>
          <a:p>
            <a:pPr indent="0" marL="0">
              <a:buNone/>
            </a:pPr>
            <a:r>
              <a:rPr lang="en-US" sz="1300" dirty="0">
                <a:solidFill>
                  <a:schemeClr val="tx1"/>
                </a:solidFill>
              </a:rPr>
              <a:t>Is the company where the model says? A twin watches the armor and the core's ρ</a:t>
            </a:r>
            <a:endParaRPr lang="en-US" sz="1300" dirty="0"/>
          </a:p>
        </p:txBody>
      </p:sp>
      <p:sp>
        <p:nvSpPr>
          <p:cNvPr id="36" name="Step card"/>
          <p:cNvSpPr/>
          <p:nvPr/>
        </p:nvSpPr>
        <p:spPr>
          <a:xfrm>
            <a:off x="6233008" y="4343400"/>
            <a:ext cx="2567864" cy="1828800"/>
          </a:xfrm>
          <a:prstGeom prst="roundRect">
            <a:avLst>
              <a:gd name="adj" fmla="val 4000"/>
            </a:avLst>
          </a:prstGeom>
          <a:solidFill>
            <a:schemeClr val="bg2"/>
          </a:solidFill>
          <a:ln w="9525">
            <a:solidFill>
              <a:srgbClr val="C4CBD8"/>
            </a:solidFill>
            <a:prstDash val="solid"/>
          </a:ln>
        </p:spPr>
      </p:sp>
      <p:sp>
        <p:nvSpPr>
          <p:cNvPr id="37" name="Number"/>
          <p:cNvSpPr/>
          <p:nvPr/>
        </p:nvSpPr>
        <p:spPr>
          <a:xfrm>
            <a:off x="6415888" y="4526280"/>
            <a:ext cx="457200" cy="457200"/>
          </a:xfrm>
          <a:prstGeom prst="ellipse">
            <a:avLst/>
          </a:prstGeom>
          <a:solidFill>
            <a:schemeClr val="accent1"/>
          </a:solidFill>
          <a:ln w="6350">
            <a:solidFill>
              <a:schemeClr val="accent1"/>
            </a:solidFill>
            <a:prstDash val="solid"/>
          </a:ln>
        </p:spPr>
      </p:sp>
      <p:sp>
        <p:nvSpPr>
          <p:cNvPr id="38" name="Text 35"/>
          <p:cNvSpPr txBox="1"/>
          <p:nvPr/>
        </p:nvSpPr>
        <p:spPr>
          <a:xfrm>
            <a:off x="6415888"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a:t>
            </a:r>
            <a:endParaRPr lang="en-US" sz="1500" dirty="0"/>
          </a:p>
        </p:txBody>
      </p:sp>
      <p:sp>
        <p:nvSpPr>
          <p:cNvPr id="39" name="Step head"/>
          <p:cNvSpPr txBox="1"/>
          <p:nvPr/>
        </p:nvSpPr>
        <p:spPr>
          <a:xfrm>
            <a:off x="7010248" y="450799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Adapt</a:t>
            </a:r>
            <a:endParaRPr lang="en-US" sz="1700" dirty="0"/>
          </a:p>
        </p:txBody>
      </p:sp>
      <p:sp>
        <p:nvSpPr>
          <p:cNvPr id="40" name="Step text"/>
          <p:cNvSpPr txBox="1"/>
          <p:nvPr/>
        </p:nvSpPr>
        <p:spPr>
          <a:xfrm>
            <a:off x="6415888" y="5120640"/>
            <a:ext cx="2202104" cy="960120"/>
          </a:xfrm>
          <a:prstGeom prst="rect">
            <a:avLst/>
          </a:prstGeom>
          <a:noFill/>
          <a:ln/>
        </p:spPr>
        <p:txBody>
          <a:bodyPr wrap="square" lIns="0" tIns="0" rIns="0" bIns="0" rtlCol="0" anchor="t"/>
          <a:lstStyle/>
          <a:p>
            <a:pPr indent="0" marL="0">
              <a:buNone/>
            </a:pPr>
            <a:r>
              <a:rPr lang="en-US" sz="1300" dirty="0">
                <a:solidFill>
                  <a:schemeClr val="tx1"/>
                </a:solidFill>
              </a:rPr>
              <a:t>What changes when the world does? Re-certify before phase two takes ρ above one</a:t>
            </a:r>
            <a:endParaRPr lang="en-US" sz="1300" dirty="0"/>
          </a:p>
        </p:txBody>
      </p:sp>
      <p:sp>
        <p:nvSpPr>
          <p:cNvPr id="41" name="Step card"/>
          <p:cNvSpPr/>
          <p:nvPr/>
        </p:nvSpPr>
        <p:spPr>
          <a:xfrm>
            <a:off x="9075191" y="4343400"/>
            <a:ext cx="2567864" cy="1828800"/>
          </a:xfrm>
          <a:prstGeom prst="roundRect">
            <a:avLst>
              <a:gd name="adj" fmla="val 4000"/>
            </a:avLst>
          </a:prstGeom>
          <a:solidFill>
            <a:schemeClr val="bg2"/>
          </a:solidFill>
          <a:ln w="9525">
            <a:solidFill>
              <a:srgbClr val="C4CBD8"/>
            </a:solidFill>
            <a:prstDash val="solid"/>
          </a:ln>
        </p:spPr>
      </p:sp>
      <p:sp>
        <p:nvSpPr>
          <p:cNvPr id="42" name="Number"/>
          <p:cNvSpPr/>
          <p:nvPr/>
        </p:nvSpPr>
        <p:spPr>
          <a:xfrm>
            <a:off x="9258071" y="4526280"/>
            <a:ext cx="457200" cy="457200"/>
          </a:xfrm>
          <a:prstGeom prst="ellipse">
            <a:avLst/>
          </a:prstGeom>
          <a:solidFill>
            <a:schemeClr val="accent1"/>
          </a:solidFill>
          <a:ln w="6350">
            <a:solidFill>
              <a:schemeClr val="accent1"/>
            </a:solidFill>
            <a:prstDash val="solid"/>
          </a:ln>
        </p:spPr>
      </p:sp>
      <p:sp>
        <p:nvSpPr>
          <p:cNvPr id="43" name="Text 40"/>
          <p:cNvSpPr txBox="1"/>
          <p:nvPr/>
        </p:nvSpPr>
        <p:spPr>
          <a:xfrm>
            <a:off x="9258071" y="4526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44" name="Step head"/>
          <p:cNvSpPr txBox="1"/>
          <p:nvPr/>
        </p:nvSpPr>
        <p:spPr>
          <a:xfrm>
            <a:off x="9852431" y="4507992"/>
            <a:ext cx="1653464"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Represent again</a:t>
            </a:r>
            <a:endParaRPr lang="en-US" sz="1700" dirty="0"/>
          </a:p>
        </p:txBody>
      </p:sp>
      <p:sp>
        <p:nvSpPr>
          <p:cNvPr id="45" name="Step text"/>
          <p:cNvSpPr txBox="1"/>
          <p:nvPr/>
        </p:nvSpPr>
        <p:spPr>
          <a:xfrm>
            <a:off x="9258071" y="5120640"/>
            <a:ext cx="2202104" cy="960120"/>
          </a:xfrm>
          <a:prstGeom prst="rect">
            <a:avLst/>
          </a:prstGeom>
          <a:noFill/>
          <a:ln/>
        </p:spPr>
        <p:txBody>
          <a:bodyPr wrap="square" lIns="0" tIns="0" rIns="0" bIns="0" rtlCol="0" anchor="t"/>
          <a:lstStyle/>
          <a:p>
            <a:pPr indent="0" marL="0">
              <a:buNone/>
            </a:pPr>
            <a:r>
              <a:rPr lang="en-US" sz="1300" dirty="0">
                <a:solidFill>
                  <a:schemeClr val="tx1"/>
                </a:solidFill>
              </a:rPr>
              <a:t>The loop returns to the first move: a company that has moved may need a different description</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§1.5.10 · WHAT THE FRAMEWORK TELLS MERIDIAN'S BOARD</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board's question is not yet determined</a:t>
            </a:r>
            <a:endParaRPr lang="en-US" sz="3200" dirty="0"/>
          </a:p>
        </p:txBody>
      </p:sp>
      <p:sp>
        <p:nvSpPr>
          <p:cNvPr id="5" name="Card"/>
          <p:cNvSpPr/>
          <p:nvPr/>
        </p:nvSpPr>
        <p:spPr>
          <a:xfrm>
            <a:off x="548640" y="1691640"/>
            <a:ext cx="541004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Sequence · Chapters 3 and 6</a:t>
            </a:r>
            <a:endParaRPr lang="en-US" sz="1300" dirty="0"/>
          </a:p>
        </p:txBody>
      </p:sp>
      <p:sp>
        <p:nvSpPr>
          <p:cNvPr id="7" name="Card head"/>
          <p:cNvSpPr txBox="1"/>
          <p:nvPr/>
        </p:nvSpPr>
        <p:spPr>
          <a:xfrm>
            <a:off x="731520" y="2148840"/>
            <a:ext cx="5044288" cy="46634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Sell keeping the engineers, then build</a:t>
            </a:r>
            <a:endParaRPr lang="en-US" sz="1700" dirty="0"/>
          </a:p>
        </p:txBody>
      </p:sp>
      <p:sp>
        <p:nvSpPr>
          <p:cNvPr id="8" name="Card text"/>
          <p:cNvSpPr txBox="1"/>
          <p:nvPr/>
        </p:nvSpPr>
        <p:spPr>
          <a:xfrm>
            <a:off x="731520" y="2688336"/>
            <a:ext cx="5044288" cy="658368"/>
          </a:xfrm>
          <a:prstGeom prst="rect">
            <a:avLst/>
          </a:prstGeom>
          <a:noFill/>
          <a:ln/>
        </p:spPr>
        <p:txBody>
          <a:bodyPr wrap="square" lIns="0" tIns="0" rIns="0" bIns="0" rtlCol="0" anchor="t"/>
          <a:lstStyle/>
          <a:p>
            <a:pPr indent="0" marL="0">
              <a:buNone/>
            </a:pPr>
            <a:r>
              <a:rPr lang="en-US" sz="1400" dirty="0">
                <a:solidFill>
                  <a:schemeClr val="tx2"/>
                </a:solidFill>
              </a:rPr>
              <a:t>The only two-move route to a technology index of at least 50; it ends just $6 million above the liquidity floor.</a:t>
            </a:r>
            <a:endParaRPr lang="en-US" sz="1400" dirty="0"/>
          </a:p>
        </p:txBody>
      </p:sp>
      <p:sp>
        <p:nvSpPr>
          <p:cNvPr id="9" name="Card"/>
          <p:cNvSpPr/>
          <p:nvPr/>
        </p:nvSpPr>
        <p:spPr>
          <a:xfrm>
            <a:off x="6233008" y="1691640"/>
            <a:ext cx="541004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6415888" y="18196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The engineers · Volume II, Worked Examples 6.1 and 7.1</a:t>
            </a:r>
            <a:endParaRPr lang="en-US" sz="1300" dirty="0"/>
          </a:p>
        </p:txBody>
      </p:sp>
      <p:sp>
        <p:nvSpPr>
          <p:cNvPr id="11" name="Card head"/>
          <p:cNvSpPr txBox="1"/>
          <p:nvPr/>
        </p:nvSpPr>
        <p:spPr>
          <a:xfrm>
            <a:off x="6415888" y="2148840"/>
            <a:ext cx="5044288" cy="46634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Worth $32.5m against a $20m discount</a:t>
            </a:r>
            <a:endParaRPr lang="en-US" sz="1700" dirty="0"/>
          </a:p>
        </p:txBody>
      </p:sp>
      <p:sp>
        <p:nvSpPr>
          <p:cNvPr id="12" name="Card text"/>
          <p:cNvSpPr txBox="1"/>
          <p:nvPr/>
        </p:nvSpPr>
        <p:spPr>
          <a:xfrm>
            <a:off x="6415888" y="2688336"/>
            <a:ext cx="5044288" cy="658368"/>
          </a:xfrm>
          <a:prstGeom prst="rect">
            <a:avLst/>
          </a:prstGeom>
          <a:noFill/>
          <a:ln/>
        </p:spPr>
        <p:txBody>
          <a:bodyPr wrap="square" lIns="0" tIns="0" rIns="0" bIns="0" rtlCol="0" anchor="t"/>
          <a:lstStyle/>
          <a:p>
            <a:pPr indent="0" marL="0">
              <a:buNone/>
            </a:pPr>
            <a:r>
              <a:rPr lang="en-US" sz="1400" dirty="0">
                <a:solidFill>
                  <a:schemeClr val="tx2"/>
                </a:solidFill>
              </a:rPr>
              <a:t>Or $23.8 million if the digital build slows rather than stops below its capability floor.</a:t>
            </a:r>
            <a:endParaRPr lang="en-US" sz="1400" dirty="0"/>
          </a:p>
        </p:txBody>
      </p:sp>
      <p:sp>
        <p:nvSpPr>
          <p:cNvPr id="13" name="Card"/>
          <p:cNvSpPr/>
          <p:nvPr/>
        </p:nvSpPr>
        <p:spPr>
          <a:xfrm>
            <a:off x="548640" y="3749040"/>
            <a:ext cx="541004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731520" y="38770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Financing · Volume II, Worked Example 1.1</a:t>
            </a:r>
            <a:endParaRPr lang="en-US" sz="1300" dirty="0"/>
          </a:p>
        </p:txBody>
      </p:sp>
      <p:sp>
        <p:nvSpPr>
          <p:cNvPr id="15" name="Card head"/>
          <p:cNvSpPr txBox="1"/>
          <p:nvPr/>
        </p:nvSpPr>
        <p:spPr>
          <a:xfrm>
            <a:off x="731520" y="4206240"/>
            <a:ext cx="5044288" cy="46634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One path in four breaches the floor</a:t>
            </a:r>
            <a:endParaRPr lang="en-US" sz="1700" dirty="0"/>
          </a:p>
        </p:txBody>
      </p:sp>
      <p:sp>
        <p:nvSpPr>
          <p:cNvPr id="16" name="Card text"/>
          <p:cNvSpPr txBox="1"/>
          <p:nvPr/>
        </p:nvSpPr>
        <p:spPr>
          <a:xfrm>
            <a:off x="731520" y="4745736"/>
            <a:ext cx="5044288" cy="658368"/>
          </a:xfrm>
          <a:prstGeom prst="rect">
            <a:avLst/>
          </a:prstGeom>
          <a:noFill/>
          <a:ln/>
        </p:spPr>
        <p:txBody>
          <a:bodyPr wrap="square" lIns="0" tIns="0" rIns="0" bIns="0" rtlCol="0" anchor="t"/>
          <a:lstStyle/>
          <a:p>
            <a:pPr indent="0" marL="0">
              <a:buNone/>
            </a:pPr>
            <a:r>
              <a:rPr lang="en-US" sz="1400" dirty="0">
                <a:solidFill>
                  <a:schemeClr val="tx2"/>
                </a:solidFill>
              </a:rPr>
              <a:t>A $150 million standby line and one quarter's delay, $12.50 million in lumps, meet the 5 percent appetite.</a:t>
            </a:r>
            <a:endParaRPr lang="en-US" sz="1400" dirty="0"/>
          </a:p>
        </p:txBody>
      </p:sp>
      <p:sp>
        <p:nvSpPr>
          <p:cNvPr id="17" name="Card"/>
          <p:cNvSpPr/>
          <p:nvPr/>
        </p:nvSpPr>
        <p:spPr>
          <a:xfrm>
            <a:off x="6233008" y="3749040"/>
            <a:ext cx="541004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6415888" y="3877056"/>
            <a:ext cx="5044288" cy="310896"/>
          </a:xfrm>
          <a:prstGeom prst="rect">
            <a:avLst/>
          </a:prstGeom>
          <a:noFill/>
          <a:ln/>
        </p:spPr>
        <p:txBody>
          <a:bodyPr wrap="square" lIns="0" tIns="0" rIns="0" bIns="0" rtlCol="0" anchor="ctr"/>
          <a:lstStyle/>
          <a:p>
            <a:pPr indent="0" marL="0">
              <a:buNone/>
            </a:pPr>
            <a:r>
              <a:rPr lang="en-US" sz="1300" b="1" dirty="0">
                <a:solidFill>
                  <a:schemeClr val="accent1"/>
                </a:solidFill>
              </a:rPr>
              <a:t>Automation · Volume II, Worked Example 5.1</a:t>
            </a:r>
            <a:endParaRPr lang="en-US" sz="1300" dirty="0"/>
          </a:p>
        </p:txBody>
      </p:sp>
      <p:sp>
        <p:nvSpPr>
          <p:cNvPr id="19" name="Card head"/>
          <p:cNvSpPr txBox="1"/>
          <p:nvPr/>
        </p:nvSpPr>
        <p:spPr>
          <a:xfrm>
            <a:off x="6415888" y="4206240"/>
            <a:ext cx="5044288" cy="46634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Self-funding only if savings are recycled</a:t>
            </a:r>
            <a:endParaRPr lang="en-US" sz="1700" dirty="0"/>
          </a:p>
        </p:txBody>
      </p:sp>
      <p:sp>
        <p:nvSpPr>
          <p:cNvPr id="20" name="Card text"/>
          <p:cNvSpPr txBox="1"/>
          <p:nvPr/>
        </p:nvSpPr>
        <p:spPr>
          <a:xfrm>
            <a:off x="6415888" y="4745736"/>
            <a:ext cx="5044288" cy="658368"/>
          </a:xfrm>
          <a:prstGeom prst="rect">
            <a:avLst/>
          </a:prstGeom>
          <a:noFill/>
          <a:ln/>
        </p:spPr>
        <p:txBody>
          <a:bodyPr wrap="square" lIns="0" tIns="0" rIns="0" bIns="0" rtlCol="0" anchor="t"/>
          <a:lstStyle/>
          <a:p>
            <a:pPr indent="0" marL="0">
              <a:buNone/>
            </a:pPr>
            <a:r>
              <a:rPr lang="en-US" sz="1400" dirty="0">
                <a:solidFill>
                  <a:schemeClr val="tx2"/>
                </a:solidFill>
              </a:rPr>
              <a:t>At the board's 10 percent hurdle rate, three rounds are worth doing.</a:t>
            </a:r>
            <a:endParaRPr lang="en-US" sz="1400" dirty="0"/>
          </a:p>
        </p:txBody>
      </p:sp>
      <p:sp>
        <p:nvSpPr>
          <p:cNvPr id="21"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And any ranking of the three options rests on two undeclared choices: the score's scale and review window</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§1.6 · FIGURE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resources, one numbering scheme</a:t>
            </a:r>
            <a:endParaRPr lang="en-US" sz="3200" dirty="0"/>
          </a:p>
        </p:txBody>
      </p:sp>
      <p:sp>
        <p:nvSpPr>
          <p:cNvPr id="5" name="Bullets"/>
          <p:cNvSpPr txBox="1"/>
          <p:nvPr/>
        </p:nvSpPr>
        <p:spPr>
          <a:xfrm>
            <a:off x="548640" y="1691640"/>
            <a:ext cx="4698663"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 textbook</a:t>
            </a:r>
            <a:r>
              <a:rPr lang="en-US" sz="1600" dirty="0">
                <a:solidFill>
                  <a:schemeClr val="tx1"/>
                </a:solidFill>
              </a:rPr>
              <a:t>: per chapter, five LOS, a Worked Example on Meridian and an AXIOM Lab</a:t>
            </a:r>
            <a:endParaRPr lang="en-US" sz="1600" dirty="0"/>
          </a:p>
          <a:p>
            <a:pPr marL="228600" indent="-228600">
              <a:spcAft>
                <a:spcPts val="800"/>
              </a:spcAft>
              <a:buSzPct val="100000"/>
              <a:buChar char="•"/>
            </a:pPr>
            <a:r>
              <a:rPr lang="en-US" sz="1600" b="1" dirty="0">
                <a:solidFill>
                  <a:schemeClr val="tx1"/>
                </a:solidFill>
              </a:rPr>
              <a:t>Two layers of rigor</a:t>
            </a:r>
            <a:r>
              <a:rPr lang="en-US" sz="1600" dirty="0">
                <a:solidFill>
                  <a:schemeClr val="tx1"/>
                </a:solidFill>
              </a:rPr>
              <a:t>: proofs in each chapter's appendix; supporting results in the Online Appendix</a:t>
            </a:r>
            <a:endParaRPr lang="en-US" sz="1600" dirty="0"/>
          </a:p>
          <a:p>
            <a:pPr marL="228600" indent="-228600">
              <a:spcAft>
                <a:spcPts val="800"/>
              </a:spcAft>
              <a:buSzPct val="100000"/>
              <a:buChar char="•"/>
            </a:pPr>
            <a:r>
              <a:rPr lang="en-US" sz="1600" b="1" dirty="0">
                <a:solidFill>
                  <a:schemeClr val="tx1"/>
                </a:solidFill>
              </a:rPr>
              <a:t>The course website</a:t>
            </a:r>
            <a:r>
              <a:rPr lang="en-US" sz="1600" dirty="0">
                <a:solidFill>
                  <a:schemeClr val="tx1"/>
                </a:solidFill>
              </a:rPr>
              <a:t>: slides, an Excel workbook, a Python notebook, data and the interactive DCT Map</a:t>
            </a:r>
            <a:endParaRPr lang="en-US" sz="1600" dirty="0"/>
          </a:p>
          <a:p>
            <a:pPr marL="228600" indent="-228600">
              <a:spcAft>
                <a:spcPts val="800"/>
              </a:spcAft>
              <a:buSzPct val="100000"/>
              <a:buChar char="•"/>
            </a:pPr>
            <a:r>
              <a:rPr lang="en-US" sz="1600" b="1" dirty="0">
                <a:solidFill>
                  <a:schemeClr val="tx1"/>
                </a:solidFill>
              </a:rPr>
              <a:t>AXIOM</a:t>
            </a:r>
            <a:r>
              <a:rPr lang="en-US" sz="1600" dirty="0">
                <a:solidFill>
                  <a:schemeClr val="tx1"/>
                </a:solidFill>
              </a:rPr>
              <a:t>: one lab per chapter, sharing one computational core with the notebooks</a:t>
            </a:r>
            <a:endParaRPr lang="en-US" sz="1600" dirty="0"/>
          </a:p>
        </p:txBody>
      </p:sp>
      <p:pic>
        <p:nvPicPr>
          <p:cNvPr id="6" name="Figure" descr="Figure 1.5: the textbook, the course website and AXIOM">    </p:cNvPr>
          <p:cNvPicPr>
            <a:picLocks noChangeAspect="1"/>
          </p:cNvPicPr>
          <p:nvPr/>
        </p:nvPicPr>
        <p:blipFill>
          <a:blip r:embed="rId1"/>
          <a:stretch>
            <a:fillRect/>
          </a:stretch>
        </p:blipFill>
        <p:spPr>
          <a:xfrm>
            <a:off x="5613063" y="2358184"/>
            <a:ext cx="6029993" cy="2580544"/>
          </a:xfrm>
          <a:prstGeom prst="rect">
            <a:avLst/>
          </a:prstGeom>
        </p:spPr>
      </p:pic>
      <p:sp>
        <p:nvSpPr>
          <p:cNvPr id="7" name="Caption"/>
          <p:cNvSpPr txBox="1"/>
          <p:nvPr/>
        </p:nvSpPr>
        <p:spPr>
          <a:xfrm>
            <a:off x="5613063" y="5011880"/>
            <a:ext cx="6029993" cy="502920"/>
          </a:xfrm>
          <a:prstGeom prst="rect">
            <a:avLst/>
          </a:prstGeom>
          <a:noFill/>
          <a:ln/>
        </p:spPr>
        <p:txBody>
          <a:bodyPr wrap="square" lIns="0" tIns="0" rIns="0" bIns="0" rtlCol="0" anchor="t"/>
          <a:lstStyle/>
          <a:p>
            <a:pPr indent="0" marL="0">
              <a:buNone/>
            </a:pPr>
            <a:r>
              <a:rPr lang="en-US" sz="1100" i="1" dirty="0">
                <a:solidFill>
                  <a:schemeClr val="tx2"/>
                </a:solidFill>
              </a:rPr>
              <a:t>Figure 1.5. The book's website, www.dynamiccorporatetransformation.com, is the entry point to all three and hosts the Online Appendix.</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THE SITUATION AND STEP 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scorecard for three futures</a:t>
            </a:r>
            <a:endParaRPr lang="en-US" sz="3200" dirty="0"/>
          </a:p>
        </p:txBody>
      </p:sp>
      <p:pic>
        <p:nvPicPr>
          <p:cNvPr id="5" name="Equation" descr="Equation: \mathrm{Score} \;=\; \tfrac{1}{4}\,\bigl(\mathrm{Liquidity} + \mathrm{Technology} + \mathrm{Efficiency} - \mathrm{Strategic\ risk}\bigr)">    </p:cNvPr>
          <p:cNvPicPr>
            <a:picLocks noChangeAspect="1"/>
          </p:cNvPicPr>
          <p:nvPr/>
        </p:nvPicPr>
        <p:blipFill>
          <a:blip r:embed="rId1"/>
          <a:stretch>
            <a:fillRect/>
          </a:stretch>
        </p:blipFill>
        <p:spPr>
          <a:xfrm>
            <a:off x="914400" y="1900094"/>
            <a:ext cx="10362895" cy="634652"/>
          </a:xfrm>
          <a:prstGeom prst="rect">
            <a:avLst/>
          </a:prstGeom>
        </p:spPr>
      </p:pic>
      <p:sp>
        <p:nvSpPr>
          <p:cNvPr id="6" name="Text 2"/>
          <p:cNvSpPr txBox="1"/>
          <p:nvPr/>
        </p:nvSpPr>
        <p:spPr>
          <a:xfrm>
            <a:off x="914400" y="2671906"/>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CFO's scorecard: three readings added with equal weights, strategic risk subtracted</a:t>
            </a:r>
            <a:endParaRPr lang="en-US" sz="1600" dirty="0"/>
          </a:p>
        </p:txBody>
      </p:sp>
      <p:sp>
        <p:nvSpPr>
          <p:cNvPr id="7" name="Bullets"/>
          <p:cNvSpPr txBox="1"/>
          <p:nvPr/>
        </p:nvSpPr>
        <p:spPr>
          <a:xfrm>
            <a:off x="914400" y="3266266"/>
            <a:ext cx="10362895" cy="2905934"/>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The board has asked its strategy team for a recommendation; the CFO proposes this simple scorecard</a:t>
            </a:r>
            <a:endParaRPr lang="en-US" sz="1700" dirty="0"/>
          </a:p>
          <a:p>
            <a:pPr marL="228600" indent="-228600">
              <a:spcAft>
                <a:spcPts val="800"/>
              </a:spcAft>
              <a:buSzPct val="100000"/>
              <a:buChar char="•"/>
            </a:pPr>
            <a:r>
              <a:rPr lang="en-US" sz="1700" dirty="0">
                <a:solidFill>
                  <a:schemeClr val="bg1"/>
                </a:solidFill>
              </a:rPr>
              <a:t>The team projects each option five years ahead with the chapter's model (Online Appendix 1.B.4)</a:t>
            </a:r>
            <a:endParaRPr lang="en-US" sz="1700" dirty="0"/>
          </a:p>
          <a:p>
            <a:pPr marL="228600" indent="-228600">
              <a:spcAft>
                <a:spcPts val="800"/>
              </a:spcAft>
              <a:buSzPct val="100000"/>
              <a:buChar char="•"/>
            </a:pPr>
            <a:r>
              <a:rPr lang="en-US" sz="1700" dirty="0">
                <a:solidFill>
                  <a:schemeClr val="bg1"/>
                </a:solidFill>
              </a:rPr>
              <a:t>Four readings move; net leverage, workforce capability, ROIC and market share are held at today's values</a:t>
            </a:r>
            <a:endParaRPr lang="en-US" sz="1700" dirty="0"/>
          </a:p>
          <a:p>
            <a:pPr marL="228600" indent="-228600">
              <a:spcAft>
                <a:spcPts val="800"/>
              </a:spcAft>
              <a:buSzPct val="100000"/>
              <a:buChar char="•"/>
            </a:pPr>
            <a:r>
              <a:rPr lang="en-US" sz="1700" b="1" dirty="0">
                <a:solidFill>
                  <a:schemeClr val="bg1"/>
                </a:solidFill>
              </a:rPr>
              <a:t>Step 1:</a:t>
            </a:r>
            <a:r>
              <a:rPr lang="en-US" sz="1700" dirty="0">
                <a:solidFill>
                  <a:schemeClr val="bg1"/>
                </a:solidFill>
              </a:rPr>
              <a:t> today's dashboard scores ¼ (100 + 41 + 71 − 64) = </a:t>
            </a:r>
            <a:r>
              <a:rPr lang="en-US" sz="1700" b="1" dirty="0">
                <a:solidFill>
                  <a:schemeClr val="bg1"/>
                </a:solidFill>
              </a:rPr>
              <a:t>37.0</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STEPS 2–3 · TABLE 1.9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point apart, well inside any forecast error</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001264"/>
                <a:gridCol w="1727819"/>
                <a:gridCol w="1727819"/>
                <a:gridCol w="1909694"/>
                <a:gridCol w="1727819"/>
              </a:tblGrid>
              <a:tr h="512064">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Reading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Today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Digital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Restructuring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Turnaround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Liquidity (index, today = 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94.3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121.1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105.4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Technology platform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41.0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75.6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38.9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35.9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Operational efficiency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71.0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73.6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73.7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78.6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Strategic risk (lower is better)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55.2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49.4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66.3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Score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37.0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47.1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46.1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38.4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95604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Meridian today and in Year 5 under each option (Chapter 1 model). Indices run from 0 to 100, except liquidity, indexed to today = 100 ($0.62 billion). Lower strategic risk is better.</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Step 3:</a:t>
            </a:r>
            <a:r>
              <a:rPr lang="en-US" sz="1600" dirty="0">
                <a:solidFill>
                  <a:schemeClr val="accent2"/>
                </a:solidFill>
              </a:rPr>
              <a:t> $25 million more from the sale, 4.05 liquidity points, lifts restructuring to 47.1: a tie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STEPS 4 AND 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Same score, different company</a:t>
            </a:r>
            <a:endParaRPr lang="en-US" sz="3200" dirty="0"/>
          </a:p>
        </p:txBody>
      </p:sp>
      <p:sp>
        <p:nvSpPr>
          <p:cNvPr id="5" name="Column card"/>
          <p:cNvSpPr/>
          <p:nvPr/>
        </p:nvSpPr>
        <p:spPr>
          <a:xfrm>
            <a:off x="548640" y="1691640"/>
            <a:ext cx="5410048" cy="2697480"/>
          </a:xfrm>
          <a:prstGeom prst="roundRect">
            <a:avLst>
              <a:gd name="adj" fmla="val 2712"/>
            </a:avLst>
          </a:prstGeom>
          <a:solidFill>
            <a:schemeClr val="tx1"/>
          </a:solidFill>
          <a:ln w="9525">
            <a:solidFill>
              <a:srgbClr val="0F1E3D"/>
            </a:solidFill>
            <a:prstDash val="solid"/>
          </a:ln>
        </p:spPr>
      </p:sp>
      <p:sp>
        <p:nvSpPr>
          <p:cNvPr id="6" name="Text 3"/>
          <p:cNvSpPr txBox="1"/>
          <p:nvPr/>
        </p:nvSpPr>
        <p:spPr>
          <a:xfrm>
            <a:off x="731520" y="1828800"/>
            <a:ext cx="5044288"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Digital Meridian, Year 5: score 47.1</a:t>
            </a:r>
            <a:endParaRPr lang="en-US" sz="1800" dirty="0"/>
          </a:p>
        </p:txBody>
      </p:sp>
      <p:sp>
        <p:nvSpPr>
          <p:cNvPr id="7" name="Text 4"/>
          <p:cNvSpPr txBox="1"/>
          <p:nvPr/>
        </p:nvSpPr>
        <p:spPr>
          <a:xfrm>
            <a:off x="731520" y="2377440"/>
            <a:ext cx="504428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75.6</a:t>
            </a:r>
            <a:endParaRPr lang="en-US" sz="3200" dirty="0"/>
          </a:p>
        </p:txBody>
      </p:sp>
      <p:sp>
        <p:nvSpPr>
          <p:cNvPr id="8" name="Text 5"/>
          <p:cNvSpPr txBox="1"/>
          <p:nvPr/>
        </p:nvSpPr>
        <p:spPr>
          <a:xfrm>
            <a:off x="731520" y="2907792"/>
            <a:ext cx="5044288" cy="411480"/>
          </a:xfrm>
          <a:prstGeom prst="rect">
            <a:avLst/>
          </a:prstGeom>
          <a:noFill/>
          <a:ln/>
        </p:spPr>
        <p:txBody>
          <a:bodyPr wrap="square" lIns="0" tIns="0" rIns="0" bIns="0" rtlCol="0" anchor="t"/>
          <a:lstStyle/>
          <a:p>
            <a:pPr indent="0" marL="0">
              <a:buNone/>
            </a:pPr>
            <a:r>
              <a:rPr lang="en-US" sz="1300" dirty="0">
                <a:solidFill>
                  <a:schemeClr val="bg2"/>
                </a:solidFill>
              </a:rPr>
              <a:t>technology platform: a modern platform</a:t>
            </a:r>
            <a:endParaRPr lang="en-US" sz="1300" dirty="0"/>
          </a:p>
        </p:txBody>
      </p:sp>
      <p:sp>
        <p:nvSpPr>
          <p:cNvPr id="9" name="Text 6"/>
          <p:cNvSpPr txBox="1"/>
          <p:nvPr/>
        </p:nvSpPr>
        <p:spPr>
          <a:xfrm>
            <a:off x="731520" y="3429000"/>
            <a:ext cx="504428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94.3</a:t>
            </a:r>
            <a:endParaRPr lang="en-US" sz="3200" dirty="0"/>
          </a:p>
        </p:txBody>
      </p:sp>
      <p:sp>
        <p:nvSpPr>
          <p:cNvPr id="10" name="Text 7"/>
          <p:cNvSpPr txBox="1"/>
          <p:nvPr/>
        </p:nvSpPr>
        <p:spPr>
          <a:xfrm>
            <a:off x="731520" y="3959352"/>
            <a:ext cx="5044288" cy="411480"/>
          </a:xfrm>
          <a:prstGeom prst="rect">
            <a:avLst/>
          </a:prstGeom>
          <a:noFill/>
          <a:ln/>
        </p:spPr>
        <p:txBody>
          <a:bodyPr wrap="square" lIns="0" tIns="0" rIns="0" bIns="0" rtlCol="0" anchor="t"/>
          <a:lstStyle/>
          <a:p>
            <a:pPr indent="0" marL="0">
              <a:buNone/>
            </a:pPr>
            <a:r>
              <a:rPr lang="en-US" sz="1300" dirty="0">
                <a:solidFill>
                  <a:schemeClr val="bg2"/>
                </a:solidFill>
              </a:rPr>
              <a:t>liquidity index: thinner cash</a:t>
            </a:r>
            <a:endParaRPr lang="en-US" sz="1300" dirty="0"/>
          </a:p>
        </p:txBody>
      </p:sp>
      <p:sp>
        <p:nvSpPr>
          <p:cNvPr id="11" name="Order sign"/>
          <p:cNvSpPr txBox="1"/>
          <p:nvPr/>
        </p:nvSpPr>
        <p:spPr>
          <a:xfrm>
            <a:off x="5912968" y="2766060"/>
            <a:ext cx="365760" cy="54864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2" name="Column card"/>
          <p:cNvSpPr/>
          <p:nvPr/>
        </p:nvSpPr>
        <p:spPr>
          <a:xfrm>
            <a:off x="6233008" y="1691640"/>
            <a:ext cx="5410048" cy="2697480"/>
          </a:xfrm>
          <a:prstGeom prst="roundRect">
            <a:avLst>
              <a:gd name="adj" fmla="val 2712"/>
            </a:avLst>
          </a:prstGeom>
          <a:solidFill>
            <a:schemeClr val="bg2"/>
          </a:solidFill>
          <a:ln w="9525">
            <a:solidFill>
              <a:srgbClr val="C4CBD8"/>
            </a:solidFill>
            <a:prstDash val="solid"/>
          </a:ln>
        </p:spPr>
      </p:sp>
      <p:sp>
        <p:nvSpPr>
          <p:cNvPr id="13" name="Text 10"/>
          <p:cNvSpPr txBox="1"/>
          <p:nvPr/>
        </p:nvSpPr>
        <p:spPr>
          <a:xfrm>
            <a:off x="6415888" y="1828800"/>
            <a:ext cx="504428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Restructured, $25m more: score 47.1</a:t>
            </a:r>
            <a:endParaRPr lang="en-US" sz="1800" dirty="0"/>
          </a:p>
        </p:txBody>
      </p:sp>
      <p:sp>
        <p:nvSpPr>
          <p:cNvPr id="14" name="Text 11"/>
          <p:cNvSpPr txBox="1"/>
          <p:nvPr/>
        </p:nvSpPr>
        <p:spPr>
          <a:xfrm>
            <a:off x="6415888" y="2377440"/>
            <a:ext cx="504428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38.9</a:t>
            </a:r>
            <a:endParaRPr lang="en-US" sz="3200" dirty="0"/>
          </a:p>
        </p:txBody>
      </p:sp>
      <p:sp>
        <p:nvSpPr>
          <p:cNvPr id="15" name="Text 12"/>
          <p:cNvSpPr txBox="1"/>
          <p:nvPr/>
        </p:nvSpPr>
        <p:spPr>
          <a:xfrm>
            <a:off x="6415888" y="2907792"/>
            <a:ext cx="5044288" cy="411480"/>
          </a:xfrm>
          <a:prstGeom prst="rect">
            <a:avLst/>
          </a:prstGeom>
          <a:noFill/>
          <a:ln/>
        </p:spPr>
        <p:txBody>
          <a:bodyPr wrap="square" lIns="0" tIns="0" rIns="0" bIns="0" rtlCol="0" anchor="t"/>
          <a:lstStyle/>
          <a:p>
            <a:pPr indent="0" marL="0">
              <a:buNone/>
            </a:pPr>
            <a:r>
              <a:rPr lang="en-US" sz="1300" dirty="0">
                <a:solidFill>
                  <a:schemeClr val="tx2"/>
                </a:solidFill>
              </a:rPr>
              <a:t>technology platform: slightly weaker than today's</a:t>
            </a:r>
            <a:endParaRPr lang="en-US" sz="1300" dirty="0"/>
          </a:p>
        </p:txBody>
      </p:sp>
      <p:sp>
        <p:nvSpPr>
          <p:cNvPr id="16" name="Text 13"/>
          <p:cNvSpPr txBox="1"/>
          <p:nvPr/>
        </p:nvSpPr>
        <p:spPr>
          <a:xfrm>
            <a:off x="6415888" y="3429000"/>
            <a:ext cx="504428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125.2</a:t>
            </a:r>
            <a:endParaRPr lang="en-US" sz="3200" dirty="0"/>
          </a:p>
        </p:txBody>
      </p:sp>
      <p:sp>
        <p:nvSpPr>
          <p:cNvPr id="17" name="Text 14"/>
          <p:cNvSpPr txBox="1"/>
          <p:nvPr/>
        </p:nvSpPr>
        <p:spPr>
          <a:xfrm>
            <a:off x="6415888" y="3959352"/>
            <a:ext cx="5044288" cy="411480"/>
          </a:xfrm>
          <a:prstGeom prst="rect">
            <a:avLst/>
          </a:prstGeom>
          <a:noFill/>
          <a:ln/>
        </p:spPr>
        <p:txBody>
          <a:bodyPr wrap="square" lIns="0" tIns="0" rIns="0" bIns="0" rtlCol="0" anchor="t"/>
          <a:lstStyle/>
          <a:p>
            <a:pPr indent="0" marL="0">
              <a:buNone/>
            </a:pPr>
            <a:r>
              <a:rPr lang="en-US" sz="1300" dirty="0">
                <a:solidFill>
                  <a:schemeClr val="tx2"/>
                </a:solidFill>
              </a:rPr>
              <a:t>liquidity index: cash-rich</a:t>
            </a:r>
            <a:endParaRPr lang="en-US" sz="1300" dirty="0"/>
          </a:p>
        </p:txBody>
      </p:sp>
      <p:sp>
        <p:nvSpPr>
          <p:cNvPr id="18" name="Bullets"/>
          <p:cNvSpPr txBox="1"/>
          <p:nvPr/>
        </p:nvSpPr>
        <p:spPr>
          <a:xfrm>
            <a:off x="548640" y="4709160"/>
            <a:ext cx="11094415" cy="146304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4:</a:t>
            </a:r>
            <a:r>
              <a:rPr lang="en-US" sz="1600" dirty="0">
                <a:solidFill>
                  <a:schemeClr val="tx1"/>
                </a:solidFill>
              </a:rPr>
              <a:t> digital Meridian also carries more strategic risk (55.2 against 49.4); restructured Meridian is lower-risk</a:t>
            </a:r>
            <a:endParaRPr lang="en-US" sz="1600" dirty="0"/>
          </a:p>
          <a:p>
            <a:pPr marL="228600" indent="-228600">
              <a:spcAft>
                <a:spcPts val="800"/>
              </a:spcAft>
              <a:buSzPct val="100000"/>
              <a:buChar char="•"/>
            </a:pPr>
            <a:r>
              <a:rPr lang="en-US" sz="1600" b="1" dirty="0">
                <a:solidFill>
                  <a:schemeClr val="tx1"/>
                </a:solidFill>
              </a:rPr>
              <a:t>Step 6:</a:t>
            </a:r>
            <a:r>
              <a:rPr lang="en-US" sz="1600" dirty="0">
                <a:solidFill>
                  <a:schemeClr val="tx1"/>
                </a:solidFill>
              </a:rPr>
              <a:t> restructured Meridian has the cash for a digital program later, but would start it from a platform of 38.9, and the window to catch up may have closed</a:t>
            </a:r>
            <a:endParaRPr lang="en-US" sz="1600" dirty="0"/>
          </a:p>
          <a:p>
            <a:pPr marL="228600" indent="-228600">
              <a:spcAft>
                <a:spcPts val="800"/>
              </a:spcAft>
              <a:buSzPct val="100000"/>
              <a:buChar char="•"/>
            </a:pPr>
            <a:r>
              <a:rPr lang="en-US" sz="1600" dirty="0">
                <a:solidFill>
                  <a:schemeClr val="tx1"/>
                </a:solidFill>
              </a:rPr>
              <a:t>From the digital state Meridian can grow on its new platform, but has less cushion for the next shock</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STEP 5 · FIGURE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path shows what the endpoint hides</a:t>
            </a:r>
            <a:endParaRPr lang="en-US" sz="3200" dirty="0"/>
          </a:p>
        </p:txBody>
      </p:sp>
      <p:sp>
        <p:nvSpPr>
          <p:cNvPr id="5" name="Bullets"/>
          <p:cNvSpPr txBox="1"/>
          <p:nvPr/>
        </p:nvSpPr>
        <p:spPr>
          <a:xfrm>
            <a:off x="548640" y="1691640"/>
            <a:ext cx="4809607"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5:</a:t>
            </a:r>
            <a:r>
              <a:rPr lang="en-US" sz="1600" dirty="0">
                <a:solidFill>
                  <a:schemeClr val="tx1"/>
                </a:solidFill>
              </a:rPr>
              <a:t> digital liquidity bottoms at </a:t>
            </a:r>
            <a:r>
              <a:rPr lang="en-US" sz="1600" b="1" dirty="0">
                <a:solidFill>
                  <a:schemeClr val="tx1"/>
                </a:solidFill>
              </a:rPr>
              <a:t>77.7</a:t>
            </a:r>
            <a:r>
              <a:rPr lang="en-US" sz="1600" dirty="0">
                <a:solidFill>
                  <a:schemeClr val="tx1"/>
                </a:solidFill>
              </a:rPr>
              <a:t> around month 21, 22% below today: about </a:t>
            </a:r>
            <a:r>
              <a:rPr lang="en-US" sz="1600" b="1" dirty="0">
                <a:solidFill>
                  <a:schemeClr val="tx1"/>
                </a:solidFill>
              </a:rPr>
              <a:t>$138m</a:t>
            </a:r>
            <a:endParaRPr lang="en-US" sz="1600" dirty="0"/>
          </a:p>
          <a:p>
            <a:pPr marL="228600" indent="-228600">
              <a:spcAft>
                <a:spcPts val="800"/>
              </a:spcAft>
              <a:buSzPct val="100000"/>
              <a:buChar char="•"/>
            </a:pPr>
            <a:r>
              <a:rPr lang="en-US" sz="1600" dirty="0">
                <a:solidFill>
                  <a:schemeClr val="tx1"/>
                </a:solidFill>
              </a:rPr>
              <a:t>That trough is when the program is most exposed: a downturn or a delay could force the board to stop</a:t>
            </a:r>
            <a:endParaRPr lang="en-US" sz="1600" dirty="0"/>
          </a:p>
          <a:p>
            <a:pPr marL="228600" indent="-228600">
              <a:spcAft>
                <a:spcPts val="800"/>
              </a:spcAft>
              <a:buSzPct val="100000"/>
              <a:buChar char="•"/>
            </a:pPr>
            <a:r>
              <a:rPr lang="en-US" sz="1600" dirty="0">
                <a:solidFill>
                  <a:schemeClr val="tx1"/>
                </a:solidFill>
              </a:rPr>
              <a:t>The restructuring moves the other way: liquidity jumps about </a:t>
            </a:r>
            <a:r>
              <a:rPr lang="en-US" sz="1600" b="1" dirty="0">
                <a:solidFill>
                  <a:schemeClr val="tx1"/>
                </a:solidFill>
              </a:rPr>
              <a:t>$112m</a:t>
            </a:r>
            <a:r>
              <a:rPr lang="en-US" sz="1600" dirty="0">
                <a:solidFill>
                  <a:schemeClr val="tx1"/>
                </a:solidFill>
              </a:rPr>
              <a:t> when the sale closes in Year 1</a:t>
            </a:r>
            <a:endParaRPr lang="en-US" sz="1600" dirty="0"/>
          </a:p>
          <a:p>
            <a:pPr marL="228600" indent="-228600">
              <a:spcAft>
                <a:spcPts val="800"/>
              </a:spcAft>
              <a:buSzPct val="100000"/>
              <a:buChar char="•"/>
            </a:pPr>
            <a:r>
              <a:rPr lang="en-US" sz="1600" dirty="0">
                <a:solidFill>
                  <a:schemeClr val="tx1"/>
                </a:solidFill>
              </a:rPr>
              <a:t>On the way, digital's strategic risk peaks 1.4 points under its ceiling</a:t>
            </a:r>
            <a:endParaRPr lang="en-US" sz="1600" dirty="0"/>
          </a:p>
          <a:p>
            <a:pPr marL="228600" indent="-228600">
              <a:spcAft>
                <a:spcPts val="800"/>
              </a:spcAft>
              <a:buSzPct val="100000"/>
              <a:buChar char="•"/>
            </a:pPr>
            <a:r>
              <a:rPr lang="en-US" sz="1600" dirty="0">
                <a:solidFill>
                  <a:schemeClr val="tx1"/>
                </a:solidFill>
              </a:rPr>
              <a:t>And its score stays below today's 37.0 until month 29: annual reviews rank digital last for two years</a:t>
            </a:r>
            <a:endParaRPr lang="en-US" sz="1600" dirty="0"/>
          </a:p>
        </p:txBody>
      </p:sp>
      <p:pic>
        <p:nvPicPr>
          <p:cNvPr id="6" name="Figure" descr="Figure 1.3: transformation as a path">    </p:cNvPr>
          <p:cNvPicPr>
            <a:picLocks noChangeAspect="1"/>
          </p:cNvPicPr>
          <p:nvPr/>
        </p:nvPicPr>
        <p:blipFill>
          <a:blip r:embed="rId1"/>
          <a:stretch>
            <a:fillRect/>
          </a:stretch>
        </p:blipFill>
        <p:spPr>
          <a:xfrm>
            <a:off x="5822805" y="1691640"/>
            <a:ext cx="5721452" cy="3913632"/>
          </a:xfrm>
          <a:prstGeom prst="rect">
            <a:avLst/>
          </a:prstGeom>
        </p:spPr>
      </p:pic>
      <p:sp>
        <p:nvSpPr>
          <p:cNvPr id="7" name="Caption"/>
          <p:cNvSpPr txBox="1"/>
          <p:nvPr/>
        </p:nvSpPr>
        <p:spPr>
          <a:xfrm>
            <a:off x="5724007" y="5678424"/>
            <a:ext cx="5919048" cy="502920"/>
          </a:xfrm>
          <a:prstGeom prst="rect">
            <a:avLst/>
          </a:prstGeom>
          <a:noFill/>
          <a:ln/>
        </p:spPr>
        <p:txBody>
          <a:bodyPr wrap="square" lIns="0" tIns="0" rIns="0" bIns="0" rtlCol="0" anchor="t"/>
          <a:lstStyle/>
          <a:p>
            <a:pPr indent="0" marL="0">
              <a:buNone/>
            </a:pPr>
            <a:r>
              <a:rPr lang="en-US" sz="1100" i="1" dirty="0">
                <a:solidFill>
                  <a:schemeClr val="tx2"/>
                </a:solidFill>
              </a:rPr>
              <a:t>Figure 1.3. Meridian's three options over five years in two of its eight dimensions, from the chapter's model. The dashed line is an illustrative minimum-liquidity requirement.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Use the score to screen, the state to decide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38.4</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turnaround: the scorecard correctly flags the weakest option</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47.1</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digital and a restructured Meridian with $25m more: one score, two companies</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Month 21</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liquidity trough that no endpoint score shows</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decision turns on what the score cannot see: how deep a trough the board can survive, how fast the technology window is closing, and which Year-5 company has the better next moves</a:t>
            </a:r>
            <a:endParaRPr lang="en-US" sz="1700" dirty="0"/>
          </a:p>
          <a:p>
            <a:pPr marL="228600" indent="-228600">
              <a:spcAft>
                <a:spcPts val="800"/>
              </a:spcAft>
              <a:buSzPct val="100000"/>
              <a:buChar char="•"/>
            </a:pPr>
            <a:r>
              <a:rPr lang="en-US" sz="1700" dirty="0">
                <a:solidFill>
                  <a:schemeClr val="tx1"/>
                </a:solidFill>
              </a:rPr>
              <a:t>Proposition 1.2 guarantees it is no quirk of this scorecard: every smooth single score produces ties like this one</a:t>
            </a:r>
            <a:endParaRPr lang="en-US" sz="1700" dirty="0"/>
          </a:p>
          <a:p>
            <a:pPr marL="228600" indent="-228600">
              <a:spcAft>
                <a:spcPts val="800"/>
              </a:spcAft>
              <a:buSzPct val="100000"/>
              <a:buChar char="•"/>
            </a:pPr>
            <a:r>
              <a:rPr lang="en-US" sz="1700" dirty="0">
                <a:solidFill>
                  <a:schemeClr val="tx1"/>
                </a:solidFill>
              </a:rPr>
              <a:t>For discussion: which Year-5 Meridian would you rather run, and what would you have to believe to be right?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 · MODULE AXIOM-01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 at a crossroads,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meets in three weeks to choose among the digital pivot, the restructuring and the turnaround. You are on the corporate strategy team: the CFO wants a single scorecard, the head of Digital Solutions wants the board to see the full picture. Open AXIOM, choose Lab 1.1 and load the Meridian Group.</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dashboard</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For each of the eight readings: what it measures, and where the data would come from.</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Play the three options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five years; pause around month 21 and at the sale date; record the Year-5 readings.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 paths, not just endpoints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Technology against liquidity: find the digital low point and the restructuring's jump.</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Add uncertainty</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Turn on the fan for digital liquidity: how wide is the spread around month 21?</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 your own score</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Choose weights; find two clearly different Meridians with the same score. Does any weighting avoid ties?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memo to the board stating which option deserves full analysis, the numbers that support your view, and what the scorecard cannot tell the board.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Transformation decisions need a complete picture: the company's state, a compact set of measurable readings across finance, people, technology, operations, and strategy.</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Each established lens—finance, strategy, operations and control, systems thinking, enterprise architecture—sees part of the company. None combines change over time, whole-company scope, precision, and the ability to rank options.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transformation is a path, not a before-and-after pair. The path is where cash runs short, talent leaves, and options close.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No smooth single score can tell all genuinely different companies apart (Proposition 1.2). Use scores to screen and the full state to decide.</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DCT Map shows the whole discipline as seven moves and sixteen propositions (Section 1.5.9). Volume I poses the General Enterprise Optimization Problem and certifies when it can be solved, Volume II solves it with a certificate or a gap, and the course website and AXIOM put each chapter to work.</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36</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48</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26101</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AXIOM-01</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DCT_V1_Ch01_Lab.ipynb: Worked Example 1.1 and the lab's five steps, ready for Colab; its fan reproduces the book's 24.6% and 3.0% with seed 8</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DCT_V1_Ch01_Lab.xlsx: Table 1.9, the low point, the uncertainty's closed forms and every weighting's tie, in formulas</a:t>
            </a:r>
            <a:endParaRPr lang="en-US" sz="1700" dirty="0"/>
          </a:p>
          <a:p>
            <a:pPr marL="228600" indent="-228600">
              <a:spcAft>
                <a:spcPts val="800"/>
              </a:spcAft>
              <a:buSzPct val="100000"/>
              <a:buChar char="•"/>
            </a:pPr>
            <a:r>
              <a:rPr lang="en-US" sz="1700" dirty="0">
                <a:solidFill>
                  <a:schemeClr val="tx1"/>
                </a:solidFill>
              </a:rPr>
              <a:t>Every number on these slides is the book's; the companions check every one that this chapter computes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2 asks what is being transformed</a:t>
            </a:r>
            <a:endParaRPr lang="en-US" sz="3200" dirty="0"/>
          </a:p>
        </p:txBody>
      </p:sp>
      <p:pic>
        <p:nvPicPr>
          <p:cNvPr id="5" name="Equation" descr="Equation: \mathbf{x}_{k+1} \;=\; f\bigl(\mathbf{x}_k,\, \mathbf{u}_k,\, \mathbf{w}_k\bigr), \qquad \mathbf{y}_k \;=\; g(\mathbf{x}_k)">    </p:cNvPr>
          <p:cNvPicPr>
            <a:picLocks noChangeAspect="1"/>
          </p:cNvPicPr>
          <p:nvPr/>
        </p:nvPicPr>
        <p:blipFill>
          <a:blip r:embed="rId1"/>
          <a:stretch>
            <a:fillRect/>
          </a:stretch>
        </p:blipFill>
        <p:spPr>
          <a:xfrm>
            <a:off x="2571454" y="1691640"/>
            <a:ext cx="7048786"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Companies are open: no model fed only this period's state reproduces every path (Proposition 2.1)</a:t>
            </a:r>
            <a:endParaRPr lang="en-US" sz="1800" dirty="0"/>
          </a:p>
          <a:p>
            <a:pPr marL="228600" indent="-228600">
              <a:spcAft>
                <a:spcPts val="800"/>
              </a:spcAft>
              <a:buSzPct val="100000"/>
              <a:buChar char="•"/>
            </a:pPr>
            <a:r>
              <a:rPr lang="en-US" sz="1800" dirty="0">
                <a:solidFill>
                  <a:schemeClr val="bg1"/>
                </a:solidFill>
              </a:rPr>
              <a:t>The state is a sufficient statistic: two histories that reach the same state have the same future (Theorem 2.1)</a:t>
            </a:r>
            <a:endParaRPr lang="en-US" sz="1800" dirty="0"/>
          </a:p>
          <a:p>
            <a:pPr marL="228600" indent="-228600">
              <a:spcAft>
                <a:spcPts val="800"/>
              </a:spcAft>
              <a:buSzPct val="100000"/>
              <a:buChar char="•"/>
            </a:pPr>
            <a:r>
              <a:rPr lang="en-US" sz="1800" dirty="0">
                <a:solidFill>
                  <a:schemeClr val="bg1"/>
                </a:solidFill>
              </a:rPr>
              <a:t>Where Meridian ends is a declaration: a boundary relabels flows but never changes them (Theorem 2.2)</a:t>
            </a:r>
            <a:endParaRPr lang="en-US" sz="1800" dirty="0"/>
          </a:p>
          <a:p>
            <a:pPr marL="228600" indent="-228600">
              <a:spcAft>
                <a:spcPts val="800"/>
              </a:spcAft>
              <a:buSzPct val="100000"/>
              <a:buChar char="•"/>
            </a:pPr>
            <a:r>
              <a:rPr lang="en-US" sz="1800" dirty="0">
                <a:solidFill>
                  <a:schemeClr val="bg1"/>
                </a:solidFill>
              </a:rPr>
              <a:t>Worked Example 2.1 asks where Meridian ends: is its independent dealer network inside the boundary?</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 Introduction to Dynamic Corporate Transformation</dc:title>
  <dc:subject>Slides for Volume I, Chapter 1 (V56)</dc:subject>
  <dc:creator>Samir Asaf</dc:creator>
  <cp:lastModifiedBy>Samir Asaf</cp:lastModifiedBy>
  <cp:revision>1</cp:revision>
  <dcterms:created xsi:type="dcterms:W3CDTF">2026-10-05T09:46:43Z</dcterms:created>
  <dcterms:modified xsi:type="dcterms:W3CDTF">2026-10-05T09:46:43Z</dcterms:modified>
</cp:coreProperties>
</file>