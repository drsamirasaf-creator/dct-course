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52b982d-d43d-23f6-c18e-3d1825f1e29c}">
          <p14:sldIdLst>
            <p14:sldId id="256"/>
            <p14:sldId id="257"/>
            <p14:sldId id="258"/>
            <p14:sldId id="259"/>
          </p14:sldIdLst>
        </p14:section>
        <p14:section name="2.1 Systems Thinking and Enterprise Analysis" id="{5290528d-a436-0a05-13cb-f9ad4f99b1f5}">
          <p14:sldIdLst>
            <p14:sldId id="260"/>
          </p14:sldIdLst>
        </p14:section>
        <p14:section name="2.2 The Enterprise as an Open System" id="{88a7dbf2-30b3-3edd-474b-db831fff4973}">
          <p14:sldIdLst>
            <p14:sldId id="261"/>
            <p14:sldId id="262"/>
            <p14:sldId id="263"/>
          </p14:sldIdLst>
        </p14:section>
        <p14:section name="2.3 Enterprise Boundaries and Environment" id="{28c7eb3a-a1b0-98a4-eed5-b8f7d0ae5c27}">
          <p14:sldIdLst>
            <p14:sldId id="264"/>
          </p14:sldIdLst>
        </p14:section>
        <p14:section name="2.4 Hierarchy and Subsystems" id="{57af9e79-eb3c-87c5-534a-43203b6cf3ee}">
          <p14:sldIdLst>
            <p14:sldId id="265"/>
            <p14:sldId id="266"/>
          </p14:sldIdLst>
        </p14:section>
        <p14:section name="2.5 Feedback, Adaptation, and Control" id="{f0aeb4a3-c454-4cd7-0c23-0f5b6168c90e}">
          <p14:sldIdLst>
            <p14:sldId id="267"/>
            <p14:sldId id="268"/>
          </p14:sldIdLst>
        </p14:section>
        <p14:section name="2.6 Enterprise Transformation" id="{5a5f989a-fb30-371d-5d5b-bef4305e2330}">
          <p14:sldIdLst>
            <p14:sldId id="269"/>
            <p14:sldId id="270"/>
          </p14:sldIdLst>
        </p14:section>
        <p14:section name="Worked Example 2.1" id="{8c70ac2c-f260-440f-3661-8b9a390b46f7}">
          <p14:sldIdLst>
            <p14:sldId id="271"/>
            <p14:sldId id="272"/>
            <p14:sldId id="273"/>
            <p14:sldId id="274"/>
          </p14:sldIdLst>
        </p14:section>
        <p14:section name="AXIOM Lab 1.2" id="{29b4e9ac-c57f-6324-640e-6f688f8c84ce}">
          <p14:sldIdLst>
            <p14:sldId id="275"/>
          </p14:sldIdLst>
        </p14:section>
        <p14:section name="Close" id="{b9bdd00d-fb6e-239b-cf4d-8ab52fef83ae}">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2. Chapter 1 described the company as an evolving state; this chapter makes it a system: a state, decisions, an environment, outputs and a declared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transformation debate begins with the first of Kipling's questions: what, exactly, is being transformed? (the chapter's abstract; Section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Proofs of Theorems 2.1-2.2 and Proposition 2.3 are in Appendix 2.A; Propositions 2.1-2.2 in Online Appendix 2.B, with a corollary on free perimeter additions and a remark on algebraic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2.1. Which Meridian is the board discussing: its legal, operating or economic perimeter? The word 'enterprise' silently selects an answer, and different silent selections produce incompatible analyses of the same decision. Systems thinking adds three commitments (second row); Table 2.1 fixes the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2.1, Equations 2.1-2.2; discrete time, decision periods such as quarters. The transition f is the company's mechanism. Investors' constraints and mandates shape which financing a company can raise (Section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2.1; formal statement and proof in Online Appendix 2.B. Such models do not merely lose accuracy: the open form x' = f(x, u, w) is the minimum honest signature of a company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2.1 (Enterprise System Representation Theorem); formal statement and proof in Appendix 2.A. It turns a philosophical dispute, can companies be described as states?, into a checkable modeling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2.2-2.3 and Theorem 2.2 (Enterprise Boundary Consistency Theorem); proof in Appendix 2.A; the corollary on free perimeter additions is in Online Appendix 2.B. A declared boundary cures the failure in which an analysis treats a joint venture's revenue as internal and its risk as external.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2.4, Definition 2.4 and Figure 2.3. Near-decomposability (Simon) is a property of the mechanism f, which blocks depend on which, and Chapter 9 measures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2.3 maps the components of an operating company into the septuple (2.1), at group-level resolution. The architectures of Chapters 9-12 organize the state; the operators of Chapter 6 come from f and the decisions; the program of Chapter 15 chooses the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2.4. Negative feedback is the mechanism of stability; positive feedback of both growth and collapse. The stability theory that separates the benign from the dangerous cases arrives in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2.5-2.6 and Propositions 2.2-2.3; Proposition 2.3's proof is in Appendix 2.A, Proposition 2.2's in Online Appendix 2.B. Changing how a company learns needs a further enlargement; the regress ends with the modeling judgment of Chapter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2.6 and Definition 2.7. LOS Guidance 2.5 applies the four stages to the restructuring: diagnose Meridian's state and rules, design the divestiture and target region, execute through the sale and the quarters after it, and embed new capital-allocation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2.5 reads four kinds of company through the chapter's vocabulary. Industrial Systems' migration loop is the one AXIOM Lab 1.2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the situation. Two teams are preparing Meridian's board materials; the gap between their figures is the subject of Steps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2.6 (Worked Example 2.1, Steps 1-3): six entities and nine flows. Each class follows from where the flow's two ends lie (Definition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Steps 2-4, and Theorem 2.2, parts (i) and (ii). The two teams agree on the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Steps 5-6, what the board should take away, and the discussion question. Theorem 2.2 guarantees the total system is the same under every declaration; what changes is what each team's numbers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1.2. What to look for: moving the boundary relabels flows but never changes the total (Theorem 2.2); each division's environment includes its siblings (Definition 2.4); feedback holds a target against the environment's pull, while adaptation trades predictability for flexibility (Proposition 2.3). Supports LOS 2.2, 2.3 and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Mathematical Foundations: Proposition 3.2 (units), Theorem 3.1 (equivalent distances), Proposition 3.1 and Equation 3.4 (feasibility chaining), Theorem 3.2 (order matters). Meridian's sequencing of its restructuring and its digital program makes each idea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2 · WEEK 1</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Systems and Transformation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Describe the company as an open system with a declared boundary and its rules as part of its state; transformation is designed system change</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26102 · AXIOM Lab 1.2 (AXIOM-02)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“I keep six honest serving-men (They taught me all I knew); Their names are What and Why and When And How and Where and Who.”</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Rudyard Kipling</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1907; Just So Stories (1902)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it means to treat a company as an open system—state, decisions, environment, and outputs—and why planning models that project the future from the present alone cannot represent a real company.</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Describe a company's boundary as a declared modeling choice, and use Meridian's dealer network to show what moving the boundary changes and what it cannot change.</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the levels of a company—group, division, and unit—and explain why each level's environment includes its sibling units.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feedback (changing decisions under a fixed rule) from adaptation (changing the rule itself), and explain why a company's rules are a form of capital.</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Interpret transformation as designed system change—of state, rules, structure, or boundary—and apply the four-stage lifecycle to one of Meridian's options.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Six sections, a worked example and a lab</a:t>
            </a:r>
            <a:endParaRPr lang="en-US" sz="3200" dirty="0"/>
          </a:p>
        </p:txBody>
      </p:sp>
      <p:sp>
        <p:nvSpPr>
          <p:cNvPr id="5" name="Card"/>
          <p:cNvSpPr/>
          <p:nvPr/>
        </p:nvSpPr>
        <p:spPr>
          <a:xfrm>
            <a:off x="548640" y="1691640"/>
            <a:ext cx="2567864" cy="2103120"/>
          </a:xfrm>
          <a:prstGeom prst="roundRect">
            <a:avLst>
              <a:gd name="adj" fmla="val 3478"/>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§2.1</a:t>
            </a:r>
            <a:endParaRPr lang="en-US" sz="1300" dirty="0"/>
          </a:p>
        </p:txBody>
      </p:sp>
      <p:sp>
        <p:nvSpPr>
          <p:cNvPr id="7" name="Card head"/>
          <p:cNvSpPr txBox="1"/>
          <p:nvPr/>
        </p:nvSpPr>
        <p:spPr>
          <a:xfrm>
            <a:off x="731520"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Systems Thinking and Enterprise Analysis</a:t>
            </a:r>
            <a:endParaRPr lang="en-US" sz="1500" dirty="0"/>
          </a:p>
        </p:txBody>
      </p:sp>
      <p:sp>
        <p:nvSpPr>
          <p:cNvPr id="8" name="Card text"/>
          <p:cNvSpPr txBox="1"/>
          <p:nvPr/>
        </p:nvSpPr>
        <p:spPr>
          <a:xfrm>
            <a:off x="731520"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Table 2.1</a:t>
            </a:r>
            <a:endParaRPr lang="en-US" sz="1300" dirty="0"/>
          </a:p>
        </p:txBody>
      </p:sp>
      <p:sp>
        <p:nvSpPr>
          <p:cNvPr id="9" name="Card"/>
          <p:cNvSpPr/>
          <p:nvPr/>
        </p:nvSpPr>
        <p:spPr>
          <a:xfrm>
            <a:off x="3390824" y="1691640"/>
            <a:ext cx="2567864" cy="2103120"/>
          </a:xfrm>
          <a:prstGeom prst="roundRect">
            <a:avLst>
              <a:gd name="adj" fmla="val 3478"/>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§2.2</a:t>
            </a:r>
            <a:endParaRPr lang="en-US" sz="1300" dirty="0"/>
          </a:p>
        </p:txBody>
      </p:sp>
      <p:sp>
        <p:nvSpPr>
          <p:cNvPr id="11" name="Card head"/>
          <p:cNvSpPr txBox="1"/>
          <p:nvPr/>
        </p:nvSpPr>
        <p:spPr>
          <a:xfrm>
            <a:off x="3573704"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The Enterprise as an Open System</a:t>
            </a:r>
            <a:endParaRPr lang="en-US" sz="1500" dirty="0"/>
          </a:p>
        </p:txBody>
      </p:sp>
      <p:sp>
        <p:nvSpPr>
          <p:cNvPr id="12" name="Card text"/>
          <p:cNvSpPr txBox="1"/>
          <p:nvPr/>
        </p:nvSpPr>
        <p:spPr>
          <a:xfrm>
            <a:off x="3573704"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2.1 · Theorem 2.1</a:t>
            </a:r>
            <a:endParaRPr lang="en-US" sz="1300" dirty="0"/>
          </a:p>
        </p:txBody>
      </p:sp>
      <p:sp>
        <p:nvSpPr>
          <p:cNvPr id="13" name="Card"/>
          <p:cNvSpPr/>
          <p:nvPr/>
        </p:nvSpPr>
        <p:spPr>
          <a:xfrm>
            <a:off x="6233008" y="1691640"/>
            <a:ext cx="2567864" cy="2103120"/>
          </a:xfrm>
          <a:prstGeom prst="roundRect">
            <a:avLst>
              <a:gd name="adj" fmla="val 3478"/>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§2.3</a:t>
            </a:r>
            <a:endParaRPr lang="en-US" sz="1300" dirty="0"/>
          </a:p>
        </p:txBody>
      </p:sp>
      <p:sp>
        <p:nvSpPr>
          <p:cNvPr id="15" name="Card head"/>
          <p:cNvSpPr txBox="1"/>
          <p:nvPr/>
        </p:nvSpPr>
        <p:spPr>
          <a:xfrm>
            <a:off x="6415888"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Enterprise Boundaries and Environment</a:t>
            </a:r>
            <a:endParaRPr lang="en-US" sz="1500" dirty="0"/>
          </a:p>
        </p:txBody>
      </p:sp>
      <p:sp>
        <p:nvSpPr>
          <p:cNvPr id="16" name="Card text"/>
          <p:cNvSpPr txBox="1"/>
          <p:nvPr/>
        </p:nvSpPr>
        <p:spPr>
          <a:xfrm>
            <a:off x="6415888"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2.3 · Theorem 2.2</a:t>
            </a:r>
            <a:endParaRPr lang="en-US" sz="1300" dirty="0"/>
          </a:p>
        </p:txBody>
      </p:sp>
      <p:sp>
        <p:nvSpPr>
          <p:cNvPr id="17" name="Card"/>
          <p:cNvSpPr/>
          <p:nvPr/>
        </p:nvSpPr>
        <p:spPr>
          <a:xfrm>
            <a:off x="9075191" y="1691640"/>
            <a:ext cx="2567864" cy="2103120"/>
          </a:xfrm>
          <a:prstGeom prst="roundRect">
            <a:avLst>
              <a:gd name="adj" fmla="val 3478"/>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§2.4</a:t>
            </a:r>
            <a:endParaRPr lang="en-US" sz="1300" dirty="0"/>
          </a:p>
        </p:txBody>
      </p:sp>
      <p:sp>
        <p:nvSpPr>
          <p:cNvPr id="19" name="Card head"/>
          <p:cNvSpPr txBox="1"/>
          <p:nvPr/>
        </p:nvSpPr>
        <p:spPr>
          <a:xfrm>
            <a:off x="9258071" y="214884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Hierarchy and Subsystems</a:t>
            </a:r>
            <a:endParaRPr lang="en-US" sz="1500" dirty="0"/>
          </a:p>
        </p:txBody>
      </p:sp>
      <p:sp>
        <p:nvSpPr>
          <p:cNvPr id="20" name="Card text"/>
          <p:cNvSpPr txBox="1"/>
          <p:nvPr/>
        </p:nvSpPr>
        <p:spPr>
          <a:xfrm>
            <a:off x="9258071" y="328269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2.4 · Figure 2.3</a:t>
            </a:r>
            <a:endParaRPr lang="en-US" sz="1300" dirty="0"/>
          </a:p>
        </p:txBody>
      </p:sp>
      <p:sp>
        <p:nvSpPr>
          <p:cNvPr id="21" name="Card"/>
          <p:cNvSpPr/>
          <p:nvPr/>
        </p:nvSpPr>
        <p:spPr>
          <a:xfrm>
            <a:off x="548640" y="4069080"/>
            <a:ext cx="2567864" cy="2103120"/>
          </a:xfrm>
          <a:prstGeom prst="roundRect">
            <a:avLst>
              <a:gd name="adj" fmla="val 3478"/>
            </a:avLst>
          </a:prstGeom>
          <a:solidFill>
            <a:schemeClr val="bg2"/>
          </a:solidFill>
          <a:ln w="9525">
            <a:solidFill>
              <a:srgbClr val="C4CBD8"/>
            </a:solidFill>
            <a:prstDash val="solid"/>
          </a:ln>
        </p:spPr>
      </p:sp>
      <p:sp>
        <p:nvSpPr>
          <p:cNvPr id="22" name="Card label"/>
          <p:cNvSpPr txBox="1"/>
          <p:nvPr/>
        </p:nvSpPr>
        <p:spPr>
          <a:xfrm>
            <a:off x="731520"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§2.5</a:t>
            </a:r>
            <a:endParaRPr lang="en-US" sz="1300" dirty="0"/>
          </a:p>
        </p:txBody>
      </p:sp>
      <p:sp>
        <p:nvSpPr>
          <p:cNvPr id="23" name="Card head"/>
          <p:cNvSpPr txBox="1"/>
          <p:nvPr/>
        </p:nvSpPr>
        <p:spPr>
          <a:xfrm>
            <a:off x="731520"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Feedback, Adaptation, and Control</a:t>
            </a:r>
            <a:endParaRPr lang="en-US" sz="1500" dirty="0"/>
          </a:p>
        </p:txBody>
      </p:sp>
      <p:sp>
        <p:nvSpPr>
          <p:cNvPr id="24" name="Card text"/>
          <p:cNvSpPr txBox="1"/>
          <p:nvPr/>
        </p:nvSpPr>
        <p:spPr>
          <a:xfrm>
            <a:off x="731520"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Proposition 2.3 · Figure 2.4</a:t>
            </a:r>
            <a:endParaRPr lang="en-US" sz="1300" dirty="0"/>
          </a:p>
        </p:txBody>
      </p:sp>
      <p:sp>
        <p:nvSpPr>
          <p:cNvPr id="25" name="Card"/>
          <p:cNvSpPr/>
          <p:nvPr/>
        </p:nvSpPr>
        <p:spPr>
          <a:xfrm>
            <a:off x="3390824" y="4069080"/>
            <a:ext cx="2567864" cy="2103120"/>
          </a:xfrm>
          <a:prstGeom prst="roundRect">
            <a:avLst>
              <a:gd name="adj" fmla="val 3478"/>
            </a:avLst>
          </a:prstGeom>
          <a:solidFill>
            <a:schemeClr val="bg2"/>
          </a:solidFill>
          <a:ln w="9525">
            <a:solidFill>
              <a:srgbClr val="C4CBD8"/>
            </a:solidFill>
            <a:prstDash val="solid"/>
          </a:ln>
        </p:spPr>
      </p:sp>
      <p:sp>
        <p:nvSpPr>
          <p:cNvPr id="26" name="Card label"/>
          <p:cNvSpPr txBox="1"/>
          <p:nvPr/>
        </p:nvSpPr>
        <p:spPr>
          <a:xfrm>
            <a:off x="3573704"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§2.6</a:t>
            </a:r>
            <a:endParaRPr lang="en-US" sz="1300" dirty="0"/>
          </a:p>
        </p:txBody>
      </p:sp>
      <p:sp>
        <p:nvSpPr>
          <p:cNvPr id="27" name="Card head"/>
          <p:cNvSpPr txBox="1"/>
          <p:nvPr/>
        </p:nvSpPr>
        <p:spPr>
          <a:xfrm>
            <a:off x="3573704"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Enterprise Transformation</a:t>
            </a:r>
            <a:endParaRPr lang="en-US" sz="1500" dirty="0"/>
          </a:p>
        </p:txBody>
      </p:sp>
      <p:sp>
        <p:nvSpPr>
          <p:cNvPr id="28" name="Card text"/>
          <p:cNvSpPr txBox="1"/>
          <p:nvPr/>
        </p:nvSpPr>
        <p:spPr>
          <a:xfrm>
            <a:off x="3573704"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Definition 2.7 · Figure 2.5</a:t>
            </a:r>
            <a:endParaRPr lang="en-US" sz="1300" dirty="0"/>
          </a:p>
        </p:txBody>
      </p:sp>
      <p:sp>
        <p:nvSpPr>
          <p:cNvPr id="29" name="Card"/>
          <p:cNvSpPr/>
          <p:nvPr/>
        </p:nvSpPr>
        <p:spPr>
          <a:xfrm>
            <a:off x="6233008" y="4069080"/>
            <a:ext cx="2567864" cy="2103120"/>
          </a:xfrm>
          <a:prstGeom prst="roundRect">
            <a:avLst>
              <a:gd name="adj" fmla="val 3478"/>
            </a:avLst>
          </a:prstGeom>
          <a:solidFill>
            <a:schemeClr val="tx1"/>
          </a:solidFill>
          <a:ln w="9525">
            <a:solidFill>
              <a:srgbClr val="0F1E3D"/>
            </a:solidFill>
            <a:prstDash val="solid"/>
          </a:ln>
        </p:spPr>
      </p:sp>
      <p:sp>
        <p:nvSpPr>
          <p:cNvPr id="30" name="Card label"/>
          <p:cNvSpPr txBox="1"/>
          <p:nvPr/>
        </p:nvSpPr>
        <p:spPr>
          <a:xfrm>
            <a:off x="6415888"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2.1</a:t>
            </a:r>
            <a:endParaRPr lang="en-US" sz="1300" dirty="0"/>
          </a:p>
        </p:txBody>
      </p:sp>
      <p:sp>
        <p:nvSpPr>
          <p:cNvPr id="31" name="Card head"/>
          <p:cNvSpPr txBox="1"/>
          <p:nvPr/>
        </p:nvSpPr>
        <p:spPr>
          <a:xfrm>
            <a:off x="6415888" y="4526280"/>
            <a:ext cx="2202104" cy="1060704"/>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Where Does Meridian End?</a:t>
            </a:r>
            <a:endParaRPr lang="en-US" sz="1500" dirty="0"/>
          </a:p>
        </p:txBody>
      </p:sp>
      <p:sp>
        <p:nvSpPr>
          <p:cNvPr id="32" name="Card text"/>
          <p:cNvSpPr txBox="1"/>
          <p:nvPr/>
        </p:nvSpPr>
        <p:spPr>
          <a:xfrm>
            <a:off x="6415888" y="5660136"/>
            <a:ext cx="2202104" cy="384048"/>
          </a:xfrm>
          <a:prstGeom prst="rect">
            <a:avLst/>
          </a:prstGeom>
          <a:noFill/>
          <a:ln/>
        </p:spPr>
        <p:txBody>
          <a:bodyPr wrap="square" lIns="0" tIns="0" rIns="0" bIns="0" rtlCol="0" anchor="t"/>
          <a:lstStyle/>
          <a:p>
            <a:pPr indent="0" marL="0">
              <a:buNone/>
            </a:pPr>
            <a:r>
              <a:rPr lang="en-US" sz="1300" dirty="0">
                <a:solidFill>
                  <a:schemeClr val="bg2"/>
                </a:solidFill>
              </a:rPr>
              <a:t>Table 2.6 · Figure 2.2</a:t>
            </a:r>
            <a:endParaRPr lang="en-US" sz="1300" dirty="0"/>
          </a:p>
        </p:txBody>
      </p:sp>
      <p:sp>
        <p:nvSpPr>
          <p:cNvPr id="33" name="Card"/>
          <p:cNvSpPr/>
          <p:nvPr/>
        </p:nvSpPr>
        <p:spPr>
          <a:xfrm>
            <a:off x="9075191" y="4069080"/>
            <a:ext cx="2567864" cy="2103120"/>
          </a:xfrm>
          <a:prstGeom prst="roundRect">
            <a:avLst>
              <a:gd name="adj" fmla="val 3478"/>
            </a:avLst>
          </a:prstGeom>
          <a:solidFill>
            <a:schemeClr val="bg2"/>
          </a:solidFill>
          <a:ln w="9525">
            <a:solidFill>
              <a:srgbClr val="C4CBD8"/>
            </a:solidFill>
            <a:prstDash val="solid"/>
          </a:ln>
        </p:spPr>
      </p:sp>
      <p:sp>
        <p:nvSpPr>
          <p:cNvPr id="34" name="Card label"/>
          <p:cNvSpPr txBox="1"/>
          <p:nvPr/>
        </p:nvSpPr>
        <p:spPr>
          <a:xfrm>
            <a:off x="9258071" y="419709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1.2</a:t>
            </a:r>
            <a:endParaRPr lang="en-US" sz="1300" dirty="0"/>
          </a:p>
        </p:txBody>
      </p:sp>
      <p:sp>
        <p:nvSpPr>
          <p:cNvPr id="35" name="Card head"/>
          <p:cNvSpPr txBox="1"/>
          <p:nvPr/>
        </p:nvSpPr>
        <p:spPr>
          <a:xfrm>
            <a:off x="9258071" y="4526280"/>
            <a:ext cx="2202104" cy="106070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Drawing Meridian's Boundary</a:t>
            </a:r>
            <a:endParaRPr lang="en-US" sz="1500" dirty="0"/>
          </a:p>
        </p:txBody>
      </p:sp>
      <p:sp>
        <p:nvSpPr>
          <p:cNvPr id="36" name="Card text"/>
          <p:cNvSpPr txBox="1"/>
          <p:nvPr/>
        </p:nvSpPr>
        <p:spPr>
          <a:xfrm>
            <a:off x="9258071" y="5660136"/>
            <a:ext cx="2202104" cy="384048"/>
          </a:xfrm>
          <a:prstGeom prst="rect">
            <a:avLst/>
          </a:prstGeom>
          <a:noFill/>
          <a:ln/>
        </p:spPr>
        <p:txBody>
          <a:bodyPr wrap="square" lIns="0" tIns="0" rIns="0" bIns="0" rtlCol="0" anchor="t"/>
          <a:lstStyle/>
          <a:p>
            <a:pPr indent="0" marL="0">
              <a:buNone/>
            </a:pPr>
            <a:r>
              <a:rPr lang="en-US" sz="1300" dirty="0">
                <a:solidFill>
                  <a:schemeClr val="tx2"/>
                </a:solidFill>
              </a:rPr>
              <a:t>AXIOM-02 · five steps</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§2.1 · SYSTEMS THINKING AND ENTERPRISE ANALYSIS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Declare which Meridian you mean</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Legal perimeter</a:t>
            </a:r>
            <a:endParaRPr lang="en-US" sz="1300" dirty="0"/>
          </a:p>
        </p:txBody>
      </p:sp>
      <p:sp>
        <p:nvSpPr>
          <p:cNvPr id="7" name="Card head"/>
          <p:cNvSpPr txBox="1"/>
          <p:nvPr/>
        </p:nvSpPr>
        <p:spPr>
          <a:xfrm>
            <a:off x="731520" y="21488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The consolidated entities</a:t>
            </a:r>
            <a:endParaRPr lang="en-US" sz="1700" dirty="0"/>
          </a:p>
        </p:txBody>
      </p:sp>
      <p:sp>
        <p:nvSpPr>
          <p:cNvPr id="8" name="Card text"/>
          <p:cNvSpPr txBox="1"/>
          <p:nvPr/>
        </p:nvSpPr>
        <p:spPr>
          <a:xfrm>
            <a:off x="731520"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The company as its accounts define it.</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Operating perimeter</a:t>
            </a:r>
            <a:endParaRPr lang="en-US" sz="1300" dirty="0"/>
          </a:p>
        </p:txBody>
      </p:sp>
      <p:sp>
        <p:nvSpPr>
          <p:cNvPr id="11" name="Card head"/>
          <p:cNvSpPr txBox="1"/>
          <p:nvPr/>
        </p:nvSpPr>
        <p:spPr>
          <a:xfrm>
            <a:off x="4521098" y="21488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Plus the independent dealer network</a:t>
            </a:r>
            <a:endParaRPr lang="en-US" sz="1700" dirty="0"/>
          </a:p>
        </p:txBody>
      </p:sp>
      <p:sp>
        <p:nvSpPr>
          <p:cNvPr id="12" name="Card text"/>
          <p:cNvSpPr txBox="1"/>
          <p:nvPr/>
        </p:nvSpPr>
        <p:spPr>
          <a:xfrm>
            <a:off x="4521098" y="2843784"/>
            <a:ext cx="3149498" cy="502920"/>
          </a:xfrm>
          <a:prstGeom prst="rect">
            <a:avLst/>
          </a:prstGeom>
          <a:noFill/>
          <a:ln/>
        </p:spPr>
        <p:txBody>
          <a:bodyPr wrap="square" lIns="0" tIns="0" rIns="0" bIns="0" rtlCol="0" anchor="t"/>
          <a:lstStyle/>
          <a:p>
            <a:pPr indent="0" marL="0">
              <a:buNone/>
            </a:pPr>
            <a:r>
              <a:rPr lang="en-US" sz="1400" dirty="0">
                <a:solidFill>
                  <a:schemeClr val="tx2"/>
                </a:solidFill>
              </a:rPr>
              <a:t>Meridian does not own the dealers but cannot function without them.</a:t>
            </a:r>
            <a:endParaRPr lang="en-US" sz="1400" dirty="0"/>
          </a:p>
        </p:txBody>
      </p:sp>
      <p:sp>
        <p:nvSpPr>
          <p:cNvPr id="13" name="Card"/>
          <p:cNvSpPr/>
          <p:nvPr/>
        </p:nvSpPr>
        <p:spPr>
          <a:xfrm>
            <a:off x="8127797" y="1691640"/>
            <a:ext cx="3515258" cy="1783080"/>
          </a:xfrm>
          <a:prstGeom prst="roundRect">
            <a:avLst>
              <a:gd name="adj" fmla="val 410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Economic perimeter</a:t>
            </a:r>
            <a:endParaRPr lang="en-US" sz="1300" dirty="0"/>
          </a:p>
        </p:txBody>
      </p:sp>
      <p:sp>
        <p:nvSpPr>
          <p:cNvPr id="15" name="Card head"/>
          <p:cNvSpPr txBox="1"/>
          <p:nvPr/>
        </p:nvSpPr>
        <p:spPr>
          <a:xfrm>
            <a:off x="8310677" y="2148840"/>
            <a:ext cx="3149498" cy="62179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Plus the co-development partners of Digital Solutions</a:t>
            </a:r>
            <a:endParaRPr lang="en-US" sz="1700" dirty="0"/>
          </a:p>
        </p:txBody>
      </p:sp>
      <p:sp>
        <p:nvSpPr>
          <p:cNvPr id="16" name="Card text"/>
          <p:cNvSpPr txBox="1"/>
          <p:nvPr/>
        </p:nvSpPr>
        <p:spPr>
          <a:xfrm>
            <a:off x="8310677" y="2843784"/>
            <a:ext cx="3149498" cy="502920"/>
          </a:xfrm>
          <a:prstGeom prst="rect">
            <a:avLst/>
          </a:prstGeom>
          <a:noFill/>
          <a:ln/>
        </p:spPr>
        <p:txBody>
          <a:bodyPr wrap="square" lIns="0" tIns="0" rIns="0" bIns="0" rtlCol="0" anchor="t"/>
          <a:lstStyle/>
          <a:p>
            <a:pPr indent="0" marL="0">
              <a:buNone/>
            </a:pPr>
            <a:r>
              <a:rPr lang="en-US" sz="1400" dirty="0">
                <a:solidFill>
                  <a:schemeClr val="bg2"/>
                </a:solidFill>
              </a:rPr>
              <a:t>Each answer gives a different analysis of the same decision.</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Holism with mechanism</a:t>
            </a:r>
            <a:endParaRPr lang="en-US" sz="1300" dirty="0"/>
          </a:p>
        </p:txBody>
      </p:sp>
      <p:sp>
        <p:nvSpPr>
          <p:cNvPr id="19" name="Card head"/>
          <p:cNvSpPr txBox="1"/>
          <p:nvPr/>
        </p:nvSpPr>
        <p:spPr>
          <a:xfrm>
            <a:off x="731520" y="42062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The whole is explained by its parts but is not a list of them</a:t>
            </a:r>
            <a:endParaRPr lang="en-US" sz="1700" dirty="0"/>
          </a:p>
        </p:txBody>
      </p:sp>
      <p:sp>
        <p:nvSpPr>
          <p:cNvPr id="20" name="Card text"/>
          <p:cNvSpPr txBox="1"/>
          <p:nvPr/>
        </p:nvSpPr>
        <p:spPr>
          <a:xfrm>
            <a:off x="731520"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Which part depends on which is where divisions interact.</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Openness</a:t>
            </a:r>
            <a:endParaRPr lang="en-US" sz="1300" dirty="0"/>
          </a:p>
        </p:txBody>
      </p:sp>
      <p:sp>
        <p:nvSpPr>
          <p:cNvPr id="23" name="Card head"/>
          <p:cNvSpPr txBox="1"/>
          <p:nvPr/>
        </p:nvSpPr>
        <p:spPr>
          <a:xfrm>
            <a:off x="4521098" y="42062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Companies exist by exchanging with an environment</a:t>
            </a:r>
            <a:endParaRPr lang="en-US" sz="1700" dirty="0"/>
          </a:p>
        </p:txBody>
      </p:sp>
      <p:sp>
        <p:nvSpPr>
          <p:cNvPr id="24" name="Card text"/>
          <p:cNvSpPr txBox="1"/>
          <p:nvPr/>
        </p:nvSpPr>
        <p:spPr>
          <a:xfrm>
            <a:off x="4521098"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Capital, goods, services, information and people cross the line.</a:t>
            </a:r>
            <a:endParaRPr lang="en-US" sz="1400" dirty="0"/>
          </a:p>
        </p:txBody>
      </p:sp>
      <p:sp>
        <p:nvSpPr>
          <p:cNvPr id="25" name="Card"/>
          <p:cNvSpPr/>
          <p:nvPr/>
        </p:nvSpPr>
        <p:spPr>
          <a:xfrm>
            <a:off x="8127797" y="3749040"/>
            <a:ext cx="3515258" cy="1783080"/>
          </a:xfrm>
          <a:prstGeom prst="roundRect">
            <a:avLst>
              <a:gd name="adj" fmla="val 4103"/>
            </a:avLst>
          </a:prstGeom>
          <a:solidFill>
            <a:schemeClr val="bg2"/>
          </a:solidFill>
          <a:ln w="9525">
            <a:solidFill>
              <a:srgbClr val="C4CBD8"/>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Regulation and adaptation</a:t>
            </a:r>
            <a:endParaRPr lang="en-US" sz="1300" dirty="0"/>
          </a:p>
        </p:txBody>
      </p:sp>
      <p:sp>
        <p:nvSpPr>
          <p:cNvPr id="27" name="Card head"/>
          <p:cNvSpPr txBox="1"/>
          <p:nvPr/>
        </p:nvSpPr>
        <p:spPr>
          <a:xfrm>
            <a:off x="8310677" y="4206240"/>
            <a:ext cx="3149498" cy="62179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Companies steer by feedback and rewrite their own rules</a:t>
            </a:r>
            <a:endParaRPr lang="en-US" sz="1700" dirty="0"/>
          </a:p>
        </p:txBody>
      </p:sp>
      <p:sp>
        <p:nvSpPr>
          <p:cNvPr id="28" name="Card text"/>
          <p:cNvSpPr txBox="1"/>
          <p:nvPr/>
        </p:nvSpPr>
        <p:spPr>
          <a:xfrm>
            <a:off x="8310677" y="4901184"/>
            <a:ext cx="3149498" cy="502920"/>
          </a:xfrm>
          <a:prstGeom prst="rect">
            <a:avLst/>
          </a:prstGeom>
          <a:noFill/>
          <a:ln/>
        </p:spPr>
        <p:txBody>
          <a:bodyPr wrap="square" lIns="0" tIns="0" rIns="0" bIns="0" rtlCol="0" anchor="t"/>
          <a:lstStyle/>
          <a:p>
            <a:pPr indent="0" marL="0">
              <a:buNone/>
            </a:pPr>
            <a:r>
              <a:rPr lang="en-US" sz="1400" dirty="0">
                <a:solidFill>
                  <a:schemeClr val="tx2"/>
                </a:solidFill>
              </a:rPr>
              <a:t>Chapter 6 deepens this into transformation operators.</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From here on, “the enterprise” means a declared boundary drawn in a declared map of entities and flows.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§2.2 · DEFINITION 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Seven parts describe a company as a system</a:t>
            </a:r>
            <a:endParaRPr lang="en-US" sz="3200" dirty="0"/>
          </a:p>
        </p:txBody>
      </p:sp>
      <p:pic>
        <p:nvPicPr>
          <p:cNvPr id="5" name="Equation" descr="Equation: S \;=\; \bigl(\mathcal{X},\, \mathcal{U},\, \mathcal{W},\, \mathcal{Y},\, f,\, g,\, \mathbf{x}_0\bigr),\qquad \mathbf{x}_{k+1} \;=\; f(\mathbf{x}_k, \mathbf{u}_k, \mathbf{w}_k),\qquad \mathbf{y}_k \;=\; g(\mathbf{x}_k)">    </p:cNvPr>
          <p:cNvPicPr>
            <a:picLocks noChangeAspect="1"/>
          </p:cNvPicPr>
          <p:nvPr/>
        </p:nvPicPr>
        <p:blipFill>
          <a:blip r:embed="rId1"/>
          <a:stretch>
            <a:fillRect/>
          </a:stretch>
        </p:blipFill>
        <p:spPr>
          <a:xfrm>
            <a:off x="914400" y="1948648"/>
            <a:ext cx="10362895" cy="537545"/>
          </a:xfrm>
          <a:prstGeom prst="rect">
            <a:avLst/>
          </a:prstGeom>
        </p:spPr>
      </p:pic>
      <p:sp>
        <p:nvSpPr>
          <p:cNvPr id="6" name="Text 2"/>
          <p:cNvSpPr txBox="1"/>
          <p:nvPr/>
        </p:nvSpPr>
        <p:spPr>
          <a:xfrm>
            <a:off x="914400" y="2623352"/>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states, decisions, environmental inputs, outputs, the transition, the output map, and the start</a:t>
            </a:r>
            <a:endParaRPr lang="en-US" sz="1600" dirty="0"/>
          </a:p>
        </p:txBody>
      </p:sp>
      <p:sp>
        <p:nvSpPr>
          <p:cNvPr id="7" name="Bullets"/>
          <p:cNvSpPr txBox="1"/>
          <p:nvPr/>
        </p:nvSpPr>
        <p:spPr>
          <a:xfrm>
            <a:off x="914400" y="3217712"/>
            <a:ext cx="10362895" cy="2954488"/>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Transition</a:t>
            </a:r>
            <a:r>
              <a:rPr lang="en-US" sz="1700" dirty="0">
                <a:solidFill>
                  <a:schemeClr val="bg1"/>
                </a:solidFill>
              </a:rPr>
              <a:t> f: the company's mechanism, how this period's condition, choices and circumstances produce the next</a:t>
            </a:r>
            <a:endParaRPr lang="en-US" sz="1700" dirty="0"/>
          </a:p>
          <a:p>
            <a:pPr marL="228600" indent="-228600">
              <a:spcAft>
                <a:spcPts val="800"/>
              </a:spcAft>
              <a:buSzPct val="100000"/>
              <a:buChar char="•"/>
            </a:pPr>
            <a:r>
              <a:rPr lang="en-US" sz="1700" b="1" dirty="0">
                <a:solidFill>
                  <a:schemeClr val="bg1"/>
                </a:solidFill>
              </a:rPr>
              <a:t>Decisions</a:t>
            </a:r>
            <a:r>
              <a:rPr lang="en-US" sz="1700" dirty="0">
                <a:solidFill>
                  <a:schemeClr val="bg1"/>
                </a:solidFill>
              </a:rPr>
              <a:t> u: what management chooses—allocations, prices, hires, divestitures, programs</a:t>
            </a:r>
            <a:endParaRPr lang="en-US" sz="1700" dirty="0"/>
          </a:p>
          <a:p>
            <a:pPr marL="228600" indent="-228600">
              <a:spcAft>
                <a:spcPts val="800"/>
              </a:spcAft>
              <a:buSzPct val="100000"/>
              <a:buChar char="•"/>
            </a:pPr>
            <a:r>
              <a:rPr lang="en-US" sz="1700" b="1" dirty="0">
                <a:solidFill>
                  <a:schemeClr val="bg1"/>
                </a:solidFill>
              </a:rPr>
              <a:t>Environmental inputs</a:t>
            </a:r>
            <a:r>
              <a:rPr lang="en-US" sz="1700" dirty="0">
                <a:solidFill>
                  <a:schemeClr val="bg1"/>
                </a:solidFill>
              </a:rPr>
              <a:t> w: what the world imposes—demand, input costs, regulation, competitors, technology</a:t>
            </a:r>
            <a:endParaRPr lang="en-US" sz="1700" dirty="0"/>
          </a:p>
          <a:p>
            <a:pPr marL="228600" indent="-228600">
              <a:spcAft>
                <a:spcPts val="800"/>
              </a:spcAft>
              <a:buSzPct val="100000"/>
              <a:buChar char="•"/>
            </a:pPr>
            <a:r>
              <a:rPr lang="en-US" sz="1700" b="1" dirty="0">
                <a:solidFill>
                  <a:schemeClr val="bg1"/>
                </a:solidFill>
              </a:rPr>
              <a:t>Outputs</a:t>
            </a:r>
            <a:r>
              <a:rPr lang="en-US" sz="1700" dirty="0">
                <a:solidFill>
                  <a:schemeClr val="bg1"/>
                </a:solidFill>
              </a:rPr>
              <a:t> y: what crosses outward and what observers read—products, financial statements, signals</a:t>
            </a:r>
            <a:endParaRPr lang="en-US" sz="1700" dirty="0"/>
          </a:p>
          <a:p>
            <a:pPr marL="228600" indent="-228600">
              <a:spcAft>
                <a:spcPts val="800"/>
              </a:spcAft>
              <a:buSzPct val="100000"/>
              <a:buChar char="•"/>
            </a:pPr>
            <a:r>
              <a:rPr lang="en-US" sz="1700" dirty="0">
                <a:solidFill>
                  <a:schemeClr val="bg1"/>
                </a:solidFill>
              </a:rPr>
              <a:t>The system is </a:t>
            </a:r>
            <a:r>
              <a:rPr lang="en-US" sz="1700" b="1" dirty="0">
                <a:solidFill>
                  <a:schemeClr val="bg1"/>
                </a:solidFill>
              </a:rPr>
              <a:t>open</a:t>
            </a:r>
            <a:r>
              <a:rPr lang="en-US" sz="1700" dirty="0">
                <a:solidFill>
                  <a:schemeClr val="bg1"/>
                </a:solidFill>
              </a:rPr>
              <a:t> when it has inputs or outputs; capital markets bring structure of their own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§2.2 · PROPOSITION 2.1 · TABLE 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Momentum models cannot represent a company</a:t>
            </a:r>
            <a:endParaRPr lang="en-US" sz="3200" dirty="0"/>
          </a:p>
        </p:txBody>
      </p:sp>
      <p:sp>
        <p:nvSpPr>
          <p:cNvPr id="5" name="Bullets"/>
          <p:cNvSpPr txBox="1"/>
          <p:nvPr/>
        </p:nvSpPr>
        <p:spPr>
          <a:xfrm>
            <a:off x="548640" y="1691640"/>
            <a:ext cx="4920551"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Proposition 2.1:</a:t>
            </a:r>
            <a:r>
              <a:rPr lang="en-US" sz="1600" dirty="0">
                <a:solidFill>
                  <a:schemeClr val="tx1"/>
                </a:solidFill>
              </a:rPr>
              <a:t> if the environment matters, today's state alone cannot generate every path</a:t>
            </a:r>
            <a:endParaRPr lang="en-US" sz="1600" dirty="0"/>
          </a:p>
          <a:p>
            <a:pPr marL="228600" indent="-228600">
              <a:spcAft>
                <a:spcPts val="800"/>
              </a:spcAft>
              <a:buSzPct val="100000"/>
              <a:buChar char="•"/>
            </a:pPr>
            <a:r>
              <a:rPr lang="en-US" sz="1600" dirty="0">
                <a:solidFill>
                  <a:schemeClr val="tx1"/>
                </a:solidFill>
              </a:rPr>
              <a:t>Trend extrapolation, ratio roll-forwards, momentum planning: some situations they cannot represent</a:t>
            </a:r>
            <a:endParaRPr lang="en-US" sz="1600" dirty="0"/>
          </a:p>
          <a:p>
            <a:pPr marL="228600" indent="-228600">
              <a:spcAft>
                <a:spcPts val="800"/>
              </a:spcAft>
              <a:buSzPct val="100000"/>
              <a:buChar char="•"/>
            </a:pPr>
            <a:r>
              <a:rPr lang="en-US" sz="1600" dirty="0">
                <a:solidFill>
                  <a:schemeClr val="tx1"/>
                </a:solidFill>
              </a:rPr>
              <a:t>The remedy is not more history but more inputs to the mechanism</a:t>
            </a:r>
            <a:endParaRPr lang="en-US" sz="1600" dirty="0"/>
          </a:p>
          <a:p>
            <a:pPr marL="228600" indent="-228600">
              <a:spcAft>
                <a:spcPts val="800"/>
              </a:spcAft>
              <a:buSzPct val="100000"/>
              <a:buChar char="•"/>
            </a:pPr>
            <a:r>
              <a:rPr lang="en-US" sz="1600" dirty="0">
                <a:solidFill>
                  <a:schemeClr val="tx1"/>
                </a:solidFill>
              </a:rPr>
              <a:t>Closed systems run down; open ones maintain themselves through throughput (Table 2.2)</a:t>
            </a:r>
            <a:endParaRPr lang="en-US" sz="1600" dirty="0"/>
          </a:p>
        </p:txBody>
      </p:sp>
      <p:pic>
        <p:nvPicPr>
          <p:cNvPr id="6" name="Figure" descr="Figure 2.1: the open enterprise system">    </p:cNvPr>
          <p:cNvPicPr>
            <a:picLocks noChangeAspect="1"/>
          </p:cNvPicPr>
          <p:nvPr/>
        </p:nvPicPr>
        <p:blipFill>
          <a:blip r:embed="rId1"/>
          <a:stretch>
            <a:fillRect/>
          </a:stretch>
        </p:blipFill>
        <p:spPr>
          <a:xfrm>
            <a:off x="5834951" y="1810736"/>
            <a:ext cx="5808104" cy="3675441"/>
          </a:xfrm>
          <a:prstGeom prst="rect">
            <a:avLst/>
          </a:prstGeom>
        </p:spPr>
      </p:pic>
      <p:sp>
        <p:nvSpPr>
          <p:cNvPr id="7" name="Caption"/>
          <p:cNvSpPr txBox="1"/>
          <p:nvPr/>
        </p:nvSpPr>
        <p:spPr>
          <a:xfrm>
            <a:off x="5834951" y="5559328"/>
            <a:ext cx="5808104" cy="502920"/>
          </a:xfrm>
          <a:prstGeom prst="rect">
            <a:avLst/>
          </a:prstGeom>
          <a:noFill/>
          <a:ln/>
        </p:spPr>
        <p:txBody>
          <a:bodyPr wrap="square" lIns="0" tIns="0" rIns="0" bIns="0" rtlCol="0" anchor="t"/>
          <a:lstStyle/>
          <a:p>
            <a:pPr indent="0" marL="0">
              <a:buNone/>
            </a:pPr>
            <a:r>
              <a:rPr lang="en-US" sz="1100" i="1" dirty="0">
                <a:solidFill>
                  <a:schemeClr val="tx2"/>
                </a:solidFill>
              </a:rPr>
              <a:t>Figure 2.1. The state evolves under management's decisions and the environment's inputs; the flows that cross the dashed boundary form the interface.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§2.2 · THEOREM 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current state is all the history that matters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2.1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System Representation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Suppose next period's state is fully determined by this period's state, decisions and environmental inputs</a:t>
            </a:r>
            <a:endParaRPr lang="en-US" sz="1600" dirty="0"/>
          </a:p>
          <a:p>
            <a:pPr marL="228600" indent="-228600">
              <a:spcAft>
                <a:spcPts val="600"/>
              </a:spcAft>
              <a:buSzPct val="100000"/>
              <a:buChar char="•"/>
            </a:pPr>
            <a:r>
              <a:rPr lang="en-US" sz="1600" b="1" dirty="0">
                <a:solidFill>
                  <a:schemeClr val="tx1"/>
                </a:solidFill>
              </a:rPr>
              <a:t>(i)</a:t>
            </a:r>
            <a:r>
              <a:rPr lang="en-US" sz="1600" dirty="0">
                <a:solidFill>
                  <a:schemeClr val="tx1"/>
                </a:solidFill>
              </a:rPr>
              <a:t> Every plan of decisions, under every path of the environment, produces exactly one path for the company and its outputs</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Two histories that arrive at the same state have the same future under the same decisions and environment</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 for Meridian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state is a sufficient statistic for the company's future</a:t>
            </a:r>
            <a:endParaRPr lang="en-US" sz="1600" dirty="0"/>
          </a:p>
          <a:p>
            <a:pPr marL="228600" indent="-228600">
              <a:spcAft>
                <a:spcPts val="800"/>
              </a:spcAft>
              <a:buSzPct val="100000"/>
              <a:buChar char="•"/>
            </a:pPr>
            <a:r>
              <a:rPr lang="en-US" sz="1600" dirty="0">
                <a:solidFill>
                  <a:schemeClr val="tx1"/>
                </a:solidFill>
              </a:rPr>
              <a:t>If Meridian's eight readings are well chosen, the current dashboard is enough</a:t>
            </a:r>
            <a:endParaRPr lang="en-US" sz="1600" dirty="0"/>
          </a:p>
          <a:p>
            <a:pPr marL="228600" indent="-228600">
              <a:spcAft>
                <a:spcPts val="800"/>
              </a:spcAft>
              <a:buSzPct val="100000"/>
              <a:buChar char="•"/>
            </a:pPr>
            <a:r>
              <a:rPr lang="en-US" sz="1600" dirty="0">
                <a:solidFill>
                  <a:schemeClr val="tx1"/>
                </a:solidFill>
              </a:rPr>
              <a:t>The force is in the demand: next period must be determined by the three inputs</a:t>
            </a:r>
            <a:endParaRPr lang="en-US" sz="1600" dirty="0"/>
          </a:p>
          <a:p>
            <a:pPr marL="228600" indent="-228600">
              <a:spcAft>
                <a:spcPts val="800"/>
              </a:spcAft>
              <a:buSzPct val="100000"/>
              <a:buChar char="•"/>
            </a:pPr>
            <a:r>
              <a:rPr lang="en-US" sz="1600" dirty="0">
                <a:solidFill>
                  <a:schemeClr val="tx1"/>
                </a:solidFill>
              </a:rPr>
              <a:t>Too coarse a state hides variables (Chapter 4); uncertainty belongs in the inputs (Chapter 8)</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§2.3 · DEFINITION 2.3 · THEOREM 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boundary relabels flows; it never changes them</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2.2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Boundary Consistency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rPr>
              <a:t>A boundary is a set of entities; each typed flow is </a:t>
            </a:r>
            <a:r>
              <a:rPr lang="en-US" sz="1600" b="1" dirty="0">
                <a:solidFill>
                  <a:schemeClr val="tx1"/>
                </a:solidFill>
              </a:rPr>
              <a:t>interior</a:t>
            </a:r>
            <a:r>
              <a:rPr lang="en-US" sz="1600" dirty="0">
                <a:solidFill>
                  <a:schemeClr val="tx1"/>
                </a:solidFill>
              </a:rPr>
              <a:t>, an </a:t>
            </a:r>
            <a:r>
              <a:rPr lang="en-US" sz="1600" b="1" dirty="0">
                <a:solidFill>
                  <a:schemeClr val="tx1"/>
                </a:solidFill>
              </a:rPr>
              <a:t>input</a:t>
            </a:r>
            <a:r>
              <a:rPr lang="en-US" sz="1600" dirty="0">
                <a:solidFill>
                  <a:schemeClr val="tx1"/>
                </a:solidFill>
              </a:rPr>
              <a:t>, an </a:t>
            </a:r>
            <a:r>
              <a:rPr lang="en-US" sz="1600" b="1" dirty="0">
                <a:solidFill>
                  <a:schemeClr val="tx1"/>
                </a:solidFill>
              </a:rPr>
              <a:t>output</a:t>
            </a:r>
            <a:r>
              <a:rPr lang="en-US" sz="1600" dirty="0">
                <a:solidFill>
                  <a:schemeClr val="tx1"/>
                </a:solidFill>
              </a:rPr>
              <a:t> or </a:t>
            </a:r>
            <a:r>
              <a:rPr lang="en-US" sz="1600" b="1" dirty="0">
                <a:solidFill>
                  <a:schemeClr val="tx1"/>
                </a:solidFill>
              </a:rPr>
              <a:t>environmental</a:t>
            </a:r>
            <a:r>
              <a:rPr lang="en-US" sz="1600" dirty="0">
                <a:solidFill>
                  <a:schemeClr val="tx1"/>
                </a:solidFill>
              </a:rPr>
              <a:t> by where its two ends lie</a:t>
            </a:r>
            <a:endParaRPr lang="en-US" sz="1600" dirty="0"/>
          </a:p>
          <a:p>
            <a:pPr marL="228600" indent="-228600">
              <a:spcAft>
                <a:spcPts val="600"/>
              </a:spcAft>
              <a:buSzPct val="100000"/>
              <a:buChar char="•"/>
            </a:pPr>
            <a:r>
              <a:rPr lang="en-US" sz="1600" b="1" dirty="0">
                <a:solidFill>
                  <a:schemeClr val="tx1"/>
                </a:solidFill>
              </a:rPr>
              <a:t>(i)</a:t>
            </a:r>
            <a:r>
              <a:rPr lang="en-US" sz="1600" dirty="0">
                <a:solidFill>
                  <a:schemeClr val="tx1"/>
                </a:solidFill>
              </a:rPr>
              <a:t> Every flow is classified as exactly one of the four</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The full set of flows is the same under every boundary</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Two boundaries classify identically exactly when they agree on every entity that takes part in some flow</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How to settle a boundary dispute</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No conclusion about the total system can depend on the boundary: if one does, it is an error</a:t>
            </a:r>
            <a:endParaRPr lang="en-US" sz="1600" dirty="0"/>
          </a:p>
          <a:p>
            <a:pPr marL="228600" indent="-228600">
              <a:spcAft>
                <a:spcPts val="800"/>
              </a:spcAft>
              <a:buSzPct val="100000"/>
              <a:buChar char="•"/>
            </a:pPr>
            <a:r>
              <a:rPr lang="en-US" sz="1600" dirty="0">
                <a:solidFill>
                  <a:schemeClr val="tx1"/>
                </a:solidFill>
              </a:rPr>
              <a:t>Debates matter only for entities in the flows analyzed (Corollary 2.B.2)</a:t>
            </a:r>
            <a:endParaRPr lang="en-US" sz="1600" dirty="0"/>
          </a:p>
          <a:p>
            <a:pPr marL="228600" indent="-228600">
              <a:spcAft>
                <a:spcPts val="800"/>
              </a:spcAft>
              <a:buSzPct val="100000"/>
              <a:buChar char="•"/>
            </a:pPr>
            <a:r>
              <a:rPr lang="en-US" sz="1600" dirty="0">
                <a:solidFill>
                  <a:schemeClr val="tx1"/>
                </a:solidFill>
              </a:rPr>
              <a:t>A declared boundary leaves no flow ambiguous</a:t>
            </a:r>
            <a:endParaRPr lang="en-US" sz="1600" dirty="0"/>
          </a:p>
          <a:p>
            <a:pPr marL="228600" indent="-228600">
              <a:spcAft>
                <a:spcPts val="800"/>
              </a:spcAft>
              <a:buSzPct val="100000"/>
              <a:buChar char="•"/>
            </a:pPr>
            <a:r>
              <a:rPr lang="en-US" sz="1600" dirty="0">
                <a:solidFill>
                  <a:schemeClr val="tx1"/>
                </a:solidFill>
              </a:rPr>
              <a:t>The choice is one of purpose: what it makes controllable, observable, decision-relevant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§2.4 · DEFINITION 2.4 · FIGURE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Each division's environment includes its siblings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2.4:</a:t>
            </a:r>
            <a:r>
              <a:rPr lang="en-US" sz="1600" dirty="0">
                <a:solidFill>
                  <a:schemeClr val="tx1"/>
                </a:solidFill>
              </a:rPr>
              <a:t> a subsystem's environment is the company's environment plus its sibling subsystems</a:t>
            </a:r>
            <a:endParaRPr lang="en-US" sz="1600" dirty="0"/>
          </a:p>
          <a:p>
            <a:pPr marL="228600" indent="-228600">
              <a:spcAft>
                <a:spcPts val="800"/>
              </a:spcAft>
              <a:buSzPct val="100000"/>
              <a:buChar char="•"/>
            </a:pPr>
            <a:r>
              <a:rPr lang="en-US" sz="1600" dirty="0">
                <a:solidFill>
                  <a:schemeClr val="tx1"/>
                </a:solidFill>
              </a:rPr>
              <a:t>The coupling of two divisions is interior to the group, but environment to each division</a:t>
            </a:r>
            <a:endParaRPr lang="en-US" sz="1600" dirty="0"/>
          </a:p>
          <a:p>
            <a:pPr marL="228600" indent="-228600">
              <a:spcAft>
                <a:spcPts val="800"/>
              </a:spcAft>
              <a:buSzPct val="100000"/>
              <a:buChar char="•"/>
            </a:pPr>
            <a:r>
              <a:rPr lang="en-US" sz="1600" dirty="0">
                <a:solidFill>
                  <a:schemeClr val="tx1"/>
                </a:solidFill>
              </a:rPr>
              <a:t>Whole-company behavior lives in the coupling, absent from every division studied alone</a:t>
            </a:r>
            <a:endParaRPr lang="en-US" sz="1600" dirty="0"/>
          </a:p>
          <a:p>
            <a:pPr marL="228600" indent="-228600">
              <a:spcAft>
                <a:spcPts val="800"/>
              </a:spcAft>
              <a:buSzPct val="100000"/>
              <a:buChar char="•"/>
            </a:pPr>
            <a:r>
              <a:rPr lang="en-US" sz="1600" dirty="0">
                <a:solidFill>
                  <a:schemeClr val="tx1"/>
                </a:solidFill>
              </a:rPr>
              <a:t>Weak coupling: analyze divisions separately and add. Strong: only the group-level state will do</a:t>
            </a:r>
            <a:endParaRPr lang="en-US" sz="1600" dirty="0"/>
          </a:p>
        </p:txBody>
      </p:sp>
      <p:pic>
        <p:nvPicPr>
          <p:cNvPr id="6" name="Figure" descr="Figure 2.3: Meridian as a system of systems">    </p:cNvPr>
          <p:cNvPicPr>
            <a:picLocks noChangeAspect="1"/>
          </p:cNvPicPr>
          <p:nvPr/>
        </p:nvPicPr>
        <p:blipFill>
          <a:blip r:embed="rId1"/>
          <a:stretch>
            <a:fillRect/>
          </a:stretch>
        </p:blipFill>
        <p:spPr>
          <a:xfrm>
            <a:off x="5581891" y="1691640"/>
            <a:ext cx="5870448" cy="3913632"/>
          </a:xfrm>
          <a:prstGeom prst="rect">
            <a:avLst/>
          </a:prstGeom>
        </p:spPr>
      </p:pic>
      <p:sp>
        <p:nvSpPr>
          <p:cNvPr id="7" name="Caption"/>
          <p:cNvSpPr txBox="1"/>
          <p:nvPr/>
        </p:nvSpPr>
        <p:spPr>
          <a:xfrm>
            <a:off x="5391174" y="5678424"/>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2.3. Meridian's group, its three divisions and their units. Each division's environment includes the external environment and its sibling divisions.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§2.4 · TABLE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part of the system, at Meridian</a:t>
            </a:r>
            <a:endParaRPr lang="en-US" sz="32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33788"/>
                <a:gridCol w="4217712"/>
                <a:gridCol w="5042916"/>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Part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Company content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Meridian instances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States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capital stocks, capabilities, structures, positions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eight readings of Equation 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Decisions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allocations, prices, programs, perimeter changes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capital-spending mix; divestiture; hiring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Environment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demand, input costs, regulation, competition, technology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industrial demand cycle; software disruption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Outputs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deliveries, statements, signals, externalities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shipments; reported earnings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Transition f</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operating, financial, and organizational mechanisms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how spending and attrition move workforce capability and the technology platform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4864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Output map 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accounting, disclosure, and delivery processes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consolidation and reporting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Definition 2.1 is the container into which all later structure is poured.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§2.5 · TABLE 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Feedback comes in kinds, and they matter</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842371"/>
                <a:gridCol w="3667575"/>
                <a:gridCol w="4584469"/>
              </a:tblGrid>
              <a:tr h="56692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Mechanism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Company instances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Negative (balancing)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opposes deviation from a target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inventory control; budget variance response; capacity balancing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Positive (reinforcing)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amplifies deviation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network effects; talent clustering; runs on funding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Feedforward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acts on a forecast disturbance, not on an error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building ahead of announced demand; hedging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First-order (single loop)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adjusts decisions under a fixed rule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quarterly reforecast within policy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Second-order (double loop)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revises the decision rule itself</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changing the pricing policy, not the price (Argyris and Schön)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company that revises its rule is adapting: what strategy calls dynamic capability.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§2.5 · DEFINITIONS 2.5–2.6 · PROPOSITION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Adaptation changes the rule; count it as state</a:t>
            </a:r>
            <a:endParaRPr lang="en-US" sz="3200" dirty="0"/>
          </a:p>
        </p:txBody>
      </p:sp>
      <p:sp>
        <p:nvSpPr>
          <p:cNvPr id="5" name="Bullets"/>
          <p:cNvSpPr txBox="1"/>
          <p:nvPr/>
        </p:nvSpPr>
        <p:spPr>
          <a:xfrm>
            <a:off x="548640" y="1691640"/>
            <a:ext cx="4698663"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Feedback</a:t>
            </a:r>
            <a:r>
              <a:rPr lang="en-US" sz="1600" dirty="0">
                <a:solidFill>
                  <a:schemeClr val="tx1"/>
                </a:solidFill>
              </a:rPr>
              <a:t> (Definition 2.5): a fixed rule sets the decision from the state, u = φ(x)</a:t>
            </a:r>
            <a:endParaRPr lang="en-US" sz="1600" dirty="0"/>
          </a:p>
          <a:p>
            <a:pPr marL="228600" indent="-228600">
              <a:spcAft>
                <a:spcPts val="800"/>
              </a:spcAft>
              <a:buSzPct val="100000"/>
              <a:buChar char="•"/>
            </a:pPr>
            <a:r>
              <a:rPr lang="en-US" sz="1600" b="1" dirty="0">
                <a:solidFill>
                  <a:schemeClr val="tx1"/>
                </a:solidFill>
              </a:rPr>
              <a:t>Adaptation</a:t>
            </a:r>
            <a:r>
              <a:rPr lang="en-US" sz="1600" dirty="0">
                <a:solidFill>
                  <a:schemeClr val="tx1"/>
                </a:solidFill>
              </a:rPr>
              <a:t> (Definition 2.6): a second-order law revises the rule, θ′ = a(θ, x, y)</a:t>
            </a:r>
            <a:endParaRPr lang="en-US" sz="1600" dirty="0"/>
          </a:p>
          <a:p>
            <a:pPr marL="228600" indent="-228600">
              <a:spcAft>
                <a:spcPts val="800"/>
              </a:spcAft>
              <a:buSzPct val="100000"/>
              <a:buChar char="•"/>
            </a:pPr>
            <a:r>
              <a:rPr lang="en-US" sz="1600" b="1" dirty="0">
                <a:solidFill>
                  <a:schemeClr val="tx1"/>
                </a:solidFill>
              </a:rPr>
              <a:t>Proposition 2.3:</a:t>
            </a:r>
            <a:r>
              <a:rPr lang="en-US" sz="1600" dirty="0">
                <a:solidFill>
                  <a:schemeClr val="tx1"/>
                </a:solidFill>
              </a:rPr>
              <a:t> with the rule in the state, (x, θ), the adaptive company is an ordinary system</a:t>
            </a:r>
            <a:endParaRPr lang="en-US" sz="1600" dirty="0"/>
          </a:p>
          <a:p>
            <a:pPr marL="228600" indent="-228600">
              <a:spcAft>
                <a:spcPts val="800"/>
              </a:spcAft>
              <a:buSzPct val="100000"/>
              <a:buChar char="•"/>
            </a:pPr>
            <a:r>
              <a:rPr lang="en-US" sz="1600" dirty="0">
                <a:solidFill>
                  <a:schemeClr val="tx1"/>
                </a:solidFill>
              </a:rPr>
              <a:t>Rules are capital: dynamic capability is the range of rules a company can reach</a:t>
            </a:r>
            <a:endParaRPr lang="en-US" sz="1600" dirty="0"/>
          </a:p>
          <a:p>
            <a:pPr marL="228600" indent="-228600">
              <a:spcAft>
                <a:spcPts val="800"/>
              </a:spcAft>
              <a:buSzPct val="100000"/>
              <a:buChar char="•"/>
            </a:pPr>
            <a:r>
              <a:rPr lang="en-US" sz="1600" dirty="0">
                <a:solidFill>
                  <a:schemeClr val="tx1"/>
                </a:solidFill>
              </a:rPr>
              <a:t>A model that freezes the rule while the company learns forecasts well, then badly</a:t>
            </a:r>
            <a:endParaRPr lang="en-US" sz="1600" dirty="0"/>
          </a:p>
        </p:txBody>
      </p:sp>
      <p:pic>
        <p:nvPicPr>
          <p:cNvPr id="6" name="Figure" descr="Figure 2.4: feedback and adaptation">    </p:cNvPr>
          <p:cNvPicPr>
            <a:picLocks noChangeAspect="1"/>
          </p:cNvPicPr>
          <p:nvPr/>
        </p:nvPicPr>
        <p:blipFill>
          <a:blip r:embed="rId1"/>
          <a:stretch>
            <a:fillRect/>
          </a:stretch>
        </p:blipFill>
        <p:spPr>
          <a:xfrm>
            <a:off x="5613063" y="1792872"/>
            <a:ext cx="6029993" cy="3711167"/>
          </a:xfrm>
          <a:prstGeom prst="rect">
            <a:avLst/>
          </a:prstGeom>
        </p:spPr>
      </p:pic>
      <p:sp>
        <p:nvSpPr>
          <p:cNvPr id="7" name="Caption"/>
          <p:cNvSpPr txBox="1"/>
          <p:nvPr/>
        </p:nvSpPr>
        <p:spPr>
          <a:xfrm>
            <a:off x="5613063" y="5577192"/>
            <a:ext cx="6029993" cy="502920"/>
          </a:xfrm>
          <a:prstGeom prst="rect">
            <a:avLst/>
          </a:prstGeom>
          <a:noFill/>
          <a:ln/>
        </p:spPr>
        <p:txBody>
          <a:bodyPr wrap="square" lIns="0" tIns="0" rIns="0" bIns="0" rtlCol="0" anchor="t"/>
          <a:lstStyle/>
          <a:p>
            <a:pPr indent="0" marL="0">
              <a:buNone/>
            </a:pPr>
            <a:r>
              <a:rPr lang="en-US" sz="1100" i="1" dirty="0">
                <a:solidFill>
                  <a:schemeClr val="tx2"/>
                </a:solidFill>
              </a:rPr>
              <a:t>Figure 2.4. The inner loop sets decisions from the state under the current rule; the outer loop revises the rule from experience.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§2.6 · DEFINITION 2.7 · FIGURE 2.5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Transformation is designed system change</a:t>
            </a:r>
            <a:endParaRPr lang="en-US" sz="3200" dirty="0"/>
          </a:p>
        </p:txBody>
      </p:sp>
      <p:sp>
        <p:nvSpPr>
          <p:cNvPr id="5" name="Bullets"/>
          <p:cNvSpPr txBox="1"/>
          <p:nvPr/>
        </p:nvSpPr>
        <p:spPr>
          <a:xfrm>
            <a:off x="548640" y="1691640"/>
            <a:ext cx="4698663"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Definition 2.7:</a:t>
            </a:r>
            <a:r>
              <a:rPr lang="en-US" sz="1600" dirty="0">
                <a:solidFill>
                  <a:schemeClr val="tx1"/>
                </a:solidFill>
              </a:rPr>
              <a:t> a designed sequence of decisions, with any revision of rules, structure or boundary</a:t>
            </a:r>
            <a:endParaRPr lang="en-US" sz="1600" dirty="0"/>
          </a:p>
          <a:p>
            <a:pPr marL="228600" indent="-228600">
              <a:spcAft>
                <a:spcPts val="800"/>
              </a:spcAft>
              <a:buSzPct val="100000"/>
              <a:buChar char="•"/>
            </a:pPr>
            <a:r>
              <a:rPr lang="en-US" sz="1600" dirty="0">
                <a:solidFill>
                  <a:schemeClr val="tx1"/>
                </a:solidFill>
              </a:rPr>
              <a:t>It steers the company into a target region through its own dynamics</a:t>
            </a:r>
            <a:endParaRPr lang="en-US" sz="1600" dirty="0"/>
          </a:p>
          <a:p>
            <a:pPr marL="228600" indent="-228600">
              <a:spcAft>
                <a:spcPts val="800"/>
              </a:spcAft>
              <a:buSzPct val="100000"/>
              <a:buChar char="•"/>
            </a:pPr>
            <a:r>
              <a:rPr lang="en-US" sz="1600" dirty="0">
                <a:solidFill>
                  <a:schemeClr val="tx1"/>
                </a:solidFill>
              </a:rPr>
              <a:t>It acts under the environment that unfolds: a design must anticipate its variety</a:t>
            </a:r>
            <a:endParaRPr lang="en-US" sz="1600" dirty="0"/>
          </a:p>
          <a:p>
            <a:pPr marL="228600" indent="-228600">
              <a:spcAft>
                <a:spcPts val="800"/>
              </a:spcAft>
              <a:buSzPct val="100000"/>
              <a:buChar char="•"/>
            </a:pPr>
            <a:r>
              <a:rPr lang="en-US" sz="1600" dirty="0">
                <a:solidFill>
                  <a:schemeClr val="tx1"/>
                </a:solidFill>
              </a:rPr>
              <a:t>Four layers: state, rules, structure, boundary; it aims at a region, not a point</a:t>
            </a:r>
            <a:endParaRPr lang="en-US" sz="1600" dirty="0"/>
          </a:p>
          <a:p>
            <a:pPr marL="228600" indent="-228600">
              <a:spcAft>
                <a:spcPts val="800"/>
              </a:spcAft>
              <a:buSzPct val="100000"/>
              <a:buChar char="•"/>
            </a:pPr>
            <a:r>
              <a:rPr lang="en-US" sz="1600" dirty="0">
                <a:solidFill>
                  <a:schemeClr val="tx1"/>
                </a:solidFill>
              </a:rPr>
              <a:t>Diagnose, design, execute, embed: each embedded change resets the next diagnosis</a:t>
            </a:r>
            <a:endParaRPr lang="en-US" sz="1600" dirty="0"/>
          </a:p>
        </p:txBody>
      </p:sp>
      <p:pic>
        <p:nvPicPr>
          <p:cNvPr id="6" name="Figure" descr="Figure 2.5: the transformation lifecycle">    </p:cNvPr>
          <p:cNvPicPr>
            <a:picLocks noChangeAspect="1"/>
          </p:cNvPicPr>
          <p:nvPr/>
        </p:nvPicPr>
        <p:blipFill>
          <a:blip r:embed="rId1"/>
          <a:stretch>
            <a:fillRect/>
          </a:stretch>
        </p:blipFill>
        <p:spPr>
          <a:xfrm>
            <a:off x="5618377" y="1691640"/>
            <a:ext cx="6019365" cy="3913632"/>
          </a:xfrm>
          <a:prstGeom prst="rect">
            <a:avLst/>
          </a:prstGeom>
        </p:spPr>
      </p:pic>
      <p:sp>
        <p:nvSpPr>
          <p:cNvPr id="7" name="Caption"/>
          <p:cNvSpPr txBox="1"/>
          <p:nvPr/>
        </p:nvSpPr>
        <p:spPr>
          <a:xfrm>
            <a:off x="5613063" y="5678424"/>
            <a:ext cx="6029993" cy="502920"/>
          </a:xfrm>
          <a:prstGeom prst="rect">
            <a:avLst/>
          </a:prstGeom>
          <a:noFill/>
          <a:ln/>
        </p:spPr>
        <p:txBody>
          <a:bodyPr wrap="square" lIns="0" tIns="0" rIns="0" bIns="0" rtlCol="0" anchor="t"/>
          <a:lstStyle/>
          <a:p>
            <a:pPr indent="0" marL="0">
              <a:buNone/>
            </a:pPr>
            <a:r>
              <a:rPr lang="en-US" sz="1100" i="1" dirty="0">
                <a:solidFill>
                  <a:schemeClr val="tx2"/>
                </a:solidFill>
              </a:rPr>
              <a:t>Figure 2.5. The transformation lifecycle as system evolution.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§2.6 · TABLE 2.5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lens, four kinds of company</a:t>
            </a:r>
            <a:endParaRPr lang="en-US" sz="3200" dirty="0"/>
          </a:p>
        </p:txBody>
      </p:sp>
      <p:sp>
        <p:nvSpPr>
          <p:cNvPr id="5" name="Card"/>
          <p:cNvSpPr/>
          <p:nvPr/>
        </p:nvSpPr>
        <p:spPr>
          <a:xfrm>
            <a:off x="548640" y="1691640"/>
            <a:ext cx="2567864" cy="3657600"/>
          </a:xfrm>
          <a:prstGeom prst="roundRect">
            <a:avLst>
              <a:gd name="adj" fmla="val 2849"/>
            </a:avLst>
          </a:prstGeom>
          <a:solidFill>
            <a:schemeClr val="tx1"/>
          </a:solidFill>
          <a:ln w="9525">
            <a:solidFill>
              <a:srgbClr val="0F1E3D"/>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Meridian Industrial Systems</a:t>
            </a:r>
            <a:endParaRPr lang="en-US" sz="1300" dirty="0"/>
          </a:p>
        </p:txBody>
      </p:sp>
      <p:sp>
        <p:nvSpPr>
          <p:cNvPr id="7" name="Card head"/>
          <p:cNvSpPr txBox="1"/>
          <p:nvPr/>
        </p:nvSpPr>
        <p:spPr>
          <a:xfrm>
            <a:off x="731520" y="2148840"/>
            <a:ext cx="2202104" cy="1444752"/>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A slow reinforcing loop: customer migration cuts volume, which raises unit cost, which speeds migration</a:t>
            </a:r>
            <a:endParaRPr lang="en-US" sz="1500" dirty="0"/>
          </a:p>
        </p:txBody>
      </p:sp>
      <p:sp>
        <p:nvSpPr>
          <p:cNvPr id="8" name="Card text"/>
          <p:cNvSpPr txBox="1"/>
          <p:nvPr/>
        </p:nvSpPr>
        <p:spPr>
          <a:xfrm>
            <a:off x="731520" y="3666744"/>
            <a:ext cx="2202104" cy="1554480"/>
          </a:xfrm>
          <a:prstGeom prst="rect">
            <a:avLst/>
          </a:prstGeom>
          <a:noFill/>
          <a:ln/>
        </p:spPr>
        <p:txBody>
          <a:bodyPr wrap="square" lIns="0" tIns="0" rIns="0" bIns="0" rtlCol="0" anchor="t"/>
          <a:lstStyle/>
          <a:p>
            <a:pPr indent="0" marL="0">
              <a:buNone/>
            </a:pPr>
            <a:r>
              <a:rPr lang="en-US" sz="1300" dirty="0">
                <a:solidFill>
                  <a:schemeClr val="bg2"/>
                </a:solidFill>
              </a:rPr>
              <a:t>The boundary bites at the dealer network and at siblings competing for capital and engineers. Diagnose the loop as structural, not cyclical.</a:t>
            </a:r>
            <a:endParaRPr lang="en-US" sz="1300" dirty="0"/>
          </a:p>
        </p:txBody>
      </p:sp>
      <p:sp>
        <p:nvSpPr>
          <p:cNvPr id="9" name="Card"/>
          <p:cNvSpPr/>
          <p:nvPr/>
        </p:nvSpPr>
        <p:spPr>
          <a:xfrm>
            <a:off x="3390824" y="1691640"/>
            <a:ext cx="2567864" cy="365760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Digital platform</a:t>
            </a:r>
            <a:endParaRPr lang="en-US" sz="1300" dirty="0"/>
          </a:p>
        </p:txBody>
      </p:sp>
      <p:sp>
        <p:nvSpPr>
          <p:cNvPr id="11" name="Card head"/>
          <p:cNvSpPr txBox="1"/>
          <p:nvPr/>
        </p:nvSpPr>
        <p:spPr>
          <a:xfrm>
            <a:off x="3573704" y="2148840"/>
            <a:ext cx="2202104" cy="1444752"/>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Cross-side network effects that tip rather than settle</a:t>
            </a:r>
            <a:endParaRPr lang="en-US" sz="1500" dirty="0"/>
          </a:p>
        </p:txBody>
      </p:sp>
      <p:sp>
        <p:nvSpPr>
          <p:cNvPr id="12" name="Card text"/>
          <p:cNvSpPr txBox="1"/>
          <p:nvPr/>
        </p:nvSpPr>
        <p:spPr>
          <a:xfrm>
            <a:off x="3573704" y="3666744"/>
            <a:ext cx="2202104" cy="1554480"/>
          </a:xfrm>
          <a:prstGeom prst="rect">
            <a:avLst/>
          </a:prstGeom>
          <a:noFill/>
          <a:ln/>
        </p:spPr>
        <p:txBody>
          <a:bodyPr wrap="square" lIns="0" tIns="0" rIns="0" bIns="0" rtlCol="0" anchor="t"/>
          <a:lstStyle/>
          <a:p>
            <a:pPr indent="0" marL="0">
              <a:buNone/>
            </a:pPr>
            <a:r>
              <a:rPr lang="en-US" sz="1300" dirty="0">
                <a:solidFill>
                  <a:schemeClr val="tx2"/>
                </a:solidFill>
              </a:rPr>
              <a:t>Third-party developers sit outside the boundary but inside the dynamics: the interface carries the growth mechanism.</a:t>
            </a:r>
            <a:endParaRPr lang="en-US" sz="1300" dirty="0"/>
          </a:p>
        </p:txBody>
      </p:sp>
      <p:sp>
        <p:nvSpPr>
          <p:cNvPr id="13" name="Card"/>
          <p:cNvSpPr/>
          <p:nvPr/>
        </p:nvSpPr>
        <p:spPr>
          <a:xfrm>
            <a:off x="6233008" y="1691640"/>
            <a:ext cx="2567864" cy="365760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Hospital system</a:t>
            </a:r>
            <a:endParaRPr lang="en-US" sz="1300" dirty="0"/>
          </a:p>
        </p:txBody>
      </p:sp>
      <p:sp>
        <p:nvSpPr>
          <p:cNvPr id="15" name="Card head"/>
          <p:cNvSpPr txBox="1"/>
          <p:nvPr/>
        </p:nvSpPr>
        <p:spPr>
          <a:xfrm>
            <a:off x="6415888" y="2148840"/>
            <a:ext cx="2202104" cy="1444752"/>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Discharge planning against a workload–fatigue–attrition loop</a:t>
            </a:r>
            <a:endParaRPr lang="en-US" sz="1500" dirty="0"/>
          </a:p>
        </p:txBody>
      </p:sp>
      <p:sp>
        <p:nvSpPr>
          <p:cNvPr id="16" name="Card text"/>
          <p:cNvSpPr txBox="1"/>
          <p:nvPr/>
        </p:nvSpPr>
        <p:spPr>
          <a:xfrm>
            <a:off x="6415888" y="3666744"/>
            <a:ext cx="2202104" cy="1554480"/>
          </a:xfrm>
          <a:prstGeom prst="rect">
            <a:avLst/>
          </a:prstGeom>
          <a:noFill/>
          <a:ln/>
        </p:spPr>
        <p:txBody>
          <a:bodyPr wrap="square" lIns="0" tIns="0" rIns="0" bIns="0" rtlCol="0" anchor="t"/>
          <a:lstStyle/>
          <a:p>
            <a:pPr indent="0" marL="0">
              <a:buNone/>
            </a:pPr>
            <a:r>
              <a:rPr lang="en-US" sz="1300" dirty="0">
                <a:solidFill>
                  <a:schemeClr val="tx2"/>
                </a:solidFill>
              </a:rPr>
              <a:t>The boundary bites at referral flows and payer rules; capacity and staffing limits must hold along the whole path.</a:t>
            </a:r>
            <a:endParaRPr lang="en-US" sz="1300" dirty="0"/>
          </a:p>
        </p:txBody>
      </p:sp>
      <p:sp>
        <p:nvSpPr>
          <p:cNvPr id="17" name="Card"/>
          <p:cNvSpPr/>
          <p:nvPr/>
        </p:nvSpPr>
        <p:spPr>
          <a:xfrm>
            <a:off x="9075191" y="1691640"/>
            <a:ext cx="2567864" cy="3657600"/>
          </a:xfrm>
          <a:prstGeom prst="roundRect">
            <a:avLst>
              <a:gd name="adj" fmla="val 2849"/>
            </a:avLst>
          </a:prstGeom>
          <a:solidFill>
            <a:schemeClr val="bg2"/>
          </a:solidFill>
          <a:ln w="9525">
            <a:solidFill>
              <a:srgbClr val="C4CBD8"/>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Commercial bank</a:t>
            </a:r>
            <a:endParaRPr lang="en-US" sz="1300" dirty="0"/>
          </a:p>
        </p:txBody>
      </p:sp>
      <p:sp>
        <p:nvSpPr>
          <p:cNvPr id="19" name="Card head"/>
          <p:cNvSpPr txBox="1"/>
          <p:nvPr/>
        </p:nvSpPr>
        <p:spPr>
          <a:xfrm>
            <a:off x="9258071" y="2148840"/>
            <a:ext cx="2202104" cy="1444752"/>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Withdrawals that beget withdrawals, a loop closed through depositors</a:t>
            </a:r>
            <a:endParaRPr lang="en-US" sz="1500" dirty="0"/>
          </a:p>
        </p:txBody>
      </p:sp>
      <p:sp>
        <p:nvSpPr>
          <p:cNvPr id="20" name="Card text"/>
          <p:cNvSpPr txBox="1"/>
          <p:nvPr/>
        </p:nvSpPr>
        <p:spPr>
          <a:xfrm>
            <a:off x="9258071" y="3666744"/>
            <a:ext cx="2202104" cy="1554480"/>
          </a:xfrm>
          <a:prstGeom prst="rect">
            <a:avLst/>
          </a:prstGeom>
          <a:noFill/>
          <a:ln/>
        </p:spPr>
        <p:txBody>
          <a:bodyPr wrap="square" lIns="0" tIns="0" rIns="0" bIns="0" rtlCol="0" anchor="t"/>
          <a:lstStyle/>
          <a:p>
            <a:pPr indent="0" marL="0">
              <a:buNone/>
            </a:pPr>
            <a:r>
              <a:rPr lang="en-US" sz="1300" dirty="0">
                <a:solidFill>
                  <a:schemeClr val="tx2"/>
                </a:solidFill>
              </a:rPr>
              <a:t>Regulation is a binding constraint, not a disturbance; the decisions allowed shrink after a shock.</a:t>
            </a:r>
            <a:endParaRPr lang="en-US" sz="1300" dirty="0"/>
          </a:p>
        </p:txBody>
      </p:sp>
      <p:sp>
        <p:nvSpPr>
          <p:cNvPr id="21" name="Lead"/>
          <p:cNvSpPr txBox="1"/>
          <p:nvPr/>
        </p:nvSpPr>
        <p:spPr>
          <a:xfrm>
            <a:off x="548640" y="56235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What varies is which couplings are strong, which loops dominate, and where the boundary bites.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Where does Meridian end?</a:t>
            </a:r>
            <a:endParaRPr lang="en-US" sz="3200" dirty="0"/>
          </a:p>
        </p:txBody>
      </p:sp>
      <p:sp>
        <p:nvSpPr>
          <p:cNvPr id="5" name="Stat card"/>
          <p:cNvSpPr/>
          <p:nvPr/>
        </p:nvSpPr>
        <p:spPr>
          <a:xfrm>
            <a:off x="548640" y="1691640"/>
            <a:ext cx="3515258" cy="1691640"/>
          </a:xfrm>
          <a:prstGeom prst="roundRect">
            <a:avLst>
              <a:gd name="adj" fmla="val 4324"/>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$2.56bn</a:t>
            </a:r>
            <a:endParaRPr lang="en-US" sz="4400" dirty="0"/>
          </a:p>
        </p:txBody>
      </p:sp>
      <p:sp>
        <p:nvSpPr>
          <p:cNvPr id="7" name="Stat label"/>
          <p:cNvSpPr txBox="1"/>
          <p:nvPr/>
        </p:nvSpPr>
        <p:spPr>
          <a:xfrm>
            <a:off x="685800" y="2697480"/>
            <a:ext cx="3240938" cy="612648"/>
          </a:xfrm>
          <a:prstGeom prst="rect">
            <a:avLst/>
          </a:prstGeom>
          <a:noFill/>
          <a:ln/>
        </p:spPr>
        <p:txBody>
          <a:bodyPr wrap="square" lIns="0" tIns="0" rIns="0" bIns="0" rtlCol="0" anchor="t"/>
          <a:lstStyle/>
          <a:p>
            <a:pPr algn="ctr" indent="0" marL="0">
              <a:buNone/>
            </a:pPr>
            <a:r>
              <a:rPr lang="en-US" sz="1400" dirty="0">
                <a:solidFill>
                  <a:schemeClr val="tx2"/>
                </a:solidFill>
              </a:rPr>
              <a:t>Industrial Systems' sales, 61 percent of Meridian's $4.2 billion</a:t>
            </a:r>
            <a:endParaRPr lang="en-US" sz="1400" dirty="0"/>
          </a:p>
        </p:txBody>
      </p:sp>
      <p:sp>
        <p:nvSpPr>
          <p:cNvPr id="8" name="Stat card"/>
          <p:cNvSpPr/>
          <p:nvPr/>
        </p:nvSpPr>
        <p:spPr>
          <a:xfrm>
            <a:off x="4338218" y="1691640"/>
            <a:ext cx="3515258" cy="1691640"/>
          </a:xfrm>
          <a:prstGeom prst="roundRect">
            <a:avLst>
              <a:gd name="adj" fmla="val 4324"/>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$1.54bn</a:t>
            </a:r>
            <a:endParaRPr lang="en-US" sz="4400" dirty="0"/>
          </a:p>
        </p:txBody>
      </p:sp>
      <p:sp>
        <p:nvSpPr>
          <p:cNvPr id="10" name="Stat label"/>
          <p:cNvSpPr txBox="1"/>
          <p:nvPr/>
        </p:nvSpPr>
        <p:spPr>
          <a:xfrm>
            <a:off x="4475378" y="2697480"/>
            <a:ext cx="3240938" cy="612648"/>
          </a:xfrm>
          <a:prstGeom prst="rect">
            <a:avLst/>
          </a:prstGeom>
          <a:noFill/>
          <a:ln/>
        </p:spPr>
        <p:txBody>
          <a:bodyPr wrap="square" lIns="0" tIns="0" rIns="0" bIns="0" rtlCol="0" anchor="t"/>
          <a:lstStyle/>
          <a:p>
            <a:pPr algn="ctr" indent="0" marL="0">
              <a:buNone/>
            </a:pPr>
            <a:r>
              <a:rPr lang="en-US" sz="1400" dirty="0">
                <a:solidFill>
                  <a:schemeClr val="bg2"/>
                </a:solidFill>
              </a:rPr>
              <a:t>shipped to independent dealers: about 60 percent of those sales</a:t>
            </a:r>
            <a:endParaRPr lang="en-US" sz="1400" dirty="0"/>
          </a:p>
        </p:txBody>
      </p:sp>
      <p:sp>
        <p:nvSpPr>
          <p:cNvPr id="11" name="Stat card"/>
          <p:cNvSpPr/>
          <p:nvPr/>
        </p:nvSpPr>
        <p:spPr>
          <a:xfrm>
            <a:off x="8127797" y="1691640"/>
            <a:ext cx="3515258"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+20%</a:t>
            </a:r>
            <a:endParaRPr lang="en-US" sz="4400" dirty="0"/>
          </a:p>
        </p:txBody>
      </p:sp>
      <p:sp>
        <p:nvSpPr>
          <p:cNvPr id="13" name="Stat label"/>
          <p:cNvSpPr txBox="1"/>
          <p:nvPr/>
        </p:nvSpPr>
        <p:spPr>
          <a:xfrm>
            <a:off x="8264957" y="2697480"/>
            <a:ext cx="3240938" cy="612648"/>
          </a:xfrm>
          <a:prstGeom prst="rect">
            <a:avLst/>
          </a:prstGeom>
          <a:noFill/>
          <a:ln/>
        </p:spPr>
        <p:txBody>
          <a:bodyPr wrap="square" lIns="0" tIns="0" rIns="0" bIns="0" rtlCol="0" anchor="t"/>
          <a:lstStyle/>
          <a:p>
            <a:pPr algn="ctr" indent="0" marL="0">
              <a:buNone/>
            </a:pPr>
            <a:r>
              <a:rPr lang="en-US" sz="1400" dirty="0">
                <a:solidFill>
                  <a:schemeClr val="tx2"/>
                </a:solidFill>
              </a:rPr>
              <a:t>the dealers' resale price to end customers, above Meridian's price</a:t>
            </a:r>
            <a:endParaRPr lang="en-US" sz="1400" dirty="0"/>
          </a:p>
        </p:txBody>
      </p:sp>
      <p:sp>
        <p:nvSpPr>
          <p:cNvPr id="14"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turnaround team treats the dealers as outside the company: its baseline “sales” are $1,540 million</a:t>
            </a:r>
            <a:endParaRPr lang="en-US" sz="1700" dirty="0"/>
          </a:p>
          <a:p>
            <a:pPr marL="228600" indent="-228600">
              <a:spcAft>
                <a:spcPts val="800"/>
              </a:spcAft>
              <a:buSzPct val="100000"/>
              <a:buChar char="•"/>
            </a:pPr>
            <a:r>
              <a:rPr lang="en-US" sz="1700" dirty="0">
                <a:solidFill>
                  <a:schemeClr val="tx1"/>
                </a:solidFill>
              </a:rPr>
              <a:t>The digital team, planning connected services sold directly to end customers, treats them as inside: $1,848 million</a:t>
            </a:r>
            <a:endParaRPr lang="en-US" sz="1700" dirty="0"/>
          </a:p>
          <a:p>
            <a:pPr marL="228600" indent="-228600">
              <a:spcAft>
                <a:spcPts val="800"/>
              </a:spcAft>
              <a:buSzPct val="100000"/>
              <a:buChar char="•"/>
            </a:pPr>
            <a:r>
              <a:rPr lang="en-US" sz="1700" dirty="0">
                <a:solidFill>
                  <a:schemeClr val="tx1"/>
                </a:solidFill>
              </a:rPr>
              <a:t>The two baselines for the same products disagree by $308 million; each team suspects the other of an error</a:t>
            </a:r>
            <a:endParaRPr lang="en-US" sz="1700" dirty="0"/>
          </a:p>
          <a:p>
            <a:pPr marL="228600" indent="-228600">
              <a:spcAft>
                <a:spcPts val="800"/>
              </a:spcAft>
              <a:buSzPct val="100000"/>
              <a:buChar char="•"/>
            </a:pPr>
            <a:r>
              <a:rPr lang="en-US" sz="1700" dirty="0">
                <a:solidFill>
                  <a:schemeClr val="tx1"/>
                </a:solidFill>
              </a:rPr>
              <a:t>Step 1 lists six entities and nine flows (Table 2.6): boundary A has the dealers outside, boundary B inside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TABLE 2.6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Nine flows, two declarations</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641826"/>
                <a:gridCol w="3209128"/>
                <a:gridCol w="3025750"/>
                <a:gridCol w="2108856"/>
                <a:gridCol w="2108856"/>
              </a:tblGrid>
              <a:tr h="365760">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 → to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flows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Boundary A</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Boundary B</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suppliers → Meridian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components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Meridian → suppliers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payments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F3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Meridian → dealers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shipments, $1,540m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interior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F4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dealers → Meridian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payments, $1,540m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interior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F5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dealers → customers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sales, $1,848m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environmental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F6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customers → dealers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payments, $1,848m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environmental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F7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dealers → Meridian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market intelligence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interior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capital markets → Meridian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funding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regulator → Meridian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rules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2239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Values per year. Boundary A: only Meridian inside; boundary B: Meridian and the dealer network. Shaded rows change class.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Interior / input / output / environmental: A 0 / 5 / 2 / 2; B 3 / 4 / 2 / 0. The same nine flows.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STEPS 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same money, labeled twice</a:t>
            </a:r>
            <a:endParaRPr lang="en-US" sz="3200" dirty="0"/>
          </a:p>
        </p:txBody>
      </p:sp>
      <p:sp>
        <p:nvSpPr>
          <p:cNvPr id="5" name="Bullets"/>
          <p:cNvSpPr txBox="1"/>
          <p:nvPr/>
        </p:nvSpPr>
        <p:spPr>
          <a:xfrm>
            <a:off x="548640" y="1691640"/>
            <a:ext cx="5364328"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2, boundary A:</a:t>
            </a:r>
            <a:r>
              <a:rPr lang="en-US" sz="1600" dirty="0">
                <a:solidFill>
                  <a:schemeClr val="tx1"/>
                </a:solidFill>
              </a:rPr>
              <a:t> the goods output is the shipments to dealers, $1,540 million</a:t>
            </a:r>
            <a:endParaRPr lang="en-US" sz="1600" dirty="0"/>
          </a:p>
          <a:p>
            <a:pPr marL="228600" indent="-228600">
              <a:spcAft>
                <a:spcPts val="800"/>
              </a:spcAft>
              <a:buSzPct val="100000"/>
              <a:buChar char="•"/>
            </a:pPr>
            <a:r>
              <a:rPr lang="en-US" sz="1600" dirty="0">
                <a:solidFill>
                  <a:schemeClr val="tx1"/>
                </a:solidFill>
              </a:rPr>
              <a:t>Dealers' sales never touch the boundary; end demand arrives only as market intelligence</a:t>
            </a:r>
            <a:endParaRPr lang="en-US" sz="1600" dirty="0"/>
          </a:p>
          <a:p>
            <a:pPr marL="228600" indent="-228600">
              <a:spcAft>
                <a:spcPts val="800"/>
              </a:spcAft>
              <a:buSzPct val="100000"/>
              <a:buChar char="•"/>
            </a:pPr>
            <a:r>
              <a:rPr lang="en-US" sz="1600" b="1" dirty="0">
                <a:solidFill>
                  <a:schemeClr val="tx1"/>
                </a:solidFill>
              </a:rPr>
              <a:t>Step 3, boundary B:</a:t>
            </a:r>
            <a:r>
              <a:rPr lang="en-US" sz="1600" dirty="0">
                <a:solidFill>
                  <a:schemeClr val="tx1"/>
                </a:solidFill>
              </a:rPr>
              <a:t> the goods output is the dealers' sales, $1,540m × 1.20 = $1,848m</a:t>
            </a:r>
            <a:endParaRPr lang="en-US" sz="1600" dirty="0"/>
          </a:p>
          <a:p>
            <a:pPr marL="228600" indent="-228600">
              <a:spcAft>
                <a:spcPts val="800"/>
              </a:spcAft>
              <a:buSzPct val="100000"/>
              <a:buChar char="•"/>
            </a:pPr>
            <a:r>
              <a:rPr lang="en-US" sz="1600" dirty="0">
                <a:solidFill>
                  <a:schemeClr val="tx1"/>
                </a:solidFill>
              </a:rPr>
              <a:t>Shipments, dealer payments and intelligence turn interior; customers' payments become an input</a:t>
            </a:r>
            <a:endParaRPr lang="en-US" sz="1600" dirty="0"/>
          </a:p>
          <a:p>
            <a:pPr marL="228600" indent="-228600">
              <a:spcAft>
                <a:spcPts val="800"/>
              </a:spcAft>
              <a:buSzPct val="100000"/>
              <a:buChar char="•"/>
            </a:pPr>
            <a:r>
              <a:rPr lang="en-US" sz="1600" b="1" dirty="0">
                <a:solidFill>
                  <a:schemeClr val="tx1"/>
                </a:solidFill>
              </a:rPr>
              <a:t>Step 4:</a:t>
            </a:r>
            <a:r>
              <a:rPr lang="en-US" sz="1600" dirty="0">
                <a:solidFill>
                  <a:schemeClr val="tx1"/>
                </a:solidFill>
              </a:rPr>
              <a:t> the same nine flows, each in exactly one class; no dollar created or destroyed</a:t>
            </a:r>
            <a:endParaRPr lang="en-US" sz="1600" dirty="0"/>
          </a:p>
        </p:txBody>
      </p:sp>
      <p:pic>
        <p:nvPicPr>
          <p:cNvPr id="6" name="Figure" descr="Figure 2.2: boundary choice for Meridian">    </p:cNvPr>
          <p:cNvPicPr>
            <a:picLocks noChangeAspect="1"/>
          </p:cNvPicPr>
          <p:nvPr/>
        </p:nvPicPr>
        <p:blipFill>
          <a:blip r:embed="rId1"/>
          <a:stretch>
            <a:fillRect/>
          </a:stretch>
        </p:blipFill>
        <p:spPr>
          <a:xfrm>
            <a:off x="6840240" y="1691640"/>
            <a:ext cx="4241302" cy="3913632"/>
          </a:xfrm>
          <a:prstGeom prst="rect">
            <a:avLst/>
          </a:prstGeom>
        </p:spPr>
      </p:pic>
      <p:sp>
        <p:nvSpPr>
          <p:cNvPr id="7" name="Caption"/>
          <p:cNvSpPr txBox="1"/>
          <p:nvPr/>
        </p:nvSpPr>
        <p:spPr>
          <a:xfrm>
            <a:off x="6278728" y="5678424"/>
            <a:ext cx="5364328" cy="502920"/>
          </a:xfrm>
          <a:prstGeom prst="rect">
            <a:avLst/>
          </a:prstGeom>
          <a:noFill/>
          <a:ln/>
        </p:spPr>
        <p:txBody>
          <a:bodyPr wrap="square" lIns="0" tIns="0" rIns="0" bIns="0" rtlCol="0" anchor="t"/>
          <a:lstStyle/>
          <a:p>
            <a:pPr indent="0" marL="0">
              <a:buNone/>
            </a:pPr>
            <a:r>
              <a:rPr lang="en-US" sz="1100" i="1" dirty="0">
                <a:solidFill>
                  <a:schemeClr val="tx2"/>
                </a:solidFill>
              </a:rPr>
              <a:t>Figure 2.2. Top: the dealer network outside the boundary. Bottom: inside. The flows are identical; only their classification changes.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STEPS 5–6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boundary difference, not a performance gap</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$308m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the gap, 20 percent of shipments: exactly the dealers' gross margin</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 flows</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same nine under both boundaries, each in exactly one class</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 of 9</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flows relabeled by the move: shipments, payments, sales, intelligence</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End-customer demand moves from environmental to the interface: seen directly, if Meridian gets the data</a:t>
            </a:r>
            <a:endParaRPr lang="en-US" sz="1700" dirty="0"/>
          </a:p>
          <a:p>
            <a:pPr marL="228600" indent="-228600">
              <a:spcAft>
                <a:spcPts val="800"/>
              </a:spcAft>
              <a:buSzPct val="100000"/>
              <a:buChar char="•"/>
            </a:pPr>
            <a:r>
              <a:rPr lang="en-US" sz="1700" dirty="0">
                <a:solidFill>
                  <a:schemeClr val="tx1"/>
                </a:solidFill>
              </a:rPr>
              <a:t>Control does not move with the line: the dealers remain independent businesses</a:t>
            </a:r>
            <a:endParaRPr lang="en-US" sz="1700" dirty="0"/>
          </a:p>
          <a:p>
            <a:pPr marL="228600" indent="-228600">
              <a:spcAft>
                <a:spcPts val="800"/>
              </a:spcAft>
              <a:buSzPct val="100000"/>
              <a:buChar char="•"/>
            </a:pPr>
            <a:r>
              <a:rPr lang="en-US" sz="1700" dirty="0">
                <a:solidFill>
                  <a:schemeClr val="tx1"/>
                </a:solidFill>
              </a:rPr>
              <a:t>The rule for the board: compare options under one declared boundary, B for the digital option's question, A for the turnaround's</a:t>
            </a:r>
            <a:endParaRPr lang="en-US" sz="1700" dirty="0"/>
          </a:p>
          <a:p>
            <a:pPr marL="228600" indent="-228600">
              <a:spcAft>
                <a:spcPts val="800"/>
              </a:spcAft>
              <a:buSzPct val="100000"/>
              <a:buChar char="•"/>
            </a:pPr>
            <a:r>
              <a:rPr lang="en-US" sz="1700" dirty="0">
                <a:solidFill>
                  <a:schemeClr val="tx1"/>
                </a:solidFill>
              </a:rPr>
              <a:t>For discussion: which boundary would you use to compare all three options, and what would it hide?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1.2 · MODULE AXIOM-02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Drawing Meridian's boundary,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CFO wants one definition of “the enterprise” for all board materials on the three options; you are on the finance team. Open AXIOM, choose Lab 1.2 (module AXIOM-02) and load the Meridian entity–flow world.</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Draw boundary A</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Only Meridian inside: record the inputs, outputs, interior and environmental flows.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Move the dealers inside</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Read the conservation panel; repeat with another entity and note which moves change nothing.</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Change levels</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Zoom from group to unit; note which parts of Meridian become Digital Solutions' environment.</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Close the loop</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efficiency example, feedback off and on; vary the gain; switch on adaptation; shift the environment.</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Map a loop</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Build Industrial Systems' migration loop: volume, unit cost, customer migration; sign each link.</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memo to the CFO recommending a boundary for the board materials: which analyses it supports, which it makes harder, and what it cannot affect.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company is an open system: its state evolves under management's decisions and the environment's inputs, and no model that projects the future from the present alone can represent it.</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When next period's state is determined by state, decisions, and environment, the current state is all the history that matters.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boundary is a declaration: it relabels flows as inputs, outputs, or interior, but never changes them, so options must be compared under one declared boundary.</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Environments are level-relative: each division's environment includes its sibling divisions, and whole-company behavior lives in the coupling between them.</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Feedback changes decisions; adaptation changes the rule. Counting rules as part of the state keeps adaptive companies analyzable and makes rules a form of capital (Proposition 2.3); transformation is designed change of state, rules, structure, or boundary.</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39</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44</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26102</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AXIOM-02</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1.2</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DCT_V1_Ch02_Lab.ipynb: Worked Example 2.1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DCT_V1_Ch02_Lab.xlsx: Table 2.6 by formula under any boundary you draw, all 64 boundaries, the levels, the feedback bench and the migration loop</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3 gives the state its numbers</a:t>
            </a:r>
            <a:endParaRPr lang="en-US" sz="3200" dirty="0"/>
          </a:p>
        </p:txBody>
      </p:sp>
      <p:pic>
        <p:nvPicPr>
          <p:cNvPr id="5" name="Equation" descr="Equation: \operatorname{dom}\,(T_2 \circ T_1) \;=\; \bigl\{\, \mathbf{x} \in \operatorname{dom} T_1 \;:\; T_1(\mathbf{x}) \in \operatorname{dom} T_2 \,\bigr\}">    </p:cNvPr>
          <p:cNvPicPr>
            <a:picLocks noChangeAspect="1"/>
          </p:cNvPicPr>
          <p:nvPr/>
        </p:nvPicPr>
        <p:blipFill>
          <a:blip r:embed="rId1"/>
          <a:stretch>
            <a:fillRect/>
          </a:stretch>
        </p:blipFill>
        <p:spPr>
          <a:xfrm>
            <a:off x="1160666" y="1691640"/>
            <a:ext cx="9870364" cy="777240"/>
          </a:xfrm>
          <a:prstGeom prst="rect">
            <a:avLst/>
          </a:prstGeom>
        </p:spPr>
      </p:pic>
      <p:sp>
        <p:nvSpPr>
          <p:cNvPr id="6" name="Bullets"/>
          <p:cNvSpPr txBox="1"/>
          <p:nvPr/>
        </p:nvSpPr>
        <p:spPr>
          <a:xfrm>
            <a:off x="548640" y="2788920"/>
            <a:ext cx="11094415" cy="33832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A company's state is a vector of readings, each with a unit: totals across units need declared weights</a:t>
            </a:r>
            <a:endParaRPr lang="en-US" sz="1800" dirty="0"/>
          </a:p>
          <a:p>
            <a:pPr marL="228600" indent="-228600">
              <a:spcAft>
                <a:spcPts val="800"/>
              </a:spcAft>
              <a:buSzPct val="100000"/>
              <a:buChar char="•"/>
            </a:pPr>
            <a:r>
              <a:rPr lang="en-US" sz="1800" dirty="0">
                <a:solidFill>
                  <a:schemeClr val="bg1"/>
                </a:solidFill>
              </a:rPr>
              <a:t>Every reasonable distance agrees on what converges and what is stable; measures differ only in the numbers</a:t>
            </a:r>
            <a:endParaRPr lang="en-US" sz="1800" dirty="0"/>
          </a:p>
          <a:p>
            <a:pPr marL="228600" indent="-228600">
              <a:spcAft>
                <a:spcPts val="800"/>
              </a:spcAft>
              <a:buSzPct val="100000"/>
              <a:buChar char="•"/>
            </a:pPr>
            <a:r>
              <a:rPr lang="en-US" sz="1800" dirty="0">
                <a:solidFill>
                  <a:schemeClr val="bg1"/>
                </a:solidFill>
              </a:rPr>
              <a:t>A program is feasible only if each step delivers the company into the next one's domain, and order matters</a:t>
            </a:r>
            <a:endParaRPr lang="en-US" sz="1800" dirty="0"/>
          </a:p>
          <a:p>
            <a:pPr marL="228600" indent="-228600">
              <a:spcAft>
                <a:spcPts val="800"/>
              </a:spcAft>
              <a:buSzPct val="100000"/>
              <a:buChar char="•"/>
            </a:pPr>
            <a:r>
              <a:rPr lang="en-US" sz="1800" dirty="0">
                <a:solidFill>
                  <a:schemeClr val="bg1"/>
                </a:solidFill>
              </a:rPr>
              <a:t>Meridian's sequencing of its restructuring and its digital program makes each idea concrete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2: Enterprise Systems and Transformation</dc:title>
  <dc:subject>Slides for Volume I, Chapter 2 (V56)</dc:subject>
  <dc:creator>Samir Asaf</dc:creator>
  <cp:lastModifiedBy>Samir Asaf</cp:lastModifiedBy>
  <cp:revision>1</cp:revision>
  <dcterms:created xsi:type="dcterms:W3CDTF">2026-10-05T09:46:44Z</dcterms:created>
  <dcterms:modified xsi:type="dcterms:W3CDTF">2026-10-05T09:46:44Z</dcterms:modified>
</cp:coreProperties>
</file>