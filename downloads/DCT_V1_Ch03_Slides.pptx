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d2e9aa2-32a1-dae0-0c73-1dd3c97c92a0}">
          <p14:sldIdLst>
            <p14:sldId id="256"/>
            <p14:sldId id="257"/>
            <p14:sldId id="258"/>
            <p14:sldId id="259"/>
          </p14:sldIdLst>
        </p14:section>
        <p14:section name="3.1 Mathematical Language" id="{f3ffc8e4-1eea-c118-d9ca-b41ec0d4ac8d}">
          <p14:sldIdLst>
            <p14:sldId id="260"/>
          </p14:sldIdLst>
        </p14:section>
        <p14:section name="3.2 Mappings and Transformation Operators" id="{c10dbda4-0a5e-eff9-d4fb-67895f48cab8}">
          <p14:sldIdLst>
            <p14:sldId id="261"/>
          </p14:sldIdLst>
        </p14:section>
        <p14:section name="3.3 Vectors, Units, and Meridian's Declared State" id="{91f5b90d-529f-c264-fa64-aed8382a43f9}">
          <p14:sldIdLst>
            <p14:sldId id="262"/>
            <p14:sldId id="263"/>
          </p14:sldIdLst>
        </p14:section>
        <p14:section name="3.4 Matrices and Linear Operators" id="{8e6784ec-bd1f-9d6d-852d-59320803aee8}">
          <p14:sldIdLst>
            <p14:sldId id="264"/>
          </p14:sldIdLst>
        </p14:section>
        <p14:section name="3.5 Distances Between Company States" id="{94f26cff-bd50-6cce-06f7-fc775f261172}">
          <p14:sldIdLst>
            <p14:sldId id="265"/>
            <p14:sldId id="266"/>
            <p14:sldId id="267"/>
          </p14:sldIdLst>
        </p14:section>
        <p14:section name="3.6 Enterprise State Spaces" id="{0e65b64f-1a79-854c-ea0a-d2b3c9f9ed87}">
          <p14:sldIdLst>
            <p14:sldId id="268"/>
          </p14:sldIdLst>
        </p14:section>
        <p14:section name="3.7 Deterministic and Stochastic Models" id="{c61fd81c-5982-8095-64e9-451947c7d4ab}">
          <p14:sldIdLst>
            <p14:sldId id="269"/>
          </p14:sldIdLst>
        </p14:section>
        <p14:section name="Worked Example 3.1" id="{b4d5da91-2dea-eeb4-b87e-335eee783147}">
          <p14:sldIdLst>
            <p14:sldId id="270"/>
            <p14:sldId id="271"/>
            <p14:sldId id="272"/>
            <p14:sldId id="273"/>
          </p14:sldIdLst>
        </p14:section>
        <p14:section name="AXIOM Lab 1.3" id="{292a86e9-bc45-df2a-cc7c-d0e6c06078bb}">
          <p14:sldIdLst>
            <p14:sldId id="274"/>
          </p14:sldIdLst>
        </p14:section>
        <p14:section name="Close" id="{263f137b-7038-fc2e-052e-a8d5992cff78}">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I, Chapter 3. Chapters 1 and 2 used mathematical vocabulary on credit; this chapter pays the debt at the level of use: mappings and operators, vectors and units, matrices, distances, state spaces, and the difference between deterministic and stochastic models (Section 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Russell's quip (1901) is about pure mathematics, which reasons from axioms whatever its objects. Applied to a company the burden reverses: a number says something only with its unit, its scaling and its domain declared, which is the discipline of this chapter (Section 3.1; Proposition 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learning outcome statements; LOS Guidance at the end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3.2: Definitions 3.1-3.2 and Proposition 3.1. Section 3.3: Definition 3.3, Proposition 3.2 and Table 3.1. Section 3.4: Equation 3.2 and Table 3.2. Section 3.5: Definitions 3.4-3.5, Proposition 3.3 and Theorems 3.1-3.2. Section 3.6: Definition 3.6 and Theorem 3.3. Section 3.7: Table 3.3. Proofs of Propositions 3.1-3.2 and Theorem 3.2 are in Appendix 3.A; those of Proposition 3.3 and Theorems 3.1 and 3.3 in Online Appendix 3.B.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3.1 and Figure 3.1. The convention is a working tool, not decoration; the full notation appears at the front of the book. Readers with strong preparation can skim for the conventions particular to the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3.1-3.2 and Proposition 3.1; proof in Appendix 3.A. Injectivity is distinguishability, surjectivity attainability, preimages diagnosis. The coupling flagged in Table 1.2 becomes a membership condition an analyst can check; Chapter 6 builds the full operator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3.1 and Section 3.3. The readings mix currency, ratios and bounded indices, so the raw straight-line distance between two Meridian states would be dominated by the index readings purely because their numbers are largest. The declared remedy is W_M = diag(1/0.62, 1/3.4, 1/100, 1/100, 1/100, 1/0.083, 1/100, 1/0.19).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Proposition 3.2; proof in Appendix 3.A; LOS Guidance 3.1. Comparisons within one attribute are unaffected; nonlinear changes of description, such as logarithms of currency, are a modeling question for Chapter 4. A common mistake is to think the rule forbids composite scores: it requires them to be declared.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3.4, Equation 3.2 and Table 3.2, which makes the spectral radius the stability quantity of Chapter 7. Near a reference state smooth company dynamics are approximately linear, and x_(k+1) = A x_k + B u_k is where analysis begins even when it does not end. V56 corrects the eigenvalues of this illustration.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3.4-3.5, Proposition 3.3 and Theorem 3.1; proofs in Online Appendix 3.B with the sharp constants (Remark 3.B.1): the effort and bottleneck norms on R^n are linked by the constants 1 and n, so 'equivalent' never means 'interchangeable in a calculation'. LOS Guidance 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5.8 (Figure 5.5) and the scope limits after Theorem 3.1. Euclidean distances on the declared scale; in the Chapter 1 model only liquidity, technology, efficiency and strategic risk move (Table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3.2; formal statement and proof in Appendix 3.A. An operator with sensitivity factor (Lipschitz constant) L never stretches the distance between two starting states by more than L; L &lt; 1 is a contraction. Appendix 3.A's example: from (2, 40), T_D(T_R x0) = (2.5, 40.0) but T_R(T_D x0) = (4.0, 37.44); Online Appendix 3.B splits the gap (-1.5, 2.56) into a commutator and a constant 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3.6 and Theorem 3.3; proof in Online Appendix 3.B. States that also meet decision-dependent constraints form the feasible region, treated from Chapter 5. The theorem secures distinguishability, deliberately nothing more; Chapter 4 treats the choice of spacing as it treats the choice of units.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3.7 and Table 3.3. Every deterministic conclusion carries an implicit clause about the smallness of what was suppressed. The stochastic regime is also unavoidable when readings are uncertain or observed only occasionally, as with private assets valued by model rather than by market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3.1, the situation. In the language of Section 3.2, the digital program's domain is 'workforce capability of at least 55': below that, Meridian lacks the engineers to execute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3.1, Steps 1-4. In restructure-then-digital the first step delivers the company outside the domain of the second; checking each initiative from today's state only is the common mistake (LOS Guidance 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3.4 and Step 5. The bag-of-initiatives estimate matches neither feasible order, because it misses two interactions: the sale takes a share of a platform that grows if the digital program runs first, and the digital program's size depends on the cash the sale provides.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3.1, Step 6, what the board should take away, and the discussion question. Chapter 6 revisits the order under the board's $350 million floor (Table 5.4): the digital build alone would leave $310 million, below it, and selling with the engineers kept, then building, ends $6 million above the floor (Sections 6.5-6.6).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AXIOM Lab 1.3, module AXIOM-03. What to look for: a change of units can reorder raw comparisons until the scaling is declared (Proposition 3.2); the distance measures disagree on numbers but not on conclusions (Theorem 3.1); the two orders end in different places (Theorem 3.2). Discussion: which reading dominates an unscaled comparison; what two analysts with different distance measures can agree on; which two initiatives in your own organization give different results in different orders.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Chapter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and workbook are on the course website, www.dynamiccorporatetransformation.com.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3.2 (preimages as diagnosis) and the bridges to Chapter 4 in Sections 3.3 and 3.6; Chapter 4's abstract and Theorem 4.1, the Enterprise Model Representation Theorem.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CT Title">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logo-dark.png">    </p:cNvPr>
          <p:cNvPicPr>
            <a:picLocks noChangeAspect="1"/>
          </p:cNvPicPr>
          <p:nvPr/>
        </p:nvPicPr>
        <p:blipFill>
          <a:blip r:embed="rId1"/>
          <a:stretch>
            <a:fillRect/>
          </a:stretch>
        </p:blipFill>
        <p:spPr>
          <a:xfrm>
            <a:off x="731520" y="640080"/>
            <a:ext cx="4389120" cy="363931"/>
          </a:xfrm>
          <a:prstGeom prst="rect">
            <a:avLst/>
          </a:prstGeom>
        </p:spPr>
      </p:pic>
      <p:sp>
        <p:nvSpPr>
          <p:cNvPr id="3" name="Text 0"/>
          <p:cNvSpPr/>
          <p:nvPr>
            <p:ph idx="101" type="body" hasCustomPrompt="1"/>
          </p:nvPr>
        </p:nvSpPr>
        <p:spPr>
          <a:xfrm>
            <a:off x="731520" y="1874520"/>
            <a:ext cx="10607040" cy="411480"/>
          </a:xfrm>
          <a:prstGeom prst="rect">
            <a:avLst/>
          </a:prstGeom>
          <a:noFill/>
          <a:ln/>
        </p:spPr>
        <p:txBody>
          <a:bodyPr wrap="square" rtlCol="0"/>
          <a:lstStyle>
            <a:lvl1pPr indent="0" marL="0">
              <a:buNone/>
              <a:defRPr lang="en-US" sz="1500" b="1" spc="300" kern="0" dirty="0">
                <a:solidFill>
                  <a:schemeClr val="accent1"/>
                </a:solidFill>
              </a:defRPr>
            </a:lvl1pPr>
          </a:lstStyle>
          <a:p>
            <a:pPr indent="0" marL="0">
              <a:buNone/>
            </a:pP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rtlCol="0"/>
          <a:lstStyle>
            <a:lvl1pPr indent="0" marL="0">
              <a:buNone/>
              <a:defRPr lang="en-US" sz="1200" dirty="0">
                <a:solidFill>
                  <a:schemeClr val="accent4"/>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CT Quote">
    <p:bg>
      <p:bgPr>
        <a:solidFill>
          <a:srgbClr val="0F1E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280160" y="1371600"/>
            <a:ext cx="9601200" cy="3017520"/>
          </a:xfrm>
          <a:prstGeom prst="rect">
            <a:avLst/>
          </a:prstGeom>
          <a:noFill/>
          <a:ln/>
        </p:spPr>
        <p:txBody>
          <a:bodyPr wrap="square" rtlCol="0"/>
          <a:lstStyle>
            <a:lvl1pPr indent="0" marL="0">
              <a:buNone/>
              <a:defRPr lang="en-US" sz="3000" i="1" dirty="0">
                <a:solidFill>
                  <a:schemeClr val="bg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ph idx="101" type="body" hasCustomPrompt="1"/>
          </p:nvPr>
        </p:nvSpPr>
        <p:spPr>
          <a:xfrm>
            <a:off x="1280160" y="4617720"/>
            <a:ext cx="9601200" cy="457200"/>
          </a:xfrm>
          <a:prstGeom prst="rect">
            <a:avLst/>
          </a:prstGeom>
          <a:noFill/>
          <a:ln/>
        </p:spPr>
        <p:txBody>
          <a:bodyPr wrap="square" rtlCol="0"/>
          <a:lstStyle>
            <a:lvl1pPr indent="0" marL="0">
              <a:buNone/>
              <a:defRPr lang="en-US" sz="1800" b="1" dirty="0">
                <a:solidFill>
                  <a:schemeClr val="accent1"/>
                </a:solidFill>
              </a:defRPr>
            </a:lvl1pPr>
          </a:lstStyle>
          <a:p>
            <a:pPr indent="0" marL="0">
              <a:buNone/>
            </a:pPr>
            <a:endParaRPr lang="en-US" sz="1800" dirty="0"/>
          </a:p>
        </p:txBody>
      </p:sp>
      <p:sp>
        <p:nvSpPr>
          <p:cNvPr id="4" name="Text 0"/>
          <p:cNvSpPr/>
          <p:nvPr>
            <p:ph idx="102" type="body" hasCustomPrompt="1"/>
          </p:nvPr>
        </p:nvSpPr>
        <p:spPr>
          <a:xfrm>
            <a:off x="1280160" y="5074920"/>
            <a:ext cx="9601200" cy="731520"/>
          </a:xfrm>
          <a:prstGeom prst="rect">
            <a:avLst/>
          </a:prstGeom>
          <a:noFill/>
          <a:ln/>
        </p:spPr>
        <p:txBody>
          <a:bodyPr wrap="square" rtlCol="0"/>
          <a:lstStyle>
            <a:lvl1pPr indent="0" marL="0">
              <a:buNone/>
              <a:defRPr lang="en-US" sz="1400" dirty="0">
                <a:solidFill>
                  <a:schemeClr val="accent4"/>
                </a:solidFill>
              </a:defRPr>
            </a:lvl1pPr>
          </a:lstStyle>
          <a:p>
            <a:pPr indent="0" marL="0">
              <a:buNone/>
            </a:pPr>
            <a:endParaRPr lang="en-US" sz="1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CT Content">
    <p:bg>
      <p:bgPr>
        <a:solidFill>
          <a:srgbClr val="FFFFFF"/>
        </a:solidFill>
      </p:bgPr>
    </p:bg>
    <p:spTree>
      <p:nvGrpSpPr>
        <p:cNvPr id="1" name=""/>
        <p:cNvGrpSpPr/>
        <p:nvPr/>
      </p:nvGrpSpPr>
      <p:grpSpPr>
        <a:xfrm>
          <a:off x="0" y="0"/>
          <a:ext cx="0" cy="0"/>
          <a:chOff x="0" y="0"/>
          <a:chExt cx="0" cy="0"/>
        </a:xfrm>
      </p:grpSpPr>
      <p:pic>
        <p:nvPicPr>
          <p:cNvPr id="2" name="Image 0" descr="/home/claude/pixel-perfect-show-8533/public/brand/dct-m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tx2"/>
                </a:solidFill>
              </a:rPr>
              <a:t>Dynamic Corporate Transformation · Volume I · Chapter 3</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CT Dark Content">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mark-d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accent4"/>
                </a:solidFill>
              </a:rPr>
              <a:t>Dynamic Corporate Transformation · Volume I · Chapter 3</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5.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5.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1" type="body" hasCustomPrompt="1"/>
          </p:nvPr>
        </p:nvSpPr>
        <p:spPr>
          <a:xfrm>
            <a:off x="731520" y="1874520"/>
            <a:ext cx="10607040" cy="411480"/>
          </a:xfrm>
          <a:prstGeom prst="rect">
            <a:avLst/>
          </a:prstGeom>
          <a:noFill/>
          <a:ln/>
        </p:spPr>
        <p:txBody>
          <a:bodyPr wrap="square" lIns="0" tIns="0" rIns="0" bIns="0" rtlCol="0"/>
          <a:lstStyle/>
          <a:p>
            <a:pPr indent="0" marL="0">
              <a:buNone/>
            </a:pPr>
            <a:r>
              <a:rPr lang="en-US" sz="1500" b="1" spc="300" kern="0" dirty="0">
                <a:solidFill>
                  <a:schemeClr val="accent1"/>
                </a:solidFill>
              </a:rPr>
              <a:t>VOLUME I · CHAPTER 3 · WEEK 2</a:t>
            </a: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Mathematical Foundations</a:t>
            </a: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lIns="0" tIns="0" rIns="0" bIns="0" rtlCol="0" anchor="t"/>
          <a:lstStyle/>
          <a:p>
            <a:pPr indent="0" marL="0">
              <a:buNone/>
            </a:pPr>
            <a:r>
              <a:rPr lang="en-US" sz="2000" dirty="0">
                <a:solidFill>
                  <a:schemeClr val="bg2"/>
                </a:solidFill>
              </a:rPr>
              <a:t>Declare the units before comparing, the norm before measuring and the order before signing: a program is feasible only if each step delivers the company where the next can start</a:t>
            </a: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lIns="0" tIns="0" rIns="0" bIns="0" rtlCol="0"/>
          <a:lstStyle/>
          <a:p>
            <a:pPr indent="0" marL="0">
              <a:buNone/>
            </a:pPr>
            <a:r>
              <a:rPr lang="en-US" sz="1200" dirty="0">
                <a:solidFill>
                  <a:schemeClr val="accent4"/>
                </a:solidFill>
              </a:rPr>
              <a:t>Graduate course companion · Lab seed 26103 · AXIOM Lab 1.3 (AXIOM-03)</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body" hasCustomPrompt="1"/>
          </p:nvPr>
        </p:nvSpPr>
        <p:spPr>
          <a:xfrm>
            <a:off x="1280160" y="1371600"/>
            <a:ext cx="9601200" cy="3017520"/>
          </a:xfrm>
          <a:prstGeom prst="rect">
            <a:avLst/>
          </a:prstGeom>
          <a:noFill/>
          <a:ln/>
        </p:spPr>
        <p:txBody>
          <a:bodyPr wrap="square" lIns="0" tIns="0" rIns="0" bIns="0" rtlCol="0" anchor="b"/>
          <a:lstStyle/>
          <a:p>
            <a:pPr indent="0" marL="0">
              <a:buNone/>
            </a:pPr>
            <a:r>
              <a:rPr lang="en-US" sz="3000" i="1" dirty="0">
                <a:solidFill>
                  <a:schemeClr val="bg1"/>
                </a:solidFill>
                <a:latin typeface="Cambria" pitchFamily="34" charset="0"/>
                <a:ea typeface="Cambria" pitchFamily="34" charset="-122"/>
                <a:cs typeface="Cambria" pitchFamily="34" charset="-120"/>
              </a:rPr>
              <a:t>“Mathematics may be defined as the subject in which we never know what we are talking about, nor whether what we are saying is true.”</a:t>
            </a:r>
            <a:endParaRPr lang="en-US" sz="3000" dirty="0"/>
          </a:p>
        </p:txBody>
      </p:sp>
      <p:sp>
        <p:nvSpPr>
          <p:cNvPr id="4" name="Text 0"/>
          <p:cNvSpPr/>
          <p:nvPr>
            <p:ph idx="101" type="body" hasCustomPrompt="1"/>
          </p:nvPr>
        </p:nvSpPr>
        <p:spPr>
          <a:xfrm>
            <a:off x="1280160" y="4617720"/>
            <a:ext cx="9601200" cy="457200"/>
          </a:xfrm>
          <a:prstGeom prst="rect">
            <a:avLst/>
          </a:prstGeom>
          <a:noFill/>
          <a:ln/>
        </p:spPr>
        <p:txBody>
          <a:bodyPr wrap="square" lIns="0" tIns="0" rIns="0" bIns="0" rtlCol="0"/>
          <a:lstStyle/>
          <a:p>
            <a:pPr indent="0" marL="0">
              <a:buNone/>
            </a:pPr>
            <a:r>
              <a:rPr lang="en-US" sz="1800" b="1" dirty="0">
                <a:solidFill>
                  <a:schemeClr val="accent1"/>
                </a:solidFill>
              </a:rPr>
              <a:t>Bertrand Russell</a:t>
            </a:r>
            <a:endParaRPr lang="en-US" sz="1800" dirty="0"/>
          </a:p>
        </p:txBody>
      </p:sp>
      <p:sp>
        <p:nvSpPr>
          <p:cNvPr id="5" name="Text 0"/>
          <p:cNvSpPr/>
          <p:nvPr>
            <p:ph idx="102" type="body" hasCustomPrompt="1"/>
          </p:nvPr>
        </p:nvSpPr>
        <p:spPr>
          <a:xfrm>
            <a:off x="1280160" y="5074920"/>
            <a:ext cx="9601200" cy="731520"/>
          </a:xfrm>
          <a:prstGeom prst="rect">
            <a:avLst/>
          </a:prstGeom>
          <a:noFill/>
          <a:ln/>
        </p:spPr>
        <p:txBody>
          <a:bodyPr wrap="square" lIns="0" tIns="0" rIns="0" bIns="0" rtlCol="0" anchor="t"/>
          <a:lstStyle/>
          <a:p>
            <a:pPr indent="0" marL="0">
              <a:buNone/>
            </a:pPr>
            <a:r>
              <a:rPr lang="en-US" sz="1400" dirty="0">
                <a:solidFill>
                  <a:schemeClr val="accent4"/>
                </a:solidFill>
              </a:rPr>
              <a:t>Nobel Prize in Literature 1950; “Recent Work on the Principles of Mathematics” (1901)</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LEARNING OUTCOME STATEMENTS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After this chapter, you can</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600" dirty="0">
                <a:solidFill>
                  <a:schemeClr val="tx1"/>
                </a:solidFill>
              </a:rPr>
              <a:t>Read a company's state as a vector of readings with units, and explain why comparisons or totals across different units mean nothing without declared weights.</a:t>
            </a:r>
            <a:endParaRPr lang="en-US" sz="16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600" dirty="0">
                <a:solidFill>
                  <a:schemeClr val="tx1"/>
                </a:solidFill>
              </a:rPr>
              <a:t>Explain what it means to measure the distance between two company states, and why the choice of measure changes the numbers but not the qualitative conclusions.</a:t>
            </a:r>
            <a:endParaRPr lang="en-US" sz="16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600" dirty="0">
                <a:solidFill>
                  <a:schemeClr val="tx1"/>
                </a:solidFill>
              </a:rPr>
              <a:t>Describe transformations as operators that work only from certain starting states, and explain why a program is feasible only if each step delivers the company into the domain of the next.</a:t>
            </a:r>
            <a:endParaRPr lang="en-US" sz="16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600" dirty="0">
                <a:solidFill>
                  <a:schemeClr val="tx1"/>
                </a:solidFill>
              </a:rPr>
              <a:t>Explain why the order of initiatives matters, why most transformations cannot be undone, and how sensitivities compound along a program.</a:t>
            </a:r>
            <a:endParaRPr lang="en-US" sz="16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600" dirty="0">
                <a:solidFill>
                  <a:schemeClr val="tx1"/>
                </a:solidFill>
              </a:rPr>
              <a:t>Describe a company's state space—including ratings and categories—and distinguish deterministic from stochastic models, saying when each is adequate.</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ROADMAP</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Seven sections, a worked example and a lab</a:t>
            </a:r>
            <a:endParaRPr lang="en-US" sz="3200" dirty="0"/>
          </a:p>
        </p:txBody>
      </p:sp>
      <p:sp>
        <p:nvSpPr>
          <p:cNvPr id="5" name="Card"/>
          <p:cNvSpPr/>
          <p:nvPr/>
        </p:nvSpPr>
        <p:spPr>
          <a:xfrm>
            <a:off x="548640" y="1691640"/>
            <a:ext cx="1999427" cy="2103120"/>
          </a:xfrm>
          <a:prstGeom prst="roundRect">
            <a:avLst>
              <a:gd name="adj" fmla="val 3659"/>
            </a:avLst>
          </a:prstGeom>
          <a:solidFill>
            <a:schemeClr val="bg2"/>
          </a:solidFill>
          <a:ln w="9525">
            <a:solidFill>
              <a:srgbClr val="C4CBD8"/>
            </a:solidFill>
            <a:prstDash val="solid"/>
          </a:ln>
        </p:spPr>
      </p:sp>
      <p:sp>
        <p:nvSpPr>
          <p:cNvPr id="6" name="Card label"/>
          <p:cNvSpPr txBox="1"/>
          <p:nvPr/>
        </p:nvSpPr>
        <p:spPr>
          <a:xfrm>
            <a:off x="731520"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§3.1</a:t>
            </a:r>
            <a:endParaRPr lang="en-US" sz="1300" dirty="0"/>
          </a:p>
        </p:txBody>
      </p:sp>
      <p:sp>
        <p:nvSpPr>
          <p:cNvPr id="7" name="Card head"/>
          <p:cNvSpPr txBox="1"/>
          <p:nvPr/>
        </p:nvSpPr>
        <p:spPr>
          <a:xfrm>
            <a:off x="731520"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Mathematical Language</a:t>
            </a:r>
            <a:endParaRPr lang="en-US" sz="1300" dirty="0"/>
          </a:p>
        </p:txBody>
      </p:sp>
      <p:sp>
        <p:nvSpPr>
          <p:cNvPr id="8" name="Card text"/>
          <p:cNvSpPr txBox="1"/>
          <p:nvPr/>
        </p:nvSpPr>
        <p:spPr>
          <a:xfrm>
            <a:off x="731520"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Figure 3.1</a:t>
            </a:r>
            <a:endParaRPr lang="en-US" sz="1200" dirty="0"/>
          </a:p>
        </p:txBody>
      </p:sp>
      <p:sp>
        <p:nvSpPr>
          <p:cNvPr id="9" name="Card"/>
          <p:cNvSpPr/>
          <p:nvPr/>
        </p:nvSpPr>
        <p:spPr>
          <a:xfrm>
            <a:off x="2822387" y="1691640"/>
            <a:ext cx="1999427" cy="2103120"/>
          </a:xfrm>
          <a:prstGeom prst="roundRect">
            <a:avLst>
              <a:gd name="adj" fmla="val 3659"/>
            </a:avLst>
          </a:prstGeom>
          <a:solidFill>
            <a:schemeClr val="bg2"/>
          </a:solidFill>
          <a:ln w="9525">
            <a:solidFill>
              <a:srgbClr val="C4CBD8"/>
            </a:solidFill>
            <a:prstDash val="solid"/>
          </a:ln>
        </p:spPr>
      </p:sp>
      <p:sp>
        <p:nvSpPr>
          <p:cNvPr id="10" name="Card label"/>
          <p:cNvSpPr txBox="1"/>
          <p:nvPr/>
        </p:nvSpPr>
        <p:spPr>
          <a:xfrm>
            <a:off x="3005267"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§3.2</a:t>
            </a:r>
            <a:endParaRPr lang="en-US" sz="1300" dirty="0"/>
          </a:p>
        </p:txBody>
      </p:sp>
      <p:sp>
        <p:nvSpPr>
          <p:cNvPr id="11" name="Card head"/>
          <p:cNvSpPr txBox="1"/>
          <p:nvPr/>
        </p:nvSpPr>
        <p:spPr>
          <a:xfrm>
            <a:off x="3005267"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Mappings and Transformation Operators</a:t>
            </a:r>
            <a:endParaRPr lang="en-US" sz="1300" dirty="0"/>
          </a:p>
        </p:txBody>
      </p:sp>
      <p:sp>
        <p:nvSpPr>
          <p:cNvPr id="12" name="Card text"/>
          <p:cNvSpPr txBox="1"/>
          <p:nvPr/>
        </p:nvSpPr>
        <p:spPr>
          <a:xfrm>
            <a:off x="3005267"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Proposition 3.1 · Figure 3.2</a:t>
            </a:r>
            <a:endParaRPr lang="en-US" sz="1200" dirty="0"/>
          </a:p>
        </p:txBody>
      </p:sp>
      <p:sp>
        <p:nvSpPr>
          <p:cNvPr id="13" name="Card"/>
          <p:cNvSpPr/>
          <p:nvPr/>
        </p:nvSpPr>
        <p:spPr>
          <a:xfrm>
            <a:off x="5096134" y="1691640"/>
            <a:ext cx="1999427" cy="2103120"/>
          </a:xfrm>
          <a:prstGeom prst="roundRect">
            <a:avLst>
              <a:gd name="adj" fmla="val 3659"/>
            </a:avLst>
          </a:prstGeom>
          <a:solidFill>
            <a:schemeClr val="bg2"/>
          </a:solidFill>
          <a:ln w="9525">
            <a:solidFill>
              <a:srgbClr val="C4CBD8"/>
            </a:solidFill>
            <a:prstDash val="solid"/>
          </a:ln>
        </p:spPr>
      </p:sp>
      <p:sp>
        <p:nvSpPr>
          <p:cNvPr id="14" name="Card label"/>
          <p:cNvSpPr txBox="1"/>
          <p:nvPr/>
        </p:nvSpPr>
        <p:spPr>
          <a:xfrm>
            <a:off x="5279014"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§3.3</a:t>
            </a:r>
            <a:endParaRPr lang="en-US" sz="1300" dirty="0"/>
          </a:p>
        </p:txBody>
      </p:sp>
      <p:sp>
        <p:nvSpPr>
          <p:cNvPr id="15" name="Card head"/>
          <p:cNvSpPr txBox="1"/>
          <p:nvPr/>
        </p:nvSpPr>
        <p:spPr>
          <a:xfrm>
            <a:off x="5279014"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Vectors, Units, and Meridian's Declared State</a:t>
            </a:r>
            <a:endParaRPr lang="en-US" sz="1300" dirty="0"/>
          </a:p>
        </p:txBody>
      </p:sp>
      <p:sp>
        <p:nvSpPr>
          <p:cNvPr id="16" name="Card text"/>
          <p:cNvSpPr txBox="1"/>
          <p:nvPr/>
        </p:nvSpPr>
        <p:spPr>
          <a:xfrm>
            <a:off x="5279014"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Proposition 3.2 · Table 3.1</a:t>
            </a:r>
            <a:endParaRPr lang="en-US" sz="1200" dirty="0"/>
          </a:p>
        </p:txBody>
      </p:sp>
      <p:sp>
        <p:nvSpPr>
          <p:cNvPr id="17" name="Card"/>
          <p:cNvSpPr/>
          <p:nvPr/>
        </p:nvSpPr>
        <p:spPr>
          <a:xfrm>
            <a:off x="7369881" y="1691640"/>
            <a:ext cx="1999427" cy="2103120"/>
          </a:xfrm>
          <a:prstGeom prst="roundRect">
            <a:avLst>
              <a:gd name="adj" fmla="val 3659"/>
            </a:avLst>
          </a:prstGeom>
          <a:solidFill>
            <a:schemeClr val="bg2"/>
          </a:solidFill>
          <a:ln w="9525">
            <a:solidFill>
              <a:srgbClr val="C4CBD8"/>
            </a:solidFill>
            <a:prstDash val="solid"/>
          </a:ln>
        </p:spPr>
      </p:sp>
      <p:sp>
        <p:nvSpPr>
          <p:cNvPr id="18" name="Card label"/>
          <p:cNvSpPr txBox="1"/>
          <p:nvPr/>
        </p:nvSpPr>
        <p:spPr>
          <a:xfrm>
            <a:off x="7552761"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§3.4</a:t>
            </a:r>
            <a:endParaRPr lang="en-US" sz="1300" dirty="0"/>
          </a:p>
        </p:txBody>
      </p:sp>
      <p:sp>
        <p:nvSpPr>
          <p:cNvPr id="19" name="Card head"/>
          <p:cNvSpPr txBox="1"/>
          <p:nvPr/>
        </p:nvSpPr>
        <p:spPr>
          <a:xfrm>
            <a:off x="7552761"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Matrices and Linear Operators</a:t>
            </a:r>
            <a:endParaRPr lang="en-US" sz="1300" dirty="0"/>
          </a:p>
        </p:txBody>
      </p:sp>
      <p:sp>
        <p:nvSpPr>
          <p:cNvPr id="20" name="Card text"/>
          <p:cNvSpPr txBox="1"/>
          <p:nvPr/>
        </p:nvSpPr>
        <p:spPr>
          <a:xfrm>
            <a:off x="7552761"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Equation 3.2 · Table 3.2</a:t>
            </a:r>
            <a:endParaRPr lang="en-US" sz="1200" dirty="0"/>
          </a:p>
        </p:txBody>
      </p:sp>
      <p:sp>
        <p:nvSpPr>
          <p:cNvPr id="21" name="Card"/>
          <p:cNvSpPr/>
          <p:nvPr/>
        </p:nvSpPr>
        <p:spPr>
          <a:xfrm>
            <a:off x="9643628" y="1691640"/>
            <a:ext cx="1999427" cy="2103120"/>
          </a:xfrm>
          <a:prstGeom prst="roundRect">
            <a:avLst>
              <a:gd name="adj" fmla="val 3659"/>
            </a:avLst>
          </a:prstGeom>
          <a:solidFill>
            <a:schemeClr val="bg2"/>
          </a:solidFill>
          <a:ln w="9525">
            <a:solidFill>
              <a:srgbClr val="C4CBD8"/>
            </a:solidFill>
            <a:prstDash val="solid"/>
          </a:ln>
        </p:spPr>
      </p:sp>
      <p:sp>
        <p:nvSpPr>
          <p:cNvPr id="22" name="Card label"/>
          <p:cNvSpPr txBox="1"/>
          <p:nvPr/>
        </p:nvSpPr>
        <p:spPr>
          <a:xfrm>
            <a:off x="9826508"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§3.5</a:t>
            </a:r>
            <a:endParaRPr lang="en-US" sz="1300" dirty="0"/>
          </a:p>
        </p:txBody>
      </p:sp>
      <p:sp>
        <p:nvSpPr>
          <p:cNvPr id="23" name="Card head"/>
          <p:cNvSpPr txBox="1"/>
          <p:nvPr/>
        </p:nvSpPr>
        <p:spPr>
          <a:xfrm>
            <a:off x="9826508"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Distances Between Company States</a:t>
            </a:r>
            <a:endParaRPr lang="en-US" sz="1300" dirty="0"/>
          </a:p>
        </p:txBody>
      </p:sp>
      <p:sp>
        <p:nvSpPr>
          <p:cNvPr id="24" name="Card text"/>
          <p:cNvSpPr txBox="1"/>
          <p:nvPr/>
        </p:nvSpPr>
        <p:spPr>
          <a:xfrm>
            <a:off x="9826508"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Theorems 3.1–3.2 · Proposition 3.3</a:t>
            </a:r>
            <a:endParaRPr lang="en-US" sz="1200" dirty="0"/>
          </a:p>
        </p:txBody>
      </p:sp>
      <p:sp>
        <p:nvSpPr>
          <p:cNvPr id="25" name="Card"/>
          <p:cNvSpPr/>
          <p:nvPr/>
        </p:nvSpPr>
        <p:spPr>
          <a:xfrm>
            <a:off x="548640" y="4069080"/>
            <a:ext cx="1999427" cy="2103120"/>
          </a:xfrm>
          <a:prstGeom prst="roundRect">
            <a:avLst>
              <a:gd name="adj" fmla="val 3659"/>
            </a:avLst>
          </a:prstGeom>
          <a:solidFill>
            <a:schemeClr val="bg2"/>
          </a:solidFill>
          <a:ln w="9525">
            <a:solidFill>
              <a:srgbClr val="C4CBD8"/>
            </a:solidFill>
            <a:prstDash val="solid"/>
          </a:ln>
        </p:spPr>
      </p:sp>
      <p:sp>
        <p:nvSpPr>
          <p:cNvPr id="26" name="Card label"/>
          <p:cNvSpPr txBox="1"/>
          <p:nvPr/>
        </p:nvSpPr>
        <p:spPr>
          <a:xfrm>
            <a:off x="731520"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§3.6</a:t>
            </a:r>
            <a:endParaRPr lang="en-US" sz="1300" dirty="0"/>
          </a:p>
        </p:txBody>
      </p:sp>
      <p:sp>
        <p:nvSpPr>
          <p:cNvPr id="27" name="Card head"/>
          <p:cNvSpPr txBox="1"/>
          <p:nvPr/>
        </p:nvSpPr>
        <p:spPr>
          <a:xfrm>
            <a:off x="731520" y="452628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Enterprise State Spaces</a:t>
            </a:r>
            <a:endParaRPr lang="en-US" sz="1300" dirty="0"/>
          </a:p>
        </p:txBody>
      </p:sp>
      <p:sp>
        <p:nvSpPr>
          <p:cNvPr id="28" name="Card text"/>
          <p:cNvSpPr txBox="1"/>
          <p:nvPr/>
        </p:nvSpPr>
        <p:spPr>
          <a:xfrm>
            <a:off x="731520" y="5660136"/>
            <a:ext cx="1633667" cy="384048"/>
          </a:xfrm>
          <a:prstGeom prst="rect">
            <a:avLst/>
          </a:prstGeom>
          <a:noFill/>
          <a:ln/>
        </p:spPr>
        <p:txBody>
          <a:bodyPr wrap="square" lIns="0" tIns="0" rIns="0" bIns="0" rtlCol="0" anchor="t"/>
          <a:lstStyle/>
          <a:p>
            <a:pPr indent="0" marL="0">
              <a:buNone/>
            </a:pPr>
            <a:r>
              <a:rPr lang="en-US" sz="1200" dirty="0">
                <a:solidFill>
                  <a:schemeClr val="tx2"/>
                </a:solidFill>
              </a:rPr>
              <a:t>Theorem 3.3 · Figure 3.5</a:t>
            </a:r>
            <a:endParaRPr lang="en-US" sz="1200" dirty="0"/>
          </a:p>
        </p:txBody>
      </p:sp>
      <p:sp>
        <p:nvSpPr>
          <p:cNvPr id="29" name="Card"/>
          <p:cNvSpPr/>
          <p:nvPr/>
        </p:nvSpPr>
        <p:spPr>
          <a:xfrm>
            <a:off x="2822387" y="4069080"/>
            <a:ext cx="1999427" cy="2103120"/>
          </a:xfrm>
          <a:prstGeom prst="roundRect">
            <a:avLst>
              <a:gd name="adj" fmla="val 3659"/>
            </a:avLst>
          </a:prstGeom>
          <a:solidFill>
            <a:schemeClr val="bg2"/>
          </a:solidFill>
          <a:ln w="9525">
            <a:solidFill>
              <a:srgbClr val="C4CBD8"/>
            </a:solidFill>
            <a:prstDash val="solid"/>
          </a:ln>
        </p:spPr>
      </p:sp>
      <p:sp>
        <p:nvSpPr>
          <p:cNvPr id="30" name="Card label"/>
          <p:cNvSpPr txBox="1"/>
          <p:nvPr/>
        </p:nvSpPr>
        <p:spPr>
          <a:xfrm>
            <a:off x="3005267"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§3.7</a:t>
            </a:r>
            <a:endParaRPr lang="en-US" sz="1300" dirty="0"/>
          </a:p>
        </p:txBody>
      </p:sp>
      <p:sp>
        <p:nvSpPr>
          <p:cNvPr id="31" name="Card head"/>
          <p:cNvSpPr txBox="1"/>
          <p:nvPr/>
        </p:nvSpPr>
        <p:spPr>
          <a:xfrm>
            <a:off x="3005267" y="452628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Deterministic and Stochastic Models</a:t>
            </a:r>
            <a:endParaRPr lang="en-US" sz="1300" dirty="0"/>
          </a:p>
        </p:txBody>
      </p:sp>
      <p:sp>
        <p:nvSpPr>
          <p:cNvPr id="32" name="Card text"/>
          <p:cNvSpPr txBox="1"/>
          <p:nvPr/>
        </p:nvSpPr>
        <p:spPr>
          <a:xfrm>
            <a:off x="3005267" y="5660136"/>
            <a:ext cx="1633667" cy="384048"/>
          </a:xfrm>
          <a:prstGeom prst="rect">
            <a:avLst/>
          </a:prstGeom>
          <a:noFill/>
          <a:ln/>
        </p:spPr>
        <p:txBody>
          <a:bodyPr wrap="square" lIns="0" tIns="0" rIns="0" bIns="0" rtlCol="0" anchor="t"/>
          <a:lstStyle/>
          <a:p>
            <a:pPr indent="0" marL="0">
              <a:buNone/>
            </a:pPr>
            <a:r>
              <a:rPr lang="en-US" sz="1200" dirty="0">
                <a:solidFill>
                  <a:schemeClr val="tx2"/>
                </a:solidFill>
              </a:rPr>
              <a:t>Table 3.3</a:t>
            </a:r>
            <a:endParaRPr lang="en-US" sz="1200" dirty="0"/>
          </a:p>
        </p:txBody>
      </p:sp>
      <p:sp>
        <p:nvSpPr>
          <p:cNvPr id="33" name="Card"/>
          <p:cNvSpPr/>
          <p:nvPr/>
        </p:nvSpPr>
        <p:spPr>
          <a:xfrm>
            <a:off x="5096134" y="4069080"/>
            <a:ext cx="1999427" cy="2103120"/>
          </a:xfrm>
          <a:prstGeom prst="roundRect">
            <a:avLst>
              <a:gd name="adj" fmla="val 3659"/>
            </a:avLst>
          </a:prstGeom>
          <a:solidFill>
            <a:schemeClr val="tx1"/>
          </a:solidFill>
          <a:ln w="9525">
            <a:solidFill>
              <a:srgbClr val="0F1E3D"/>
            </a:solidFill>
            <a:prstDash val="solid"/>
          </a:ln>
        </p:spPr>
      </p:sp>
      <p:sp>
        <p:nvSpPr>
          <p:cNvPr id="34" name="Card label"/>
          <p:cNvSpPr txBox="1"/>
          <p:nvPr/>
        </p:nvSpPr>
        <p:spPr>
          <a:xfrm>
            <a:off x="5279014"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Worked Example 3.1</a:t>
            </a:r>
            <a:endParaRPr lang="en-US" sz="1300" dirty="0"/>
          </a:p>
        </p:txBody>
      </p:sp>
      <p:sp>
        <p:nvSpPr>
          <p:cNvPr id="35" name="Card head"/>
          <p:cNvSpPr txBox="1"/>
          <p:nvPr/>
        </p:nvSpPr>
        <p:spPr>
          <a:xfrm>
            <a:off x="5279014" y="4526280"/>
            <a:ext cx="1633667" cy="1060704"/>
          </a:xfrm>
          <a:prstGeom prst="rect">
            <a:avLst/>
          </a:prstGeom>
          <a:noFill/>
          <a:ln/>
        </p:spPr>
        <p:txBody>
          <a:bodyPr wrap="square" lIns="0" tIns="0" rIns="0" bIns="0" rtlCol="0" anchor="t"/>
          <a:lstStyle/>
          <a:p>
            <a:pPr indent="0" marL="0">
              <a:buNone/>
            </a:pPr>
            <a:r>
              <a:rPr lang="en-US" sz="1300" b="1" dirty="0">
                <a:solidFill>
                  <a:schemeClr val="bg1"/>
                </a:solidFill>
                <a:latin typeface="Cambria" pitchFamily="34" charset="0"/>
                <a:ea typeface="Cambria" pitchFamily="34" charset="-122"/>
                <a:cs typeface="Cambria" pitchFamily="34" charset="-120"/>
              </a:rPr>
              <a:t>Does the Order of Initiatives Matter?</a:t>
            </a:r>
            <a:endParaRPr lang="en-US" sz="1300" dirty="0"/>
          </a:p>
        </p:txBody>
      </p:sp>
      <p:sp>
        <p:nvSpPr>
          <p:cNvPr id="36" name="Card text"/>
          <p:cNvSpPr txBox="1"/>
          <p:nvPr/>
        </p:nvSpPr>
        <p:spPr>
          <a:xfrm>
            <a:off x="5279014" y="5660136"/>
            <a:ext cx="1633667" cy="384048"/>
          </a:xfrm>
          <a:prstGeom prst="rect">
            <a:avLst/>
          </a:prstGeom>
          <a:noFill/>
          <a:ln/>
        </p:spPr>
        <p:txBody>
          <a:bodyPr wrap="square" lIns="0" tIns="0" rIns="0" bIns="0" rtlCol="0" anchor="t"/>
          <a:lstStyle/>
          <a:p>
            <a:pPr indent="0" marL="0">
              <a:buNone/>
            </a:pPr>
            <a:r>
              <a:rPr lang="en-US" sz="1200" dirty="0">
                <a:solidFill>
                  <a:schemeClr val="bg2"/>
                </a:solidFill>
              </a:rPr>
              <a:t>Table 3.4 · six steps</a:t>
            </a:r>
            <a:endParaRPr lang="en-US" sz="1200" dirty="0"/>
          </a:p>
        </p:txBody>
      </p:sp>
      <p:sp>
        <p:nvSpPr>
          <p:cNvPr id="37" name="Card"/>
          <p:cNvSpPr/>
          <p:nvPr/>
        </p:nvSpPr>
        <p:spPr>
          <a:xfrm>
            <a:off x="7369881" y="4069080"/>
            <a:ext cx="1999427" cy="2103120"/>
          </a:xfrm>
          <a:prstGeom prst="roundRect">
            <a:avLst>
              <a:gd name="adj" fmla="val 3659"/>
            </a:avLst>
          </a:prstGeom>
          <a:solidFill>
            <a:schemeClr val="bg2"/>
          </a:solidFill>
          <a:ln w="9525">
            <a:solidFill>
              <a:srgbClr val="C4CBD8"/>
            </a:solidFill>
            <a:prstDash val="solid"/>
          </a:ln>
        </p:spPr>
      </p:sp>
      <p:sp>
        <p:nvSpPr>
          <p:cNvPr id="38" name="Card label"/>
          <p:cNvSpPr txBox="1"/>
          <p:nvPr/>
        </p:nvSpPr>
        <p:spPr>
          <a:xfrm>
            <a:off x="7552761"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AXIOM Lab 1.3</a:t>
            </a:r>
            <a:endParaRPr lang="en-US" sz="1300" dirty="0"/>
          </a:p>
        </p:txBody>
      </p:sp>
      <p:sp>
        <p:nvSpPr>
          <p:cNvPr id="39" name="Card head"/>
          <p:cNvSpPr txBox="1"/>
          <p:nvPr/>
        </p:nvSpPr>
        <p:spPr>
          <a:xfrm>
            <a:off x="7552761" y="452628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Measuring Meridian</a:t>
            </a:r>
            <a:endParaRPr lang="en-US" sz="1300" dirty="0"/>
          </a:p>
        </p:txBody>
      </p:sp>
      <p:sp>
        <p:nvSpPr>
          <p:cNvPr id="40" name="Card text"/>
          <p:cNvSpPr txBox="1"/>
          <p:nvPr/>
        </p:nvSpPr>
        <p:spPr>
          <a:xfrm>
            <a:off x="7552761" y="5660136"/>
            <a:ext cx="1633667" cy="384048"/>
          </a:xfrm>
          <a:prstGeom prst="rect">
            <a:avLst/>
          </a:prstGeom>
          <a:noFill/>
          <a:ln/>
        </p:spPr>
        <p:txBody>
          <a:bodyPr wrap="square" lIns="0" tIns="0" rIns="0" bIns="0" rtlCol="0" anchor="t"/>
          <a:lstStyle/>
          <a:p>
            <a:pPr indent="0" marL="0">
              <a:buNone/>
            </a:pPr>
            <a:r>
              <a:rPr lang="en-US" sz="1200" dirty="0">
                <a:solidFill>
                  <a:schemeClr val="tx2"/>
                </a:solidFill>
              </a:rPr>
              <a:t>AXIOM-03 · five steps</a:t>
            </a:r>
            <a:endParaRPr lang="en-US" sz="1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§3.1 · FIGURE 3.1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Typography carries meaning</a:t>
            </a:r>
            <a:endParaRPr lang="en-US" sz="3200" dirty="0"/>
          </a:p>
        </p:txBody>
      </p:sp>
      <p:sp>
        <p:nvSpPr>
          <p:cNvPr id="5" name="Bullets"/>
          <p:cNvSpPr txBox="1"/>
          <p:nvPr/>
        </p:nvSpPr>
        <p:spPr>
          <a:xfrm>
            <a:off x="548640" y="1691640"/>
            <a:ext cx="4254886"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The kind of object a symbol stands for can be read from its face</a:t>
            </a:r>
            <a:endParaRPr lang="en-US" sz="1600" dirty="0"/>
          </a:p>
          <a:p>
            <a:pPr marL="228600" indent="-228600">
              <a:spcAft>
                <a:spcPts val="800"/>
              </a:spcAft>
              <a:buSzPct val="100000"/>
              <a:buChar char="•"/>
            </a:pPr>
            <a:r>
              <a:rPr lang="en-US" sz="1600" dirty="0">
                <a:solidFill>
                  <a:schemeClr val="tx1"/>
                </a:solidFill>
              </a:rPr>
              <a:t>Vectors </a:t>
            </a:r>
            <a:r>
              <a:rPr lang="en-US" sz="1600" b="1" dirty="0">
                <a:solidFill>
                  <a:schemeClr val="tx1"/>
                </a:solidFill>
              </a:rPr>
              <a:t>bold</a:t>
            </a:r>
            <a:r>
              <a:rPr lang="en-US" sz="1600" dirty="0">
                <a:solidFill>
                  <a:schemeClr val="tx1"/>
                </a:solidFill>
              </a:rPr>
              <a:t>, matrices </a:t>
            </a:r>
            <a:r>
              <a:rPr lang="en-US" sz="1600" b="1" dirty="0">
                <a:solidFill>
                  <a:schemeClr val="tx1"/>
                </a:solidFill>
              </a:rPr>
              <a:t>bold capitals</a:t>
            </a:r>
            <a:r>
              <a:rPr lang="en-US" sz="1600" dirty="0">
                <a:solidFill>
                  <a:schemeClr val="tx1"/>
                </a:solidFill>
              </a:rPr>
              <a:t>, sets calligraphic, operators italic capitals</a:t>
            </a:r>
            <a:endParaRPr lang="en-US" sz="1600" dirty="0"/>
          </a:p>
          <a:p>
            <a:pPr marL="228600" indent="-228600">
              <a:spcAft>
                <a:spcPts val="800"/>
              </a:spcAft>
              <a:buSzPct val="100000"/>
              <a:buChar char="•"/>
            </a:pPr>
            <a:r>
              <a:rPr lang="en-US" sz="1600" dirty="0">
                <a:solidFill>
                  <a:schemeClr val="tx1"/>
                </a:solidFill>
              </a:rPr>
              <a:t>It catches errors, such as adding a vector to a matrix, before they spread</a:t>
            </a:r>
            <a:endParaRPr lang="en-US" sz="1600" dirty="0"/>
          </a:p>
          <a:p>
            <a:pPr marL="228600" indent="-228600">
              <a:spcAft>
                <a:spcPts val="800"/>
              </a:spcAft>
              <a:buSzPct val="100000"/>
              <a:buChar char="•"/>
            </a:pPr>
            <a:r>
              <a:rPr lang="en-US" sz="1600" dirty="0">
                <a:solidFill>
                  <a:schemeClr val="tx1"/>
                </a:solidFill>
              </a:rPr>
              <a:t>One hierarchy across both volumes, the course website and AXIOM</a:t>
            </a:r>
            <a:endParaRPr lang="en-US" sz="1600" dirty="0"/>
          </a:p>
          <a:p>
            <a:pPr marL="228600" indent="-228600">
              <a:spcAft>
                <a:spcPts val="800"/>
              </a:spcAft>
              <a:buSzPct val="100000"/>
              <a:buChar char="•"/>
            </a:pPr>
            <a:r>
              <a:rPr lang="en-US" sz="1600" dirty="0">
                <a:solidFill>
                  <a:schemeClr val="tx1"/>
                </a:solidFill>
              </a:rPr>
              <a:t>Read for the ideas, stated in words throughout; the proofs are in the appendices</a:t>
            </a:r>
            <a:endParaRPr lang="en-US" sz="1600" dirty="0"/>
          </a:p>
        </p:txBody>
      </p:sp>
      <p:pic>
        <p:nvPicPr>
          <p:cNvPr id="6" name="Figure" descr="Figure 3.1: the DCT notation hierarchy">    </p:cNvPr>
          <p:cNvPicPr>
            <a:picLocks noChangeAspect="1"/>
          </p:cNvPicPr>
          <p:nvPr/>
        </p:nvPicPr>
        <p:blipFill>
          <a:blip r:embed="rId1"/>
          <a:stretch>
            <a:fillRect/>
          </a:stretch>
        </p:blipFill>
        <p:spPr>
          <a:xfrm>
            <a:off x="5169286" y="1822089"/>
            <a:ext cx="6473769" cy="3652734"/>
          </a:xfrm>
          <a:prstGeom prst="rect">
            <a:avLst/>
          </a:prstGeom>
        </p:spPr>
      </p:pic>
      <p:sp>
        <p:nvSpPr>
          <p:cNvPr id="7" name="Caption"/>
          <p:cNvSpPr txBox="1"/>
          <p:nvPr/>
        </p:nvSpPr>
        <p:spPr>
          <a:xfrm>
            <a:off x="5169286" y="5547975"/>
            <a:ext cx="6473769" cy="502920"/>
          </a:xfrm>
          <a:prstGeom prst="rect">
            <a:avLst/>
          </a:prstGeom>
          <a:noFill/>
          <a:ln/>
        </p:spPr>
        <p:txBody>
          <a:bodyPr wrap="square" lIns="0" tIns="0" rIns="0" bIns="0" rtlCol="0" anchor="t"/>
          <a:lstStyle/>
          <a:p>
            <a:pPr indent="0" marL="0">
              <a:buNone/>
            </a:pPr>
            <a:r>
              <a:rPr lang="en-US" sz="1100" i="1" dirty="0">
                <a:solidFill>
                  <a:schemeClr val="tx2"/>
                </a:solidFill>
              </a:rPr>
              <a:t>Figure 3.1. The DCT notation hierarchy: the kind of object a symbol stands for can be read from its typeface.</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§3.2 · PROPOSITION 3.1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 program is feasible only step by step</a:t>
            </a:r>
            <a:endParaRPr lang="en-US" sz="3200" dirty="0"/>
          </a:p>
        </p:txBody>
      </p:sp>
      <p:sp>
        <p:nvSpPr>
          <p:cNvPr id="5" name="Bullets"/>
          <p:cNvSpPr txBox="1"/>
          <p:nvPr/>
        </p:nvSpPr>
        <p:spPr>
          <a:xfrm>
            <a:off x="548640" y="1691640"/>
            <a:ext cx="4254886"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Definition 3.2.</a:t>
            </a:r>
            <a:r>
              <a:rPr lang="en-US" sz="1600" dirty="0">
                <a:solidFill>
                  <a:schemeClr val="tx1"/>
                </a:solidFill>
              </a:rPr>
              <a:t> Operators act only from a </a:t>
            </a:r>
            <a:r>
              <a:rPr lang="en-US" sz="1600" b="1" dirty="0">
                <a:solidFill>
                  <a:schemeClr val="tx1"/>
                </a:solidFill>
              </a:rPr>
              <a:t>domain</a:t>
            </a:r>
            <a:r>
              <a:rPr lang="en-US" sz="1600" dirty="0">
                <a:solidFill>
                  <a:schemeClr val="tx1"/>
                </a:solidFill>
              </a:rPr>
              <a:t>: a divestiture needs the asset</a:t>
            </a:r>
            <a:endParaRPr lang="en-US" sz="1600" dirty="0"/>
          </a:p>
          <a:p>
            <a:pPr marL="228600" indent="-228600">
              <a:spcAft>
                <a:spcPts val="800"/>
              </a:spcAft>
              <a:buSzPct val="100000"/>
              <a:buChar char="•"/>
            </a:pPr>
            <a:r>
              <a:rPr lang="en-US" sz="1600" b="1" dirty="0">
                <a:solidFill>
                  <a:schemeClr val="tx1"/>
                </a:solidFill>
              </a:rPr>
              <a:t>Proposition 3.1.</a:t>
            </a:r>
            <a:r>
              <a:rPr lang="en-US" sz="1600" dirty="0">
                <a:solidFill>
                  <a:schemeClr val="tx1"/>
                </a:solidFill>
              </a:rPr>
              <a:t> Step 1, then step 2, starts only where step 1 lands in step 2's domain</a:t>
            </a:r>
            <a:endParaRPr lang="en-US" sz="1600" dirty="0"/>
          </a:p>
          <a:p>
            <a:pPr marL="228600" indent="-228600">
              <a:spcAft>
                <a:spcPts val="800"/>
              </a:spcAft>
              <a:buSzPct val="100000"/>
              <a:buChar char="•"/>
            </a:pPr>
            <a:r>
              <a:rPr lang="en-US" sz="1600" dirty="0">
                <a:solidFill>
                  <a:schemeClr val="tx1"/>
                </a:solidFill>
              </a:rPr>
              <a:t>Such starts exist only if what step 1 produces overlaps what step 2 requires</a:t>
            </a:r>
            <a:endParaRPr lang="en-US" sz="1600" dirty="0"/>
          </a:p>
          <a:p>
            <a:pPr marL="228600" indent="-228600">
              <a:spcAft>
                <a:spcPts val="800"/>
              </a:spcAft>
              <a:buSzPct val="100000"/>
              <a:buChar char="•"/>
            </a:pPr>
            <a:r>
              <a:rPr lang="en-US" sz="1600" dirty="0">
                <a:solidFill>
                  <a:schemeClr val="tx1"/>
                </a:solidFill>
              </a:rPr>
              <a:t>Meridian: restructure-then-digital needs the restructured company to keep its engineers</a:t>
            </a:r>
            <a:endParaRPr lang="en-US" sz="1600" dirty="0"/>
          </a:p>
          <a:p>
            <a:pPr marL="228600" indent="-228600">
              <a:spcAft>
                <a:spcPts val="800"/>
              </a:spcAft>
              <a:buSzPct val="100000"/>
              <a:buChar char="•"/>
            </a:pPr>
            <a:r>
              <a:rPr lang="en-US" sz="1600" dirty="0">
                <a:solidFill>
                  <a:schemeClr val="tx1"/>
                </a:solidFill>
              </a:rPr>
              <a:t>Composition is associative, and “do nothing” changes nothing</a:t>
            </a:r>
            <a:endParaRPr lang="en-US" sz="1600" dirty="0"/>
          </a:p>
        </p:txBody>
      </p:sp>
      <p:pic>
        <p:nvPicPr>
          <p:cNvPr id="6" name="Figure" descr="Figure 3.2: feasibility chaining">    </p:cNvPr>
          <p:cNvPicPr>
            <a:picLocks noChangeAspect="1"/>
          </p:cNvPicPr>
          <p:nvPr/>
        </p:nvPicPr>
        <p:blipFill>
          <a:blip r:embed="rId1"/>
          <a:stretch>
            <a:fillRect/>
          </a:stretch>
        </p:blipFill>
        <p:spPr>
          <a:xfrm>
            <a:off x="5169286" y="1878285"/>
            <a:ext cx="6473769" cy="3540342"/>
          </a:xfrm>
          <a:prstGeom prst="rect">
            <a:avLst/>
          </a:prstGeom>
        </p:spPr>
      </p:pic>
      <p:sp>
        <p:nvSpPr>
          <p:cNvPr id="7" name="Caption"/>
          <p:cNvSpPr txBox="1"/>
          <p:nvPr/>
        </p:nvSpPr>
        <p:spPr>
          <a:xfrm>
            <a:off x="5169286" y="5491779"/>
            <a:ext cx="6473769" cy="502920"/>
          </a:xfrm>
          <a:prstGeom prst="rect">
            <a:avLst/>
          </a:prstGeom>
          <a:noFill/>
          <a:ln/>
        </p:spPr>
        <p:txBody>
          <a:bodyPr wrap="square" lIns="0" tIns="0" rIns="0" bIns="0" rtlCol="0" anchor="t"/>
          <a:lstStyle/>
          <a:p>
            <a:pPr indent="0" marL="0">
              <a:buNone/>
            </a:pPr>
            <a:r>
              <a:rPr lang="en-US" sz="1100" i="1" dirty="0">
                <a:solidFill>
                  <a:schemeClr val="tx2"/>
                </a:solidFill>
              </a:rPr>
              <a:t>Figure 3.2. Feasibility chaining: the program can start only from the purple region, the starting states whose first step lands in the overlap.</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§3.3 · TABLE 3.1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Meridian's state, declared with units</a:t>
            </a:r>
            <a:endParaRPr lang="en-US" sz="32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675312"/>
                <a:gridCol w="4534239"/>
                <a:gridCol w="2990668"/>
                <a:gridCol w="1447098"/>
                <a:gridCol w="1447098"/>
              </a:tblGrid>
              <a:tr h="365760">
                <a:tc>
                  <a:txBody>
                    <a:bodyPr/>
                    <a:lstStyle/>
                    <a:p>
                      <a:pPr algn="l" indent="0" marL="0">
                        <a:buNone/>
                      </a:pP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Reading</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Unit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Today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Scaled</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36576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x₁</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liquidity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US$ billion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0.62</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1.00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x₂</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net leverage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net debt / EBITDA</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3.4</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1.00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6576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x₃</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workforce capability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index, 0–100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58</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0.58</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x₄</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technology platform</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index, 0–100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41</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0.41</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6576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x₅</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operational efficiency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index, 0–100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71</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0.71</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x₆</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return on invested capital</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ratio</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0.083</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1.00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6576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x₇</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strategic risk (lower is better)</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index, 0–100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64</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0.64</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x₈</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market share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ratio</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0.19</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1.00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6" name="Table note"/>
          <p:cNvSpPr txBox="1"/>
          <p:nvPr/>
        </p:nvSpPr>
        <p:spPr>
          <a:xfrm>
            <a:off x="548640" y="507492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Table 3.1; scaled as in Figure 3.3: unbounded readings divided by today's value, bounded indices by their range, the declared scaling used whenever the book computes a distance for Meridian.</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The canonical starting state for both volumes: three families of unit, so raw distances are dominated by the indices.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§3.3 · PROPOSITION 3.2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Units can reverse any raw comparison</a:t>
            </a:r>
            <a:endParaRPr lang="en-US" sz="3200" dirty="0"/>
          </a:p>
        </p:txBody>
      </p:sp>
      <p:sp>
        <p:nvSpPr>
          <p:cNvPr id="5" name="Bullets"/>
          <p:cNvSpPr txBox="1"/>
          <p:nvPr/>
        </p:nvSpPr>
        <p:spPr>
          <a:xfrm>
            <a:off x="548640" y="1691640"/>
            <a:ext cx="4254886"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Proposition 3.2.</a:t>
            </a:r>
            <a:r>
              <a:rPr lang="en-US" sz="1600" dirty="0">
                <a:solidFill>
                  <a:schemeClr val="tx1"/>
                </a:solidFill>
              </a:rPr>
              <a:t> Changing units loses no information</a:t>
            </a:r>
            <a:endParaRPr lang="en-US" sz="1600" dirty="0"/>
          </a:p>
          <a:p>
            <a:pPr marL="228600" indent="-228600">
              <a:spcAft>
                <a:spcPts val="800"/>
              </a:spcAft>
              <a:buSzPct val="100000"/>
              <a:buChar char="•"/>
            </a:pPr>
            <a:r>
              <a:rPr lang="en-US" sz="1600" dirty="0">
                <a:solidFill>
                  <a:schemeClr val="tx1"/>
                </a:solidFill>
              </a:rPr>
              <a:t>Raw cross-reading comparisons and undeclared totals can be reversed by a change of units</a:t>
            </a:r>
            <a:endParaRPr lang="en-US" sz="1600" dirty="0"/>
          </a:p>
          <a:p>
            <a:pPr marL="228600" indent="-228600">
              <a:spcAft>
                <a:spcPts val="800"/>
              </a:spcAft>
              <a:buSzPct val="100000"/>
              <a:buChar char="•"/>
            </a:pPr>
            <a:r>
              <a:rPr lang="en-US" sz="1600" dirty="0">
                <a:solidFill>
                  <a:schemeClr val="tx1"/>
                </a:solidFill>
              </a:rPr>
              <a:t>“Strategic risk, at 64, exceeds leverage, at 3.4” says nothing: a rescaling reverses it</a:t>
            </a:r>
            <a:endParaRPr lang="en-US" sz="1600" dirty="0"/>
          </a:p>
          <a:p>
            <a:pPr marL="228600" indent="-228600">
              <a:spcAft>
                <a:spcPts val="800"/>
              </a:spcAft>
              <a:buSzPct val="100000"/>
              <a:buChar char="•"/>
            </a:pPr>
            <a:r>
              <a:rPr lang="en-US" sz="1600" dirty="0">
                <a:solidFill>
                  <a:schemeClr val="tx1"/>
                </a:solidFill>
              </a:rPr>
              <a:t>Weighted totals are legitimate when their weights are declared and carry units</a:t>
            </a:r>
            <a:endParaRPr lang="en-US" sz="1600" dirty="0"/>
          </a:p>
          <a:p>
            <a:pPr marL="228600" indent="-228600">
              <a:spcAft>
                <a:spcPts val="800"/>
              </a:spcAft>
              <a:buSzPct val="100000"/>
              <a:buChar char="•"/>
            </a:pPr>
            <a:r>
              <a:rPr lang="en-US" sz="1600" dirty="0">
                <a:solidFill>
                  <a:schemeClr val="tx1"/>
                </a:solidFill>
              </a:rPr>
              <a:t>The declared scaling divides unbounded readings by today's value, indices by their range</a:t>
            </a:r>
            <a:endParaRPr lang="en-US" sz="1600" dirty="0"/>
          </a:p>
        </p:txBody>
      </p:sp>
      <p:pic>
        <p:nvPicPr>
          <p:cNvPr id="6" name="Figure" descr="Figure 3.3: Meridian's declared state, raw and scaled">    </p:cNvPr>
          <p:cNvPicPr>
            <a:picLocks noChangeAspect="1"/>
          </p:cNvPicPr>
          <p:nvPr/>
        </p:nvPicPr>
        <p:blipFill>
          <a:blip r:embed="rId1"/>
          <a:stretch>
            <a:fillRect/>
          </a:stretch>
        </p:blipFill>
        <p:spPr>
          <a:xfrm>
            <a:off x="5169286" y="1931671"/>
            <a:ext cx="6473769" cy="3433570"/>
          </a:xfrm>
          <a:prstGeom prst="rect">
            <a:avLst/>
          </a:prstGeom>
        </p:spPr>
      </p:pic>
      <p:sp>
        <p:nvSpPr>
          <p:cNvPr id="7" name="Caption"/>
          <p:cNvSpPr txBox="1"/>
          <p:nvPr/>
        </p:nvSpPr>
        <p:spPr>
          <a:xfrm>
            <a:off x="5169286" y="5438393"/>
            <a:ext cx="6473769" cy="502920"/>
          </a:xfrm>
          <a:prstGeom prst="rect">
            <a:avLst/>
          </a:prstGeom>
          <a:noFill/>
          <a:ln/>
        </p:spPr>
        <p:txBody>
          <a:bodyPr wrap="square" lIns="0" tIns="0" rIns="0" bIns="0" rtlCol="0" anchor="t"/>
          <a:lstStyle/>
          <a:p>
            <a:pPr indent="0" marL="0">
              <a:buNone/>
            </a:pPr>
            <a:r>
              <a:rPr lang="en-US" sz="1100" i="1" dirty="0">
                <a:solidFill>
                  <a:schemeClr val="tx2"/>
                </a:solidFill>
              </a:rPr>
              <a:t>Figure 3.3. Meridian's declared state: raw readings in their own units (log scale), and the same state after the declared scaling.</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§3.4 · EQUATION 3.2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Without investment, a company runs down</a:t>
            </a:r>
            <a:endParaRPr lang="en-US" sz="3200" dirty="0"/>
          </a:p>
        </p:txBody>
      </p:sp>
      <p:pic>
        <p:nvPicPr>
          <p:cNvPr id="5" name="Equation" descr="Equation: \mathbf{x}_{k+1} \;=\; \begin{bmatrix} 0.90 &amp; 0.05 &amp; 0 \\ 0.10 &amp; 0.85 &amp; 0 \\ 0.05 &amp; 0.10 &amp; 0.80 \end{bmatrix} \mathbf{x}_k \;+\; \begin{bmatrix} 0.6 \\ 0.3 \\ 0 \end{bmatrix} u_k">    </p:cNvPr>
          <p:cNvPicPr>
            <a:picLocks noChangeAspect="1"/>
          </p:cNvPicPr>
          <p:nvPr/>
        </p:nvPicPr>
        <p:blipFill>
          <a:blip r:embed="rId1"/>
          <a:stretch>
            <a:fillRect/>
          </a:stretch>
        </p:blipFill>
        <p:spPr>
          <a:xfrm>
            <a:off x="3221048" y="1828800"/>
            <a:ext cx="5749599" cy="1234440"/>
          </a:xfrm>
          <a:prstGeom prst="rect">
            <a:avLst/>
          </a:prstGeom>
        </p:spPr>
      </p:pic>
      <p:sp>
        <p:nvSpPr>
          <p:cNvPr id="6" name="Text 2"/>
          <p:cNvSpPr txBox="1"/>
          <p:nvPr/>
        </p:nvSpPr>
        <p:spPr>
          <a:xfrm>
            <a:off x="914400" y="3200400"/>
            <a:ext cx="10362895" cy="411480"/>
          </a:xfrm>
          <a:prstGeom prst="rect">
            <a:avLst/>
          </a:prstGeom>
          <a:noFill/>
          <a:ln/>
        </p:spPr>
        <p:txBody>
          <a:bodyPr wrap="square" lIns="0" tIns="0" rIns="0" bIns="0" rtlCol="0" anchor="ctr"/>
          <a:lstStyle/>
          <a:p>
            <a:pPr algn="ctr" indent="0" marL="0">
              <a:buNone/>
            </a:pPr>
            <a:r>
              <a:rPr lang="en-US" sz="1600" i="1" dirty="0">
                <a:solidFill>
                  <a:schemeClr val="accent4"/>
                </a:solidFill>
              </a:rPr>
              <a:t>workforce capability, technology platform and operational efficiency, all indices; u is annual capability investment</a:t>
            </a:r>
            <a:endParaRPr lang="en-US" sz="1600" dirty="0"/>
          </a:p>
        </p:txBody>
      </p:sp>
      <p:sp>
        <p:nvSpPr>
          <p:cNvPr id="7" name="Bullets"/>
          <p:cNvSpPr txBox="1"/>
          <p:nvPr/>
        </p:nvSpPr>
        <p:spPr>
          <a:xfrm>
            <a:off x="914400" y="3794760"/>
            <a:ext cx="10362895" cy="2377440"/>
          </a:xfrm>
          <a:prstGeom prst="rect">
            <a:avLst/>
          </a:prstGeom>
          <a:noFill/>
          <a:ln/>
        </p:spPr>
        <p:txBody>
          <a:bodyPr wrap="square" lIns="635" tIns="635" rIns="635" bIns="635" rtlCol="0" anchor="t"/>
          <a:lstStyle/>
          <a:p>
            <a:pPr marL="228600" indent="-228600">
              <a:spcAft>
                <a:spcPts val="800"/>
              </a:spcAft>
              <a:buSzPct val="100000"/>
              <a:buChar char="•"/>
            </a:pPr>
            <a:r>
              <a:rPr lang="en-US" sz="1700" dirty="0">
                <a:solidFill>
                  <a:schemeClr val="bg1"/>
                </a:solidFill>
              </a:rPr>
              <a:t>Entry (i, j) is the response of reading i to reading j: capability builds the platform (0.10); efficiency feeds neither of the others</a:t>
            </a:r>
            <a:endParaRPr lang="en-US" sz="1700" dirty="0"/>
          </a:p>
          <a:p>
            <a:pPr marL="228600" indent="-228600">
              <a:spcAft>
                <a:spcPts val="800"/>
              </a:spcAft>
              <a:buSzPct val="100000"/>
              <a:buChar char="•"/>
            </a:pPr>
            <a:r>
              <a:rPr lang="en-US" sz="1700" dirty="0">
                <a:solidFill>
                  <a:schemeClr val="bg1"/>
                </a:solidFill>
              </a:rPr>
              <a:t>From (50, 40, 60) with u = 10, one year later (53.0, 42.0, 54.5): capability and technology rise, unaided efficiency decays</a:t>
            </a:r>
            <a:endParaRPr lang="en-US" sz="1700" dirty="0"/>
          </a:p>
          <a:p>
            <a:pPr marL="228600" indent="-228600">
              <a:spcAft>
                <a:spcPts val="800"/>
              </a:spcAft>
              <a:buSzPct val="100000"/>
              <a:buChar char="•"/>
            </a:pPr>
            <a:r>
              <a:rPr lang="en-US" sz="1700" dirty="0">
                <a:solidFill>
                  <a:schemeClr val="bg1"/>
                </a:solidFill>
              </a:rPr>
              <a:t>Eigenvalues </a:t>
            </a:r>
            <a:r>
              <a:rPr lang="en-US" sz="1700" b="1" dirty="0">
                <a:solidFill>
                  <a:schemeClr val="bg1"/>
                </a:solidFill>
              </a:rPr>
              <a:t>0.95, 0.80 and 0.80</a:t>
            </a:r>
            <a:r>
              <a:rPr lang="en-US" sz="1700" dirty="0">
                <a:solidFill>
                  <a:schemeClr val="bg1"/>
                </a:solidFill>
              </a:rPr>
              <a:t>, all below one: without investment the company decays steadily toward zero</a:t>
            </a:r>
            <a:endParaRPr lang="en-US" sz="1700" dirty="0"/>
          </a:p>
          <a:p>
            <a:pPr marL="228600" indent="-228600">
              <a:spcAft>
                <a:spcPts val="800"/>
              </a:spcAft>
              <a:buSzPct val="100000"/>
              <a:buChar char="•"/>
            </a:pPr>
            <a:r>
              <a:rPr lang="en-US" sz="1700" dirty="0">
                <a:solidFill>
                  <a:schemeClr val="bg1"/>
                </a:solidFill>
              </a:rPr>
              <a:t>Open systems run down without throughput (Table 2.2); Chapter 7 develops the stability theory</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§3.5 · THEOREM 3.1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Norms change the numbers, not the conclusions</a:t>
            </a:r>
            <a:endParaRPr lang="en-US" sz="3200" dirty="0"/>
          </a:p>
        </p:txBody>
      </p:sp>
      <p:sp>
        <p:nvSpPr>
          <p:cNvPr id="5" name="Bullets"/>
          <p:cNvSpPr txBox="1"/>
          <p:nvPr/>
        </p:nvSpPr>
        <p:spPr>
          <a:xfrm>
            <a:off x="548640" y="1691640"/>
            <a:ext cx="4254886"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The </a:t>
            </a:r>
            <a:r>
              <a:rPr lang="en-US" sz="1600" b="1" dirty="0">
                <a:solidFill>
                  <a:schemeClr val="tx1"/>
                </a:solidFill>
              </a:rPr>
              <a:t>effort</a:t>
            </a:r>
            <a:r>
              <a:rPr lang="en-US" sz="1600" dirty="0">
                <a:solidFill>
                  <a:schemeClr val="tx1"/>
                </a:solidFill>
              </a:rPr>
              <a:t> view totals the moves; the </a:t>
            </a:r>
            <a:r>
              <a:rPr lang="en-US" sz="1600" b="1" dirty="0">
                <a:solidFill>
                  <a:schemeClr val="tx1"/>
                </a:solidFill>
              </a:rPr>
              <a:t>bottleneck</a:t>
            </a:r>
            <a:r>
              <a:rPr lang="en-US" sz="1600" dirty="0">
                <a:solidFill>
                  <a:schemeClr val="tx1"/>
                </a:solidFill>
              </a:rPr>
              <a:t> view reports the largest</a:t>
            </a:r>
            <a:endParaRPr lang="en-US" sz="1600" dirty="0"/>
          </a:p>
          <a:p>
            <a:pPr marL="228600" indent="-228600">
              <a:spcAft>
                <a:spcPts val="800"/>
              </a:spcAft>
              <a:buSzPct val="100000"/>
              <a:buChar char="•"/>
            </a:pPr>
            <a:r>
              <a:rPr lang="en-US" sz="1600" b="1" dirty="0">
                <a:solidFill>
                  <a:schemeClr val="tx1"/>
                </a:solidFill>
              </a:rPr>
              <a:t>Theorem 3.1.</a:t>
            </a:r>
            <a:r>
              <a:rPr lang="en-US" sz="1600" dirty="0">
                <a:solidFill>
                  <a:schemeClr val="tx1"/>
                </a:solidFill>
              </a:rPr>
              <a:t> All norms agree on convergence, open sets, continuity and stability</a:t>
            </a:r>
            <a:endParaRPr lang="en-US" sz="1600" dirty="0"/>
          </a:p>
          <a:p>
            <a:pPr marL="228600" indent="-228600">
              <a:spcAft>
                <a:spcPts val="800"/>
              </a:spcAft>
              <a:buSzPct val="100000"/>
              <a:buChar char="•"/>
            </a:pPr>
            <a:r>
              <a:rPr lang="en-US" sz="1600" b="1" dirty="0">
                <a:solidFill>
                  <a:schemeClr val="tx1"/>
                </a:solidFill>
              </a:rPr>
              <a:t>Proposition 3.3.</a:t>
            </a:r>
            <a:r>
              <a:rPr lang="en-US" sz="1600" dirty="0">
                <a:solidFill>
                  <a:schemeClr val="tx1"/>
                </a:solidFill>
              </a:rPr>
              <a:t> Unit-proof distances need weights that move against the units</a:t>
            </a:r>
            <a:endParaRPr lang="en-US" sz="1600" dirty="0"/>
          </a:p>
          <a:p>
            <a:pPr marL="228600" indent="-228600">
              <a:spcAft>
                <a:spcPts val="800"/>
              </a:spcAft>
              <a:buSzPct val="100000"/>
              <a:buChar char="•"/>
            </a:pPr>
            <a:r>
              <a:rPr lang="en-US" sz="1600" dirty="0">
                <a:solidFill>
                  <a:schemeClr val="tx1"/>
                </a:solidFill>
              </a:rPr>
              <a:t>For Meridian's eight readings, effort and bottleneck views can differ </a:t>
            </a:r>
            <a:r>
              <a:rPr lang="en-US" sz="1600" b="1" dirty="0">
                <a:solidFill>
                  <a:schemeClr val="tx1"/>
                </a:solidFill>
              </a:rPr>
              <a:t>eightfold</a:t>
            </a:r>
            <a:endParaRPr lang="en-US" sz="1600" dirty="0"/>
          </a:p>
          <a:p>
            <a:pPr marL="228600" indent="-228600">
              <a:spcAft>
                <a:spcPts val="800"/>
              </a:spcAft>
              <a:buSzPct val="100000"/>
              <a:buChar char="•"/>
            </a:pPr>
            <a:r>
              <a:rPr lang="en-US" sz="1600" dirty="0">
                <a:solidFill>
                  <a:schemeClr val="tx1"/>
                </a:solidFill>
              </a:rPr>
              <a:t>Declare the norm whenever a distance is reported</a:t>
            </a:r>
            <a:endParaRPr lang="en-US" sz="1600" dirty="0"/>
          </a:p>
        </p:txBody>
      </p:sp>
      <p:pic>
        <p:nvPicPr>
          <p:cNvPr id="6" name="Figure" descr="Figure 3.4: unit balls and the equivalence sandwich">    </p:cNvPr>
          <p:cNvPicPr>
            <a:picLocks noChangeAspect="1"/>
          </p:cNvPicPr>
          <p:nvPr/>
        </p:nvPicPr>
        <p:blipFill>
          <a:blip r:embed="rId1"/>
          <a:stretch>
            <a:fillRect/>
          </a:stretch>
        </p:blipFill>
        <p:spPr>
          <a:xfrm>
            <a:off x="5169286" y="1712507"/>
            <a:ext cx="6473769" cy="3871898"/>
          </a:xfrm>
          <a:prstGeom prst="rect">
            <a:avLst/>
          </a:prstGeom>
        </p:spPr>
      </p:pic>
      <p:sp>
        <p:nvSpPr>
          <p:cNvPr id="7" name="Caption"/>
          <p:cNvSpPr txBox="1"/>
          <p:nvPr/>
        </p:nvSpPr>
        <p:spPr>
          <a:xfrm>
            <a:off x="5169286" y="5657557"/>
            <a:ext cx="6473769" cy="502920"/>
          </a:xfrm>
          <a:prstGeom prst="rect">
            <a:avLst/>
          </a:prstGeom>
          <a:noFill/>
          <a:ln/>
        </p:spPr>
        <p:txBody>
          <a:bodyPr wrap="square" lIns="0" tIns="0" rIns="0" bIns="0" rtlCol="0" anchor="t"/>
          <a:lstStyle/>
          <a:p>
            <a:pPr indent="0" marL="0">
              <a:buNone/>
            </a:pPr>
            <a:r>
              <a:rPr lang="en-US" sz="1100" i="1" dirty="0">
                <a:solidFill>
                  <a:schemeClr val="tx2"/>
                </a:solidFill>
              </a:rPr>
              <a:t>Figure 3.4. Left: the points at distance one under four norms. Right: each ball nests inside a scaled copy of the other.</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§3.5 · MERIDIAN, MEASURED WITH THE DECLARED SCALING</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How far each option moves Meridian</a:t>
            </a:r>
            <a:endParaRPr lang="en-US" sz="3200" dirty="0"/>
          </a:p>
        </p:txBody>
      </p:sp>
      <p:sp>
        <p:nvSpPr>
          <p:cNvPr id="5" name="Stat card"/>
          <p:cNvSpPr/>
          <p:nvPr/>
        </p:nvSpPr>
        <p:spPr>
          <a:xfrm>
            <a:off x="548640" y="1691640"/>
            <a:ext cx="3515258" cy="1920240"/>
          </a:xfrm>
          <a:prstGeom prst="roundRect">
            <a:avLst>
              <a:gd name="adj" fmla="val 3810"/>
            </a:avLst>
          </a:prstGeom>
          <a:solidFill>
            <a:schemeClr val="bg2"/>
          </a:solidFill>
          <a:ln w="9525">
            <a:solidFill>
              <a:srgbClr val="C4CBD8"/>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0.11</a:t>
            </a:r>
            <a:endParaRPr lang="en-US" sz="4400" dirty="0"/>
          </a:p>
        </p:txBody>
      </p:sp>
      <p:sp>
        <p:nvSpPr>
          <p:cNvPr id="7" name="Stat label"/>
          <p:cNvSpPr txBox="1"/>
          <p:nvPr/>
        </p:nvSpPr>
        <p:spPr>
          <a:xfrm>
            <a:off x="685800" y="2697480"/>
            <a:ext cx="3240938" cy="841248"/>
          </a:xfrm>
          <a:prstGeom prst="rect">
            <a:avLst/>
          </a:prstGeom>
          <a:noFill/>
          <a:ln/>
        </p:spPr>
        <p:txBody>
          <a:bodyPr wrap="square" lIns="0" tIns="0" rIns="0" bIns="0" rtlCol="0" anchor="t"/>
          <a:lstStyle/>
          <a:p>
            <a:pPr algn="ctr" indent="0" marL="0">
              <a:buNone/>
            </a:pPr>
            <a:r>
              <a:rPr lang="en-US" sz="1400" dirty="0">
                <a:solidFill>
                  <a:schemeClr val="tx2"/>
                </a:solidFill>
              </a:rPr>
              <a:t>the turnaround's Year-5 state, from today</a:t>
            </a:r>
            <a:endParaRPr lang="en-US" sz="1400" dirty="0"/>
          </a:p>
        </p:txBody>
      </p:sp>
      <p:sp>
        <p:nvSpPr>
          <p:cNvPr id="8" name="Stat card"/>
          <p:cNvSpPr/>
          <p:nvPr/>
        </p:nvSpPr>
        <p:spPr>
          <a:xfrm>
            <a:off x="4338218" y="1691640"/>
            <a:ext cx="3515258" cy="1920240"/>
          </a:xfrm>
          <a:prstGeom prst="roundRect">
            <a:avLst>
              <a:gd name="adj" fmla="val 3810"/>
            </a:avLst>
          </a:prstGeom>
          <a:solidFill>
            <a:schemeClr val="bg2"/>
          </a:solidFill>
          <a:ln w="9525">
            <a:solidFill>
              <a:srgbClr val="C4CBD8"/>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0.26</a:t>
            </a:r>
            <a:endParaRPr lang="en-US" sz="4400" dirty="0"/>
          </a:p>
        </p:txBody>
      </p:sp>
      <p:sp>
        <p:nvSpPr>
          <p:cNvPr id="10" name="Stat label"/>
          <p:cNvSpPr txBox="1"/>
          <p:nvPr/>
        </p:nvSpPr>
        <p:spPr>
          <a:xfrm>
            <a:off x="4475378" y="2697480"/>
            <a:ext cx="3240938" cy="841248"/>
          </a:xfrm>
          <a:prstGeom prst="rect">
            <a:avLst/>
          </a:prstGeom>
          <a:noFill/>
          <a:ln/>
        </p:spPr>
        <p:txBody>
          <a:bodyPr wrap="square" lIns="0" tIns="0" rIns="0" bIns="0" rtlCol="0" anchor="t"/>
          <a:lstStyle/>
          <a:p>
            <a:pPr algn="ctr" indent="0" marL="0">
              <a:buNone/>
            </a:pPr>
            <a:r>
              <a:rPr lang="en-US" sz="1400" dirty="0">
                <a:solidFill>
                  <a:schemeClr val="tx2"/>
                </a:solidFill>
              </a:rPr>
              <a:t>restructuring's Year-5 state</a:t>
            </a:r>
            <a:endParaRPr lang="en-US" sz="1400" dirty="0"/>
          </a:p>
        </p:txBody>
      </p:sp>
      <p:sp>
        <p:nvSpPr>
          <p:cNvPr id="11" name="Stat card"/>
          <p:cNvSpPr/>
          <p:nvPr/>
        </p:nvSpPr>
        <p:spPr>
          <a:xfrm>
            <a:off x="8127797" y="1691640"/>
            <a:ext cx="3515258" cy="1920240"/>
          </a:xfrm>
          <a:prstGeom prst="roundRect">
            <a:avLst>
              <a:gd name="adj" fmla="val 3810"/>
            </a:avLst>
          </a:prstGeom>
          <a:solidFill>
            <a:schemeClr val="tx1"/>
          </a:solidFill>
          <a:ln w="9525">
            <a:solidFill>
              <a:srgbClr val="0F1E3D"/>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0.36</a:t>
            </a:r>
            <a:endParaRPr lang="en-US" sz="4400" dirty="0"/>
          </a:p>
        </p:txBody>
      </p:sp>
      <p:sp>
        <p:nvSpPr>
          <p:cNvPr id="13" name="Stat label"/>
          <p:cNvSpPr txBox="1"/>
          <p:nvPr/>
        </p:nvSpPr>
        <p:spPr>
          <a:xfrm>
            <a:off x="8264957" y="2697480"/>
            <a:ext cx="3240938" cy="841248"/>
          </a:xfrm>
          <a:prstGeom prst="rect">
            <a:avLst/>
          </a:prstGeom>
          <a:noFill/>
          <a:ln/>
        </p:spPr>
        <p:txBody>
          <a:bodyPr wrap="square" lIns="0" tIns="0" rIns="0" bIns="0" rtlCol="0" anchor="t"/>
          <a:lstStyle/>
          <a:p>
            <a:pPr algn="ctr" indent="0" marL="0">
              <a:buNone/>
            </a:pPr>
            <a:r>
              <a:rPr lang="en-US" sz="1400" dirty="0">
                <a:solidFill>
                  <a:schemeClr val="bg2"/>
                </a:solidFill>
              </a:rPr>
              <a:t>digital's Year-5 state: more than three times the turnaround's</a:t>
            </a:r>
            <a:endParaRPr lang="en-US" sz="1400" dirty="0"/>
          </a:p>
        </p:txBody>
      </p:sp>
      <p:sp>
        <p:nvSpPr>
          <p:cNvPr id="14" name="Bullets"/>
          <p:cNvSpPr txBox="1"/>
          <p:nvPr/>
        </p:nvSpPr>
        <p:spPr>
          <a:xfrm>
            <a:off x="548640" y="3931920"/>
            <a:ext cx="11094415" cy="224028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tx1"/>
                </a:solidFill>
              </a:rPr>
              <a:t>Section 5.8 measures the Chapter 1 options with this chapter's scaling: indices divided by 100, liquidity by today's value</a:t>
            </a:r>
            <a:endParaRPr lang="en-US" sz="1800" dirty="0"/>
          </a:p>
          <a:p>
            <a:pPr marL="228600" indent="-228600">
              <a:spcAft>
                <a:spcPts val="800"/>
              </a:spcAft>
              <a:buSzPct val="100000"/>
              <a:buChar char="•"/>
            </a:pPr>
            <a:r>
              <a:rPr lang="en-US" sz="1800" dirty="0">
                <a:solidFill>
                  <a:schemeClr val="tx1"/>
                </a:solidFill>
              </a:rPr>
              <a:t>Profile proximity is not state proximity: rankings of similar states are computed with the declared distance, never read off the page</a:t>
            </a:r>
            <a:endParaRPr lang="en-US" sz="1800" dirty="0"/>
          </a:p>
          <a:p>
            <a:pPr marL="228600" indent="-228600">
              <a:spcAft>
                <a:spcPts val="800"/>
              </a:spcAft>
              <a:buSzPct val="100000"/>
              <a:buChar char="•"/>
            </a:pPr>
            <a:r>
              <a:rPr lang="en-US" sz="1800" dirty="0">
                <a:solidFill>
                  <a:schemeClr val="tx1"/>
                </a:solidFill>
              </a:rPr>
              <a:t>Every quantitative object, from shock sizes to resilience radii, depends on the chosen norm and unit convention</a:t>
            </a:r>
            <a:endParaRPr lang="en-US" sz="1800" dirty="0"/>
          </a:p>
          <a:p>
            <a:pPr marL="228600" indent="-228600">
              <a:spcAft>
                <a:spcPts val="800"/>
              </a:spcAft>
              <a:buSzPct val="100000"/>
              <a:buChar char="•"/>
            </a:pPr>
            <a:r>
              <a:rPr lang="en-US" sz="1800" dirty="0">
                <a:solidFill>
                  <a:schemeClr val="tx1"/>
                </a:solidFill>
              </a:rPr>
              <a:t>The norm and the units change these numbers; convergence and stability do not depend on them (LOS Guidance 3.2)</a:t>
            </a:r>
            <a:endParaRPr lang="en-US" sz="18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§3.5 · THEOREM 3.2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Order matters, and sensitivities multiply</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3.2</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Transformation Composition Theorem</a:t>
            </a:r>
            <a:endParaRPr lang="en-US" sz="2100" dirty="0"/>
          </a:p>
        </p:txBody>
      </p:sp>
      <p:pic>
        <p:nvPicPr>
          <p:cNvPr id="8" name="Equation" descr="Equation: \lVert T_2(T_1\mathbf{x}) - T_2(T_1\mathbf{x}') \rVert \;\le\; L_2\,L_1\,\lVert \mathbf{x} - \mathbf{x}' \rVert">    </p:cNvPr>
          <p:cNvPicPr>
            <a:picLocks noChangeAspect="1"/>
          </p:cNvPicPr>
          <p:nvPr/>
        </p:nvPicPr>
        <p:blipFill>
          <a:blip r:embed="rId1"/>
          <a:stretch>
            <a:fillRect/>
          </a:stretch>
        </p:blipFill>
        <p:spPr>
          <a:xfrm>
            <a:off x="822960" y="2743200"/>
            <a:ext cx="4984230" cy="457200"/>
          </a:xfrm>
          <a:prstGeom prst="rect">
            <a:avLst/>
          </a:prstGeom>
        </p:spPr>
      </p:pic>
      <p:sp>
        <p:nvSpPr>
          <p:cNvPr id="9" name="Bullets"/>
          <p:cNvSpPr txBox="1"/>
          <p:nvPr/>
        </p:nvSpPr>
        <p:spPr>
          <a:xfrm>
            <a:off x="822960" y="3364992"/>
            <a:ext cx="5394960" cy="2670048"/>
          </a:xfrm>
          <a:prstGeom prst="rect">
            <a:avLst/>
          </a:prstGeom>
          <a:noFill/>
          <a:ln/>
        </p:spPr>
        <p:txBody>
          <a:bodyPr wrap="square" lIns="635" tIns="635" rIns="635" bIns="635" rtlCol="0" anchor="t"/>
          <a:lstStyle/>
          <a:p>
            <a:pPr marL="228600" indent="-228600">
              <a:spcAft>
                <a:spcPts val="600"/>
              </a:spcAft>
              <a:buSzPct val="100000"/>
              <a:buChar char="•"/>
            </a:pPr>
            <a:r>
              <a:rPr lang="en-US" sz="1600" b="1" dirty="0">
                <a:solidFill>
                  <a:schemeClr val="tx1"/>
                </a:solidFill>
              </a:rPr>
              <a:t>(i) Programs compose.</a:t>
            </a:r>
            <a:r>
              <a:rPr lang="en-US" sz="1600" dirty="0">
                <a:solidFill>
                  <a:schemeClr val="tx1"/>
                </a:solidFill>
              </a:rPr>
              <a:t> “Do nothing” is the neutral program; only reversible transformations can be undone</a:t>
            </a:r>
            <a:endParaRPr lang="en-US" sz="1600" dirty="0"/>
          </a:p>
          <a:p>
            <a:pPr marL="228600" indent="-228600">
              <a:spcAft>
                <a:spcPts val="600"/>
              </a:spcAft>
              <a:buSzPct val="100000"/>
              <a:buChar char="•"/>
            </a:pPr>
            <a:r>
              <a:rPr lang="en-US" sz="1600" b="1" dirty="0">
                <a:solidFill>
                  <a:schemeClr val="tx1"/>
                </a:solidFill>
              </a:rPr>
              <a:t>(ii) Sensitivities multiply.</a:t>
            </a:r>
            <a:r>
              <a:rPr lang="en-US" sz="1600" dirty="0">
                <a:solidFill>
                  <a:schemeClr val="tx1"/>
                </a:solidFill>
              </a:rPr>
              <a:t> A sequence's sensitivity factor is at most the product of its steps' factors</a:t>
            </a:r>
            <a:endParaRPr lang="en-US" sz="1600" dirty="0"/>
          </a:p>
          <a:p>
            <a:pPr marL="228600" indent="-228600">
              <a:spcAft>
                <a:spcPts val="600"/>
              </a:spcAft>
              <a:buSzPct val="100000"/>
              <a:buChar char="•"/>
            </a:pPr>
            <a:r>
              <a:rPr lang="en-US" sz="1600" b="1" dirty="0">
                <a:solidFill>
                  <a:schemeClr val="tx1"/>
                </a:solidFill>
              </a:rPr>
              <a:t>(iii) Order matters.</a:t>
            </a:r>
            <a:r>
              <a:rPr lang="en-US" sz="1600" dirty="0">
                <a:solidFill>
                  <a:schemeClr val="tx1"/>
                </a:solidFill>
              </a:rPr>
              <a:t> The same two transformations in different orders generally produce different companies</a:t>
            </a:r>
            <a:endParaRPr lang="en-US" sz="1600" dirty="0"/>
          </a:p>
          <a:p>
            <a:pPr marL="228600" indent="-228600">
              <a:spcAft>
                <a:spcPts val="600"/>
              </a:spcAft>
              <a:buSzPct val="100000"/>
              <a:buChar char="•"/>
            </a:pPr>
            <a:r>
              <a:rPr lang="en-US" sz="1600" b="1" dirty="0">
                <a:solidFill>
                  <a:schemeClr val="tx1"/>
                </a:solidFill>
              </a:rPr>
              <a:t>Appendix 3.A.</a:t>
            </a:r>
            <a:r>
              <a:rPr lang="en-US" sz="1600" dirty="0">
                <a:solidFill>
                  <a:schemeClr val="tx1"/>
                </a:solidFill>
              </a:rPr>
              <a:t> From (2, 40), the two orders of a two-reading example end at (2.5, 40.0) and (4.0, 37.44)</a:t>
            </a:r>
            <a:endParaRPr lang="en-US" sz="1600" dirty="0"/>
          </a:p>
        </p:txBody>
      </p:sp>
      <p:sp>
        <p:nvSpPr>
          <p:cNvPr id="10"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What it means</a:t>
            </a:r>
            <a:endParaRPr lang="en-US" sz="1600" dirty="0"/>
          </a:p>
        </p:txBody>
      </p:sp>
      <p:sp>
        <p:nvSpPr>
          <p:cNvPr id="11"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Irreversibility is the default: an integrated acquisition cannot be unwound</a:t>
            </a:r>
            <a:endParaRPr lang="en-US" sz="1600" dirty="0"/>
          </a:p>
          <a:p>
            <a:pPr marL="228600" indent="-228600">
              <a:spcAft>
                <a:spcPts val="800"/>
              </a:spcAft>
              <a:buSzPct val="100000"/>
              <a:buChar char="•"/>
            </a:pPr>
            <a:r>
              <a:rPr lang="en-US" sz="1600" dirty="0">
                <a:solidFill>
                  <a:schemeClr val="tx1"/>
                </a:solidFill>
              </a:rPr>
              <a:t>Five mild steps (factor 1.2) can amplify a starting error by up to 1.2</a:t>
            </a:r>
            <a:r>
              <a:rPr lang="en-US" sz="1600" baseline="30000" dirty="0">
                <a:solidFill>
                  <a:schemeClr val="tx1"/>
                </a:solidFill>
              </a:rPr>
              <a:t>5</a:t>
            </a:r>
            <a:r>
              <a:rPr lang="en-US" sz="1600" dirty="0">
                <a:solidFill>
                  <a:schemeClr val="tx1"/>
                </a:solidFill>
              </a:rPr>
              <a:t> ≈ 2.5</a:t>
            </a:r>
            <a:endParaRPr lang="en-US" sz="1600" dirty="0"/>
          </a:p>
          <a:p>
            <a:pPr marL="228600" indent="-228600">
              <a:spcAft>
                <a:spcPts val="800"/>
              </a:spcAft>
              <a:buSzPct val="100000"/>
              <a:buChar char="•"/>
            </a:pPr>
            <a:r>
              <a:rPr lang="en-US" sz="1600" dirty="0">
                <a:solidFill>
                  <a:schemeClr val="tx1"/>
                </a:solidFill>
              </a:rPr>
              <a:t>Two consolidating steps (0.7) bring the bound to 1.2</a:t>
            </a:r>
            <a:r>
              <a:rPr lang="en-US" sz="1600" baseline="30000" dirty="0">
                <a:solidFill>
                  <a:schemeClr val="tx1"/>
                </a:solidFill>
              </a:rPr>
              <a:t>3</a:t>
            </a:r>
            <a:r>
              <a:rPr lang="en-US" sz="1600" dirty="0">
                <a:solidFill>
                  <a:schemeClr val="tx1"/>
                </a:solidFill>
              </a:rPr>
              <a:t> × 0.7</a:t>
            </a:r>
            <a:r>
              <a:rPr lang="en-US" sz="1600" baseline="30000" dirty="0">
                <a:solidFill>
                  <a:schemeClr val="tx1"/>
                </a:solidFill>
              </a:rPr>
              <a:t>2</a:t>
            </a:r>
            <a:r>
              <a:rPr lang="en-US" sz="1600" dirty="0">
                <a:solidFill>
                  <a:schemeClr val="tx1"/>
                </a:solidFill>
              </a:rPr>
              <a:t> ≈ 0.85</a:t>
            </a:r>
            <a:endParaRPr lang="en-US" sz="1600" dirty="0"/>
          </a:p>
          <a:p>
            <a:pPr marL="228600" indent="-228600">
              <a:spcAft>
                <a:spcPts val="800"/>
              </a:spcAft>
              <a:buSzPct val="100000"/>
              <a:buChar char="•"/>
            </a:pPr>
            <a:r>
              <a:rPr lang="en-US" sz="1600" dirty="0">
                <a:solidFill>
                  <a:schemeClr val="tx1"/>
                </a:solidFill>
              </a:rPr>
              <a:t>Programs are ordered sequences, not bags of initiatives: the order is a decision</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§3.6 · THEOREM 3.3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Ratings and categories fit one state space</a:t>
            </a:r>
            <a:endParaRPr lang="en-US" sz="3200" dirty="0"/>
          </a:p>
        </p:txBody>
      </p:sp>
      <p:sp>
        <p:nvSpPr>
          <p:cNvPr id="5" name="Bullets"/>
          <p:cNvSpPr txBox="1"/>
          <p:nvPr/>
        </p:nvSpPr>
        <p:spPr>
          <a:xfrm>
            <a:off x="548640" y="1691640"/>
            <a:ext cx="4254886"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Definition 3.6.</a:t>
            </a:r>
            <a:r>
              <a:rPr lang="en-US" sz="1600" dirty="0">
                <a:solidFill>
                  <a:schemeClr val="tx1"/>
                </a:solidFill>
              </a:rPr>
              <a:t> Products of attribute spaces, cut by structural constraints</a:t>
            </a:r>
            <a:endParaRPr lang="en-US" sz="1600" dirty="0"/>
          </a:p>
          <a:p>
            <a:pPr marL="228600" indent="-228600">
              <a:spcAft>
                <a:spcPts val="800"/>
              </a:spcAft>
              <a:buSzPct val="100000"/>
              <a:buChar char="•"/>
            </a:pPr>
            <a:r>
              <a:rPr lang="en-US" sz="1600" dirty="0">
                <a:solidFill>
                  <a:schemeClr val="tx1"/>
                </a:solidFill>
              </a:rPr>
              <a:t>Liquidity is an interval, a credit rating a ranked scale, a legal form a set of categories</a:t>
            </a:r>
            <a:endParaRPr lang="en-US" sz="1600" dirty="0"/>
          </a:p>
          <a:p>
            <a:pPr marL="228600" indent="-228600">
              <a:spcAft>
                <a:spcPts val="800"/>
              </a:spcAft>
              <a:buSzPct val="100000"/>
              <a:buChar char="•"/>
            </a:pPr>
            <a:r>
              <a:rPr lang="en-US" sz="1600" b="1" dirty="0">
                <a:solidFill>
                  <a:schemeClr val="tx1"/>
                </a:solidFill>
              </a:rPr>
              <a:t>Theorem 3.3.</a:t>
            </a:r>
            <a:r>
              <a:rPr lang="en-US" sz="1600" dirty="0">
                <a:solidFill>
                  <a:schemeClr val="tx1"/>
                </a:solidFill>
              </a:rPr>
              <a:t> Any mix of readings maps into numbers without losing distinguishability</a:t>
            </a:r>
            <a:endParaRPr lang="en-US" sz="1600" dirty="0"/>
          </a:p>
          <a:p>
            <a:pPr marL="228600" indent="-228600">
              <a:spcAft>
                <a:spcPts val="800"/>
              </a:spcAft>
              <a:buSzPct val="100000"/>
              <a:buChar char="•"/>
            </a:pPr>
            <a:r>
              <a:rPr lang="en-US" sz="1600" dirty="0">
                <a:solidFill>
                  <a:schemeClr val="tx1"/>
                </a:solidFill>
              </a:rPr>
              <a:t>Ranks impose an unearned spacing; indicators put all categories equally far apart</a:t>
            </a:r>
            <a:endParaRPr lang="en-US" sz="1600" dirty="0"/>
          </a:p>
          <a:p>
            <a:pPr marL="228600" indent="-228600">
              <a:spcAft>
                <a:spcPts val="800"/>
              </a:spcAft>
              <a:buSzPct val="100000"/>
              <a:buChar char="•"/>
            </a:pPr>
            <a:r>
              <a:rPr lang="en-US" sz="1600" dirty="0">
                <a:solidFill>
                  <a:schemeClr val="tx1"/>
                </a:solidFill>
              </a:rPr>
              <a:t>Legitimate when declared, dangerous when unnoticed</a:t>
            </a:r>
            <a:endParaRPr lang="en-US" sz="1600" dirty="0"/>
          </a:p>
        </p:txBody>
      </p:sp>
      <p:pic>
        <p:nvPicPr>
          <p:cNvPr id="6" name="Figure" descr="Figure 3.5: enterprise state space geometry">    </p:cNvPr>
          <p:cNvPicPr>
            <a:picLocks noChangeAspect="1"/>
          </p:cNvPicPr>
          <p:nvPr/>
        </p:nvPicPr>
        <p:blipFill>
          <a:blip r:embed="rId1"/>
          <a:stretch>
            <a:fillRect/>
          </a:stretch>
        </p:blipFill>
        <p:spPr>
          <a:xfrm>
            <a:off x="5169286" y="1765893"/>
            <a:ext cx="6473769" cy="3765126"/>
          </a:xfrm>
          <a:prstGeom prst="rect">
            <a:avLst/>
          </a:prstGeom>
        </p:spPr>
      </p:pic>
      <p:sp>
        <p:nvSpPr>
          <p:cNvPr id="7" name="Caption"/>
          <p:cNvSpPr txBox="1"/>
          <p:nvPr/>
        </p:nvSpPr>
        <p:spPr>
          <a:xfrm>
            <a:off x="5169286" y="5604171"/>
            <a:ext cx="6473769" cy="502920"/>
          </a:xfrm>
          <a:prstGeom prst="rect">
            <a:avLst/>
          </a:prstGeom>
          <a:noFill/>
          <a:ln/>
        </p:spPr>
        <p:txBody>
          <a:bodyPr wrap="square" lIns="0" tIns="0" rIns="0" bIns="0" rtlCol="0" anchor="t"/>
          <a:lstStyle/>
          <a:p>
            <a:pPr indent="0" marL="0">
              <a:buNone/>
            </a:pPr>
            <a:r>
              <a:rPr lang="en-US" sz="1100" i="1" dirty="0">
                <a:solidFill>
                  <a:schemeClr val="tx2"/>
                </a:solidFill>
              </a:rPr>
              <a:t>Figure 3.5. Structural constraints carve the admissible region; a state is a point, an operator moves it, and a trajectory traces its path.</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§3.7 · TABLE 3.3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Determinism is a regime, not a belief</a:t>
            </a:r>
            <a:endParaRPr lang="en-US" sz="320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200545"/>
                <a:gridCol w="4401090"/>
                <a:gridCol w="4492780"/>
              </a:tblGrid>
              <a:tr h="457200">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Deterministic model</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Stochastic model</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512064">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Transition</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one next state, f(x, u, w)</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a distribution of the next state, given (x, u)</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12064">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Trajectory</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a single path</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a fan of paths with probabilities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12064">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Prediction</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a point</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a distribution: mean, variance, quantiles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82296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Appropriate when</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disturbances small against the signal; short horizons; design-stage reasoning</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uncertainty material to the decision; risk is itself the subject</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12064">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DCT usage</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Chapters 5–7; linear analysis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Chapter 8 onward; ERRA (Chapter 12); Volume II</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bl>
          </a:graphicData>
        </a:graphic>
      </p:graphicFrame>
      <p:sp>
        <p:nvSpPr>
          <p:cNvPr id="6" name="Table note"/>
          <p:cNvSpPr txBox="1"/>
          <p:nvPr/>
        </p:nvSpPr>
        <p:spPr>
          <a:xfrm>
            <a:off x="548640" y="516636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Table 3.3. The deterministic model is the special case of the stochastic one in which every distribution is a point mass (Proposition 8.3).</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When dispersion is the subject (risk, resilience, robustness), the deterministic regime is not simplified but wrong.</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3.1 · THE SITUATION</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Does the order of initiatives matter?</a:t>
            </a:r>
            <a:endParaRPr lang="en-US" sz="3200" dirty="0"/>
          </a:p>
        </p:txBody>
      </p:sp>
      <p:sp>
        <p:nvSpPr>
          <p:cNvPr id="5" name="Card"/>
          <p:cNvSpPr/>
          <p:nvPr/>
        </p:nvSpPr>
        <p:spPr>
          <a:xfrm>
            <a:off x="548640" y="1691640"/>
            <a:ext cx="3515258" cy="3154680"/>
          </a:xfrm>
          <a:prstGeom prst="roundRect">
            <a:avLst>
              <a:gd name="adj" fmla="val 2319"/>
            </a:avLst>
          </a:prstGeom>
          <a:solidFill>
            <a:schemeClr val="bg2"/>
          </a:solidFill>
          <a:ln w="9525">
            <a:solidFill>
              <a:srgbClr val="C4CBD8"/>
            </a:solidFill>
            <a:prstDash val="solid"/>
          </a:ln>
        </p:spPr>
      </p:sp>
      <p:sp>
        <p:nvSpPr>
          <p:cNvPr id="6" name="Card label"/>
          <p:cNvSpPr txBox="1"/>
          <p:nvPr/>
        </p:nvSpPr>
        <p:spPr>
          <a:xfrm>
            <a:off x="731520"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sale (restructuring)</a:t>
            </a:r>
            <a:endParaRPr lang="en-US" sz="1300" dirty="0"/>
          </a:p>
        </p:txBody>
      </p:sp>
      <p:sp>
        <p:nvSpPr>
          <p:cNvPr id="7" name="Card head"/>
          <p:cNvSpPr txBox="1"/>
          <p:nvPr/>
        </p:nvSpPr>
        <p:spPr>
          <a:xfrm>
            <a:off x="731520" y="2148840"/>
            <a:ext cx="3149498" cy="1444752"/>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$112m net; the unit takes 10% of the technology position</a:t>
            </a:r>
            <a:endParaRPr lang="en-US" sz="2000" dirty="0"/>
          </a:p>
        </p:txBody>
      </p:sp>
      <p:sp>
        <p:nvSpPr>
          <p:cNvPr id="8" name="Card text"/>
          <p:cNvSpPr txBox="1"/>
          <p:nvPr/>
        </p:nvSpPr>
        <p:spPr>
          <a:xfrm>
            <a:off x="731520" y="3666744"/>
            <a:ext cx="3149498" cy="1051560"/>
          </a:xfrm>
          <a:prstGeom prst="rect">
            <a:avLst/>
          </a:prstGeom>
          <a:noFill/>
          <a:ln/>
        </p:spPr>
        <p:txBody>
          <a:bodyPr wrap="square" lIns="0" tIns="0" rIns="0" bIns="0" rtlCol="0" anchor="t"/>
          <a:lstStyle/>
          <a:p>
            <a:pPr indent="0" marL="0">
              <a:buNone/>
            </a:pPr>
            <a:r>
              <a:rPr lang="en-US" sz="1600" dirty="0">
                <a:solidFill>
                  <a:schemeClr val="tx2"/>
                </a:solidFill>
              </a:rPr>
              <a:t>Unless the contract keeps the shared engineering team, workforce capability falls by 5 points.</a:t>
            </a:r>
            <a:endParaRPr lang="en-US" sz="1600" dirty="0"/>
          </a:p>
        </p:txBody>
      </p:sp>
      <p:sp>
        <p:nvSpPr>
          <p:cNvPr id="9" name="Card"/>
          <p:cNvSpPr/>
          <p:nvPr/>
        </p:nvSpPr>
        <p:spPr>
          <a:xfrm>
            <a:off x="4338218" y="1691640"/>
            <a:ext cx="3515258" cy="3154680"/>
          </a:xfrm>
          <a:prstGeom prst="roundRect">
            <a:avLst>
              <a:gd name="adj" fmla="val 2319"/>
            </a:avLst>
          </a:prstGeom>
          <a:solidFill>
            <a:schemeClr val="bg2"/>
          </a:solidFill>
          <a:ln w="9525">
            <a:solidFill>
              <a:srgbClr val="C4CBD8"/>
            </a:solidFill>
            <a:prstDash val="solid"/>
          </a:ln>
        </p:spPr>
      </p:sp>
      <p:sp>
        <p:nvSpPr>
          <p:cNvPr id="10" name="Card label"/>
          <p:cNvSpPr txBox="1"/>
          <p:nvPr/>
        </p:nvSpPr>
        <p:spPr>
          <a:xfrm>
            <a:off x="4521098"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platform build (digital program)</a:t>
            </a:r>
            <a:endParaRPr lang="en-US" sz="1300" dirty="0"/>
          </a:p>
        </p:txBody>
      </p:sp>
      <p:sp>
        <p:nvSpPr>
          <p:cNvPr id="11" name="Card head"/>
          <p:cNvSpPr txBox="1"/>
          <p:nvPr/>
        </p:nvSpPr>
        <p:spPr>
          <a:xfrm>
            <a:off x="4521098" y="2148840"/>
            <a:ext cx="3149498" cy="1444752"/>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Commits half the liquidity; 0.05 points per $1m</a:t>
            </a:r>
            <a:endParaRPr lang="en-US" sz="2000" dirty="0"/>
          </a:p>
        </p:txBody>
      </p:sp>
      <p:sp>
        <p:nvSpPr>
          <p:cNvPr id="12" name="Card text"/>
          <p:cNvSpPr txBox="1"/>
          <p:nvPr/>
        </p:nvSpPr>
        <p:spPr>
          <a:xfrm>
            <a:off x="4521098" y="3666744"/>
            <a:ext cx="3149498" cy="1051560"/>
          </a:xfrm>
          <a:prstGeom prst="rect">
            <a:avLst/>
          </a:prstGeom>
          <a:noFill/>
          <a:ln/>
        </p:spPr>
        <p:txBody>
          <a:bodyPr wrap="square" lIns="0" tIns="0" rIns="0" bIns="0" rtlCol="0" anchor="t"/>
          <a:lstStyle/>
          <a:p>
            <a:pPr indent="0" marL="0">
              <a:buNone/>
            </a:pPr>
            <a:r>
              <a:rPr lang="en-US" sz="1600" dirty="0">
                <a:solidFill>
                  <a:schemeClr val="tx2"/>
                </a:solidFill>
              </a:rPr>
              <a:t>It can run only if workforce capability is at least 55: its domain.</a:t>
            </a:r>
            <a:endParaRPr lang="en-US" sz="1600" dirty="0"/>
          </a:p>
        </p:txBody>
      </p:sp>
      <p:sp>
        <p:nvSpPr>
          <p:cNvPr id="13" name="Card"/>
          <p:cNvSpPr/>
          <p:nvPr/>
        </p:nvSpPr>
        <p:spPr>
          <a:xfrm>
            <a:off x="8127797" y="1691640"/>
            <a:ext cx="3515258" cy="3154680"/>
          </a:xfrm>
          <a:prstGeom prst="roundRect">
            <a:avLst>
              <a:gd name="adj" fmla="val 2319"/>
            </a:avLst>
          </a:prstGeom>
          <a:solidFill>
            <a:schemeClr val="tx1"/>
          </a:solidFill>
          <a:ln w="9525">
            <a:solidFill>
              <a:srgbClr val="0F1E3D"/>
            </a:solidFill>
            <a:prstDash val="solid"/>
          </a:ln>
        </p:spPr>
      </p:sp>
      <p:sp>
        <p:nvSpPr>
          <p:cNvPr id="14" name="Card label"/>
          <p:cNvSpPr txBox="1"/>
          <p:nvPr/>
        </p:nvSpPr>
        <p:spPr>
          <a:xfrm>
            <a:off x="8310677"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board</a:t>
            </a:r>
            <a:endParaRPr lang="en-US" sz="1300" dirty="0"/>
          </a:p>
        </p:txBody>
      </p:sp>
      <p:sp>
        <p:nvSpPr>
          <p:cNvPr id="15" name="Card head"/>
          <p:cNvSpPr txBox="1"/>
          <p:nvPr/>
        </p:nvSpPr>
        <p:spPr>
          <a:xfrm>
            <a:off x="8310677" y="2148840"/>
            <a:ext cx="3149498" cy="1444752"/>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Which order, and on what terms?</a:t>
            </a:r>
            <a:endParaRPr lang="en-US" sz="2000" dirty="0"/>
          </a:p>
        </p:txBody>
      </p:sp>
      <p:sp>
        <p:nvSpPr>
          <p:cNvPr id="16" name="Card text"/>
          <p:cNvSpPr txBox="1"/>
          <p:nvPr/>
        </p:nvSpPr>
        <p:spPr>
          <a:xfrm>
            <a:off x="8310677" y="3666744"/>
            <a:ext cx="3149498" cy="1051560"/>
          </a:xfrm>
          <a:prstGeom prst="rect">
            <a:avLst/>
          </a:prstGeom>
          <a:noFill/>
          <a:ln/>
        </p:spPr>
        <p:txBody>
          <a:bodyPr wrap="square" lIns="0" tIns="0" rIns="0" bIns="0" rtlCol="0" anchor="t"/>
          <a:lstStyle/>
          <a:p>
            <a:pPr indent="0" marL="0">
              <a:buNone/>
            </a:pPr>
            <a:r>
              <a:rPr lang="en-US" sz="1600" dirty="0">
                <a:solidFill>
                  <a:schemeClr val="bg2"/>
                </a:solidFill>
              </a:rPr>
              <a:t>Today: liquidity $620m, technology platform 41, workforce capability 58.</a:t>
            </a:r>
            <a:endParaRPr lang="en-US" sz="1600" dirty="0"/>
          </a:p>
        </p:txBody>
      </p:sp>
      <p:sp>
        <p:nvSpPr>
          <p:cNvPr id="17" name="Lead"/>
          <p:cNvSpPr txBox="1"/>
          <p:nvPr/>
        </p:nvSpPr>
        <p:spPr>
          <a:xfrm>
            <a:off x="548640" y="512064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Both initiatives are approved in principle; the strategy team must recommend an order.</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3.1 · STEPS 1–4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Check feasibility step by step</a:t>
            </a:r>
            <a:endParaRPr lang="en-US" sz="3200" dirty="0"/>
          </a:p>
        </p:txBody>
      </p:sp>
      <p:sp>
        <p:nvSpPr>
          <p:cNvPr id="5" name="Step card"/>
          <p:cNvSpPr/>
          <p:nvPr/>
        </p:nvSpPr>
        <p:spPr>
          <a:xfrm>
            <a:off x="548640" y="1691640"/>
            <a:ext cx="5410048" cy="2103120"/>
          </a:xfrm>
          <a:prstGeom prst="roundRect">
            <a:avLst>
              <a:gd name="adj" fmla="val 3478"/>
            </a:avLst>
          </a:prstGeom>
          <a:solidFill>
            <a:schemeClr val="bg2"/>
          </a:solidFill>
          <a:ln w="9525">
            <a:solidFill>
              <a:srgbClr val="C4CBD8"/>
            </a:solidFill>
            <a:prstDash val="solid"/>
          </a:ln>
        </p:spPr>
      </p:sp>
      <p:sp>
        <p:nvSpPr>
          <p:cNvPr id="6" name="Number"/>
          <p:cNvSpPr/>
          <p:nvPr/>
        </p:nvSpPr>
        <p:spPr>
          <a:xfrm>
            <a:off x="731520" y="1874520"/>
            <a:ext cx="457200" cy="457200"/>
          </a:xfrm>
          <a:prstGeom prst="ellipse">
            <a:avLst/>
          </a:prstGeom>
          <a:solidFill>
            <a:schemeClr val="accent1"/>
          </a:solidFill>
          <a:ln w="6350">
            <a:solidFill>
              <a:schemeClr val="accent1"/>
            </a:solidFill>
            <a:prstDash val="solid"/>
          </a:ln>
        </p:spPr>
      </p:sp>
      <p:sp>
        <p:nvSpPr>
          <p:cNvPr id="7" name="Text 4"/>
          <p:cNvSpPr txBox="1"/>
          <p:nvPr/>
        </p:nvSpPr>
        <p:spPr>
          <a:xfrm>
            <a:off x="731520" y="1874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8" name="Step head"/>
          <p:cNvSpPr txBox="1"/>
          <p:nvPr/>
        </p:nvSpPr>
        <p:spPr>
          <a:xfrm>
            <a:off x="1325880" y="1856232"/>
            <a:ext cx="449564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Appraise each initiative alone</a:t>
            </a:r>
            <a:endParaRPr lang="en-US" sz="1700" dirty="0"/>
          </a:p>
        </p:txBody>
      </p:sp>
      <p:sp>
        <p:nvSpPr>
          <p:cNvPr id="9" name="Step text"/>
          <p:cNvSpPr txBox="1"/>
          <p:nvPr/>
        </p:nvSpPr>
        <p:spPr>
          <a:xfrm>
            <a:off x="731520" y="2468880"/>
            <a:ext cx="5044288" cy="1234440"/>
          </a:xfrm>
          <a:prstGeom prst="rect">
            <a:avLst/>
          </a:prstGeom>
          <a:noFill/>
          <a:ln/>
        </p:spPr>
        <p:txBody>
          <a:bodyPr wrap="square" lIns="0" tIns="0" rIns="0" bIns="0" rtlCol="0" anchor="t"/>
          <a:lstStyle/>
          <a:p>
            <a:pPr indent="0" marL="0">
              <a:buNone/>
            </a:pPr>
            <a:r>
              <a:rPr lang="en-US" sz="1700" dirty="0">
                <a:solidFill>
                  <a:schemeClr val="tx1"/>
                </a:solidFill>
              </a:rPr>
              <a:t>The sale alone brings in $112m and costs 4.1 technology and 5 workforce points; the build alone spends $310m and adds 15.5. Added up, a “bag of initiatives” predicts </a:t>
            </a:r>
            <a:r>
              <a:rPr lang="en-US" sz="1700" b="1" dirty="0">
                <a:solidFill>
                  <a:schemeClr val="tx1"/>
                </a:solidFill>
              </a:rPr>
              <a:t>$422m, 52.4, 53</a:t>
            </a:r>
            <a:r>
              <a:rPr lang="en-US" sz="1700" dirty="0">
                <a:solidFill>
                  <a:schemeClr val="tx1"/>
                </a:solidFill>
              </a:rPr>
              <a:t>.</a:t>
            </a:r>
            <a:endParaRPr lang="en-US" sz="1700" dirty="0"/>
          </a:p>
        </p:txBody>
      </p:sp>
      <p:sp>
        <p:nvSpPr>
          <p:cNvPr id="10" name="Step card"/>
          <p:cNvSpPr/>
          <p:nvPr/>
        </p:nvSpPr>
        <p:spPr>
          <a:xfrm>
            <a:off x="6233008" y="1691640"/>
            <a:ext cx="5410048" cy="2103120"/>
          </a:xfrm>
          <a:prstGeom prst="roundRect">
            <a:avLst>
              <a:gd name="adj" fmla="val 3478"/>
            </a:avLst>
          </a:prstGeom>
          <a:solidFill>
            <a:schemeClr val="bg2"/>
          </a:solidFill>
          <a:ln w="9525">
            <a:solidFill>
              <a:srgbClr val="C4CBD8"/>
            </a:solidFill>
            <a:prstDash val="solid"/>
          </a:ln>
        </p:spPr>
      </p:sp>
      <p:sp>
        <p:nvSpPr>
          <p:cNvPr id="11" name="Number"/>
          <p:cNvSpPr/>
          <p:nvPr/>
        </p:nvSpPr>
        <p:spPr>
          <a:xfrm>
            <a:off x="6415888" y="1874520"/>
            <a:ext cx="457200" cy="457200"/>
          </a:xfrm>
          <a:prstGeom prst="ellipse">
            <a:avLst/>
          </a:prstGeom>
          <a:solidFill>
            <a:schemeClr val="accent1"/>
          </a:solidFill>
          <a:ln w="6350">
            <a:solidFill>
              <a:schemeClr val="accent1"/>
            </a:solidFill>
            <a:prstDash val="solid"/>
          </a:ln>
        </p:spPr>
      </p:sp>
      <p:sp>
        <p:nvSpPr>
          <p:cNvPr id="12" name="Text 9"/>
          <p:cNvSpPr txBox="1"/>
          <p:nvPr/>
        </p:nvSpPr>
        <p:spPr>
          <a:xfrm>
            <a:off x="6415888" y="1874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3" name="Step head"/>
          <p:cNvSpPr txBox="1"/>
          <p:nvPr/>
        </p:nvSpPr>
        <p:spPr>
          <a:xfrm>
            <a:off x="7010248" y="1856232"/>
            <a:ext cx="449564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Restructure, then digital</a:t>
            </a:r>
            <a:endParaRPr lang="en-US" sz="1700" dirty="0"/>
          </a:p>
        </p:txBody>
      </p:sp>
      <p:sp>
        <p:nvSpPr>
          <p:cNvPr id="14" name="Step text"/>
          <p:cNvSpPr txBox="1"/>
          <p:nvPr/>
        </p:nvSpPr>
        <p:spPr>
          <a:xfrm>
            <a:off x="6415888" y="2468880"/>
            <a:ext cx="5044288" cy="1234440"/>
          </a:xfrm>
          <a:prstGeom prst="rect">
            <a:avLst/>
          </a:prstGeom>
          <a:noFill/>
          <a:ln/>
        </p:spPr>
        <p:txBody>
          <a:bodyPr wrap="square" lIns="0" tIns="0" rIns="0" bIns="0" rtlCol="0" anchor="t"/>
          <a:lstStyle/>
          <a:p>
            <a:pPr indent="0" marL="0">
              <a:buNone/>
            </a:pPr>
            <a:r>
              <a:rPr lang="en-US" sz="1700" dirty="0">
                <a:solidFill>
                  <a:schemeClr val="tx1"/>
                </a:solidFill>
              </a:rPr>
              <a:t>After the sale: $732m, 36.9, workforce 53. Below 55 the digital program cannot start: the sequence is </a:t>
            </a:r>
            <a:r>
              <a:rPr lang="en-US" sz="1700" b="1" dirty="0">
                <a:solidFill>
                  <a:schemeClr val="tx1"/>
                </a:solidFill>
              </a:rPr>
              <a:t>infeasible as designed</a:t>
            </a:r>
            <a:r>
              <a:rPr lang="en-US" sz="1700" dirty="0">
                <a:solidFill>
                  <a:schemeClr val="tx1"/>
                </a:solidFill>
              </a:rPr>
              <a:t> (Proposition 3.1).</a:t>
            </a:r>
            <a:endParaRPr lang="en-US" sz="1700" dirty="0"/>
          </a:p>
        </p:txBody>
      </p:sp>
      <p:sp>
        <p:nvSpPr>
          <p:cNvPr id="15" name="Step card"/>
          <p:cNvSpPr/>
          <p:nvPr/>
        </p:nvSpPr>
        <p:spPr>
          <a:xfrm>
            <a:off x="548640" y="4069080"/>
            <a:ext cx="5410048" cy="2103120"/>
          </a:xfrm>
          <a:prstGeom prst="roundRect">
            <a:avLst>
              <a:gd name="adj" fmla="val 3478"/>
            </a:avLst>
          </a:prstGeom>
          <a:solidFill>
            <a:schemeClr val="bg2"/>
          </a:solidFill>
          <a:ln w="9525">
            <a:solidFill>
              <a:srgbClr val="C4CBD8"/>
            </a:solidFill>
            <a:prstDash val="solid"/>
          </a:ln>
        </p:spPr>
      </p:sp>
      <p:sp>
        <p:nvSpPr>
          <p:cNvPr id="16" name="Number"/>
          <p:cNvSpPr/>
          <p:nvPr/>
        </p:nvSpPr>
        <p:spPr>
          <a:xfrm>
            <a:off x="731520" y="4251960"/>
            <a:ext cx="457200" cy="457200"/>
          </a:xfrm>
          <a:prstGeom prst="ellipse">
            <a:avLst/>
          </a:prstGeom>
          <a:solidFill>
            <a:schemeClr val="accent1"/>
          </a:solidFill>
          <a:ln w="6350">
            <a:solidFill>
              <a:schemeClr val="accent1"/>
            </a:solidFill>
            <a:prstDash val="solid"/>
          </a:ln>
        </p:spPr>
      </p:sp>
      <p:sp>
        <p:nvSpPr>
          <p:cNvPr id="17" name="Text 14"/>
          <p:cNvSpPr txBox="1"/>
          <p:nvPr/>
        </p:nvSpPr>
        <p:spPr>
          <a:xfrm>
            <a:off x="731520" y="42519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8" name="Step head"/>
          <p:cNvSpPr txBox="1"/>
          <p:nvPr/>
        </p:nvSpPr>
        <p:spPr>
          <a:xfrm>
            <a:off x="1325880" y="4233672"/>
            <a:ext cx="449564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Digital, then restructure</a:t>
            </a:r>
            <a:endParaRPr lang="en-US" sz="1700" dirty="0"/>
          </a:p>
        </p:txBody>
      </p:sp>
      <p:sp>
        <p:nvSpPr>
          <p:cNvPr id="19" name="Step text"/>
          <p:cNvSpPr txBox="1"/>
          <p:nvPr/>
        </p:nvSpPr>
        <p:spPr>
          <a:xfrm>
            <a:off x="731520" y="4846320"/>
            <a:ext cx="5044288" cy="1234440"/>
          </a:xfrm>
          <a:prstGeom prst="rect">
            <a:avLst/>
          </a:prstGeom>
          <a:noFill/>
          <a:ln/>
        </p:spPr>
        <p:txBody>
          <a:bodyPr wrap="square" lIns="0" tIns="0" rIns="0" bIns="0" rtlCol="0" anchor="t"/>
          <a:lstStyle/>
          <a:p>
            <a:pPr indent="0" marL="0">
              <a:buNone/>
            </a:pPr>
            <a:r>
              <a:rPr lang="en-US" sz="1700" dirty="0">
                <a:solidFill>
                  <a:schemeClr val="tx1"/>
                </a:solidFill>
              </a:rPr>
              <a:t>The build invests $310m, leaving $310m and a platform of 41 + 0.05 × 310 = 56.5. The sale then takes 10% of the new platform: </a:t>
            </a:r>
            <a:r>
              <a:rPr lang="en-US" sz="1700" b="1" dirty="0">
                <a:solidFill>
                  <a:schemeClr val="tx1"/>
                </a:solidFill>
              </a:rPr>
              <a:t>$422m, 50.9, 53</a:t>
            </a:r>
            <a:r>
              <a:rPr lang="en-US" sz="1700" dirty="0">
                <a:solidFill>
                  <a:schemeClr val="tx1"/>
                </a:solidFill>
              </a:rPr>
              <a:t>.</a:t>
            </a:r>
            <a:endParaRPr lang="en-US" sz="1700" dirty="0"/>
          </a:p>
        </p:txBody>
      </p:sp>
      <p:sp>
        <p:nvSpPr>
          <p:cNvPr id="20" name="Step card"/>
          <p:cNvSpPr/>
          <p:nvPr/>
        </p:nvSpPr>
        <p:spPr>
          <a:xfrm>
            <a:off x="6233008" y="4069080"/>
            <a:ext cx="5410048" cy="2103120"/>
          </a:xfrm>
          <a:prstGeom prst="roundRect">
            <a:avLst>
              <a:gd name="adj" fmla="val 3478"/>
            </a:avLst>
          </a:prstGeom>
          <a:solidFill>
            <a:schemeClr val="bg2"/>
          </a:solidFill>
          <a:ln w="9525">
            <a:solidFill>
              <a:srgbClr val="C4CBD8"/>
            </a:solidFill>
            <a:prstDash val="solid"/>
          </a:ln>
        </p:spPr>
      </p:sp>
      <p:sp>
        <p:nvSpPr>
          <p:cNvPr id="21" name="Number"/>
          <p:cNvSpPr/>
          <p:nvPr/>
        </p:nvSpPr>
        <p:spPr>
          <a:xfrm>
            <a:off x="6415888" y="4251960"/>
            <a:ext cx="457200" cy="457200"/>
          </a:xfrm>
          <a:prstGeom prst="ellipse">
            <a:avLst/>
          </a:prstGeom>
          <a:solidFill>
            <a:schemeClr val="accent1"/>
          </a:solidFill>
          <a:ln w="6350">
            <a:solidFill>
              <a:schemeClr val="accent1"/>
            </a:solidFill>
            <a:prstDash val="solid"/>
          </a:ln>
        </p:spPr>
      </p:sp>
      <p:sp>
        <p:nvSpPr>
          <p:cNvPr id="22" name="Text 19"/>
          <p:cNvSpPr txBox="1"/>
          <p:nvPr/>
        </p:nvSpPr>
        <p:spPr>
          <a:xfrm>
            <a:off x="6415888" y="42519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23" name="Step head"/>
          <p:cNvSpPr txBox="1"/>
          <p:nvPr/>
        </p:nvSpPr>
        <p:spPr>
          <a:xfrm>
            <a:off x="7010248" y="4233672"/>
            <a:ext cx="449564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Redesign the deal</a:t>
            </a:r>
            <a:endParaRPr lang="en-US" sz="1700" dirty="0"/>
          </a:p>
        </p:txBody>
      </p:sp>
      <p:sp>
        <p:nvSpPr>
          <p:cNvPr id="24" name="Step text"/>
          <p:cNvSpPr txBox="1"/>
          <p:nvPr/>
        </p:nvSpPr>
        <p:spPr>
          <a:xfrm>
            <a:off x="6415888" y="4846320"/>
            <a:ext cx="5044288" cy="1234440"/>
          </a:xfrm>
          <a:prstGeom prst="rect">
            <a:avLst/>
          </a:prstGeom>
          <a:noFill/>
          <a:ln/>
        </p:spPr>
        <p:txBody>
          <a:bodyPr wrap="square" lIns="0" tIns="0" rIns="0" bIns="0" rtlCol="0" anchor="t"/>
          <a:lstStyle/>
          <a:p>
            <a:pPr indent="0" marL="0">
              <a:buNone/>
            </a:pPr>
            <a:r>
              <a:rPr lang="en-US" sz="1700" dirty="0">
                <a:solidFill>
                  <a:schemeClr val="tx1"/>
                </a:solidFill>
              </a:rPr>
              <a:t>Keep the engineers for $20m of proceeds: $712m, 36.9, 58. The build then invests $356m: </a:t>
            </a:r>
            <a:r>
              <a:rPr lang="en-US" sz="1700" b="1" dirty="0">
                <a:solidFill>
                  <a:schemeClr val="tx1"/>
                </a:solidFill>
              </a:rPr>
              <a:t>$356m, 54.7, 58</a:t>
            </a:r>
            <a:r>
              <a:rPr lang="en-US" sz="1700" dirty="0">
                <a:solidFill>
                  <a:schemeClr val="tx1"/>
                </a:solidFill>
              </a:rPr>
              <a:t>.</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3.1 · TABLE 3.4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Two feasible orders, two companies</a:t>
            </a:r>
            <a:endParaRPr lang="en-US" sz="32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5868120"/>
                <a:gridCol w="1742098"/>
                <a:gridCol w="1742098"/>
                <a:gridCol w="1742098"/>
              </a:tblGrid>
              <a:tr h="502920">
                <a:tc>
                  <a:txBody>
                    <a:bodyPr/>
                    <a:lstStyle/>
                    <a:p>
                      <a:pPr algn="l" indent="0" marL="0">
                        <a:buNone/>
                      </a:pP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700" b="1" dirty="0">
                          <a:solidFill>
                            <a:srgbClr val="FFFFFF"/>
                          </a:solidFill>
                          <a:latin typeface="Calibri" pitchFamily="34" charset="0"/>
                          <a:ea typeface="Calibri" pitchFamily="34" charset="-122"/>
                          <a:cs typeface="Calibri" pitchFamily="34" charset="-120"/>
                        </a:rPr>
                        <a:t>Liquidity</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700" b="1" dirty="0">
                          <a:solidFill>
                            <a:srgbClr val="FFFFFF"/>
                          </a:solidFill>
                          <a:latin typeface="Calibri" pitchFamily="34" charset="0"/>
                          <a:ea typeface="Calibri" pitchFamily="34" charset="-122"/>
                          <a:cs typeface="Calibri" pitchFamily="34" charset="-120"/>
                        </a:rPr>
                        <a:t>Technology</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700" b="1" dirty="0">
                          <a:solidFill>
                            <a:srgbClr val="FFFFFF"/>
                          </a:solidFill>
                          <a:latin typeface="Calibri" pitchFamily="34" charset="0"/>
                          <a:ea typeface="Calibri" pitchFamily="34" charset="-122"/>
                          <a:cs typeface="Calibri" pitchFamily="34" charset="-120"/>
                        </a:rPr>
                        <a:t>Workforce</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502920">
                <a:tc>
                  <a:txBody>
                    <a:bodyPr/>
                    <a:lstStyle/>
                    <a:p>
                      <a:pPr algn="l" indent="0" marL="0">
                        <a:buNone/>
                      </a:pPr>
                      <a:r>
                        <a:rPr lang="en-US" sz="1700" dirty="0">
                          <a:solidFill>
                            <a:srgbClr val="0F1E3D"/>
                          </a:solidFill>
                          <a:latin typeface="Calibri" pitchFamily="34" charset="0"/>
                          <a:ea typeface="Calibri" pitchFamily="34" charset="-122"/>
                          <a:cs typeface="Calibri" pitchFamily="34" charset="-120"/>
                        </a:rPr>
                        <a:t>Today</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700" dirty="0">
                          <a:solidFill>
                            <a:srgbClr val="0F1E3D"/>
                          </a:solidFill>
                          <a:latin typeface="Calibri" pitchFamily="34" charset="0"/>
                          <a:ea typeface="Calibri" pitchFamily="34" charset="-122"/>
                          <a:cs typeface="Calibri" pitchFamily="34" charset="-120"/>
                        </a:rPr>
                        <a:t>620</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700" dirty="0">
                          <a:solidFill>
                            <a:srgbClr val="0F1E3D"/>
                          </a:solidFill>
                          <a:latin typeface="Calibri" pitchFamily="34" charset="0"/>
                          <a:ea typeface="Calibri" pitchFamily="34" charset="-122"/>
                          <a:cs typeface="Calibri" pitchFamily="34" charset="-120"/>
                        </a:rPr>
                        <a:t>41.0</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700" dirty="0">
                          <a:solidFill>
                            <a:srgbClr val="0F1E3D"/>
                          </a:solidFill>
                          <a:latin typeface="Calibri" pitchFamily="34" charset="0"/>
                          <a:ea typeface="Calibri" pitchFamily="34" charset="-122"/>
                          <a:cs typeface="Calibri" pitchFamily="34" charset="-120"/>
                        </a:rPr>
                        <a:t>58</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02920">
                <a:tc>
                  <a:txBody>
                    <a:bodyPr/>
                    <a:lstStyle/>
                    <a:p>
                      <a:pPr algn="l" indent="0" marL="0">
                        <a:buNone/>
                      </a:pPr>
                      <a:r>
                        <a:rPr lang="en-US" sz="1700" dirty="0">
                          <a:solidFill>
                            <a:srgbClr val="0F1E3D"/>
                          </a:solidFill>
                          <a:latin typeface="Calibri" pitchFamily="34" charset="0"/>
                          <a:ea typeface="Calibri" pitchFamily="34" charset="-122"/>
                          <a:cs typeface="Calibri" pitchFamily="34" charset="-120"/>
                        </a:rPr>
                        <a:t>Bag of initiatives (each appraised alone, then added)</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700" dirty="0">
                          <a:solidFill>
                            <a:srgbClr val="0F1E3D"/>
                          </a:solidFill>
                          <a:latin typeface="Calibri" pitchFamily="34" charset="0"/>
                          <a:ea typeface="Calibri" pitchFamily="34" charset="-122"/>
                          <a:cs typeface="Calibri" pitchFamily="34" charset="-120"/>
                        </a:rPr>
                        <a:t>422</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700" dirty="0">
                          <a:solidFill>
                            <a:srgbClr val="0F1E3D"/>
                          </a:solidFill>
                          <a:latin typeface="Calibri" pitchFamily="34" charset="0"/>
                          <a:ea typeface="Calibri" pitchFamily="34" charset="-122"/>
                          <a:cs typeface="Calibri" pitchFamily="34" charset="-120"/>
                        </a:rPr>
                        <a:t>52.4</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700" dirty="0">
                          <a:solidFill>
                            <a:srgbClr val="0F1E3D"/>
                          </a:solidFill>
                          <a:latin typeface="Calibri" pitchFamily="34" charset="0"/>
                          <a:ea typeface="Calibri" pitchFamily="34" charset="-122"/>
                          <a:cs typeface="Calibri" pitchFamily="34" charset="-120"/>
                        </a:rPr>
                        <a:t>53</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02920">
                <a:tc>
                  <a:txBody>
                    <a:bodyPr/>
                    <a:lstStyle/>
                    <a:p>
                      <a:pPr algn="l" indent="0" marL="0">
                        <a:buNone/>
                      </a:pPr>
                      <a:r>
                        <a:rPr lang="en-US" sz="1700" dirty="0">
                          <a:solidFill>
                            <a:srgbClr val="0F1E3D"/>
                          </a:solidFill>
                          <a:latin typeface="Calibri" pitchFamily="34" charset="0"/>
                          <a:ea typeface="Calibri" pitchFamily="34" charset="-122"/>
                          <a:cs typeface="Calibri" pitchFamily="34" charset="-120"/>
                        </a:rPr>
                        <a:t>Restructure, then digital (as designed)</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700" dirty="0">
                          <a:solidFill>
                            <a:srgbClr val="0F1E3D"/>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700" dirty="0">
                          <a:solidFill>
                            <a:srgbClr val="0F1E3D"/>
                          </a:solidFill>
                          <a:latin typeface="Calibri" pitchFamily="34" charset="0"/>
                          <a:ea typeface="Calibri" pitchFamily="34" charset="-122"/>
                          <a:cs typeface="Calibri" pitchFamily="34" charset="-120"/>
                        </a:rPr>
                        <a:t>infeasible</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700" dirty="0">
                          <a:solidFill>
                            <a:srgbClr val="0F1E3D"/>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02920">
                <a:tc>
                  <a:txBody>
                    <a:bodyPr/>
                    <a:lstStyle/>
                    <a:p>
                      <a:pPr algn="l" indent="0" marL="0">
                        <a:buNone/>
                      </a:pPr>
                      <a:r>
                        <a:rPr lang="en-US" sz="1700" b="1" dirty="0">
                          <a:solidFill>
                            <a:srgbClr val="0F1E3D"/>
                          </a:solidFill>
                          <a:latin typeface="Calibri" pitchFamily="34" charset="0"/>
                          <a:ea typeface="Calibri" pitchFamily="34" charset="-122"/>
                          <a:cs typeface="Calibri" pitchFamily="34" charset="-120"/>
                        </a:rPr>
                        <a:t>Digital, then restructure</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700" dirty="0">
                          <a:solidFill>
                            <a:srgbClr val="0F1E3D"/>
                          </a:solidFill>
                          <a:latin typeface="Calibri" pitchFamily="34" charset="0"/>
                          <a:ea typeface="Calibri" pitchFamily="34" charset="-122"/>
                          <a:cs typeface="Calibri" pitchFamily="34" charset="-120"/>
                        </a:rPr>
                        <a:t>422</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700" dirty="0">
                          <a:solidFill>
                            <a:srgbClr val="0F1E3D"/>
                          </a:solidFill>
                          <a:latin typeface="Calibri" pitchFamily="34" charset="0"/>
                          <a:ea typeface="Calibri" pitchFamily="34" charset="-122"/>
                          <a:cs typeface="Calibri" pitchFamily="34" charset="-120"/>
                        </a:rPr>
                        <a:t>50.9</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700" dirty="0">
                          <a:solidFill>
                            <a:srgbClr val="0F1E3D"/>
                          </a:solidFill>
                          <a:latin typeface="Calibri" pitchFamily="34" charset="0"/>
                          <a:ea typeface="Calibri" pitchFamily="34" charset="-122"/>
                          <a:cs typeface="Calibri" pitchFamily="34" charset="-120"/>
                        </a:rPr>
                        <a:t>53</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r h="502920">
                <a:tc>
                  <a:txBody>
                    <a:bodyPr/>
                    <a:lstStyle/>
                    <a:p>
                      <a:pPr algn="l" indent="0" marL="0">
                        <a:buNone/>
                      </a:pPr>
                      <a:r>
                        <a:rPr lang="en-US" sz="1700" b="1" dirty="0">
                          <a:solidFill>
                            <a:srgbClr val="0F1E3D"/>
                          </a:solidFill>
                          <a:latin typeface="Calibri" pitchFamily="34" charset="0"/>
                          <a:ea typeface="Calibri" pitchFamily="34" charset="-122"/>
                          <a:cs typeface="Calibri" pitchFamily="34" charset="-120"/>
                        </a:rPr>
                        <a:t>Restructure (engineers kept), then digital</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700" dirty="0">
                          <a:solidFill>
                            <a:srgbClr val="0F1E3D"/>
                          </a:solidFill>
                          <a:latin typeface="Calibri" pitchFamily="34" charset="0"/>
                          <a:ea typeface="Calibri" pitchFamily="34" charset="-122"/>
                          <a:cs typeface="Calibri" pitchFamily="34" charset="-120"/>
                        </a:rPr>
                        <a:t>356</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700" dirty="0">
                          <a:solidFill>
                            <a:srgbClr val="0F1E3D"/>
                          </a:solidFill>
                          <a:latin typeface="Calibri" pitchFamily="34" charset="0"/>
                          <a:ea typeface="Calibri" pitchFamily="34" charset="-122"/>
                          <a:cs typeface="Calibri" pitchFamily="34" charset="-120"/>
                        </a:rPr>
                        <a:t>54.7</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700" dirty="0">
                          <a:solidFill>
                            <a:srgbClr val="0F1E3D"/>
                          </a:solidFill>
                          <a:latin typeface="Calibri" pitchFamily="34" charset="0"/>
                          <a:ea typeface="Calibri" pitchFamily="34" charset="-122"/>
                          <a:cs typeface="Calibri" pitchFamily="34" charset="-120"/>
                        </a:rPr>
                        <a:t>58</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bl>
          </a:graphicData>
        </a:graphic>
      </p:graphicFrame>
      <p:sp>
        <p:nvSpPr>
          <p:cNvPr id="6" name="Table note"/>
          <p:cNvSpPr txBox="1"/>
          <p:nvPr/>
        </p:nvSpPr>
        <p:spPr>
          <a:xfrm>
            <a:off x="548640" y="489204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Table 3.4. Meridian after the two initiatives, depending on the order (liquidity in $ million; indices 0–100).</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Digital-first ends with $66m more cash; restructure-first, engineers kept, with a stronger platform and workforce.</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3.1 · WHAT THE BOARD SHOULD TAKE AWAY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Fix the order and the terms before signing</a:t>
            </a:r>
            <a:endParaRPr lang="en-US" sz="3200" dirty="0"/>
          </a:p>
        </p:txBody>
      </p:sp>
      <p:sp>
        <p:nvSpPr>
          <p:cNvPr id="5" name="Stat card"/>
          <p:cNvSpPr/>
          <p:nvPr/>
        </p:nvSpPr>
        <p:spPr>
          <a:xfrm>
            <a:off x="548640" y="1691640"/>
            <a:ext cx="3515258" cy="1828800"/>
          </a:xfrm>
          <a:prstGeom prst="roundRect">
            <a:avLst>
              <a:gd name="adj" fmla="val 4000"/>
            </a:avLst>
          </a:prstGeom>
          <a:solidFill>
            <a:schemeClr val="tx1"/>
          </a:solidFill>
          <a:ln w="9525">
            <a:solidFill>
              <a:srgbClr val="0F1E3D"/>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$66m</a:t>
            </a:r>
            <a:endParaRPr lang="en-US" sz="4400" dirty="0"/>
          </a:p>
        </p:txBody>
      </p:sp>
      <p:sp>
        <p:nvSpPr>
          <p:cNvPr id="7" name="Stat label"/>
          <p:cNvSpPr txBox="1"/>
          <p:nvPr/>
        </p:nvSpPr>
        <p:spPr>
          <a:xfrm>
            <a:off x="685800" y="2697480"/>
            <a:ext cx="3240938" cy="749808"/>
          </a:xfrm>
          <a:prstGeom prst="rect">
            <a:avLst/>
          </a:prstGeom>
          <a:noFill/>
          <a:ln/>
        </p:spPr>
        <p:txBody>
          <a:bodyPr wrap="square" lIns="0" tIns="0" rIns="0" bIns="0" rtlCol="0" anchor="t"/>
          <a:lstStyle/>
          <a:p>
            <a:pPr algn="ctr" indent="0" marL="0">
              <a:buNone/>
            </a:pPr>
            <a:r>
              <a:rPr lang="en-US" sz="1400" dirty="0">
                <a:solidFill>
                  <a:schemeClr val="bg2"/>
                </a:solidFill>
              </a:rPr>
              <a:t>more cash if the digital program goes first</a:t>
            </a:r>
            <a:endParaRPr lang="en-US" sz="1400" dirty="0"/>
          </a:p>
        </p:txBody>
      </p:sp>
      <p:sp>
        <p:nvSpPr>
          <p:cNvPr id="8" name="Stat card"/>
          <p:cNvSpPr/>
          <p:nvPr/>
        </p:nvSpPr>
        <p:spPr>
          <a:xfrm>
            <a:off x="4338218" y="1691640"/>
            <a:ext cx="3515258" cy="1828800"/>
          </a:xfrm>
          <a:prstGeom prst="roundRect">
            <a:avLst>
              <a:gd name="adj" fmla="val 4000"/>
            </a:avLst>
          </a:prstGeom>
          <a:solidFill>
            <a:schemeClr val="bg2"/>
          </a:solidFill>
          <a:ln w="9525">
            <a:solidFill>
              <a:srgbClr val="C4CBD8"/>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3600" b="1" dirty="0">
                <a:solidFill>
                  <a:schemeClr val="tx1"/>
                </a:solidFill>
                <a:latin typeface="Cambria" pitchFamily="34" charset="0"/>
                <a:ea typeface="Cambria" pitchFamily="34" charset="-122"/>
                <a:cs typeface="Cambria" pitchFamily="34" charset="-120"/>
              </a:rPr>
              <a:t>54.7 vs 50.9</a:t>
            </a:r>
            <a:endParaRPr lang="en-US" sz="3600" dirty="0"/>
          </a:p>
        </p:txBody>
      </p:sp>
      <p:sp>
        <p:nvSpPr>
          <p:cNvPr id="10" name="Stat label"/>
          <p:cNvSpPr txBox="1"/>
          <p:nvPr/>
        </p:nvSpPr>
        <p:spPr>
          <a:xfrm>
            <a:off x="4475378"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platform strength if the sale goes first, with the engineers kept</a:t>
            </a:r>
            <a:endParaRPr lang="en-US" sz="1400" dirty="0"/>
          </a:p>
        </p:txBody>
      </p:sp>
      <p:sp>
        <p:nvSpPr>
          <p:cNvPr id="11" name="Stat card"/>
          <p:cNvSpPr/>
          <p:nvPr/>
        </p:nvSpPr>
        <p:spPr>
          <a:xfrm>
            <a:off x="8127797" y="1691640"/>
            <a:ext cx="3515258" cy="1828800"/>
          </a:xfrm>
          <a:prstGeom prst="roundRect">
            <a:avLst>
              <a:gd name="adj" fmla="val 4000"/>
            </a:avLst>
          </a:prstGeom>
          <a:solidFill>
            <a:schemeClr val="bg2"/>
          </a:solidFill>
          <a:ln w="9525">
            <a:solidFill>
              <a:srgbClr val="C4CBD8"/>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3600" b="1" dirty="0">
                <a:solidFill>
                  <a:schemeClr val="tx1"/>
                </a:solidFill>
                <a:latin typeface="Cambria" pitchFamily="34" charset="0"/>
                <a:ea typeface="Cambria" pitchFamily="34" charset="-122"/>
                <a:cs typeface="Cambria" pitchFamily="34" charset="-120"/>
              </a:rPr>
              <a:t>58 vs 53</a:t>
            </a:r>
            <a:endParaRPr lang="en-US" sz="3600" dirty="0"/>
          </a:p>
        </p:txBody>
      </p:sp>
      <p:sp>
        <p:nvSpPr>
          <p:cNvPr id="13" name="Stat label"/>
          <p:cNvSpPr txBox="1"/>
          <p:nvPr/>
        </p:nvSpPr>
        <p:spPr>
          <a:xfrm>
            <a:off x="8264957"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workforce capability: the retention clause decides whether the build can follow the sale</a:t>
            </a:r>
            <a:endParaRPr lang="en-US" sz="1400" dirty="0"/>
          </a:p>
        </p:txBody>
      </p:sp>
      <p:sp>
        <p:nvSpPr>
          <p:cNvPr id="14" name="Bullets"/>
          <p:cNvSpPr txBox="1"/>
          <p:nvPr/>
        </p:nvSpPr>
        <p:spPr>
          <a:xfrm>
            <a:off x="548640" y="3840480"/>
            <a:ext cx="11094415" cy="2331720"/>
          </a:xfrm>
          <a:prstGeom prst="rect">
            <a:avLst/>
          </a:prstGeom>
          <a:noFill/>
          <a:ln/>
        </p:spPr>
        <p:txBody>
          <a:bodyPr wrap="square" lIns="635" tIns="635" rIns="635" bIns="635" rtlCol="0" anchor="t"/>
          <a:lstStyle/>
          <a:p>
            <a:pPr marL="228600" indent="-228600">
              <a:spcAft>
                <a:spcPts val="800"/>
              </a:spcAft>
              <a:buSzPct val="100000"/>
              <a:buChar char="•"/>
            </a:pPr>
            <a:r>
              <a:rPr lang="en-US" sz="1700" dirty="0">
                <a:solidFill>
                  <a:schemeClr val="tx1"/>
                </a:solidFill>
              </a:rPr>
              <a:t>Feasibility is checked step by step, not initiative by initiative; the same initiatives in a different order deliver a different company</a:t>
            </a:r>
            <a:endParaRPr lang="en-US" sz="1700" dirty="0"/>
          </a:p>
          <a:p>
            <a:pPr marL="228600" indent="-228600">
              <a:spcAft>
                <a:spcPts val="800"/>
              </a:spcAft>
              <a:buSzPct val="100000"/>
              <a:buChar char="•"/>
            </a:pPr>
            <a:r>
              <a:rPr lang="en-US" sz="1700" b="1" dirty="0">
                <a:solidFill>
                  <a:schemeClr val="tx1"/>
                </a:solidFill>
              </a:rPr>
              <a:t>Step 6.</a:t>
            </a:r>
            <a:r>
              <a:rPr lang="en-US" sz="1700" dirty="0">
                <a:solidFill>
                  <a:schemeClr val="tx1"/>
                </a:solidFill>
              </a:rPr>
              <a:t> The sale cannot be undone (Theorem 3.2(i)): fix the order and the retention clause before signing</a:t>
            </a:r>
            <a:endParaRPr lang="en-US" sz="1700" dirty="0"/>
          </a:p>
          <a:p>
            <a:pPr marL="228600" indent="-228600">
              <a:spcAft>
                <a:spcPts val="800"/>
              </a:spcAft>
              <a:buSzPct val="100000"/>
              <a:buChar char="•"/>
            </a:pPr>
            <a:r>
              <a:rPr lang="en-US" sz="1700" dirty="0">
                <a:solidFill>
                  <a:schemeClr val="tx1"/>
                </a:solidFill>
              </a:rPr>
              <a:t>For discussion: what would have to be true about the value of cash against platform strength for your recommendation to change?</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AXIOM LAB 1.3 · MODULE AXIOM-03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Measuring Meridian, in AXIOM</a:t>
            </a:r>
            <a:endParaRPr lang="en-US" sz="3200" dirty="0"/>
          </a:p>
        </p:txBody>
      </p:sp>
      <p:pic>
        <p:nvPicPr>
          <p:cNvPr id="5" name="AXIOM logo" descr="AXIOM">    </p:cNvPr>
          <p:cNvPicPr>
            <a:picLocks noChangeAspect="1"/>
          </p:cNvPicPr>
          <p:nvPr/>
        </p:nvPicPr>
        <p:blipFill>
          <a:blip r:embed="rId1"/>
          <a:stretch>
            <a:fillRect/>
          </a:stretch>
        </p:blipFill>
        <p:spPr>
          <a:xfrm>
            <a:off x="9539935" y="310896"/>
            <a:ext cx="2103120" cy="420624"/>
          </a:xfrm>
          <a:prstGeom prst="rect">
            <a:avLst/>
          </a:prstGeom>
        </p:spPr>
      </p:pic>
      <p:sp>
        <p:nvSpPr>
          <p:cNvPr id="6" name="Situation"/>
          <p:cNvSpPr txBox="1"/>
          <p:nvPr/>
        </p:nvSpPr>
        <p:spPr>
          <a:xfrm>
            <a:off x="548640" y="1645920"/>
            <a:ext cx="11094415" cy="777240"/>
          </a:xfrm>
          <a:prstGeom prst="rect">
            <a:avLst/>
          </a:prstGeom>
          <a:noFill/>
          <a:ln/>
        </p:spPr>
        <p:txBody>
          <a:bodyPr wrap="square" lIns="0" tIns="0" rIns="0" bIns="0" rtlCol="0" anchor="t"/>
          <a:lstStyle/>
          <a:p>
            <a:pPr indent="0" marL="0">
              <a:buNone/>
            </a:pPr>
            <a:r>
              <a:rPr lang="en-US" sz="1500" dirty="0">
                <a:solidFill>
                  <a:schemeClr val="tx1"/>
                </a:solidFill>
              </a:rPr>
              <a:t>The board asks which of two peer companies Meridian is most like, and whether the order of the restructuring and the digital program matters. The answers depend on choices of units, distance measure and sequence that nobody has made explicitly. Open AXIOM, choose Lab 1.3 and load the Meridian state.</a:t>
            </a:r>
            <a:endParaRPr lang="en-US" sz="1500" dirty="0"/>
          </a:p>
        </p:txBody>
      </p:sp>
      <p:sp>
        <p:nvSpPr>
          <p:cNvPr id="7" name="Flow line"/>
          <p:cNvSpPr/>
          <p:nvPr/>
        </p:nvSpPr>
        <p:spPr>
          <a:xfrm>
            <a:off x="1658082" y="2880360"/>
            <a:ext cx="8875532" cy="0"/>
          </a:xfrm>
          <a:prstGeom prst="line">
            <a:avLst/>
          </a:prstGeom>
          <a:noFill/>
          <a:ln w="25400">
            <a:solidFill>
              <a:srgbClr val="C4CBD8"/>
            </a:solidFill>
            <a:prstDash val="solid"/>
          </a:ln>
        </p:spPr>
      </p:sp>
      <p:sp>
        <p:nvSpPr>
          <p:cNvPr id="8" name="Number"/>
          <p:cNvSpPr/>
          <p:nvPr/>
        </p:nvSpPr>
        <p:spPr>
          <a:xfrm>
            <a:off x="1383762" y="2606040"/>
            <a:ext cx="548640" cy="548640"/>
          </a:xfrm>
          <a:prstGeom prst="ellipse">
            <a:avLst/>
          </a:prstGeom>
          <a:solidFill>
            <a:schemeClr val="accent1"/>
          </a:solidFill>
          <a:ln w="6350">
            <a:solidFill>
              <a:schemeClr val="accent1"/>
            </a:solidFill>
            <a:prstDash val="solid"/>
          </a:ln>
        </p:spPr>
      </p:sp>
      <p:sp>
        <p:nvSpPr>
          <p:cNvPr id="9" name="Text 5"/>
          <p:cNvSpPr txBox="1"/>
          <p:nvPr/>
        </p:nvSpPr>
        <p:spPr>
          <a:xfrm>
            <a:off x="1383762"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0" name="Flow head"/>
          <p:cNvSpPr txBox="1"/>
          <p:nvPr/>
        </p:nvSpPr>
        <p:spPr>
          <a:xfrm>
            <a:off x="621792"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Read the vector</a:t>
            </a:r>
            <a:endParaRPr lang="en-US" sz="1600" dirty="0"/>
          </a:p>
        </p:txBody>
      </p:sp>
      <p:sp>
        <p:nvSpPr>
          <p:cNvPr id="11" name="Flow text"/>
          <p:cNvSpPr txBox="1"/>
          <p:nvPr/>
        </p:nvSpPr>
        <p:spPr>
          <a:xfrm>
            <a:off x="640080"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Read the eight readings and units; switch liquidity from billions to millions. Does the closer peer change?</a:t>
            </a:r>
            <a:endParaRPr lang="en-US" sz="1400" dirty="0"/>
          </a:p>
        </p:txBody>
      </p:sp>
      <p:sp>
        <p:nvSpPr>
          <p:cNvPr id="12" name="Number"/>
          <p:cNvSpPr/>
          <p:nvPr/>
        </p:nvSpPr>
        <p:spPr>
          <a:xfrm>
            <a:off x="3602645" y="2606040"/>
            <a:ext cx="548640" cy="548640"/>
          </a:xfrm>
          <a:prstGeom prst="ellipse">
            <a:avLst/>
          </a:prstGeom>
          <a:solidFill>
            <a:schemeClr val="accent1"/>
          </a:solidFill>
          <a:ln w="6350">
            <a:solidFill>
              <a:schemeClr val="accent1"/>
            </a:solidFill>
            <a:prstDash val="solid"/>
          </a:ln>
        </p:spPr>
      </p:sp>
      <p:sp>
        <p:nvSpPr>
          <p:cNvPr id="13" name="Text 9"/>
          <p:cNvSpPr txBox="1"/>
          <p:nvPr/>
        </p:nvSpPr>
        <p:spPr>
          <a:xfrm>
            <a:off x="3602645"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4" name="Flow head"/>
          <p:cNvSpPr txBox="1"/>
          <p:nvPr/>
        </p:nvSpPr>
        <p:spPr>
          <a:xfrm>
            <a:off x="2840675"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Declare the scaling</a:t>
            </a:r>
            <a:endParaRPr lang="en-US" sz="1600" dirty="0"/>
          </a:p>
        </p:txBody>
      </p:sp>
      <p:sp>
        <p:nvSpPr>
          <p:cNvPr id="15" name="Flow text"/>
          <p:cNvSpPr txBox="1"/>
          <p:nvPr/>
        </p:nvSpPr>
        <p:spPr>
          <a:xfrm>
            <a:off x="2858963"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Switch on the declared scaling and compare again. Which comparison would you defend?</a:t>
            </a:r>
            <a:endParaRPr lang="en-US" sz="1400" dirty="0"/>
          </a:p>
        </p:txBody>
      </p:sp>
      <p:sp>
        <p:nvSpPr>
          <p:cNvPr id="16" name="Number"/>
          <p:cNvSpPr/>
          <p:nvPr/>
        </p:nvSpPr>
        <p:spPr>
          <a:xfrm>
            <a:off x="5821528" y="2606040"/>
            <a:ext cx="548640" cy="548640"/>
          </a:xfrm>
          <a:prstGeom prst="ellipse">
            <a:avLst/>
          </a:prstGeom>
          <a:solidFill>
            <a:schemeClr val="accent1"/>
          </a:solidFill>
          <a:ln w="6350">
            <a:solidFill>
              <a:schemeClr val="accent1"/>
            </a:solidFill>
            <a:prstDash val="solid"/>
          </a:ln>
        </p:spPr>
      </p:sp>
      <p:sp>
        <p:nvSpPr>
          <p:cNvPr id="17" name="Text 13"/>
          <p:cNvSpPr txBox="1"/>
          <p:nvPr/>
        </p:nvSpPr>
        <p:spPr>
          <a:xfrm>
            <a:off x="5821528"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8" name="Flow head"/>
          <p:cNvSpPr txBox="1"/>
          <p:nvPr/>
        </p:nvSpPr>
        <p:spPr>
          <a:xfrm>
            <a:off x="5059558"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Compare distance measures</a:t>
            </a:r>
            <a:endParaRPr lang="en-US" sz="1600" dirty="0"/>
          </a:p>
        </p:txBody>
      </p:sp>
      <p:sp>
        <p:nvSpPr>
          <p:cNvPr id="19" name="Flow text"/>
          <p:cNvSpPr txBox="1"/>
          <p:nvPr/>
        </p:nvSpPr>
        <p:spPr>
          <a:xfrm>
            <a:off x="5077846"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Effort, bottleneck and Euclidean views of one change of state, and the constants that link them.</a:t>
            </a:r>
            <a:endParaRPr lang="en-US" sz="1400" dirty="0"/>
          </a:p>
        </p:txBody>
      </p:sp>
      <p:sp>
        <p:nvSpPr>
          <p:cNvPr id="20" name="Number"/>
          <p:cNvSpPr/>
          <p:nvPr/>
        </p:nvSpPr>
        <p:spPr>
          <a:xfrm>
            <a:off x="8040411" y="2606040"/>
            <a:ext cx="548640" cy="548640"/>
          </a:xfrm>
          <a:prstGeom prst="ellipse">
            <a:avLst/>
          </a:prstGeom>
          <a:solidFill>
            <a:schemeClr val="accent1"/>
          </a:solidFill>
          <a:ln w="6350">
            <a:solidFill>
              <a:schemeClr val="accent1"/>
            </a:solidFill>
            <a:prstDash val="solid"/>
          </a:ln>
        </p:spPr>
      </p:sp>
      <p:sp>
        <p:nvSpPr>
          <p:cNvPr id="21" name="Text 17"/>
          <p:cNvSpPr txBox="1"/>
          <p:nvPr/>
        </p:nvSpPr>
        <p:spPr>
          <a:xfrm>
            <a:off x="8040411"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22" name="Flow head"/>
          <p:cNvSpPr txBox="1"/>
          <p:nvPr/>
        </p:nvSpPr>
        <p:spPr>
          <a:xfrm>
            <a:off x="7278441"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Sequence the initiatives</a:t>
            </a:r>
            <a:endParaRPr lang="en-US" sz="1600" dirty="0"/>
          </a:p>
        </p:txBody>
      </p:sp>
      <p:sp>
        <p:nvSpPr>
          <p:cNvPr id="23" name="Flow text"/>
          <p:cNvSpPr txBox="1"/>
          <p:nvPr/>
        </p:nvSpPr>
        <p:spPr>
          <a:xfrm>
            <a:off x="7296729"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Apply the restructuring and the digital investment in both orders; record both end states.</a:t>
            </a:r>
            <a:endParaRPr lang="en-US" sz="1400" dirty="0"/>
          </a:p>
        </p:txBody>
      </p:sp>
      <p:sp>
        <p:nvSpPr>
          <p:cNvPr id="24" name="Number"/>
          <p:cNvSpPr/>
          <p:nvPr/>
        </p:nvSpPr>
        <p:spPr>
          <a:xfrm>
            <a:off x="10259294" y="2606040"/>
            <a:ext cx="548640" cy="548640"/>
          </a:xfrm>
          <a:prstGeom prst="ellipse">
            <a:avLst/>
          </a:prstGeom>
          <a:solidFill>
            <a:schemeClr val="accent1"/>
          </a:solidFill>
          <a:ln w="6350">
            <a:solidFill>
              <a:schemeClr val="accent1"/>
            </a:solidFill>
            <a:prstDash val="solid"/>
          </a:ln>
        </p:spPr>
      </p:sp>
      <p:sp>
        <p:nvSpPr>
          <p:cNvPr id="25" name="Text 21"/>
          <p:cNvSpPr txBox="1"/>
          <p:nvPr/>
        </p:nvSpPr>
        <p:spPr>
          <a:xfrm>
            <a:off x="10259294"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5</a:t>
            </a:r>
            <a:endParaRPr lang="en-US" sz="1600" dirty="0"/>
          </a:p>
        </p:txBody>
      </p:sp>
      <p:sp>
        <p:nvSpPr>
          <p:cNvPr id="26" name="Flow head"/>
          <p:cNvSpPr txBox="1"/>
          <p:nvPr/>
        </p:nvSpPr>
        <p:spPr>
          <a:xfrm>
            <a:off x="9497324"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Watch a company run down</a:t>
            </a:r>
            <a:endParaRPr lang="en-US" sz="1600" dirty="0"/>
          </a:p>
        </p:txBody>
      </p:sp>
      <p:sp>
        <p:nvSpPr>
          <p:cNvPr id="27" name="Flow text"/>
          <p:cNvSpPr txBox="1"/>
          <p:nvPr/>
        </p:nvSpPr>
        <p:spPr>
          <a:xfrm>
            <a:off x="9515612"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Run the three-reading company without and with investment; read the eigenvalues.</a:t>
            </a:r>
            <a:endParaRPr lang="en-US" sz="1400" dirty="0"/>
          </a:p>
        </p:txBody>
      </p:sp>
      <p:sp>
        <p:nvSpPr>
          <p:cNvPr id="28" name="Deliverable card"/>
          <p:cNvSpPr/>
          <p:nvPr/>
        </p:nvSpPr>
        <p:spPr>
          <a:xfrm>
            <a:off x="548640" y="5486400"/>
            <a:ext cx="11094415" cy="685800"/>
          </a:xfrm>
          <a:prstGeom prst="roundRect">
            <a:avLst>
              <a:gd name="adj" fmla="val 10667"/>
            </a:avLst>
          </a:prstGeom>
          <a:solidFill>
            <a:schemeClr val="bg2"/>
          </a:solidFill>
          <a:ln w="9525">
            <a:solidFill>
              <a:srgbClr val="C4CBD8"/>
            </a:solidFill>
            <a:prstDash val="solid"/>
          </a:ln>
        </p:spPr>
      </p:sp>
      <p:sp>
        <p:nvSpPr>
          <p:cNvPr id="29" name="Deliverable"/>
          <p:cNvSpPr txBox="1"/>
          <p:nvPr/>
        </p:nvSpPr>
        <p:spPr>
          <a:xfrm>
            <a:off x="777240" y="5559552"/>
            <a:ext cx="10637215" cy="539496"/>
          </a:xfrm>
          <a:prstGeom prst="rect">
            <a:avLst/>
          </a:prstGeom>
          <a:noFill/>
          <a:ln/>
        </p:spPr>
        <p:txBody>
          <a:bodyPr wrap="square" lIns="0" tIns="0" rIns="0" bIns="0" rtlCol="0" anchor="ctr"/>
          <a:lstStyle/>
          <a:p>
            <a:pPr indent="0" marL="0">
              <a:buNone/>
            </a:pPr>
            <a:r>
              <a:rPr lang="en-US" sz="1400" b="1" dirty="0">
                <a:solidFill>
                  <a:schemeClr val="tx1"/>
                </a:solidFill>
              </a:rPr>
              <a:t>Deliverable:</a:t>
            </a:r>
            <a:r>
              <a:rPr lang="en-US" sz="1400" dirty="0">
                <a:solidFill>
                  <a:schemeClr val="tx1"/>
                </a:solidFill>
              </a:rPr>
              <a:t> a one-slide recommendation to the board on the order of the two initiatives, with the end states that support it and one sentence on the units and scaling used. About 45–60 minutes.</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KEY TAKEAWAYS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What to carry forward</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500" dirty="0">
                <a:solidFill>
                  <a:schemeClr val="tx1"/>
                </a:solidFill>
              </a:rPr>
              <a:t>A company's state is a vector of readings with declared units; comparisons and totals across units are meaningful only with declared weights.</a:t>
            </a:r>
            <a:endParaRPr lang="en-US" sz="15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500" dirty="0">
                <a:solidFill>
                  <a:schemeClr val="tx1"/>
                </a:solidFill>
              </a:rPr>
              <a:t>Distances between company states depend on the chosen norm and unit convention; all norms agree on qualitative conclusions, so declare the norm whenever a number is reported.</a:t>
            </a:r>
            <a:endParaRPr lang="en-US" sz="15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500" dirty="0">
                <a:solidFill>
                  <a:schemeClr val="tx1"/>
                </a:solidFill>
              </a:rPr>
              <a:t>Transformations are operators with domains; a program is feasible only if each step delivers the company into the domain of the next.</a:t>
            </a:r>
            <a:endParaRPr lang="en-US" sz="15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500" dirty="0">
                <a:solidFill>
                  <a:schemeClr val="tx1"/>
                </a:solidFill>
              </a:rPr>
              <a:t>Most transformations cannot be undone, sensitivities multiply along a program, and the order of initiatives is a decision.</a:t>
            </a:r>
            <a:endParaRPr lang="en-US" sz="15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500" dirty="0">
                <a:solidFill>
                  <a:schemeClr val="tx1"/>
                </a:solidFill>
              </a:rPr>
              <a:t>Mixed readings—numbers, ratings, categories—fit one state space under declared conventions, and deterministic models are a regime chosen for clarity, replaced by stochastic ones when dispersion is the subject.</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THIS WEEK'S LABORATORY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Notebook and workbook reproduce the book</a:t>
            </a:r>
            <a:endParaRPr lang="en-US" sz="3200" dirty="0"/>
          </a:p>
        </p:txBody>
      </p:sp>
      <p:sp>
        <p:nvSpPr>
          <p:cNvPr id="5" name="Stat card"/>
          <p:cNvSpPr/>
          <p:nvPr/>
        </p:nvSpPr>
        <p:spPr>
          <a:xfrm>
            <a:off x="548640" y="1691640"/>
            <a:ext cx="2567864" cy="1691640"/>
          </a:xfrm>
          <a:prstGeom prst="roundRect">
            <a:avLst>
              <a:gd name="adj" fmla="val 4324"/>
            </a:avLst>
          </a:prstGeom>
          <a:solidFill>
            <a:schemeClr val="tx1"/>
          </a:solidFill>
          <a:ln w="9525">
            <a:solidFill>
              <a:srgbClr val="0F1E3D"/>
            </a:solidFill>
            <a:prstDash val="solid"/>
          </a:ln>
        </p:spPr>
      </p:sp>
      <p:sp>
        <p:nvSpPr>
          <p:cNvPr id="6" name="Stat value"/>
          <p:cNvSpPr txBox="1"/>
          <p:nvPr/>
        </p:nvSpPr>
        <p:spPr>
          <a:xfrm>
            <a:off x="685800" y="1801368"/>
            <a:ext cx="2293544"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55</a:t>
            </a:r>
            <a:endParaRPr lang="en-US" sz="4400" dirty="0"/>
          </a:p>
        </p:txBody>
      </p:sp>
      <p:sp>
        <p:nvSpPr>
          <p:cNvPr id="7" name="Stat label"/>
          <p:cNvSpPr txBox="1"/>
          <p:nvPr/>
        </p:nvSpPr>
        <p:spPr>
          <a:xfrm>
            <a:off x="685800" y="2697480"/>
            <a:ext cx="2293544" cy="612648"/>
          </a:xfrm>
          <a:prstGeom prst="rect">
            <a:avLst/>
          </a:prstGeom>
          <a:noFill/>
          <a:ln/>
        </p:spPr>
        <p:txBody>
          <a:bodyPr wrap="square" lIns="0" tIns="0" rIns="0" bIns="0" rtlCol="0" anchor="t"/>
          <a:lstStyle/>
          <a:p>
            <a:pPr algn="ctr" indent="0" marL="0">
              <a:buNone/>
            </a:pPr>
            <a:r>
              <a:rPr lang="en-US" sz="1400" dirty="0">
                <a:solidFill>
                  <a:schemeClr val="bg2"/>
                </a:solidFill>
              </a:rPr>
              <a:t>notebook checkpoints, every one PASS</a:t>
            </a:r>
            <a:endParaRPr lang="en-US" sz="1400" dirty="0"/>
          </a:p>
        </p:txBody>
      </p:sp>
      <p:sp>
        <p:nvSpPr>
          <p:cNvPr id="8" name="Stat card"/>
          <p:cNvSpPr/>
          <p:nvPr/>
        </p:nvSpPr>
        <p:spPr>
          <a:xfrm>
            <a:off x="3390824" y="1691640"/>
            <a:ext cx="2567864" cy="1691640"/>
          </a:xfrm>
          <a:prstGeom prst="roundRect">
            <a:avLst>
              <a:gd name="adj" fmla="val 4324"/>
            </a:avLst>
          </a:prstGeom>
          <a:solidFill>
            <a:schemeClr val="bg2"/>
          </a:solidFill>
          <a:ln w="9525">
            <a:solidFill>
              <a:srgbClr val="C4CBD8"/>
            </a:solidFill>
            <a:prstDash val="solid"/>
          </a:ln>
        </p:spPr>
      </p:sp>
      <p:sp>
        <p:nvSpPr>
          <p:cNvPr id="9" name="Stat value"/>
          <p:cNvSpPr txBox="1"/>
          <p:nvPr/>
        </p:nvSpPr>
        <p:spPr>
          <a:xfrm>
            <a:off x="3527984"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93</a:t>
            </a:r>
            <a:endParaRPr lang="en-US" sz="4400" dirty="0"/>
          </a:p>
        </p:txBody>
      </p:sp>
      <p:sp>
        <p:nvSpPr>
          <p:cNvPr id="10" name="Stat label"/>
          <p:cNvSpPr txBox="1"/>
          <p:nvPr/>
        </p:nvSpPr>
        <p:spPr>
          <a:xfrm>
            <a:off x="3527984"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workbook checks against the engine, ALL PASS</a:t>
            </a:r>
            <a:endParaRPr lang="en-US" sz="1400" dirty="0"/>
          </a:p>
        </p:txBody>
      </p:sp>
      <p:sp>
        <p:nvSpPr>
          <p:cNvPr id="11" name="Stat card"/>
          <p:cNvSpPr/>
          <p:nvPr/>
        </p:nvSpPr>
        <p:spPr>
          <a:xfrm>
            <a:off x="6233008" y="1691640"/>
            <a:ext cx="2567864" cy="1691640"/>
          </a:xfrm>
          <a:prstGeom prst="roundRect">
            <a:avLst>
              <a:gd name="adj" fmla="val 4324"/>
            </a:avLst>
          </a:prstGeom>
          <a:solidFill>
            <a:schemeClr val="bg2"/>
          </a:solidFill>
          <a:ln w="9525">
            <a:solidFill>
              <a:srgbClr val="C4CBD8"/>
            </a:solidFill>
            <a:prstDash val="solid"/>
          </a:ln>
        </p:spPr>
      </p:sp>
      <p:sp>
        <p:nvSpPr>
          <p:cNvPr id="12" name="Stat value"/>
          <p:cNvSpPr txBox="1"/>
          <p:nvPr/>
        </p:nvSpPr>
        <p:spPr>
          <a:xfrm>
            <a:off x="6370168"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26103</a:t>
            </a:r>
            <a:endParaRPr lang="en-US" sz="4400" dirty="0"/>
          </a:p>
        </p:txBody>
      </p:sp>
      <p:sp>
        <p:nvSpPr>
          <p:cNvPr id="13" name="Stat label"/>
          <p:cNvSpPr txBox="1"/>
          <p:nvPr/>
        </p:nvSpPr>
        <p:spPr>
          <a:xfrm>
            <a:off x="6370168"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the lab's seed</a:t>
            </a:r>
            <a:endParaRPr lang="en-US" sz="1400" dirty="0"/>
          </a:p>
        </p:txBody>
      </p:sp>
      <p:sp>
        <p:nvSpPr>
          <p:cNvPr id="14" name="Stat card"/>
          <p:cNvSpPr/>
          <p:nvPr/>
        </p:nvSpPr>
        <p:spPr>
          <a:xfrm>
            <a:off x="9075191" y="1691640"/>
            <a:ext cx="2567864" cy="1691640"/>
          </a:xfrm>
          <a:prstGeom prst="roundRect">
            <a:avLst>
              <a:gd name="adj" fmla="val 4324"/>
            </a:avLst>
          </a:prstGeom>
          <a:solidFill>
            <a:schemeClr val="bg2"/>
          </a:solidFill>
          <a:ln w="9525">
            <a:solidFill>
              <a:srgbClr val="C4CBD8"/>
            </a:solidFill>
            <a:prstDash val="solid"/>
          </a:ln>
        </p:spPr>
      </p:sp>
      <p:sp>
        <p:nvSpPr>
          <p:cNvPr id="15" name="Stat value"/>
          <p:cNvSpPr txBox="1"/>
          <p:nvPr/>
        </p:nvSpPr>
        <p:spPr>
          <a:xfrm>
            <a:off x="9212351" y="1801368"/>
            <a:ext cx="2293544" cy="91440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AXIOM-03</a:t>
            </a:r>
            <a:endParaRPr lang="en-US" sz="3000" dirty="0"/>
          </a:p>
        </p:txBody>
      </p:sp>
      <p:sp>
        <p:nvSpPr>
          <p:cNvPr id="16" name="Stat label"/>
          <p:cNvSpPr txBox="1"/>
          <p:nvPr/>
        </p:nvSpPr>
        <p:spPr>
          <a:xfrm>
            <a:off x="9212351"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AXIOM Lab 1.3</a:t>
            </a:r>
            <a:endParaRPr lang="en-US" sz="1400" dirty="0"/>
          </a:p>
        </p:txBody>
      </p:sp>
      <p:sp>
        <p:nvSpPr>
          <p:cNvPr id="17" name="Bullets"/>
          <p:cNvSpPr txBox="1"/>
          <p:nvPr/>
        </p:nvSpPr>
        <p:spPr>
          <a:xfrm>
            <a:off x="548640" y="3703320"/>
            <a:ext cx="11094415" cy="246888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Notebook</a:t>
            </a:r>
            <a:r>
              <a:rPr lang="en-US" sz="1700" dirty="0">
                <a:solidFill>
                  <a:schemeClr val="tx1"/>
                </a:solidFill>
              </a:rPr>
              <a:t> DCT_V1_Ch03_Lab.ipynb: Worked Example 3.1 and the lab's five steps in seven panels, ready for Colab</a:t>
            </a:r>
            <a:endParaRPr lang="en-US" sz="1700" dirty="0"/>
          </a:p>
          <a:p>
            <a:pPr marL="228600" indent="-228600">
              <a:spcAft>
                <a:spcPts val="800"/>
              </a:spcAft>
              <a:buSzPct val="100000"/>
              <a:buChar char="•"/>
            </a:pPr>
            <a:r>
              <a:rPr lang="en-US" sz="1700" b="1" dirty="0">
                <a:solidFill>
                  <a:schemeClr val="tx1"/>
                </a:solidFill>
              </a:rPr>
              <a:t>Workbook</a:t>
            </a:r>
            <a:r>
              <a:rPr lang="en-US" sz="1700" dirty="0">
                <a:solidFill>
                  <a:schemeClr val="tx1"/>
                </a:solidFill>
              </a:rPr>
              <a:t> DCT_V1_Ch03_Lab.xlsx: the declared state and scaling, three norms, both orders and the run-down, in formulas</a:t>
            </a:r>
            <a:endParaRPr lang="en-US" sz="1700" dirty="0"/>
          </a:p>
          <a:p>
            <a:pPr marL="228600" indent="-228600">
              <a:spcAft>
                <a:spcPts val="800"/>
              </a:spcAft>
              <a:buSzPct val="100000"/>
              <a:buChar char="•"/>
            </a:pPr>
            <a:r>
              <a:rPr lang="en-US" sz="1700" dirty="0">
                <a:solidFill>
                  <a:schemeClr val="tx1"/>
                </a:solidFill>
              </a:rPr>
              <a:t>Every number on these slides is the book's; the lab's two peer companies, which the book does not declare, are drawn in the notebook with seed 26103</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NEXT · CHAPTER 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Chapter 4 asks what a model can answer</a:t>
            </a:r>
            <a:endParaRPr lang="en-US" sz="3200" dirty="0"/>
          </a:p>
        </p:txBody>
      </p:sp>
      <p:pic>
        <p:nvPicPr>
          <p:cNvPr id="5" name="Equation" descr="Equation: f^{-1}(\mathcal{T}) \;=\; \{\, a : f(a) \in \mathcal{T} \,\}">    </p:cNvPr>
          <p:cNvPicPr>
            <a:picLocks noChangeAspect="1"/>
          </p:cNvPicPr>
          <p:nvPr/>
        </p:nvPicPr>
        <p:blipFill>
          <a:blip r:embed="rId1"/>
          <a:stretch>
            <a:fillRect/>
          </a:stretch>
        </p:blipFill>
        <p:spPr>
          <a:xfrm>
            <a:off x="3318885" y="1691640"/>
            <a:ext cx="5553925" cy="731520"/>
          </a:xfrm>
          <a:prstGeom prst="rect">
            <a:avLst/>
          </a:prstGeom>
        </p:spPr>
      </p:pic>
      <p:sp>
        <p:nvSpPr>
          <p:cNvPr id="6" name="Bullets"/>
          <p:cNvSpPr txBox="1"/>
          <p:nvPr/>
        </p:nvSpPr>
        <p:spPr>
          <a:xfrm>
            <a:off x="548640" y="2743200"/>
            <a:ext cx="11094415" cy="342900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bg1"/>
                </a:solidFill>
              </a:rPr>
              <a:t>Preimages are diagnosis: the states consistent with an observed output, and how large that set is, anticipate the measurement problem of Chapter 4</a:t>
            </a:r>
            <a:endParaRPr lang="en-US" sz="1800" dirty="0"/>
          </a:p>
          <a:p>
            <a:pPr marL="228600" indent="-228600">
              <a:spcAft>
                <a:spcPts val="800"/>
              </a:spcAft>
              <a:buSzPct val="100000"/>
              <a:buChar char="•"/>
            </a:pPr>
            <a:r>
              <a:rPr lang="en-US" sz="1800" dirty="0">
                <a:solidFill>
                  <a:schemeClr val="bg1"/>
                </a:solidFill>
              </a:rPr>
              <a:t>No analysis extracts what a model's readings leave out (Theorem 4.1); validation certifies a model only where history has been</a:t>
            </a:r>
            <a:endParaRPr lang="en-US" sz="1800" dirty="0"/>
          </a:p>
          <a:p>
            <a:pPr marL="228600" indent="-228600">
              <a:spcAft>
                <a:spcPts val="800"/>
              </a:spcAft>
              <a:buSzPct val="100000"/>
              <a:buChar char="•"/>
            </a:pPr>
            <a:r>
              <a:rPr lang="en-US" sz="1800" dirty="0">
                <a:solidFill>
                  <a:schemeClr val="bg1"/>
                </a:solidFill>
              </a:rPr>
              <a:t>The declarations of this chapter, units, scaling and the spacing of ratings, become part of Chapter 4's modeling contract</a:t>
            </a:r>
            <a:endParaRPr lang="en-US" sz="18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Dynamic Corporate Transformation">
  <a:themeElements>
    <a:clrScheme name="Dynamic Corporate Transformation">
      <a:dk1>
        <a:srgbClr val="0F1E3D"/>
      </a:dk1>
      <a:lt1>
        <a:srgbClr val="FFFFFF"/>
      </a:lt1>
      <a:dk2>
        <a:srgbClr val="5A6B82"/>
      </a:dk2>
      <a:lt2>
        <a:srgbClr val="F7F4ED"/>
      </a:lt2>
      <a:accent1>
        <a:srgbClr val="B4884A"/>
      </a:accent1>
      <a:accent2>
        <a:srgbClr val="2F6F6B"/>
      </a:accent2>
      <a:accent3>
        <a:srgbClr val="8A6A33"/>
      </a:accent3>
      <a:accent4>
        <a:srgbClr val="C4CBD8"/>
      </a:accent4>
      <a:accent5>
        <a:srgbClr val="1F4FD8"/>
      </a:accent5>
      <a:accent6>
        <a:srgbClr val="16263F"/>
      </a:accent6>
      <a:hlink>
        <a:srgbClr val="1F4FD8"/>
      </a:hlink>
      <a:folHlink>
        <a:srgbClr val="5A6B82"/>
      </a:folHlink>
    </a:clrScheme>
    <a:fontScheme name="Dynamic Corporate Transform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Dynamic Corporate Transformation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Corporate Transformation, Volume I, Chapter 3: Mathematical Foundations</dc:title>
  <dc:subject>Slides for Volume I, Chapter 3 (V56)</dc:subject>
  <dc:creator>Samir Asaf</dc:creator>
  <cp:lastModifiedBy>Samir Asaf</cp:lastModifiedBy>
  <cp:revision>1</cp:revision>
  <dcterms:created xsi:type="dcterms:W3CDTF">2026-10-05T09:46:44Z</dcterms:created>
  <dcterms:modified xsi:type="dcterms:W3CDTF">2026-10-05T09:46:44Z</dcterms:modified>
</cp:coreProperties>
</file>