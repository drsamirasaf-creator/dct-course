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f1c8efc-2dc2-0c7a-1b7c-925467fca43e}">
          <p14:sldIdLst>
            <p14:sldId id="256"/>
            <p14:sldId id="257"/>
            <p14:sldId id="258"/>
            <p14:sldId id="259"/>
          </p14:sldIdLst>
        </p14:section>
        <p14:section name="4.1 Enterprise Modeling Philosophy" id="{a8505f17-77eb-6f9c-782d-be09f9d2b0ee}">
          <p14:sldIdLst>
            <p14:sldId id="260"/>
          </p14:sldIdLst>
        </p14:section>
        <p14:section name="4.2 Model Types and the Representation Bound" id="{4348aef3-441e-8dfa-dd18-2433eb59bc9a}">
          <p14:sldIdLst>
            <p14:sldId id="261"/>
            <p14:sldId id="262"/>
          </p14:sldIdLst>
        </p14:section>
        <p14:section name="4.3 Abstraction and Decomposition" id="{0489def6-7224-28bd-cdbd-6c2991c7a71f}">
          <p14:sldIdLst>
            <p14:sldId id="263"/>
          </p14:sldIdLst>
        </p14:section>
        <p14:section name="4.4 Aggregation and Hierarchies" id="{37a3df0c-e103-0eeb-96e2-d3d1f478e6bc}">
          <p14:sldIdLst>
            <p14:sldId id="264"/>
            <p14:sldId id="265"/>
          </p14:sldIdLst>
        </p14:section>
        <p14:section name="4.5 Measurement, Validation, and Verification" id="{9bf90e3e-0258-95fd-c694-04db735c8208}">
          <p14:sldIdLst>
            <p14:sldId id="266"/>
            <p14:sldId id="267"/>
            <p14:sldId id="268"/>
          </p14:sldIdLst>
        </p14:section>
        <p14:section name="4.6 The Model Lifecycle" id="{7585d518-d388-ec88-0d21-2f79dfce9889}">
          <p14:sldIdLst>
            <p14:sldId id="269"/>
          </p14:sldIdLst>
        </p14:section>
        <p14:section name="Worked Example 4.1" id="{47f7c175-50f0-9ec9-a26a-74264e39bf78}">
          <p14:sldIdLst>
            <p14:sldId id="270"/>
            <p14:sldId id="271"/>
            <p14:sldId id="272"/>
            <p14:sldId id="273"/>
            <p14:sldId id="274"/>
          </p14:sldIdLst>
        </p14:section>
        <p14:section name="AXIOM Lab 1.4" id="{1c483cf6-54e2-f059-164f-9bed2dd147be}">
          <p14:sldIdLst>
            <p14:sldId id="275"/>
          </p14:sldIdLst>
        </p14:section>
        <p14:section name="Close" id="{db1616a3-7986-c5b1-0894-ae7a4178a704}">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 Chapter 4. Three chapters of tools stand ready; this chapter supplies the principles by which company models are built, related across levels, tested, trusted and retired (Section 4.1). Meridian's engineering workforce and its digital program show what is at 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Feynman's first principle opens the chapter. A model that fits history flawlessly is the easiest thing to be fooled by: validation earns trust where the record has been and provably nowhere else (Theorem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of Chapter 4; LOS Guidance at the end of the chapter explains what a strong answer to each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4.2: Definition 4.1, Theorem 4.1, Proposition 4.1 and Table 4.1. Section 4.3: Definitions 4.2-4.3, Proposition 4.2 and Table 4.2. Section 4.4: Definitions 4.4-4.5, Theorem 4.2, Proposition 4.3 and Table 4.3. Section 4.5: Equation 4.2, Definition 4.6, Theorem 4.3 and Table 4.4. Proofs of Theorems 4.1-4.3 are in Appendix 4.A; those of Propositions 4.1-4.3, with a bound for approximate aggregation, in Online Appendix 4.B.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4.1. Three commitments: models are instruments, not portraits; every modeling choice is a commitment with conditions; trust in a model is bounded by evidence and structure. The modeling contract is not bureaucracy; it is the written form of the chapter's theorems.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4.1 and Definition 4.1 (Equation 4.1): a state space, a measurement convention that turns the company's condition into a represented state, a posited transition and a posited output map. The transition is the modeler's mechanism, to be verified and validated, not the company's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4.1; formal statement and proof in Appendix 4.A; Proposition 4.1 in Online Appendix 4.B. An enterprise question is any quantity computed from the company's readings over a horizon. A question the model cannot express is not hard in that model: any number produced under its name answers a different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4.2, the Meridian abstraction ladder, and Proposition 4.2 (formal statement and proof in Online Appendix 4.B). What goes wrong is simple to state: the fine dynamics can split a fiber, sending states the abstraction lumped together to places it tells apart. Sparse coupling is Simon's near-decomposability.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4.4 and Theorem 4.2; formal statement and proof in Appendix 4.A; Proposition 4.3 in Online Appendix 4.B. Approximate aggregation is sound engineering when its error is measured and budgeted, and silent malpractice when it is not (the Scope and Limits note; Online Appendix 4.B bounds the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4.3 and Definition 4.5. Internal consistency is the humbler condition and the more often violated: a model whose simulated leverage goes negative, or whose capability index leaves 0-100, asserts states its own description declares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4.5, Equation 4.2 and Figure 4.1. Meridian's capability index is a survey proxy with an error of ±5 points, read twice a year (Table 4.3); organizational cohesion is latent, with no declared proxy. Measurement can be least precise exactly when stress makes it most important. Whether outputs determine states is the observability question,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4.6 and Theorem 4.3 (Model Validation Theorem); formal statement and proof in Appendix 4.A. This is an allocation of burden, not counsel of despair: an attrition mechanism validated across other companies' transformations travels; a fitted revenue curve does not. Volume II's robust methods optimize against every model the evidence cannot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4.4 and Section 4.5's domain audit. The record also has no period of running two platforms side by side and no talent market like the one the hiring plan assumes. The projections there rest on an attrition mechanism credentialed elsewhere and an adoption mechanism declared as an assumption rather than fitted.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4.6 and Figure 4.4. Models drift out of date unless they are managed: parameters wander, mechanisms appear and retire, and the change is often the company's own learning (Chapter 2's adaptation).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4.1, When the Roll-Up Breaks: the situation. The dashboard tracks the number of engineers in each unit; the planning model projects each unit's total with one attrition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4.1, Steps 1-2, Figure 4.2 and Appendix 4.A: with A = [[0.92, 0], [0.03, 0.96]] and P = [1 1], ker P is spanned by (1, -1). The headcount roll-up is exact as arithmetic and broken as a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4.5 and Step 3. The error grows because the mix keeps shifting. Online Appendix 4.B: a summary model with a small error each period is acceptable only if the error is budgeted over the horizon; with L near one it grows roughly in proportion to the number of periods.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4.1, Steps 4-5. Totals and software engineers in year five from the detailed model (Table 4.5). Today the two units are the same dashboard state and differ by 300 software engineers: the representation bound of Theorem 4.1. Carrying the share repairs the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4.1, what the board should take away, and the discussion question: which other Meridian roll-ups might break the same way, and what mix would you carry to repair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1.4. What to look for: the total-only summary drifts while the mix-aware summary holds (Theorem 4.2); the better fit on history can be the worse forecast; two models indistinguishable on the record can disagree sharply beyond it (Theorem 4.3). Supports LOS 4.3, 4.4 and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4: the modeling contract (Section 4.1), Theorem 4.1, Theorem 4.2 with Worked Example 4.1, Theorem 4.3, and the lifecycle of Section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 The lab's seed 26104 is used only for the bench's new draws, labelled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Enterprise State Representation: Definition 5.1 and Theorem 5.1 (Enterprise State Representation Theorem); feasible regions walled in by covenants, liquidity floors and capacity; Theorem 5.4 and its contraction bound, Equation 5.1; Meridian's turnaround delivers the lesson that stability is not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 · Chapter 4</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 · Chapter 4</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5.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 · CHAPTER 4 · WEEK 2</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Enterprise Modeling Principles</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A model can be exactly right today and wrong about tomorrow: declare what it represents, test its roll-ups, and trust it only where its record has been</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26104 · AXIOM Lab 1.4 (AXIOM-04)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“The first principle is that you must not fool yourself—and you are the easiest person to fool.”</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Richard P. Feynman</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Prize in Physics 1965; Caltech commencement address (1974)</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why company models are instruments for answering questions, and state what a modeling contract must declare.</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Distinguish conceptual, logical, mathematical, and computational models, and explain why no analysis can answer a question that a model's representation leaves out.</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when a summary such as a roll-up supports a forecast, and diagnose a broken roll-up using Meridian's engineering workforce.</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Distinguish verification from validation, and explain why validation against history cannot certify a model for a transformation that takes the company somewhere new.</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Apply the modeling contract and the model lifecycle to a Meridian model, including when it must be revalidated.</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Six sections, a worked example and a lab</a:t>
            </a:r>
            <a:endParaRPr lang="en-US" sz="3200" dirty="0"/>
          </a:p>
        </p:txBody>
      </p:sp>
      <p:sp>
        <p:nvSpPr>
          <p:cNvPr id="5" name="Card"/>
          <p:cNvSpPr/>
          <p:nvPr/>
        </p:nvSpPr>
        <p:spPr>
          <a:xfrm>
            <a:off x="548640" y="1691640"/>
            <a:ext cx="2567864" cy="2103120"/>
          </a:xfrm>
          <a:prstGeom prst="roundRect">
            <a:avLst>
              <a:gd name="adj" fmla="val 3478"/>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§4.1</a:t>
            </a:r>
            <a:endParaRPr lang="en-US" sz="1300" dirty="0"/>
          </a:p>
        </p:txBody>
      </p:sp>
      <p:sp>
        <p:nvSpPr>
          <p:cNvPr id="7" name="Card head"/>
          <p:cNvSpPr txBox="1"/>
          <p:nvPr/>
        </p:nvSpPr>
        <p:spPr>
          <a:xfrm>
            <a:off x="731520"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Enterprise Modeling Philosophy</a:t>
            </a:r>
            <a:endParaRPr lang="en-US" sz="1500" dirty="0"/>
          </a:p>
        </p:txBody>
      </p:sp>
      <p:sp>
        <p:nvSpPr>
          <p:cNvPr id="8" name="Card text"/>
          <p:cNvSpPr txBox="1"/>
          <p:nvPr/>
        </p:nvSpPr>
        <p:spPr>
          <a:xfrm>
            <a:off x="731520"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 modeling contract</a:t>
            </a:r>
            <a:endParaRPr lang="en-US" sz="1300" dirty="0"/>
          </a:p>
        </p:txBody>
      </p:sp>
      <p:sp>
        <p:nvSpPr>
          <p:cNvPr id="9" name="Card"/>
          <p:cNvSpPr/>
          <p:nvPr/>
        </p:nvSpPr>
        <p:spPr>
          <a:xfrm>
            <a:off x="3390824" y="1691640"/>
            <a:ext cx="2567864" cy="2103120"/>
          </a:xfrm>
          <a:prstGeom prst="roundRect">
            <a:avLst>
              <a:gd name="adj" fmla="val 3478"/>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§4.2</a:t>
            </a:r>
            <a:endParaRPr lang="en-US" sz="1300" dirty="0"/>
          </a:p>
        </p:txBody>
      </p:sp>
      <p:sp>
        <p:nvSpPr>
          <p:cNvPr id="11" name="Card head"/>
          <p:cNvSpPr txBox="1"/>
          <p:nvPr/>
        </p:nvSpPr>
        <p:spPr>
          <a:xfrm>
            <a:off x="3573704"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Model Types and the Representation Bound</a:t>
            </a:r>
            <a:endParaRPr lang="en-US" sz="1500" dirty="0"/>
          </a:p>
        </p:txBody>
      </p:sp>
      <p:sp>
        <p:nvSpPr>
          <p:cNvPr id="12" name="Card text"/>
          <p:cNvSpPr txBox="1"/>
          <p:nvPr/>
        </p:nvSpPr>
        <p:spPr>
          <a:xfrm>
            <a:off x="3573704"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Table 4.1 · Theorem 4.1</a:t>
            </a:r>
            <a:endParaRPr lang="en-US" sz="1300" dirty="0"/>
          </a:p>
        </p:txBody>
      </p:sp>
      <p:sp>
        <p:nvSpPr>
          <p:cNvPr id="13" name="Card"/>
          <p:cNvSpPr/>
          <p:nvPr/>
        </p:nvSpPr>
        <p:spPr>
          <a:xfrm>
            <a:off x="6233008" y="1691640"/>
            <a:ext cx="2567864" cy="2103120"/>
          </a:xfrm>
          <a:prstGeom prst="roundRect">
            <a:avLst>
              <a:gd name="adj" fmla="val 3478"/>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§4.3</a:t>
            </a:r>
            <a:endParaRPr lang="en-US" sz="1300" dirty="0"/>
          </a:p>
        </p:txBody>
      </p:sp>
      <p:sp>
        <p:nvSpPr>
          <p:cNvPr id="15" name="Card head"/>
          <p:cNvSpPr txBox="1"/>
          <p:nvPr/>
        </p:nvSpPr>
        <p:spPr>
          <a:xfrm>
            <a:off x="6415888"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Abstraction and Decomposition</a:t>
            </a:r>
            <a:endParaRPr lang="en-US" sz="1500" dirty="0"/>
          </a:p>
        </p:txBody>
      </p:sp>
      <p:sp>
        <p:nvSpPr>
          <p:cNvPr id="16" name="Card text"/>
          <p:cNvSpPr txBox="1"/>
          <p:nvPr/>
        </p:nvSpPr>
        <p:spPr>
          <a:xfrm>
            <a:off x="6415888"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Definitions 4.2–4.3 · Table 4.2</a:t>
            </a:r>
            <a:endParaRPr lang="en-US" sz="1300" dirty="0"/>
          </a:p>
        </p:txBody>
      </p:sp>
      <p:sp>
        <p:nvSpPr>
          <p:cNvPr id="17" name="Card"/>
          <p:cNvSpPr/>
          <p:nvPr/>
        </p:nvSpPr>
        <p:spPr>
          <a:xfrm>
            <a:off x="9075191" y="1691640"/>
            <a:ext cx="2567864" cy="2103120"/>
          </a:xfrm>
          <a:prstGeom prst="roundRect">
            <a:avLst>
              <a:gd name="adj" fmla="val 3478"/>
            </a:avLst>
          </a:prstGeom>
          <a:solidFill>
            <a:schemeClr val="bg2"/>
          </a:solidFill>
          <a:ln w="9525">
            <a:solidFill>
              <a:srgbClr val="C4CBD8"/>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§4.4</a:t>
            </a:r>
            <a:endParaRPr lang="en-US" sz="1300" dirty="0"/>
          </a:p>
        </p:txBody>
      </p:sp>
      <p:sp>
        <p:nvSpPr>
          <p:cNvPr id="19" name="Card head"/>
          <p:cNvSpPr txBox="1"/>
          <p:nvPr/>
        </p:nvSpPr>
        <p:spPr>
          <a:xfrm>
            <a:off x="9258071"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Aggregation and Hierarchies</a:t>
            </a:r>
            <a:endParaRPr lang="en-US" sz="1500" dirty="0"/>
          </a:p>
        </p:txBody>
      </p:sp>
      <p:sp>
        <p:nvSpPr>
          <p:cNvPr id="20" name="Card text"/>
          <p:cNvSpPr txBox="1"/>
          <p:nvPr/>
        </p:nvSpPr>
        <p:spPr>
          <a:xfrm>
            <a:off x="9258071"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4.2 · Table 4.3</a:t>
            </a:r>
            <a:endParaRPr lang="en-US" sz="1300" dirty="0"/>
          </a:p>
        </p:txBody>
      </p:sp>
      <p:sp>
        <p:nvSpPr>
          <p:cNvPr id="21" name="Card"/>
          <p:cNvSpPr/>
          <p:nvPr/>
        </p:nvSpPr>
        <p:spPr>
          <a:xfrm>
            <a:off x="548640" y="4069080"/>
            <a:ext cx="2567864" cy="2103120"/>
          </a:xfrm>
          <a:prstGeom prst="roundRect">
            <a:avLst>
              <a:gd name="adj" fmla="val 3478"/>
            </a:avLst>
          </a:prstGeom>
          <a:solidFill>
            <a:schemeClr val="bg2"/>
          </a:solidFill>
          <a:ln w="9525">
            <a:solidFill>
              <a:srgbClr val="C4CBD8"/>
            </a:solidFill>
            <a:prstDash val="solid"/>
          </a:ln>
        </p:spPr>
      </p:sp>
      <p:sp>
        <p:nvSpPr>
          <p:cNvPr id="22" name="Card label"/>
          <p:cNvSpPr txBox="1"/>
          <p:nvPr/>
        </p:nvSpPr>
        <p:spPr>
          <a:xfrm>
            <a:off x="731520"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§4.5</a:t>
            </a:r>
            <a:endParaRPr lang="en-US" sz="1300" dirty="0"/>
          </a:p>
        </p:txBody>
      </p:sp>
      <p:sp>
        <p:nvSpPr>
          <p:cNvPr id="23" name="Card head"/>
          <p:cNvSpPr txBox="1"/>
          <p:nvPr/>
        </p:nvSpPr>
        <p:spPr>
          <a:xfrm>
            <a:off x="731520"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Measurement, Validation, and Verification</a:t>
            </a:r>
            <a:endParaRPr lang="en-US" sz="1500" dirty="0"/>
          </a:p>
        </p:txBody>
      </p:sp>
      <p:sp>
        <p:nvSpPr>
          <p:cNvPr id="24" name="Card text"/>
          <p:cNvSpPr txBox="1"/>
          <p:nvPr/>
        </p:nvSpPr>
        <p:spPr>
          <a:xfrm>
            <a:off x="731520"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4.3 · Table 4.4</a:t>
            </a:r>
            <a:endParaRPr lang="en-US" sz="1300" dirty="0"/>
          </a:p>
        </p:txBody>
      </p:sp>
      <p:sp>
        <p:nvSpPr>
          <p:cNvPr id="25" name="Card"/>
          <p:cNvSpPr/>
          <p:nvPr/>
        </p:nvSpPr>
        <p:spPr>
          <a:xfrm>
            <a:off x="3390824" y="4069080"/>
            <a:ext cx="2567864" cy="2103120"/>
          </a:xfrm>
          <a:prstGeom prst="roundRect">
            <a:avLst>
              <a:gd name="adj" fmla="val 3478"/>
            </a:avLst>
          </a:prstGeom>
          <a:solidFill>
            <a:schemeClr val="bg2"/>
          </a:solidFill>
          <a:ln w="9525">
            <a:solidFill>
              <a:srgbClr val="C4CBD8"/>
            </a:solidFill>
            <a:prstDash val="solid"/>
          </a:ln>
        </p:spPr>
      </p:sp>
      <p:sp>
        <p:nvSpPr>
          <p:cNvPr id="26" name="Card label"/>
          <p:cNvSpPr txBox="1"/>
          <p:nvPr/>
        </p:nvSpPr>
        <p:spPr>
          <a:xfrm>
            <a:off x="3573704"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§4.6</a:t>
            </a:r>
            <a:endParaRPr lang="en-US" sz="1300" dirty="0"/>
          </a:p>
        </p:txBody>
      </p:sp>
      <p:sp>
        <p:nvSpPr>
          <p:cNvPr id="27" name="Card head"/>
          <p:cNvSpPr txBox="1"/>
          <p:nvPr/>
        </p:nvSpPr>
        <p:spPr>
          <a:xfrm>
            <a:off x="3573704"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The Model Lifecycle</a:t>
            </a:r>
            <a:endParaRPr lang="en-US" sz="1500" dirty="0"/>
          </a:p>
        </p:txBody>
      </p:sp>
      <p:sp>
        <p:nvSpPr>
          <p:cNvPr id="28" name="Card text"/>
          <p:cNvSpPr txBox="1"/>
          <p:nvPr/>
        </p:nvSpPr>
        <p:spPr>
          <a:xfrm>
            <a:off x="3573704"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Figure 4.4</a:t>
            </a:r>
            <a:endParaRPr lang="en-US" sz="1300" dirty="0"/>
          </a:p>
        </p:txBody>
      </p:sp>
      <p:sp>
        <p:nvSpPr>
          <p:cNvPr id="29" name="Card"/>
          <p:cNvSpPr/>
          <p:nvPr/>
        </p:nvSpPr>
        <p:spPr>
          <a:xfrm>
            <a:off x="6233008" y="4069080"/>
            <a:ext cx="2567864" cy="2103120"/>
          </a:xfrm>
          <a:prstGeom prst="roundRect">
            <a:avLst>
              <a:gd name="adj" fmla="val 3478"/>
            </a:avLst>
          </a:prstGeom>
          <a:solidFill>
            <a:schemeClr val="tx1"/>
          </a:solidFill>
          <a:ln w="9525">
            <a:solidFill>
              <a:srgbClr val="0F1E3D"/>
            </a:solidFill>
            <a:prstDash val="solid"/>
          </a:ln>
        </p:spPr>
      </p:sp>
      <p:sp>
        <p:nvSpPr>
          <p:cNvPr id="30" name="Card label"/>
          <p:cNvSpPr txBox="1"/>
          <p:nvPr/>
        </p:nvSpPr>
        <p:spPr>
          <a:xfrm>
            <a:off x="6415888"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4.1</a:t>
            </a:r>
            <a:endParaRPr lang="en-US" sz="1300" dirty="0"/>
          </a:p>
        </p:txBody>
      </p:sp>
      <p:sp>
        <p:nvSpPr>
          <p:cNvPr id="31" name="Card head"/>
          <p:cNvSpPr txBox="1"/>
          <p:nvPr/>
        </p:nvSpPr>
        <p:spPr>
          <a:xfrm>
            <a:off x="6415888" y="4526280"/>
            <a:ext cx="2202104" cy="1060704"/>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When the Roll-Up Breaks</a:t>
            </a:r>
            <a:endParaRPr lang="en-US" sz="1500" dirty="0"/>
          </a:p>
        </p:txBody>
      </p:sp>
      <p:sp>
        <p:nvSpPr>
          <p:cNvPr id="32" name="Card text"/>
          <p:cNvSpPr txBox="1"/>
          <p:nvPr/>
        </p:nvSpPr>
        <p:spPr>
          <a:xfrm>
            <a:off x="6415888" y="5660136"/>
            <a:ext cx="2202104" cy="384048"/>
          </a:xfrm>
          <a:prstGeom prst="rect">
            <a:avLst/>
          </a:prstGeom>
          <a:noFill/>
          <a:ln/>
        </p:spPr>
        <p:txBody>
          <a:bodyPr wrap="square" lIns="0" tIns="0" rIns="0" bIns="0" rtlCol="0" anchor="t"/>
          <a:lstStyle/>
          <a:p>
            <a:pPr indent="0" marL="0">
              <a:buNone/>
            </a:pPr>
            <a:r>
              <a:rPr lang="en-US" sz="1300" dirty="0">
                <a:solidFill>
                  <a:schemeClr val="bg2"/>
                </a:solidFill>
              </a:rPr>
              <a:t>Table 4.5 · Figure 4.2</a:t>
            </a:r>
            <a:endParaRPr lang="en-US" sz="1300" dirty="0"/>
          </a:p>
        </p:txBody>
      </p:sp>
      <p:sp>
        <p:nvSpPr>
          <p:cNvPr id="33" name="Card"/>
          <p:cNvSpPr/>
          <p:nvPr/>
        </p:nvSpPr>
        <p:spPr>
          <a:xfrm>
            <a:off x="9075191" y="4069080"/>
            <a:ext cx="2567864" cy="2103120"/>
          </a:xfrm>
          <a:prstGeom prst="roundRect">
            <a:avLst>
              <a:gd name="adj" fmla="val 3478"/>
            </a:avLst>
          </a:prstGeom>
          <a:solidFill>
            <a:schemeClr val="bg2"/>
          </a:solidFill>
          <a:ln w="9525">
            <a:solidFill>
              <a:srgbClr val="C4CBD8"/>
            </a:solidFill>
            <a:prstDash val="solid"/>
          </a:ln>
        </p:spPr>
      </p:sp>
      <p:sp>
        <p:nvSpPr>
          <p:cNvPr id="34" name="Card label"/>
          <p:cNvSpPr txBox="1"/>
          <p:nvPr/>
        </p:nvSpPr>
        <p:spPr>
          <a:xfrm>
            <a:off x="9258071"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AXIOM Lab 1.4</a:t>
            </a:r>
            <a:endParaRPr lang="en-US" sz="1300" dirty="0"/>
          </a:p>
        </p:txBody>
      </p:sp>
      <p:sp>
        <p:nvSpPr>
          <p:cNvPr id="35" name="Card head"/>
          <p:cNvSpPr txBox="1"/>
          <p:nvPr/>
        </p:nvSpPr>
        <p:spPr>
          <a:xfrm>
            <a:off x="9258071"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Can We Trust the Model?</a:t>
            </a:r>
            <a:endParaRPr lang="en-US" sz="1500" dirty="0"/>
          </a:p>
        </p:txBody>
      </p:sp>
      <p:sp>
        <p:nvSpPr>
          <p:cNvPr id="36" name="Card text"/>
          <p:cNvSpPr txBox="1"/>
          <p:nvPr/>
        </p:nvSpPr>
        <p:spPr>
          <a:xfrm>
            <a:off x="9258071"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AXIOM-04 · five steps</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§4.1 · ENTERPRISE MODELING PHILOSOPHY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Every model travels with a contract</a:t>
            </a:r>
            <a:endParaRPr lang="en-US" sz="3200" dirty="0"/>
          </a:p>
        </p:txBody>
      </p:sp>
      <p:sp>
        <p:nvSpPr>
          <p:cNvPr id="5" name="Card"/>
          <p:cNvSpPr/>
          <p:nvPr/>
        </p:nvSpPr>
        <p:spPr>
          <a:xfrm>
            <a:off x="548640" y="1691640"/>
            <a:ext cx="2567864" cy="2834640"/>
          </a:xfrm>
          <a:prstGeom prst="roundRect">
            <a:avLst>
              <a:gd name="adj" fmla="val 2849"/>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(i) Readings</a:t>
            </a:r>
            <a:endParaRPr lang="en-US" sz="1300" dirty="0"/>
          </a:p>
        </p:txBody>
      </p:sp>
      <p:sp>
        <p:nvSpPr>
          <p:cNvPr id="7" name="Card head"/>
          <p:cNvSpPr txBox="1"/>
          <p:nvPr/>
        </p:nvSpPr>
        <p:spPr>
          <a:xfrm>
            <a:off x="731520" y="2148840"/>
            <a:ext cx="2202104" cy="1399032"/>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Readings, with units and measurement conventions</a:t>
            </a:r>
            <a:endParaRPr lang="en-US" sz="1800" dirty="0"/>
          </a:p>
        </p:txBody>
      </p:sp>
      <p:sp>
        <p:nvSpPr>
          <p:cNvPr id="8" name="Card text"/>
          <p:cNvSpPr txBox="1"/>
          <p:nvPr/>
        </p:nvSpPr>
        <p:spPr>
          <a:xfrm>
            <a:off x="731520" y="3621024"/>
            <a:ext cx="2202104" cy="777240"/>
          </a:xfrm>
          <a:prstGeom prst="rect">
            <a:avLst/>
          </a:prstGeom>
          <a:noFill/>
          <a:ln/>
        </p:spPr>
        <p:txBody>
          <a:bodyPr wrap="square" lIns="0" tIns="0" rIns="0" bIns="0" rtlCol="0" anchor="t"/>
          <a:lstStyle/>
          <a:p>
            <a:pPr indent="0" marL="0">
              <a:buNone/>
            </a:pPr>
            <a:r>
              <a:rPr lang="en-US" sz="1500" dirty="0">
                <a:solidFill>
                  <a:schemeClr val="tx2"/>
                </a:solidFill>
              </a:rPr>
              <a:t>Meridian: the eight readings of Table 3.1.</a:t>
            </a:r>
            <a:endParaRPr lang="en-US" sz="1500" dirty="0"/>
          </a:p>
        </p:txBody>
      </p:sp>
      <p:sp>
        <p:nvSpPr>
          <p:cNvPr id="9" name="Card"/>
          <p:cNvSpPr/>
          <p:nvPr/>
        </p:nvSpPr>
        <p:spPr>
          <a:xfrm>
            <a:off x="3390824" y="1691640"/>
            <a:ext cx="2567864" cy="2834640"/>
          </a:xfrm>
          <a:prstGeom prst="roundRect">
            <a:avLst>
              <a:gd name="adj" fmla="val 2849"/>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(ii) Assumptions</a:t>
            </a:r>
            <a:endParaRPr lang="en-US" sz="1300" dirty="0"/>
          </a:p>
        </p:txBody>
      </p:sp>
      <p:sp>
        <p:nvSpPr>
          <p:cNvPr id="11" name="Card head"/>
          <p:cNvSpPr txBox="1"/>
          <p:nvPr/>
        </p:nvSpPr>
        <p:spPr>
          <a:xfrm>
            <a:off x="3573704" y="2148840"/>
            <a:ext cx="2202104" cy="1399032"/>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Every assumption, by the classes of Table 4.3</a:t>
            </a:r>
            <a:endParaRPr lang="en-US" sz="1800" dirty="0"/>
          </a:p>
        </p:txBody>
      </p:sp>
      <p:sp>
        <p:nvSpPr>
          <p:cNvPr id="12" name="Card text"/>
          <p:cNvSpPr txBox="1"/>
          <p:nvPr/>
        </p:nvSpPr>
        <p:spPr>
          <a:xfrm>
            <a:off x="3573704" y="3621024"/>
            <a:ext cx="2202104" cy="777240"/>
          </a:xfrm>
          <a:prstGeom prst="rect">
            <a:avLst/>
          </a:prstGeom>
          <a:noFill/>
          <a:ln/>
        </p:spPr>
        <p:txBody>
          <a:bodyPr wrap="square" lIns="0" tIns="0" rIns="0" bIns="0" rtlCol="0" anchor="t"/>
          <a:lstStyle/>
          <a:p>
            <a:pPr indent="0" marL="0">
              <a:buNone/>
            </a:pPr>
            <a:r>
              <a:rPr lang="en-US" sz="1500" dirty="0">
                <a:solidFill>
                  <a:schemeClr val="tx2"/>
                </a:solidFill>
              </a:rPr>
              <a:t>An undeclared assumption is a defect regardless of its truth.</a:t>
            </a:r>
            <a:endParaRPr lang="en-US" sz="1500" dirty="0"/>
          </a:p>
        </p:txBody>
      </p:sp>
      <p:sp>
        <p:nvSpPr>
          <p:cNvPr id="13" name="Card"/>
          <p:cNvSpPr/>
          <p:nvPr/>
        </p:nvSpPr>
        <p:spPr>
          <a:xfrm>
            <a:off x="6233008" y="1691640"/>
            <a:ext cx="2567864" cy="2834640"/>
          </a:xfrm>
          <a:prstGeom prst="roundRect">
            <a:avLst>
              <a:gd name="adj" fmla="val 2849"/>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(iii) Validated domain</a:t>
            </a:r>
            <a:endParaRPr lang="en-US" sz="1300" dirty="0"/>
          </a:p>
        </p:txBody>
      </p:sp>
      <p:sp>
        <p:nvSpPr>
          <p:cNvPr id="15" name="Card head"/>
          <p:cNvSpPr txBox="1"/>
          <p:nvPr/>
        </p:nvSpPr>
        <p:spPr>
          <a:xfrm>
            <a:off x="6415888" y="2148840"/>
            <a:ext cx="2202104" cy="1399032"/>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Where the model was validated, and to what tolerance</a:t>
            </a:r>
            <a:endParaRPr lang="en-US" sz="1800" dirty="0"/>
          </a:p>
        </p:txBody>
      </p:sp>
      <p:sp>
        <p:nvSpPr>
          <p:cNvPr id="16" name="Card text"/>
          <p:cNvSpPr txBox="1"/>
          <p:nvPr/>
        </p:nvSpPr>
        <p:spPr>
          <a:xfrm>
            <a:off x="6415888" y="3621024"/>
            <a:ext cx="2202104" cy="777240"/>
          </a:xfrm>
          <a:prstGeom prst="rect">
            <a:avLst/>
          </a:prstGeom>
          <a:noFill/>
          <a:ln/>
        </p:spPr>
        <p:txBody>
          <a:bodyPr wrap="square" lIns="0" tIns="0" rIns="0" bIns="0" rtlCol="0" anchor="t"/>
          <a:lstStyle/>
          <a:p>
            <a:pPr indent="0" marL="0">
              <a:buNone/>
            </a:pPr>
            <a:r>
              <a:rPr lang="en-US" sz="1500" dirty="0">
                <a:solidFill>
                  <a:schemeClr val="tx2"/>
                </a:solidFill>
              </a:rPr>
              <a:t>Definition 4.6: the record and its excited domain.</a:t>
            </a:r>
            <a:endParaRPr lang="en-US" sz="1500" dirty="0"/>
          </a:p>
        </p:txBody>
      </p:sp>
      <p:sp>
        <p:nvSpPr>
          <p:cNvPr id="17" name="Card"/>
          <p:cNvSpPr/>
          <p:nvPr/>
        </p:nvSpPr>
        <p:spPr>
          <a:xfrm>
            <a:off x="9075191" y="1691640"/>
            <a:ext cx="2567864" cy="2834640"/>
          </a:xfrm>
          <a:prstGeom prst="roundRect">
            <a:avLst>
              <a:gd name="adj" fmla="val 2849"/>
            </a:avLst>
          </a:prstGeom>
          <a:solidFill>
            <a:schemeClr val="tx1"/>
          </a:solidFill>
          <a:ln w="9525">
            <a:solidFill>
              <a:srgbClr val="0F1E3D"/>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(iv) Lifecycle plan</a:t>
            </a:r>
            <a:endParaRPr lang="en-US" sz="1300" dirty="0"/>
          </a:p>
        </p:txBody>
      </p:sp>
      <p:sp>
        <p:nvSpPr>
          <p:cNvPr id="19" name="Card head"/>
          <p:cNvSpPr txBox="1"/>
          <p:nvPr/>
        </p:nvSpPr>
        <p:spPr>
          <a:xfrm>
            <a:off x="9258071" y="2148840"/>
            <a:ext cx="2202104" cy="1399032"/>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How the model is monitored, revalidated and retired</a:t>
            </a:r>
            <a:endParaRPr lang="en-US" sz="1800" dirty="0"/>
          </a:p>
        </p:txBody>
      </p:sp>
      <p:sp>
        <p:nvSpPr>
          <p:cNvPr id="20" name="Card text"/>
          <p:cNvSpPr txBox="1"/>
          <p:nvPr/>
        </p:nvSpPr>
        <p:spPr>
          <a:xfrm>
            <a:off x="9258071" y="3621024"/>
            <a:ext cx="2202104" cy="777240"/>
          </a:xfrm>
          <a:prstGeom prst="rect">
            <a:avLst/>
          </a:prstGeom>
          <a:noFill/>
          <a:ln/>
        </p:spPr>
        <p:txBody>
          <a:bodyPr wrap="square" lIns="0" tIns="0" rIns="0" bIns="0" rtlCol="0" anchor="t"/>
          <a:lstStyle/>
          <a:p>
            <a:pPr indent="0" marL="0">
              <a:buNone/>
            </a:pPr>
            <a:r>
              <a:rPr lang="en-US" sz="1500" dirty="0">
                <a:solidFill>
                  <a:schemeClr val="bg2"/>
                </a:solidFill>
              </a:rPr>
              <a:t>Section 4.6: revalidation follows transformation.</a:t>
            </a:r>
            <a:endParaRPr lang="en-US" sz="1500" dirty="0"/>
          </a:p>
        </p:txBody>
      </p:sp>
      <p:sp>
        <p:nvSpPr>
          <p:cNvPr id="21" name="Lead"/>
          <p:cNvSpPr txBox="1"/>
          <p:nvPr/>
        </p:nvSpPr>
        <p:spPr>
          <a:xfrm>
            <a:off x="548640" y="480060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Models are instruments, not portraits: a metro map that distorts every distance is a superb instrument for its question.</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§4.2 · TABLE 4.1 · DEFINITION 4.1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model is a chain of four translations</a:t>
            </a:r>
            <a:endParaRPr lang="en-US" sz="32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041372"/>
                <a:gridCol w="2307638"/>
                <a:gridCol w="3283947"/>
                <a:gridCol w="3461458"/>
              </a:tblGrid>
              <a:tr h="64008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Type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Medium</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Question it settles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Typical failure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64008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Conceptual</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diagrams, prose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what matters and how it connects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omitted mechanism; wrong boundary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4008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Logical</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structured schema</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which readings, links, constraints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hidden variable; category error</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4008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Mathematical</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spaces, mappings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exact form of dynamics and constraints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unearned assumption (linearity, independence)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4008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Computational</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code, data</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numbers, paths, optima</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implementation bug; discretization artifact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02920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Each type translates its predecessor into a stricter medium; an error introduced at one link travels silently through all later links, which is why every link is verified, not only the last.</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Definition 4.1: the completed chain is a model M = (X, μ, f̂, ĝ); the hats mark its claims as claims.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§4.2 · THEOREM 4.1 · PROPOSITION 4.1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 analysis extracts what the model lacks</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4.1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Enterprise Model Representation Theorem</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dirty="0">
                <a:solidFill>
                  <a:schemeClr val="tx1"/>
                </a:solidFill>
              </a:rPr>
              <a:t>For every enterprise question there is a model that can answer it</a:t>
            </a:r>
            <a:endParaRPr lang="en-US" sz="1600" dirty="0"/>
          </a:p>
          <a:p>
            <a:pPr marL="228600" indent="-228600">
              <a:spcAft>
                <a:spcPts val="600"/>
              </a:spcAft>
              <a:buSzPct val="100000"/>
              <a:buChar char="•"/>
            </a:pPr>
            <a:r>
              <a:rPr lang="en-US" sz="1600" dirty="0">
                <a:solidFill>
                  <a:schemeClr val="tx1"/>
                </a:solidFill>
              </a:rPr>
              <a:t>Conversely, a model can answer a question only if the question depends on nothing but the readings it represents</a:t>
            </a:r>
            <a:endParaRPr lang="en-US" sz="1600" dirty="0"/>
          </a:p>
          <a:p>
            <a:pPr marL="228600" indent="-228600">
              <a:spcAft>
                <a:spcPts val="600"/>
              </a:spcAft>
              <a:buSzPct val="100000"/>
              <a:buChar char="•"/>
            </a:pPr>
            <a:r>
              <a:rPr lang="en-US" sz="1600" dirty="0">
                <a:solidFill>
                  <a:schemeClr val="tx1"/>
                </a:solidFill>
              </a:rPr>
              <a:t>A question that depends on a reading outside the model cannot be answered there by any analysis</a:t>
            </a:r>
            <a:endParaRPr lang="en-US" sz="1600" dirty="0"/>
          </a:p>
          <a:p>
            <a:pPr marL="228600" indent="-228600">
              <a:spcAft>
                <a:spcPts val="600"/>
              </a:spcAft>
              <a:buSzPct val="100000"/>
              <a:buChar char="•"/>
            </a:pPr>
            <a:r>
              <a:rPr lang="en-US" sz="1600" b="1" dirty="0">
                <a:solidFill>
                  <a:schemeClr val="tx1"/>
                </a:solidFill>
              </a:rPr>
              <a:t>Proposition 4.1:</a:t>
            </a:r>
            <a:r>
              <a:rPr lang="en-US" sz="1600" dirty="0">
                <a:solidFill>
                  <a:schemeClr val="tx1"/>
                </a:solidFill>
              </a:rPr>
              <a:t> completeness is always relative to a declared class of questions</a:t>
            </a:r>
            <a:endParaRPr lang="en-US" sz="16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For Meridian</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No reading of talent concentration: no dashboard can judge the program's key-person risk</a:t>
            </a:r>
            <a:endParaRPr lang="en-US" sz="1600" dirty="0"/>
          </a:p>
          <a:p>
            <a:pPr marL="228600" indent="-228600">
              <a:spcAft>
                <a:spcPts val="800"/>
              </a:spcAft>
              <a:buSzPct val="100000"/>
              <a:buChar char="•"/>
            </a:pPr>
            <a:r>
              <a:rPr lang="en-US" sz="1600" dirty="0">
                <a:solidFill>
                  <a:schemeClr val="tx1"/>
                </a:solidFill>
              </a:rPr>
              <a:t>Stage balances say where working capital is trapped, not why export receivables age</a:t>
            </a:r>
            <a:endParaRPr lang="en-US" sz="1600" dirty="0"/>
          </a:p>
          <a:p>
            <a:pPr marL="228600" indent="-228600">
              <a:spcAft>
                <a:spcPts val="800"/>
              </a:spcAft>
              <a:buSzPct val="100000"/>
              <a:buChar char="•"/>
            </a:pPr>
            <a:r>
              <a:rPr lang="en-US" sz="1600" dirty="0">
                <a:solidFill>
                  <a:schemeClr val="tx1"/>
                </a:solidFill>
              </a:rPr>
              <a:t>The remedy is never cleverer analysis but a richer representation</a:t>
            </a:r>
            <a:endParaRPr lang="en-US" sz="1600" dirty="0"/>
          </a:p>
          <a:p>
            <a:pPr marL="228600" indent="-228600">
              <a:spcAft>
                <a:spcPts val="800"/>
              </a:spcAft>
              <a:buSzPct val="100000"/>
              <a:buChar char="•"/>
            </a:pPr>
            <a:r>
              <a:rPr lang="en-US" sz="1600" dirty="0">
                <a:solidFill>
                  <a:schemeClr val="tx1"/>
                </a:solidFill>
              </a:rPr>
              <a:t>Box's aphorism made exact: every model is wrong, and useful for the questions it represents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§4.3 · DEFINITIONS 4.2–4.3 · TABLE 4.2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Each step down the ladder is an abstraction</a:t>
            </a:r>
            <a:endParaRPr lang="en-US" sz="32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153819"/>
                <a:gridCol w="3017681"/>
                <a:gridCol w="4260255"/>
                <a:gridCol w="2662660"/>
              </a:tblGrid>
              <a:tr h="64008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Level</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Description</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Typical readings</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Typical questions</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640080">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L3</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group</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the eight readings of Table 3.1</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board strategy</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40080">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L2</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divisions</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capital, performance, and risk by division</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portfolio allocation</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40080">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L1</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business units, plants</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backlog, capacity, skill mix by unit</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operations design</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40080">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L0</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transactions, individuals</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orders, postings, employees</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process forensics</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02920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Abstraction (Definition 4.2) discards detail by lumping fine states into fibers; decomposition (Definition 4.3) splits the state into blocks and keeps everything: its content is the coupling structure.</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Proposition 4.2: no abstraction is automatically safe for forecasting; it depends on the dynamics too.</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§4.4 · THEOREM 4.2 · PROPOSITION 4.3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roll-up forecasts only if dynamics respect it</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4.2</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Hierarchical Consistency Theorem</a:t>
            </a:r>
            <a:endParaRPr lang="en-US" sz="2100" dirty="0"/>
          </a:p>
        </p:txBody>
      </p:sp>
      <p:pic>
        <p:nvPicPr>
          <p:cNvPr id="8" name="Equation" descr="Equation: \alpha \circ \hat f \;=\; \hat f' \circ \alpha">    </p:cNvPr>
          <p:cNvPicPr>
            <a:picLocks noChangeAspect="1"/>
          </p:cNvPicPr>
          <p:nvPr/>
        </p:nvPicPr>
        <p:blipFill>
          <a:blip r:embed="rId1"/>
          <a:stretch>
            <a:fillRect/>
          </a:stretch>
        </p:blipFill>
        <p:spPr>
          <a:xfrm>
            <a:off x="822960" y="2743200"/>
            <a:ext cx="2156521" cy="502920"/>
          </a:xfrm>
          <a:prstGeom prst="rect">
            <a:avLst/>
          </a:prstGeom>
        </p:spPr>
      </p:pic>
      <p:sp>
        <p:nvSpPr>
          <p:cNvPr id="9" name="Bullets"/>
          <p:cNvSpPr txBox="1"/>
          <p:nvPr/>
        </p:nvSpPr>
        <p:spPr>
          <a:xfrm>
            <a:off x="822960" y="3410712"/>
            <a:ext cx="5394960" cy="2624328"/>
          </a:xfrm>
          <a:prstGeom prst="rect">
            <a:avLst/>
          </a:prstGeom>
          <a:noFill/>
          <a:ln/>
        </p:spPr>
        <p:txBody>
          <a:bodyPr wrap="square" lIns="635" tIns="635" rIns="635" bIns="635" rtlCol="0" anchor="t"/>
          <a:lstStyle/>
          <a:p>
            <a:pPr marL="228600" indent="-228600">
              <a:spcAft>
                <a:spcPts val="600"/>
              </a:spcAft>
              <a:buSzPct val="100000"/>
              <a:buChar char="•"/>
            </a:pPr>
            <a:r>
              <a:rPr lang="en-US" sz="1600" dirty="0">
                <a:solidFill>
                  <a:schemeClr val="tx1"/>
                </a:solidFill>
              </a:rPr>
              <a:t>A summary supports its own forecasting model exactly when the detailed dynamics never split what it lumps together</a:t>
            </a:r>
            <a:endParaRPr lang="en-US" sz="1600" dirty="0"/>
          </a:p>
          <a:p>
            <a:pPr marL="228600" indent="-228600">
              <a:spcAft>
                <a:spcPts val="600"/>
              </a:spcAft>
              <a:buSzPct val="100000"/>
              <a:buChar char="•"/>
            </a:pPr>
            <a:r>
              <a:rPr lang="en-US" sz="1600" dirty="0">
                <a:solidFill>
                  <a:schemeClr val="tx1"/>
                </a:solidFill>
              </a:rPr>
              <a:t>Then the summary model is unique and agrees with the rolled-up detailed model at every horizon</a:t>
            </a:r>
            <a:endParaRPr lang="en-US" sz="1600" dirty="0"/>
          </a:p>
          <a:p>
            <a:pPr marL="228600" indent="-228600">
              <a:spcAft>
                <a:spcPts val="600"/>
              </a:spcAft>
              <a:buSzPct val="100000"/>
              <a:buChar char="•"/>
            </a:pPr>
            <a:r>
              <a:rPr lang="en-US" sz="1600" dirty="0">
                <a:solidFill>
                  <a:schemeClr val="tx1"/>
                </a:solidFill>
              </a:rPr>
              <a:t>For linear dynamics the test is a calculation: A ker P ⊆ ker P (Appendix 4.A)</a:t>
            </a:r>
            <a:endParaRPr lang="en-US" sz="16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A divisional summary forecasts only if units with the same totals have the same future</a:t>
            </a:r>
            <a:endParaRPr lang="en-US" sz="1600" dirty="0"/>
          </a:p>
          <a:p>
            <a:pPr marL="228600" indent="-228600">
              <a:spcAft>
                <a:spcPts val="800"/>
              </a:spcAft>
              <a:buSzPct val="100000"/>
              <a:buChar char="•"/>
            </a:pPr>
            <a:r>
              <a:rPr lang="en-US" sz="1600" dirty="0">
                <a:solidFill>
                  <a:schemeClr val="tx1"/>
                </a:solidFill>
              </a:rPr>
              <a:t>Summarize along directions the dynamics do not split, or carry the mix up into the summary</a:t>
            </a:r>
            <a:endParaRPr lang="en-US" sz="1600" dirty="0"/>
          </a:p>
          <a:p>
            <a:pPr marL="228600" indent="-228600">
              <a:spcAft>
                <a:spcPts val="800"/>
              </a:spcAft>
              <a:buSzPct val="100000"/>
              <a:buChar char="•"/>
            </a:pPr>
            <a:r>
              <a:rPr lang="en-US" sz="1600" dirty="0">
                <a:solidFill>
                  <a:schemeClr val="tx1"/>
                </a:solidFill>
              </a:rPr>
              <a:t>Consolidated statements are exact as accounting and conditional as dynamics</a:t>
            </a:r>
            <a:endParaRPr lang="en-US" sz="1600" dirty="0"/>
          </a:p>
          <a:p>
            <a:pPr marL="228600" indent="-228600">
              <a:spcAft>
                <a:spcPts val="800"/>
              </a:spcAft>
              <a:buSzPct val="100000"/>
              <a:buChar char="•"/>
            </a:pPr>
            <a:r>
              <a:rPr lang="en-US" sz="1600" b="1" dirty="0">
                <a:solidFill>
                  <a:schemeClr val="tx1"/>
                </a:solidFill>
              </a:rPr>
              <a:t>Proposition 4.3:</a:t>
            </a:r>
            <a:r>
              <a:rPr lang="en-US" sz="1600" dirty="0">
                <a:solidFill>
                  <a:schemeClr val="tx1"/>
                </a:solidFill>
              </a:rPr>
              <a:t> consistency between adjacent levels composes up the hierarchy</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§4.4 · TABLE 4.3 · DEFINITION 4.5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Declare every assumption, by its class</a:t>
            </a:r>
            <a:endParaRPr lang="en-US" sz="32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952617"/>
                <a:gridCol w="4437766"/>
                <a:gridCol w="4704032"/>
              </a:tblGrid>
              <a:tr h="54864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Class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Content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Meridian instances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4864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Structural</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which mechanisms exist; coupling; functional forms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modernization affects efficiency with a one-period lag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Parametric</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values and ranges of named parameters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talent attrition between 6 and 11 percent a year</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4864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Domain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the region where the model is asserted</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leverage at most 4.5×; no acquisitions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Measurement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proxies, error sizes, and delays for each reading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capability index: survey proxy, ±5 points, twice a year</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4864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Horizon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periods over which conclusions are claimed</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12 quarters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512064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An undeclared assumption is a defect regardless of its truth.</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Definition 4.5: internally consistent means the model's own transition never leaves its admissible region.</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§4.5 · EQUATION 4.2 · FIGURE 4.1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Verification and validation are different tests</a:t>
            </a:r>
            <a:endParaRPr lang="en-US" sz="3200" dirty="0"/>
          </a:p>
        </p:txBody>
      </p:sp>
      <p:sp>
        <p:nvSpPr>
          <p:cNvPr id="5" name="Bullets"/>
          <p:cNvSpPr txBox="1"/>
          <p:nvPr/>
        </p:nvSpPr>
        <p:spPr>
          <a:xfrm>
            <a:off x="548640" y="1691640"/>
            <a:ext cx="4920551"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Measurement:</a:t>
            </a:r>
            <a:r>
              <a:rPr lang="en-US" sz="1600" dirty="0">
                <a:solidFill>
                  <a:schemeClr val="tx1"/>
                </a:solidFill>
              </a:rPr>
              <a:t> a recorded reading is its proxy plus an error, m = μ(x) + η (Equation 4.2)</a:t>
            </a:r>
            <a:endParaRPr lang="en-US" sz="1600" dirty="0"/>
          </a:p>
          <a:p>
            <a:pPr marL="228600" indent="-228600">
              <a:spcAft>
                <a:spcPts val="800"/>
              </a:spcAft>
              <a:buSzPct val="100000"/>
              <a:buChar char="•"/>
            </a:pPr>
            <a:r>
              <a:rPr lang="en-US" sz="1600" dirty="0">
                <a:solidFill>
                  <a:schemeClr val="tx1"/>
                </a:solidFill>
              </a:rPr>
              <a:t>Some readings are observed directly, some are index proxies with material error, some are latent</a:t>
            </a:r>
            <a:endParaRPr lang="en-US" sz="1600" dirty="0"/>
          </a:p>
          <a:p>
            <a:pPr marL="228600" indent="-228600">
              <a:spcAft>
                <a:spcPts val="800"/>
              </a:spcAft>
              <a:buSzPct val="100000"/>
              <a:buChar char="•"/>
            </a:pPr>
            <a:r>
              <a:rPr lang="en-US" sz="1600" b="1" dirty="0">
                <a:solidFill>
                  <a:schemeClr val="tx1"/>
                </a:solidFill>
              </a:rPr>
              <a:t>Verification:</a:t>
            </a:r>
            <a:r>
              <a:rPr lang="en-US" sz="1600" dirty="0">
                <a:solidFill>
                  <a:schemeClr val="tx1"/>
                </a:solidFill>
              </a:rPr>
              <a:t> is each translation faithful? Internal: settled by proof, test, inspection</a:t>
            </a:r>
            <a:endParaRPr lang="en-US" sz="1600" dirty="0"/>
          </a:p>
          <a:p>
            <a:pPr marL="228600" indent="-228600">
              <a:spcAft>
                <a:spcPts val="800"/>
              </a:spcAft>
              <a:buSzPct val="100000"/>
              <a:buChar char="•"/>
            </a:pPr>
            <a:r>
              <a:rPr lang="en-US" sz="1600" b="1" dirty="0">
                <a:solidFill>
                  <a:schemeClr val="tx1"/>
                </a:solidFill>
              </a:rPr>
              <a:t>Validation:</a:t>
            </a:r>
            <a:r>
              <a:rPr lang="en-US" sz="1600" dirty="0">
                <a:solidFill>
                  <a:schemeClr val="tx1"/>
                </a:solidFill>
              </a:rPr>
              <a:t> does the end of the chain track the company? Empirical: against measured outputs</a:t>
            </a:r>
            <a:endParaRPr lang="en-US" sz="1600" dirty="0"/>
          </a:p>
          <a:p>
            <a:pPr marL="228600" indent="-228600">
              <a:spcAft>
                <a:spcPts val="800"/>
              </a:spcAft>
              <a:buSzPct val="100000"/>
              <a:buChar char="•"/>
            </a:pPr>
            <a:r>
              <a:rPr lang="en-US" sz="1600" dirty="0">
                <a:solidFill>
                  <a:schemeClr val="tx1"/>
                </a:solidFill>
              </a:rPr>
              <a:t>A perfectly verified chain can faithfully implement a wrong idea</a:t>
            </a:r>
            <a:endParaRPr lang="en-US" sz="1600" dirty="0"/>
          </a:p>
        </p:txBody>
      </p:sp>
      <p:pic>
        <p:nvPicPr>
          <p:cNvPr id="6" name="Figure" descr="Figure 4.1: the enterprise modeling chain and its two tests">    </p:cNvPr>
          <p:cNvPicPr>
            <a:picLocks noChangeAspect="1"/>
          </p:cNvPicPr>
          <p:nvPr/>
        </p:nvPicPr>
        <p:blipFill>
          <a:blip r:embed="rId1"/>
          <a:stretch>
            <a:fillRect/>
          </a:stretch>
        </p:blipFill>
        <p:spPr>
          <a:xfrm>
            <a:off x="5834951" y="2158617"/>
            <a:ext cx="5808104" cy="2979678"/>
          </a:xfrm>
          <a:prstGeom prst="rect">
            <a:avLst/>
          </a:prstGeom>
        </p:spPr>
      </p:pic>
      <p:sp>
        <p:nvSpPr>
          <p:cNvPr id="7" name="Caption"/>
          <p:cNvSpPr txBox="1"/>
          <p:nvPr/>
        </p:nvSpPr>
        <p:spPr>
          <a:xfrm>
            <a:off x="5834951" y="5211447"/>
            <a:ext cx="5808104" cy="502920"/>
          </a:xfrm>
          <a:prstGeom prst="rect">
            <a:avLst/>
          </a:prstGeom>
          <a:noFill/>
          <a:ln/>
        </p:spPr>
        <p:txBody>
          <a:bodyPr wrap="square" lIns="0" tIns="0" rIns="0" bIns="0" rtlCol="0" anchor="t"/>
          <a:lstStyle/>
          <a:p>
            <a:pPr indent="0" marL="0">
              <a:buNone/>
            </a:pPr>
            <a:r>
              <a:rPr lang="en-US" sz="1100" i="1" dirty="0">
                <a:solidFill>
                  <a:schemeClr val="tx2"/>
                </a:solidFill>
              </a:rPr>
              <a:t>Figure 4.1. Verification checks each translation link; validation checks the end of the chain against the company, on a declared record and tolerance.</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§4.5 · DEFINITION 4.6 · THEOREM 4.3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fit certifies only where the record has been</a:t>
            </a:r>
            <a:endParaRPr lang="en-US" sz="3200" dirty="0"/>
          </a:p>
        </p:txBody>
      </p:sp>
      <p:sp>
        <p:nvSpPr>
          <p:cNvPr id="5" name="Bullets"/>
          <p:cNvSpPr txBox="1"/>
          <p:nvPr/>
        </p:nvSpPr>
        <p:spPr>
          <a:xfrm>
            <a:off x="548640" y="1691640"/>
            <a:ext cx="4920551"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Theorem 4.3:</a:t>
            </a:r>
            <a:r>
              <a:rPr lang="en-US" sz="1600" dirty="0">
                <a:solidFill>
                  <a:schemeClr val="tx1"/>
                </a:solidFill>
              </a:rPr>
              <a:t> another model can fit the same record exactly as well, yet differ off it by any amount</a:t>
            </a:r>
            <a:endParaRPr lang="en-US" sz="1600" dirty="0"/>
          </a:p>
          <a:p>
            <a:pPr marL="228600" indent="-228600">
              <a:spcAft>
                <a:spcPts val="800"/>
              </a:spcAft>
              <a:buSzPct val="100000"/>
              <a:buChar char="•"/>
            </a:pPr>
            <a:r>
              <a:rPr lang="en-US" sz="1600" dirty="0">
                <a:solidFill>
                  <a:schemeClr val="tx1"/>
                </a:solidFill>
              </a:rPr>
              <a:t>No test computed from the record can tell the two apart</a:t>
            </a:r>
            <a:endParaRPr lang="en-US" sz="1600" dirty="0"/>
          </a:p>
          <a:p>
            <a:pPr marL="228600" indent="-228600">
              <a:spcAft>
                <a:spcPts val="800"/>
              </a:spcAft>
              <a:buSzPct val="100000"/>
              <a:buChar char="•"/>
            </a:pPr>
            <a:r>
              <a:rPr lang="en-US" sz="1600" dirty="0">
                <a:solidFill>
                  <a:schemeClr val="tx1"/>
                </a:solidFill>
              </a:rPr>
              <a:t>Transformation is, by design, an excursion beyond the record</a:t>
            </a:r>
            <a:endParaRPr lang="en-US" sz="1600" dirty="0"/>
          </a:p>
          <a:p>
            <a:pPr marL="228600" indent="-228600">
              <a:spcAft>
                <a:spcPts val="800"/>
              </a:spcAft>
              <a:buSzPct val="100000"/>
              <a:buChar char="•"/>
            </a:pPr>
            <a:r>
              <a:rPr lang="en-US" sz="1600" dirty="0">
                <a:solidFill>
                  <a:schemeClr val="tx1"/>
                </a:solidFill>
              </a:rPr>
              <a:t>Fitted curves say nothing off the record; mechanisms credentialed elsewhere earn reach</a:t>
            </a:r>
            <a:endParaRPr lang="en-US" sz="1600" dirty="0"/>
          </a:p>
          <a:p>
            <a:pPr marL="228600" indent="-228600">
              <a:spcAft>
                <a:spcPts val="800"/>
              </a:spcAft>
              <a:buSzPct val="100000"/>
              <a:buChar char="•"/>
            </a:pPr>
            <a:r>
              <a:rPr lang="en-US" sz="1600" dirty="0">
                <a:solidFill>
                  <a:schemeClr val="tx1"/>
                </a:solidFill>
              </a:rPr>
              <a:t>Extrapolation is bought with assumptions: name the one that carries each number</a:t>
            </a:r>
            <a:endParaRPr lang="en-US" sz="1600" dirty="0"/>
          </a:p>
        </p:txBody>
      </p:sp>
      <p:pic>
        <p:nvPicPr>
          <p:cNvPr id="6" name="Figure" descr="Figure 4.3: validation and its boundary">    </p:cNvPr>
          <p:cNvPicPr>
            <a:picLocks noChangeAspect="1"/>
          </p:cNvPicPr>
          <p:nvPr/>
        </p:nvPicPr>
        <p:blipFill>
          <a:blip r:embed="rId1"/>
          <a:stretch>
            <a:fillRect/>
          </a:stretch>
        </p:blipFill>
        <p:spPr>
          <a:xfrm>
            <a:off x="5834951" y="1911571"/>
            <a:ext cx="5808104" cy="3473771"/>
          </a:xfrm>
          <a:prstGeom prst="rect">
            <a:avLst/>
          </a:prstGeom>
        </p:spPr>
      </p:pic>
      <p:sp>
        <p:nvSpPr>
          <p:cNvPr id="7" name="Caption"/>
          <p:cNvSpPr txBox="1"/>
          <p:nvPr/>
        </p:nvSpPr>
        <p:spPr>
          <a:xfrm>
            <a:off x="5834951" y="5458493"/>
            <a:ext cx="5808104" cy="502920"/>
          </a:xfrm>
          <a:prstGeom prst="rect">
            <a:avLst/>
          </a:prstGeom>
          <a:noFill/>
          <a:ln/>
        </p:spPr>
        <p:txBody>
          <a:bodyPr wrap="square" lIns="0" tIns="0" rIns="0" bIns="0" rtlCol="0" anchor="t"/>
          <a:lstStyle/>
          <a:p>
            <a:pPr indent="0" marL="0">
              <a:buNone/>
            </a:pPr>
            <a:r>
              <a:rPr lang="en-US" sz="1100" i="1" dirty="0">
                <a:solidFill>
                  <a:schemeClr val="tx2"/>
                </a:solidFill>
              </a:rPr>
              <a:t>Figure 4.3. The record covers the shaded region; Meridian's transformation path leaves it by design, and two models that fit the record equally well fan apart.</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§4.5 · TABLE 4.4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Audit the domain before trusting a projection</a:t>
            </a:r>
            <a:endParaRPr lang="en-US" sz="32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952617"/>
                <a:gridCol w="9141798"/>
              </a:tblGrid>
              <a:tr h="45720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Stage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Items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73152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Verification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mathematics renders the logic; code implements the mathematics (tests on known solutions); constraints preserved (internal consistency, Definition 4.5)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73152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Validation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data record declared; distance and tolerance declared; discrepancy reported against tolerance; measurement error of each output stated</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73152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Domain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excited domain described (ranges visited, couplings exercised); intended use compared with it; conclusions beyond it annotated with the assumptions that carry them</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0292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Monitoring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drift indicators and revalidation triggers defined (Section 4.6)</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12064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Meridian's digital-program model, validated on seven years of history: leverage and liquidity stay in range; history has no year with capability spending above 40 percent of capital spending.</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Every projection through those regions is carried by structural assumptions; the report should say so.</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§4.6 · FIGURE 4.4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Revalidation follows transformation</a:t>
            </a:r>
            <a:endParaRPr lang="en-US" sz="3200" dirty="0"/>
          </a:p>
        </p:txBody>
      </p:sp>
      <p:sp>
        <p:nvSpPr>
          <p:cNvPr id="5" name="Bullets"/>
          <p:cNvSpPr txBox="1"/>
          <p:nvPr/>
        </p:nvSpPr>
        <p:spPr>
          <a:xfrm>
            <a:off x="548640" y="1691640"/>
            <a:ext cx="4920551"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Specify, build, verify, validate, deploy, monitor, revise or retire: an instrument under maintenance</a:t>
            </a:r>
            <a:endParaRPr lang="en-US" sz="1600" dirty="0"/>
          </a:p>
          <a:p>
            <a:pPr marL="228600" indent="-228600">
              <a:spcAft>
                <a:spcPts val="800"/>
              </a:spcAft>
              <a:buSzPct val="100000"/>
              <a:buChar char="•"/>
            </a:pPr>
            <a:r>
              <a:rPr lang="en-US" sz="1600" dirty="0">
                <a:solidFill>
                  <a:schemeClr val="tx1"/>
                </a:solidFill>
              </a:rPr>
              <a:t>Deploy within the validated domain, and annotate any use beyond it</a:t>
            </a:r>
            <a:endParaRPr lang="en-US" sz="1600" dirty="0"/>
          </a:p>
          <a:p>
            <a:pPr marL="228600" indent="-228600">
              <a:spcAft>
                <a:spcPts val="800"/>
              </a:spcAft>
              <a:buSzPct val="100000"/>
              <a:buChar char="•"/>
            </a:pPr>
            <a:r>
              <a:rPr lang="en-US" sz="1600" dirty="0">
                <a:solidFill>
                  <a:schemeClr val="tx1"/>
                </a:solidFill>
              </a:rPr>
              <a:t>A completed transformation leaves the domain the models were validated on</a:t>
            </a:r>
            <a:endParaRPr lang="en-US" sz="1600" dirty="0"/>
          </a:p>
          <a:p>
            <a:pPr marL="228600" indent="-228600">
              <a:spcAft>
                <a:spcPts val="800"/>
              </a:spcAft>
              <a:buSzPct val="100000"/>
              <a:buChar char="•"/>
            </a:pPr>
            <a:r>
              <a:rPr lang="en-US" sz="1600" dirty="0">
                <a:solidFill>
                  <a:schemeClr val="tx1"/>
                </a:solidFill>
              </a:rPr>
              <a:t>Programs must budget for remodeling as they budget for retraining</a:t>
            </a:r>
            <a:endParaRPr lang="en-US" sz="1600" dirty="0"/>
          </a:p>
          <a:p>
            <a:pPr marL="228600" indent="-228600">
              <a:spcAft>
                <a:spcPts val="800"/>
              </a:spcAft>
              <a:buSzPct val="100000"/>
              <a:buChar char="•"/>
            </a:pPr>
            <a:r>
              <a:rPr lang="en-US" sz="1600" b="1" dirty="0">
                <a:solidFill>
                  <a:schemeClr val="tx1"/>
                </a:solidFill>
              </a:rPr>
              <a:t>Retirement is a success mode:</a:t>
            </a:r>
            <a:r>
              <a:rPr lang="en-US" sz="1600" dirty="0">
                <a:solidFill>
                  <a:schemeClr val="tx1"/>
                </a:solidFill>
              </a:rPr>
              <a:t> the failure is the model kept past its domain</a:t>
            </a:r>
            <a:endParaRPr lang="en-US" sz="1600" dirty="0"/>
          </a:p>
        </p:txBody>
      </p:sp>
      <p:pic>
        <p:nvPicPr>
          <p:cNvPr id="6" name="Figure" descr="Figure 4.4: the DCT model lifecycle">    </p:cNvPr>
          <p:cNvPicPr>
            <a:picLocks noChangeAspect="1"/>
          </p:cNvPicPr>
          <p:nvPr/>
        </p:nvPicPr>
        <p:blipFill>
          <a:blip r:embed="rId1"/>
          <a:stretch>
            <a:fillRect/>
          </a:stretch>
        </p:blipFill>
        <p:spPr>
          <a:xfrm>
            <a:off x="5834951" y="1810736"/>
            <a:ext cx="5808104" cy="3675441"/>
          </a:xfrm>
          <a:prstGeom prst="rect">
            <a:avLst/>
          </a:prstGeom>
        </p:spPr>
      </p:pic>
      <p:sp>
        <p:nvSpPr>
          <p:cNvPr id="7" name="Caption"/>
          <p:cNvSpPr txBox="1"/>
          <p:nvPr/>
        </p:nvSpPr>
        <p:spPr>
          <a:xfrm>
            <a:off x="5834951" y="5559328"/>
            <a:ext cx="5808104" cy="502920"/>
          </a:xfrm>
          <a:prstGeom prst="rect">
            <a:avLst/>
          </a:prstGeom>
          <a:noFill/>
          <a:ln/>
        </p:spPr>
        <p:txBody>
          <a:bodyPr wrap="square" lIns="0" tIns="0" rIns="0" bIns="0" rtlCol="0" anchor="t"/>
          <a:lstStyle/>
          <a:p>
            <a:pPr indent="0" marL="0">
              <a:buNone/>
            </a:pPr>
            <a:r>
              <a:rPr lang="en-US" sz="1100" i="1" dirty="0">
                <a:solidFill>
                  <a:schemeClr val="tx2"/>
                </a:solidFill>
              </a:rPr>
              <a:t>Figure 4.4. The DCT model lifecycle. A transformation event takes the company outside the validated domain and forces revalidation.</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4.1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Two units, the same headcount, two futures</a:t>
            </a:r>
            <a:endParaRPr lang="en-US" sz="3200" dirty="0"/>
          </a:p>
        </p:txBody>
      </p:sp>
      <p:sp>
        <p:nvSpPr>
          <p:cNvPr id="5" name="Card"/>
          <p:cNvSpPr/>
          <p:nvPr/>
        </p:nvSpPr>
        <p:spPr>
          <a:xfrm>
            <a:off x="548640" y="1691640"/>
            <a:ext cx="3515258" cy="1783080"/>
          </a:xfrm>
          <a:prstGeom prst="roundRect">
            <a:avLst>
              <a:gd name="adj" fmla="val 4103"/>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Unit A</a:t>
            </a:r>
            <a:endParaRPr lang="en-US" sz="1300" dirty="0"/>
          </a:p>
        </p:txBody>
      </p:sp>
      <p:sp>
        <p:nvSpPr>
          <p:cNvPr id="7" name="Card head"/>
          <p:cNvSpPr txBox="1"/>
          <p:nvPr/>
        </p:nvSpPr>
        <p:spPr>
          <a:xfrm>
            <a:off x="731520" y="2148840"/>
            <a:ext cx="3149498" cy="576072"/>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400 legacy and 100 software engineers</a:t>
            </a:r>
            <a:endParaRPr lang="en-US" sz="1900" dirty="0"/>
          </a:p>
        </p:txBody>
      </p:sp>
      <p:sp>
        <p:nvSpPr>
          <p:cNvPr id="8" name="Card text"/>
          <p:cNvSpPr txBox="1"/>
          <p:nvPr/>
        </p:nvSpPr>
        <p:spPr>
          <a:xfrm>
            <a:off x="731520" y="2798064"/>
            <a:ext cx="3149498" cy="548640"/>
          </a:xfrm>
          <a:prstGeom prst="rect">
            <a:avLst/>
          </a:prstGeom>
          <a:noFill/>
          <a:ln/>
        </p:spPr>
        <p:txBody>
          <a:bodyPr wrap="square" lIns="0" tIns="0" rIns="0" bIns="0" rtlCol="0" anchor="t"/>
          <a:lstStyle/>
          <a:p>
            <a:pPr indent="0" marL="0">
              <a:buNone/>
            </a:pPr>
            <a:r>
              <a:rPr lang="en-US" sz="1500" dirty="0">
                <a:solidFill>
                  <a:schemeClr val="tx2"/>
                </a:solidFill>
              </a:rPr>
              <a:t>500 in all: one software engineer in five.</a:t>
            </a:r>
            <a:endParaRPr lang="en-US" sz="1500" dirty="0"/>
          </a:p>
        </p:txBody>
      </p:sp>
      <p:sp>
        <p:nvSpPr>
          <p:cNvPr id="9" name="Card"/>
          <p:cNvSpPr/>
          <p:nvPr/>
        </p:nvSpPr>
        <p:spPr>
          <a:xfrm>
            <a:off x="4338218" y="1691640"/>
            <a:ext cx="3515258" cy="1783080"/>
          </a:xfrm>
          <a:prstGeom prst="roundRect">
            <a:avLst>
              <a:gd name="adj" fmla="val 4103"/>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Unit B</a:t>
            </a:r>
            <a:endParaRPr lang="en-US" sz="1300" dirty="0"/>
          </a:p>
        </p:txBody>
      </p:sp>
      <p:sp>
        <p:nvSpPr>
          <p:cNvPr id="11" name="Card head"/>
          <p:cNvSpPr txBox="1"/>
          <p:nvPr/>
        </p:nvSpPr>
        <p:spPr>
          <a:xfrm>
            <a:off x="4521098" y="2148840"/>
            <a:ext cx="3149498" cy="576072"/>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100 legacy and 400 software engineers</a:t>
            </a:r>
            <a:endParaRPr lang="en-US" sz="1900" dirty="0"/>
          </a:p>
        </p:txBody>
      </p:sp>
      <p:sp>
        <p:nvSpPr>
          <p:cNvPr id="12" name="Card text"/>
          <p:cNvSpPr txBox="1"/>
          <p:nvPr/>
        </p:nvSpPr>
        <p:spPr>
          <a:xfrm>
            <a:off x="4521098" y="2798064"/>
            <a:ext cx="3149498" cy="548640"/>
          </a:xfrm>
          <a:prstGeom prst="rect">
            <a:avLst/>
          </a:prstGeom>
          <a:noFill/>
          <a:ln/>
        </p:spPr>
        <p:txBody>
          <a:bodyPr wrap="square" lIns="0" tIns="0" rIns="0" bIns="0" rtlCol="0" anchor="t"/>
          <a:lstStyle/>
          <a:p>
            <a:pPr indent="0" marL="0">
              <a:buNone/>
            </a:pPr>
            <a:r>
              <a:rPr lang="en-US" sz="1500" dirty="0">
                <a:solidFill>
                  <a:schemeClr val="tx2"/>
                </a:solidFill>
              </a:rPr>
              <a:t>500 in all: four software engineers in five.</a:t>
            </a:r>
            <a:endParaRPr lang="en-US" sz="1500" dirty="0"/>
          </a:p>
        </p:txBody>
      </p:sp>
      <p:sp>
        <p:nvSpPr>
          <p:cNvPr id="13" name="Card"/>
          <p:cNvSpPr/>
          <p:nvPr/>
        </p:nvSpPr>
        <p:spPr>
          <a:xfrm>
            <a:off x="8127797" y="1691640"/>
            <a:ext cx="3515258" cy="1783080"/>
          </a:xfrm>
          <a:prstGeom prst="roundRect">
            <a:avLst>
              <a:gd name="adj" fmla="val 4103"/>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planning model</a:t>
            </a:r>
            <a:endParaRPr lang="en-US" sz="1300" dirty="0"/>
          </a:p>
        </p:txBody>
      </p:sp>
      <p:sp>
        <p:nvSpPr>
          <p:cNvPr id="15" name="Card head"/>
          <p:cNvSpPr txBox="1"/>
          <p:nvPr/>
        </p:nvSpPr>
        <p:spPr>
          <a:xfrm>
            <a:off x="8310677" y="2148840"/>
            <a:ext cx="3149498" cy="576072"/>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One attrition rate for each unit's total</a:t>
            </a:r>
            <a:endParaRPr lang="en-US" sz="1900" dirty="0"/>
          </a:p>
        </p:txBody>
      </p:sp>
      <p:sp>
        <p:nvSpPr>
          <p:cNvPr id="16" name="Card text"/>
          <p:cNvSpPr txBox="1"/>
          <p:nvPr/>
        </p:nvSpPr>
        <p:spPr>
          <a:xfrm>
            <a:off x="8310677" y="2798064"/>
            <a:ext cx="3149498" cy="548640"/>
          </a:xfrm>
          <a:prstGeom prst="rect">
            <a:avLst/>
          </a:prstGeom>
          <a:noFill/>
          <a:ln/>
        </p:spPr>
        <p:txBody>
          <a:bodyPr wrap="square" lIns="0" tIns="0" rIns="0" bIns="0" rtlCol="0" anchor="t"/>
          <a:lstStyle/>
          <a:p>
            <a:pPr indent="0" marL="0">
              <a:buNone/>
            </a:pPr>
            <a:r>
              <a:rPr lang="en-US" sz="1500" dirty="0">
                <a:solidFill>
                  <a:schemeClr val="bg2"/>
                </a:solidFill>
              </a:rPr>
              <a:t>The HR dashboard tracks engineers by unit.</a:t>
            </a:r>
            <a:endParaRPr lang="en-US" sz="1500" dirty="0"/>
          </a:p>
        </p:txBody>
      </p:sp>
      <p:sp>
        <p:nvSpPr>
          <p:cNvPr id="17" name="Card"/>
          <p:cNvSpPr/>
          <p:nvPr/>
        </p:nvSpPr>
        <p:spPr>
          <a:xfrm>
            <a:off x="548640" y="3749040"/>
            <a:ext cx="3515258" cy="1783080"/>
          </a:xfrm>
          <a:prstGeom prst="roundRect">
            <a:avLst>
              <a:gd name="adj" fmla="val 4103"/>
            </a:avLst>
          </a:prstGeom>
          <a:solidFill>
            <a:schemeClr val="bg2"/>
          </a:solidFill>
          <a:ln w="9525">
            <a:solidFill>
              <a:srgbClr val="C4CBD8"/>
            </a:solidFill>
            <a:prstDash val="solid"/>
          </a:ln>
        </p:spPr>
      </p:sp>
      <p:sp>
        <p:nvSpPr>
          <p:cNvPr id="18" name="Card label"/>
          <p:cNvSpPr txBox="1"/>
          <p:nvPr/>
        </p:nvSpPr>
        <p:spPr>
          <a:xfrm>
            <a:off x="731520"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legacy pool</a:t>
            </a:r>
            <a:endParaRPr lang="en-US" sz="1300" dirty="0"/>
          </a:p>
        </p:txBody>
      </p:sp>
      <p:sp>
        <p:nvSpPr>
          <p:cNvPr id="19" name="Card head"/>
          <p:cNvSpPr txBox="1"/>
          <p:nvPr/>
        </p:nvSpPr>
        <p:spPr>
          <a:xfrm>
            <a:off x="731520" y="4206240"/>
            <a:ext cx="3149498" cy="576072"/>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8% leave it each year</a:t>
            </a:r>
            <a:endParaRPr lang="en-US" sz="1900" dirty="0"/>
          </a:p>
        </p:txBody>
      </p:sp>
      <p:sp>
        <p:nvSpPr>
          <p:cNvPr id="20" name="Card text"/>
          <p:cNvSpPr txBox="1"/>
          <p:nvPr/>
        </p:nvSpPr>
        <p:spPr>
          <a:xfrm>
            <a:off x="731520" y="4855464"/>
            <a:ext cx="3149498" cy="548640"/>
          </a:xfrm>
          <a:prstGeom prst="rect">
            <a:avLst/>
          </a:prstGeom>
          <a:noFill/>
          <a:ln/>
        </p:spPr>
        <p:txBody>
          <a:bodyPr wrap="square" lIns="0" tIns="0" rIns="0" bIns="0" rtlCol="0" anchor="t"/>
          <a:lstStyle/>
          <a:p>
            <a:pPr indent="0" marL="0">
              <a:buNone/>
            </a:pPr>
            <a:r>
              <a:rPr lang="en-US" sz="1500" dirty="0">
                <a:solidFill>
                  <a:schemeClr val="tx2"/>
                </a:solidFill>
              </a:rPr>
              <a:t>5% leave the company; 3% are retrained into software skills.</a:t>
            </a:r>
            <a:endParaRPr lang="en-US" sz="1500" dirty="0"/>
          </a:p>
        </p:txBody>
      </p:sp>
      <p:sp>
        <p:nvSpPr>
          <p:cNvPr id="21" name="Card"/>
          <p:cNvSpPr/>
          <p:nvPr/>
        </p:nvSpPr>
        <p:spPr>
          <a:xfrm>
            <a:off x="4338218" y="3749040"/>
            <a:ext cx="3515258" cy="1783080"/>
          </a:xfrm>
          <a:prstGeom prst="roundRect">
            <a:avLst>
              <a:gd name="adj" fmla="val 4103"/>
            </a:avLst>
          </a:prstGeom>
          <a:solidFill>
            <a:schemeClr val="bg2"/>
          </a:solidFill>
          <a:ln w="9525">
            <a:solidFill>
              <a:srgbClr val="C4CBD8"/>
            </a:solidFill>
            <a:prstDash val="solid"/>
          </a:ln>
        </p:spPr>
      </p:sp>
      <p:sp>
        <p:nvSpPr>
          <p:cNvPr id="22" name="Card label"/>
          <p:cNvSpPr txBox="1"/>
          <p:nvPr/>
        </p:nvSpPr>
        <p:spPr>
          <a:xfrm>
            <a:off x="4521098"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software pool</a:t>
            </a:r>
            <a:endParaRPr lang="en-US" sz="1300" dirty="0"/>
          </a:p>
        </p:txBody>
      </p:sp>
      <p:sp>
        <p:nvSpPr>
          <p:cNvPr id="23" name="Card head"/>
          <p:cNvSpPr txBox="1"/>
          <p:nvPr/>
        </p:nvSpPr>
        <p:spPr>
          <a:xfrm>
            <a:off x="4521098" y="4206240"/>
            <a:ext cx="3149498" cy="576072"/>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4% leave each year</a:t>
            </a:r>
            <a:endParaRPr lang="en-US" sz="1900" dirty="0"/>
          </a:p>
        </p:txBody>
      </p:sp>
      <p:sp>
        <p:nvSpPr>
          <p:cNvPr id="24" name="Card text"/>
          <p:cNvSpPr txBox="1"/>
          <p:nvPr/>
        </p:nvSpPr>
        <p:spPr>
          <a:xfrm>
            <a:off x="4521098" y="4855464"/>
            <a:ext cx="3149498" cy="548640"/>
          </a:xfrm>
          <a:prstGeom prst="rect">
            <a:avLst/>
          </a:prstGeom>
          <a:noFill/>
          <a:ln/>
        </p:spPr>
        <p:txBody>
          <a:bodyPr wrap="square" lIns="0" tIns="0" rIns="0" bIns="0" rtlCol="0" anchor="t"/>
          <a:lstStyle/>
          <a:p>
            <a:pPr indent="0" marL="0">
              <a:buNone/>
            </a:pPr>
            <a:r>
              <a:rPr lang="en-US" sz="1500" dirty="0">
                <a:solidFill>
                  <a:schemeClr val="tx2"/>
                </a:solidFill>
              </a:rPr>
              <a:t>It gains the legacy engineers retrained into software.</a:t>
            </a:r>
            <a:endParaRPr lang="en-US" sz="1500" dirty="0"/>
          </a:p>
        </p:txBody>
      </p:sp>
      <p:sp>
        <p:nvSpPr>
          <p:cNvPr id="25" name="Card"/>
          <p:cNvSpPr/>
          <p:nvPr/>
        </p:nvSpPr>
        <p:spPr>
          <a:xfrm>
            <a:off x="8127797" y="3749040"/>
            <a:ext cx="3515258" cy="1783080"/>
          </a:xfrm>
          <a:prstGeom prst="roundRect">
            <a:avLst>
              <a:gd name="adj" fmla="val 4103"/>
            </a:avLst>
          </a:prstGeom>
          <a:solidFill>
            <a:schemeClr val="bg2"/>
          </a:solidFill>
          <a:ln w="9525">
            <a:solidFill>
              <a:srgbClr val="C4CBD8"/>
            </a:solidFill>
            <a:prstDash val="solid"/>
          </a:ln>
        </p:spPr>
      </p:sp>
      <p:sp>
        <p:nvSpPr>
          <p:cNvPr id="26" name="Card label"/>
          <p:cNvSpPr txBox="1"/>
          <p:nvPr/>
        </p:nvSpPr>
        <p:spPr>
          <a:xfrm>
            <a:off x="8310677"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board's question</a:t>
            </a:r>
            <a:endParaRPr lang="en-US" sz="1300" dirty="0"/>
          </a:p>
        </p:txBody>
      </p:sp>
      <p:sp>
        <p:nvSpPr>
          <p:cNvPr id="27" name="Card head"/>
          <p:cNvSpPr txBox="1"/>
          <p:nvPr/>
        </p:nvSpPr>
        <p:spPr>
          <a:xfrm>
            <a:off x="8310677" y="4206240"/>
            <a:ext cx="3149498" cy="576072"/>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Can a total forecast each unit?</a:t>
            </a:r>
            <a:endParaRPr lang="en-US" sz="1900" dirty="0"/>
          </a:p>
        </p:txBody>
      </p:sp>
      <p:sp>
        <p:nvSpPr>
          <p:cNvPr id="28" name="Card text"/>
          <p:cNvSpPr txBox="1"/>
          <p:nvPr/>
        </p:nvSpPr>
        <p:spPr>
          <a:xfrm>
            <a:off x="8310677" y="4855464"/>
            <a:ext cx="3149498" cy="548640"/>
          </a:xfrm>
          <a:prstGeom prst="rect">
            <a:avLst/>
          </a:prstGeom>
          <a:noFill/>
          <a:ln/>
        </p:spPr>
        <p:txBody>
          <a:bodyPr wrap="square" lIns="0" tIns="0" rIns="0" bIns="0" rtlCol="0" anchor="t"/>
          <a:lstStyle/>
          <a:p>
            <a:pPr indent="0" marL="0">
              <a:buNone/>
            </a:pPr>
            <a:r>
              <a:rPr lang="en-US" sz="1500" dirty="0">
                <a:solidFill>
                  <a:schemeClr val="tx2"/>
                </a:solidFill>
              </a:rPr>
              <a:t>The digital program needs software engineers.</a:t>
            </a:r>
            <a:endParaRPr lang="en-US" sz="1500" dirty="0"/>
          </a:p>
        </p:txBody>
      </p:sp>
      <p:sp>
        <p:nvSpPr>
          <p:cNvPr id="29" name="Lead"/>
          <p:cNvSpPr txBox="1"/>
          <p:nvPr/>
        </p:nvSpPr>
        <p:spPr>
          <a:xfrm>
            <a:off x="548640" y="580644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Meridian's HR dashboard tracks the number of engineers in each unit of Industrial Systems.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4.1 · STEPS 1–2 · FIGURE 4.2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total alone is not a state</a:t>
            </a:r>
            <a:endParaRPr lang="en-US" sz="3200" dirty="0"/>
          </a:p>
        </p:txBody>
      </p:sp>
      <p:sp>
        <p:nvSpPr>
          <p:cNvPr id="5" name="Bullets"/>
          <p:cNvSpPr txBox="1"/>
          <p:nvPr/>
        </p:nvSpPr>
        <p:spPr>
          <a:xfrm>
            <a:off x="548640" y="1691640"/>
            <a:ext cx="4920551"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Step 1:</a:t>
            </a:r>
            <a:r>
              <a:rPr lang="en-US" sz="1600" dirty="0">
                <a:solidFill>
                  <a:schemeClr val="tx1"/>
                </a:solidFill>
              </a:rPr>
              <a:t> Unit A next year: 0.92 × 400 = 368 legacy, 0.96 × 100 + 0.03 × 400 = 108 software: </a:t>
            </a:r>
            <a:r>
              <a:rPr lang="en-US" sz="1600" b="1" dirty="0">
                <a:solidFill>
                  <a:schemeClr val="tx1"/>
                </a:solidFill>
              </a:rPr>
              <a:t>476</a:t>
            </a:r>
            <a:endParaRPr lang="en-US" sz="1600" dirty="0"/>
          </a:p>
          <a:p>
            <a:pPr marL="228600" indent="-228600">
              <a:spcAft>
                <a:spcPts val="800"/>
              </a:spcAft>
              <a:buSzPct val="100000"/>
              <a:buChar char="•"/>
            </a:pPr>
            <a:r>
              <a:rPr lang="en-US" sz="1600" dirty="0">
                <a:solidFill>
                  <a:schemeClr val="tx1"/>
                </a:solidFill>
              </a:rPr>
              <a:t>Unit B: 0.92 × 100 = 92 legacy, 0.96 × 400 + 0.03 × 100 = 387 software: </a:t>
            </a:r>
            <a:r>
              <a:rPr lang="en-US" sz="1600" b="1" dirty="0">
                <a:solidFill>
                  <a:schemeClr val="tx1"/>
                </a:solidFill>
              </a:rPr>
              <a:t>479</a:t>
            </a:r>
            <a:endParaRPr lang="en-US" sz="1600" dirty="0"/>
          </a:p>
          <a:p>
            <a:pPr marL="228600" indent="-228600">
              <a:spcAft>
                <a:spcPts val="800"/>
              </a:spcAft>
              <a:buSzPct val="100000"/>
              <a:buChar char="•"/>
            </a:pPr>
            <a:r>
              <a:rPr lang="en-US" sz="1600" b="1" dirty="0">
                <a:solidFill>
                  <a:schemeClr val="tx1"/>
                </a:solidFill>
              </a:rPr>
              <a:t>Step 2:</a:t>
            </a:r>
            <a:r>
              <a:rPr lang="en-US" sz="1600" dirty="0">
                <a:solidFill>
                  <a:schemeClr val="tx1"/>
                </a:solidFill>
              </a:rPr>
              <a:t> the same total today, 500; different totals next year</a:t>
            </a:r>
            <a:endParaRPr lang="en-US" sz="1600" dirty="0"/>
          </a:p>
          <a:p>
            <a:pPr marL="228600" indent="-228600">
              <a:spcAft>
                <a:spcPts val="800"/>
              </a:spcAft>
              <a:buSzPct val="100000"/>
              <a:buChar char="•"/>
            </a:pPr>
            <a:r>
              <a:rPr lang="en-US" sz="1600" dirty="0">
                <a:solidFill>
                  <a:schemeClr val="tx1"/>
                </a:solidFill>
              </a:rPr>
              <a:t>By Theorem 4.2 no model that forecasts from the total alone can be right for both units</a:t>
            </a:r>
            <a:endParaRPr lang="en-US" sz="1600" dirty="0"/>
          </a:p>
          <a:p>
            <a:pPr marL="228600" indent="-228600">
              <a:spcAft>
                <a:spcPts val="800"/>
              </a:spcAft>
              <a:buSzPct val="100000"/>
              <a:buChar char="•"/>
            </a:pPr>
            <a:r>
              <a:rPr lang="en-US" sz="1600" dirty="0">
                <a:solidFill>
                  <a:schemeClr val="tx1"/>
                </a:solidFill>
              </a:rPr>
              <a:t>Appendix 4.A: A(1, −1) = (0.92, −0.93) lies outside ker P</a:t>
            </a:r>
            <a:endParaRPr lang="en-US" sz="1600" dirty="0"/>
          </a:p>
        </p:txBody>
      </p:sp>
      <p:pic>
        <p:nvPicPr>
          <p:cNvPr id="6" name="Figure" descr="Figure 4.2: when a roll-up supports a coarse model">    </p:cNvPr>
          <p:cNvPicPr>
            <a:picLocks noChangeAspect="1"/>
          </p:cNvPicPr>
          <p:nvPr/>
        </p:nvPicPr>
        <p:blipFill>
          <a:blip r:embed="rId1"/>
          <a:stretch>
            <a:fillRect/>
          </a:stretch>
        </p:blipFill>
        <p:spPr>
          <a:xfrm>
            <a:off x="5834951" y="2108199"/>
            <a:ext cx="5808104" cy="3080514"/>
          </a:xfrm>
          <a:prstGeom prst="rect">
            <a:avLst/>
          </a:prstGeom>
        </p:spPr>
      </p:pic>
      <p:sp>
        <p:nvSpPr>
          <p:cNvPr id="7" name="Caption"/>
          <p:cNvSpPr txBox="1"/>
          <p:nvPr/>
        </p:nvSpPr>
        <p:spPr>
          <a:xfrm>
            <a:off x="5834951" y="5261865"/>
            <a:ext cx="5808104" cy="502920"/>
          </a:xfrm>
          <a:prstGeom prst="rect">
            <a:avLst/>
          </a:prstGeom>
          <a:noFill/>
          <a:ln/>
        </p:spPr>
        <p:txBody>
          <a:bodyPr wrap="square" lIns="0" tIns="0" rIns="0" bIns="0" rtlCol="0" anchor="t"/>
          <a:lstStyle/>
          <a:p>
            <a:pPr indent="0" marL="0">
              <a:buNone/>
            </a:pPr>
            <a:r>
              <a:rPr lang="en-US" sz="1100" i="1" dirty="0">
                <a:solidFill>
                  <a:schemeClr val="tx2"/>
                </a:solidFill>
              </a:rPr>
              <a:t>Figure 4.2. Left: a legitimate roll-up, both routes agree. Right: the same total today, 476 or 479 next year, so no summary model can serve both.</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4.1 · STEP 3 · TABLE 4.5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total-only model drifts as the mix shifts</a:t>
            </a:r>
            <a:endParaRPr lang="en-US" sz="32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4384083"/>
                <a:gridCol w="1118389"/>
                <a:gridCol w="1118389"/>
                <a:gridCol w="1118389"/>
                <a:gridCol w="1118389"/>
                <a:gridCol w="1118389"/>
                <a:gridCol w="1118389"/>
              </a:tblGrid>
              <a:tr h="621792">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Year</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800" b="1" dirty="0">
                          <a:solidFill>
                            <a:srgbClr val="FFFFFF"/>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621792">
                <a:tc>
                  <a:txBody>
                    <a:bodyPr/>
                    <a:lstStyle/>
                    <a:p>
                      <a:pPr algn="l" indent="0" marL="0">
                        <a:buNone/>
                      </a:pPr>
                      <a:r>
                        <a:rPr lang="en-US" sz="1800" dirty="0">
                          <a:solidFill>
                            <a:srgbClr val="0F1E3D"/>
                          </a:solidFill>
                          <a:latin typeface="Calibri" pitchFamily="34" charset="0"/>
                          <a:ea typeface="Calibri" pitchFamily="34" charset="-122"/>
                          <a:cs typeface="Calibri" pitchFamily="34" charset="-120"/>
                        </a:rPr>
                        <a:t>Unit A, detailed model</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500</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476.0</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453.3</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431.8</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411.4</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392.1</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21792">
                <a:tc>
                  <a:txBody>
                    <a:bodyPr/>
                    <a:lstStyle/>
                    <a:p>
                      <a:pPr algn="l" indent="0" marL="0">
                        <a:buNone/>
                      </a:pPr>
                      <a:r>
                        <a:rPr lang="en-US" sz="1800" dirty="0">
                          <a:solidFill>
                            <a:srgbClr val="0F1E3D"/>
                          </a:solidFill>
                          <a:latin typeface="Calibri" pitchFamily="34" charset="0"/>
                          <a:ea typeface="Calibri" pitchFamily="34" charset="-122"/>
                          <a:cs typeface="Calibri" pitchFamily="34" charset="-120"/>
                        </a:rPr>
                        <a:t>Unit B, detailed model</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500</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479.0</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458.9</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439.7</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421.3</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403.8</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21792">
                <a:tc>
                  <a:txBody>
                    <a:bodyPr/>
                    <a:lstStyle/>
                    <a:p>
                      <a:pPr algn="l" indent="0" marL="0">
                        <a:buNone/>
                      </a:pPr>
                      <a:r>
                        <a:rPr lang="en-US" sz="1800" dirty="0">
                          <a:solidFill>
                            <a:srgbClr val="0F1E3D"/>
                          </a:solidFill>
                          <a:latin typeface="Calibri" pitchFamily="34" charset="0"/>
                          <a:ea typeface="Calibri" pitchFamily="34" charset="-122"/>
                          <a:cs typeface="Calibri" pitchFamily="34" charset="-120"/>
                        </a:rPr>
                        <a:t>Total-only model (× 0.952 a year)</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500</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476.0</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453.2</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431.4</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410.7</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391.0</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21792">
                <a:tc>
                  <a:txBody>
                    <a:bodyPr/>
                    <a:lstStyle/>
                    <a:p>
                      <a:pPr algn="l" indent="0" marL="0">
                        <a:buNone/>
                      </a:pPr>
                      <a:r>
                        <a:rPr lang="en-US" sz="1800" b="1" dirty="0">
                          <a:solidFill>
                            <a:srgbClr val="0F1E3D"/>
                          </a:solidFill>
                          <a:latin typeface="Calibri" pitchFamily="34" charset="0"/>
                          <a:ea typeface="Calibri" pitchFamily="34" charset="-122"/>
                          <a:cs typeface="Calibri" pitchFamily="34" charset="-120"/>
                        </a:rPr>
                        <a:t>Error for Unit B</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−3.0</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−5.8</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−8.3</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−10.7</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−12.8</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bl>
          </a:graphicData>
        </a:graphic>
      </p:graphicFrame>
      <p:sp>
        <p:nvSpPr>
          <p:cNvPr id="6" name="Table note"/>
          <p:cNvSpPr txBox="1"/>
          <p:nvPr/>
        </p:nvSpPr>
        <p:spPr>
          <a:xfrm>
            <a:off x="548640" y="498348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Total engineers, by unit, under the detailed model and under a total-only model calibrated on Unit A's first year: total next year = total today × 0.952.</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The model under-forecasts Unit B by 3 engineers in year one and by about 13 by year five.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4.1 · STEPS 4–5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Carry the mix, and the roll-up holds</a:t>
            </a:r>
            <a:endParaRPr lang="en-US" sz="3200" dirty="0"/>
          </a:p>
        </p:txBody>
      </p:sp>
      <p:pic>
        <p:nvPicPr>
          <p:cNvPr id="5" name="Equation" descr="Equation: H' \;=\; H\,\bigl(0.95 + 0.01\,s\bigr), \qquad s \;=\; \frac{h_s}{H}">    </p:cNvPr>
          <p:cNvPicPr>
            <a:picLocks noChangeAspect="1"/>
          </p:cNvPicPr>
          <p:nvPr/>
        </p:nvPicPr>
        <p:blipFill>
          <a:blip r:embed="rId1"/>
          <a:stretch>
            <a:fillRect/>
          </a:stretch>
        </p:blipFill>
        <p:spPr>
          <a:xfrm>
            <a:off x="2910688" y="1828800"/>
            <a:ext cx="6370320" cy="1005840"/>
          </a:xfrm>
          <a:prstGeom prst="rect">
            <a:avLst/>
          </a:prstGeom>
        </p:spPr>
      </p:pic>
      <p:sp>
        <p:nvSpPr>
          <p:cNvPr id="6" name="Text 2"/>
          <p:cNvSpPr txBox="1"/>
          <p:nvPr/>
        </p:nvSpPr>
        <p:spPr>
          <a:xfrm>
            <a:off x="914400" y="297180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next year's total from this year's total H and software share s: exact for every unit</a:t>
            </a:r>
            <a:endParaRPr lang="en-US" sz="1600" dirty="0"/>
          </a:p>
        </p:txBody>
      </p:sp>
      <p:sp>
        <p:nvSpPr>
          <p:cNvPr id="7" name="Bullets"/>
          <p:cNvSpPr txBox="1"/>
          <p:nvPr/>
        </p:nvSpPr>
        <p:spPr>
          <a:xfrm>
            <a:off x="914400" y="3566160"/>
            <a:ext cx="10362895" cy="260604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Step 4:</a:t>
            </a:r>
            <a:r>
              <a:rPr lang="en-US" sz="1700" dirty="0">
                <a:solidFill>
                  <a:schemeClr val="bg1"/>
                </a:solidFill>
              </a:rPr>
              <a:t> by year five the totals are close, 392.1 and 403.8; the software engineers are not, 128.4 and 337.9</a:t>
            </a:r>
            <a:endParaRPr lang="en-US" sz="1700" dirty="0"/>
          </a:p>
          <a:p>
            <a:pPr marL="228600" indent="-228600">
              <a:spcAft>
                <a:spcPts val="800"/>
              </a:spcAft>
              <a:buSzPct val="100000"/>
              <a:buChar char="•"/>
            </a:pPr>
            <a:r>
              <a:rPr lang="en-US" sz="1700" dirty="0">
                <a:solidFill>
                  <a:schemeClr val="bg1"/>
                </a:solidFill>
              </a:rPr>
              <a:t>The digital program needs software engineers: the dashboard misstates the capacity the board most needs to see</a:t>
            </a:r>
            <a:endParaRPr lang="en-US" sz="1700" dirty="0"/>
          </a:p>
          <a:p>
            <a:pPr marL="228600" indent="-228600">
              <a:spcAft>
                <a:spcPts val="800"/>
              </a:spcAft>
              <a:buSzPct val="100000"/>
              <a:buChar char="•"/>
            </a:pPr>
            <a:r>
              <a:rPr lang="en-US" sz="1700" b="1" dirty="0">
                <a:solidFill>
                  <a:schemeClr val="bg1"/>
                </a:solidFill>
              </a:rPr>
              <a:t>Step 5:</a:t>
            </a:r>
            <a:r>
              <a:rPr lang="en-US" sz="1700" dirty="0">
                <a:solidFill>
                  <a:schemeClr val="bg1"/>
                </a:solidFill>
              </a:rPr>
              <a:t> 500 × (0.95 + 0.01 × 0.2) = 476 for Unit A and 500 × (0.95 + 0.01 × 0.8) = 479 for Unit B</a:t>
            </a:r>
            <a:endParaRPr lang="en-US" sz="1700" dirty="0"/>
          </a:p>
          <a:p>
            <a:pPr marL="228600" indent="-228600">
              <a:spcAft>
                <a:spcPts val="800"/>
              </a:spcAft>
              <a:buSzPct val="100000"/>
              <a:buChar char="•"/>
            </a:pPr>
            <a:r>
              <a:rPr lang="en-US" sz="1700" dirty="0">
                <a:solidFill>
                  <a:schemeClr val="bg1"/>
                </a:solidFill>
              </a:rPr>
              <a:t>The enlarged summary satisfies the condition of Theorem 4.2</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4.1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Exact today, wrong about tomorrow</a:t>
            </a:r>
            <a:endParaRPr lang="en-US" sz="3200" dirty="0"/>
          </a:p>
        </p:txBody>
      </p:sp>
      <p:sp>
        <p:nvSpPr>
          <p:cNvPr id="5" name="Stat card"/>
          <p:cNvSpPr/>
          <p:nvPr/>
        </p:nvSpPr>
        <p:spPr>
          <a:xfrm>
            <a:off x="548640" y="1691640"/>
            <a:ext cx="3515258" cy="1828800"/>
          </a:xfrm>
          <a:prstGeom prst="roundRect">
            <a:avLst>
              <a:gd name="adj" fmla="val 4000"/>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500 = 500</a:t>
            </a:r>
            <a:endParaRPr lang="en-US" sz="40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the same total today: the dashboard cannot tell the two units apart</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tx1"/>
          </a:solidFill>
          <a:ln w="9525">
            <a:solidFill>
              <a:srgbClr val="0F1E3D"/>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12.8</a:t>
            </a:r>
            <a:endParaRPr lang="en-US" sz="40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engineers by which the total-only model under-forecasts Unit B by year five</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476, 479</a:t>
            </a:r>
            <a:endParaRPr lang="en-US" sz="40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next year's totals from the total and the software share, matching Step 1</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A summary can be exactly right today and still mislead about tomorrow</a:t>
            </a:r>
            <a:endParaRPr lang="en-US" sz="1700" dirty="0"/>
          </a:p>
          <a:p>
            <a:pPr marL="228600" indent="-228600">
              <a:spcAft>
                <a:spcPts val="800"/>
              </a:spcAft>
              <a:buSzPct val="100000"/>
              <a:buChar char="•"/>
            </a:pPr>
            <a:r>
              <a:rPr lang="en-US" sz="1700" dirty="0">
                <a:solidFill>
                  <a:schemeClr val="tx1"/>
                </a:solidFill>
              </a:rPr>
              <a:t>Before using a roll-up to forecast, check that units with the same summary have the same future</a:t>
            </a:r>
            <a:endParaRPr lang="en-US" sz="1700" dirty="0"/>
          </a:p>
          <a:p>
            <a:pPr marL="228600" indent="-228600">
              <a:spcAft>
                <a:spcPts val="800"/>
              </a:spcAft>
              <a:buSzPct val="100000"/>
              <a:buChar char="•"/>
            </a:pPr>
            <a:r>
              <a:rPr lang="en-US" sz="1700" dirty="0">
                <a:solidFill>
                  <a:schemeClr val="tx1"/>
                </a:solidFill>
              </a:rPr>
              <a:t>If they do not, carry the missing mix into the summary</a:t>
            </a:r>
            <a:endParaRPr lang="en-US" sz="1700" dirty="0"/>
          </a:p>
          <a:p>
            <a:pPr marL="228600" indent="-228600">
              <a:spcAft>
                <a:spcPts val="800"/>
              </a:spcAft>
              <a:buSzPct val="100000"/>
              <a:buChar char="•"/>
            </a:pPr>
            <a:r>
              <a:rPr lang="en-US" sz="1700" dirty="0">
                <a:solidFill>
                  <a:schemeClr val="tx1"/>
                </a:solidFill>
              </a:rPr>
              <a:t>For discussion: which Meridian roll-ups—revenue by division, capital spending, customer counts—break this way?</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1.4 · MODULE AXIOM-04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Testing the planning model,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The board is about to approve Meridian's digital program on the strength of a planning model that fits seven years of history well. How far can it be trusted somewhere Meridian has never been? Open AXIOM, choose Lab 1.4 (module AXIOM-04) and load the Meridian modeling bench.</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Walk the chain</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Follow the working-capital question from diagram to code; note what each verification checkpoint tests.</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Test a roll-up</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Roll Industrial Systems' engineers up to one total; add the skill mix and test again.</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Fit and extrapolate</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Fit a simple and a rich model to one adoption history; compare history and later quarters.</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Leave the record</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Fit two models equally well, run both through the digital program, watch them separate.</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Set triggers</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Replay five years of use with drift; set the triggers that send the model back.</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modeling contract for the digital-program model: the readings and units, the assumption classes of Table 4.3, the validated domain, and the revalidation triggers. About 45–60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Models are instruments for questions; every DCT model carries a modeling contract declaring readings, assumptions, validated domain, and lifecycle plan.</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No analysis extracts what the representation lacks: a question that depends on a missing reading is unanswerable in that model.</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summary supports a forecast only if units with the same summary have the same future; a roll-up can be exact today and wrong tomorrow.</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Verification checks the chain; validation checks the end against evidence, and certifies the model only where the record has been.</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Transformation leaves the record by design, so its forecasts rest on mechanisms, and transformation programs must schedule revalidation.</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54</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66</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26104</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AXIOM-04</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1.4</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DCT_V1_Ch04_Lab.ipynb: Worked Example 4.1 and the lab's five steps in eight panels,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DCT_V1_Ch04_Lab.xlsx: Table 4.5, the roll-up test for any summary, the repair, the bench, the record and the triggers, in formulas</a:t>
            </a:r>
            <a:endParaRPr lang="en-US" sz="1700" dirty="0"/>
          </a:p>
          <a:p>
            <a:pPr marL="228600" indent="-228600">
              <a:spcAft>
                <a:spcPts val="800"/>
              </a:spcAft>
              <a:buSzPct val="100000"/>
              <a:buChar char="•"/>
            </a:pPr>
            <a:r>
              <a:rPr lang="en-US" sz="1700" dirty="0">
                <a:solidFill>
                  <a:schemeClr val="tx1"/>
                </a:solidFill>
              </a:rPr>
              <a:t>Every number on these slides is the book's, and both companions check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Chapter 5 asks what the state must remember</a:t>
            </a:r>
            <a:endParaRPr lang="en-US" sz="3200" dirty="0"/>
          </a:p>
        </p:txBody>
      </p:sp>
      <p:pic>
        <p:nvPicPr>
          <p:cNvPr id="5" name="Equation" descr="Equation: \lVert \mathbf{x}_k - \mathbf{x}^{\ast} \rVert \;\le\; \frac{L^{k}}{1 - L}\,\lVert \mathbf{x}_1 - \mathbf{x}_0 \rVert">    </p:cNvPr>
          <p:cNvPicPr>
            <a:picLocks noChangeAspect="1"/>
          </p:cNvPicPr>
          <p:nvPr/>
        </p:nvPicPr>
        <p:blipFill>
          <a:blip r:embed="rId1"/>
          <a:stretch>
            <a:fillRect/>
          </a:stretch>
        </p:blipFill>
        <p:spPr>
          <a:xfrm>
            <a:off x="4133630" y="1691640"/>
            <a:ext cx="3924435" cy="868680"/>
          </a:xfrm>
          <a:prstGeom prst="rect">
            <a:avLst/>
          </a:prstGeom>
        </p:spPr>
      </p:pic>
      <p:sp>
        <p:nvSpPr>
          <p:cNvPr id="6" name="Bullets"/>
          <p:cNvSpPr txBox="1"/>
          <p:nvPr/>
        </p:nvSpPr>
        <p:spPr>
          <a:xfrm>
            <a:off x="548640" y="2880360"/>
            <a:ext cx="11094415" cy="329184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The minimal state is the memory the future requires: possible pasts sorted by their consequences (Theorem 5.1)</a:t>
            </a:r>
            <a:endParaRPr lang="en-US" sz="1800" dirty="0"/>
          </a:p>
          <a:p>
            <a:pPr marL="228600" indent="-228600">
              <a:spcAft>
                <a:spcPts val="800"/>
              </a:spcAft>
              <a:buSzPct val="100000"/>
              <a:buChar char="•"/>
            </a:pPr>
            <a:r>
              <a:rPr lang="en-US" sz="1800" dirty="0">
                <a:solidFill>
                  <a:schemeClr val="bg1"/>
                </a:solidFill>
              </a:rPr>
              <a:t>Worked Example 4.1 was a first instance: the total merges two units with different futures; the total with the mix does not</a:t>
            </a:r>
            <a:endParaRPr lang="en-US" sz="1800" dirty="0"/>
          </a:p>
          <a:p>
            <a:pPr marL="228600" indent="-228600">
              <a:spcAft>
                <a:spcPts val="800"/>
              </a:spcAft>
              <a:buSzPct val="100000"/>
              <a:buChar char="•"/>
            </a:pPr>
            <a:r>
              <a:rPr lang="en-US" sz="1800" dirty="0">
                <a:solidFill>
                  <a:schemeClr val="bg1"/>
                </a:solidFill>
              </a:rPr>
              <a:t>Balance sheets, capabilities and order books belong in the state; sunk costs do not</a:t>
            </a:r>
            <a:endParaRPr lang="en-US" sz="1800" dirty="0"/>
          </a:p>
          <a:p>
            <a:pPr marL="228600" indent="-228600">
              <a:spcAft>
                <a:spcPts val="800"/>
              </a:spcAft>
              <a:buSzPct val="100000"/>
              <a:buChar char="•"/>
            </a:pPr>
            <a:r>
              <a:rPr lang="en-US" sz="1800" dirty="0">
                <a:solidFill>
                  <a:schemeClr val="bg1"/>
                </a:solidFill>
              </a:rPr>
              <a:t>From a single observed step, how long a turnaround takes to settle (Equation 5.1), and why stability is not success</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 Chapter 4: Enterprise Modeling Principles</dc:title>
  <dc:subject>Slides for Volume I, Chapter 4 (V56)</dc:subject>
  <dc:creator>Samir Asaf</dc:creator>
  <cp:lastModifiedBy>Samir Asaf</cp:lastModifiedBy>
  <cp:revision>1</cp:revision>
  <dcterms:created xsi:type="dcterms:W3CDTF">2026-10-05T09:46:45Z</dcterms:created>
  <dcterms:modified xsi:type="dcterms:W3CDTF">2026-10-05T09:46:45Z</dcterms:modified>
</cp:coreProperties>
</file>