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b2180a5-53fd-19ee-20b9-1cc90c8550e8}">
          <p14:sldIdLst>
            <p14:sldId id="256"/>
            <p14:sldId id="257"/>
            <p14:sldId id="258"/>
            <p14:sldId id="259"/>
          </p14:sldIdLst>
        </p14:section>
        <p14:section name="5.1 Why the State Needs a Foundation" id="{8046b14a-8903-31f2-e1e6-d4c8760b9c01}">
          <p14:sldIdLst>
            <p14:sldId id="260"/>
          </p14:sldIdLst>
        </p14:section>
        <p14:section name="5.2 The Minimal State" id="{a8670cf1-2a2e-30e3-8b47-b8e3fe458912}">
          <p14:sldIdLst>
            <p14:sldId id="261"/>
          </p14:sldIdLst>
        </p14:section>
        <p14:section name="5.3 State Variables and Parameters" id="{86d010b3-bfe6-b817-80ab-1185026abefa}">
          <p14:sldIdLst>
            <p14:sldId id="262"/>
            <p14:sldId id="263"/>
          </p14:sldIdLst>
        </p14:section>
        <p14:section name="5.4 State Spaces and Configurations" id="{0e30be27-2357-37a4-b073-c4aeba44d3c8}">
          <p14:sldIdLst>
            <p14:sldId id="264"/>
          </p14:sldIdLst>
        </p14:section>
        <p14:section name="5.5 Trajectories and Transitions" id="{a29cc122-060b-cce2-1fbc-ff631f964f58}">
          <p14:sldIdLst>
            <p14:sldId id="265"/>
          </p14:sldIdLst>
        </p14:section>
        <p14:section name="5.6 Equilibrium States" id="{42909a10-1c26-1150-0715-55ac2435ba2a}">
          <p14:sldIdLst>
            <p14:sldId id="266"/>
            <p14:sldId id="267"/>
          </p14:sldIdLst>
        </p14:section>
        <p14:section name="5.7 Feasible Regions" id="{05e56541-42c5-5f70-3907-2f3524759a6b}">
          <p14:sldIdLst>
            <p14:sldId id="268"/>
            <p14:sldId id="269"/>
          </p14:sldIdLst>
        </p14:section>
        <p14:section name="5.8 Dimension and Visualization" id="{59ae970f-1f22-225e-d5e7-0bb7ce79cb4b}">
          <p14:sldIdLst>
            <p14:sldId id="270"/>
          </p14:sldIdLst>
        </p14:section>
        <p14:section name="Worked Example 5.1" id="{7285bb37-0735-27a9-87fe-b7259536781a}">
          <p14:sldIdLst>
            <p14:sldId id="271"/>
            <p14:sldId id="272"/>
            <p14:sldId id="273"/>
            <p14:sldId id="274"/>
            <p14:sldId id="275"/>
          </p14:sldIdLst>
        </p14:section>
        <p14:section name="AXIOM Lab 1.5" id="{a844e875-6ccf-e873-3111-a6a404899f44}">
          <p14:sldIdLst>
            <p14:sldId id="276"/>
          </p14:sldIdLst>
        </p14:section>
        <p14:section name="Close" id="{b0decd00-bb08-b037-f2d2-d3c130716b14}">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5, the first chapter of Part II. Part I asserted that a company has a state; this chapter shows that beneath every adequate description lies one canonical object, and builds the vocabulary the rest of the book uses: point, path, region, equilibrium (Section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Shaw's Devil (Man and Superman, 1903): freedom is whatever the walls allow. Section 5.7 makes it literal: the feasible region is the set of states every constraint permits, and some walls, like the board's liquidity floor, are self-imposed and revisable (Table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5.2: Definition 5.1, Proposition 5.1, Theorem 5.1. Section 5.3: Definitions 5.2-5.3, Tables 5.1-5.2. Section 5.4: Definitions 5.4-5.5, Proposition 5.2, Theorem 5.2, Figure 5.1. Section 5.5: Definition 5.6, Propositions 5.3-5.4, Theorem 5.3, Figure 5.2. Section 5.6: Definition 5.7, Table 5.3, Theorem 5.4, Figure 5.3. Section 5.7: Definitions 5.8-5.9, Table 5.4, Proposition 5.5, Theorem 5.5, Figure 5.4. Section 5.8: Definition 5.10, Figure 5.5. Worked Example 5.1: Table 5.5. AXIOM Lab 1.5: module AXIOM-05, five steps. Proofs of Theorems 5.1, 5.2, 5.4 and 5.5 are in Appendix 5.A; those of Propositions 5.1-5.5 and Theorem 5.3 in Online Appendix 5.B.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5.1. If two teams, each following every rule of Chapter 4, describe Meridian with different lists of readings, is one of them wrong, or is the state of the company a convention all the way down? Everything in this chapter is deterministic by declaration; uncertainty enters in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5.1, Proposition 5.1 and Theorem 5.1; proof in Appendix 5.A. The construction is Nerode's, carried into system theory as realization theory. Scope: the theorem removes arbitrariness after the behavioral declaration, not before, and the minimal state may be very large, so working vectors are approximations whose adequacy is tested by the state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5.2 and Definition 5.3: the readings of Table 3.1 with the measurement discipline of Chapter 4. On Chapter 3's scale the widest error bars belong to strategic risk (±6) and workforce capability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5.2, Section 5.3 and Table 5.1, which lists the attrition rate among the parameters. AXIOM Lab 1.5, step 1, switches it to a state variable: Chapter 1's model never reads it, so the digital program reruns unchanged and the new coordinate stays put over five years (notebook, Panel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5.4-5.5, Proposition 5.2 and Theorem 5.2; proof in Appendix 5.A, where the blend's minimum-scale reading is g = min{40, 20} = 20 &gt; 0. Legacy at 40 is too small to run economically and too large to have been shut. Convexity will separate problems that can be solved reliably from those that can only be searched (Chapter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5.6, Propositions 5.3-5.4 and Theorem 5.3; proofs in Online Appendix 5.B. A plan whose second phase assumes a starting state the first does not deliver is two disconnected stories. Models of self-reinforcing growth, viral platforms and bank runs, carry a validity horizon: x' = x^2 from 1 reaches infinity at t = 1 (Online Appendix 5.B.1); without the Lipschitz condition a path need not be unique (5.B.2).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5.7 and Theorem 5.4; proof in Appendix 5.A (Banach for part i, Brouwer for part ii). Part (i) is the world of dampened response, the signature of dominant balancing feedback; part (ii) the world of coexistence: industries sustain several viable business models, and history decides which one a company settles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5.3 and Section 5.6. Online Appendix 5.B.6: f(x) = 3x^2 - 2x^3 has three equilibria, the pure positions attracting and the middle unstable (slope 1.5), the strategist's 'stuck in the middle'. Online Appendix 5.B.7: the start-up's slope is 1.225 at zero and 0.775 at the wall; it contracts only above 60, which it passes in year 5.25.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5.8-5.9, Table 5.4 (definitional, structural, contractual, physical and policy walls), Proposition 5.5 and Figure 5.4. A plan that respects every covenant but breaches the liquidity floor in one quarter is infeasible, not mostly feasible. Table 1.5 and Worked Example 16.1 report the strategic-risk margin on the digital path: a peak of 73.6 in month 11, 1.4 points under the ceiling, inside the risk committee's ±6 reading error. The notebook's Panel 2 probes every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5.5; proof in Appendix 5.A. Part (i) also underwrites the analysis of equilibria: the limit of a feasible path is feasible, so the steady state of a contraction, approached through a closed region, is a legitimate configuration of the company. Policy walls are self-imposed and revisable; revising one is itself a transformation act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5.10 and Section 5.8. Online Appendix 5.B: more than half of an eight-dimensional ball lies within 10 percent of its surface, so the typical state of a rich representation is near some wall, and the binding set deserves regular attention. Rankings of similar states are computed with the declared distance (Proposition 3.3), never read off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5.1, the situation. The turnaround's annual map is Chapter 1's model sampled once a year; the notebook's Panel 5 checks that the two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5.1, Steps 1-3; Theorem 5.4(i) and Equation 5.1. The contraction is in the largest-gap norm: each reading's gap is multiplied by its own factor, so the largest gap shrinks by at least the largest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5.5 and Step 4. The bound is conservative because it assumes the worst case at every step; its value is that it is guaranteed. From the digital program's Year-5 state the same map attains its bound: technology makes the largest first move and is the slowest reading (notebook, Panel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5.1, Steps 4-5, and Figure 5.3. The right panel is Section 5.6's third world: an expanding map near zero, 22.5 percent a quarter, that hands over to a contracting one once the user base passes 60, in year 5.25 (Online Appendix 5.B.7).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5.1, what the board should take away, and the discussion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1.5. What to look for: every starting point of the turnaround converges to the same steady state, inside the day-one bound (Theorem 5.4); the binding set is empty today, but the liquidity floor comes close on the digital path; and profiles that look alike on the page can be far apart in the declared distance. Discussion question 1: the digital program, as modeled, stays feasible for any floor up to its low point, $0.48 billion.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6.1: Chapter 5 gave Dynamic Corporate Transformation its noun, the state; Chapter 6 supplies its verb. The automation round is Worked Example 6.1's (Figure 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5</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5</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5 · WEEK 3</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Enterprise State Representation</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Where a company stands is a point, an option is a path, the walls make a region, and where it settles is an equilibrium: a stable state need not be a good one</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26105 · AXIOM Lab 1.5 (AXIOM-05)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“Englishmen never will be slaves: they are free to do whatever the Government and public opinion allows them to do.”</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George Bernard Shaw</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Literature 1925; the Devil, in Man and Superman (1903)</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what a company's state is—the memory its future requires—and use that test to decide what belongs in a state description.</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Build a declared state for a company, with readings, units, types, and measurement sources, and distinguish state variables from parameters, explaining why the line between them moves with the planning horizon.</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Read a company's position in its state space: configurations as points, constraints as walls, the feasible region and its binding constraints, and when a blended operating model is feasible.</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Interpret transformation paths in continuous and discrete time, explain how program phases join, and explain why some models carry a built-in validity horizon.</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equilibrium and its stability, estimate how long a company takes to settle using the contraction rule, and explain why a stable state need not be a good one.</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Eight sections, a worked example and a lab</a:t>
            </a:r>
            <a:endParaRPr lang="en-US" sz="3200" dirty="0"/>
          </a:p>
        </p:txBody>
      </p:sp>
      <p:sp>
        <p:nvSpPr>
          <p:cNvPr id="5" name="Card"/>
          <p:cNvSpPr/>
          <p:nvPr/>
        </p:nvSpPr>
        <p:spPr>
          <a:xfrm>
            <a:off x="548640" y="1691640"/>
            <a:ext cx="1999427" cy="2103120"/>
          </a:xfrm>
          <a:prstGeom prst="roundRect">
            <a:avLst>
              <a:gd name="adj" fmla="val 3659"/>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§5.1</a:t>
            </a:r>
            <a:endParaRPr lang="en-US" sz="1300" dirty="0"/>
          </a:p>
        </p:txBody>
      </p:sp>
      <p:sp>
        <p:nvSpPr>
          <p:cNvPr id="7" name="Card head"/>
          <p:cNvSpPr txBox="1"/>
          <p:nvPr/>
        </p:nvSpPr>
        <p:spPr>
          <a:xfrm>
            <a:off x="731520"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Why the State Needs a Foundation</a:t>
            </a:r>
            <a:endParaRPr lang="en-US" sz="1300" dirty="0"/>
          </a:p>
        </p:txBody>
      </p:sp>
      <p:sp>
        <p:nvSpPr>
          <p:cNvPr id="8" name="Card text"/>
          <p:cNvSpPr txBox="1"/>
          <p:nvPr/>
        </p:nvSpPr>
        <p:spPr>
          <a:xfrm>
            <a:off x="731520"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Part II's foundation</a:t>
            </a:r>
            <a:endParaRPr lang="en-US" sz="1200" dirty="0"/>
          </a:p>
        </p:txBody>
      </p:sp>
      <p:sp>
        <p:nvSpPr>
          <p:cNvPr id="9" name="Card"/>
          <p:cNvSpPr/>
          <p:nvPr/>
        </p:nvSpPr>
        <p:spPr>
          <a:xfrm>
            <a:off x="2822387" y="1691640"/>
            <a:ext cx="1999427" cy="2103120"/>
          </a:xfrm>
          <a:prstGeom prst="roundRect">
            <a:avLst>
              <a:gd name="adj" fmla="val 3659"/>
            </a:avLst>
          </a:prstGeom>
          <a:solidFill>
            <a:schemeClr val="bg2"/>
          </a:solidFill>
          <a:ln w="9525">
            <a:solidFill>
              <a:srgbClr val="C4CBD8"/>
            </a:solidFill>
            <a:prstDash val="solid"/>
          </a:ln>
        </p:spPr>
      </p:sp>
      <p:sp>
        <p:nvSpPr>
          <p:cNvPr id="10"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§5.2</a:t>
            </a:r>
            <a:endParaRPr lang="en-US" sz="1300" dirty="0"/>
          </a:p>
        </p:txBody>
      </p:sp>
      <p:sp>
        <p:nvSpPr>
          <p:cNvPr id="11" name="Card head"/>
          <p:cNvSpPr txBox="1"/>
          <p:nvPr/>
        </p:nvSpPr>
        <p:spPr>
          <a:xfrm>
            <a:off x="3005267"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The Minimal State: The Memory the Future Requires</a:t>
            </a:r>
            <a:endParaRPr lang="en-US" sz="1300" dirty="0"/>
          </a:p>
        </p:txBody>
      </p:sp>
      <p:sp>
        <p:nvSpPr>
          <p:cNvPr id="12" name="Card text"/>
          <p:cNvSpPr txBox="1"/>
          <p:nvPr/>
        </p:nvSpPr>
        <p:spPr>
          <a:xfrm>
            <a:off x="3005267"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5.1</a:t>
            </a:r>
            <a:endParaRPr lang="en-US" sz="1200" dirty="0"/>
          </a:p>
        </p:txBody>
      </p:sp>
      <p:sp>
        <p:nvSpPr>
          <p:cNvPr id="13" name="Card"/>
          <p:cNvSpPr/>
          <p:nvPr/>
        </p:nvSpPr>
        <p:spPr>
          <a:xfrm>
            <a:off x="5096134" y="1691640"/>
            <a:ext cx="1999427" cy="2103120"/>
          </a:xfrm>
          <a:prstGeom prst="roundRect">
            <a:avLst>
              <a:gd name="adj" fmla="val 3659"/>
            </a:avLst>
          </a:prstGeom>
          <a:solidFill>
            <a:schemeClr val="bg2"/>
          </a:solidFill>
          <a:ln w="9525">
            <a:solidFill>
              <a:srgbClr val="C4CBD8"/>
            </a:solidFill>
            <a:prstDash val="solid"/>
          </a:ln>
        </p:spPr>
      </p:sp>
      <p:sp>
        <p:nvSpPr>
          <p:cNvPr id="14"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§5.3</a:t>
            </a:r>
            <a:endParaRPr lang="en-US" sz="1300" dirty="0"/>
          </a:p>
        </p:txBody>
      </p:sp>
      <p:sp>
        <p:nvSpPr>
          <p:cNvPr id="15" name="Card head"/>
          <p:cNvSpPr txBox="1"/>
          <p:nvPr/>
        </p:nvSpPr>
        <p:spPr>
          <a:xfrm>
            <a:off x="5279014"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State Variables and Parameters</a:t>
            </a:r>
            <a:endParaRPr lang="en-US" sz="1300" dirty="0"/>
          </a:p>
        </p:txBody>
      </p:sp>
      <p:sp>
        <p:nvSpPr>
          <p:cNvPr id="16" name="Card text"/>
          <p:cNvSpPr txBox="1"/>
          <p:nvPr/>
        </p:nvSpPr>
        <p:spPr>
          <a:xfrm>
            <a:off x="5279014"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Tables 5.1–5.2</a:t>
            </a:r>
            <a:endParaRPr lang="en-US" sz="1200" dirty="0"/>
          </a:p>
        </p:txBody>
      </p:sp>
      <p:sp>
        <p:nvSpPr>
          <p:cNvPr id="17" name="Card"/>
          <p:cNvSpPr/>
          <p:nvPr/>
        </p:nvSpPr>
        <p:spPr>
          <a:xfrm>
            <a:off x="7369881" y="1691640"/>
            <a:ext cx="1999427" cy="2103120"/>
          </a:xfrm>
          <a:prstGeom prst="roundRect">
            <a:avLst>
              <a:gd name="adj" fmla="val 3659"/>
            </a:avLst>
          </a:prstGeom>
          <a:solidFill>
            <a:schemeClr val="bg2"/>
          </a:solidFill>
          <a:ln w="9525">
            <a:solidFill>
              <a:srgbClr val="C4CBD8"/>
            </a:solidFill>
            <a:prstDash val="solid"/>
          </a:ln>
        </p:spPr>
      </p:sp>
      <p:sp>
        <p:nvSpPr>
          <p:cNvPr id="18"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§5.4</a:t>
            </a:r>
            <a:endParaRPr lang="en-US" sz="1300" dirty="0"/>
          </a:p>
        </p:txBody>
      </p:sp>
      <p:sp>
        <p:nvSpPr>
          <p:cNvPr id="19" name="Card head"/>
          <p:cNvSpPr txBox="1"/>
          <p:nvPr/>
        </p:nvSpPr>
        <p:spPr>
          <a:xfrm>
            <a:off x="7552761"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State Spaces and Configurations</a:t>
            </a:r>
            <a:endParaRPr lang="en-US" sz="1300" dirty="0"/>
          </a:p>
        </p:txBody>
      </p:sp>
      <p:sp>
        <p:nvSpPr>
          <p:cNvPr id="20" name="Card text"/>
          <p:cNvSpPr txBox="1"/>
          <p:nvPr/>
        </p:nvSpPr>
        <p:spPr>
          <a:xfrm>
            <a:off x="7552761"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5.2</a:t>
            </a:r>
            <a:endParaRPr lang="en-US" sz="1200" dirty="0"/>
          </a:p>
        </p:txBody>
      </p:sp>
      <p:sp>
        <p:nvSpPr>
          <p:cNvPr id="21" name="Card"/>
          <p:cNvSpPr/>
          <p:nvPr/>
        </p:nvSpPr>
        <p:spPr>
          <a:xfrm>
            <a:off x="9643628" y="1691640"/>
            <a:ext cx="1999427" cy="2103120"/>
          </a:xfrm>
          <a:prstGeom prst="roundRect">
            <a:avLst>
              <a:gd name="adj" fmla="val 3659"/>
            </a:avLst>
          </a:prstGeom>
          <a:solidFill>
            <a:schemeClr val="bg2"/>
          </a:solidFill>
          <a:ln w="9525">
            <a:solidFill>
              <a:srgbClr val="C4CBD8"/>
            </a:solidFill>
            <a:prstDash val="solid"/>
          </a:ln>
        </p:spPr>
      </p:sp>
      <p:sp>
        <p:nvSpPr>
          <p:cNvPr id="22"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§5.5</a:t>
            </a:r>
            <a:endParaRPr lang="en-US" sz="1300" dirty="0"/>
          </a:p>
        </p:txBody>
      </p:sp>
      <p:sp>
        <p:nvSpPr>
          <p:cNvPr id="23" name="Card head"/>
          <p:cNvSpPr txBox="1"/>
          <p:nvPr/>
        </p:nvSpPr>
        <p:spPr>
          <a:xfrm>
            <a:off x="9826508"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Trajectories and Transitions</a:t>
            </a:r>
            <a:endParaRPr lang="en-US" sz="1300" dirty="0"/>
          </a:p>
        </p:txBody>
      </p:sp>
      <p:sp>
        <p:nvSpPr>
          <p:cNvPr id="24" name="Card text"/>
          <p:cNvSpPr txBox="1"/>
          <p:nvPr/>
        </p:nvSpPr>
        <p:spPr>
          <a:xfrm>
            <a:off x="9826508"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5.3</a:t>
            </a:r>
            <a:endParaRPr lang="en-US" sz="1200" dirty="0"/>
          </a:p>
        </p:txBody>
      </p:sp>
      <p:sp>
        <p:nvSpPr>
          <p:cNvPr id="25" name="Card"/>
          <p:cNvSpPr/>
          <p:nvPr/>
        </p:nvSpPr>
        <p:spPr>
          <a:xfrm>
            <a:off x="548640" y="4069080"/>
            <a:ext cx="1999427" cy="2103120"/>
          </a:xfrm>
          <a:prstGeom prst="roundRect">
            <a:avLst>
              <a:gd name="adj" fmla="val 3659"/>
            </a:avLst>
          </a:prstGeom>
          <a:solidFill>
            <a:schemeClr val="bg2"/>
          </a:solidFill>
          <a:ln w="9525">
            <a:solidFill>
              <a:srgbClr val="C4CBD8"/>
            </a:solidFill>
            <a:prstDash val="solid"/>
          </a:ln>
        </p:spPr>
      </p:sp>
      <p:sp>
        <p:nvSpPr>
          <p:cNvPr id="26" name="Card label"/>
          <p:cNvSpPr txBox="1"/>
          <p:nvPr/>
        </p:nvSpPr>
        <p:spPr>
          <a:xfrm>
            <a:off x="731520"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§5.6</a:t>
            </a:r>
            <a:endParaRPr lang="en-US" sz="1300" dirty="0"/>
          </a:p>
        </p:txBody>
      </p:sp>
      <p:sp>
        <p:nvSpPr>
          <p:cNvPr id="27" name="Card head"/>
          <p:cNvSpPr txBox="1"/>
          <p:nvPr/>
        </p:nvSpPr>
        <p:spPr>
          <a:xfrm>
            <a:off x="731520"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Equilibrium States</a:t>
            </a:r>
            <a:endParaRPr lang="en-US" sz="1300" dirty="0"/>
          </a:p>
        </p:txBody>
      </p:sp>
      <p:sp>
        <p:nvSpPr>
          <p:cNvPr id="28" name="Card text"/>
          <p:cNvSpPr txBox="1"/>
          <p:nvPr/>
        </p:nvSpPr>
        <p:spPr>
          <a:xfrm>
            <a:off x="731520"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5.4</a:t>
            </a:r>
            <a:endParaRPr lang="en-US" sz="1200" dirty="0"/>
          </a:p>
        </p:txBody>
      </p:sp>
      <p:sp>
        <p:nvSpPr>
          <p:cNvPr id="29" name="Card"/>
          <p:cNvSpPr/>
          <p:nvPr/>
        </p:nvSpPr>
        <p:spPr>
          <a:xfrm>
            <a:off x="2822387" y="4069080"/>
            <a:ext cx="1999427" cy="2103120"/>
          </a:xfrm>
          <a:prstGeom prst="roundRect">
            <a:avLst>
              <a:gd name="adj" fmla="val 3659"/>
            </a:avLst>
          </a:prstGeom>
          <a:solidFill>
            <a:schemeClr val="bg2"/>
          </a:solidFill>
          <a:ln w="9525">
            <a:solidFill>
              <a:srgbClr val="C4CBD8"/>
            </a:solidFill>
            <a:prstDash val="solid"/>
          </a:ln>
        </p:spPr>
      </p:sp>
      <p:sp>
        <p:nvSpPr>
          <p:cNvPr id="30" name="Card label"/>
          <p:cNvSpPr txBox="1"/>
          <p:nvPr/>
        </p:nvSpPr>
        <p:spPr>
          <a:xfrm>
            <a:off x="3005267"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§5.7</a:t>
            </a:r>
            <a:endParaRPr lang="en-US" sz="1300" dirty="0"/>
          </a:p>
        </p:txBody>
      </p:sp>
      <p:sp>
        <p:nvSpPr>
          <p:cNvPr id="31" name="Card head"/>
          <p:cNvSpPr txBox="1"/>
          <p:nvPr/>
        </p:nvSpPr>
        <p:spPr>
          <a:xfrm>
            <a:off x="3005267"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Feasible Regions</a:t>
            </a:r>
            <a:endParaRPr lang="en-US" sz="1300" dirty="0"/>
          </a:p>
        </p:txBody>
      </p:sp>
      <p:sp>
        <p:nvSpPr>
          <p:cNvPr id="32" name="Card text"/>
          <p:cNvSpPr txBox="1"/>
          <p:nvPr/>
        </p:nvSpPr>
        <p:spPr>
          <a:xfrm>
            <a:off x="3005267"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5.5</a:t>
            </a:r>
            <a:endParaRPr lang="en-US" sz="1200" dirty="0"/>
          </a:p>
        </p:txBody>
      </p:sp>
      <p:sp>
        <p:nvSpPr>
          <p:cNvPr id="33" name="Card"/>
          <p:cNvSpPr/>
          <p:nvPr/>
        </p:nvSpPr>
        <p:spPr>
          <a:xfrm>
            <a:off x="5096134" y="4069080"/>
            <a:ext cx="1999427" cy="2103120"/>
          </a:xfrm>
          <a:prstGeom prst="roundRect">
            <a:avLst>
              <a:gd name="adj" fmla="val 3659"/>
            </a:avLst>
          </a:prstGeom>
          <a:solidFill>
            <a:schemeClr val="bg2"/>
          </a:solidFill>
          <a:ln w="9525">
            <a:solidFill>
              <a:srgbClr val="C4CBD8"/>
            </a:solidFill>
            <a:prstDash val="solid"/>
          </a:ln>
        </p:spPr>
      </p:sp>
      <p:sp>
        <p:nvSpPr>
          <p:cNvPr id="34" name="Card label"/>
          <p:cNvSpPr txBox="1"/>
          <p:nvPr/>
        </p:nvSpPr>
        <p:spPr>
          <a:xfrm>
            <a:off x="5279014"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§5.8</a:t>
            </a:r>
            <a:endParaRPr lang="en-US" sz="1300" dirty="0"/>
          </a:p>
        </p:txBody>
      </p:sp>
      <p:sp>
        <p:nvSpPr>
          <p:cNvPr id="35" name="Card head"/>
          <p:cNvSpPr txBox="1"/>
          <p:nvPr/>
        </p:nvSpPr>
        <p:spPr>
          <a:xfrm>
            <a:off x="5279014"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Dimension and Visualization</a:t>
            </a:r>
            <a:endParaRPr lang="en-US" sz="1300" dirty="0"/>
          </a:p>
        </p:txBody>
      </p:sp>
      <p:sp>
        <p:nvSpPr>
          <p:cNvPr id="36" name="Card text"/>
          <p:cNvSpPr txBox="1"/>
          <p:nvPr/>
        </p:nvSpPr>
        <p:spPr>
          <a:xfrm>
            <a:off x="5279014"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Figure 5.5</a:t>
            </a:r>
            <a:endParaRPr lang="en-US" sz="1200" dirty="0"/>
          </a:p>
        </p:txBody>
      </p:sp>
      <p:sp>
        <p:nvSpPr>
          <p:cNvPr id="37" name="Card"/>
          <p:cNvSpPr/>
          <p:nvPr/>
        </p:nvSpPr>
        <p:spPr>
          <a:xfrm>
            <a:off x="7369881" y="4069080"/>
            <a:ext cx="1999427" cy="2103120"/>
          </a:xfrm>
          <a:prstGeom prst="roundRect">
            <a:avLst>
              <a:gd name="adj" fmla="val 3659"/>
            </a:avLst>
          </a:prstGeom>
          <a:solidFill>
            <a:schemeClr val="tx1"/>
          </a:solidFill>
          <a:ln w="9525">
            <a:solidFill>
              <a:srgbClr val="0F1E3D"/>
            </a:solidFill>
            <a:prstDash val="solid"/>
          </a:ln>
        </p:spPr>
      </p:sp>
      <p:sp>
        <p:nvSpPr>
          <p:cNvPr id="38" name="Card label"/>
          <p:cNvSpPr txBox="1"/>
          <p:nvPr/>
        </p:nvSpPr>
        <p:spPr>
          <a:xfrm>
            <a:off x="7552761"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5.1</a:t>
            </a:r>
            <a:endParaRPr lang="en-US" sz="1300" dirty="0"/>
          </a:p>
        </p:txBody>
      </p:sp>
      <p:sp>
        <p:nvSpPr>
          <p:cNvPr id="39" name="Card head"/>
          <p:cNvSpPr txBox="1"/>
          <p:nvPr/>
        </p:nvSpPr>
        <p:spPr>
          <a:xfrm>
            <a:off x="7552761" y="4526280"/>
            <a:ext cx="1633667" cy="1060704"/>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Where Does the Turnaround Settle?</a:t>
            </a:r>
            <a:endParaRPr lang="en-US" sz="1300" dirty="0"/>
          </a:p>
        </p:txBody>
      </p:sp>
      <p:sp>
        <p:nvSpPr>
          <p:cNvPr id="40" name="Card text"/>
          <p:cNvSpPr txBox="1"/>
          <p:nvPr/>
        </p:nvSpPr>
        <p:spPr>
          <a:xfrm>
            <a:off x="7552761" y="5660136"/>
            <a:ext cx="1633667" cy="384048"/>
          </a:xfrm>
          <a:prstGeom prst="rect">
            <a:avLst/>
          </a:prstGeom>
          <a:noFill/>
          <a:ln/>
        </p:spPr>
        <p:txBody>
          <a:bodyPr wrap="square" lIns="0" tIns="0" rIns="0" bIns="0" rtlCol="0" anchor="t"/>
          <a:lstStyle/>
          <a:p>
            <a:pPr indent="0" marL="0">
              <a:buNone/>
            </a:pPr>
            <a:r>
              <a:rPr lang="en-US" sz="1200" dirty="0">
                <a:solidFill>
                  <a:schemeClr val="bg2"/>
                </a:solidFill>
              </a:rPr>
              <a:t>Table 5.5</a:t>
            </a:r>
            <a:endParaRPr lang="en-US" sz="1200" dirty="0"/>
          </a:p>
        </p:txBody>
      </p:sp>
      <p:sp>
        <p:nvSpPr>
          <p:cNvPr id="41" name="Card"/>
          <p:cNvSpPr/>
          <p:nvPr/>
        </p:nvSpPr>
        <p:spPr>
          <a:xfrm>
            <a:off x="9643628" y="4069080"/>
            <a:ext cx="1999427" cy="2103120"/>
          </a:xfrm>
          <a:prstGeom prst="roundRect">
            <a:avLst>
              <a:gd name="adj" fmla="val 3659"/>
            </a:avLst>
          </a:prstGeom>
          <a:solidFill>
            <a:schemeClr val="bg2"/>
          </a:solidFill>
          <a:ln w="9525">
            <a:solidFill>
              <a:srgbClr val="C4CBD8"/>
            </a:solidFill>
            <a:prstDash val="solid"/>
          </a:ln>
        </p:spPr>
      </p:sp>
      <p:sp>
        <p:nvSpPr>
          <p:cNvPr id="42" name="Card label"/>
          <p:cNvSpPr txBox="1"/>
          <p:nvPr/>
        </p:nvSpPr>
        <p:spPr>
          <a:xfrm>
            <a:off x="9826508"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1.5</a:t>
            </a:r>
            <a:endParaRPr lang="en-US" sz="1300" dirty="0"/>
          </a:p>
        </p:txBody>
      </p:sp>
      <p:sp>
        <p:nvSpPr>
          <p:cNvPr id="43" name="Card head"/>
          <p:cNvSpPr txBox="1"/>
          <p:nvPr/>
        </p:nvSpPr>
        <p:spPr>
          <a:xfrm>
            <a:off x="9826508"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Meridian's Room to Maneuver</a:t>
            </a:r>
            <a:endParaRPr lang="en-US" sz="1300" dirty="0"/>
          </a:p>
        </p:txBody>
      </p:sp>
      <p:sp>
        <p:nvSpPr>
          <p:cNvPr id="44" name="Card text"/>
          <p:cNvSpPr txBox="1"/>
          <p:nvPr/>
        </p:nvSpPr>
        <p:spPr>
          <a:xfrm>
            <a:off x="9826508"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AXIOM-05</a:t>
            </a:r>
            <a:endParaRPr lang="en-US" sz="1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§5.1 · WHY THE STATE NEEDS A FOUNDATION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Four board phrases become four objects</a:t>
            </a:r>
            <a:endParaRPr lang="en-US" sz="3200" dirty="0"/>
          </a:p>
        </p:txBody>
      </p:sp>
      <p:sp>
        <p:nvSpPr>
          <p:cNvPr id="5" name="Card"/>
          <p:cNvSpPr/>
          <p:nvPr/>
        </p:nvSpPr>
        <p:spPr>
          <a:xfrm>
            <a:off x="548640" y="1691640"/>
            <a:ext cx="2567864" cy="3154680"/>
          </a:xfrm>
          <a:prstGeom prst="roundRect">
            <a:avLst>
              <a:gd name="adj" fmla="val 2849"/>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“Where the company is”</a:t>
            </a:r>
            <a:endParaRPr lang="en-US" sz="1300" dirty="0"/>
          </a:p>
        </p:txBody>
      </p:sp>
      <p:sp>
        <p:nvSpPr>
          <p:cNvPr id="7" name="Card head"/>
          <p:cNvSpPr txBox="1"/>
          <p:nvPr/>
        </p:nvSpPr>
        <p:spPr>
          <a:xfrm>
            <a:off x="731520" y="2148840"/>
            <a:ext cx="2202104" cy="1124712"/>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A point</a:t>
            </a:r>
            <a:endParaRPr lang="en-US" sz="2100" dirty="0"/>
          </a:p>
        </p:txBody>
      </p:sp>
      <p:sp>
        <p:nvSpPr>
          <p:cNvPr id="8" name="Card text"/>
          <p:cNvSpPr txBox="1"/>
          <p:nvPr/>
        </p:nvSpPr>
        <p:spPr>
          <a:xfrm>
            <a:off x="731520" y="3346704"/>
            <a:ext cx="2202104" cy="1371600"/>
          </a:xfrm>
          <a:prstGeom prst="rect">
            <a:avLst/>
          </a:prstGeom>
          <a:noFill/>
          <a:ln/>
        </p:spPr>
        <p:txBody>
          <a:bodyPr wrap="square" lIns="0" tIns="0" rIns="0" bIns="0" rtlCol="0" anchor="t"/>
          <a:lstStyle/>
          <a:p>
            <a:pPr indent="0" marL="0">
              <a:buNone/>
            </a:pPr>
            <a:r>
              <a:rPr lang="en-US" sz="1500" dirty="0">
                <a:solidFill>
                  <a:schemeClr val="tx2"/>
                </a:solidFill>
              </a:rPr>
              <a:t>A configuration is a point of the state space; constraints are walls (§5.4, Theorem 5.2)</a:t>
            </a:r>
            <a:endParaRPr lang="en-US" sz="1500" dirty="0"/>
          </a:p>
        </p:txBody>
      </p:sp>
      <p:sp>
        <p:nvSpPr>
          <p:cNvPr id="9" name="Card"/>
          <p:cNvSpPr/>
          <p:nvPr/>
        </p:nvSpPr>
        <p:spPr>
          <a:xfrm>
            <a:off x="3390824" y="1691640"/>
            <a:ext cx="2567864" cy="3154680"/>
          </a:xfrm>
          <a:prstGeom prst="roundRect">
            <a:avLst>
              <a:gd name="adj" fmla="val 2849"/>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“Where an option takes it”</a:t>
            </a:r>
            <a:endParaRPr lang="en-US" sz="1300" dirty="0"/>
          </a:p>
        </p:txBody>
      </p:sp>
      <p:sp>
        <p:nvSpPr>
          <p:cNvPr id="11" name="Card head"/>
          <p:cNvSpPr txBox="1"/>
          <p:nvPr/>
        </p:nvSpPr>
        <p:spPr>
          <a:xfrm>
            <a:off x="3573704" y="2148840"/>
            <a:ext cx="2202104" cy="1124712"/>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A trajectory</a:t>
            </a:r>
            <a:endParaRPr lang="en-US" sz="2100" dirty="0"/>
          </a:p>
        </p:txBody>
      </p:sp>
      <p:sp>
        <p:nvSpPr>
          <p:cNvPr id="12" name="Card text"/>
          <p:cNvSpPr txBox="1"/>
          <p:nvPr/>
        </p:nvSpPr>
        <p:spPr>
          <a:xfrm>
            <a:off x="3573704" y="3346704"/>
            <a:ext cx="2202104" cy="1371600"/>
          </a:xfrm>
          <a:prstGeom prst="rect">
            <a:avLst/>
          </a:prstGeom>
          <a:noFill/>
          <a:ln/>
        </p:spPr>
        <p:txBody>
          <a:bodyPr wrap="square" lIns="0" tIns="0" rIns="0" bIns="0" rtlCol="0" anchor="t"/>
          <a:lstStyle/>
          <a:p>
            <a:pPr indent="0" marL="0">
              <a:buNone/>
            </a:pPr>
            <a:r>
              <a:rPr lang="en-US" sz="1500" dirty="0">
                <a:solidFill>
                  <a:schemeClr val="tx2"/>
                </a:solidFill>
              </a:rPr>
              <a:t>A path through time, of which a report shows only the samples (§5.5, Theorem 5.3)</a:t>
            </a:r>
            <a:endParaRPr lang="en-US" sz="1500" dirty="0"/>
          </a:p>
        </p:txBody>
      </p:sp>
      <p:sp>
        <p:nvSpPr>
          <p:cNvPr id="13" name="Card"/>
          <p:cNvSpPr/>
          <p:nvPr/>
        </p:nvSpPr>
        <p:spPr>
          <a:xfrm>
            <a:off x="6233008" y="1691640"/>
            <a:ext cx="2567864" cy="3154680"/>
          </a:xfrm>
          <a:prstGeom prst="roundRect">
            <a:avLst>
              <a:gd name="adj" fmla="val 2849"/>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“What the company can be”</a:t>
            </a:r>
            <a:endParaRPr lang="en-US" sz="1300" dirty="0"/>
          </a:p>
        </p:txBody>
      </p:sp>
      <p:sp>
        <p:nvSpPr>
          <p:cNvPr id="15" name="Card head"/>
          <p:cNvSpPr txBox="1"/>
          <p:nvPr/>
        </p:nvSpPr>
        <p:spPr>
          <a:xfrm>
            <a:off x="6415888" y="2148840"/>
            <a:ext cx="2202104" cy="1124712"/>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A feasible region</a:t>
            </a:r>
            <a:endParaRPr lang="en-US" sz="2100" dirty="0"/>
          </a:p>
        </p:txBody>
      </p:sp>
      <p:sp>
        <p:nvSpPr>
          <p:cNvPr id="16" name="Card text"/>
          <p:cNvSpPr txBox="1"/>
          <p:nvPr/>
        </p:nvSpPr>
        <p:spPr>
          <a:xfrm>
            <a:off x="6415888" y="3346704"/>
            <a:ext cx="2202104" cy="1371600"/>
          </a:xfrm>
          <a:prstGeom prst="rect">
            <a:avLst/>
          </a:prstGeom>
          <a:noFill/>
          <a:ln/>
        </p:spPr>
        <p:txBody>
          <a:bodyPr wrap="square" lIns="0" tIns="0" rIns="0" bIns="0" rtlCol="0" anchor="t"/>
          <a:lstStyle/>
          <a:p>
            <a:pPr indent="0" marL="0">
              <a:buNone/>
            </a:pPr>
            <a:r>
              <a:rPr lang="en-US" sz="1500" dirty="0">
                <a:solidFill>
                  <a:schemeClr val="tx2"/>
                </a:solidFill>
              </a:rPr>
              <a:t>The states that meet every constraint at once, walls included (§5.7, Theorem 5.5)</a:t>
            </a:r>
            <a:endParaRPr lang="en-US" sz="1500" dirty="0"/>
          </a:p>
        </p:txBody>
      </p:sp>
      <p:sp>
        <p:nvSpPr>
          <p:cNvPr id="17" name="Card"/>
          <p:cNvSpPr/>
          <p:nvPr/>
        </p:nvSpPr>
        <p:spPr>
          <a:xfrm>
            <a:off x="9075191" y="1691640"/>
            <a:ext cx="2567864" cy="3154680"/>
          </a:xfrm>
          <a:prstGeom prst="roundRect">
            <a:avLst>
              <a:gd name="adj" fmla="val 2849"/>
            </a:avLst>
          </a:prstGeom>
          <a:solidFill>
            <a:schemeClr val="tx1"/>
          </a:solidFill>
          <a:ln w="9525">
            <a:solidFill>
              <a:srgbClr val="0F1E3D"/>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“What it would settle into”</a:t>
            </a:r>
            <a:endParaRPr lang="en-US" sz="1300" dirty="0"/>
          </a:p>
        </p:txBody>
      </p:sp>
      <p:sp>
        <p:nvSpPr>
          <p:cNvPr id="19" name="Card head"/>
          <p:cNvSpPr txBox="1"/>
          <p:nvPr/>
        </p:nvSpPr>
        <p:spPr>
          <a:xfrm>
            <a:off x="9258071" y="2148840"/>
            <a:ext cx="2202104" cy="1124712"/>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An equilibrium</a:t>
            </a:r>
            <a:endParaRPr lang="en-US" sz="2100" dirty="0"/>
          </a:p>
        </p:txBody>
      </p:sp>
      <p:sp>
        <p:nvSpPr>
          <p:cNvPr id="20" name="Card text"/>
          <p:cNvSpPr txBox="1"/>
          <p:nvPr/>
        </p:nvSpPr>
        <p:spPr>
          <a:xfrm>
            <a:off x="9258071" y="3346704"/>
            <a:ext cx="2202104" cy="1371600"/>
          </a:xfrm>
          <a:prstGeom prst="rect">
            <a:avLst/>
          </a:prstGeom>
          <a:noFill/>
          <a:ln/>
        </p:spPr>
        <p:txBody>
          <a:bodyPr wrap="square" lIns="0" tIns="0" rIns="0" bIns="0" rtlCol="0" anchor="t"/>
          <a:lstStyle/>
          <a:p>
            <a:pPr indent="0" marL="0">
              <a:buNone/>
            </a:pPr>
            <a:r>
              <a:rPr lang="en-US" sz="1500" dirty="0">
                <a:solidFill>
                  <a:schemeClr val="bg2"/>
                </a:solidFill>
              </a:rPr>
              <a:t>The state the dynamics leave unchanged, if it stopped transforming (§5.6, Theorem 5.4)</a:t>
            </a:r>
            <a:endParaRPr lang="en-US" sz="1500" dirty="0"/>
          </a:p>
        </p:txBody>
      </p:sp>
      <p:sp>
        <p:nvSpPr>
          <p:cNvPr id="21" name="Lead"/>
          <p:cNvSpPr txBox="1"/>
          <p:nvPr/>
        </p:nvSpPr>
        <p:spPr>
          <a:xfrm>
            <a:off x="548640" y="51206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Two modeling teams, two lists of readings: is one of them wrong? Theorem 5.1 answers the skeptic.</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§5.2 · THEOREM 5.1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state is the memory the future requires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5.1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State Representation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dirty="0">
                <a:solidFill>
                  <a:schemeClr val="tx1"/>
                </a:solidFill>
              </a:rPr>
              <a:t>Fix what counts as observable behavior. Two histories are </a:t>
            </a:r>
            <a:r>
              <a:rPr lang="en-US" sz="1500" b="1" dirty="0">
                <a:solidFill>
                  <a:schemeClr val="tx1"/>
                </a:solidFill>
              </a:rPr>
              <a:t>future-equivalent</a:t>
            </a:r>
            <a:r>
              <a:rPr lang="en-US" sz="1500" dirty="0">
                <a:solidFill>
                  <a:schemeClr val="tx1"/>
                </a:solidFill>
              </a:rPr>
              <a:t> if no future can tell them apart by their outputs</a:t>
            </a:r>
            <a:endParaRPr lang="en-US" sz="1500" dirty="0"/>
          </a:p>
          <a:p>
            <a:pPr marL="228600" indent="-228600">
              <a:spcAft>
                <a:spcPts val="600"/>
              </a:spcAft>
              <a:buSzPct val="100000"/>
              <a:buChar char="•"/>
            </a:pPr>
            <a:r>
              <a:rPr lang="en-US" sz="1500" b="1" dirty="0">
                <a:solidFill>
                  <a:schemeClr val="tx1"/>
                </a:solidFill>
              </a:rPr>
              <a:t>(i)</a:t>
            </a:r>
            <a:r>
              <a:rPr lang="en-US" sz="1500" dirty="0">
                <a:solidFill>
                  <a:schemeClr val="tx1"/>
                </a:solidFill>
              </a:rPr>
              <a:t> The future-equivalence classes form a state description that reproduces behavior exactly</a:t>
            </a:r>
            <a:endParaRPr lang="en-US" sz="1500" dirty="0"/>
          </a:p>
          <a:p>
            <a:pPr marL="228600" indent="-228600">
              <a:spcAft>
                <a:spcPts val="600"/>
              </a:spcAft>
              <a:buSzPct val="100000"/>
              <a:buChar char="•"/>
            </a:pPr>
            <a:r>
              <a:rPr lang="en-US" sz="1500" b="1" dirty="0">
                <a:solidFill>
                  <a:schemeClr val="tx1"/>
                </a:solidFill>
              </a:rPr>
              <a:t>(ii)</a:t>
            </a:r>
            <a:r>
              <a:rPr lang="en-US" sz="1500" dirty="0">
                <a:solidFill>
                  <a:schemeClr val="tx1"/>
                </a:solidFill>
              </a:rPr>
              <a:t> Every adequate description carries at least this much information: none has fewer states</a:t>
            </a:r>
            <a:endParaRPr lang="en-US" sz="1500" dirty="0"/>
          </a:p>
          <a:p>
            <a:pPr marL="228600" indent="-228600">
              <a:spcAft>
                <a:spcPts val="600"/>
              </a:spcAft>
              <a:buSzPct val="100000"/>
              <a:buChar char="•"/>
            </a:pPr>
            <a:r>
              <a:rPr lang="en-US" sz="1500" b="1" dirty="0">
                <a:solidFill>
                  <a:schemeClr val="tx1"/>
                </a:solidFill>
              </a:rPr>
              <a:t>(iii)</a:t>
            </a:r>
            <a:r>
              <a:rPr lang="en-US" sz="1500" dirty="0">
                <a:solidFill>
                  <a:schemeClr val="tx1"/>
                </a:solidFill>
              </a:rPr>
              <a:t> Any two smallest descriptions are the same up to relabeling</a:t>
            </a:r>
            <a:endParaRPr lang="en-US" sz="1500" dirty="0"/>
          </a:p>
          <a:p>
            <a:pPr marL="228600" indent="-228600">
              <a:spcAft>
                <a:spcPts val="600"/>
              </a:spcAft>
              <a:buSzPct val="100000"/>
              <a:buChar char="•"/>
            </a:pPr>
            <a:r>
              <a:rPr lang="en-US" sz="1500" dirty="0">
                <a:solidFill>
                  <a:schemeClr val="tx1"/>
                </a:solidFill>
              </a:rPr>
              <a:t>Different pasts with identical balance sheets, capabilities, contracts and positions are future-equivalent</a:t>
            </a:r>
            <a:endParaRPr lang="en-US" sz="15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What the state is, is not a convention once observable behavior is declared</a:t>
            </a:r>
            <a:endParaRPr lang="en-US" sz="1500" dirty="0"/>
          </a:p>
          <a:p>
            <a:pPr marL="228600" indent="-228600">
              <a:spcAft>
                <a:spcPts val="800"/>
              </a:spcAft>
              <a:buSzPct val="100000"/>
              <a:buChar char="•"/>
            </a:pPr>
            <a:r>
              <a:rPr lang="en-US" sz="1500" dirty="0">
                <a:solidFill>
                  <a:schemeClr val="tx1"/>
                </a:solidFill>
              </a:rPr>
              <a:t>A reading earns its place by carrying information the future needs, not by being true or important</a:t>
            </a:r>
            <a:endParaRPr lang="en-US" sz="1500" dirty="0"/>
          </a:p>
          <a:p>
            <a:pPr marL="228600" indent="-228600">
              <a:spcAft>
                <a:spcPts val="800"/>
              </a:spcAft>
              <a:buSzPct val="100000"/>
              <a:buChar char="•"/>
            </a:pPr>
            <a:r>
              <a:rPr lang="en-US" sz="1500" dirty="0">
                <a:solidFill>
                  <a:schemeClr val="tx1"/>
                </a:solidFill>
              </a:rPr>
              <a:t>Balance sheets, capabilities and order books belong; sunk costs do not</a:t>
            </a:r>
            <a:endParaRPr lang="en-US" sz="1500" dirty="0"/>
          </a:p>
          <a:p>
            <a:pPr marL="228600" indent="-228600">
              <a:spcAft>
                <a:spcPts val="800"/>
              </a:spcAft>
              <a:buSzPct val="100000"/>
              <a:buChar char="•"/>
            </a:pPr>
            <a:r>
              <a:rPr lang="en-US" sz="1500" dirty="0">
                <a:solidFill>
                  <a:schemeClr val="tx1"/>
                </a:solidFill>
              </a:rPr>
              <a:t>The money spent on the legacy platform is gone; the platform's condition today remains</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§5.3 · TABLE 5.2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Meridian's eight readings, declared</a:t>
            </a:r>
            <a:endParaRPr lang="en-US" sz="32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68944"/>
                <a:gridCol w="2844722"/>
                <a:gridCol w="1801657"/>
                <a:gridCol w="1043065"/>
                <a:gridCol w="3887787"/>
                <a:gridCol w="948241"/>
              </a:tblGrid>
              <a:tr h="393192">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Reading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Unit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Type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Measurement source (error)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Tag</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3931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x₁</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liquidity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US$ billion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stock</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treasury systems (±1%)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ECA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931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x₂</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net leverage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ND/EBITDA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ratio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audited accounts (±2%)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ECA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931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x₃</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workforce capability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0–100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index</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skills survey (±5)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ECA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931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x₄</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technology platform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0–100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index</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architecture audit (±4)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ECA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931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x₅</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operational efficiency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0–100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index</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cost benchmarking (±3)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EPA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931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x₆</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ROIC</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ratio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ratio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audited accounts (±0.4 pp)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EPA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931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x₇</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strategic risk</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0–100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index</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risk committee (±6)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ERRA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93192">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x₈</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market share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ratio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ratio</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industry data (±0.8 pp)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EPA</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321808"/>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Errors for indices are in index points. Tags anticipate Part III's architectures: capital (ECA), performance (EPA), and risk, resilience and robustness (ERRA).</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One vector carries cash, ratios and survey indices: the declaration, not the notation, does the carrying.</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§5.3 · DEFINITION 5.2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Yesterday's parameter is tomorrow's state variable</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DEFINITION 5.2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State Variable</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dirty="0">
                <a:solidFill>
                  <a:schemeClr val="tx1"/>
                </a:solidFill>
              </a:rPr>
              <a:t>A declared reading admitted to the state vector, with a declared range, units and a measurement convention</a:t>
            </a:r>
            <a:endParaRPr lang="en-US" sz="1500" dirty="0"/>
          </a:p>
          <a:p>
            <a:pPr marL="228600" indent="-228600">
              <a:spcAft>
                <a:spcPts val="600"/>
              </a:spcAft>
              <a:buSzPct val="100000"/>
              <a:buChar char="•"/>
            </a:pPr>
            <a:r>
              <a:rPr lang="en-US" sz="1500" dirty="0">
                <a:solidFill>
                  <a:schemeClr val="tx1"/>
                </a:solidFill>
              </a:rPr>
              <a:t>Treated as </a:t>
            </a:r>
            <a:r>
              <a:rPr lang="en-US" sz="1500" b="1" dirty="0">
                <a:solidFill>
                  <a:schemeClr val="tx1"/>
                </a:solidFill>
              </a:rPr>
              <a:t>evolving</a:t>
            </a:r>
            <a:r>
              <a:rPr lang="en-US" sz="1500" dirty="0">
                <a:solidFill>
                  <a:schemeClr val="tx1"/>
                </a:solidFill>
              </a:rPr>
              <a:t> within the horizon: its future values are outputs of the dynamics, not inputs</a:t>
            </a:r>
            <a:endParaRPr lang="en-US" sz="1500" dirty="0"/>
          </a:p>
          <a:p>
            <a:pPr marL="228600" indent="-228600">
              <a:spcAft>
                <a:spcPts val="600"/>
              </a:spcAft>
              <a:buSzPct val="100000"/>
              <a:buChar char="•"/>
            </a:pPr>
            <a:r>
              <a:rPr lang="en-US" sz="1500" dirty="0">
                <a:solidFill>
                  <a:schemeClr val="tx1"/>
                </a:solidFill>
              </a:rPr>
              <a:t>A declared quantity held fixed over the horizon is an </a:t>
            </a:r>
            <a:r>
              <a:rPr lang="en-US" sz="1500" b="1" dirty="0">
                <a:solidFill>
                  <a:schemeClr val="tx1"/>
                </a:solidFill>
              </a:rPr>
              <a:t>enterprise parameter</a:t>
            </a:r>
            <a:r>
              <a:rPr lang="en-US" sz="1500" dirty="0">
                <a:solidFill>
                  <a:schemeClr val="tx1"/>
                </a:solidFill>
              </a:rPr>
              <a:t>, θ</a:t>
            </a:r>
            <a:endParaRPr lang="en-US" sz="1500" dirty="0"/>
          </a:p>
          <a:p>
            <a:pPr marL="228600" indent="-228600">
              <a:spcAft>
                <a:spcPts val="600"/>
              </a:spcAft>
              <a:buSzPct val="100000"/>
              <a:buChar char="•"/>
            </a:pPr>
            <a:r>
              <a:rPr lang="en-US" sz="1500" dirty="0">
                <a:solidFill>
                  <a:schemeClr val="tx1"/>
                </a:solidFill>
              </a:rPr>
              <a:t>Table 5.1: stocks carry memory; ratios and indices enter with their constructions declared</a:t>
            </a:r>
            <a:endParaRPr lang="en-US" sz="1500" dirty="0"/>
          </a:p>
          <a:p>
            <a:pPr marL="228600" indent="-228600">
              <a:spcAft>
                <a:spcPts val="600"/>
              </a:spcAft>
              <a:buSzPct val="100000"/>
              <a:buChar char="•"/>
            </a:pPr>
            <a:r>
              <a:rPr lang="en-US" sz="1500" b="1" dirty="0">
                <a:solidFill>
                  <a:schemeClr val="tx1"/>
                </a:solidFill>
              </a:rPr>
              <a:t>Definition 5.3.</a:t>
            </a:r>
            <a:r>
              <a:rPr lang="en-US" sz="1500" dirty="0">
                <a:solidFill>
                  <a:schemeClr val="tx1"/>
                </a:solidFill>
              </a:rPr>
              <a:t> The state vector lists the variables in a fixed order; reordering or rescaling gives an equivalent description</a:t>
            </a:r>
            <a:endParaRPr lang="en-US" sz="15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The line moves with the horizon</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Tax rate: a parameter in a four-quarter cash model, a variable in a ten-year model</a:t>
            </a:r>
            <a:endParaRPr lang="en-US" sz="1500" dirty="0"/>
          </a:p>
          <a:p>
            <a:pPr marL="228600" indent="-228600">
              <a:spcAft>
                <a:spcPts val="800"/>
              </a:spcAft>
              <a:buSzPct val="100000"/>
              <a:buChar char="•"/>
            </a:pPr>
            <a:r>
              <a:rPr lang="en-US" sz="1500" dirty="0">
                <a:solidFill>
                  <a:schemeClr val="tx1"/>
                </a:solidFill>
              </a:rPr>
              <a:t>The decision rule: a parameter in Chapter 2's loop, a state variable once adaptation entered</a:t>
            </a:r>
            <a:endParaRPr lang="en-US" sz="1500" dirty="0"/>
          </a:p>
          <a:p>
            <a:pPr marL="228600" indent="-228600">
              <a:spcAft>
                <a:spcPts val="800"/>
              </a:spcAft>
              <a:buSzPct val="100000"/>
              <a:buChar char="•"/>
            </a:pPr>
            <a:r>
              <a:rPr lang="en-US" sz="1500" dirty="0">
                <a:solidFill>
                  <a:schemeClr val="tx1"/>
                </a:solidFill>
              </a:rPr>
              <a:t>A private firm's liquidity premium responds to its own financing and payout decisions</a:t>
            </a:r>
            <a:endParaRPr lang="en-US" sz="1500" dirty="0"/>
          </a:p>
          <a:p>
            <a:pPr marL="228600" indent="-228600">
              <a:spcAft>
                <a:spcPts val="800"/>
              </a:spcAft>
              <a:buSzPct val="100000"/>
              <a:buChar char="•"/>
            </a:pPr>
            <a:r>
              <a:rPr lang="en-US" sz="1500" dirty="0">
                <a:solidFill>
                  <a:schemeClr val="tx1"/>
                </a:solidFill>
              </a:rPr>
              <a:t>The modeling contract records on which side each quantity sits, and why</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§5.4 · THEOREM 5.2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blend of two workable models can be unworkable</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Theorem 5.2.</a:t>
            </a:r>
            <a:r>
              <a:rPr lang="en-US" sz="1600" dirty="0">
                <a:solidFill>
                  <a:schemeClr val="tx1"/>
                </a:solidFill>
              </a:rPr>
              <a:t> Constraints are walls; questions about a few readings are projections</a:t>
            </a:r>
            <a:endParaRPr lang="en-US" sz="1600" dirty="0"/>
          </a:p>
          <a:p>
            <a:pPr marL="228600" indent="-228600">
              <a:spcAft>
                <a:spcPts val="800"/>
              </a:spcAft>
              <a:buSzPct val="100000"/>
              <a:buChar char="•"/>
            </a:pPr>
            <a:r>
              <a:rPr lang="en-US" sz="1600" dirty="0">
                <a:solidFill>
                  <a:schemeClr val="tx1"/>
                </a:solidFill>
              </a:rPr>
              <a:t>Blends of admissible configurations are admissible when every constraint is convex</a:t>
            </a:r>
            <a:endParaRPr lang="en-US" sz="1600" dirty="0"/>
          </a:p>
          <a:p>
            <a:pPr marL="228600" indent="-228600">
              <a:spcAft>
                <a:spcPts val="800"/>
              </a:spcAft>
              <a:buSzPct val="100000"/>
              <a:buChar char="•"/>
            </a:pPr>
            <a:r>
              <a:rPr lang="en-US" sz="1600" dirty="0">
                <a:solidFill>
                  <a:schemeClr val="tx1"/>
                </a:solidFill>
              </a:rPr>
              <a:t>A budget of 100: A runs legacy 80 and new 10; B shuts legacy and runs new 90</a:t>
            </a:r>
            <a:endParaRPr lang="en-US" sz="1600" dirty="0"/>
          </a:p>
          <a:p>
            <a:pPr marL="228600" indent="-228600">
              <a:spcAft>
                <a:spcPts val="800"/>
              </a:spcAft>
              <a:buSzPct val="100000"/>
              <a:buChar char="•"/>
            </a:pPr>
            <a:r>
              <a:rPr lang="en-US" sz="1600" dirty="0">
                <a:solidFill>
                  <a:schemeClr val="tx1"/>
                </a:solidFill>
              </a:rPr>
              <a:t>A minimum efficient scale, legacy at 60 or more or not at all, rules out the 50/50 blend</a:t>
            </a:r>
            <a:endParaRPr lang="en-US" sz="1600" dirty="0"/>
          </a:p>
          <a:p>
            <a:pPr marL="228600" indent="-228600">
              <a:spcAft>
                <a:spcPts val="800"/>
              </a:spcAft>
              <a:buSzPct val="100000"/>
              <a:buChar char="•"/>
            </a:pPr>
            <a:r>
              <a:rPr lang="en-US" sz="1600" dirty="0">
                <a:solidFill>
                  <a:schemeClr val="tx1"/>
                </a:solidFill>
              </a:rPr>
              <a:t>Many troubled transitions are blends of this kind</a:t>
            </a:r>
            <a:endParaRPr lang="en-US" sz="1600" dirty="0"/>
          </a:p>
        </p:txBody>
      </p:sp>
      <p:pic>
        <p:nvPicPr>
          <p:cNvPr id="6" name="Figure" descr="Figure 5.1: blending two configurations">    </p:cNvPr>
          <p:cNvPicPr>
            <a:picLocks noChangeAspect="1"/>
          </p:cNvPicPr>
          <p:nvPr/>
        </p:nvPicPr>
        <p:blipFill>
          <a:blip r:embed="rId1"/>
          <a:stretch>
            <a:fillRect/>
          </a:stretch>
        </p:blipFill>
        <p:spPr>
          <a:xfrm>
            <a:off x="5391174" y="1938957"/>
            <a:ext cx="6251881" cy="3418997"/>
          </a:xfrm>
          <a:prstGeom prst="rect">
            <a:avLst/>
          </a:prstGeom>
        </p:spPr>
      </p:pic>
      <p:sp>
        <p:nvSpPr>
          <p:cNvPr id="7" name="Caption"/>
          <p:cNvSpPr txBox="1"/>
          <p:nvPr/>
        </p:nvSpPr>
        <p:spPr>
          <a:xfrm>
            <a:off x="5391174" y="5431107"/>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5.1. Left: under a capacity budget alone, every blend of A and B is feasible. Right: a minimum efficient scale leaves two separate pieces, and the 50/50 blend falls between them.</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§5.5 · PROPOSITION 5.3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Readings sample a path; phases must join</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A </a:t>
            </a:r>
            <a:r>
              <a:rPr lang="en-US" sz="1600" b="1" dirty="0">
                <a:solidFill>
                  <a:schemeClr val="tx1"/>
                </a:solidFill>
              </a:rPr>
              <a:t>trajectory</a:t>
            </a:r>
            <a:r>
              <a:rPr lang="en-US" sz="1600" dirty="0">
                <a:solidFill>
                  <a:schemeClr val="tx1"/>
                </a:solidFill>
              </a:rPr>
              <a:t> is the state over time; a report shows only its samples (Definition 5.6)</a:t>
            </a:r>
            <a:endParaRPr lang="en-US" sz="1600" dirty="0"/>
          </a:p>
          <a:p>
            <a:pPr marL="228600" indent="-228600">
              <a:spcAft>
                <a:spcPts val="800"/>
              </a:spcAft>
              <a:buSzPct val="100000"/>
              <a:buChar char="•"/>
            </a:pPr>
            <a:r>
              <a:rPr lang="en-US" sz="1600" b="1" dirty="0">
                <a:solidFill>
                  <a:schemeClr val="tx1"/>
                </a:solidFill>
              </a:rPr>
              <a:t>Proposition 5.3.</a:t>
            </a:r>
            <a:r>
              <a:rPr lang="en-US" sz="1600" dirty="0">
                <a:solidFill>
                  <a:schemeClr val="tx1"/>
                </a:solidFill>
              </a:rPr>
              <a:t> Phases join exactly when the first ends where the second begins</a:t>
            </a:r>
            <a:endParaRPr lang="en-US" sz="1600" dirty="0"/>
          </a:p>
          <a:p>
            <a:pPr marL="228600" indent="-228600">
              <a:spcAft>
                <a:spcPts val="800"/>
              </a:spcAft>
              <a:buSzPct val="100000"/>
              <a:buChar char="•"/>
            </a:pPr>
            <a:r>
              <a:rPr lang="en-US" sz="1600" dirty="0">
                <a:solidFill>
                  <a:schemeClr val="tx1"/>
                </a:solidFill>
              </a:rPr>
              <a:t>Digital: the build (years 0–2) hands over to the scale-up at a liquidity index of 78</a:t>
            </a:r>
            <a:endParaRPr lang="en-US" sz="1600" dirty="0"/>
          </a:p>
          <a:p>
            <a:pPr marL="228600" indent="-228600">
              <a:spcAft>
                <a:spcPts val="800"/>
              </a:spcAft>
              <a:buSzPct val="100000"/>
              <a:buChar char="•"/>
            </a:pPr>
            <a:r>
              <a:rPr lang="en-US" sz="1600" dirty="0">
                <a:solidFill>
                  <a:schemeClr val="tx1"/>
                </a:solidFill>
              </a:rPr>
              <a:t>Half-yearly readings equal two quarterly steps: the flow map composes</a:t>
            </a:r>
            <a:endParaRPr lang="en-US" sz="1600" dirty="0"/>
          </a:p>
          <a:p>
            <a:pPr marL="228600" indent="-228600">
              <a:spcAft>
                <a:spcPts val="800"/>
              </a:spcAft>
              <a:buSzPct val="100000"/>
              <a:buChar char="•"/>
            </a:pPr>
            <a:r>
              <a:rPr lang="en-US" sz="1600" b="1" dirty="0">
                <a:solidFill>
                  <a:schemeClr val="tx1"/>
                </a:solidFill>
              </a:rPr>
              <a:t>Theorem 5.3.</a:t>
            </a:r>
            <a:r>
              <a:rPr lang="en-US" sz="1600" dirty="0">
                <a:solidFill>
                  <a:schemeClr val="tx1"/>
                </a:solidFill>
              </a:rPr>
              <a:t> Lipschitz dynamics give one path, locally; explosive growth can end in finite time</a:t>
            </a:r>
            <a:endParaRPr lang="en-US" sz="1600" dirty="0"/>
          </a:p>
        </p:txBody>
      </p:sp>
      <p:pic>
        <p:nvPicPr>
          <p:cNvPr id="6" name="Figure" descr="Figure 5.2: a trajectory and its samples">    </p:cNvPr>
          <p:cNvPicPr>
            <a:picLocks noChangeAspect="1"/>
          </p:cNvPicPr>
          <p:nvPr/>
        </p:nvPicPr>
        <p:blipFill>
          <a:blip r:embed="rId1"/>
          <a:stretch>
            <a:fillRect/>
          </a:stretch>
        </p:blipFill>
        <p:spPr>
          <a:xfrm>
            <a:off x="5391174" y="1990514"/>
            <a:ext cx="6251881" cy="3315885"/>
          </a:xfrm>
          <a:prstGeom prst="rect">
            <a:avLst/>
          </a:prstGeom>
        </p:spPr>
      </p:pic>
      <p:sp>
        <p:nvSpPr>
          <p:cNvPr id="7" name="Caption"/>
          <p:cNvSpPr txBox="1"/>
          <p:nvPr/>
        </p:nvSpPr>
        <p:spPr>
          <a:xfrm>
            <a:off x="5391174" y="5379550"/>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5.2. Meridian's liquidity under the digital program (Chapter 1 model): the continuous path, its quarterly readings, and two phases that join at year 2.</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§5.6 · THEOREM 5.4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A contraction settles on a computable schedule</a:t>
            </a:r>
            <a:endParaRPr lang="en-US" sz="3200" dirty="0"/>
          </a:p>
        </p:txBody>
      </p:sp>
      <p:pic>
        <p:nvPicPr>
          <p:cNvPr id="5" name="Equation" descr="Equation: \lVert \mathbf{x}_{k} - \mathbf{x}^{\ast} \rVert \;\le\; \frac{L^{k}}{1 - L}\,\lVert \mathbf{x}_{1} - \mathbf{x}_{0} \rVert">    </p:cNvPr>
          <p:cNvPicPr>
            <a:picLocks noChangeAspect="1"/>
          </p:cNvPicPr>
          <p:nvPr/>
        </p:nvPicPr>
        <p:blipFill>
          <a:blip r:embed="rId1"/>
          <a:stretch>
            <a:fillRect/>
          </a:stretch>
        </p:blipFill>
        <p:spPr>
          <a:xfrm>
            <a:off x="3927081" y="1828800"/>
            <a:ext cx="4337533" cy="960120"/>
          </a:xfrm>
          <a:prstGeom prst="rect">
            <a:avLst/>
          </a:prstGeom>
        </p:spPr>
      </p:pic>
      <p:sp>
        <p:nvSpPr>
          <p:cNvPr id="6" name="Text 2"/>
          <p:cNvSpPr txBox="1"/>
          <p:nvPr/>
        </p:nvSpPr>
        <p:spPr>
          <a:xfrm>
            <a:off x="914400" y="292608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Equation 5.1: after k periods, the distance left is bounded by the size of the first step</a:t>
            </a:r>
            <a:endParaRPr lang="en-US" sz="1600" dirty="0"/>
          </a:p>
        </p:txBody>
      </p:sp>
      <p:sp>
        <p:nvSpPr>
          <p:cNvPr id="7" name="Bullets"/>
          <p:cNvSpPr txBox="1"/>
          <p:nvPr/>
        </p:nvSpPr>
        <p:spPr>
          <a:xfrm>
            <a:off x="914400" y="3520440"/>
            <a:ext cx="10362895" cy="265176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(i) Contraction.</a:t>
            </a:r>
            <a:r>
              <a:rPr lang="en-US" sz="1700" dirty="0">
                <a:solidFill>
                  <a:schemeClr val="bg1"/>
                </a:solidFill>
              </a:rPr>
              <a:t> If the space is closed and each period shrinks every distance by a factor L &lt; 1, there is exactly one equilibrium and every path converges to it</a:t>
            </a:r>
            <a:endParaRPr lang="en-US" sz="1700" dirty="0"/>
          </a:p>
          <a:p>
            <a:pPr marL="228600" indent="-228600">
              <a:spcAft>
                <a:spcPts val="800"/>
              </a:spcAft>
              <a:buSzPct val="100000"/>
              <a:buChar char="•"/>
            </a:pPr>
            <a:r>
              <a:rPr lang="en-US" sz="1700" b="1" dirty="0">
                <a:solidFill>
                  <a:schemeClr val="bg1"/>
                </a:solidFill>
              </a:rPr>
              <a:t>(ii) Compact and convex.</a:t>
            </a:r>
            <a:r>
              <a:rPr lang="en-US" sz="1700" dirty="0">
                <a:solidFill>
                  <a:schemeClr val="bg1"/>
                </a:solidFill>
              </a:rPr>
              <a:t> A continuous map on a bounded, closed, convex space has at least one equilibrium, possibly several</a:t>
            </a:r>
            <a:endParaRPr lang="en-US" sz="1700" dirty="0"/>
          </a:p>
          <a:p>
            <a:pPr marL="228600" indent="-228600">
              <a:spcAft>
                <a:spcPts val="800"/>
              </a:spcAft>
              <a:buSzPct val="100000"/>
              <a:buChar char="•"/>
            </a:pPr>
            <a:r>
              <a:rPr lang="en-US" sz="1700" dirty="0">
                <a:solidFill>
                  <a:schemeClr val="bg1"/>
                </a:solidFill>
              </a:rPr>
              <a:t>The </a:t>
            </a:r>
            <a:r>
              <a:rPr lang="en-US" sz="1700" b="1" dirty="0">
                <a:solidFill>
                  <a:schemeClr val="bg1"/>
                </a:solidFill>
              </a:rPr>
              <a:t>convergence budget</a:t>
            </a:r>
            <a:r>
              <a:rPr lang="en-US" sz="1700" dirty="0">
                <a:solidFill>
                  <a:schemeClr val="bg1"/>
                </a:solidFill>
              </a:rPr>
              <a:t>: from a single observed step, the periods needed to come within any tolerance, before any simulation</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§5.6 · TABLE 5.3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Stable, unstable, saddle: equilibria in business</a:t>
            </a:r>
            <a:endParaRPr lang="en-US" sz="32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383924"/>
                <a:gridCol w="3392507"/>
                <a:gridCol w="5317984"/>
              </a:tblGrid>
              <a:tr h="45720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Class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Behavior nearby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Business instance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713232">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Stable, attracting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trajectories converge to it</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 mature operating model under balancing control</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713232">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Stable, not attracting</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trajectories neither converge nor flee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 market share drifting neutrally in a static duopoly</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713232">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Unstable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some trajectories flee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 cost position eroding under reinforcing customer migration (Industrial Systems)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713232">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Saddle</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attracting in some directions, repelling in others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600" dirty="0">
                          <a:solidFill>
                            <a:srgbClr val="0F1E3D"/>
                          </a:solidFill>
                          <a:latin typeface="Calibri" pitchFamily="34" charset="0"/>
                          <a:ea typeface="Calibri" pitchFamily="34" charset="-122"/>
                          <a:cs typeface="Calibri" pitchFamily="34" charset="-120"/>
                        </a:rPr>
                        <a:t>a highly levered company at its target: cost shocks die out, confidence shocks feed on themselves</a:t>
                      </a:r>
                      <a:endParaRPr lang="en-US" sz="16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12064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For a linear company the equilibrium attracts exactly when every eigenvalue has modulus below one (Chapter 7).</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 third world is growth: near zero a start-up's user base grows 22.5 percent a quarter, and it runs to the market wall.</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§5.7 · PROPOSITION 5.5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 wall binds today; the digital path draws near</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Proposition 5.5.</a:t>
            </a:r>
            <a:r>
              <a:rPr lang="en-US" sz="1500" dirty="0">
                <a:solidFill>
                  <a:schemeClr val="tx1"/>
                </a:solidFill>
              </a:rPr>
              <a:t> The feasible region is the overlap of what each wall permits; failing one wall is failing</a:t>
            </a:r>
            <a:endParaRPr lang="en-US" sz="1500" dirty="0"/>
          </a:p>
          <a:p>
            <a:pPr marL="228600" indent="-228600">
              <a:spcAft>
                <a:spcPts val="800"/>
              </a:spcAft>
              <a:buSzPct val="100000"/>
              <a:buChar char="•"/>
            </a:pPr>
            <a:r>
              <a:rPr lang="en-US" sz="1500" dirty="0">
                <a:solidFill>
                  <a:schemeClr val="tx1"/>
                </a:solidFill>
              </a:rPr>
              <a:t>Today, 3.4× leverage and $0.62bn: the binding set is empty, with </a:t>
            </a:r>
            <a:r>
              <a:rPr lang="en-US" sz="1500" b="1" dirty="0">
                <a:solidFill>
                  <a:schemeClr val="tx1"/>
                </a:solidFill>
              </a:rPr>
              <a:t>1.1 turns</a:t>
            </a:r>
            <a:r>
              <a:rPr lang="en-US" sz="1500" dirty="0">
                <a:solidFill>
                  <a:schemeClr val="tx1"/>
                </a:solidFill>
              </a:rPr>
              <a:t> and </a:t>
            </a:r>
            <a:r>
              <a:rPr lang="en-US" sz="1500" b="1" dirty="0">
                <a:solidFill>
                  <a:schemeClr val="tx1"/>
                </a:solidFill>
              </a:rPr>
              <a:t>$0.27bn</a:t>
            </a:r>
            <a:r>
              <a:rPr lang="en-US" sz="1500" dirty="0">
                <a:solidFill>
                  <a:schemeClr val="tx1"/>
                </a:solidFill>
              </a:rPr>
              <a:t> of slack</a:t>
            </a:r>
            <a:endParaRPr lang="en-US" sz="1500" dirty="0"/>
          </a:p>
          <a:p>
            <a:pPr marL="228600" indent="-228600">
              <a:spcAft>
                <a:spcPts val="800"/>
              </a:spcAft>
              <a:buSzPct val="100000"/>
              <a:buChar char="•"/>
            </a:pPr>
            <a:r>
              <a:rPr lang="en-US" sz="1500" dirty="0">
                <a:solidFill>
                  <a:schemeClr val="tx1"/>
                </a:solidFill>
              </a:rPr>
              <a:t>Digital low point, around month 21: </a:t>
            </a:r>
            <a:r>
              <a:rPr lang="en-US" sz="1500" b="1" dirty="0">
                <a:solidFill>
                  <a:schemeClr val="tx1"/>
                </a:solidFill>
              </a:rPr>
              <a:t>$0.48bn</a:t>
            </a:r>
            <a:r>
              <a:rPr lang="en-US" sz="1500" dirty="0">
                <a:solidFill>
                  <a:schemeClr val="tx1"/>
                </a:solidFill>
              </a:rPr>
              <a:t>, </a:t>
            </a:r>
            <a:r>
              <a:rPr lang="en-US" sz="1500" b="1" dirty="0">
                <a:solidFill>
                  <a:schemeClr val="tx1"/>
                </a:solidFill>
              </a:rPr>
              <a:t>$0.13bn</a:t>
            </a:r>
            <a:r>
              <a:rPr lang="en-US" sz="1500" dirty="0">
                <a:solidFill>
                  <a:schemeClr val="tx1"/>
                </a:solidFill>
              </a:rPr>
              <a:t> above the floor</a:t>
            </a:r>
            <a:endParaRPr lang="en-US" sz="1500" dirty="0"/>
          </a:p>
          <a:p>
            <a:pPr marL="228600" indent="-228600">
              <a:spcAft>
                <a:spcPts val="800"/>
              </a:spcAft>
              <a:buSzPct val="100000"/>
              <a:buChar char="•"/>
            </a:pPr>
            <a:r>
              <a:rPr lang="en-US" sz="1500" dirty="0">
                <a:solidFill>
                  <a:schemeClr val="tx1"/>
                </a:solidFill>
              </a:rPr>
              <a:t>A floor above $0.48bn makes the program, as modeled, infeasible</a:t>
            </a:r>
            <a:endParaRPr lang="en-US" sz="1500" dirty="0"/>
          </a:p>
          <a:p>
            <a:pPr marL="228600" indent="-228600">
              <a:spcAft>
                <a:spcPts val="800"/>
              </a:spcAft>
              <a:buSzPct val="100000"/>
              <a:buChar char="•"/>
            </a:pPr>
            <a:r>
              <a:rPr lang="en-US" sz="1500" dirty="0">
                <a:solidFill>
                  <a:schemeClr val="tx1"/>
                </a:solidFill>
              </a:rPr>
              <a:t>Off this projection, strategic risk peaks 1.4 points under its ceiling of 75, in month 11 (Chapters 1, 16)</a:t>
            </a:r>
            <a:endParaRPr lang="en-US" sz="1500" dirty="0"/>
          </a:p>
        </p:txBody>
      </p:sp>
      <p:pic>
        <p:nvPicPr>
          <p:cNvPr id="6" name="Figure" descr="Figure 5.4: Meridian's feasible region">    </p:cNvPr>
          <p:cNvPicPr>
            <a:picLocks noChangeAspect="1"/>
          </p:cNvPicPr>
          <p:nvPr/>
        </p:nvPicPr>
        <p:blipFill>
          <a:blip r:embed="rId1"/>
          <a:stretch>
            <a:fillRect/>
          </a:stretch>
        </p:blipFill>
        <p:spPr>
          <a:xfrm>
            <a:off x="5391174" y="1884688"/>
            <a:ext cx="6251881" cy="3527537"/>
          </a:xfrm>
          <a:prstGeom prst="rect">
            <a:avLst/>
          </a:prstGeom>
        </p:spPr>
      </p:pic>
      <p:sp>
        <p:nvSpPr>
          <p:cNvPr id="7" name="Caption"/>
          <p:cNvSpPr txBox="1"/>
          <p:nvPr/>
        </p:nvSpPr>
        <p:spPr>
          <a:xfrm>
            <a:off x="5391174" y="5485376"/>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5.4. Meridian's feasible region projected on net leverage and liquidity: the covenant and the board's floor cut it out of the definitional bounds.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§5.7 · THEOREM 5.5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Weak inequalities keep the walls in the region</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5.5</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State Space Completeness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a:t>
            </a:r>
            <a:r>
              <a:rPr lang="en-US" sz="1500" dirty="0">
                <a:solidFill>
                  <a:schemeClr val="tx1"/>
                </a:solidFill>
              </a:rPr>
              <a:t> With continuous constraints and weak inequalities the region is closed: feasible states cannot converge to an infeasible one</a:t>
            </a:r>
            <a:endParaRPr lang="en-US" sz="1500" dirty="0"/>
          </a:p>
          <a:p>
            <a:pPr marL="228600" indent="-228600">
              <a:spcAft>
                <a:spcPts val="600"/>
              </a:spcAft>
              <a:buSzPct val="100000"/>
              <a:buChar char="•"/>
            </a:pPr>
            <a:r>
              <a:rPr lang="en-US" sz="1500" b="1" dirty="0">
                <a:solidFill>
                  <a:schemeClr val="tx1"/>
                </a:solidFill>
              </a:rPr>
              <a:t>(ii)</a:t>
            </a:r>
            <a:r>
              <a:rPr lang="en-US" sz="1500" dirty="0">
                <a:solidFill>
                  <a:schemeClr val="tx1"/>
                </a:solidFill>
              </a:rPr>
              <a:t> If it is also bounded, every continuous objective attains its best and worst values on it</a:t>
            </a:r>
            <a:endParaRPr lang="en-US" sz="1500" dirty="0"/>
          </a:p>
          <a:p>
            <a:pPr marL="228600" indent="-228600">
              <a:spcAft>
                <a:spcPts val="600"/>
              </a:spcAft>
              <a:buSzPct val="100000"/>
              <a:buChar char="•"/>
            </a:pPr>
            <a:r>
              <a:rPr lang="en-US" sz="1500" b="1" dirty="0">
                <a:solidFill>
                  <a:schemeClr val="tx1"/>
                </a:solidFill>
              </a:rPr>
              <a:t>(iii)</a:t>
            </a:r>
            <a:r>
              <a:rPr lang="en-US" sz="1500" dirty="0">
                <a:solidFill>
                  <a:schemeClr val="tx1"/>
                </a:solidFill>
              </a:rPr>
              <a:t> With strict inequalities these guarantees fail, and the boundary states are excluded</a:t>
            </a:r>
            <a:endParaRPr lang="en-US" sz="1500" dirty="0"/>
          </a:p>
          <a:p>
            <a:pPr marL="228600" indent="-228600">
              <a:spcAft>
                <a:spcPts val="600"/>
              </a:spcAft>
              <a:buSzPct val="100000"/>
              <a:buChar char="•"/>
            </a:pPr>
            <a:r>
              <a:rPr lang="en-US" sz="1500" dirty="0">
                <a:solidFill>
                  <a:schemeClr val="tx1"/>
                </a:solidFill>
              </a:rPr>
              <a:t>DCT's convention: every wall is written with continuous functions and weak inequalities, ≤ and =</a:t>
            </a:r>
            <a:endParaRPr lang="en-US" sz="15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Companies live at their walls: covenants touched, capacity full, buffers at their floor</a:t>
            </a:r>
            <a:endParaRPr lang="en-US" sz="1500" dirty="0"/>
          </a:p>
          <a:p>
            <a:pPr marL="228600" indent="-228600">
              <a:spcAft>
                <a:spcPts val="800"/>
              </a:spcAft>
              <a:buSzPct val="100000"/>
              <a:buChar char="•"/>
            </a:pPr>
            <a:r>
              <a:rPr lang="en-US" sz="1500" dirty="0">
                <a:solidFill>
                  <a:schemeClr val="tx1"/>
                </a:solidFill>
              </a:rPr>
              <a:t>Written strictly, a model cannot even say “the covenant binds”</a:t>
            </a:r>
            <a:endParaRPr lang="en-US" sz="1500" dirty="0"/>
          </a:p>
          <a:p>
            <a:pPr marL="228600" indent="-228600">
              <a:spcAft>
                <a:spcPts val="800"/>
              </a:spcAft>
              <a:buSzPct val="100000"/>
              <a:buChar char="•"/>
            </a:pPr>
            <a:r>
              <a:rPr lang="en-US" sz="1500" dirty="0">
                <a:solidFill>
                  <a:schemeClr val="tx1"/>
                </a:solidFill>
              </a:rPr>
              <a:t>Banks operate at their capital and liquidity requirements deliberately: capital is expensive</a:t>
            </a:r>
            <a:endParaRPr lang="en-US" sz="1500" dirty="0"/>
          </a:p>
          <a:p>
            <a:pPr marL="228600" indent="-228600">
              <a:spcAft>
                <a:spcPts val="800"/>
              </a:spcAft>
              <a:buSzPct val="100000"/>
              <a:buChar char="•"/>
            </a:pPr>
            <a:r>
              <a:rPr lang="en-US" sz="1500" dirty="0">
                <a:solidFill>
                  <a:schemeClr val="tx1"/>
                </a:solidFill>
              </a:rPr>
              <a:t>Part (ii) is the book's first optimization result; Chapter 15 will need it</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§5.8 · FIGURE 5.5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Profiles show every reading and distort distance</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Projections show two or three readings exactly and hide the rest; profiles show all of them</a:t>
            </a:r>
            <a:endParaRPr lang="en-US" sz="1600" dirty="0"/>
          </a:p>
          <a:p>
            <a:pPr marL="228600" indent="-228600">
              <a:spcAft>
                <a:spcPts val="800"/>
              </a:spcAft>
              <a:buSzPct val="100000"/>
              <a:buChar char="•"/>
            </a:pPr>
            <a:r>
              <a:rPr lang="en-US" sz="1600" dirty="0">
                <a:solidFill>
                  <a:schemeClr val="tx1"/>
                </a:solidFill>
              </a:rPr>
              <a:t>Digital departs on technology, restructuring on liquidity and risk, the turnaround hardly at all</a:t>
            </a:r>
            <a:endParaRPr lang="en-US" sz="1600" dirty="0"/>
          </a:p>
          <a:p>
            <a:pPr marL="228600" indent="-228600">
              <a:spcAft>
                <a:spcPts val="800"/>
              </a:spcAft>
              <a:buSzPct val="100000"/>
              <a:buChar char="•"/>
            </a:pPr>
            <a:r>
              <a:rPr lang="en-US" sz="1600" dirty="0">
                <a:solidFill>
                  <a:schemeClr val="tx1"/>
                </a:solidFill>
              </a:rPr>
              <a:t>Declared distance from today: turnaround </a:t>
            </a:r>
            <a:r>
              <a:rPr lang="en-US" sz="1600" b="1" dirty="0">
                <a:solidFill>
                  <a:schemeClr val="tx1"/>
                </a:solidFill>
              </a:rPr>
              <a:t>0.11</a:t>
            </a:r>
            <a:r>
              <a:rPr lang="en-US" sz="1600" dirty="0">
                <a:solidFill>
                  <a:schemeClr val="tx1"/>
                </a:solidFill>
              </a:rPr>
              <a:t>, restructuring </a:t>
            </a:r>
            <a:r>
              <a:rPr lang="en-US" sz="1600" b="1" dirty="0">
                <a:solidFill>
                  <a:schemeClr val="tx1"/>
                </a:solidFill>
              </a:rPr>
              <a:t>0.26</a:t>
            </a:r>
            <a:r>
              <a:rPr lang="en-US" sz="1600" dirty="0">
                <a:solidFill>
                  <a:schemeClr val="tx1"/>
                </a:solidFill>
              </a:rPr>
              <a:t>, digital </a:t>
            </a:r>
            <a:r>
              <a:rPr lang="en-US" sz="1600" b="1" dirty="0">
                <a:solidFill>
                  <a:schemeClr val="tx1"/>
                </a:solidFill>
              </a:rPr>
              <a:t>0.36</a:t>
            </a:r>
            <a:endParaRPr lang="en-US" sz="1600" dirty="0"/>
          </a:p>
          <a:p>
            <a:pPr marL="228600" indent="-228600">
              <a:spcAft>
                <a:spcPts val="800"/>
              </a:spcAft>
              <a:buSzPct val="100000"/>
              <a:buChar char="•"/>
            </a:pPr>
            <a:r>
              <a:rPr lang="en-US" sz="1600" dirty="0">
                <a:solidFill>
                  <a:schemeClr val="tx1"/>
                </a:solidFill>
              </a:rPr>
              <a:t>A ball fills 79 percent of its cube in two dimensions, </a:t>
            </a:r>
            <a:r>
              <a:rPr lang="en-US" sz="1600" b="1" dirty="0">
                <a:solidFill>
                  <a:schemeClr val="tx1"/>
                </a:solidFill>
              </a:rPr>
              <a:t>1.6 percent</a:t>
            </a:r>
            <a:r>
              <a:rPr lang="en-US" sz="1600" dirty="0">
                <a:solidFill>
                  <a:schemeClr val="tx1"/>
                </a:solidFill>
              </a:rPr>
              <a:t> in eight, Meridian's</a:t>
            </a:r>
            <a:endParaRPr lang="en-US" sz="1600" dirty="0"/>
          </a:p>
        </p:txBody>
      </p:sp>
      <p:pic>
        <p:nvPicPr>
          <p:cNvPr id="6" name="Figure" descr="Figure 5.5: profiles of high-dimensional states">    </p:cNvPr>
          <p:cNvPicPr>
            <a:picLocks noChangeAspect="1"/>
          </p:cNvPicPr>
          <p:nvPr/>
        </p:nvPicPr>
        <p:blipFill>
          <a:blip r:embed="rId1"/>
          <a:stretch>
            <a:fillRect/>
          </a:stretch>
        </p:blipFill>
        <p:spPr>
          <a:xfrm>
            <a:off x="5391174" y="1938957"/>
            <a:ext cx="6251881" cy="3418997"/>
          </a:xfrm>
          <a:prstGeom prst="rect">
            <a:avLst/>
          </a:prstGeom>
        </p:spPr>
      </p:pic>
      <p:sp>
        <p:nvSpPr>
          <p:cNvPr id="7" name="Caption"/>
          <p:cNvSpPr txBox="1"/>
          <p:nvPr/>
        </p:nvSpPr>
        <p:spPr>
          <a:xfrm>
            <a:off x="5391174" y="5431107"/>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5.5. Meridian today and in Year 5 under each option, in parallel coordinates of the scaled readings (indices divided by 100, other readings by today's value).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5.1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Where does the turnaround settle?</a:t>
            </a:r>
            <a:endParaRPr lang="en-US" sz="3200" dirty="0"/>
          </a:p>
        </p:txBody>
      </p:sp>
      <p:sp>
        <p:nvSpPr>
          <p:cNvPr id="5" name="Card"/>
          <p:cNvSpPr/>
          <p:nvPr/>
        </p:nvSpPr>
        <p:spPr>
          <a:xfrm>
            <a:off x="548640" y="1691640"/>
            <a:ext cx="3515258" cy="3108960"/>
          </a:xfrm>
          <a:prstGeom prst="roundRect">
            <a:avLst>
              <a:gd name="adj" fmla="val 235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A director asks</a:t>
            </a:r>
            <a:endParaRPr lang="en-US" sz="1300" dirty="0"/>
          </a:p>
        </p:txBody>
      </p:sp>
      <p:sp>
        <p:nvSpPr>
          <p:cNvPr id="7" name="Card head"/>
          <p:cNvSpPr txBox="1"/>
          <p:nvPr/>
        </p:nvSpPr>
        <p:spPr>
          <a:xfrm>
            <a:off x="731520" y="2148840"/>
            <a:ext cx="3149498" cy="117043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If the turnaround runs indefinitely, where does Meridian end up?</a:t>
            </a:r>
            <a:endParaRPr lang="en-US" sz="2000" dirty="0"/>
          </a:p>
        </p:txBody>
      </p:sp>
      <p:sp>
        <p:nvSpPr>
          <p:cNvPr id="8" name="Card text"/>
          <p:cNvSpPr txBox="1"/>
          <p:nvPr/>
        </p:nvSpPr>
        <p:spPr>
          <a:xfrm>
            <a:off x="731520" y="3392424"/>
            <a:ext cx="3149498" cy="1280160"/>
          </a:xfrm>
          <a:prstGeom prst="rect">
            <a:avLst/>
          </a:prstGeom>
          <a:noFill/>
          <a:ln/>
        </p:spPr>
        <p:txBody>
          <a:bodyPr wrap="square" lIns="0" tIns="0" rIns="0" bIns="0" rtlCol="0" anchor="t"/>
          <a:lstStyle/>
          <a:p>
            <a:pPr indent="0" marL="0">
              <a:buNone/>
            </a:pPr>
            <a:r>
              <a:rPr lang="en-US" sz="1600" dirty="0">
                <a:solidFill>
                  <a:schemeClr val="tx2"/>
                </a:solidFill>
              </a:rPr>
              <a:t>Each of four readings closes a fixed share of its gap to a target every year.</a:t>
            </a:r>
            <a:endParaRPr lang="en-US" sz="1600" dirty="0"/>
          </a:p>
        </p:txBody>
      </p:sp>
      <p:sp>
        <p:nvSpPr>
          <p:cNvPr id="9" name="Card"/>
          <p:cNvSpPr/>
          <p:nvPr/>
        </p:nvSpPr>
        <p:spPr>
          <a:xfrm>
            <a:off x="4338218" y="1691640"/>
            <a:ext cx="3515258" cy="3108960"/>
          </a:xfrm>
          <a:prstGeom prst="roundRect">
            <a:avLst>
              <a:gd name="adj" fmla="val 235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Then</a:t>
            </a:r>
            <a:endParaRPr lang="en-US" sz="1300" dirty="0"/>
          </a:p>
        </p:txBody>
      </p:sp>
      <p:sp>
        <p:nvSpPr>
          <p:cNvPr id="11" name="Card head"/>
          <p:cNvSpPr txBox="1"/>
          <p:nvPr/>
        </p:nvSpPr>
        <p:spPr>
          <a:xfrm>
            <a:off x="4521098" y="2148840"/>
            <a:ext cx="3149498" cy="1170432"/>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How long does it take to get there?</a:t>
            </a:r>
            <a:endParaRPr lang="en-US" sz="2000" dirty="0"/>
          </a:p>
        </p:txBody>
      </p:sp>
      <p:sp>
        <p:nvSpPr>
          <p:cNvPr id="12" name="Card text"/>
          <p:cNvSpPr txBox="1"/>
          <p:nvPr/>
        </p:nvSpPr>
        <p:spPr>
          <a:xfrm>
            <a:off x="4521098" y="3392424"/>
            <a:ext cx="3149498" cy="1280160"/>
          </a:xfrm>
          <a:prstGeom prst="rect">
            <a:avLst/>
          </a:prstGeom>
          <a:noFill/>
          <a:ln/>
        </p:spPr>
        <p:txBody>
          <a:bodyPr wrap="square" lIns="0" tIns="0" rIns="0" bIns="0" rtlCol="0" anchor="t"/>
          <a:lstStyle/>
          <a:p>
            <a:pPr indent="0" marL="0">
              <a:buNone/>
            </a:pPr>
            <a:r>
              <a:rPr lang="en-US" sz="1600" dirty="0">
                <a:solidFill>
                  <a:schemeClr val="tx2"/>
                </a:solidFill>
              </a:rPr>
              <a:t>About 36 percent of the gap a year for liquidity, 18 for technology, 45 for efficiency, 26 for strategic risk.</a:t>
            </a:r>
            <a:endParaRPr lang="en-US" sz="1600" dirty="0"/>
          </a:p>
        </p:txBody>
      </p:sp>
      <p:sp>
        <p:nvSpPr>
          <p:cNvPr id="13" name="Card"/>
          <p:cNvSpPr/>
          <p:nvPr/>
        </p:nvSpPr>
        <p:spPr>
          <a:xfrm>
            <a:off x="8127797" y="1691640"/>
            <a:ext cx="3515258" cy="3108960"/>
          </a:xfrm>
          <a:prstGeom prst="roundRect">
            <a:avLst>
              <a:gd name="adj" fmla="val 2353"/>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And</a:t>
            </a:r>
            <a:endParaRPr lang="en-US" sz="1300" dirty="0"/>
          </a:p>
        </p:txBody>
      </p:sp>
      <p:sp>
        <p:nvSpPr>
          <p:cNvPr id="15" name="Card head"/>
          <p:cNvSpPr txBox="1"/>
          <p:nvPr/>
        </p:nvSpPr>
        <p:spPr>
          <a:xfrm>
            <a:off x="8310677" y="2148840"/>
            <a:ext cx="3149498" cy="1170432"/>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Is the destination a good one?</a:t>
            </a:r>
            <a:endParaRPr lang="en-US" sz="2000" dirty="0"/>
          </a:p>
        </p:txBody>
      </p:sp>
      <p:sp>
        <p:nvSpPr>
          <p:cNvPr id="16" name="Card text"/>
          <p:cNvSpPr txBox="1"/>
          <p:nvPr/>
        </p:nvSpPr>
        <p:spPr>
          <a:xfrm>
            <a:off x="8310677" y="3392424"/>
            <a:ext cx="3149498" cy="1280160"/>
          </a:xfrm>
          <a:prstGeom prst="rect">
            <a:avLst/>
          </a:prstGeom>
          <a:noFill/>
          <a:ln/>
        </p:spPr>
        <p:txBody>
          <a:bodyPr wrap="square" lIns="0" tIns="0" rIns="0" bIns="0" rtlCol="0" anchor="t"/>
          <a:lstStyle/>
          <a:p>
            <a:pPr indent="0" marL="0">
              <a:buNone/>
            </a:pPr>
            <a:r>
              <a:rPr lang="en-US" sz="1600" dirty="0">
                <a:solidFill>
                  <a:schemeClr val="bg2"/>
                </a:solidFill>
              </a:rPr>
              <a:t>The targets: a liquidity index of 106, technology 33, efficiency 79, strategic risk 67.</a:t>
            </a:r>
            <a:endParaRPr lang="en-US" sz="1600" dirty="0"/>
          </a:p>
        </p:txBody>
      </p:sp>
      <p:sp>
        <p:nvSpPr>
          <p:cNvPr id="17" name="Lead"/>
          <p:cNvSpPr txBox="1"/>
          <p:nvPr/>
        </p:nvSpPr>
        <p:spPr>
          <a:xfrm>
            <a:off x="548640" y="507492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The third of Meridian's options defends the core with cost and productivity programs (Chapter 1's model).</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5.1 · STEPS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One year of data budgets the whole journey</a:t>
            </a:r>
            <a:endParaRPr lang="en-US" sz="3200" dirty="0"/>
          </a:p>
        </p:txBody>
      </p:sp>
      <p:pic>
        <p:nvPicPr>
          <p:cNvPr id="5" name="Equation" descr="Equation: \max_{i}\,\lvert x_{i,k} - x_{i}^{\ast} \rvert \;\le\; \frac{3.61 \times 0.819^{k}}{1 - 0.819} \;=\; 19.9 \times 0.819^{k}">    </p:cNvPr>
          <p:cNvPicPr>
            <a:picLocks noChangeAspect="1"/>
          </p:cNvPicPr>
          <p:nvPr/>
        </p:nvPicPr>
        <p:blipFill>
          <a:blip r:embed="rId1"/>
          <a:stretch>
            <a:fillRect/>
          </a:stretch>
        </p:blipFill>
        <p:spPr>
          <a:xfrm>
            <a:off x="2474156" y="1828800"/>
            <a:ext cx="7243383" cy="960120"/>
          </a:xfrm>
          <a:prstGeom prst="rect">
            <a:avLst/>
          </a:prstGeom>
        </p:spPr>
      </p:pic>
      <p:sp>
        <p:nvSpPr>
          <p:cNvPr id="6" name="Text 2"/>
          <p:cNvSpPr txBox="1"/>
          <p:nvPr/>
        </p:nvSpPr>
        <p:spPr>
          <a:xfrm>
            <a:off x="914400" y="292608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the largest gap after k years, budgeted from the first year's largest move: efficiency, 71.0 to 74.6</a:t>
            </a:r>
            <a:endParaRPr lang="en-US" sz="1600" dirty="0"/>
          </a:p>
        </p:txBody>
      </p:sp>
      <p:sp>
        <p:nvSpPr>
          <p:cNvPr id="7" name="Bullets"/>
          <p:cNvSpPr txBox="1"/>
          <p:nvPr/>
        </p:nvSpPr>
        <p:spPr>
          <a:xfrm>
            <a:off x="914400" y="3520440"/>
            <a:ext cx="10362895" cy="265176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1:</a:t>
            </a:r>
            <a:r>
              <a:rPr lang="en-US" sz="1700" dirty="0">
                <a:solidFill>
                  <a:schemeClr val="bg1"/>
                </a:solidFill>
              </a:rPr>
              <a:t> next year's gap is this year's times 0.638, 0.819, 0.549 and 0.741; from (100, 41, 71, 64), year 1 is (102.2, 39.5, 74.6, 64.8)</a:t>
            </a:r>
            <a:endParaRPr lang="en-US" sz="1700" dirty="0"/>
          </a:p>
          <a:p>
            <a:pPr marL="228600" indent="-228600">
              <a:spcAft>
                <a:spcPts val="800"/>
              </a:spcAft>
              <a:buSzPct val="100000"/>
              <a:buChar char="•"/>
            </a:pPr>
            <a:r>
              <a:rPr lang="en-US" sz="1700" b="1" dirty="0">
                <a:solidFill>
                  <a:schemeClr val="bg1"/>
                </a:solidFill>
              </a:rPr>
              <a:t>Step 2:</a:t>
            </a:r>
            <a:r>
              <a:rPr lang="en-US" sz="1700" dirty="0">
                <a:solidFill>
                  <a:schemeClr val="bg1"/>
                </a:solidFill>
              </a:rPr>
              <a:t> gaps between any two starting states shrink by at least </a:t>
            </a:r>
            <a:r>
              <a:rPr lang="en-US" sz="1700" b="1" dirty="0">
                <a:solidFill>
                  <a:schemeClr val="bg1"/>
                </a:solidFill>
              </a:rPr>
              <a:t>L = 0.819</a:t>
            </a:r>
            <a:r>
              <a:rPr lang="en-US" sz="1700" dirty="0">
                <a:solidFill>
                  <a:schemeClr val="bg1"/>
                </a:solidFill>
              </a:rPr>
              <a:t>, set by technology: one steady state, (106, 33, 79, 67)</a:t>
            </a:r>
            <a:endParaRPr lang="en-US" sz="1700" dirty="0"/>
          </a:p>
          <a:p>
            <a:pPr marL="228600" indent="-228600">
              <a:spcAft>
                <a:spcPts val="800"/>
              </a:spcAft>
              <a:buSzPct val="100000"/>
              <a:buChar char="•"/>
            </a:pPr>
            <a:r>
              <a:rPr lang="en-US" sz="1700" b="1" dirty="0">
                <a:solidFill>
                  <a:schemeClr val="bg1"/>
                </a:solidFill>
              </a:rPr>
              <a:t>Step 3:</a:t>
            </a:r>
            <a:r>
              <a:rPr lang="en-US" sz="1700" dirty="0">
                <a:solidFill>
                  <a:schemeClr val="bg1"/>
                </a:solidFill>
              </a:rPr>
              <a:t> the bound falls below one point by </a:t>
            </a:r>
            <a:r>
              <a:rPr lang="en-US" sz="1700" b="1" dirty="0">
                <a:solidFill>
                  <a:schemeClr val="bg1"/>
                </a:solidFill>
              </a:rPr>
              <a:t>year 15</a:t>
            </a:r>
            <a:r>
              <a:rPr lang="en-US" sz="1700" dirty="0">
                <a:solidFill>
                  <a:schemeClr val="bg1"/>
                </a:solidFill>
              </a:rPr>
              <a:t>: a guarantee available on day one, from one year of data</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5.1 · TABLE 5.5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Within a point of the steady state by year 11</a:t>
            </a:r>
            <a:endParaRPr lang="en-US" sz="32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968734"/>
                <a:gridCol w="1082382"/>
                <a:gridCol w="1082382"/>
                <a:gridCol w="1082382"/>
                <a:gridCol w="1082382"/>
                <a:gridCol w="1082382"/>
                <a:gridCol w="1713771"/>
              </a:tblGrid>
              <a:tr h="41148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Year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Steady state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1148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Liquidity (index)</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102.2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104.4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105.4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106.0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1148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Technology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41.0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39.5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37.4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35.9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33.9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1148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Efficiency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71.0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74.6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77.7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78.6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79.0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79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1148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Strategic risk</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64.0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64.8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65.8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66.3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66.9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11480">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Largest gap to steady state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8.0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4.4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1148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Day-one bound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19.9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16.3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7.3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1148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Scorecard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37.0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37.9</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38.4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38.4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38.0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37.8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07492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The bound is the day-one guarantee of Equation 5.1; the scorecard is Chapter 1's, (liquidity + technology + efficiency − strategic risk)/4.</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 largest gap falls from 8.0 to 2.9 by year 5 and below one point by year 11, comfortably inside the bound.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5.1 · STEPS 4–5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turnaround settles inside its bound</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Step 4:</a:t>
            </a:r>
            <a:r>
              <a:rPr lang="en-US" sz="1600" dirty="0">
                <a:solidFill>
                  <a:schemeClr val="tx1"/>
                </a:solidFill>
              </a:rPr>
              <a:t> the distance to the steady state falls every year and stays below the day-one bound</a:t>
            </a:r>
            <a:endParaRPr lang="en-US" sz="1600" dirty="0"/>
          </a:p>
          <a:p>
            <a:pPr marL="228600" indent="-228600">
              <a:spcAft>
                <a:spcPts val="800"/>
              </a:spcAft>
              <a:buSzPct val="100000"/>
              <a:buChar char="•"/>
            </a:pPr>
            <a:r>
              <a:rPr lang="en-US" sz="1600" dirty="0">
                <a:solidFill>
                  <a:schemeClr val="tx1"/>
                </a:solidFill>
              </a:rPr>
              <a:t>From any starting point, the map reaches the same steady state</a:t>
            </a:r>
            <a:endParaRPr lang="en-US" sz="1600" dirty="0"/>
          </a:p>
          <a:p>
            <a:pPr marL="228600" indent="-228600">
              <a:spcAft>
                <a:spcPts val="800"/>
              </a:spcAft>
              <a:buSzPct val="100000"/>
              <a:buChar char="•"/>
            </a:pPr>
            <a:r>
              <a:rPr lang="en-US" sz="1600" b="1" dirty="0">
                <a:solidFill>
                  <a:schemeClr val="tx1"/>
                </a:solidFill>
              </a:rPr>
              <a:t>Step 5:</a:t>
            </a:r>
            <a:r>
              <a:rPr lang="en-US" sz="1600" dirty="0">
                <a:solidFill>
                  <a:schemeClr val="tx1"/>
                </a:solidFill>
              </a:rPr>
              <a:t> stronger liquidity and efficiency, but a weaker platform (33 vs 41) and more risk (67 vs 64)</a:t>
            </a:r>
            <a:endParaRPr lang="en-US" sz="1600" dirty="0"/>
          </a:p>
          <a:p>
            <a:pPr marL="228600" indent="-228600">
              <a:spcAft>
                <a:spcPts val="800"/>
              </a:spcAft>
              <a:buSzPct val="100000"/>
              <a:buChar char="•"/>
            </a:pPr>
            <a:r>
              <a:rPr lang="en-US" sz="1600" dirty="0">
                <a:solidFill>
                  <a:schemeClr val="tx1"/>
                </a:solidFill>
              </a:rPr>
              <a:t>The scorecard rises from 37.0 to about 38.4 by year 3, holds through year 5, then slides toward 37.8</a:t>
            </a:r>
            <a:endParaRPr lang="en-US" sz="1600" dirty="0"/>
          </a:p>
        </p:txBody>
      </p:sp>
      <p:pic>
        <p:nvPicPr>
          <p:cNvPr id="6" name="Figure" descr="Figure 5.3: two equilibrium worlds">    </p:cNvPr>
          <p:cNvPicPr>
            <a:picLocks noChangeAspect="1"/>
          </p:cNvPicPr>
          <p:nvPr/>
        </p:nvPicPr>
        <p:blipFill>
          <a:blip r:embed="rId1"/>
          <a:stretch>
            <a:fillRect/>
          </a:stretch>
        </p:blipFill>
        <p:spPr>
          <a:xfrm>
            <a:off x="5391174" y="1990514"/>
            <a:ext cx="6251881" cy="3315885"/>
          </a:xfrm>
          <a:prstGeom prst="rect">
            <a:avLst/>
          </a:prstGeom>
        </p:spPr>
      </p:pic>
      <p:sp>
        <p:nvSpPr>
          <p:cNvPr id="7" name="Caption"/>
          <p:cNvSpPr txBox="1"/>
          <p:nvPr/>
        </p:nvSpPr>
        <p:spPr>
          <a:xfrm>
            <a:off x="5391174" y="5379550"/>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5.3. Left: the turnaround's distance to its steady state (log scale) stays below the day-one bound. Right: a start-up leaves its unstable equilibrium at zero for the market wall.</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5.1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Stability is not success</a:t>
            </a:r>
            <a:endParaRPr lang="en-US" sz="3200" dirty="0"/>
          </a:p>
        </p:txBody>
      </p:sp>
      <p:sp>
        <p:nvSpPr>
          <p:cNvPr id="5" name="Stat card"/>
          <p:cNvSpPr/>
          <p:nvPr/>
        </p:nvSpPr>
        <p:spPr>
          <a:xfrm>
            <a:off x="548640" y="1691640"/>
            <a:ext cx="3515258" cy="1828800"/>
          </a:xfrm>
          <a:prstGeom prst="roundRect">
            <a:avLst>
              <a:gd name="adj" fmla="val 4000"/>
            </a:avLst>
          </a:prstGeom>
          <a:solidFill>
            <a:schemeClr val="tx1"/>
          </a:solidFill>
          <a:ln w="9525">
            <a:solidFill>
              <a:srgbClr val="0F1E3D"/>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Year 11</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within one point of the steady state; the day-one bound guarantees year 15</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33 vs 41</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technology at the destination against today; the digital program reaches 75.6 by year 5</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37.8</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where the scorecard comes to rest, below its 38.4 of years 3–5</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dirty="0">
                <a:solidFill>
                  <a:schemeClr val="tx1"/>
                </a:solidFill>
              </a:rPr>
              <a:t>The turnaround settles, reliably and on a computable schedule, in about a decade</a:t>
            </a:r>
            <a:endParaRPr lang="en-US" sz="1700" dirty="0"/>
          </a:p>
          <a:p>
            <a:pPr marL="228600" indent="-228600">
              <a:spcAft>
                <a:spcPts val="800"/>
              </a:spcAft>
              <a:buSzPct val="100000"/>
              <a:buChar char="•"/>
            </a:pPr>
            <a:r>
              <a:rPr lang="en-US" sz="1700" dirty="0">
                <a:solidFill>
                  <a:schemeClr val="tx1"/>
                </a:solidFill>
              </a:rPr>
              <a:t>A contraction guarantees arrival, not a good destination: choosing a transformation means choosing a destination as well as a path</a:t>
            </a:r>
            <a:endParaRPr lang="en-US" sz="1700" dirty="0"/>
          </a:p>
          <a:p>
            <a:pPr marL="228600" indent="-228600">
              <a:spcAft>
                <a:spcPts val="800"/>
              </a:spcAft>
              <a:buSzPct val="100000"/>
              <a:buChar char="•"/>
            </a:pPr>
            <a:r>
              <a:rPr lang="en-US" sz="1700" dirty="0">
                <a:solidFill>
                  <a:schemeClr val="tx1"/>
                </a:solidFill>
              </a:rPr>
              <a:t>For discussion: what would have to change for the steady state to include a stronger platform, and would the result still be a turnaround?</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1.5 · MODULE AXIOM-05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Meridian's room to maneuver,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Before choosing among its three options, Meridian's board has asked the strategy office for a one-page “state of the company”: where Meridian stands, which walls are closest, how much room each option leaves, and where each would settle. Open AXIOM, choose Lab 1.5 and load the Meridian state.</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Declare the state</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Review Table 5.2's declaration; switch the attrition rate from parameter to state variable and rerun the digital program.</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Build the walls</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Add Table 5.4's constraints one at a time; probe today and the digital low point for the binding set and each slack.</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Sample a path</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the digital program in continuous time, take quarterly readings, join the two phases, check half-yearly readings.</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Find the steady state</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the turnaround's annual map from three starting states with the day-one bound; then the start-up map.</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Compare profiles</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Show today and the three Year-5 states in parallel coordinates, with the distance readout alongside.</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CFO: Meridian's binding and near-binding constraints today and along each option's path, the slack at the tightest point, and where and when the turnaround settles. About 45–60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company's state is the memory its future requires: the smallest record of the past that, with future decisions and conditions, determines what happens next. It is unique up to relabeling once observable behavior is declared.</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reading earns its place in the state by carrying information the future needs; parameters are quantities held fixed over the horizon, and the line between the two moves as the horizon lengthens.</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Configurations are points and constraints are walls. Feasibility means meeting every constraint at once; blended operating models are feasible only when the constraints allow it; and weak inequalities keep the boundary states where companies actually operate.</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Well-behaved dynamics give exactly one path from each starting state, but models of self-reinforcing growth carry built-in validity horizons.</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contracting company settles into a unique steady state on a schedule computable from one year of data; a stable state is not necessarily a good one.</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91</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118</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26105</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AXIOM-05</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1.5</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DCT_V1_Ch05_Lab.ipynb: Worked Example 5.1 and the lab's five steps in nine panels,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DCT_V1_Ch05_Lab.xlsx: the declared state, every wall's slack, the sampled path, the turnaround's budget and Table 5.5, the profiles,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6 gives the state its verb</a:t>
            </a:r>
            <a:endParaRPr lang="en-US" sz="3200" dirty="0"/>
          </a:p>
        </p:txBody>
      </p:sp>
      <p:pic>
        <p:nvPicPr>
          <p:cNvPr id="5" name="Equation" descr="Equation: T:\; \operatorname{dom} T \;\longrightarrow\; \mathcal{X}, \qquad \operatorname{dom} T \subseteq \mathcal{X}">    </p:cNvPr>
          <p:cNvPicPr>
            <a:picLocks noChangeAspect="1"/>
          </p:cNvPicPr>
          <p:nvPr/>
        </p:nvPicPr>
        <p:blipFill>
          <a:blip r:embed="rId1"/>
          <a:stretch>
            <a:fillRect/>
          </a:stretch>
        </p:blipFill>
        <p:spPr>
          <a:xfrm>
            <a:off x="1407219" y="1691640"/>
            <a:ext cx="9377257" cy="777240"/>
          </a:xfrm>
          <a:prstGeom prst="rect">
            <a:avLst/>
          </a:prstGeom>
        </p:spPr>
      </p:pic>
      <p:sp>
        <p:nvSpPr>
          <p:cNvPr id="6" name="Bullets"/>
          <p:cNvSpPr txBox="1"/>
          <p:nvPr/>
        </p:nvSpPr>
        <p:spPr>
          <a:xfrm>
            <a:off x="548640" y="2788920"/>
            <a:ext cx="11094415" cy="338328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A transformation operator is a declared action: its preconditions are its domain, its effect is where it takes the company (Definition 6.1)</a:t>
            </a:r>
            <a:endParaRPr lang="en-US" sz="1800" dirty="0"/>
          </a:p>
          <a:p>
            <a:pPr marL="228600" indent="-228600">
              <a:spcAft>
                <a:spcPts val="800"/>
              </a:spcAft>
              <a:buSzPct val="100000"/>
              <a:buChar char="•"/>
            </a:pPr>
            <a:r>
              <a:rPr lang="en-US" sz="1800" dirty="0">
                <a:solidFill>
                  <a:schemeClr val="bg1"/>
                </a:solidFill>
              </a:rPr>
              <a:t>This chapter's walls become preconditions: an automation round costs $120m, so it needs $470m of liquidity for the $350m floor to hold after it</a:t>
            </a:r>
            <a:endParaRPr lang="en-US" sz="1800" dirty="0"/>
          </a:p>
          <a:p>
            <a:pPr marL="228600" indent="-228600">
              <a:spcAft>
                <a:spcPts val="800"/>
              </a:spcAft>
              <a:buSzPct val="100000"/>
              <a:buChar char="•"/>
            </a:pPr>
            <a:r>
              <a:rPr lang="en-US" sz="1800" dirty="0">
                <a:solidFill>
                  <a:schemeClr val="bg1"/>
                </a:solidFill>
              </a:rPr>
              <a:t>Programs compose; order can decide whether a plan runs at all; a repeatable playbook has an exact test</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5: Enterprise State Representation</dc:title>
  <dc:subject>Slides for Volume I, Chapter 5 (V56)</dc:subject>
  <dc:creator>Samir Asaf</dc:creator>
  <cp:lastModifiedBy>Samir Asaf</cp:lastModifiedBy>
  <cp:revision>1</cp:revision>
  <dcterms:created xsi:type="dcterms:W3CDTF">2026-10-05T08:37:33Z</dcterms:created>
  <dcterms:modified xsi:type="dcterms:W3CDTF">2026-10-05T08:37:33Z</dcterms:modified>
</cp:coreProperties>
</file>