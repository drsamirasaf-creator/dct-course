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849c2a6-75be-8440-8dcf-99ada910e913}">
          <p14:sldIdLst>
            <p14:sldId id="256"/>
            <p14:sldId id="257"/>
            <p14:sldId id="258"/>
            <p14:sldId id="259"/>
          </p14:sldIdLst>
        </p14:section>
        <p14:section name="6.1 From States to Actions" id="{7cbc54ba-8d57-dfa1-8294-2e8d1ccc72a1}">
          <p14:sldIdLst>
            <p14:sldId id="260"/>
          </p14:sldIdLst>
        </p14:section>
        <p14:section name="6.2 Transformation as Mapping" id="{fdee1580-4944-78f4-39d8-99e41d3640ba}">
          <p14:sldIdLst>
            <p14:sldId id="261"/>
            <p14:sldId id="262"/>
            <p14:sldId id="263"/>
          </p14:sldIdLst>
        </p14:section>
        <p14:section name="6.3 Composition and the Operator Algebra" id="{2efebd2d-3099-69db-85d6-5027846ccba9}">
          <p14:sldIdLst>
            <p14:sldId id="264"/>
            <p14:sldId id="265"/>
          </p14:sldIdLst>
        </p14:section>
        <p14:section name="6.4 Repeated Programs and the Sustainable Core" id="{d37c796e-f910-b6ed-8c49-038d00dd4464}">
          <p14:sldIdLst>
            <p14:sldId id="266"/>
          </p14:sldIdLst>
        </p14:section>
        <p14:section name="6.5 Feasible Transformations and Constraints" id="{077a5da9-ab5a-b373-13bd-3d0dbef0b5ee}">
          <p14:sldIdLst>
            <p14:sldId id="267"/>
          </p14:sldIdLst>
        </p14:section>
        <p14:section name="6.6 Transformation Paths and Reachability" id="{7ae09d3a-f27d-a33b-f1b2-d8c1582d18a3}">
          <p14:sldIdLst>
            <p14:sldId id="268"/>
          </p14:sldIdLst>
        </p14:section>
        <p14:section name="6.7 Transformation Stability" id="{20944aa8-98c0-df78-ba05-3c110274a171}">
          <p14:sldIdLst>
            <p14:sldId id="269"/>
          </p14:sldIdLst>
        </p14:section>
        <p14:section name="Worked Example 6.1" id="{4937f19e-606c-d7ce-fd46-c7f87f44d1cd}">
          <p14:sldIdLst>
            <p14:sldId id="270"/>
            <p14:sldId id="271"/>
            <p14:sldId id="272"/>
            <p14:sldId id="273"/>
            <p14:sldId id="274"/>
          </p14:sldIdLst>
        </p14:section>
        <p14:section name="AXIOM Lab 1.6" id="{980f6d70-8ed0-872b-8c15-d1aa6e658e47}">
          <p14:sldIdLst>
            <p14:sldId id="275"/>
          </p14:sldIdLst>
        </p14:section>
        <p14:section name="Close" id="{cb635597-45ad-33ed-743c-ef0a34718fe3}">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6. Chapter 5 gave Dynamic Corporate Transformation its noun, the state; this chapter supplies its verb. Actions become Enterprise Transformation Operators, and their structure is the Enterprise Transformation Architecture (ETA), the second of the six DCT architectures and the bridge between the states of Chapter 5 and the dynamics of Chapter 7 (Section 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Bertrand Russell, 'In Praise of Idleness' (1932). Transformation is work of the second kind: decisions that move the company from one state to another. This chapter makes each such action precise, with its preconditions and its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of Chapter 6; LOS Guidance at the end of the chapter explains what a strong answer to each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6.2 also holds Figure 6.1 and Table 6.1. Proofs of Theorems 6.1, 6.3, 6.4 and 6.5 are in Appendix 6.A; those of Propositions 6.1-6.5 and Theorem 6.2 in Online Appendix 6.B, with the bank's policy (Example 6.B.1) and two remarks on the drift bound and on tolerance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6.1. Two shifts of viewpoint from Chapter 3's operator algebra: grounding, because operators are declared business actions and the declaration is part of the object; and repertoire, because a company owns a family of transformations, the alphabet from which programs are spelled.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6.1-6.4 and Figure 6.1. 'Can we do this from here?' becomes a membership check (LOS Guidance 6.1). A feasible state with too little liquidity, $0.41 billion in the figure, is outside the domain: the round has no result there. A common mistake is to treat preconditions as advice rather than as limits on where the action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6.1, the Enterprise Transformation Representation Theorem; formal statement and proof in Appendix 6.A. Online Appendix Example 6.B.1 works the bank: technology rises from 41 toward 71 (56 after one year, 63.5 after two), and a board that wants faster progress must change the rule, not hope for a different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6.1. Each type's typical domain condition is what practice calls readiness. Where the condition is environmental, as with the divestiture's buyer, the declared effect is an assumption about the world (Theorem 6.1(ii)).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6.5-6.7, Propositions 6.2-6.4 and Theorem 6.2; proofs in Online Appendix 6.B. Part (iii) sharpens Chapter 3's sequencing lesson from 'order changes the outcome' to 'order decides whether the program runs'. The broken deal is a program that leaves the next step's domain at one of its seams.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6.2. Inverses exist on paper for many operators; in practice the inverse is almost never in the repertoire: a divested division cannot be bought back at the sale price, and a retired platform cannot be revived with its expertise intact (Section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6.4 and Theorem 6.3; proof in Appendix 6.A. The core concerns whether a playbook can run forever, not whether it is worth running: value questions await the performance architecture (Chapter 11) and the optimization problem of Chapter 15. For a whole repertoire the analogous object belongs to the viability theory that Volume II takes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6.8, Proposition 6.5 (proof in Online Appendix 6.B) and Table 6.3. Practice knows the defect as 'the plan works on an annual view'; the mathematics locates it in the step and not in the plan's end points. On the floor of Table 5.4 the digital build is not a feasible operator from today's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6.9, Theorem 6.4 (proof in Appendix 6.A) and Figure 6.3. The target path ends $6 million above the floor. Part (iii): some targets can be approached as closely as desired yet reached by no finite path; 'within 1 percent of full digitization' rejoins the reachable world. The companions grow the repertoire to closure: 12 reachable states, no program longer than 4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6.10, Theorem 6.5 (proof in Appendix 6.A), Equation 6.4 and Remark 6.B.2: T x = Lx + c executed as Lx + c - ε attains the bound. The notebook draws shortfalls between 0 and 1 percent a quarter with the lab's seed 26106: every path stays inside the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6.1, the situation and Step 1. The round is Figure 6.1's operator: liquidity falls by $120 million, efficiency e becomes e + (85 - e)/2, workforce capability rises by one point; its domain is liquidity of at least $470 million and workforce capability of at least 55, so that the automated lines can be staffed.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6.1, Steps 1-2, and Equation 6.2: the nested domains shrink to nothing, since round k needs $470 million, $590 million, $710 million and so on of today's liquidity. LOS Guidance 6.4: the round runs twice and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6.4 and Worked Example 6.1, Step 3. Each year's composite operator is 'run a round, then bank the year's savings'. The savings grow from $70 million to $122.5 million in year 3, when they first exceed the round's cost; liquidity then rises by up to $20 million a year. The tightest moment is the start of year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6.1, Step 4, Theorem 6.5(iii) and Figure 6.2. With two points short, liquidity is $550 million, $505 million, $472.5 million and $446.25 million after rounds 1-4 (the companions compute them), so the fifth round's precondition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6.1, what the board should take away, and the discussion question. Ring-fence the savings and execute to plan, and the program funds itself from year 3; pay them out, or let execution slip by two points a round, and the same program exhausts its own precondition within a few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1.6. What to look for: only one two-move sequence reaches the technology target within the floor (Theorem 6.4); the recycled playbook is tightest early, at the start of year 3 (Theorem 6.3); consolidating steps forgive shortfalls and amplifying steps compound them (Theorem 6.5). Discussion: the only sequence that reaches the target leaves Meridian $6 million above its floor; should the board ring-fence the savings, and how would it explain that to investors who expect dividends; which of the four moves can be undone, and at what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chapter's numbers involve no randomness; the lab's seed 26106 drives only the notebook's new draws of execution shortfalls,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6.2's bridge and Chapter 7, Dynamic Enterprise Systems: the linear time-invariant forms of Equation 7.1, free and forced response, what outsiders can infer from reports, steady states and stability, and management as feedback (Worked Example 7.1, How Hard Should Meridian Steer Its Hiring?).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6</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6</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6 · WEEK 3</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Enterprise Transformation Operators</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Every action is an operator with preconditions and an effect: programs run only if every seam holds, and a playbook is a strategy only if it renews its own preconditions</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26106 · AXIOM Lab 1.6 (AXIOM-06)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“Work is of two kinds: first, altering the position of matter at or near the earth's surface relatively to other such matter; second, telling other people to do so.”</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Bertrand Russell</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1950; “In Praise of Idleness” (1932)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a transformation operator is—a declared action with preconditions (its domain) and an effect—and why domains turn feasibility questions into checks.</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why applying operators and running the company as a system are the same thing, and distinguish effects the company commits to from effects that depend on the environment.</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Analyze how operators combine into programs: when a sequence can run, why order can decide whether it runs at all, and why most transformation steps cannot be undone.</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Use the sustainable core and the reachable set to decide whether a playbook can be repeated and whether a target can be reached, and explain why “complete” goals need tolerances.</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how execution error accumulates through a program, and match the execution tolerance to whether the program consolidates or amplifies.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Seven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§6.1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From States to Actions</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 verb of DCT</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§6.2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Transformation as Mapping</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Definitions 6.1–6.4 · Theorem 6.1</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§6.3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Composition and the Operator Algebra</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6.2 · Table 6.2</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§6.4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Repeated Programs and the Sustainable Core</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6.3 · Equation 6.3</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§6.5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Feasible Transformations and Constraints</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6.5 · Table 6.3</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§6.6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Transformation Paths and Reachability</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6.4 · Figure 6.3</a:t>
            </a:r>
            <a:endParaRPr lang="en-US" sz="1200" dirty="0"/>
          </a:p>
        </p:txBody>
      </p:sp>
      <p:sp>
        <p:nvSpPr>
          <p:cNvPr id="29"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§6.7</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Transformation Stability</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6.5 · Figure 6.4</a:t>
            </a:r>
            <a:endParaRPr lang="en-US" sz="1200" dirty="0"/>
          </a:p>
        </p:txBody>
      </p:sp>
      <p:sp>
        <p:nvSpPr>
          <p:cNvPr id="33" name="Card"/>
          <p:cNvSpPr/>
          <p:nvPr/>
        </p:nvSpPr>
        <p:spPr>
          <a:xfrm>
            <a:off x="5096134" y="4069080"/>
            <a:ext cx="1999427" cy="2103120"/>
          </a:xfrm>
          <a:prstGeom prst="roundRect">
            <a:avLst>
              <a:gd name="adj" fmla="val 3659"/>
            </a:avLst>
          </a:prstGeom>
          <a:solidFill>
            <a:schemeClr val="tx1"/>
          </a:solidFill>
          <a:ln w="9525">
            <a:solidFill>
              <a:srgbClr val="0F1E3D"/>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6.1</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Strategy or Trade? Meridian's Automation Playbook</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 6.4 · Figure 6.2</a:t>
            </a:r>
            <a:endParaRPr lang="en-US" sz="1200" dirty="0"/>
          </a:p>
        </p:txBody>
      </p:sp>
      <p:sp>
        <p:nvSpPr>
          <p:cNvPr id="37" name="Card"/>
          <p:cNvSpPr/>
          <p:nvPr/>
        </p:nvSpPr>
        <p:spPr>
          <a:xfrm>
            <a:off x="7369881" y="4069080"/>
            <a:ext cx="1999427" cy="2103120"/>
          </a:xfrm>
          <a:prstGeom prst="roundRect">
            <a:avLst>
              <a:gd name="adj" fmla="val 3659"/>
            </a:avLst>
          </a:prstGeom>
          <a:solidFill>
            <a:schemeClr val="bg2"/>
          </a:solidFill>
          <a:ln w="9525">
            <a:solidFill>
              <a:srgbClr val="C4CBD8"/>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1.6</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Sequencing Meridian's Moves</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AXIOM-06 · five steps</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§6.1 · FROM STATES TO ACTIONS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Board questions become checks</a:t>
            </a:r>
            <a:endParaRPr lang="en-US" sz="3200" dirty="0"/>
          </a:p>
        </p:txBody>
      </p:sp>
      <p:sp>
        <p:nvSpPr>
          <p:cNvPr id="5" name="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Can this program start from here?</a:t>
            </a:r>
            <a:endParaRPr lang="en-US" sz="1300" dirty="0"/>
          </a:p>
        </p:txBody>
      </p:sp>
      <p:sp>
        <p:nvSpPr>
          <p:cNvPr id="7" name="Card head"/>
          <p:cNvSpPr txBox="1"/>
          <p:nvPr/>
        </p:nvSpPr>
        <p:spPr>
          <a:xfrm>
            <a:off x="731520" y="21488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Is today's state in the operator's domain?</a:t>
            </a:r>
            <a:endParaRPr lang="en-US" sz="1700" dirty="0"/>
          </a:p>
        </p:txBody>
      </p:sp>
      <p:sp>
        <p:nvSpPr>
          <p:cNvPr id="8" name="Card text"/>
          <p:cNvSpPr txBox="1"/>
          <p:nvPr/>
        </p:nvSpPr>
        <p:spPr>
          <a:xfrm>
            <a:off x="731520" y="3026664"/>
            <a:ext cx="3149498" cy="320040"/>
          </a:xfrm>
          <a:prstGeom prst="rect">
            <a:avLst/>
          </a:prstGeom>
          <a:noFill/>
          <a:ln/>
        </p:spPr>
        <p:txBody>
          <a:bodyPr wrap="square" lIns="0" tIns="0" rIns="0" bIns="0" rtlCol="0" anchor="t"/>
          <a:lstStyle/>
          <a:p>
            <a:pPr indent="0" marL="0">
              <a:buNone/>
            </a:pPr>
            <a:r>
              <a:rPr lang="en-US" sz="1400" dirty="0">
                <a:solidFill>
                  <a:schemeClr val="tx2"/>
                </a:solidFill>
              </a:rPr>
              <a:t>Definition 6.3</a:t>
            </a:r>
            <a:endParaRPr lang="en-US" sz="1400" dirty="0"/>
          </a:p>
        </p:txBody>
      </p:sp>
      <p:sp>
        <p:nvSpPr>
          <p:cNvPr id="9" name="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Is the order of steps a matter of taste?</a:t>
            </a:r>
            <a:endParaRPr lang="en-US" sz="1300" dirty="0"/>
          </a:p>
        </p:txBody>
      </p:sp>
      <p:sp>
        <p:nvSpPr>
          <p:cNvPr id="11" name="Card head"/>
          <p:cNvSpPr txBox="1"/>
          <p:nvPr/>
        </p:nvSpPr>
        <p:spPr>
          <a:xfrm>
            <a:off x="4521098" y="21488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Order can decide whether a program runs</a:t>
            </a:r>
            <a:endParaRPr lang="en-US" sz="1700" dirty="0"/>
          </a:p>
        </p:txBody>
      </p:sp>
      <p:sp>
        <p:nvSpPr>
          <p:cNvPr id="12" name="Card text"/>
          <p:cNvSpPr txBox="1"/>
          <p:nvPr/>
        </p:nvSpPr>
        <p:spPr>
          <a:xfrm>
            <a:off x="4521098" y="30266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6.2(iii)</a:t>
            </a:r>
            <a:endParaRPr lang="en-US" sz="1400" dirty="0"/>
          </a:p>
        </p:txBody>
      </p:sp>
      <p:sp>
        <p:nvSpPr>
          <p:cNvPr id="13" name="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Strategy or trade?</a:t>
            </a:r>
            <a:endParaRPr lang="en-US" sz="1300" dirty="0"/>
          </a:p>
        </p:txBody>
      </p:sp>
      <p:sp>
        <p:nvSpPr>
          <p:cNvPr id="15" name="Card head"/>
          <p:cNvSpPr txBox="1"/>
          <p:nvPr/>
        </p:nvSpPr>
        <p:spPr>
          <a:xfrm>
            <a:off x="8310677" y="21488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Is today's state in the playbook's sustainable core?</a:t>
            </a:r>
            <a:endParaRPr lang="en-US" sz="1700" dirty="0"/>
          </a:p>
        </p:txBody>
      </p:sp>
      <p:sp>
        <p:nvSpPr>
          <p:cNvPr id="16" name="Card text"/>
          <p:cNvSpPr txBox="1"/>
          <p:nvPr/>
        </p:nvSpPr>
        <p:spPr>
          <a:xfrm>
            <a:off x="8310677" y="30266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6.3</a:t>
            </a:r>
            <a:endParaRPr lang="en-US" sz="1400" dirty="0"/>
          </a:p>
        </p:txBody>
      </p:sp>
      <p:sp>
        <p:nvSpPr>
          <p:cNvPr id="17" name="Card"/>
          <p:cNvSpPr/>
          <p:nvPr/>
        </p:nvSpPr>
        <p:spPr>
          <a:xfrm>
            <a:off x="548640" y="3749040"/>
            <a:ext cx="3515258" cy="1783080"/>
          </a:xfrm>
          <a:prstGeom prst="roundRect">
            <a:avLst>
              <a:gd name="adj" fmla="val 4103"/>
            </a:avLst>
          </a:prstGeom>
          <a:solidFill>
            <a:schemeClr val="bg2"/>
          </a:solidFill>
          <a:ln w="9525">
            <a:solidFill>
              <a:srgbClr val="C4CBD8"/>
            </a:solidFill>
            <a:prstDash val="solid"/>
          </a:ln>
        </p:spPr>
      </p:sp>
      <p:sp>
        <p:nvSpPr>
          <p:cNvPr id="18" name="Card label"/>
          <p:cNvSpPr txBox="1"/>
          <p:nvPr/>
        </p:nvSpPr>
        <p:spPr>
          <a:xfrm>
            <a:off x="731520"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Can the target be reached?</a:t>
            </a:r>
            <a:endParaRPr lang="en-US" sz="1300" dirty="0"/>
          </a:p>
        </p:txBody>
      </p:sp>
      <p:sp>
        <p:nvSpPr>
          <p:cNvPr id="19" name="Card head"/>
          <p:cNvSpPr txBox="1"/>
          <p:nvPr/>
        </p:nvSpPr>
        <p:spPr>
          <a:xfrm>
            <a:off x="731520" y="42062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Search the reachable set; give complete goals a tolerance</a:t>
            </a:r>
            <a:endParaRPr lang="en-US" sz="1700" dirty="0"/>
          </a:p>
        </p:txBody>
      </p:sp>
      <p:sp>
        <p:nvSpPr>
          <p:cNvPr id="20" name="Card text"/>
          <p:cNvSpPr txBox="1"/>
          <p:nvPr/>
        </p:nvSpPr>
        <p:spPr>
          <a:xfrm>
            <a:off x="731520" y="50840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6.4</a:t>
            </a:r>
            <a:endParaRPr lang="en-US" sz="1400" dirty="0"/>
          </a:p>
        </p:txBody>
      </p:sp>
      <p:sp>
        <p:nvSpPr>
          <p:cNvPr id="21" name="Card"/>
          <p:cNvSpPr/>
          <p:nvPr/>
        </p:nvSpPr>
        <p:spPr>
          <a:xfrm>
            <a:off x="4338218" y="3749040"/>
            <a:ext cx="3515258" cy="1783080"/>
          </a:xfrm>
          <a:prstGeom prst="roundRect">
            <a:avLst>
              <a:gd name="adj" fmla="val 4103"/>
            </a:avLst>
          </a:prstGeom>
          <a:solidFill>
            <a:schemeClr val="bg2"/>
          </a:solidFill>
          <a:ln w="9525">
            <a:solidFill>
              <a:srgbClr val="C4CBD8"/>
            </a:solidFill>
            <a:prstDash val="solid"/>
          </a:ln>
        </p:spPr>
      </p:sp>
      <p:sp>
        <p:nvSpPr>
          <p:cNvPr id="22" name="Card label"/>
          <p:cNvSpPr txBox="1"/>
          <p:nvPr/>
        </p:nvSpPr>
        <p:spPr>
          <a:xfrm>
            <a:off x="4521098"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How much slippage can it absorb?</a:t>
            </a:r>
            <a:endParaRPr lang="en-US" sz="1300" dirty="0"/>
          </a:p>
        </p:txBody>
      </p:sp>
      <p:sp>
        <p:nvSpPr>
          <p:cNvPr id="23" name="Card head"/>
          <p:cNvSpPr txBox="1"/>
          <p:nvPr/>
        </p:nvSpPr>
        <p:spPr>
          <a:xfrm>
            <a:off x="4521098" y="42062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Consolidating programs forgive it; amplifying ones compound it</a:t>
            </a:r>
            <a:endParaRPr lang="en-US" sz="1700" dirty="0"/>
          </a:p>
        </p:txBody>
      </p:sp>
      <p:sp>
        <p:nvSpPr>
          <p:cNvPr id="24" name="Card text"/>
          <p:cNvSpPr txBox="1"/>
          <p:nvPr/>
        </p:nvSpPr>
        <p:spPr>
          <a:xfrm>
            <a:off x="4521098" y="50840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6.5</a:t>
            </a:r>
            <a:endParaRPr lang="en-US" sz="1400" dirty="0"/>
          </a:p>
        </p:txBody>
      </p:sp>
      <p:sp>
        <p:nvSpPr>
          <p:cNvPr id="25" name="Card"/>
          <p:cNvSpPr/>
          <p:nvPr/>
        </p:nvSpPr>
        <p:spPr>
          <a:xfrm>
            <a:off x="8127797" y="3749040"/>
            <a:ext cx="3515258" cy="1783080"/>
          </a:xfrm>
          <a:prstGeom prst="roundRect">
            <a:avLst>
              <a:gd name="adj" fmla="val 4103"/>
            </a:avLst>
          </a:prstGeom>
          <a:solidFill>
            <a:schemeClr val="tx1"/>
          </a:solidFill>
          <a:ln w="9525">
            <a:solidFill>
              <a:srgbClr val="0F1E3D"/>
            </a:solidFill>
            <a:prstDash val="solid"/>
          </a:ln>
        </p:spPr>
      </p:sp>
      <p:sp>
        <p:nvSpPr>
          <p:cNvPr id="26" name="Card label"/>
          <p:cNvSpPr txBox="1"/>
          <p:nvPr/>
        </p:nvSpPr>
        <p:spPr>
          <a:xfrm>
            <a:off x="8310677"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Meridian's board</a:t>
            </a:r>
            <a:endParaRPr lang="en-US" sz="1300" dirty="0"/>
          </a:p>
        </p:txBody>
      </p:sp>
      <p:sp>
        <p:nvSpPr>
          <p:cNvPr id="27" name="Card head"/>
          <p:cNvSpPr txBox="1"/>
          <p:nvPr/>
        </p:nvSpPr>
        <p:spPr>
          <a:xfrm>
            <a:off x="8310677" y="4206240"/>
            <a:ext cx="3149498" cy="804672"/>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Is choosing a word in its repertoire's alphabet</a:t>
            </a:r>
            <a:endParaRPr lang="en-US" sz="1700" dirty="0"/>
          </a:p>
        </p:txBody>
      </p:sp>
      <p:sp>
        <p:nvSpPr>
          <p:cNvPr id="28" name="Card text"/>
          <p:cNvSpPr txBox="1"/>
          <p:nvPr/>
        </p:nvSpPr>
        <p:spPr>
          <a:xfrm>
            <a:off x="8310677" y="5084064"/>
            <a:ext cx="3149498" cy="320040"/>
          </a:xfrm>
          <a:prstGeom prst="rect">
            <a:avLst/>
          </a:prstGeom>
          <a:noFill/>
          <a:ln/>
        </p:spPr>
        <p:txBody>
          <a:bodyPr wrap="square" lIns="0" tIns="0" rIns="0" bIns="0" rtlCol="0" anchor="t"/>
          <a:lstStyle/>
          <a:p>
            <a:pPr indent="0" marL="0">
              <a:buNone/>
            </a:pPr>
            <a:r>
              <a:rPr lang="en-US" sz="1400" dirty="0">
                <a:solidFill>
                  <a:schemeClr val="bg2"/>
                </a:solidFill>
              </a:rPr>
              <a:t>Section 6.1</a:t>
            </a:r>
            <a:endParaRPr lang="en-US" sz="1400" dirty="0"/>
          </a:p>
        </p:txBody>
      </p:sp>
      <p:sp>
        <p:nvSpPr>
          <p:cNvPr id="29"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Actions become operators: preconditions as domains, effects as mappings, programs as an algebra.</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§6.2 · DEFINITIONS 6.1–6.4 · FIGURE 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An operator: a domain and an effect</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Operator:</a:t>
            </a:r>
            <a:r>
              <a:rPr lang="en-US" sz="1600" dirty="0">
                <a:solidFill>
                  <a:schemeClr val="tx1"/>
                </a:solidFill>
              </a:rPr>
              <a:t> a declared action, defined on its domain, that sends each state there to a result</a:t>
            </a:r>
            <a:endParaRPr lang="en-US" sz="1600" dirty="0"/>
          </a:p>
          <a:p>
            <a:pPr marL="228600" indent="-228600">
              <a:spcAft>
                <a:spcPts val="800"/>
              </a:spcAft>
              <a:buSzPct val="100000"/>
              <a:buChar char="•"/>
            </a:pPr>
            <a:r>
              <a:rPr lang="en-US" sz="1600" b="1" dirty="0">
                <a:solidFill>
                  <a:schemeClr val="tx1"/>
                </a:solidFill>
              </a:rPr>
              <a:t>Domain:</a:t>
            </a:r>
            <a:r>
              <a:rPr lang="en-US" sz="1600" dirty="0">
                <a:solidFill>
                  <a:schemeClr val="tx1"/>
                </a:solidFill>
              </a:rPr>
              <a:t> where the action can be taken; outside it there is no result, not merely a poor one</a:t>
            </a:r>
            <a:endParaRPr lang="en-US" sz="1600" dirty="0"/>
          </a:p>
          <a:p>
            <a:pPr marL="228600" indent="-228600">
              <a:spcAft>
                <a:spcPts val="800"/>
              </a:spcAft>
              <a:buSzPct val="100000"/>
              <a:buChar char="•"/>
            </a:pPr>
            <a:r>
              <a:rPr lang="en-US" sz="1600" b="1" dirty="0">
                <a:solidFill>
                  <a:schemeClr val="tx1"/>
                </a:solidFill>
              </a:rPr>
              <a:t>Range:</a:t>
            </a:r>
            <a:r>
              <a:rPr lang="en-US" sz="1600" dirty="0">
                <a:solidFill>
                  <a:schemeClr val="tx1"/>
                </a:solidFill>
              </a:rPr>
              <a:t> what the action can deliver; 'it can deliver any target' claims the range is everything</a:t>
            </a:r>
            <a:endParaRPr lang="en-US" sz="1600" dirty="0"/>
          </a:p>
          <a:p>
            <a:pPr marL="228600" indent="-228600">
              <a:spcAft>
                <a:spcPts val="800"/>
              </a:spcAft>
              <a:buSzPct val="100000"/>
              <a:buChar char="•"/>
            </a:pPr>
            <a:r>
              <a:rPr lang="en-US" sz="1600" dirty="0">
                <a:solidFill>
                  <a:schemeClr val="tx1"/>
                </a:solidFill>
              </a:rPr>
              <a:t>Meridian's automation round costs </a:t>
            </a:r>
            <a:r>
              <a:rPr lang="en-US" sz="1600" b="1" dirty="0">
                <a:solidFill>
                  <a:schemeClr val="tx1"/>
                </a:solidFill>
              </a:rPr>
              <a:t>$120m</a:t>
            </a:r>
            <a:r>
              <a:rPr lang="en-US" sz="1600" dirty="0">
                <a:solidFill>
                  <a:schemeClr val="tx1"/>
                </a:solidFill>
              </a:rPr>
              <a:t>, closes half the gap to 85, and needs </a:t>
            </a:r>
            <a:r>
              <a:rPr lang="en-US" sz="1600" b="1" dirty="0">
                <a:solidFill>
                  <a:schemeClr val="tx1"/>
                </a:solidFill>
              </a:rPr>
              <a:t>$470m</a:t>
            </a:r>
            <a:r>
              <a:rPr lang="en-US" sz="1600" dirty="0">
                <a:solidFill>
                  <a:schemeClr val="tx1"/>
                </a:solidFill>
              </a:rPr>
              <a:t> so the $350m floor holds after it</a:t>
            </a:r>
            <a:endParaRPr lang="en-US" sz="1600" dirty="0"/>
          </a:p>
          <a:p>
            <a:pPr marL="228600" indent="-228600">
              <a:spcAft>
                <a:spcPts val="800"/>
              </a:spcAft>
              <a:buSzPct val="100000"/>
              <a:buChar char="•"/>
            </a:pPr>
            <a:r>
              <a:rPr lang="en-US" sz="1600" dirty="0">
                <a:solidFill>
                  <a:schemeClr val="tx1"/>
                </a:solidFill>
              </a:rPr>
              <a:t>From today, $620m and efficiency 71, one round leads to </a:t>
            </a:r>
            <a:r>
              <a:rPr lang="en-US" sz="1600" b="1" dirty="0">
                <a:solidFill>
                  <a:schemeClr val="tx1"/>
                </a:solidFill>
              </a:rPr>
              <a:t>$500m and 78</a:t>
            </a:r>
            <a:endParaRPr lang="en-US" sz="1600" dirty="0"/>
          </a:p>
        </p:txBody>
      </p:sp>
      <p:pic>
        <p:nvPicPr>
          <p:cNvPr id="6" name="Figure" descr="Figure 6.1: anatomy of a transformation operator">    </p:cNvPr>
          <p:cNvPicPr>
            <a:picLocks noChangeAspect="1"/>
          </p:cNvPicPr>
          <p:nvPr/>
        </p:nvPicPr>
        <p:blipFill>
          <a:blip r:embed="rId1"/>
          <a:stretch>
            <a:fillRect/>
          </a:stretch>
        </p:blipFill>
        <p:spPr>
          <a:xfrm>
            <a:off x="5391174" y="1778861"/>
            <a:ext cx="6251881" cy="3739189"/>
          </a:xfrm>
          <a:prstGeom prst="rect">
            <a:avLst/>
          </a:prstGeom>
        </p:spPr>
      </p:pic>
      <p:sp>
        <p:nvSpPr>
          <p:cNvPr id="7" name="Caption"/>
          <p:cNvSpPr txBox="1"/>
          <p:nvPr/>
        </p:nvSpPr>
        <p:spPr>
          <a:xfrm>
            <a:off x="5391174" y="5591203"/>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6.1. Meridian's automation round: the domain (shaded) holds the precondition, the arrows are the effect, the range (hatched) is what the round can deliver.</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§6.2 · THEOREM 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Operators and system steps are one subject</a:t>
            </a:r>
            <a:endParaRPr lang="en-US" sz="3200" dirty="0"/>
          </a:p>
        </p:txBody>
      </p:sp>
      <p:sp>
        <p:nvSpPr>
          <p:cNvPr id="5" name="Result card"/>
          <p:cNvSpPr/>
          <p:nvPr/>
        </p:nvSpPr>
        <p:spPr>
          <a:xfrm>
            <a:off x="548640" y="1691640"/>
            <a:ext cx="694944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4008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6.1</a:t>
            </a:r>
            <a:endParaRPr lang="en-US" sz="1200" dirty="0"/>
          </a:p>
        </p:txBody>
      </p:sp>
      <p:sp>
        <p:nvSpPr>
          <p:cNvPr id="7" name="Text 4"/>
          <p:cNvSpPr txBox="1"/>
          <p:nvPr/>
        </p:nvSpPr>
        <p:spPr>
          <a:xfrm>
            <a:off x="822960" y="2194560"/>
            <a:ext cx="640080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Transformation Representation Theorem</a:t>
            </a:r>
            <a:endParaRPr lang="en-US" sz="2100" dirty="0"/>
          </a:p>
        </p:txBody>
      </p:sp>
      <p:pic>
        <p:nvPicPr>
          <p:cNvPr id="8" name="Equation" descr="Equation: T\mathbf{x} \;=\; f\bigl(\mathbf{x},\ \mathbf{u}(\mathbf{x}),\ \mathbf{w}(\mathbf{x})\bigr)\qquad \text{for all } \mathbf{x} \in \operatorname{dom}T">    </p:cNvPr>
          <p:cNvPicPr>
            <a:picLocks noChangeAspect="1"/>
          </p:cNvPicPr>
          <p:nvPr/>
        </p:nvPicPr>
        <p:blipFill>
          <a:blip r:embed="rId1"/>
          <a:stretch>
            <a:fillRect/>
          </a:stretch>
        </p:blipFill>
        <p:spPr>
          <a:xfrm>
            <a:off x="822960" y="2743200"/>
            <a:ext cx="6027477" cy="502920"/>
          </a:xfrm>
          <a:prstGeom prst="rect">
            <a:avLst/>
          </a:prstGeom>
        </p:spPr>
      </p:pic>
      <p:sp>
        <p:nvSpPr>
          <p:cNvPr id="9" name="Bullets"/>
          <p:cNvSpPr txBox="1"/>
          <p:nvPr/>
        </p:nvSpPr>
        <p:spPr>
          <a:xfrm>
            <a:off x="822960" y="3410712"/>
            <a:ext cx="6400800" cy="2624328"/>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a:t>
            </a:r>
            <a:r>
              <a:rPr lang="en-US" sz="1600" dirty="0">
                <a:solidFill>
                  <a:schemeClr val="tx1"/>
                </a:solidFill>
              </a:rPr>
              <a:t> Each one-period step of the company, for given decisions and environment, is the application of an operator</a:t>
            </a:r>
            <a:endParaRPr lang="en-US" sz="1600" dirty="0"/>
          </a:p>
          <a:p>
            <a:pPr marL="228600" indent="-228600">
              <a:spcAft>
                <a:spcPts val="600"/>
              </a:spcAft>
              <a:buSzPct val="100000"/>
              <a:buChar char="•"/>
            </a:pPr>
            <a:r>
              <a:rPr lang="en-US" sz="1600" b="1" dirty="0">
                <a:solidFill>
                  <a:schemeClr val="tx1"/>
                </a:solidFill>
              </a:rPr>
              <a:t>(ii)</a:t>
            </a:r>
            <a:r>
              <a:rPr lang="en-US" sz="1600" dirty="0">
                <a:solidFill>
                  <a:schemeClr val="tx1"/>
                </a:solidFill>
              </a:rPr>
              <a:t> A declared operator can be carried out exactly when, at every state in its domain, some decision and some environment produce its effect</a:t>
            </a:r>
            <a:endParaRPr lang="en-US" sz="1600" dirty="0"/>
          </a:p>
          <a:p>
            <a:pPr marL="228600" indent="-228600">
              <a:spcAft>
                <a:spcPts val="600"/>
              </a:spcAft>
              <a:buSzPct val="100000"/>
              <a:buChar char="•"/>
            </a:pPr>
            <a:r>
              <a:rPr lang="en-US" sz="1600" b="1" dirty="0">
                <a:solidFill>
                  <a:schemeClr val="tx1"/>
                </a:solidFill>
              </a:rPr>
              <a:t>(iii)</a:t>
            </a:r>
            <a:r>
              <a:rPr lang="en-US" sz="1600" dirty="0">
                <a:solidFill>
                  <a:schemeClr val="tx1"/>
                </a:solidFill>
              </a:rPr>
              <a:t> A policy, a rule that chooses the decision from the current state, turns a family of operators into a closed-loop system</a:t>
            </a:r>
            <a:endParaRPr lang="en-US" sz="1600" dirty="0"/>
          </a:p>
        </p:txBody>
      </p:sp>
      <p:sp>
        <p:nvSpPr>
          <p:cNvPr id="10" name="Text 6"/>
          <p:cNvSpPr txBox="1"/>
          <p:nvPr/>
        </p:nvSpPr>
        <p:spPr>
          <a:xfrm>
            <a:off x="7909560" y="1737360"/>
            <a:ext cx="373349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1" name="Bullets"/>
          <p:cNvSpPr txBox="1"/>
          <p:nvPr/>
        </p:nvSpPr>
        <p:spPr>
          <a:xfrm>
            <a:off x="7909560" y="2194560"/>
            <a:ext cx="373349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Effects that rest on decisions are commitments; effects that need the environment are assumptions</a:t>
            </a:r>
            <a:endParaRPr lang="en-US" sz="1500" dirty="0"/>
          </a:p>
          <a:p>
            <a:pPr marL="228600" indent="-228600">
              <a:spcAft>
                <a:spcPts val="800"/>
              </a:spcAft>
              <a:buSzPct val="100000"/>
              <a:buChar char="•"/>
            </a:pPr>
            <a:r>
              <a:rPr lang="en-US" sz="1500" dirty="0">
                <a:solidFill>
                  <a:schemeClr val="tx1"/>
                </a:solidFill>
              </a:rPr>
              <a:t>Meridian's sale delivers its cash only if a buyer pays the assumed price</a:t>
            </a:r>
            <a:endParaRPr lang="en-US" sz="1500" dirty="0"/>
          </a:p>
          <a:p>
            <a:pPr marL="228600" indent="-228600">
              <a:spcAft>
                <a:spcPts val="800"/>
              </a:spcAft>
              <a:buSzPct val="100000"/>
              <a:buChar char="•"/>
            </a:pPr>
            <a:r>
              <a:rPr lang="en-US" sz="1500" dirty="0">
                <a:solidFill>
                  <a:schemeClr val="tx1"/>
                </a:solidFill>
              </a:rPr>
              <a:t>A bank that invests half its liquidity above a $300m floor each year goes from $900m to $600m, $450m, $375m: never below the floor</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§6.2 · TABLE 6.1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Readiness is a domain condition</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83924"/>
                <a:gridCol w="4034333"/>
                <a:gridCol w="4676158"/>
              </a:tblGrid>
              <a:tr h="42062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Typical form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Typical domain condition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Efficiency program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affine, close to 'do nothing': x ↦ Ax + b with A near I</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funding available; capacity slack</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Capacity investment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changes the capacity readings only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liquidity at least the capital spending; leverage headroom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Divestiture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removes a block of the state, credits the proceeds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asset still owned; a buyer at the assumed price (environmental)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Acquisition or merger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combines two companies' states into one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financing; regulatory clearance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Technology migration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saturating gain on platform readings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talent threshold; old and new platforms able to coexist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Reorganization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regroups the structural readings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governance approval; integration capacity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20624">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Deleveraging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targets a ratio of liquidity and leverage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covenant headroom along the way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376672"/>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6.1: recurring operator types. Forms are local models; domains carry the preconditions that practice calls readiness.</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A divestiture's cash rests on a buyer at the assumed price: an assumption, not a commitment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§6.3 · THEOREM 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Order can decide whether a program runs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6.2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Transformation Composition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Algebra.</a:t>
            </a:r>
            <a:r>
              <a:rPr lang="en-US" sz="1600" dirty="0">
                <a:solidFill>
                  <a:schemeClr val="tx1"/>
                </a:solidFill>
              </a:rPr>
              <a:t> Programs and 'do nothing' chain and group freely, a monoid; programs that can be undone form a far smaller set, which a repertoire typically meets only at 'do nothing'</a:t>
            </a:r>
            <a:endParaRPr lang="en-US" sz="1600" dirty="0"/>
          </a:p>
          <a:p>
            <a:pPr marL="228600" indent="-228600">
              <a:spcAft>
                <a:spcPts val="600"/>
              </a:spcAft>
              <a:buSzPct val="100000"/>
              <a:buChar char="•"/>
            </a:pPr>
            <a:r>
              <a:rPr lang="en-US" sz="1600" b="1" dirty="0">
                <a:solidFill>
                  <a:schemeClr val="tx1"/>
                </a:solidFill>
              </a:rPr>
              <a:t>(ii) Sensitivity.</a:t>
            </a:r>
            <a:r>
              <a:rPr lang="en-US" sz="1600" dirty="0">
                <a:solidFill>
                  <a:schemeClr val="tx1"/>
                </a:solidFill>
              </a:rPr>
              <a:t> If each step amplifies differences by at most its own factor, the program amplifies them by at most the product of the factors</a:t>
            </a:r>
            <a:endParaRPr lang="en-US" sz="1600" dirty="0"/>
          </a:p>
          <a:p>
            <a:pPr marL="228600" indent="-228600">
              <a:spcAft>
                <a:spcPts val="600"/>
              </a:spcAft>
              <a:buSzPct val="100000"/>
              <a:buChar char="•"/>
            </a:pPr>
            <a:r>
              <a:rPr lang="en-US" sz="1600" b="1" dirty="0">
                <a:solidFill>
                  <a:schemeClr val="tx1"/>
                </a:solidFill>
              </a:rPr>
              <a:t>(iii) Order.</a:t>
            </a:r>
            <a:r>
              <a:rPr lang="en-US" sz="1600" dirty="0">
                <a:solidFill>
                  <a:schemeClr val="tx1"/>
                </a:solidFill>
              </a:rPr>
              <a:t> Some pairs can run in one order from many states and in the other order from none</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Transformation lives in the monoid: the inverse is almost never in the repertoire</a:t>
            </a:r>
            <a:endParaRPr lang="en-US" sz="1600" dirty="0"/>
          </a:p>
          <a:p>
            <a:pPr marL="228600" indent="-228600">
              <a:spcAft>
                <a:spcPts val="800"/>
              </a:spcAft>
              <a:buSzPct val="100000"/>
              <a:buChar char="•"/>
            </a:pPr>
            <a:r>
              <a:rPr lang="en-US" sz="1600" dirty="0">
                <a:solidFill>
                  <a:schemeClr val="tx1"/>
                </a:solidFill>
              </a:rPr>
              <a:t>Each step's reversibility premium is a risk number; an infinite premium is a commitment</a:t>
            </a:r>
            <a:endParaRPr lang="en-US" sz="1600" dirty="0"/>
          </a:p>
          <a:p>
            <a:pPr marL="228600" indent="-228600">
              <a:spcAft>
                <a:spcPts val="800"/>
              </a:spcAft>
              <a:buSzPct val="100000"/>
              <a:buChar char="•"/>
            </a:pPr>
            <a:r>
              <a:rPr lang="en-US" sz="1600" dirty="0">
                <a:solidFill>
                  <a:schemeClr val="tx1"/>
                </a:solidFill>
              </a:rPr>
              <a:t>A merger is a three-step word, diligence, closing and integration; closing is the point of no return</a:t>
            </a:r>
            <a:endParaRPr lang="en-US" sz="1600" dirty="0"/>
          </a:p>
          <a:p>
            <a:pPr marL="228600" indent="-228600">
              <a:spcAft>
                <a:spcPts val="800"/>
              </a:spcAft>
              <a:buSzPct val="100000"/>
              <a:buChar char="•"/>
            </a:pPr>
            <a:r>
              <a:rPr lang="en-US" sz="1600" dirty="0">
                <a:solidFill>
                  <a:schemeClr val="tx1"/>
                </a:solidFill>
              </a:rPr>
              <a:t>Selling with the engineers kept enables Meridian's build; built first, the build has no result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§6.3 · TABLE 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Operator properties, read as business</a:t>
            </a:r>
            <a:endParaRPr lang="en-US" sz="32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83924"/>
                <a:gridCol w="3759265"/>
                <a:gridCol w="4951227"/>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Property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Mathematics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Business reading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Total or partial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domain is all of X, or not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unconditional action, or one with preconditions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One-to-one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distinct states, distinct results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no information destroyed; an undo is well defined in principle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Onto the codomain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range equals codomain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program can deliver any declared target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Invertible and available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an undo exists and is in the repertoire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genuinely reversible step (rare)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Idempotent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 ∘ T = 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one-and-done: repeating it adds nothing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Contractive (L &lt;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differences shrink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consolidating step: forgives error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Expansive (L &gt;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differences grow</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amplifying step: compounds error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4406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6.2. Sensitivity factors are measured with a declared distance and scaling (Proposition 3.3).</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sensitivity factor belongs on the operator's declaration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§6.4 · EQUATIONS 6.2–6.3 · THEOREM 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A playbook repeats forever only from its core</a:t>
            </a:r>
            <a:endParaRPr lang="en-US" sz="3200" dirty="0"/>
          </a:p>
        </p:txBody>
      </p:sp>
      <p:pic>
        <p:nvPicPr>
          <p:cNvPr id="5" name="Equation" descr="Equation: \operatorname{dom}T^{k+1} = \bigl\{\mathbf{x} \in \operatorname{dom}T^{k} : T^{k}\mathbf{x} \in \operatorname{dom}T\bigr\}, \qquad \mathcal{X}_{\infty}(T) = \bigcap_{k \ge 1} \operatorname{dom}T^{k}">    </p:cNvPr>
          <p:cNvPicPr>
            <a:picLocks noChangeAspect="1"/>
          </p:cNvPicPr>
          <p:nvPr/>
        </p:nvPicPr>
        <p:blipFill>
          <a:blip r:embed="rId1"/>
          <a:stretch>
            <a:fillRect/>
          </a:stretch>
        </p:blipFill>
        <p:spPr>
          <a:xfrm>
            <a:off x="1357961" y="1828800"/>
            <a:ext cx="9475773" cy="914400"/>
          </a:xfrm>
          <a:prstGeom prst="rect">
            <a:avLst/>
          </a:prstGeom>
        </p:spPr>
      </p:pic>
      <p:sp>
        <p:nvSpPr>
          <p:cNvPr id="6" name="Text 2"/>
          <p:cNvSpPr txBox="1"/>
          <p:nvPr/>
        </p:nvSpPr>
        <p:spPr>
          <a:xfrm>
            <a:off x="914400" y="28803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each repetition adds a precondition on today's state; the core is where the playbook can run forever</a:t>
            </a:r>
            <a:endParaRPr lang="en-US" sz="1600" dirty="0"/>
          </a:p>
        </p:txBody>
      </p:sp>
      <p:sp>
        <p:nvSpPr>
          <p:cNvPr id="7" name="Bullets"/>
          <p:cNvSpPr txBox="1"/>
          <p:nvPr/>
        </p:nvSpPr>
        <p:spPr>
          <a:xfrm>
            <a:off x="914400" y="3474720"/>
            <a:ext cx="10362895" cy="26974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Theorem 6.3.</a:t>
            </a:r>
            <a:r>
              <a:rPr lang="en-US" sz="1700" dirty="0">
                <a:solidFill>
                  <a:schemeClr val="bg1"/>
                </a:solidFill>
              </a:rPr>
              <a:t> The core is self-sustaining, the largest such set, and closed when the domain is closed and the effect continuous</a:t>
            </a:r>
            <a:endParaRPr lang="en-US" sz="1700" dirty="0"/>
          </a:p>
          <a:p>
            <a:pPr marL="228600" indent="-228600">
              <a:spcAft>
                <a:spcPts val="800"/>
              </a:spcAft>
              <a:buSzPct val="100000"/>
              <a:buChar char="•"/>
            </a:pPr>
            <a:r>
              <a:rPr lang="en-US" sz="1700" dirty="0">
                <a:solidFill>
                  <a:schemeClr val="bg1"/>
                </a:solidFill>
              </a:rPr>
              <a:t>'Is this a strategy or a trade?' asks whether today's state lies in the sustainable core</a:t>
            </a:r>
            <a:endParaRPr lang="en-US" sz="1700" dirty="0"/>
          </a:p>
          <a:p>
            <a:pPr marL="228600" indent="-228600">
              <a:spcAft>
                <a:spcPts val="800"/>
              </a:spcAft>
              <a:buSzPct val="100000"/>
              <a:buChar char="•"/>
            </a:pPr>
            <a:r>
              <a:rPr lang="en-US" sz="1700" dirty="0">
                <a:solidFill>
                  <a:schemeClr val="bg1"/>
                </a:solidFill>
              </a:rPr>
              <a:t>A roll-up that uses up its integration capacity has an empty core; a serial acquirer that rebuilds its bench holds one</a:t>
            </a:r>
            <a:endParaRPr lang="en-US" sz="1700" dirty="0"/>
          </a:p>
          <a:p>
            <a:pPr marL="228600" indent="-228600">
              <a:spcAft>
                <a:spcPts val="800"/>
              </a:spcAft>
              <a:buSzPct val="100000"/>
              <a:buChar char="•"/>
            </a:pPr>
            <a:r>
              <a:rPr lang="en-US" sz="1700" dirty="0">
                <a:solidFill>
                  <a:schemeClr val="bg1"/>
                </a:solidFill>
              </a:rPr>
              <a:t>Meridian's automation playbook is a trade with its savings paid out and a strategy with them recycled</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§6.5 · PROPOSITION 6.5 · TABLE 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Feasible at every seam, not only at the end</a:t>
            </a:r>
            <a:endParaRPr lang="en-US" sz="32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108856"/>
                <a:gridCol w="4217712"/>
                <a:gridCol w="4767848"/>
              </a:tblGrid>
              <a:tr h="56692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Constraint type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Domain condition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Meridian instance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Resource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resource reading covers the cost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liquidity at least the program's spending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Regulatory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clearance condition holds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merger control; sector approvals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Precedence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an earlier step has been completed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integration only after closing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Capacity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change capacity covers the load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one major program per division and year</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Integrity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result stays in the feasible region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the board's floor and the covenant hold after the step</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230368"/>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Proposition 6.5: programs of feasible operators stay feasible along the way; a single step that is not can pass through an infeasible state between feasible end points.</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Worked Example 3.1's digital-then-restructure ends at </a:t>
            </a:r>
            <a:r>
              <a:rPr lang="en-US" sz="1600" b="1" dirty="0">
                <a:solidFill>
                  <a:schemeClr val="accent2"/>
                </a:solidFill>
              </a:rPr>
              <a:t>$422m</a:t>
            </a:r>
            <a:r>
              <a:rPr lang="en-US" sz="1600" dirty="0">
                <a:solidFill>
                  <a:schemeClr val="accent2"/>
                </a:solidFill>
              </a:rPr>
              <a:t> but passes through </a:t>
            </a:r>
            <a:r>
              <a:rPr lang="en-US" sz="1600" b="1" dirty="0">
                <a:solidFill>
                  <a:schemeClr val="accent2"/>
                </a:solidFill>
              </a:rPr>
              <a:t>$310m</a:t>
            </a:r>
            <a:r>
              <a:rPr lang="en-US" sz="1600" dirty="0">
                <a:solidFill>
                  <a:schemeClr val="accent2"/>
                </a:solidFill>
              </a:rPr>
              <a:t>, below the $350m floor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§6.6 · THEOREM 6.4 · FIGURE 6.3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path reaches the technology target</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Theorem 6.4.</a:t>
            </a:r>
            <a:r>
              <a:rPr lang="en-US" sz="1600" dirty="0">
                <a:solidFill>
                  <a:schemeClr val="tx1"/>
                </a:solidFill>
              </a:rPr>
              <a:t> A target is reachable exactly when it holds a reachable state; breadth-first search finds a shortest path</a:t>
            </a:r>
            <a:endParaRPr lang="en-US" sz="1600" dirty="0"/>
          </a:p>
          <a:p>
            <a:pPr marL="228600" indent="-228600">
              <a:spcAft>
                <a:spcPts val="800"/>
              </a:spcAft>
              <a:buSzPct val="100000"/>
              <a:buChar char="•"/>
            </a:pPr>
            <a:r>
              <a:rPr lang="en-US" sz="1600" dirty="0">
                <a:solidFill>
                  <a:schemeClr val="tx1"/>
                </a:solidFill>
              </a:rPr>
              <a:t>Three of four first moves are possible; the build alone would leave </a:t>
            </a:r>
            <a:r>
              <a:rPr lang="en-US" sz="1600" b="1" dirty="0">
                <a:solidFill>
                  <a:schemeClr val="tx1"/>
                </a:solidFill>
              </a:rPr>
              <a:t>$310m</a:t>
            </a:r>
            <a:r>
              <a:rPr lang="en-US" sz="1600" dirty="0">
                <a:solidFill>
                  <a:schemeClr val="tx1"/>
                </a:solidFill>
              </a:rPr>
              <a:t>, below the floor</a:t>
            </a:r>
            <a:endParaRPr lang="en-US" sz="1600" dirty="0"/>
          </a:p>
          <a:p>
            <a:pPr marL="228600" indent="-228600">
              <a:spcAft>
                <a:spcPts val="800"/>
              </a:spcAft>
              <a:buSzPct val="100000"/>
              <a:buChar char="•"/>
            </a:pPr>
            <a:r>
              <a:rPr lang="en-US" sz="1600" dirty="0">
                <a:solidFill>
                  <a:schemeClr val="tx1"/>
                </a:solidFill>
              </a:rPr>
              <a:t>Selling as designed is a dead end: with capability at 53, neither the build nor automation can follow</a:t>
            </a:r>
            <a:endParaRPr lang="en-US" sz="1600" dirty="0"/>
          </a:p>
          <a:p>
            <a:pPr marL="228600" indent="-228600">
              <a:spcAft>
                <a:spcPts val="800"/>
              </a:spcAft>
              <a:buSzPct val="100000"/>
              <a:buChar char="•"/>
            </a:pPr>
            <a:r>
              <a:rPr lang="en-US" sz="1600" dirty="0">
                <a:solidFill>
                  <a:schemeClr val="tx1"/>
                </a:solidFill>
              </a:rPr>
              <a:t>Only selling with the engineers kept, then building, reaches technology 50: </a:t>
            </a:r>
            <a:r>
              <a:rPr lang="en-US" sz="1600" b="1" dirty="0">
                <a:solidFill>
                  <a:schemeClr val="tx1"/>
                </a:solidFill>
              </a:rPr>
              <a:t>$356m, technology 54.7</a:t>
            </a:r>
            <a:endParaRPr lang="en-US" sz="1600" dirty="0"/>
          </a:p>
          <a:p>
            <a:pPr marL="228600" indent="-228600">
              <a:spcAft>
                <a:spcPts val="800"/>
              </a:spcAft>
              <a:buSzPct val="100000"/>
              <a:buChar char="•"/>
            </a:pPr>
            <a:r>
              <a:rPr lang="en-US" sz="1600" dirty="0">
                <a:solidFill>
                  <a:schemeClr val="tx1"/>
                </a:solidFill>
              </a:rPr>
              <a:t>Complete goals such as 'zero defects' are limits: give them a tolerance</a:t>
            </a:r>
            <a:endParaRPr lang="en-US" sz="1600" dirty="0"/>
          </a:p>
        </p:txBody>
      </p:sp>
      <p:pic>
        <p:nvPicPr>
          <p:cNvPr id="6" name="Figure" descr="Figure 6.3: Meridian's planning tree">    </p:cNvPr>
          <p:cNvPicPr>
            <a:picLocks noChangeAspect="1"/>
          </p:cNvPicPr>
          <p:nvPr/>
        </p:nvPicPr>
        <p:blipFill>
          <a:blip r:embed="rId1"/>
          <a:stretch>
            <a:fillRect/>
          </a:stretch>
        </p:blipFill>
        <p:spPr>
          <a:xfrm>
            <a:off x="5680352" y="1691640"/>
            <a:ext cx="5451637" cy="3913632"/>
          </a:xfrm>
          <a:prstGeom prst="rect">
            <a:avLst/>
          </a:prstGeom>
        </p:spPr>
      </p:pic>
      <p:sp>
        <p:nvSpPr>
          <p:cNvPr id="7" name="Caption"/>
          <p:cNvSpPr txBox="1"/>
          <p:nvPr/>
        </p:nvSpPr>
        <p:spPr>
          <a:xfrm>
            <a:off x="5169286" y="5678424"/>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6.3. Every sequence of up to two moves from today, pruned where a precondition fails; the one path to the target is found at depth two.</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§6.7 · THEOREM 6.5 · FIGURE 6.4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Set execution tolerance by the factor L</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Theorem 6.5.</a:t>
            </a:r>
            <a:r>
              <a:rPr lang="en-US" sz="1700" dirty="0">
                <a:solidFill>
                  <a:schemeClr val="tx1"/>
                </a:solidFill>
              </a:rPr>
              <a:t> A starting error grows at most by the factor L</a:t>
            </a:r>
            <a:r>
              <a:rPr lang="en-US" sz="1700" baseline="30000" dirty="0">
                <a:solidFill>
                  <a:schemeClr val="tx1"/>
                </a:solidFill>
              </a:rPr>
              <a:t>k</a:t>
            </a:r>
            <a:r>
              <a:rPr lang="en-US" sz="1700" dirty="0">
                <a:solidFill>
                  <a:schemeClr val="tx1"/>
                </a:solidFill>
              </a:rPr>
              <a:t>; a shortfall ε at each step drifts at most ε(1 + L + ⋯ + L</a:t>
            </a:r>
            <a:r>
              <a:rPr lang="en-US" sz="1700" baseline="30000" dirty="0">
                <a:solidFill>
                  <a:schemeClr val="tx1"/>
                </a:solidFill>
              </a:rPr>
              <a:t>k−1</a:t>
            </a:r>
            <a:r>
              <a:rPr lang="en-US" sz="1700" dirty="0">
                <a:solidFill>
                  <a:schemeClr val="tx1"/>
                </a:solidFill>
              </a:rPr>
              <a:t>)</a:t>
            </a:r>
            <a:endParaRPr lang="en-US" sz="1700" dirty="0"/>
          </a:p>
          <a:p>
            <a:pPr marL="228600" indent="-228600">
              <a:spcAft>
                <a:spcPts val="800"/>
              </a:spcAft>
              <a:buSzPct val="100000"/>
              <a:buChar char="•"/>
            </a:pPr>
            <a:r>
              <a:rPr lang="en-US" sz="1700" dirty="0">
                <a:solidFill>
                  <a:schemeClr val="tx1"/>
                </a:solidFill>
              </a:rPr>
              <a:t>Under contraction the drift never exceeds ε/(1 − L), and the steady state moves no more than that</a:t>
            </a:r>
            <a:endParaRPr lang="en-US" sz="1700" dirty="0"/>
          </a:p>
          <a:p>
            <a:pPr marL="228600" indent="-228600">
              <a:spcAft>
                <a:spcPts val="800"/>
              </a:spcAft>
              <a:buSzPct val="100000"/>
              <a:buChar char="•"/>
            </a:pPr>
            <a:r>
              <a:rPr lang="en-US" sz="1700" dirty="0">
                <a:solidFill>
                  <a:schemeClr val="tx1"/>
                </a:solidFill>
              </a:rPr>
              <a:t>A 1% shortfall a quarter: at most </a:t>
            </a:r>
            <a:r>
              <a:rPr lang="en-US" sz="1700" b="1" dirty="0">
                <a:solidFill>
                  <a:schemeClr val="tx1"/>
                </a:solidFill>
              </a:rPr>
              <a:t>5%</a:t>
            </a:r>
            <a:r>
              <a:rPr lang="en-US" sz="1700" dirty="0">
                <a:solidFill>
                  <a:schemeClr val="tx1"/>
                </a:solidFill>
              </a:rPr>
              <a:t> at L = 0.8, </a:t>
            </a:r>
            <a:r>
              <a:rPr lang="en-US" sz="1700" b="1" dirty="0">
                <a:solidFill>
                  <a:schemeClr val="tx1"/>
                </a:solidFill>
              </a:rPr>
              <a:t>12%</a:t>
            </a:r>
            <a:r>
              <a:rPr lang="en-US" sz="1700" dirty="0">
                <a:solidFill>
                  <a:schemeClr val="tx1"/>
                </a:solidFill>
              </a:rPr>
              <a:t> in three years at L = 1, about </a:t>
            </a:r>
            <a:r>
              <a:rPr lang="en-US" sz="1700" b="1" dirty="0">
                <a:solidFill>
                  <a:schemeClr val="tx1"/>
                </a:solidFill>
              </a:rPr>
              <a:t>40%</a:t>
            </a:r>
            <a:r>
              <a:rPr lang="en-US" sz="1700" dirty="0">
                <a:solidFill>
                  <a:schemeClr val="tx1"/>
                </a:solidFill>
              </a:rPr>
              <a:t> at L = 1.2</a:t>
            </a:r>
            <a:endParaRPr lang="en-US" sz="1700" dirty="0"/>
          </a:p>
          <a:p>
            <a:pPr marL="228600" indent="-228600">
              <a:spcAft>
                <a:spcPts val="800"/>
              </a:spcAft>
              <a:buSzPct val="100000"/>
              <a:buChar char="•"/>
            </a:pPr>
            <a:r>
              <a:rPr lang="en-US" sz="1700" dirty="0">
                <a:solidFill>
                  <a:schemeClr val="tx1"/>
                </a:solidFill>
              </a:rPr>
              <a:t>Amplifying programs need precise execution and frequent re-anchoring; consolidating ones can economize</a:t>
            </a:r>
            <a:endParaRPr lang="en-US" sz="1700" dirty="0"/>
          </a:p>
        </p:txBody>
      </p:sp>
      <p:pic>
        <p:nvPicPr>
          <p:cNvPr id="6" name="Figure" descr="Figure 6.4: how execution error accumulates">    </p:cNvPr>
          <p:cNvPicPr>
            <a:picLocks noChangeAspect="1"/>
          </p:cNvPicPr>
          <p:nvPr/>
        </p:nvPicPr>
        <p:blipFill>
          <a:blip r:embed="rId1"/>
          <a:stretch>
            <a:fillRect/>
          </a:stretch>
        </p:blipFill>
        <p:spPr>
          <a:xfrm>
            <a:off x="5391174" y="1938957"/>
            <a:ext cx="6251881" cy="3418997"/>
          </a:xfrm>
          <a:prstGeom prst="rect">
            <a:avLst/>
          </a:prstGeom>
        </p:spPr>
      </p:pic>
      <p:sp>
        <p:nvSpPr>
          <p:cNvPr id="7" name="Caption"/>
          <p:cNvSpPr txBox="1"/>
          <p:nvPr/>
        </p:nvSpPr>
        <p:spPr>
          <a:xfrm>
            <a:off x="5391174" y="5431107"/>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6.4. The gap between executed and designed paths when each quarter falls 1 percent short of plan. The bound is attained, so the curves are the worst case itself.</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6.1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Strategy or trade? The automation playbook</a:t>
            </a:r>
            <a:endParaRPr lang="en-US" sz="3200" dirty="0"/>
          </a:p>
        </p:txBody>
      </p:sp>
      <p:sp>
        <p:nvSpPr>
          <p:cNvPr id="5" name="Card"/>
          <p:cNvSpPr/>
          <p:nvPr/>
        </p:nvSpPr>
        <p:spPr>
          <a:xfrm>
            <a:off x="548640" y="1691640"/>
            <a:ext cx="3515258" cy="3108960"/>
          </a:xfrm>
          <a:prstGeom prst="roundRect">
            <a:avLst>
              <a:gd name="adj" fmla="val 235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Industrial Systems</a:t>
            </a:r>
            <a:endParaRPr lang="en-US" sz="1300" dirty="0"/>
          </a:p>
        </p:txBody>
      </p:sp>
      <p:sp>
        <p:nvSpPr>
          <p:cNvPr id="7" name="Card head"/>
          <p:cNvSpPr txBox="1"/>
          <p:nvPr/>
        </p:nvSpPr>
        <p:spPr>
          <a:xfrm>
            <a:off x="731520" y="2148840"/>
            <a:ext cx="3149498" cy="112471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An automation round every year</a:t>
            </a:r>
            <a:endParaRPr lang="en-US" sz="2000" dirty="0"/>
          </a:p>
        </p:txBody>
      </p:sp>
      <p:sp>
        <p:nvSpPr>
          <p:cNvPr id="8" name="Card text"/>
          <p:cNvSpPr txBox="1"/>
          <p:nvPr/>
        </p:nvSpPr>
        <p:spPr>
          <a:xfrm>
            <a:off x="731520" y="3346704"/>
            <a:ext cx="3149498" cy="1325880"/>
          </a:xfrm>
          <a:prstGeom prst="rect">
            <a:avLst/>
          </a:prstGeom>
          <a:noFill/>
          <a:ln/>
        </p:spPr>
        <p:txBody>
          <a:bodyPr wrap="square" lIns="0" tIns="0" rIns="0" bIns="0" rtlCol="0" anchor="t"/>
          <a:lstStyle/>
          <a:p>
            <a:pPr indent="0" marL="0">
              <a:buNone/>
            </a:pPr>
            <a:r>
              <a:rPr lang="en-US" sz="1600" dirty="0">
                <a:solidFill>
                  <a:schemeClr val="tx2"/>
                </a:solidFill>
              </a:rPr>
              <a:t>$120m a round; it closes half the gap from efficiency 71 to the plants' ceiling of 85 and adds a point of workforce capability.</a:t>
            </a:r>
            <a:endParaRPr lang="en-US" sz="1600" dirty="0"/>
          </a:p>
        </p:txBody>
      </p:sp>
      <p:sp>
        <p:nvSpPr>
          <p:cNvPr id="9" name="Card"/>
          <p:cNvSpPr/>
          <p:nvPr/>
        </p:nvSpPr>
        <p:spPr>
          <a:xfrm>
            <a:off x="4338218" y="1691640"/>
            <a:ext cx="3515258" cy="3108960"/>
          </a:xfrm>
          <a:prstGeom prst="roundRect">
            <a:avLst>
              <a:gd name="adj" fmla="val 235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value</a:t>
            </a:r>
            <a:endParaRPr lang="en-US" sz="1300" dirty="0"/>
          </a:p>
        </p:txBody>
      </p:sp>
      <p:sp>
        <p:nvSpPr>
          <p:cNvPr id="11" name="Card head"/>
          <p:cNvSpPr txBox="1"/>
          <p:nvPr/>
        </p:nvSpPr>
        <p:spPr>
          <a:xfrm>
            <a:off x="4521098" y="2148840"/>
            <a:ext cx="3149498" cy="112471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$10m a year for every efficiency point gained</a:t>
            </a:r>
            <a:endParaRPr lang="en-US" sz="2000" dirty="0"/>
          </a:p>
        </p:txBody>
      </p:sp>
      <p:sp>
        <p:nvSpPr>
          <p:cNvPr id="12" name="Card text"/>
          <p:cNvSpPr txBox="1"/>
          <p:nvPr/>
        </p:nvSpPr>
        <p:spPr>
          <a:xfrm>
            <a:off x="4521098" y="3346704"/>
            <a:ext cx="3149498" cy="1325880"/>
          </a:xfrm>
          <a:prstGeom prst="rect">
            <a:avLst/>
          </a:prstGeom>
          <a:noFill/>
          <a:ln/>
        </p:spPr>
        <p:txBody>
          <a:bodyPr wrap="square" lIns="0" tIns="0" rIns="0" bIns="0" rtlCol="0" anchor="t"/>
          <a:lstStyle/>
          <a:p>
            <a:pPr indent="0" marL="0">
              <a:buNone/>
            </a:pPr>
            <a:r>
              <a:rPr lang="en-US" sz="1600" dirty="0">
                <a:solidFill>
                  <a:schemeClr val="tx2"/>
                </a:solidFill>
              </a:rPr>
              <a:t>One round from today is worth $70m a year in lower costs.</a:t>
            </a:r>
            <a:endParaRPr lang="en-US" sz="1600" dirty="0"/>
          </a:p>
        </p:txBody>
      </p:sp>
      <p:sp>
        <p:nvSpPr>
          <p:cNvPr id="13" name="Card"/>
          <p:cNvSpPr/>
          <p:nvPr/>
        </p:nvSpPr>
        <p:spPr>
          <a:xfrm>
            <a:off x="8127797" y="1691640"/>
            <a:ext cx="3515258" cy="3108960"/>
          </a:xfrm>
          <a:prstGeom prst="roundRect">
            <a:avLst>
              <a:gd name="adj" fmla="val 235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chief financial officer</a:t>
            </a:r>
            <a:endParaRPr lang="en-US" sz="1300" dirty="0"/>
          </a:p>
        </p:txBody>
      </p:sp>
      <p:sp>
        <p:nvSpPr>
          <p:cNvPr id="15" name="Card head"/>
          <p:cNvSpPr txBox="1"/>
          <p:nvPr/>
        </p:nvSpPr>
        <p:spPr>
          <a:xfrm>
            <a:off x="8310677" y="2148840"/>
            <a:ext cx="3149498" cy="112471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 strategy Meridian can repeat, or a trade that runs out?</a:t>
            </a:r>
            <a:endParaRPr lang="en-US" sz="2000" dirty="0"/>
          </a:p>
        </p:txBody>
      </p:sp>
      <p:sp>
        <p:nvSpPr>
          <p:cNvPr id="16" name="Card text"/>
          <p:cNvSpPr txBox="1"/>
          <p:nvPr/>
        </p:nvSpPr>
        <p:spPr>
          <a:xfrm>
            <a:off x="8310677" y="3346704"/>
            <a:ext cx="3149498" cy="1325880"/>
          </a:xfrm>
          <a:prstGeom prst="rect">
            <a:avLst/>
          </a:prstGeom>
          <a:noFill/>
          <a:ln/>
        </p:spPr>
        <p:txBody>
          <a:bodyPr wrap="square" lIns="0" tIns="0" rIns="0" bIns="0" rtlCol="0" anchor="t"/>
          <a:lstStyle/>
          <a:p>
            <a:pPr indent="0" marL="0">
              <a:buNone/>
            </a:pPr>
            <a:r>
              <a:rPr lang="en-US" sz="1600" dirty="0">
                <a:solidFill>
                  <a:schemeClr val="bg2"/>
                </a:solidFill>
              </a:rPr>
              <a:t>Assume the rest of Meridian's cash flows leave liquidity unchanged.</a:t>
            </a:r>
            <a:endParaRPr lang="en-US" sz="1600" dirty="0"/>
          </a:p>
        </p:txBody>
      </p:sp>
      <p:sp>
        <p:nvSpPr>
          <p:cNvPr id="17" name="Lead"/>
          <p:cNvSpPr txBox="1"/>
          <p:nvPr/>
        </p:nvSpPr>
        <p:spPr>
          <a:xfrm>
            <a:off x="548640" y="507492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A round needs $470m of liquidity, so the $350m floor holds after it, and capability of at least 55.</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6.1 · STEPS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Paid out, the playbook ends after two rounds</a:t>
            </a:r>
            <a:endParaRPr lang="en-US" sz="3200" dirty="0"/>
          </a:p>
        </p:txBody>
      </p:sp>
      <p:pic>
        <p:nvPicPr>
          <p:cNvPr id="5" name="Equation" descr="Equation: T(q, e, w) = \bigl(q - 120,\ e + \tfrac{1}{2}(85 - e),\ w + 1\bigr), \qquad \operatorname{dom}T = \{\, q \ge 470,\ w \ge 55 \,\}">    </p:cNvPr>
          <p:cNvPicPr>
            <a:picLocks noChangeAspect="1"/>
          </p:cNvPicPr>
          <p:nvPr/>
        </p:nvPicPr>
        <p:blipFill>
          <a:blip r:embed="rId1"/>
          <a:stretch>
            <a:fillRect/>
          </a:stretch>
        </p:blipFill>
        <p:spPr>
          <a:xfrm>
            <a:off x="914400" y="1908399"/>
            <a:ext cx="10362895" cy="526601"/>
          </a:xfrm>
          <a:prstGeom prst="rect">
            <a:avLst/>
          </a:prstGeom>
        </p:spPr>
      </p:pic>
      <p:sp>
        <p:nvSpPr>
          <p:cNvPr id="6" name="Text 2"/>
          <p:cNvSpPr txBox="1"/>
          <p:nvPr/>
        </p:nvSpPr>
        <p:spPr>
          <a:xfrm>
            <a:off x="914400" y="2572161"/>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liquidity q in $ million, efficiency e, workforce capability w: Step 1 declares the effect and the domain</a:t>
            </a:r>
            <a:endParaRPr lang="en-US" sz="1600" dirty="0"/>
          </a:p>
        </p:txBody>
      </p:sp>
      <p:sp>
        <p:nvSpPr>
          <p:cNvPr id="7" name="Bullets"/>
          <p:cNvSpPr txBox="1"/>
          <p:nvPr/>
        </p:nvSpPr>
        <p:spPr>
          <a:xfrm>
            <a:off x="914400" y="3166521"/>
            <a:ext cx="10362895" cy="3005679"/>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2:</a:t>
            </a:r>
            <a:r>
              <a:rPr lang="en-US" sz="1700" dirty="0">
                <a:solidFill>
                  <a:schemeClr val="bg1"/>
                </a:solidFill>
              </a:rPr>
              <a:t> with the savings paid out, each round spends $120m: </a:t>
            </a:r>
            <a:r>
              <a:rPr lang="en-US" sz="1700" b="1" dirty="0">
                <a:solidFill>
                  <a:schemeClr val="bg1"/>
                </a:solidFill>
              </a:rPr>
              <a:t>$620m, $500m, $380m</a:t>
            </a:r>
            <a:r>
              <a:rPr lang="en-US" sz="1700" dirty="0">
                <a:solidFill>
                  <a:schemeClr val="bg1"/>
                </a:solidFill>
              </a:rPr>
              <a:t>, and the third round's precondition fails</a:t>
            </a:r>
            <a:endParaRPr lang="en-US" sz="1700" dirty="0"/>
          </a:p>
          <a:p>
            <a:pPr marL="228600" indent="-228600">
              <a:spcAft>
                <a:spcPts val="800"/>
              </a:spcAft>
              <a:buSzPct val="100000"/>
              <a:buChar char="•"/>
            </a:pPr>
            <a:r>
              <a:rPr lang="en-US" sz="1700" dirty="0">
                <a:solidFill>
                  <a:schemeClr val="bg1"/>
                </a:solidFill>
              </a:rPr>
              <a:t>The k-th round needs today's liquidity of at least </a:t>
            </a:r>
            <a:r>
              <a:rPr lang="en-US" sz="1700" b="1" dirty="0">
                <a:solidFill>
                  <a:schemeClr val="bg1"/>
                </a:solidFill>
              </a:rPr>
              <a:t>470 + 120(k − 1)</a:t>
            </a:r>
            <a:r>
              <a:rPr lang="en-US" sz="1700" dirty="0">
                <a:solidFill>
                  <a:schemeClr val="bg1"/>
                </a:solidFill>
              </a:rPr>
              <a:t>: no start supports every round</a:t>
            </a:r>
            <a:endParaRPr lang="en-US" sz="1700" dirty="0"/>
          </a:p>
          <a:p>
            <a:pPr marL="228600" indent="-228600">
              <a:spcAft>
                <a:spcPts val="800"/>
              </a:spcAft>
              <a:buSzPct val="100000"/>
              <a:buChar char="•"/>
            </a:pPr>
            <a:r>
              <a:rPr lang="en-US" sz="1700" dirty="0">
                <a:solidFill>
                  <a:schemeClr val="bg1"/>
                </a:solidFill>
              </a:rPr>
              <a:t>The sustainable core is empty (Theorem 6.3): on these terms automation is a trade</a:t>
            </a:r>
            <a:endParaRPr lang="en-US" sz="1700" dirty="0"/>
          </a:p>
          <a:p>
            <a:pPr marL="228600" indent="-228600">
              <a:spcAft>
                <a:spcPts val="800"/>
              </a:spcAft>
              <a:buSzPct val="100000"/>
              <a:buChar char="•"/>
            </a:pPr>
            <a:r>
              <a:rPr lang="en-US" sz="1700" dirty="0">
                <a:solidFill>
                  <a:schemeClr val="bg1"/>
                </a:solidFill>
              </a:rPr>
              <a:t>The workforce precondition is not the problem: each round renews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6.1 · STEP 3 · TABLE 6.4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Recycled savings fund the rounds from year 3</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558242"/>
                <a:gridCol w="1076596"/>
                <a:gridCol w="1076596"/>
                <a:gridCol w="1076596"/>
                <a:gridCol w="1076596"/>
                <a:gridCol w="1076596"/>
                <a:gridCol w="1076596"/>
                <a:gridCol w="1076596"/>
              </a:tblGrid>
              <a:tr h="64008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Year</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640080">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Efficiency (index)</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71.00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78.00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81.50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83.25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84.13</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84.56</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84.78</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40080">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Savings this year</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70.0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105.0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122.5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131.3</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135.6</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137.8</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640080">
                <a:tc>
                  <a:txBody>
                    <a:bodyPr/>
                    <a:lstStyle/>
                    <a:p>
                      <a:pPr algn="l" indent="0" marL="0">
                        <a:buNone/>
                      </a:pPr>
                      <a:r>
                        <a:rPr lang="en-US" sz="1800" dirty="0">
                          <a:solidFill>
                            <a:srgbClr val="0F1E3D"/>
                          </a:solidFill>
                          <a:latin typeface="Calibri" pitchFamily="34" charset="0"/>
                          <a:ea typeface="Calibri" pitchFamily="34" charset="-122"/>
                          <a:cs typeface="Calibri" pitchFamily="34" charset="-120"/>
                        </a:rPr>
                        <a:t>Savings less the round's cost</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−50.0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−15.0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2.5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11.3</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15.6</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17.8</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640080">
                <a:tc>
                  <a:txBody>
                    <a:bodyPr/>
                    <a:lstStyle/>
                    <a:p>
                      <a:pPr algn="l" indent="0" marL="0">
                        <a:buNone/>
                      </a:pPr>
                      <a:r>
                        <a:rPr lang="en-US" sz="1800" b="1" dirty="0">
                          <a:solidFill>
                            <a:srgbClr val="0F1E3D"/>
                          </a:solidFill>
                          <a:latin typeface="Calibri" pitchFamily="34" charset="0"/>
                          <a:ea typeface="Calibri" pitchFamily="34" charset="-122"/>
                          <a:cs typeface="Calibri" pitchFamily="34" charset="-120"/>
                        </a:rPr>
                        <a:t>Liquidity at year end</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620.0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570.0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555.0</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557.5</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568.8</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584.4</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800" dirty="0">
                          <a:solidFill>
                            <a:srgbClr val="0F1E3D"/>
                          </a:solidFill>
                          <a:latin typeface="Calibri" pitchFamily="34" charset="0"/>
                          <a:ea typeface="Calibri" pitchFamily="34" charset="-122"/>
                          <a:cs typeface="Calibri" pitchFamily="34" charset="-120"/>
                        </a:rPr>
                        <a:t>602.2</a:t>
                      </a:r>
                      <a:endParaRPr lang="en-US" sz="18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50292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6.4: the automation playbook with the savings recycled, as designed; $ million, one round at the start of each year.</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Liquidity bottoms at </a:t>
            </a:r>
            <a:r>
              <a:rPr lang="en-US" sz="1600" b="1" dirty="0">
                <a:solidFill>
                  <a:schemeClr val="accent2"/>
                </a:solidFill>
              </a:rPr>
              <a:t>$555m</a:t>
            </a:r>
            <a:r>
              <a:rPr lang="en-US" sz="1600" dirty="0">
                <a:solidFill>
                  <a:schemeClr val="accent2"/>
                </a:solidFill>
              </a:rPr>
              <a:t>; the playbook runs indefinitely from </a:t>
            </a:r>
            <a:r>
              <a:rPr lang="en-US" sz="1600" b="1" dirty="0">
                <a:solidFill>
                  <a:schemeClr val="accent2"/>
                </a:solidFill>
              </a:rPr>
              <a:t>$535m</a:t>
            </a:r>
            <a:r>
              <a:rPr lang="en-US" sz="1600" dirty="0">
                <a:solidFill>
                  <a:schemeClr val="accent2"/>
                </a:solidFill>
              </a:rPr>
              <a:t>, and Meridian, at $620m, is $85m inside the core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6.1 · STEP 4 · FIGURE 6.2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Two points of slippage make it a trade again</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Each round halves the gap to 85: the efficiency step is a contraction with </a:t>
            </a:r>
            <a:r>
              <a:rPr lang="en-US" sz="1700" b="1" dirty="0">
                <a:solidFill>
                  <a:schemeClr val="tx1"/>
                </a:solidFill>
              </a:rPr>
              <a:t>L = 0.5</a:t>
            </a:r>
            <a:endParaRPr lang="en-US" sz="1700" dirty="0"/>
          </a:p>
          <a:p>
            <a:pPr marL="228600" indent="-228600">
              <a:spcAft>
                <a:spcPts val="800"/>
              </a:spcAft>
              <a:buSzPct val="100000"/>
              <a:buChar char="•"/>
            </a:pPr>
            <a:r>
              <a:rPr lang="en-US" sz="1700" dirty="0">
                <a:solidFill>
                  <a:schemeClr val="tx1"/>
                </a:solidFill>
              </a:rPr>
              <a:t>One point short a round: the steady state moves at most 1/(1 − 0.5) = 2 points, to </a:t>
            </a:r>
            <a:r>
              <a:rPr lang="en-US" sz="1700" b="1" dirty="0">
                <a:solidFill>
                  <a:schemeClr val="tx1"/>
                </a:solidFill>
              </a:rPr>
              <a:t>83</a:t>
            </a:r>
            <a:endParaRPr lang="en-US" sz="1700" dirty="0"/>
          </a:p>
          <a:p>
            <a:pPr marL="228600" indent="-228600">
              <a:spcAft>
                <a:spcPts val="800"/>
              </a:spcAft>
              <a:buSzPct val="100000"/>
              <a:buChar char="•"/>
            </a:pPr>
            <a:r>
              <a:rPr lang="en-US" sz="1700" dirty="0">
                <a:solidFill>
                  <a:schemeClr val="tx1"/>
                </a:solidFill>
              </a:rPr>
              <a:t>Savings top out at </a:t>
            </a:r>
            <a:r>
              <a:rPr lang="en-US" sz="1700" b="1" dirty="0">
                <a:solidFill>
                  <a:schemeClr val="tx1"/>
                </a:solidFill>
              </a:rPr>
              <a:t>$120m</a:t>
            </a:r>
            <a:r>
              <a:rPr lang="en-US" sz="1700" dirty="0">
                <a:solidFill>
                  <a:schemeClr val="tx1"/>
                </a:solidFill>
              </a:rPr>
              <a:t>, exactly a round's cost; liquidity sinks toward $500m: </a:t>
            </a:r>
            <a:r>
              <a:rPr lang="en-US" sz="1700" b="1" dirty="0">
                <a:solidFill>
                  <a:schemeClr val="tx1"/>
                </a:solidFill>
              </a:rPr>
              <a:t>$30m</a:t>
            </a:r>
            <a:r>
              <a:rPr lang="en-US" sz="1700" dirty="0">
                <a:solidFill>
                  <a:schemeClr val="tx1"/>
                </a:solidFill>
              </a:rPr>
              <a:t> of headroom</a:t>
            </a:r>
            <a:endParaRPr lang="en-US" sz="1700" dirty="0"/>
          </a:p>
          <a:p>
            <a:pPr marL="228600" indent="-228600">
              <a:spcAft>
                <a:spcPts val="800"/>
              </a:spcAft>
              <a:buSzPct val="100000"/>
              <a:buChar char="•"/>
            </a:pPr>
            <a:r>
              <a:rPr lang="en-US" sz="1700" dirty="0">
                <a:solidFill>
                  <a:schemeClr val="tx1"/>
                </a:solidFill>
              </a:rPr>
              <a:t>Two points short: savings top out at </a:t>
            </a:r>
            <a:r>
              <a:rPr lang="en-US" sz="1700" b="1" dirty="0">
                <a:solidFill>
                  <a:schemeClr val="tx1"/>
                </a:solidFill>
              </a:rPr>
              <a:t>$100m</a:t>
            </a:r>
            <a:r>
              <a:rPr lang="en-US" sz="1700" dirty="0">
                <a:solidFill>
                  <a:schemeClr val="tx1"/>
                </a:solidFill>
              </a:rPr>
              <a:t>; liquidity falls below $470m before round 5</a:t>
            </a:r>
            <a:endParaRPr lang="en-US" sz="1700" dirty="0"/>
          </a:p>
        </p:txBody>
      </p:sp>
      <p:pic>
        <p:nvPicPr>
          <p:cNvPr id="6" name="Figure" descr="Figure 6.2: strategy or trade">    </p:cNvPr>
          <p:cNvPicPr>
            <a:picLocks noChangeAspect="1"/>
          </p:cNvPicPr>
          <p:nvPr/>
        </p:nvPicPr>
        <p:blipFill>
          <a:blip r:embed="rId1"/>
          <a:stretch>
            <a:fillRect/>
          </a:stretch>
        </p:blipFill>
        <p:spPr>
          <a:xfrm>
            <a:off x="5391174" y="1830418"/>
            <a:ext cx="6251881" cy="3636077"/>
          </a:xfrm>
          <a:prstGeom prst="rect">
            <a:avLst/>
          </a:prstGeom>
        </p:spPr>
      </p:pic>
      <p:sp>
        <p:nvSpPr>
          <p:cNvPr id="7" name="Caption"/>
          <p:cNvSpPr txBox="1"/>
          <p:nvPr/>
        </p:nvSpPr>
        <p:spPr>
          <a:xfrm>
            <a:off x="5391174" y="5539646"/>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6.2. Meridian's liquidity under one automation round a year: savings paid out, recycled as designed, and recycled with shortfalls of one and two efficiency points a round.</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6.1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Two board choices decide strategy or trade</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Year 3</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from which the ring-fenced program funds itself and can run indefinitely</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$535m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core's threshold: Meridian, at $620m, is $85m inside</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 points</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of slippage a round, or paid-out savings, and it exhausts its own precondition</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Strategy or trade is not a property of the technology: the board sets it by what happens to the savings and how closely execution tracks the design</a:t>
            </a:r>
            <a:endParaRPr lang="en-US" sz="1700" dirty="0"/>
          </a:p>
          <a:p>
            <a:pPr marL="228600" indent="-228600">
              <a:spcAft>
                <a:spcPts val="800"/>
              </a:spcAft>
              <a:buSzPct val="100000"/>
              <a:buChar char="•"/>
            </a:pPr>
            <a:r>
              <a:rPr lang="en-US" sz="1700" dirty="0">
                <a:solidFill>
                  <a:schemeClr val="tx1"/>
                </a:solidFill>
              </a:rPr>
              <a:t>For discussion: which of Meridian's other playbooks, bolt-on acquisitions, annual price increases, capital recycling in Advanced Materials, renew their own preconditions?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1.6 · MODULE AXIOM-06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Sequencing Meridian's moves,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board wants a two-year program built from four moves, the sale of part of Industrial Systems with or without the shared engineering team, the digital build and the automation round, and a view on whether automation should become an annual playbook. Open AXIOM, choose Lab 1.6 and load Meridian's repertoire.</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Forge the operators</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Declare the four moves with their effects and preconditions, the floor included; inspect each domain and range.</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Compose programs</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Chain the moves two at a time; record which pass every seam and find the one that reaches technology 50.</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Test the playbook</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Repeat the round with the savings paid out and recycled; find the smallest starting liquidity of the core.</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Explore reachability</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Grow the reachable sets one step at a time against the target; tighten or loosen its tolerance.</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Stress the execution</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Set the shortfall per round and the factor L; compare the drift with the bound of Equation 6.4.</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memo recommending a two-year sequence with its seam conditions, the automation playbook's status (strategy or trade, with the core threshold), and the execution tolerance for each step. About 45–60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Operators are declared actions: domains hold the preconditions, mappings the effects, and feasibility questions become membership checks.</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Applying operators and running the company as a system are one subject in two notations; effects that rest on the environment are assumptions, not commitments.</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Programs are operators. Transformation lives in the monoid, not among reversible steps, and order can decide whether a program runs at all.</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playbook is a strategy rather than a trade exactly when today's state lies in its sustainable core; whether targets are reachable is a membership question, and complete goals need tolerances.</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Execution error is forgiven by consolidating programs and compounded by amplifying ones; set execution tolerance by the program's sensitivity factor.</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73</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86</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26106</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AXIOM-06</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1.6</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DCT_V1_Ch06_Lab.ipynb: Worked Example 6.1 and the lab's five steps in eight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DCT_V1_Ch06_Lab.xlsx: the operators, every two-move program, the playbook and its core, the reachable sets and the drift bound,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7</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7 turns acts into behavior</a:t>
            </a:r>
            <a:endParaRPr lang="en-US" sz="3200" dirty="0"/>
          </a:p>
        </p:txBody>
      </p:sp>
      <p:pic>
        <p:nvPicPr>
          <p:cNvPr id="5" name="Equation" descr="Equation: \dot{\mathbf{x}}(t) = \mathbf{A}\mathbf{x}(t) + \mathbf{B}\mathbf{u}(t) \qquad \text{and} \qquad \mathbf{x}_{k+1} = \mathbf{A}\mathbf{x}_k + \mathbf{B}\mathbf{u}_k">    </p:cNvPr>
          <p:cNvPicPr>
            <a:picLocks noChangeAspect="1"/>
          </p:cNvPicPr>
          <p:nvPr/>
        </p:nvPicPr>
        <p:blipFill>
          <a:blip r:embed="rId1"/>
          <a:stretch>
            <a:fillRect/>
          </a:stretch>
        </p:blipFill>
        <p:spPr>
          <a:xfrm>
            <a:off x="814601" y="1691640"/>
            <a:ext cx="10562492" cy="685800"/>
          </a:xfrm>
          <a:prstGeom prst="rect">
            <a:avLst/>
          </a:prstGeom>
        </p:spPr>
      </p:pic>
      <p:sp>
        <p:nvSpPr>
          <p:cNvPr id="6" name="Bullets"/>
          <p:cNvSpPr txBox="1"/>
          <p:nvPr/>
        </p:nvSpPr>
        <p:spPr>
          <a:xfrm>
            <a:off x="548640" y="2697480"/>
            <a:ext cx="11094415" cy="34747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The bridge is Theorem 6.1(iii): a policy turns a family of operators into a closed-loop system</a:t>
            </a:r>
            <a:endParaRPr lang="en-US" sz="1800" dirty="0"/>
          </a:p>
          <a:p>
            <a:pPr marL="228600" indent="-228600">
              <a:spcAft>
                <a:spcPts val="800"/>
              </a:spcAft>
              <a:buSzPct val="100000"/>
              <a:buChar char="•"/>
            </a:pPr>
            <a:r>
              <a:rPr lang="en-US" sz="1800" dirty="0">
                <a:solidFill>
                  <a:schemeClr val="bg1"/>
                </a:solidFill>
              </a:rPr>
              <a:t>Chapter 7 assembles the machine: momentum, decisions and environment, in continuous and quarterly time</a:t>
            </a:r>
            <a:endParaRPr lang="en-US" sz="1800" dirty="0"/>
          </a:p>
          <a:p>
            <a:pPr marL="228600" indent="-228600">
              <a:spcAft>
                <a:spcPts val="800"/>
              </a:spcAft>
              <a:buSzPct val="100000"/>
              <a:buChar char="•"/>
            </a:pPr>
            <a:r>
              <a:rPr lang="en-US" sz="1800" dirty="0">
                <a:solidFill>
                  <a:schemeClr val="bg1"/>
                </a:solidFill>
              </a:rPr>
              <a:t>Under a held policy steady states are chosen, and exact tests decide whether a company settles or spirals</a:t>
            </a:r>
            <a:endParaRPr lang="en-US" sz="1800" dirty="0"/>
          </a:p>
          <a:p>
            <a:pPr marL="228600" indent="-228600">
              <a:spcAft>
                <a:spcPts val="800"/>
              </a:spcAft>
              <a:buSzPct val="100000"/>
              <a:buChar char="•"/>
            </a:pPr>
            <a:r>
              <a:rPr lang="en-US" sz="1800" dirty="0">
                <a:solidFill>
                  <a:schemeClr val="bg1"/>
                </a:solidFill>
              </a:rPr>
              <a:t>Worked Example 7.1: steering Meridian's hiring harder can cause the swings it means to damp</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6: Enterprise Transformation Operators</dc:title>
  <dc:subject>Slides for Volume I, Chapter 6 (V56)</dc:subject>
  <dc:creator>Samir Asaf</dc:creator>
  <cp:lastModifiedBy>Samir Asaf</cp:lastModifiedBy>
  <cp:revision>1</cp:revision>
  <dcterms:created xsi:type="dcterms:W3CDTF">2026-10-05T08:37:40Z</dcterms:created>
  <dcterms:modified xsi:type="dcterms:W3CDTF">2026-10-05T08:37:40Z</dcterms:modified>
</cp:coreProperties>
</file>