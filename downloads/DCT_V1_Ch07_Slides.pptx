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d3bbbca-a120-92e7-47cc-e01a47e15cc2}">
          <p14:sldIdLst>
            <p14:sldId id="256"/>
            <p14:sldId id="257"/>
            <p14:sldId id="258"/>
            <p14:sldId id="259"/>
          </p14:sldIdLst>
        </p14:section>
        <p14:section name="7.1 From Acts to Behavior" id="{cca507e2-cca3-9c2a-cce2-bad3bc8cc572}">
          <p14:sldIdLst>
            <p14:sldId id="260"/>
          </p14:sldIdLst>
        </p14:section>
        <p14:section name="7.2 Dynamic Enterprise Systems and Their Equations" id="{145b5fb8-2d06-e8d6-7739-b925ad7bc9d8}">
          <p14:sldIdLst>
            <p14:sldId id="261"/>
            <p14:sldId id="262"/>
          </p14:sldIdLst>
        </p14:section>
        <p14:section name="7.3 Continuous and Discrete Time" id="{7eda9d71-903b-9a4b-a88f-5380e210486d}">
          <p14:sldIdLst>
            <p14:sldId id="263"/>
          </p14:sldIdLst>
        </p14:section>
        <p14:section name="7.4 The State Transition Structure" id="{cd3019ab-948d-3685-8c73-5e4d0e77005e}">
          <p14:sldIdLst>
            <p14:sldId id="264"/>
            <p14:sldId id="265"/>
          </p14:sldIdLst>
        </p14:section>
        <p14:section name="7.5 Enterprise Equilibria" id="{21665540-f0f2-24b9-5cb0-4703297a1807}">
          <p14:sldIdLst>
            <p14:sldId id="266"/>
          </p14:sldIdLst>
        </p14:section>
        <p14:section name="7.6 Enterprise Stability" id="{dc05523d-0894-eff1-3f70-6f703fa504da}">
          <p14:sldIdLst>
            <p14:sldId id="267"/>
            <p14:sldId id="268"/>
          </p14:sldIdLst>
        </p14:section>
        <p14:section name="7.7 Feedback in Enterprise Dynamics" id="{7c216cc9-a392-af86-fcc3-189868e42bd3}">
          <p14:sldIdLst>
            <p14:sldId id="269"/>
          </p14:sldIdLst>
        </p14:section>
        <p14:section name="Worked Example 7.1" id="{3cf9d603-d318-8213-d9f7-5ca22e315747}">
          <p14:sldIdLst>
            <p14:sldId id="270"/>
            <p14:sldId id="271"/>
            <p14:sldId id="272"/>
            <p14:sldId id="273"/>
            <p14:sldId id="274"/>
          </p14:sldIdLst>
        </p14:section>
        <p14:section name="AXIOM Lab 1.7" id="{546f2809-a6ea-9d6f-c376-e84f2c20fd36}">
          <p14:sldIdLst>
            <p14:sldId id="275"/>
          </p14:sldIdLst>
        </p14:section>
        <p14:section name="Close" id="{130ec34d-c66b-3bd7-caac-ead9e2a5537a}">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7. Chapters 5 and 6 built the two halves of a machine, the states in which a company lives and the actions by which it moves; this chapter assembles them into behavior, the Dynamic Enterprise Systems Framework (Section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Einstein's remark to reporters in New York (1930). The future arrives one period at a time; this chapter supplies the mathematics of how it unfolds, and how far ahead any model can see (Section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Proofs of Theorems 7.2, 7.4 and 7.5 are in Appendix 7.A; the formal statements and proofs of Propositions 7.1–7.5 and Theorems 7.1 and 7.3 are in Online Appendix 7.B, with the worked examples the chapter cites.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7.1. The chapter also settles debts: it proves the spectral test previewed with Equation 3.2 and Table 5.3 (Theorem 7.4), answers which internal conditions an outsider can reconstruct (Theorem 7.2(iii)), and turns the promise that a model keeps the company inside its bounds into a checkable condition (Theorem 7.1(iii)).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7.1–7.6, Proposition 7.1 (Online Appendix 7.B) and Table 7.2. Delivered outputs, the flows crossing the boundary, are shipments and service levels; Theorem 7.2(iii) determines what the reported ones can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7.1 and Section 7.2. For hybrid dynamics the discipline is to check that the jump lands in the feasible region (Definition 6.8), to rediagnose stability after the jump, since it is not inherited across a perimeter change (Theorem 2.2), and to revalidate the model, since the jump leaves its validated domain (Theorem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7.2 and Theorem 7.1; formal statements and proofs in Online Appendix 7.B, with the horizon worked in 7.B.1. The start-up's quarterly map of Chapter 5 is the Euler approximation of its logistic law: it compounds at 22.5 percent a quarter while small against about 25 percent for the law, and stands at 58.1 at year 5; with a monthly step the gap is 2.1, with a weekly one 0.5 (Online Appendix 7.B.4).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7.2(i), Equation 7.4 and Figure 7.1; proof in Appendix 7.A. Where momentum takes us and what the program adds are the two exact terms of Equation 7.4: computable, attributable, and additive. With saturation, thresholds or network effects the split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7.2(iii), Equation 7.5 and Online Appendix 7.B.2, with one unit of error on each reported number (one standard error: about 480 after four quarters, 37 after twelve, 14 after twenty, 6 after forty). A lender who needs to see the technology platform should ask for a reading of it rather than wait for it to surface in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7.3 and Proposition 7.4; proofs in Online Appendix 7.B, with the policy map worked in 7.B.3. An eigenvalue at 1 marks a direction with no restoring force, along which a held policy pins nothing. The start-up's exponential plan forecasts 443 at year 6, more than four times the entire market (Online Appendix 7.B.4).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7.4 and Remark 7.1; proof in Appendix 7.A. In such a company programs show their full effect only over a decade. Boards run informal Lyapunov arguments whenever they track a recovery scorecard and ask only that it improve every quarter; the theorem says what that practice, done exactly,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7.3 and Section 7.6. The spectral tests are the diagnosis, the rate is the budget, and Lyapunov's method is the argument without eigenvalues.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7.10, Proposition 7.5 and Theorem 7.5; proof in Appendix 7.A. Two management teams identical in the record can differ precisely where the record never went, in the crisis states. The deadbeat gain sits on a knife-edge: its virtue evaporates under model error and delays. Committees that retune a rule at every meeting run a second loop with its own overcorrection threshold (Online Appendix 7.B.8).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7.1, the situation. The gap is the bench minus the target, so Meridian starts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7.1, Steps 1–2, and Table 7.4 with a = 0.9 and b = 0.6 (Theorem 7.5(ii)).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7.1, Steps 3–4, and Figure 7.3. With the delay the eigenvalues are the roots of z² − 0.9z + 0.6γ = 0, of modulus √(0.6γ) when complex; Online Appendix 7.B.6 derives the condition and 7.B.7 works the cycle: period 5.8 quarters, swings halving only every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7.5. The overcorrecting row alternates and grows by a factor of 1.2 a quarter; with the delay the deadbeat rule's gap swings from 89 too many to 79 too few within three quarters.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7.1, what the board should take away, and the discussion question. The gain with the smallest modulus, about 0.34, is slower from Meridian's starting gap: within 5 engineers by quarter 7, against quarter 4 for 0.5 (Online Appendix 7.B.7).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1.7. What to look for: the program's contribution grows while momentum fades (Theorem 7.2(i)); readings that feed nothing reported stay invisible however long the record (Theorem 7.2(iii)); and the delay halves the safe range of hiring gains (Theorem 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lab's seed 26107 is used only for the new draws of the health-index step,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8, Stochastic Enterprise Dynamics: Theorem 8.3 (Diffusion Representation) carries this chapter's linear company into uncertainty, and its Lyapunov equation is Remark 7.1's with the noise as 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7</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7</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7 · WEEK 4</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Dynamic Enterprise Systems</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A company is a process in time: its path is momentum plus program, held policies choose its steady states, and steering harder can cause the swings it means to damp</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26107 · AXIOM Lab 1.7 (AXIOM-07)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“I never think of the future. It comes soon enough.”</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Albert Einstein</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Physics 1921; to reporters in New York (1930)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Describe a company as a dynamic system—states, decisions, environment, and reported outputs under a declared law—and relate its continuous-time and quarterly descriptions.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Split a company's path into inherited momentum and program effect, and explain when that attribution is valid.</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Determine what outsiders can learn about a company's internal state from what it reports, and explain why some conditions remain invisible.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steady states under a held policy, and use the spectral tests to decide whether a company settles, drifts, or spirals.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Analyze management rules as feedback: calibrate a rule's strength, recognize overcorrection, and explain how delays shrink the safe range.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Seven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§7.1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From Acts to Behavior</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 board's questions</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§7.2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Dynamic Enterprise Systems and Their Equations</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Definitions 7.1–7.6 · Tables 7.1–7.2</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§7.3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Continuous and Discrete Time</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7.2 · Theorem 7.1</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§7.4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State Transition Structure</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7.2 · Figure 7.1</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§7.5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Equilibria</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7.3 · Proposition 7.4</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§7.6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Stability</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7.4 · Table 7.3 · Figure 7.2</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§7.7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Feedback in Enterprise Dynamics</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7.5 · Table 7.4</a:t>
            </a:r>
            <a:endParaRPr lang="en-US" sz="1200" dirty="0"/>
          </a:p>
        </p:txBody>
      </p:sp>
      <p:sp>
        <p:nvSpPr>
          <p:cNvPr id="33" name="Card"/>
          <p:cNvSpPr/>
          <p:nvPr/>
        </p:nvSpPr>
        <p:spPr>
          <a:xfrm>
            <a:off x="5096134" y="4069080"/>
            <a:ext cx="1999427" cy="2103120"/>
          </a:xfrm>
          <a:prstGeom prst="roundRect">
            <a:avLst>
              <a:gd name="adj" fmla="val 3659"/>
            </a:avLst>
          </a:prstGeom>
          <a:solidFill>
            <a:schemeClr val="tx1"/>
          </a:solidFill>
          <a:ln w="9525">
            <a:solidFill>
              <a:srgbClr val="0F1E3D"/>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7.1</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How Hard Should Meridian Steer Its Hiring?</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7.5 · Figure 7.3</a:t>
            </a:r>
            <a:endParaRPr lang="en-US" sz="1200" dirty="0"/>
          </a:p>
        </p:txBody>
      </p:sp>
      <p:sp>
        <p:nvSpPr>
          <p:cNvPr id="37" name="Card"/>
          <p:cNvSpPr/>
          <p:nvPr/>
        </p:nvSpPr>
        <p:spPr>
          <a:xfrm>
            <a:off x="7369881" y="4069080"/>
            <a:ext cx="1999427" cy="2103120"/>
          </a:xfrm>
          <a:prstGeom prst="roundRect">
            <a:avLst>
              <a:gd name="adj" fmla="val 3659"/>
            </a:avLst>
          </a:prstGeom>
          <a:solidFill>
            <a:schemeClr val="bg2"/>
          </a:solidFill>
          <a:ln w="9525">
            <a:solidFill>
              <a:srgbClr val="C4CBD8"/>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1.7</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Steering Meridian Through Time</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AXIOM-07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§7.1 · FROM ACTS TO BEHAVIOR</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questions a board asks of a process</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If we do nothing</a:t>
            </a:r>
            <a:endParaRPr lang="en-US" sz="1300" dirty="0"/>
          </a:p>
        </p:txBody>
      </p:sp>
      <p:sp>
        <p:nvSpPr>
          <p:cNvPr id="7" name="Card head"/>
          <p:cNvSpPr txBox="1"/>
          <p:nvPr/>
        </p:nvSpPr>
        <p:spPr>
          <a:xfrm>
            <a:off x="731520" y="21488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Where does momentum carry us, and how fast?</a:t>
            </a:r>
            <a:endParaRPr lang="en-US" sz="1700" dirty="0"/>
          </a:p>
        </p:txBody>
      </p:sp>
      <p:sp>
        <p:nvSpPr>
          <p:cNvPr id="8" name="Card text"/>
          <p:cNvSpPr txBox="1"/>
          <p:nvPr/>
        </p:nvSpPr>
        <p:spPr>
          <a:xfrm>
            <a:off x="731520" y="2843784"/>
            <a:ext cx="3149498" cy="502920"/>
          </a:xfrm>
          <a:prstGeom prst="rect">
            <a:avLst/>
          </a:prstGeom>
          <a:noFill/>
          <a:ln/>
        </p:spPr>
        <p:txBody>
          <a:bodyPr wrap="square" lIns="0" tIns="0" rIns="0" bIns="0" rtlCol="0" anchor="t"/>
          <a:lstStyle/>
          <a:p>
            <a:pPr indent="0" marL="0">
              <a:buNone/>
            </a:pPr>
            <a:r>
              <a:rPr lang="en-US" sz="1400" dirty="0">
                <a:solidFill>
                  <a:schemeClr val="tx2"/>
                </a:solidFill>
              </a:rPr>
              <a:t>The free response (Section 7.4).</a:t>
            </a:r>
            <a:endParaRPr lang="en-US" sz="14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If we run the program</a:t>
            </a:r>
            <a:endParaRPr lang="en-US" sz="1300" dirty="0"/>
          </a:p>
        </p:txBody>
      </p:sp>
      <p:sp>
        <p:nvSpPr>
          <p:cNvPr id="11" name="Card head"/>
          <p:cNvSpPr txBox="1"/>
          <p:nvPr/>
        </p:nvSpPr>
        <p:spPr>
          <a:xfrm>
            <a:off x="4521098" y="21488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What does it add, year by year?</a:t>
            </a:r>
            <a:endParaRPr lang="en-US" sz="1700" dirty="0"/>
          </a:p>
        </p:txBody>
      </p:sp>
      <p:sp>
        <p:nvSpPr>
          <p:cNvPr id="12" name="Card text"/>
          <p:cNvSpPr txBox="1"/>
          <p:nvPr/>
        </p:nvSpPr>
        <p:spPr>
          <a:xfrm>
            <a:off x="4521098" y="2843784"/>
            <a:ext cx="3149498" cy="502920"/>
          </a:xfrm>
          <a:prstGeom prst="rect">
            <a:avLst/>
          </a:prstGeom>
          <a:noFill/>
          <a:ln/>
        </p:spPr>
        <p:txBody>
          <a:bodyPr wrap="square" lIns="0" tIns="0" rIns="0" bIns="0" rtlCol="0" anchor="t"/>
          <a:lstStyle/>
          <a:p>
            <a:pPr indent="0" marL="0">
              <a:buNone/>
            </a:pPr>
            <a:r>
              <a:rPr lang="en-US" sz="1400" dirty="0">
                <a:solidFill>
                  <a:schemeClr val="tx2"/>
                </a:solidFill>
              </a:rPr>
              <a:t>The forced response (Section 7.4).</a:t>
            </a:r>
            <a:endParaRPr lang="en-US" sz="1400" dirty="0"/>
          </a:p>
        </p:txBody>
      </p:sp>
      <p:sp>
        <p:nvSpPr>
          <p:cNvPr id="13" name="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If we hold this policy</a:t>
            </a:r>
            <a:endParaRPr lang="en-US" sz="1300" dirty="0"/>
          </a:p>
        </p:txBody>
      </p:sp>
      <p:sp>
        <p:nvSpPr>
          <p:cNvPr id="15" name="Card head"/>
          <p:cNvSpPr txBox="1"/>
          <p:nvPr/>
        </p:nvSpPr>
        <p:spPr>
          <a:xfrm>
            <a:off x="8310677" y="21488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Does the company settle, and where?</a:t>
            </a:r>
            <a:endParaRPr lang="en-US" sz="1700" dirty="0"/>
          </a:p>
        </p:txBody>
      </p:sp>
      <p:sp>
        <p:nvSpPr>
          <p:cNvPr id="16" name="Card text"/>
          <p:cNvSpPr txBox="1"/>
          <p:nvPr/>
        </p:nvSpPr>
        <p:spPr>
          <a:xfrm>
            <a:off x="8310677" y="2843784"/>
            <a:ext cx="3149498" cy="502920"/>
          </a:xfrm>
          <a:prstGeom prst="rect">
            <a:avLst/>
          </a:prstGeom>
          <a:noFill/>
          <a:ln/>
        </p:spPr>
        <p:txBody>
          <a:bodyPr wrap="square" lIns="0" tIns="0" rIns="0" bIns="0" rtlCol="0" anchor="t"/>
          <a:lstStyle/>
          <a:p>
            <a:pPr indent="0" marL="0">
              <a:buNone/>
            </a:pPr>
            <a:r>
              <a:rPr lang="en-US" sz="1400" dirty="0">
                <a:solidFill>
                  <a:schemeClr val="tx2"/>
                </a:solidFill>
              </a:rPr>
              <a:t>The policy map and the spectral tests (Sections 7.5–7.6).</a:t>
            </a:r>
            <a:endParaRPr lang="en-US" sz="1400" dirty="0"/>
          </a:p>
        </p:txBody>
      </p:sp>
      <p:sp>
        <p:nvSpPr>
          <p:cNvPr id="17" name="Card"/>
          <p:cNvSpPr/>
          <p:nvPr/>
        </p:nvSpPr>
        <p:spPr>
          <a:xfrm>
            <a:off x="548640" y="3749040"/>
            <a:ext cx="3515258"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If we steer</a:t>
            </a:r>
            <a:endParaRPr lang="en-US" sz="1300" dirty="0"/>
          </a:p>
        </p:txBody>
      </p:sp>
      <p:sp>
        <p:nvSpPr>
          <p:cNvPr id="19" name="Card head"/>
          <p:cNvSpPr txBox="1"/>
          <p:nvPr/>
        </p:nvSpPr>
        <p:spPr>
          <a:xfrm>
            <a:off x="731520" y="42062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How hard, and when does harder make things worse?</a:t>
            </a:r>
            <a:endParaRPr lang="en-US" sz="1700" dirty="0"/>
          </a:p>
        </p:txBody>
      </p:sp>
      <p:sp>
        <p:nvSpPr>
          <p:cNvPr id="20" name="Card text"/>
          <p:cNvSpPr txBox="1"/>
          <p:nvPr/>
        </p:nvSpPr>
        <p:spPr>
          <a:xfrm>
            <a:off x="731520" y="4901184"/>
            <a:ext cx="3149498" cy="502920"/>
          </a:xfrm>
          <a:prstGeom prst="rect">
            <a:avLst/>
          </a:prstGeom>
          <a:noFill/>
          <a:ln/>
        </p:spPr>
        <p:txBody>
          <a:bodyPr wrap="square" lIns="0" tIns="0" rIns="0" bIns="0" rtlCol="0" anchor="t"/>
          <a:lstStyle/>
          <a:p>
            <a:pPr indent="0" marL="0">
              <a:buNone/>
            </a:pPr>
            <a:r>
              <a:rPr lang="en-US" sz="1400" dirty="0">
                <a:solidFill>
                  <a:schemeClr val="tx2"/>
                </a:solidFill>
              </a:rPr>
              <a:t>Feedback gains and delays (Section 7.7).</a:t>
            </a:r>
            <a:endParaRPr lang="en-US" sz="1400" dirty="0"/>
          </a:p>
        </p:txBody>
      </p:sp>
      <p:sp>
        <p:nvSpPr>
          <p:cNvPr id="21" name="Card"/>
          <p:cNvSpPr/>
          <p:nvPr/>
        </p:nvSpPr>
        <p:spPr>
          <a:xfrm>
            <a:off x="4338218" y="3749040"/>
            <a:ext cx="3515258"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If we report</a:t>
            </a:r>
            <a:endParaRPr lang="en-US" sz="1300" dirty="0"/>
          </a:p>
        </p:txBody>
      </p:sp>
      <p:sp>
        <p:nvSpPr>
          <p:cNvPr id="23" name="Card head"/>
          <p:cNvSpPr txBox="1"/>
          <p:nvPr/>
        </p:nvSpPr>
        <p:spPr>
          <a:xfrm>
            <a:off x="4521098" y="42062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What can lenders, analysts and regulators infer?</a:t>
            </a:r>
            <a:endParaRPr lang="en-US" sz="1700" dirty="0"/>
          </a:p>
        </p:txBody>
      </p:sp>
      <p:sp>
        <p:nvSpPr>
          <p:cNvPr id="24" name="Card text"/>
          <p:cNvSpPr txBox="1"/>
          <p:nvPr/>
        </p:nvSpPr>
        <p:spPr>
          <a:xfrm>
            <a:off x="4521098" y="4901184"/>
            <a:ext cx="3149498" cy="502920"/>
          </a:xfrm>
          <a:prstGeom prst="rect">
            <a:avLst/>
          </a:prstGeom>
          <a:noFill/>
          <a:ln/>
        </p:spPr>
        <p:txBody>
          <a:bodyPr wrap="square" lIns="0" tIns="0" rIns="0" bIns="0" rtlCol="0" anchor="t"/>
          <a:lstStyle/>
          <a:p>
            <a:pPr indent="0" marL="0">
              <a:buNone/>
            </a:pPr>
            <a:r>
              <a:rPr lang="en-US" sz="1400" dirty="0">
                <a:solidFill>
                  <a:schemeClr val="tx2"/>
                </a:solidFill>
              </a:rPr>
              <a:t>Observability: a matter of rank (Section 7.4).</a:t>
            </a:r>
            <a:endParaRPr lang="en-US" sz="1400" dirty="0"/>
          </a:p>
        </p:txBody>
      </p:sp>
      <p:sp>
        <p:nvSpPr>
          <p:cNvPr id="25" name="Card"/>
          <p:cNvSpPr/>
          <p:nvPr/>
        </p:nvSpPr>
        <p:spPr>
          <a:xfrm>
            <a:off x="8127797" y="3749040"/>
            <a:ext cx="3515258" cy="1783080"/>
          </a:xfrm>
          <a:prstGeom prst="roundRect">
            <a:avLst>
              <a:gd name="adj" fmla="val 4103"/>
            </a:avLst>
          </a:prstGeom>
          <a:solidFill>
            <a:schemeClr val="tx1"/>
          </a:solidFill>
          <a:ln w="9525">
            <a:solidFill>
              <a:srgbClr val="0F1E3D"/>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Chapter 8</a:t>
            </a:r>
            <a:endParaRPr lang="en-US" sz="1300" dirty="0"/>
          </a:p>
        </p:txBody>
      </p:sp>
      <p:sp>
        <p:nvSpPr>
          <p:cNvPr id="27" name="Card head"/>
          <p:cNvSpPr txBox="1"/>
          <p:nvPr/>
        </p:nvSpPr>
        <p:spPr>
          <a:xfrm>
            <a:off x="8310677" y="4206240"/>
            <a:ext cx="3149498" cy="621792"/>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The last chapter in which the future is a point</a:t>
            </a:r>
            <a:endParaRPr lang="en-US" sz="1700" dirty="0"/>
          </a:p>
        </p:txBody>
      </p:sp>
      <p:sp>
        <p:nvSpPr>
          <p:cNvPr id="28" name="Card text"/>
          <p:cNvSpPr txBox="1"/>
          <p:nvPr/>
        </p:nvSpPr>
        <p:spPr>
          <a:xfrm>
            <a:off x="8310677" y="4901184"/>
            <a:ext cx="3149498" cy="502920"/>
          </a:xfrm>
          <a:prstGeom prst="rect">
            <a:avLst/>
          </a:prstGeom>
          <a:noFill/>
          <a:ln/>
        </p:spPr>
        <p:txBody>
          <a:bodyPr wrap="square" lIns="0" tIns="0" rIns="0" bIns="0" rtlCol="0" anchor="t"/>
          <a:lstStyle/>
          <a:p>
            <a:pPr indent="0" marL="0">
              <a:buNone/>
            </a:pPr>
            <a:r>
              <a:rPr lang="en-US" sz="1400" dirty="0">
                <a:solidFill>
                  <a:schemeClr val="bg2"/>
                </a:solidFill>
              </a:rPr>
              <a:t>Everything here is deterministic by declaration.</a:t>
            </a:r>
            <a:endParaRPr lang="en-US" sz="14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Dynamic Enterprise Systems Framework: state equations, their solutions, steady states, stability, feedback.</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§7.2 · DEFINITIONS 7.1–7.6 · TABLE 7.2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dynamic model declares its law</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DEFINITIONS 7.1–7.6</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Dynamic Enterprise System</a:t>
            </a:r>
            <a:endParaRPr lang="en-US" sz="2100" dirty="0"/>
          </a:p>
        </p:txBody>
      </p:sp>
      <p:pic>
        <p:nvPicPr>
          <p:cNvPr id="8" name="Equation" descr="Equation: \dot{\mathbf{x}} = \mathbf{A}\mathbf{x} + \mathbf{B}\mathbf{u}, \qquad \mathbf{x}_{k+1} = \mathbf{A}\mathbf{x}_k + \mathbf{B}\mathbf{u}_k, \qquad \mathbf{y} = \mathbf{C}\mathbf{x}">    </p:cNvPr>
          <p:cNvPicPr>
            <a:picLocks noChangeAspect="1"/>
          </p:cNvPicPr>
          <p:nvPr/>
        </p:nvPicPr>
        <p:blipFill>
          <a:blip r:embed="rId1"/>
          <a:stretch>
            <a:fillRect/>
          </a:stretch>
        </p:blipFill>
        <p:spPr>
          <a:xfrm>
            <a:off x="822960" y="2798413"/>
            <a:ext cx="6126480" cy="392494"/>
          </a:xfrm>
          <a:prstGeom prst="rect">
            <a:avLst/>
          </a:prstGeom>
        </p:spPr>
      </p:pic>
      <p:sp>
        <p:nvSpPr>
          <p:cNvPr id="9" name="Bullets"/>
          <p:cNvSpPr txBox="1"/>
          <p:nvPr/>
        </p:nvSpPr>
        <p:spPr>
          <a:xfrm>
            <a:off x="822960" y="3355499"/>
            <a:ext cx="6126480" cy="2679541"/>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chemeClr val="tx1"/>
                </a:solidFill>
              </a:rPr>
              <a:t>An enterprise system with a time scale and a </a:t>
            </a:r>
            <a:r>
              <a:rPr lang="en-US" sz="1600" b="1" dirty="0">
                <a:solidFill>
                  <a:schemeClr val="tx1"/>
                </a:solidFill>
              </a:rPr>
              <a:t>declared law</a:t>
            </a:r>
            <a:r>
              <a:rPr lang="en-US" sz="1600" dirty="0">
                <a:solidFill>
                  <a:schemeClr val="tx1"/>
                </a:solidFill>
              </a:rPr>
              <a:t> that generates its evolution</a:t>
            </a:r>
            <a:endParaRPr lang="en-US" sz="1600" dirty="0"/>
          </a:p>
          <a:p>
            <a:pPr marL="228600" indent="-228600">
              <a:spcAft>
                <a:spcPts val="600"/>
              </a:spcAft>
              <a:buSzPct val="100000"/>
              <a:buChar char="•"/>
            </a:pPr>
            <a:r>
              <a:rPr lang="en-US" sz="1600" b="1" dirty="0">
                <a:solidFill>
                  <a:schemeClr val="tx1"/>
                </a:solidFill>
              </a:rPr>
              <a:t>Inputs:</a:t>
            </a:r>
            <a:r>
              <a:rPr lang="en-US" sz="1600" dirty="0">
                <a:solidFill>
                  <a:schemeClr val="tx1"/>
                </a:solidFill>
              </a:rPr>
              <a:t> the decisions u, management's instrument, and the environment w; </a:t>
            </a:r>
            <a:r>
              <a:rPr lang="en-US" sz="1600" b="1" dirty="0">
                <a:solidFill>
                  <a:schemeClr val="tx1"/>
                </a:solidFill>
              </a:rPr>
              <a:t>outputs:</a:t>
            </a:r>
            <a:r>
              <a:rPr lang="en-US" sz="1600" dirty="0">
                <a:solidFill>
                  <a:schemeClr val="tx1"/>
                </a:solidFill>
              </a:rPr>
              <a:t> the reported readings y = Cx</a:t>
            </a:r>
            <a:endParaRPr lang="en-US" sz="1600" dirty="0"/>
          </a:p>
          <a:p>
            <a:pPr marL="228600" indent="-228600">
              <a:spcAft>
                <a:spcPts val="600"/>
              </a:spcAft>
              <a:buSzPct val="100000"/>
              <a:buChar char="•"/>
            </a:pPr>
            <a:r>
              <a:rPr lang="en-US" sz="1600" dirty="0">
                <a:solidFill>
                  <a:schemeClr val="tx1"/>
                </a:solidFill>
              </a:rPr>
              <a:t>Classes: autonomous or driven, time-invariant or varying, linear or nonlinear, continuous or discrete</a:t>
            </a:r>
            <a:endParaRPr lang="en-US" sz="1600" dirty="0"/>
          </a:p>
          <a:p>
            <a:pPr marL="228600" indent="-228600">
              <a:spcAft>
                <a:spcPts val="600"/>
              </a:spcAft>
              <a:buSzPct val="100000"/>
              <a:buChar char="•"/>
            </a:pPr>
            <a:r>
              <a:rPr lang="en-US" sz="1600" dirty="0">
                <a:solidFill>
                  <a:schemeClr val="tx1"/>
                </a:solidFill>
              </a:rPr>
              <a:t>The record of inputs and outputs is what boards, markets and regulators actually see</a:t>
            </a:r>
            <a:endParaRPr lang="en-US" sz="1600" dirty="0"/>
          </a:p>
        </p:txBody>
      </p:sp>
      <p:sp>
        <p:nvSpPr>
          <p:cNvPr id="10"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standing model (Table 7.2)</a:t>
            </a:r>
            <a:endParaRPr lang="en-US" sz="1600" dirty="0"/>
          </a:p>
        </p:txBody>
      </p:sp>
      <p:sp>
        <p:nvSpPr>
          <p:cNvPr id="11"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Decisions:</a:t>
            </a:r>
            <a:r>
              <a:rPr lang="en-US" sz="1600" dirty="0">
                <a:solidFill>
                  <a:schemeClr val="tx1"/>
                </a:solidFill>
              </a:rPr>
              <a:t> the capital-spending mix, the hiring rate, divestiture timing</a:t>
            </a:r>
            <a:endParaRPr lang="en-US" sz="1600" dirty="0"/>
          </a:p>
          <a:p>
            <a:pPr marL="228600" indent="-228600">
              <a:spcAft>
                <a:spcPts val="800"/>
              </a:spcAft>
              <a:buSzPct val="100000"/>
              <a:buChar char="•"/>
            </a:pPr>
            <a:r>
              <a:rPr lang="en-US" sz="1600" b="1" dirty="0">
                <a:solidFill>
                  <a:schemeClr val="tx1"/>
                </a:solidFill>
              </a:rPr>
              <a:t>Environment:</a:t>
            </a:r>
            <a:r>
              <a:rPr lang="en-US" sz="1600" dirty="0">
                <a:solidFill>
                  <a:schemeClr val="tx1"/>
                </a:solidFill>
              </a:rPr>
              <a:t> demand, interest-rate paths, competitor entry; probabilities come in Chapter 8</a:t>
            </a:r>
            <a:endParaRPr lang="en-US" sz="1600" dirty="0"/>
          </a:p>
          <a:p>
            <a:pPr marL="228600" indent="-228600">
              <a:spcAft>
                <a:spcPts val="800"/>
              </a:spcAft>
              <a:buSzPct val="100000"/>
              <a:buChar char="•"/>
            </a:pPr>
            <a:r>
              <a:rPr lang="en-US" sz="1600" b="1" dirty="0">
                <a:solidFill>
                  <a:schemeClr val="tx1"/>
                </a:solidFill>
              </a:rPr>
              <a:t>Reported:</a:t>
            </a:r>
            <a:r>
              <a:rPr lang="en-US" sz="1600" dirty="0">
                <a:solidFill>
                  <a:schemeClr val="tx1"/>
                </a:solidFill>
              </a:rPr>
              <a:t> financial statements, covenant certificates, KPI packs</a:t>
            </a:r>
            <a:endParaRPr lang="en-US" sz="1600" dirty="0"/>
          </a:p>
          <a:p>
            <a:pPr marL="228600" indent="-228600">
              <a:spcAft>
                <a:spcPts val="800"/>
              </a:spcAft>
              <a:buSzPct val="100000"/>
              <a:buChar char="•"/>
            </a:pPr>
            <a:r>
              <a:rPr lang="en-US" sz="1600" dirty="0">
                <a:solidFill>
                  <a:schemeClr val="tx1"/>
                </a:solidFill>
              </a:rPr>
              <a:t>Choosing the reported outputs is a governance decision with analytical consequences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§7.2 · TABLE 7.1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model declares its class on four axes</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50681"/>
                <a:gridCol w="4401090"/>
                <a:gridCol w="3942643"/>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Class axis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Meaning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Meridian instances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5836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Autonomous or driven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no outside influence, or driven by decisions and environment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closed simulation runs; the operating company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5836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Time-invariant or varying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law fixed, or drifting over time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stable-regime model; secular migration of demand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5836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Linear or nonlinear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effects add up, or not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analysis near today's operating point; saturation, thresholds, network effects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5836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Continuous or discrete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flows, or period-to-period maps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intraday treasury; quarterly planning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49834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The declarations are testable, and they expire: a time-invariant model of a transforming company contradicts itself once the transformation is under way.</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 sale of part of Industrial Systems is hybrid: one law until closing, a jump, and a different law after it.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§7.3 · PROPOSITION 7.2 · THEOREM 7.1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Exact clocks, and how far a model can see</a:t>
            </a:r>
            <a:endParaRPr lang="en-US" sz="3200" dirty="0"/>
          </a:p>
        </p:txBody>
      </p:sp>
      <p:sp>
        <p:nvSpPr>
          <p:cNvPr id="5" name="Result card"/>
          <p:cNvSpPr/>
          <p:nvPr/>
        </p:nvSpPr>
        <p:spPr>
          <a:xfrm>
            <a:off x="548640" y="1691640"/>
            <a:ext cx="64008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8521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7.2</a:t>
            </a:r>
            <a:endParaRPr lang="en-US" sz="1200" dirty="0"/>
          </a:p>
        </p:txBody>
      </p:sp>
      <p:sp>
        <p:nvSpPr>
          <p:cNvPr id="7" name="Text 4"/>
          <p:cNvSpPr txBox="1"/>
          <p:nvPr/>
        </p:nvSpPr>
        <p:spPr>
          <a:xfrm>
            <a:off x="822960" y="2194560"/>
            <a:ext cx="58521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Exact Discretization</a:t>
            </a:r>
            <a:endParaRPr lang="en-US" sz="2100" dirty="0"/>
          </a:p>
        </p:txBody>
      </p:sp>
      <p:pic>
        <p:nvPicPr>
          <p:cNvPr id="8" name="Equation" descr="Equation: \mathbf{x}_{k+1} = \mathbf{A}_\Delta \mathbf{x}_k + \mathbf{B}_\Delta \mathbf{u}_k, \quad \mathbf{A}_\Delta = e^{\mathbf{A}\Delta}, \quad \mathbf{B}_\Delta = \Bigl(\int_0^{\Delta} e^{\mathbf{A}s}\,\mathrm{d}s\Bigr)\mathbf{B}">    </p:cNvPr>
          <p:cNvPicPr>
            <a:picLocks noChangeAspect="1"/>
          </p:cNvPicPr>
          <p:nvPr/>
        </p:nvPicPr>
        <p:blipFill>
          <a:blip r:embed="rId1"/>
          <a:stretch>
            <a:fillRect/>
          </a:stretch>
        </p:blipFill>
        <p:spPr>
          <a:xfrm>
            <a:off x="822960" y="2743200"/>
            <a:ext cx="5633857" cy="640080"/>
          </a:xfrm>
          <a:prstGeom prst="rect">
            <a:avLst/>
          </a:prstGeom>
        </p:spPr>
      </p:pic>
      <p:sp>
        <p:nvSpPr>
          <p:cNvPr id="9" name="Bullets"/>
          <p:cNvSpPr txBox="1"/>
          <p:nvPr/>
        </p:nvSpPr>
        <p:spPr>
          <a:xfrm>
            <a:off x="822960" y="3547872"/>
            <a:ext cx="5852160" cy="2487168"/>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chemeClr val="tx1"/>
                </a:solidFill>
              </a:rPr>
              <a:t>Inputs held within each period: a continuous linear company's quarterly readings follow the discrete law </a:t>
            </a:r>
            <a:r>
              <a:rPr lang="en-US" sz="1600" b="1" dirty="0">
                <a:solidFill>
                  <a:schemeClr val="tx1"/>
                </a:solidFill>
              </a:rPr>
              <a:t>exactly</a:t>
            </a:r>
            <a:endParaRPr lang="en-US" sz="1600" dirty="0"/>
          </a:p>
          <a:p>
            <a:pPr marL="228600" indent="-228600">
              <a:spcAft>
                <a:spcPts val="600"/>
              </a:spcAft>
              <a:buSzPct val="100000"/>
              <a:buChar char="•"/>
            </a:pPr>
            <a:r>
              <a:rPr lang="en-US" sz="1600" dirty="0">
                <a:solidFill>
                  <a:schemeClr val="tx1"/>
                </a:solidFill>
              </a:rPr>
              <a:t>For nonlinear dynamics the correspondence is only approximate, and the approximation must be declared</a:t>
            </a:r>
            <a:endParaRPr lang="en-US" sz="1600" dirty="0"/>
          </a:p>
          <a:p>
            <a:pPr marL="228600" indent="-228600">
              <a:spcAft>
                <a:spcPts val="600"/>
              </a:spcAft>
              <a:buSzPct val="100000"/>
              <a:buChar char="•"/>
            </a:pPr>
            <a:r>
              <a:rPr lang="en-US" sz="1600" b="1" dirty="0">
                <a:solidFill>
                  <a:schemeClr val="tx1"/>
                </a:solidFill>
              </a:rPr>
              <a:t>Theorem 7.1.</a:t>
            </a:r>
            <a:r>
              <a:rPr lang="en-US" sz="1600" dirty="0">
                <a:solidFill>
                  <a:schemeClr val="tx1"/>
                </a:solidFill>
              </a:rPr>
              <a:t> One trajectory from each start; two trajectories drift apart at most like e</a:t>
            </a:r>
            <a:r>
              <a:rPr lang="en-US" sz="1600" baseline="30000" dirty="0">
                <a:solidFill>
                  <a:schemeClr val="tx1"/>
                </a:solidFill>
              </a:rPr>
              <a:t>Lt</a:t>
            </a:r>
            <a:r>
              <a:rPr lang="en-US" sz="1600" dirty="0">
                <a:solidFill>
                  <a:schemeClr val="tx1"/>
                </a:solidFill>
              </a:rPr>
              <a:t>; dynamics that respect the walls keep the company within its bounds</a:t>
            </a:r>
            <a:endParaRPr lang="en-US" sz="1600" dirty="0"/>
          </a:p>
        </p:txBody>
      </p:sp>
      <p:sp>
        <p:nvSpPr>
          <p:cNvPr id="10" name="Text 6"/>
          <p:cNvSpPr txBox="1"/>
          <p:nvPr/>
        </p:nvSpPr>
        <p:spPr>
          <a:xfrm>
            <a:off x="7360920" y="1737360"/>
            <a:ext cx="42821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forecastable horizon</a:t>
            </a:r>
            <a:endParaRPr lang="en-US" sz="1600" dirty="0"/>
          </a:p>
        </p:txBody>
      </p:sp>
      <p:sp>
        <p:nvSpPr>
          <p:cNvPr id="11" name="Bullets"/>
          <p:cNvSpPr txBox="1"/>
          <p:nvPr/>
        </p:nvSpPr>
        <p:spPr>
          <a:xfrm>
            <a:off x="7360920" y="2194560"/>
            <a:ext cx="42821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Capability is measured to within 5 points; decisions need it within 15; its dynamics have sensitivity 0.5 a year</a:t>
            </a:r>
            <a:endParaRPr lang="en-US" sz="1600" dirty="0"/>
          </a:p>
          <a:p>
            <a:pPr marL="228600" indent="-228600">
              <a:spcAft>
                <a:spcPts val="800"/>
              </a:spcAft>
              <a:buSzPct val="100000"/>
              <a:buChar char="•"/>
            </a:pPr>
            <a:r>
              <a:rPr lang="en-US" sz="1600" dirty="0">
                <a:solidFill>
                  <a:schemeClr val="tx1"/>
                </a:solidFill>
              </a:rPr>
              <a:t>The horizon (1/L) ln(15/5) = 2 ln 3 is about </a:t>
            </a:r>
            <a:r>
              <a:rPr lang="en-US" sz="1600" b="1" dirty="0">
                <a:solidFill>
                  <a:schemeClr val="tx1"/>
                </a:solidFill>
              </a:rPr>
              <a:t>2.2 years</a:t>
            </a:r>
            <a:endParaRPr lang="en-US" sz="1600" dirty="0"/>
          </a:p>
          <a:p>
            <a:pPr marL="228600" indent="-228600">
              <a:spcAft>
                <a:spcPts val="800"/>
              </a:spcAft>
              <a:buSzPct val="100000"/>
              <a:buChar char="•"/>
            </a:pPr>
            <a:r>
              <a:rPr lang="en-US" sz="1600" dirty="0">
                <a:solidFill>
                  <a:schemeClr val="tx1"/>
                </a:solidFill>
              </a:rPr>
              <a:t>Halving the measurement error adds 1.4 years; faster dynamics buy shorter sight</a:t>
            </a:r>
            <a:endParaRPr lang="en-US" sz="1600" dirty="0"/>
          </a:p>
          <a:p>
            <a:pPr marL="228600" indent="-228600">
              <a:spcAft>
                <a:spcPts val="800"/>
              </a:spcAft>
              <a:buSzPct val="100000"/>
              <a:buChar char="•"/>
            </a:pPr>
            <a:r>
              <a:rPr lang="en-US" sz="1600" dirty="0">
                <a:solidFill>
                  <a:schemeClr val="tx1"/>
                </a:solidFill>
              </a:rPr>
              <a:t>A model that violates the wall condition fails verification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§7.4 · THEOREM 7.2(I) · FIGURE 7.1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path is momentum plus program</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7.2(i).</a:t>
            </a:r>
            <a:r>
              <a:rPr lang="en-US" sz="1600" dirty="0">
                <a:solidFill>
                  <a:schemeClr val="tx1"/>
                </a:solidFill>
              </a:rPr>
              <a:t> In the linear regime the path is exactly the free response plus the forced response</a:t>
            </a:r>
            <a:endParaRPr lang="en-US" sz="1600" dirty="0"/>
          </a:p>
          <a:p>
            <a:pPr marL="228600" indent="-228600">
              <a:spcAft>
                <a:spcPts val="800"/>
              </a:spcAft>
              <a:buSzPct val="100000"/>
              <a:buChar char="•"/>
            </a:pPr>
            <a:r>
              <a:rPr lang="en-US" sz="1600" dirty="0">
                <a:solidFill>
                  <a:schemeClr val="tx1"/>
                </a:solidFill>
              </a:rPr>
              <a:t>Three-reading company, held investment of 8 a year: momentum alone lets technology erode from </a:t>
            </a:r>
            <a:r>
              <a:rPr lang="en-US" sz="1600" b="1" dirty="0">
                <a:solidFill>
                  <a:schemeClr val="tx1"/>
                </a:solidFill>
              </a:rPr>
              <a:t>40 to 27</a:t>
            </a:r>
            <a:r>
              <a:rPr lang="en-US" sz="1600" dirty="0">
                <a:solidFill>
                  <a:schemeClr val="tx1"/>
                </a:solidFill>
              </a:rPr>
              <a:t> over ten years</a:t>
            </a:r>
            <a:endParaRPr lang="en-US" sz="1600" dirty="0"/>
          </a:p>
          <a:p>
            <a:pPr marL="228600" indent="-228600">
              <a:spcAft>
                <a:spcPts val="800"/>
              </a:spcAft>
              <a:buSzPct val="100000"/>
              <a:buChar char="•"/>
            </a:pPr>
            <a:r>
              <a:rPr lang="en-US" sz="1600" dirty="0">
                <a:solidFill>
                  <a:schemeClr val="tx1"/>
                </a:solidFill>
              </a:rPr>
              <a:t>The program adds </a:t>
            </a:r>
            <a:r>
              <a:rPr lang="en-US" sz="1600" b="1" dirty="0">
                <a:solidFill>
                  <a:schemeClr val="tx1"/>
                </a:solidFill>
              </a:rPr>
              <a:t>25</a:t>
            </a:r>
            <a:r>
              <a:rPr lang="en-US" sz="1600" dirty="0">
                <a:solidFill>
                  <a:schemeClr val="tx1"/>
                </a:solidFill>
              </a:rPr>
              <a:t>, and the company ends at </a:t>
            </a:r>
            <a:r>
              <a:rPr lang="en-US" sz="1600" b="1" dirty="0">
                <a:solidFill>
                  <a:schemeClr val="tx1"/>
                </a:solidFill>
              </a:rPr>
              <a:t>52</a:t>
            </a:r>
            <a:r>
              <a:rPr lang="en-US" sz="1600" dirty="0">
                <a:solidFill>
                  <a:schemeClr val="tx1"/>
                </a:solidFill>
              </a:rPr>
              <a:t>, on its way to the steady state of 72</a:t>
            </a:r>
            <a:endParaRPr lang="en-US" sz="1600" dirty="0"/>
          </a:p>
          <a:p>
            <a:pPr marL="228600" indent="-228600">
              <a:spcAft>
                <a:spcPts val="800"/>
              </a:spcAft>
              <a:buSzPct val="100000"/>
              <a:buChar char="•"/>
            </a:pPr>
            <a:r>
              <a:rPr lang="en-US" sz="1600" dirty="0">
                <a:solidFill>
                  <a:schemeClr val="tx1"/>
                </a:solidFill>
              </a:rPr>
              <a:t>Outside the linear regime the split fails: attribution disputes are structural, not accounting, problems</a:t>
            </a:r>
            <a:endParaRPr lang="en-US" sz="1600" dirty="0"/>
          </a:p>
        </p:txBody>
      </p:sp>
      <p:pic>
        <p:nvPicPr>
          <p:cNvPr id="6" name="Figure" descr="Figure 7.1: momentum plus program">    </p:cNvPr>
          <p:cNvPicPr>
            <a:picLocks noChangeAspect="1"/>
          </p:cNvPicPr>
          <p:nvPr/>
        </p:nvPicPr>
        <p:blipFill>
          <a:blip r:embed="rId1"/>
          <a:stretch>
            <a:fillRect/>
          </a:stretch>
        </p:blipFill>
        <p:spPr>
          <a:xfrm>
            <a:off x="5169286" y="1931671"/>
            <a:ext cx="6473769" cy="3433570"/>
          </a:xfrm>
          <a:prstGeom prst="rect">
            <a:avLst/>
          </a:prstGeom>
        </p:spPr>
      </p:pic>
      <p:sp>
        <p:nvSpPr>
          <p:cNvPr id="7" name="Caption"/>
          <p:cNvSpPr txBox="1"/>
          <p:nvPr/>
        </p:nvSpPr>
        <p:spPr>
          <a:xfrm>
            <a:off x="5169286" y="5438393"/>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7.1. The technology reading of the three-reading company of Equation 3.2 under a held investment of 8 a year: free response, forced response, and their sum.</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§7.4 · THEOREM 7.2(III) · ONLINE APPENDIX 7.B.2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lenders can see is a matter of rank</a:t>
            </a:r>
            <a:endParaRPr lang="en-US" sz="3200" dirty="0"/>
          </a:p>
        </p:txBody>
      </p:sp>
      <p:sp>
        <p:nvSpPr>
          <p:cNvPr id="5" name="Stat card"/>
          <p:cNvSpPr/>
          <p:nvPr/>
        </p:nvSpPr>
        <p:spPr>
          <a:xfrm>
            <a:off x="548640" y="1691640"/>
            <a:ext cx="3515258" cy="1874520"/>
          </a:xfrm>
          <a:prstGeom prst="roundRect">
            <a:avLst>
              <a:gd name="adj" fmla="val 3902"/>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rank 4</a:t>
            </a:r>
            <a:endParaRPr lang="en-US" sz="40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the covenant package, liquidity and leverage, when technology feeds capability and capability feeds liquidity</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±480</a:t>
            </a:r>
            <a:endParaRPr lang="en-US" sz="40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uncertainty on technology after four quarters of certificates; still ±6 after forty</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rank 3</a:t>
            </a:r>
            <a:endParaRPr lang="en-US" sz="40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if technology feeds nothing: no record of certificates, however long, reveals the platform</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Theorem 7.2(iii).</a:t>
            </a:r>
            <a:r>
              <a:rPr lang="en-US" sz="1700" dirty="0">
                <a:solidFill>
                  <a:schemeClr val="tx1"/>
                </a:solidFill>
              </a:rPr>
              <a:t> Knowing the inputs, an outsider reconstructs the state from n periods of outputs exactly when the observability matrix has rank n</a:t>
            </a:r>
            <a:endParaRPr lang="en-US" sz="1700" dirty="0"/>
          </a:p>
          <a:p>
            <a:pPr marL="228600" indent="-228600">
              <a:spcAft>
                <a:spcPts val="800"/>
              </a:spcAft>
              <a:buSzPct val="100000"/>
              <a:buChar char="•"/>
            </a:pPr>
            <a:r>
              <a:rPr lang="en-US" sz="1700" dirty="0">
                <a:solidFill>
                  <a:schemeClr val="tx1"/>
                </a:solidFill>
              </a:rPr>
              <a:t>Technology reaches reported liquidity after two quarters, with weight 0.002: visible in principle, invisible in practice for years</a:t>
            </a:r>
            <a:endParaRPr lang="en-US" sz="1700" dirty="0"/>
          </a:p>
          <a:p>
            <a:pPr marL="228600" indent="-228600">
              <a:spcAft>
                <a:spcPts val="800"/>
              </a:spcAft>
              <a:buSzPct val="100000"/>
              <a:buChar char="•"/>
            </a:pPr>
            <a:r>
              <a:rPr lang="en-US" sz="1700" dirty="0">
                <a:solidFill>
                  <a:schemeClr val="tx1"/>
                </a:solidFill>
              </a:rPr>
              <a:t>Disclosure design is the choice of C: one reading of technology, or a KPI that loads on it, restores full rank</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§7.5 · THEOREM 7.3 · EQUATION 7.6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Held policies choose steady states</a:t>
            </a:r>
            <a:endParaRPr lang="en-US" sz="3200" dirty="0"/>
          </a:p>
        </p:txBody>
      </p:sp>
      <p:pic>
        <p:nvPicPr>
          <p:cNvPr id="5" name="Equation" descr="Equation: \mathbf{x}^{\ast}(\bar{\mathbf{u}}) \;=\; (\mathbf{I} - \mathbf{A})^{-1}\,\mathbf{B}\,\bar{\mathbf{u}}">    </p:cNvPr>
          <p:cNvPicPr>
            <a:picLocks noChangeAspect="1"/>
          </p:cNvPicPr>
          <p:nvPr/>
        </p:nvPicPr>
        <p:blipFill>
          <a:blip r:embed="rId1"/>
          <a:stretch>
            <a:fillRect/>
          </a:stretch>
        </p:blipFill>
        <p:spPr>
          <a:xfrm>
            <a:off x="3402940" y="1828800"/>
            <a:ext cx="5385816" cy="868680"/>
          </a:xfrm>
          <a:prstGeom prst="rect">
            <a:avLst/>
          </a:prstGeom>
        </p:spPr>
      </p:pic>
      <p:sp>
        <p:nvSpPr>
          <p:cNvPr id="6" name="Text 2"/>
          <p:cNvSpPr txBox="1"/>
          <p:nvPr/>
        </p:nvSpPr>
        <p:spPr>
          <a:xfrm>
            <a:off x="914400" y="283464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exactly one steady state for every held input when 1 is not an eigenvalue of A</a:t>
            </a:r>
            <a:endParaRPr lang="en-US" sz="1600" dirty="0"/>
          </a:p>
        </p:txBody>
      </p:sp>
      <p:sp>
        <p:nvSpPr>
          <p:cNvPr id="7" name="Bullets"/>
          <p:cNvSpPr txBox="1"/>
          <p:nvPr/>
        </p:nvSpPr>
        <p:spPr>
          <a:xfrm>
            <a:off x="914400" y="3429000"/>
            <a:ext cx="10362895" cy="274320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bg1"/>
                </a:solidFill>
              </a:rPr>
              <a:t>Steady states are chosen, not found: the policy map is management's long-run instrument panel</a:t>
            </a:r>
            <a:endParaRPr lang="en-US" sz="1700" dirty="0"/>
          </a:p>
          <a:p>
            <a:pPr marL="228600" indent="-228600">
              <a:spcAft>
                <a:spcPts val="800"/>
              </a:spcAft>
              <a:buSzPct val="100000"/>
              <a:buChar char="•"/>
            </a:pPr>
            <a:r>
              <a:rPr lang="en-US" sz="1700" dirty="0">
                <a:solidFill>
                  <a:schemeClr val="bg1"/>
                </a:solidFill>
              </a:rPr>
              <a:t>Each unit of yearly investment held forever adds </a:t>
            </a:r>
            <a:r>
              <a:rPr lang="en-US" sz="1700" b="1" dirty="0">
                <a:solidFill>
                  <a:schemeClr val="bg1"/>
                </a:solidFill>
              </a:rPr>
              <a:t>10.5</a:t>
            </a:r>
            <a:r>
              <a:rPr lang="en-US" sz="1700" dirty="0">
                <a:solidFill>
                  <a:schemeClr val="bg1"/>
                </a:solidFill>
              </a:rPr>
              <a:t> points of capability, </a:t>
            </a:r>
            <a:r>
              <a:rPr lang="en-US" sz="1700" b="1" dirty="0">
                <a:solidFill>
                  <a:schemeClr val="bg1"/>
                </a:solidFill>
              </a:rPr>
              <a:t>9</a:t>
            </a:r>
            <a:r>
              <a:rPr lang="en-US" sz="1700" dirty="0">
                <a:solidFill>
                  <a:schemeClr val="bg1"/>
                </a:solidFill>
              </a:rPr>
              <a:t> of technology and </a:t>
            </a:r>
            <a:r>
              <a:rPr lang="en-US" sz="1700" b="1" dirty="0">
                <a:solidFill>
                  <a:schemeClr val="bg1"/>
                </a:solidFill>
              </a:rPr>
              <a:t>7.1</a:t>
            </a:r>
            <a:r>
              <a:rPr lang="en-US" sz="1700" dirty="0">
                <a:solidFill>
                  <a:schemeClr val="bg1"/>
                </a:solidFill>
              </a:rPr>
              <a:t> of efficiency</a:t>
            </a:r>
            <a:endParaRPr lang="en-US" sz="1700" dirty="0"/>
          </a:p>
          <a:p>
            <a:pPr marL="228600" indent="-228600">
              <a:spcAft>
                <a:spcPts val="800"/>
              </a:spcAft>
              <a:buSzPct val="100000"/>
              <a:buChar char="•"/>
            </a:pPr>
            <a:r>
              <a:rPr lang="en-US" sz="1700" dirty="0">
                <a:solidFill>
                  <a:schemeClr val="bg1"/>
                </a:solidFill>
              </a:rPr>
              <a:t>A held investment of 8 settles the company at </a:t>
            </a:r>
            <a:r>
              <a:rPr lang="en-US" sz="1700" b="1" dirty="0">
                <a:solidFill>
                  <a:schemeClr val="bg1"/>
                </a:solidFill>
              </a:rPr>
              <a:t>(84, 72, 57)</a:t>
            </a:r>
            <a:r>
              <a:rPr lang="en-US" sz="1700" dirty="0">
                <a:solidFill>
                  <a:schemeClr val="bg1"/>
                </a:solidFill>
              </a:rPr>
              <a:t> against (50, 40, 60) today: efficiency, with no investment of its own, ends lower</a:t>
            </a:r>
            <a:endParaRPr lang="en-US" sz="1700" dirty="0"/>
          </a:p>
          <a:p>
            <a:pPr marL="228600" indent="-228600">
              <a:spcAft>
                <a:spcPts val="800"/>
              </a:spcAft>
              <a:buSzPct val="100000"/>
              <a:buChar char="•"/>
            </a:pPr>
            <a:r>
              <a:rPr lang="en-US" sz="1700" b="1" dirty="0">
                <a:solidFill>
                  <a:schemeClr val="bg1"/>
                </a:solidFill>
              </a:rPr>
              <a:t>Proposition 7.4.</a:t>
            </a:r>
            <a:r>
              <a:rPr lang="en-US" sz="1700" dirty="0">
                <a:solidFill>
                  <a:schemeClr val="bg1"/>
                </a:solidFill>
              </a:rPr>
              <a:t> A logistic company has two equilibria, 0 unstable and κ stable: a plan that extends the early exponential past κ/2 contradicts its own model</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§7.6 · THEOREM 7.4 · FIGURE 7.2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Inside the unit circle, shocks die out</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7.4.</a:t>
            </a:r>
            <a:r>
              <a:rPr lang="en-US" sz="1600" dirty="0">
                <a:solidFill>
                  <a:schemeClr val="tx1"/>
                </a:solidFill>
              </a:rPr>
              <a:t> Shocks die out when every eigenvalue lies inside the unit circle (discrete time) or has negative real part (continuous time)</a:t>
            </a:r>
            <a:endParaRPr lang="en-US" sz="1600" dirty="0"/>
          </a:p>
          <a:p>
            <a:pPr marL="228600" indent="-228600">
              <a:spcAft>
                <a:spcPts val="800"/>
              </a:spcAft>
              <a:buSzPct val="100000"/>
              <a:buChar char="•"/>
            </a:pPr>
            <a:r>
              <a:rPr lang="en-US" sz="1600" dirty="0">
                <a:solidFill>
                  <a:schemeClr val="tx1"/>
                </a:solidFill>
              </a:rPr>
              <a:t>The rate is a budget: the slowest eigenvalue, </a:t>
            </a:r>
            <a:r>
              <a:rPr lang="en-US" sz="1600" b="1" dirty="0">
                <a:solidFill>
                  <a:schemeClr val="tx1"/>
                </a:solidFill>
              </a:rPr>
              <a:t>0.95</a:t>
            </a:r>
            <a:r>
              <a:rPr lang="en-US" sz="1600" dirty="0">
                <a:solidFill>
                  <a:schemeClr val="tx1"/>
                </a:solidFill>
              </a:rPr>
              <a:t>, leaves half of any shock after </a:t>
            </a:r>
            <a:r>
              <a:rPr lang="en-US" sz="1600" b="1" dirty="0">
                <a:solidFill>
                  <a:schemeClr val="tx1"/>
                </a:solidFill>
              </a:rPr>
              <a:t>13.5 years</a:t>
            </a:r>
            <a:endParaRPr lang="en-US" sz="1600" dirty="0"/>
          </a:p>
          <a:p>
            <a:pPr marL="228600" indent="-228600">
              <a:spcAft>
                <a:spcPts val="800"/>
              </a:spcAft>
              <a:buSzPct val="100000"/>
              <a:buChar char="•"/>
            </a:pPr>
            <a:r>
              <a:rPr lang="en-US" sz="1600" b="1" dirty="0">
                <a:solidFill>
                  <a:schemeClr val="tx1"/>
                </a:solidFill>
              </a:rPr>
              <a:t>Lyapunov's method:</a:t>
            </a:r>
            <a:r>
              <a:rPr lang="en-US" sz="1600" dirty="0">
                <a:solidFill>
                  <a:schemeClr val="tx1"/>
                </a:solidFill>
              </a:rPr>
              <a:t> an index that is positive off target and falls every period certifies stability, with no eigenvalues</a:t>
            </a:r>
            <a:endParaRPr lang="en-US" sz="1600" dirty="0"/>
          </a:p>
          <a:p>
            <a:pPr marL="228600" indent="-228600">
              <a:spcAft>
                <a:spcPts val="800"/>
              </a:spcAft>
              <a:buSzPct val="100000"/>
              <a:buChar char="•"/>
            </a:pPr>
            <a:r>
              <a:rPr lang="en-US" sz="1600" dirty="0">
                <a:solidFill>
                  <a:schemeClr val="tx1"/>
                </a:solidFill>
              </a:rPr>
              <a:t>Remark 7.1: a stable linear company always has a quadratic health index x</a:t>
            </a:r>
            <a:r>
              <a:rPr lang="en-US" sz="1600" baseline="30000" dirty="0">
                <a:solidFill>
                  <a:schemeClr val="tx1"/>
                </a:solidFill>
              </a:rPr>
              <a:t>T</a:t>
            </a:r>
            <a:r>
              <a:rPr lang="en-US" sz="1600" dirty="0">
                <a:solidFill>
                  <a:schemeClr val="tx1"/>
                </a:solidFill>
              </a:rPr>
              <a:t>Px</a:t>
            </a:r>
            <a:endParaRPr lang="en-US" sz="1600" dirty="0"/>
          </a:p>
        </p:txBody>
      </p:sp>
      <p:pic>
        <p:nvPicPr>
          <p:cNvPr id="6" name="Figure" descr="Figure 7.2: stability at a glance">    </p:cNvPr>
          <p:cNvPicPr>
            <a:picLocks noChangeAspect="1"/>
          </p:cNvPicPr>
          <p:nvPr/>
        </p:nvPicPr>
        <p:blipFill>
          <a:blip r:embed="rId1"/>
          <a:stretch>
            <a:fillRect/>
          </a:stretch>
        </p:blipFill>
        <p:spPr>
          <a:xfrm>
            <a:off x="5391174" y="1778861"/>
            <a:ext cx="6251881" cy="3739189"/>
          </a:xfrm>
          <a:prstGeom prst="rect">
            <a:avLst/>
          </a:prstGeom>
        </p:spPr>
      </p:pic>
      <p:sp>
        <p:nvSpPr>
          <p:cNvPr id="7" name="Caption"/>
          <p:cNvSpPr txBox="1"/>
          <p:nvPr/>
        </p:nvSpPr>
        <p:spPr>
          <a:xfrm>
            <a:off x="5391174" y="5591203"/>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7.2. The three-reading company and Meridian's hiring loop under different rules, with hires acting at once or a quarter late, against the unit circle.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§7.6 · TABLE 7.3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Name the regime, then budget the recovery</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83924"/>
                <a:gridCol w="4767848"/>
                <a:gridCol w="3942643"/>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Test (linear; general)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Business reading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74980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Exponentially stable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all eigenvalues inside the unit circle (discrete) or with negative real part (continuous); a strictly decreasing health index</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shocks die out at a computable rate; convergence budgets exist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4980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Stable only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eigenvalues on the boundary, without repeated blocks; a non-increasing health index</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shocks neither die out nor grow; drift without restoration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Unstable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some eigenvalue outside the circle or with positive real part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some deviations feed on themselves; a reinforcing loop dominates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Saddle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eigenvalues on both sides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knife-edge: stable in some directions, fleeing in others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48920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7.3 completes Table 5.3 with the tests of Theorem 7.4.</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 leadership team that claims resilience is claiming eigenvalues inside the circle with a stated margin.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§7.7 · THEOREM 7.5 · TABLE 7.4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Management is a gain: read the chart</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819073"/>
                <a:gridCol w="2364384"/>
                <a:gridCol w="2637197"/>
                <a:gridCol w="3273762"/>
              </a:tblGrid>
              <a:tr h="512064">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Gain range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Coefficient a − bγ</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Behavior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Managerial reading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γ ≤ (a − 1)/b</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1 or more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divergence persists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undercorrection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− 1)/b &lt; γ &lt; a/b</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between 0 and 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steady convergence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calibrated steering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γ = a/b</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one step (deadbeat)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fastest; brittle to model error and delays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a/b &lt; γ &lt; (a + 1)/b</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between −1 and 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damped swings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aggressive but stable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12064">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γ ≥ (a + 1)/b</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−1 or less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growing swings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overcorrection: steering causes the swings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07492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One reading, x′ = ax + bu, under the rule u = −γx, with a &gt; 0 and b &gt; 0 (Theorem 7.5(ii)).</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Feedback changes the law: the closed loop is a different system, stable exactly when |a − bγ| &lt; 1.</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hard should Meridian steer its hiring?</a:t>
            </a:r>
            <a:endParaRPr lang="en-US" sz="3200" dirty="0"/>
          </a:p>
        </p:txBody>
      </p:sp>
      <p:sp>
        <p:nvSpPr>
          <p:cNvPr id="5" name="Card"/>
          <p:cNvSpPr/>
          <p:nvPr/>
        </p:nvSpPr>
        <p:spPr>
          <a:xfrm>
            <a:off x="548640" y="1691640"/>
            <a:ext cx="3515258" cy="2926080"/>
          </a:xfrm>
          <a:prstGeom prst="roundRect">
            <a:avLst>
              <a:gd name="adj" fmla="val 2500"/>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digital program</a:t>
            </a:r>
            <a:endParaRPr lang="en-US" sz="1300" dirty="0"/>
          </a:p>
        </p:txBody>
      </p:sp>
      <p:sp>
        <p:nvSpPr>
          <p:cNvPr id="7" name="Card head"/>
          <p:cNvSpPr txBox="1"/>
          <p:nvPr/>
        </p:nvSpPr>
        <p:spPr>
          <a:xfrm>
            <a:off x="731520" y="2148840"/>
            <a:ext cx="3149498" cy="117043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engineering bench is 100 short of target</a:t>
            </a:r>
            <a:endParaRPr lang="en-US" sz="2000" dirty="0"/>
          </a:p>
        </p:txBody>
      </p:sp>
      <p:sp>
        <p:nvSpPr>
          <p:cNvPr id="8" name="Card text"/>
          <p:cNvSpPr txBox="1"/>
          <p:nvPr/>
        </p:nvSpPr>
        <p:spPr>
          <a:xfrm>
            <a:off x="731520" y="3392424"/>
            <a:ext cx="3149498" cy="1097280"/>
          </a:xfrm>
          <a:prstGeom prst="rect">
            <a:avLst/>
          </a:prstGeom>
          <a:noFill/>
          <a:ln/>
        </p:spPr>
        <p:txBody>
          <a:bodyPr wrap="square" lIns="0" tIns="0" rIns="0" bIns="0" rtlCol="0" anchor="t"/>
          <a:lstStyle/>
          <a:p>
            <a:pPr indent="0" marL="0">
              <a:buNone/>
            </a:pPr>
            <a:r>
              <a:rPr lang="en-US" sz="1600" dirty="0">
                <a:solidFill>
                  <a:schemeClr val="tx2"/>
                </a:solidFill>
              </a:rPr>
              <a:t>Retraining and internal moves close 10 percent of any gap each quarter.</a:t>
            </a:r>
            <a:endParaRPr lang="en-US" sz="1600" dirty="0"/>
          </a:p>
        </p:txBody>
      </p:sp>
      <p:sp>
        <p:nvSpPr>
          <p:cNvPr id="9" name="Card"/>
          <p:cNvSpPr/>
          <p:nvPr/>
        </p:nvSpPr>
        <p:spPr>
          <a:xfrm>
            <a:off x="4338218" y="1691640"/>
            <a:ext cx="3515258" cy="2926080"/>
          </a:xfrm>
          <a:prstGeom prst="roundRect">
            <a:avLst>
              <a:gd name="adj" fmla="val 2500"/>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Human resources</a:t>
            </a:r>
            <a:endParaRPr lang="en-US" sz="1300" dirty="0"/>
          </a:p>
        </p:txBody>
      </p:sp>
      <p:sp>
        <p:nvSpPr>
          <p:cNvPr id="11" name="Card head"/>
          <p:cNvSpPr txBox="1"/>
          <p:nvPr/>
        </p:nvSpPr>
        <p:spPr>
          <a:xfrm>
            <a:off x="4521098" y="2148840"/>
            <a:ext cx="3149498" cy="117043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Approve hires equal to γ times the gap</a:t>
            </a:r>
            <a:endParaRPr lang="en-US" sz="2000" dirty="0"/>
          </a:p>
        </p:txBody>
      </p:sp>
      <p:sp>
        <p:nvSpPr>
          <p:cNvPr id="12" name="Card text"/>
          <p:cNvSpPr txBox="1"/>
          <p:nvPr/>
        </p:nvSpPr>
        <p:spPr>
          <a:xfrm>
            <a:off x="4521098" y="3392424"/>
            <a:ext cx="3149498" cy="1097280"/>
          </a:xfrm>
          <a:prstGeom prst="rect">
            <a:avLst/>
          </a:prstGeom>
          <a:noFill/>
          <a:ln/>
        </p:spPr>
        <p:txBody>
          <a:bodyPr wrap="square" lIns="0" tIns="0" rIns="0" bIns="0" rtlCol="0" anchor="t"/>
          <a:lstStyle/>
          <a:p>
            <a:pPr indent="0" marL="0">
              <a:buNone/>
            </a:pPr>
            <a:r>
              <a:rPr lang="en-US" sz="1600" dirty="0">
                <a:solidFill>
                  <a:schemeClr val="tx2"/>
                </a:solidFill>
              </a:rPr>
              <a:t>60 percent of approved external hires are productive within the quarter.</a:t>
            </a:r>
            <a:endParaRPr lang="en-US" sz="1600" dirty="0"/>
          </a:p>
        </p:txBody>
      </p:sp>
      <p:sp>
        <p:nvSpPr>
          <p:cNvPr id="13" name="Card"/>
          <p:cNvSpPr/>
          <p:nvPr/>
        </p:nvSpPr>
        <p:spPr>
          <a:xfrm>
            <a:off x="8127797" y="1691640"/>
            <a:ext cx="3515258" cy="2926080"/>
          </a:xfrm>
          <a:prstGeom prst="roundRect">
            <a:avLst>
              <a:gd name="adj" fmla="val 2500"/>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operating officer</a:t>
            </a:r>
            <a:endParaRPr lang="en-US" sz="1300" dirty="0"/>
          </a:p>
        </p:txBody>
      </p:sp>
      <p:sp>
        <p:nvSpPr>
          <p:cNvPr id="15" name="Card head"/>
          <p:cNvSpPr txBox="1"/>
          <p:nvPr/>
        </p:nvSpPr>
        <p:spPr>
          <a:xfrm>
            <a:off x="8310677" y="2148840"/>
            <a:ext cx="3149498" cy="117043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How large should γ be?</a:t>
            </a:r>
            <a:endParaRPr lang="en-US" sz="2000" dirty="0"/>
          </a:p>
        </p:txBody>
      </p:sp>
      <p:sp>
        <p:nvSpPr>
          <p:cNvPr id="16" name="Card text"/>
          <p:cNvSpPr txBox="1"/>
          <p:nvPr/>
        </p:nvSpPr>
        <p:spPr>
          <a:xfrm>
            <a:off x="8310677" y="3392424"/>
            <a:ext cx="3149498" cy="1097280"/>
          </a:xfrm>
          <a:prstGeom prst="rect">
            <a:avLst/>
          </a:prstGeom>
          <a:noFill/>
          <a:ln/>
        </p:spPr>
        <p:txBody>
          <a:bodyPr wrap="square" lIns="0" tIns="0" rIns="0" bIns="0" rtlCol="0" anchor="t"/>
          <a:lstStyle/>
          <a:p>
            <a:pPr indent="0" marL="0">
              <a:buNone/>
            </a:pPr>
            <a:r>
              <a:rPr lang="en-US" sz="1600" dirty="0">
                <a:solidFill>
                  <a:schemeClr val="bg2"/>
                </a:solidFill>
              </a:rPr>
              <a:t>Close the gap fast, without a hiring boom and bust.</a:t>
            </a:r>
            <a:endParaRPr lang="en-US" sz="1600" dirty="0"/>
          </a:p>
        </p:txBody>
      </p:sp>
      <p:sp>
        <p:nvSpPr>
          <p:cNvPr id="17" name="Lead"/>
          <p:cNvSpPr txBox="1"/>
          <p:nvPr/>
        </p:nvSpPr>
        <p:spPr>
          <a:xfrm>
            <a:off x="548640" y="48920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whole design question is one coefficient: how much of the gap survives each quarter under the rule.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STEPS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Write the loop, then read the chart</a:t>
            </a:r>
            <a:endParaRPr lang="en-US" sz="3200" dirty="0"/>
          </a:p>
        </p:txBody>
      </p:sp>
      <p:pic>
        <p:nvPicPr>
          <p:cNvPr id="5" name="Equation" descr="Equation: d_{k+1} = 0.9\,d_k + 0.6\,u_k, \quad u_k = -\gamma\,d_k \quad\Longrightarrow\quad d_{k+1} = (0.9 - 0.6\,\gamma)\,d_k">    </p:cNvPr>
          <p:cNvPicPr>
            <a:picLocks noChangeAspect="1"/>
          </p:cNvPicPr>
          <p:nvPr/>
        </p:nvPicPr>
        <p:blipFill>
          <a:blip r:embed="rId1"/>
          <a:stretch>
            <a:fillRect/>
          </a:stretch>
        </p:blipFill>
        <p:spPr>
          <a:xfrm>
            <a:off x="914400" y="1979087"/>
            <a:ext cx="10362895" cy="522386"/>
          </a:xfrm>
          <a:prstGeom prst="rect">
            <a:avLst/>
          </a:prstGeom>
        </p:spPr>
      </p:pic>
      <p:sp>
        <p:nvSpPr>
          <p:cNvPr id="6" name="Text 2"/>
          <p:cNvSpPr txBox="1"/>
          <p:nvPr/>
        </p:nvSpPr>
        <p:spPr>
          <a:xfrm>
            <a:off x="914400" y="2638633"/>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90 percent of the gap carries over; approvals arrive at 60 percent within the quarter</a:t>
            </a:r>
            <a:endParaRPr lang="en-US" sz="1600" dirty="0"/>
          </a:p>
        </p:txBody>
      </p:sp>
      <p:sp>
        <p:nvSpPr>
          <p:cNvPr id="7" name="Bullets"/>
          <p:cNvSpPr txBox="1"/>
          <p:nvPr/>
        </p:nvSpPr>
        <p:spPr>
          <a:xfrm>
            <a:off x="914400" y="3232993"/>
            <a:ext cx="10362895" cy="2939207"/>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2:</a:t>
            </a:r>
            <a:r>
              <a:rPr lang="en-US" sz="1700" dirty="0">
                <a:solidFill>
                  <a:schemeClr val="bg1"/>
                </a:solidFill>
              </a:rPr>
              <a:t> stable for gains below </a:t>
            </a:r>
            <a:r>
              <a:rPr lang="en-US" sz="1700" b="1" dirty="0">
                <a:solidFill>
                  <a:schemeClr val="bg1"/>
                </a:solidFill>
              </a:rPr>
              <a:t>1.9/0.6 ≈ 3.17</a:t>
            </a:r>
            <a:r>
              <a:rPr lang="en-US" sz="1700" dirty="0">
                <a:solidFill>
                  <a:schemeClr val="bg1"/>
                </a:solidFill>
              </a:rPr>
              <a:t>; the deadbeat gain </a:t>
            </a:r>
            <a:r>
              <a:rPr lang="en-US" sz="1700" b="1" dirty="0">
                <a:solidFill>
                  <a:schemeClr val="bg1"/>
                </a:solidFill>
              </a:rPr>
              <a:t>0.9/0.6 = 1.5</a:t>
            </a:r>
            <a:r>
              <a:rPr lang="en-US" sz="1700" dirty="0">
                <a:solidFill>
                  <a:schemeClr val="bg1"/>
                </a:solidFill>
              </a:rPr>
              <a:t> closes the gap in a single quarter</a:t>
            </a:r>
            <a:endParaRPr lang="en-US" sz="1700" dirty="0"/>
          </a:p>
          <a:p>
            <a:pPr marL="228600" indent="-228600">
              <a:spcAft>
                <a:spcPts val="800"/>
              </a:spcAft>
              <a:buSzPct val="100000"/>
              <a:buChar char="•"/>
            </a:pPr>
            <a:r>
              <a:rPr lang="en-US" sz="1700" dirty="0">
                <a:solidFill>
                  <a:schemeClr val="bg1"/>
                </a:solidFill>
              </a:rPr>
              <a:t>Gains between 1.5 and 3.17 overshoot and swing back with shrinking swings</a:t>
            </a:r>
            <a:endParaRPr lang="en-US" sz="1700" dirty="0"/>
          </a:p>
          <a:p>
            <a:pPr marL="228600" indent="-228600">
              <a:spcAft>
                <a:spcPts val="800"/>
              </a:spcAft>
              <a:buSzPct val="100000"/>
              <a:buChar char="•"/>
            </a:pPr>
            <a:r>
              <a:rPr lang="en-US" sz="1700" dirty="0">
                <a:solidFill>
                  <a:schemeClr val="bg1"/>
                </a:solidFill>
              </a:rPr>
              <a:t>Above 3.17 the rule overcorrects: at 3.5 a shortfall of 100 becomes a surplus of </a:t>
            </a:r>
            <a:r>
              <a:rPr lang="en-US" sz="1700" b="1" dirty="0">
                <a:solidFill>
                  <a:schemeClr val="bg1"/>
                </a:solidFill>
              </a:rPr>
              <a:t>120</a:t>
            </a:r>
            <a:r>
              <a:rPr lang="en-US" sz="1700" dirty="0">
                <a:solidFill>
                  <a:schemeClr val="bg1"/>
                </a:solidFill>
              </a:rPr>
              <a:t>, then a shortfall of </a:t>
            </a:r>
            <a:r>
              <a:rPr lang="en-US" sz="1700" b="1" dirty="0">
                <a:solidFill>
                  <a:schemeClr val="bg1"/>
                </a:solidFill>
              </a:rPr>
              <a:t>144</a:t>
            </a:r>
            <a:endParaRPr lang="en-US" sz="1700" dirty="0"/>
          </a:p>
          <a:p>
            <a:pPr marL="228600" indent="-228600">
              <a:spcAft>
                <a:spcPts val="800"/>
              </a:spcAft>
              <a:buSzPct val="100000"/>
              <a:buChar char="•"/>
            </a:pPr>
            <a:r>
              <a:rPr lang="en-US" sz="1700" dirty="0">
                <a:solidFill>
                  <a:schemeClr val="bg1"/>
                </a:solidFill>
              </a:rPr>
              <a:t>A hiring spree, a freeze, a bigger spree: the controller causes the oscillation</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STEPS 3–4 · FIGURE 7.3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quarter's delay makes the deadbeat rule cycle</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Step 3:</a:t>
            </a:r>
            <a:r>
              <a:rPr lang="en-US" sz="1600" dirty="0">
                <a:solidFill>
                  <a:schemeClr val="tx1"/>
                </a:solidFill>
              </a:rPr>
              <a:t> approvals take a quarter to arrive; the closed loop has two eigenvalues, and the safe range shrinks from γ &lt; 3.17 to </a:t>
            </a:r>
            <a:r>
              <a:rPr lang="en-US" sz="1600" b="1" dirty="0">
                <a:solidFill>
                  <a:schemeClr val="tx1"/>
                </a:solidFill>
              </a:rPr>
              <a:t>γ &lt; 1.67</a:t>
            </a:r>
            <a:endParaRPr lang="en-US" sz="1600" dirty="0"/>
          </a:p>
          <a:p>
            <a:pPr marL="228600" indent="-228600">
              <a:spcAft>
                <a:spcPts val="800"/>
              </a:spcAft>
              <a:buSzPct val="100000"/>
              <a:buChar char="•"/>
            </a:pPr>
            <a:r>
              <a:rPr lang="en-US" sz="1600" b="1" dirty="0">
                <a:solidFill>
                  <a:schemeClr val="tx1"/>
                </a:solidFill>
              </a:rPr>
              <a:t>Step 4:</a:t>
            </a:r>
            <a:r>
              <a:rPr lang="en-US" sz="1600" dirty="0">
                <a:solidFill>
                  <a:schemeClr val="tx1"/>
                </a:solidFill>
              </a:rPr>
              <a:t> the deadbeat rule is barely stable, modulus </a:t>
            </a:r>
            <a:r>
              <a:rPr lang="en-US" sz="1600" b="1" dirty="0">
                <a:solidFill>
                  <a:schemeClr val="tx1"/>
                </a:solidFill>
              </a:rPr>
              <a:t>0.95</a:t>
            </a:r>
            <a:r>
              <a:rPr lang="en-US" sz="1600" dirty="0">
                <a:solidFill>
                  <a:schemeClr val="tx1"/>
                </a:solidFill>
              </a:rPr>
              <a:t>: 89 too many in quarter 3, 79 too few in quarter 6</a:t>
            </a:r>
            <a:endParaRPr lang="en-US" sz="1600" dirty="0"/>
          </a:p>
          <a:p>
            <a:pPr marL="228600" indent="-228600">
              <a:spcAft>
                <a:spcPts val="800"/>
              </a:spcAft>
              <a:buSzPct val="100000"/>
              <a:buChar char="•"/>
            </a:pPr>
            <a:r>
              <a:rPr lang="en-US" sz="1600" dirty="0">
                <a:solidFill>
                  <a:schemeClr val="tx1"/>
                </a:solidFill>
              </a:rPr>
              <a:t>The cycle repeats about every six quarters and is still more than 10 engineers off a decade later</a:t>
            </a:r>
            <a:endParaRPr lang="en-US" sz="1600" dirty="0"/>
          </a:p>
          <a:p>
            <a:pPr marL="228600" indent="-228600">
              <a:spcAft>
                <a:spcPts val="800"/>
              </a:spcAft>
              <a:buSzPct val="100000"/>
              <a:buChar char="•"/>
            </a:pPr>
            <a:r>
              <a:rPr lang="en-US" sz="1600" dirty="0">
                <a:solidFill>
                  <a:schemeClr val="tx1"/>
                </a:solidFill>
              </a:rPr>
              <a:t>The cautious rule, γ = 0.5, is now the fastest: within 10 engineers by quarter 4</a:t>
            </a:r>
            <a:endParaRPr lang="en-US" sz="1600" dirty="0"/>
          </a:p>
        </p:txBody>
      </p:sp>
      <p:pic>
        <p:nvPicPr>
          <p:cNvPr id="6" name="Figure" descr="Figure 7.3: how hard to steer?">    </p:cNvPr>
          <p:cNvPicPr>
            <a:picLocks noChangeAspect="1"/>
          </p:cNvPicPr>
          <p:nvPr/>
        </p:nvPicPr>
        <p:blipFill>
          <a:blip r:embed="rId1"/>
          <a:stretch>
            <a:fillRect/>
          </a:stretch>
        </p:blipFill>
        <p:spPr>
          <a:xfrm>
            <a:off x="5545445" y="1691640"/>
            <a:ext cx="5721452" cy="3913632"/>
          </a:xfrm>
          <a:prstGeom prst="rect">
            <a:avLst/>
          </a:prstGeom>
        </p:spPr>
      </p:pic>
      <p:sp>
        <p:nvSpPr>
          <p:cNvPr id="7" name="Caption"/>
          <p:cNvSpPr txBox="1"/>
          <p:nvPr/>
        </p:nvSpPr>
        <p:spPr>
          <a:xfrm>
            <a:off x="5169286" y="5678424"/>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7.3. Meridian's hiring gap under different rules. Left: hires take effect within the quarter. Right: hires take effect a quarter late.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TABLE 7.5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gap by quarter under each rule</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674241"/>
                <a:gridCol w="824464"/>
                <a:gridCol w="824464"/>
                <a:gridCol w="824464"/>
                <a:gridCol w="824464"/>
                <a:gridCol w="824464"/>
                <a:gridCol w="824464"/>
                <a:gridCol w="824464"/>
                <a:gridCol w="824464"/>
                <a:gridCol w="824464"/>
              </a:tblGrid>
              <a:tr h="530352">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Rule (engineers, bench minus target)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3035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Cautious, γ = 0.5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−60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3035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Deadbeat, γ = 1.5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3035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Overcorrecting, γ = 3.5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120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−144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173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−207</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249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−299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358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−430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3035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Cautious, γ = 0.5, late hires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−90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30352">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Deadbeat rule, γ = 1.5, late hires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−90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89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−57</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49834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Quarters 0 to 8. Late hires: approvals take effect one quarter late.</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Without the delay the fastest rule is γ = 1.5; with it, the same rule produces a boom and bust that lasts years.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Calibrate the rule to the delays you have</a:t>
            </a:r>
            <a:endParaRPr lang="en-US" sz="3200" dirty="0"/>
          </a:p>
        </p:txBody>
      </p:sp>
      <p:sp>
        <p:nvSpPr>
          <p:cNvPr id="5" name="Stat card"/>
          <p:cNvSpPr/>
          <p:nvPr/>
        </p:nvSpPr>
        <p:spPr>
          <a:xfrm>
            <a:off x="548640" y="1691640"/>
            <a:ext cx="3515258" cy="1874520"/>
          </a:xfrm>
          <a:prstGeom prst="roundRect">
            <a:avLst>
              <a:gd name="adj" fmla="val 3902"/>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1.67</a:t>
            </a:r>
            <a:endParaRPr lang="en-US" sz="4400" dirty="0"/>
          </a:p>
        </p:txBody>
      </p:sp>
      <p:sp>
        <p:nvSpPr>
          <p:cNvPr id="7" name="Stat label"/>
          <p:cNvSpPr txBox="1"/>
          <p:nvPr/>
        </p:nvSpPr>
        <p:spPr>
          <a:xfrm>
            <a:off x="685800"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the largest safe gain once hires arrive a quarter late, against 3.17 without: the safe range halves</a:t>
            </a:r>
            <a:endParaRPr lang="en-US" sz="1400" dirty="0"/>
          </a:p>
        </p:txBody>
      </p:sp>
      <p:sp>
        <p:nvSpPr>
          <p:cNvPr id="8" name="Stat card"/>
          <p:cNvSpPr/>
          <p:nvPr/>
        </p:nvSpPr>
        <p:spPr>
          <a:xfrm>
            <a:off x="4338218" y="1691640"/>
            <a:ext cx="3515258" cy="1874520"/>
          </a:xfrm>
          <a:prstGeom prst="roundRect">
            <a:avLst>
              <a:gd name="adj" fmla="val 3902"/>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0.95</a:t>
            </a:r>
            <a:endParaRPr lang="en-US" sz="4400" dirty="0"/>
          </a:p>
        </p:txBody>
      </p:sp>
      <p:sp>
        <p:nvSpPr>
          <p:cNvPr id="10" name="Stat label"/>
          <p:cNvSpPr txBox="1"/>
          <p:nvPr/>
        </p:nvSpPr>
        <p:spPr>
          <a:xfrm>
            <a:off x="4475378" y="2697480"/>
            <a:ext cx="3240938" cy="795528"/>
          </a:xfrm>
          <a:prstGeom prst="rect">
            <a:avLst/>
          </a:prstGeom>
          <a:noFill/>
          <a:ln/>
        </p:spPr>
        <p:txBody>
          <a:bodyPr wrap="square" lIns="0" tIns="0" rIns="0" bIns="0" rtlCol="0" anchor="t"/>
          <a:lstStyle/>
          <a:p>
            <a:pPr algn="ctr" indent="0" marL="0">
              <a:buNone/>
            </a:pPr>
            <a:r>
              <a:rPr lang="en-US" sz="1400" dirty="0">
                <a:solidFill>
                  <a:schemeClr val="tx2"/>
                </a:solidFill>
              </a:rPr>
              <a:t>the deadbeat rule's modulus with the delay: a hiring boom and bust that lasts years</a:t>
            </a:r>
            <a:endParaRPr lang="en-US" sz="1400" dirty="0"/>
          </a:p>
        </p:txBody>
      </p:sp>
      <p:sp>
        <p:nvSpPr>
          <p:cNvPr id="11" name="Stat card"/>
          <p:cNvSpPr/>
          <p:nvPr/>
        </p:nvSpPr>
        <p:spPr>
          <a:xfrm>
            <a:off x="8127797" y="1691640"/>
            <a:ext cx="3515258" cy="1874520"/>
          </a:xfrm>
          <a:prstGeom prst="roundRect">
            <a:avLst>
              <a:gd name="adj" fmla="val 3902"/>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0.5</a:t>
            </a:r>
            <a:endParaRPr lang="en-US" sz="4400" dirty="0"/>
          </a:p>
        </p:txBody>
      </p:sp>
      <p:sp>
        <p:nvSpPr>
          <p:cNvPr id="13" name="Stat label"/>
          <p:cNvSpPr txBox="1"/>
          <p:nvPr/>
        </p:nvSpPr>
        <p:spPr>
          <a:xfrm>
            <a:off x="8264957" y="2697480"/>
            <a:ext cx="3240938" cy="795528"/>
          </a:xfrm>
          <a:prstGeom prst="rect">
            <a:avLst/>
          </a:prstGeom>
          <a:noFill/>
          <a:ln/>
        </p:spPr>
        <p:txBody>
          <a:bodyPr wrap="square" lIns="0" tIns="0" rIns="0" bIns="0" rtlCol="0" anchor="t"/>
          <a:lstStyle/>
          <a:p>
            <a:pPr algn="ctr" indent="0" marL="0">
              <a:buNone/>
            </a:pPr>
            <a:r>
              <a:rPr lang="en-US" sz="1400" dirty="0">
                <a:solidFill>
                  <a:schemeClr val="bg2"/>
                </a:solidFill>
              </a:rPr>
              <a:t>a gain near the cautious rule: slowest without the delay, it settles fastest with it</a:t>
            </a:r>
            <a:endParaRPr lang="en-US" sz="1400" dirty="0"/>
          </a:p>
        </p:txBody>
      </p:sp>
      <p:sp>
        <p:nvSpPr>
          <p:cNvPr id="14" name="Bullets"/>
          <p:cNvSpPr txBox="1"/>
          <p:nvPr/>
        </p:nvSpPr>
        <p:spPr>
          <a:xfrm>
            <a:off x="548640" y="3886200"/>
            <a:ext cx="11094415" cy="228600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Steering harder is not monotonically better: compute the critical gain before setting policy rather than discovering it in the headcount</a:t>
            </a:r>
            <a:endParaRPr lang="en-US" sz="1700" dirty="0"/>
          </a:p>
          <a:p>
            <a:pPr marL="228600" indent="-228600">
              <a:spcAft>
                <a:spcPts val="800"/>
              </a:spcAft>
              <a:buSzPct val="100000"/>
              <a:buChar char="•"/>
            </a:pPr>
            <a:r>
              <a:rPr lang="en-US" sz="1700" dirty="0">
                <a:solidFill>
                  <a:schemeClr val="tx1"/>
                </a:solidFill>
              </a:rPr>
              <a:t>A committee that retunes the gain at every review runs a second loop: retuned too hard, the rule itself swings ever wider (Online Appendix 7.B.8)</a:t>
            </a:r>
            <a:endParaRPr lang="en-US" sz="1700" dirty="0"/>
          </a:p>
          <a:p>
            <a:pPr marL="228600" indent="-228600">
              <a:spcAft>
                <a:spcPts val="800"/>
              </a:spcAft>
              <a:buSzPct val="100000"/>
              <a:buChar char="•"/>
            </a:pPr>
            <a:r>
              <a:rPr lang="en-US" sz="1700" dirty="0">
                <a:solidFill>
                  <a:schemeClr val="tx1"/>
                </a:solidFill>
              </a:rPr>
              <a:t>For discussion: where else does Meridian steer with a delay (pricing, inventory, capital spending), and what would a one-quarter delay do to the rules it uses there?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1.7 · MODULE AXIOM-07</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Steering Meridian through time,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executive committee is setting three standing policies for the next two years: capability investment, how aggressively to hire against the engineering gap, and what to report to lenders beyond the covenant package. Open AXIOM, choose Lab 1.7 and load the Meridian dynamics.</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Check the clock</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Sample a continuous model quarterly; compare exact discretization with a step-by-step approximation.</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Split the path</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Separate free and forced responses; move the held investment along the policy map.</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Probe the disclosure</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Choose the lender package row by row; watch the rank and the invisible directions.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Tune the hiring rule</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Sweep the gain through every regime of Table 7.4, then add a one-quarter delay.</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Certify with a health index</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Test whether a scorecard of your choosing falls every quarter along simulated paths.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memo to the executive committee recommending the investment level and its steady state, the hiring gain and its margin from instability with and without the delay, and one disclosure change with what it reveals. About 45–60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dynamic model declares its law, its time scale, and its class; continuous and quarterly descriptions of a linear company are exact translations of each other, and measurement error limits how far any model can see.</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In the linear regime a company's path is exactly momentum plus program; outside it, attribution disputes are structural, not accounting, problems.</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What outsiders can learn is a rank: readings that feed nothing reported stay invisible forever, and disclosure design is the choice of what to report.</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Held policies choose steady states through the policy map; eigenvalues inside the unit circle mean that shocks die out, at a rate that budgets recovery.</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Management is a feedback rule: undercorrection persists, calibration converges, overcorrection manufactures swings, and delays shrink the safe range.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75</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94</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26107</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AXIOM-07</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1.7</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DCT_V1_Ch07_Lab.ipynb: Worked Example 7.1 and the lab's five steps in eight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DCT_V1_Ch07_Lab.xlsx: the clock, the split, the policy map, the covenant rank, the hiring loop with and without the delay, and Lyapunov certificates,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8</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8 gives the future a distribution</a:t>
            </a:r>
            <a:endParaRPr lang="en-US" sz="3200" dirty="0"/>
          </a:p>
        </p:txBody>
      </p:sp>
      <p:pic>
        <p:nvPicPr>
          <p:cNvPr id="5" name="Equation" descr="Equation: \mathbf{m}_{k+1} = \mathbf{A}\mathbf{m}_k + \mathbf{B}\mathbf{u}_k, \qquad \boldsymbol{\Sigma}_{k+1} = \mathbf{A}\boldsymbol{\Sigma}_k\mathbf{A}^{\top} + \mathbf{G}\mathbf{Q}\mathbf{G}^{\top}">    </p:cNvPr>
          <p:cNvPicPr>
            <a:picLocks noChangeAspect="1"/>
          </p:cNvPicPr>
          <p:nvPr/>
        </p:nvPicPr>
        <p:blipFill>
          <a:blip r:embed="rId1"/>
          <a:stretch>
            <a:fillRect/>
          </a:stretch>
        </p:blipFill>
        <p:spPr>
          <a:xfrm>
            <a:off x="1493075" y="1691640"/>
            <a:ext cx="9205546" cy="685800"/>
          </a:xfrm>
          <a:prstGeom prst="rect">
            <a:avLst/>
          </a:prstGeom>
        </p:spPr>
      </p:pic>
      <p:sp>
        <p:nvSpPr>
          <p:cNvPr id="6" name="Bullets"/>
          <p:cNvSpPr txBox="1"/>
          <p:nvPr/>
        </p:nvSpPr>
        <p:spPr>
          <a:xfrm>
            <a:off x="548640" y="2697480"/>
            <a:ext cx="11094415"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The environment inputs get probabilities: the honest forecast is a distribution, and the fan chart evolves by exact rules (Equation 8.5)</a:t>
            </a:r>
            <a:endParaRPr lang="en-US" sz="1800" dirty="0"/>
          </a:p>
          <a:p>
            <a:pPr marL="228600" indent="-228600">
              <a:spcAft>
                <a:spcPts val="800"/>
              </a:spcAft>
              <a:buSzPct val="100000"/>
              <a:buChar char="•"/>
            </a:pPr>
            <a:r>
              <a:rPr lang="en-US" sz="1800" dirty="0">
                <a:solidFill>
                  <a:schemeClr val="bg1"/>
                </a:solidFill>
              </a:rPr>
              <a:t>A stable company is not still: under continual shocks it carries a volatility budget, the solution of a Lyapunov equation</a:t>
            </a:r>
            <a:endParaRPr lang="en-US" sz="1800" dirty="0"/>
          </a:p>
          <a:p>
            <a:pPr marL="228600" indent="-228600">
              <a:spcAft>
                <a:spcPts val="800"/>
              </a:spcAft>
              <a:buSzPct val="100000"/>
              <a:buChar char="•"/>
            </a:pPr>
            <a:r>
              <a:rPr lang="en-US" sz="1800" dirty="0">
                <a:solidFill>
                  <a:schemeClr val="bg1"/>
                </a:solidFill>
              </a:rPr>
              <a:t>Industrial Systems' revenue: shocks of $15m become a $21m volatility budget once their persistence is counted</a:t>
            </a:r>
            <a:endParaRPr lang="en-US" sz="1800" dirty="0"/>
          </a:p>
          <a:p>
            <a:pPr marL="228600" indent="-228600">
              <a:spcAft>
                <a:spcPts val="800"/>
              </a:spcAft>
              <a:buSzPct val="100000"/>
              <a:buChar char="•"/>
            </a:pPr>
            <a:r>
              <a:rPr lang="en-US" sz="1800" dirty="0">
                <a:solidFill>
                  <a:schemeClr val="bg1"/>
                </a:solidFill>
              </a:rPr>
              <a:t>Worked Example 8.1: a liquidity trough that looks comfortable breaches the board's floor in about one future in four</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7: Dynamic Enterprise Systems</dc:title>
  <dc:subject>Slides for Volume I, Chapter 7 (V56)</dc:subject>
  <dc:creator>Samir Asaf</dc:creator>
  <cp:lastModifiedBy>Samir Asaf</cp:lastModifiedBy>
  <cp:revision>1</cp:revision>
  <dcterms:created xsi:type="dcterms:W3CDTF">2026-10-05T09:46:48Z</dcterms:created>
  <dcterms:modified xsi:type="dcterms:W3CDTF">2026-10-05T09:46:48Z</dcterms:modified>
</cp:coreProperties>
</file>