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45b422-5743-219d-85df-f1f42b919371}">
          <p14:sldIdLst>
            <p14:sldId id="256"/>
            <p14:sldId id="257"/>
            <p14:sldId id="258"/>
            <p14:sldId id="259"/>
          </p14:sldIdLst>
        </p14:section>
        <p14:section name="8.1 Why Transformation Needs Probability" id="{f7a4e060-ac97-4295-8c0d-1f5f11cfc5ae}">
          <p14:sldIdLst>
            <p14:sldId id="260"/>
          </p14:sldIdLst>
        </p14:section>
        <p14:section name="8.2 Sources of Enterprise Uncertainty" id="{38bb8c82-8c5e-8d02-7b69-5c6a4957231c}">
          <p14:sldIdLst>
            <p14:sldId id="261"/>
          </p14:sldIdLst>
        </p14:section>
        <p14:section name="8.3 Probability Foundations" id="{6a001cfc-64aa-720b-6177-e83c7010fb2b}">
          <p14:sldIdLst>
            <p14:sldId id="262"/>
          </p14:sldIdLst>
        </p14:section>
        <p14:section name="8.4 Stochastic Systems in Discrete Time" id="{6ff6cf75-14d0-9373-b643-186699dadbe8}">
          <p14:sldIdLst>
            <p14:sldId id="263"/>
          </p14:sldIdLst>
        </p14:section>
        <p14:section name="8.5 The Evolution of Distributions" id="{766fe09b-3c60-db0e-21a2-f312a0019b8f}">
          <p14:sldIdLst>
            <p14:sldId id="264"/>
          </p14:sldIdLst>
        </p14:section>
        <p14:section name="8.6 Enterprise Diffusion" id="{131488e9-c565-2db6-b0a6-8e1e84ae9ee0}">
          <p14:sldIdLst>
            <p14:sldId id="265"/>
            <p14:sldId id="266"/>
          </p14:sldIdLst>
        </p14:section>
        <p14:section name="8.7 Jump Processes and Jump-Diffusion" id="{f5f4dee9-3e04-a641-5cbb-810d821d3a8f}">
          <p14:sldIdLst>
            <p14:sldId id="267"/>
            <p14:sldId id="268"/>
          </p14:sldIdLst>
        </p14:section>
        <p14:section name="8.8 The Flaw of Averages" id="{16982f6c-4fb5-1f48-51e6-6112403d8e25}">
          <p14:sldIdLst>
            <p14:sldId id="269"/>
          </p14:sldIdLst>
        </p14:section>
        <p14:section name="8.9 Monte Carlo Simulation" id="{2c771657-a702-cbe1-363b-d91e2c0fca0f}">
          <p14:sldIdLst>
            <p14:sldId id="270"/>
          </p14:sldIdLst>
        </p14:section>
        <p14:section name="Worked Example 8.1" id="{bb0d8227-2ef5-cb12-97ba-691fea697a1b}">
          <p14:sldIdLst>
            <p14:sldId id="271"/>
            <p14:sldId id="272"/>
            <p14:sldId id="273"/>
            <p14:sldId id="274"/>
            <p14:sldId id="275"/>
          </p14:sldIdLst>
        </p14:section>
        <p14:section name="AXIOM Lab 1.8" id="{81be9fd6-1d66-c972-b6ff-a8fb4111cd03}">
          <p14:sldIdLst>
            <p14:sldId id="276"/>
          </p14:sldIdLst>
        </p14:section>
        <p14:section name="Close" id="{bfdef80f-4ec2-8999-f088-159bd79edc2b}">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8. Chapter 7 completed the deterministic theory and named its own fiction: every environment input a known function of time. This chapter gives the environment channel a probability distribution and turns plans into odds (Section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 Samuelson in Newsweek (1966). A single forecast line hides the odds: the honest forecast is a distribution, and a transformation plan is a wager (the chapter's abstract; Proposition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8.2: Definition 8.1, Table 8.1 and Proposition 8.1. Section 8.3: Lemma 8.1, Definitions 8.2-8.4 and Tables 8.2-8.3. Section 8.4: Definition 8.5, Theorem 8.1 and Propositions 8.2-8.3. Section 8.5: Definitions 8.6-8.8, Theorem 8.2, Proposition 8.4 and Figure 8.1. Section 8.6: Definition 8.9, Theorem 8.3 and Figure 8.2. Section 8.7: Definition 8.10, Theorem 8.4 and Figure 8.3. Section 8.8: Theorem 8.5 and Proposition 8.5. Section 8.9: Table 8.4. Worked Example 8.1: Table 8.5 and Figure 8.4. AXIOM Lab 1.8: module AXIOM-08, five steps. Proofs of Theorems 8.2-8.5 are in Appendix 8.A; Lemma 8.1, Theorem 8.1 and Propositions 8.1-8.5 in Online Appendix 8.B.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8.1. The Stochastic Enterprise Dynamics Framework (SEDF) keeps the states, operators and dynamics of Chapters 5-7 and gives the environment channel a probability distribution. Sample paths scatter, but the distribution of the state moves by an exact, deterministic rule of its own (Theorem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8.1, Table 8.1 and Proposition 8.1 (formal statement and proof in Online Appendix 8.B). Uncertainty is the condition; noise its per-period increment (Definition 8.3); risk, reserved for Chapter 12, the exposure of declared objectives to that distribution. Enriching the state can turn some noise into explained dynamics, but the argument survives every finite enrichment.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8.3: probability spaces, random vectors and their laws, expectation and covariance, filtrations and conditional expectation with its tower property. Definitions 8.2-8.4: an adapted, Markov process; noise independent of today's information; the law of the state replaces “the state”. Lemma 8.1 (formal statement and proof in Online Appendix 8.B). Table 8.3 previews the processes the chapter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8.5, Theorem 8.1 (formal statement and proof in Online Appendix 8.B) and Propositions 8.2-8.3. The Markov property is a declaration about the chosen state: if shocks have memory, enlarging the state to carry it restores the property (an information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8.2 (proof in Appendix 8.A); Definitions 8.6-8.8 and Proposition 8.4. A planning process that tracks only the center line discards most of the object: the questions boards ask, a covenant breach, a funding gap, program failure, are properties of the whole distribution. A three-year fan inconsistent with its one-year fans compounded is an arithmetic error: from on plan, a quarterly chain of 0.9 and 0.3 implies 19.6 percent off plan after three quarters, not 30 (Online Appendix 8.B.2).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8.3 (proof in Appendix 8.A) and Definition 8.9. Stable companies have a volatility budget, not zero volatility: persistence inflates the naive figure by 1/√(1 − 0.49) = 1.40. Managing the persistence, a faster commercial response, shrinks the budget where managing the shocks cannot (Online Appendix 8.B.4). Online Appendix 8.B.3 solves a two-reading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8.2 and Theorem 8.3(ii). The unbounded branch is the mirror warning: a reading with no restoring force, such as the eigenvalue-one accumulators of Theorem 7.3(ii), turns steady small shocks into unbounded drift. AXIOM Lab 1.8, step 1 sweeps the persistence through one and watches the band stop settling.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8.4 (proof in Appendix 8.A), Definition 8.10 and Equation 8.6. The plan line belongs in the expected plan; the risk line is weighted by squared size, so it is dominated by large, rare events. Boards that manage event risk by expected cost alone manage half the object. Provisioning that relaxes after a shock and tenses after a quiet spell has the sign exactly wrong for memoryless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8.3 and Theorem 8.4. AXIOM Lab 1.8, step 3 generates interventions at 0.15 a year, reads the plan line and the risk line, then conditions on five quiet years: next year's chance stays at about 14 percent. Risks whose hazard genuinely rises, such as wear, fatigue or mounting political pressure, deserve a different clock; choosing it is a declaration, not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8.5 (proof in Appendix 8.A) and Proposition 8.5 (Online Appendix 8.B: 1.2^6 is about 3, 0.8^6 about 0.26). The mean workforce of Worked Example 4.1, with random attrition restored, follows that chapter's roll-up exactly. A start-up whose average path clears its cash constraint can still fail on most paths (Online Appendix 8.B.7). A step with sensitivity above one, placed late in a program, multiplies the whole fan of uncertainty the program has accumulated by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8.9, Table 8.4 and Online Appendix 8.B.5. The law of large numbers guarantees convergence and the central limit theorem supplies the error bar. Section 8.9 asks the model of Worked Example 8.1 the same question with 100, 1,000 and 10,000 paths (one standard error, in percentage points). A common mistake is to report a simulated probability without its error bar, or to trust a few hundred paths for a rare event (LOS Guidance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the situation. The plan is Chapter 1's digital liquidity path read quarterly over the program's three years; the floor is Table 5.4's, and the board's risk appetite statement tolerates at most a 5 percent chance of breaching it during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Steps 1-3; Theorems 8.3(ii) and 8.4; Section 8.9. The standard error is √(0.246 × 0.754/100,000) = 0.14 percentage points. The 100,000 paths are drawn with random seed 8 (Volume II, Online Appendix 1.B.4); the notebook reproduces them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 4; Theorem 8.5(ii); Online Appendix 8.B.6. By total probability, 0.259 × 0.709 + 0.741 × 0.084 = 0.246; by the law of total variance, 40 percent of the uncertainty about whether the floor is breached is uncertainty about whether a window closes, which is why the standby line, which acts on that channel, is the first lever to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8.5 and Step 5. A committed standby line replaces up to $100 million of any closed funding window; phasing the build makes its deepest cash draw $49 million smaller and lifts the trough to $531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what the board should take away, and the discussion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1.8. What to look for: a stable company's fan stops widening while an accumulator's never does (Theorem 8.3); quiet years do not make an event “due” (Theorem 8.4); the average trough lies well below the planned trough (Theorem 8.5). Discussion: which plan numbers would you restate as probabilities, and with what error bars? How would you explain to the board that the plan's trough and the average trough differ by almost $100 million? Which lever would you fund first,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simulation is drawn, as in the book, with random seed 8 (Volume II, Online Appendix 1.B.4); the lab's seed 26108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9's opening (Section 9.1 and the abstract) and the bridge from Section 8.1: within this volume, the risk architecture of Chapter 12 is built directly on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8 · WEEK 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Stochastic Enterprise Dynamics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Every transformation plan is a wager: the honest forecast is a distribution, and every risk is reported as odds with an error bar</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26108 · AXIOM Lab 1.8 (AXIOM-08)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“Wall Street indexes predicted nine out of the last five recessions!”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Paul A. Samuelson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1970; Newsweek (1966)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transformation plan needs probability: where uncertainty enters a company model, and why the honest forecast is a distribution of outcomes rather than a single path.</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how the distribution of a company's state evolves—the fan chart as the forecast—and test whether multi-year risk views are consistent with one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steady accumulation of small shocks from discrete events, and use each to size a company's volatility budget and the plan and risk lines of an event exposure.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when a deterministic plan is the correct average and when curvature biases it (the flaw of averages), and how programs amplify or damp the uncertainty they inherit.</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Estimate risks such as a liquidity breach by Monte Carlo simulation, and report each estimate with an honest error bar.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Transformation Needs Probability</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Sources of Enterprise Uncertainty</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Probability Foundations for Enterprise Analysis</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Stochastic Enterprise Systems in Discrete Time</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Evolution of Enterprise State Distributions</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Diffusion</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Jump Processes and Jump-Diffusion</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Expected Evolution and the Flaw of Averages</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Monte Carlo Simulation of Enterprise Dynamics</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8.1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Will the Digital Program Breach the Floor?</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1.8</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Putting Odds on Meridian's Plan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§8.1 · WHY TRANSFORMATION NEEDS PROBABILITY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Transformation decisions are wagers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7's fiction</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Every environment input a known function of time</a:t>
            </a:r>
            <a:endParaRPr lang="en-US" sz="16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No operating executive recognizes that world.</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arrives at random</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Demand varies; funding markets open and shut</a:t>
            </a:r>
            <a:endParaRPr lang="en-US" sz="16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Technologies leap, regulators intervene, key people resign on Tuesdays.</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Not wasted</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For linear companies, exactly the theory of the average</a:t>
            </a:r>
            <a:endParaRPr lang="en-US" sz="16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Theorem 8.5: the deterministic plan, read as a mean.</a:t>
            </a:r>
            <a:endParaRPr lang="en-US" sz="1400" dirty="0"/>
          </a:p>
        </p:txBody>
      </p:sp>
      <p:sp>
        <p:nvSpPr>
          <p:cNvPr id="17" name="Card"/>
          <p:cNvSpPr/>
          <p:nvPr/>
        </p:nvSpPr>
        <p:spPr>
          <a:xfrm>
            <a:off x="548640" y="3749040"/>
            <a:ext cx="351525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One idea</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The distribution of futures is the object of prediction</a:t>
            </a:r>
            <a:endParaRPr lang="en-US" sz="16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bg2"/>
                </a:solidFill>
              </a:rPr>
              <a:t>Determinism relocated one level up: from the path to the fan chart.</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Proved here</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Discrete time, Gaussian propagation, events, Jensen</a:t>
            </a:r>
            <a:endParaRPr lang="en-US" sz="16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Brownian motion and SDEs stated with precise hypotheses.</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Left for Volume II</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Stochastic control and filtering</a:t>
            </a:r>
            <a:endParaRPr lang="en-US" sz="16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Chapter 12's risk architecture is built on this chapter.</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 theory of transformation that cannot say “with what probability” has not yet met its subject.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§8.2 · DEFINITION 8.1 · TABLE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Uncertainty enters through declared channels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98792"/>
                <a:gridCol w="4197887"/>
                <a:gridCol w="4497736"/>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Channel into the model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Typical shape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and demand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revenue and market-share dynamics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mean-reverting fluctuation; seasonal noise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markets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and availability of funding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fluctuation with occasional regime jumps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and platform shifts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jumps (breakthroughs) on top of drift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Regulation and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resets of constraints and costs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interventions at random dates, with random size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Behavior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attrition, adoption, execution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noise on rates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throughput, quality, outages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high-frequency noise; rare large events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8.1. Declaring which quantities are random, and with what distributions, is part of the modeling contract (Definition 8.1).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8.1.</a:t>
            </a:r>
            <a:r>
              <a:rPr lang="en-US" sz="1600" dirty="0">
                <a:solidFill>
                  <a:schemeClr val="accent2"/>
                </a:solidFill>
              </a:rPr>
              <a:t> Futures that agree with every record can still diverge: the honest forecast is a distribution.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§8.3 · LEMMA 8.1 · TABLE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deterministic object has a stochastic twin</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598692"/>
                <a:gridCol w="3598189"/>
                <a:gridCol w="4897535"/>
              </a:tblGrid>
              <a:tr h="42062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Object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Deterministic (Chapter 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Stochastic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scenario w(t)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random input with a declared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Trajectory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state 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sample paths and their laws μₖ</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Law of motion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map 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probabilities P (Theorem 8.2)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Equilibrium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fixed point 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stationary distribution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spectral radius below 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variance that settles (Theorem 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Forecast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good for a horizon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fan chart that widens and may settle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Board question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where will we be?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with what probability?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8.2, the translation dictionary the chapter fills in entry by entry.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Lemma 8.1.</a:t>
            </a:r>
            <a:r>
              <a:rPr lang="en-US" sz="1600" dirty="0">
                <a:solidFill>
                  <a:schemeClr val="accent2"/>
                </a:solidFill>
              </a:rPr>
              <a:t> Tomorrow's noise is averaged out at the known current state.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§8.4 · EQUATION 8.1 · THEOREM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random path for each starting state</a:t>
            </a:r>
            <a:endParaRPr lang="en-US" sz="3200" dirty="0"/>
          </a:p>
        </p:txBody>
      </p:sp>
      <p:pic>
        <p:nvPicPr>
          <p:cNvPr id="5" name="Equation" descr="Equation: \mathbf{X}_{k+1} \;=\; f\bigl(\mathbf{X}_k,\, \mathbf{u}_k,\, \mathbf{w}_k\bigr), \qquad \mathbf{X}_0 = \mathbf{x}_0">    </p:cNvPr>
          <p:cNvPicPr>
            <a:picLocks noChangeAspect="1"/>
          </p:cNvPicPr>
          <p:nvPr/>
        </p:nvPicPr>
        <p:blipFill>
          <a:blip r:embed="rId1"/>
          <a:stretch>
            <a:fillRect/>
          </a:stretch>
        </p:blipFill>
        <p:spPr>
          <a:xfrm>
            <a:off x="2123364" y="1828800"/>
            <a:ext cx="7944967" cy="822960"/>
          </a:xfrm>
          <a:prstGeom prst="rect">
            <a:avLst/>
          </a:prstGeom>
        </p:spPr>
      </p:pic>
      <p:sp>
        <p:nvSpPr>
          <p:cNvPr id="6" name="Text 2"/>
          <p:cNvSpPr txBox="1"/>
          <p:nvPr/>
        </p:nvSpPr>
        <p:spPr>
          <a:xfrm>
            <a:off x="914400" y="278892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Chapter 2's enterprise system with its environment input made random; decisions declared in advance or set by a policy</a:t>
            </a:r>
            <a:endParaRPr lang="en-US" sz="1600" dirty="0"/>
          </a:p>
        </p:txBody>
      </p:sp>
      <p:sp>
        <p:nvSpPr>
          <p:cNvPr id="7" name="Bullets"/>
          <p:cNvSpPr txBox="1"/>
          <p:nvPr/>
        </p:nvSpPr>
        <p:spPr>
          <a:xfrm>
            <a:off x="914400" y="3383280"/>
            <a:ext cx="10362895" cy="27889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Theorem 8.1.</a:t>
            </a:r>
            <a:r>
              <a:rPr lang="en-US" sz="1700" dirty="0">
                <a:solidFill>
                  <a:schemeClr val="bg1"/>
                </a:solidFill>
              </a:rPr>
              <a:t> The recursion defines exactly one random path for each starting state, and it is Markov: given today's state, the history adds nothing to the odds</a:t>
            </a:r>
            <a:endParaRPr lang="en-US" sz="1700" dirty="0"/>
          </a:p>
          <a:p>
            <a:pPr marL="228600" indent="-228600">
              <a:spcAft>
                <a:spcPts val="800"/>
              </a:spcAft>
              <a:buSzPct val="100000"/>
              <a:buChar char="•"/>
            </a:pPr>
            <a:r>
              <a:rPr lang="en-US" sz="1700" dirty="0">
                <a:solidFill>
                  <a:schemeClr val="bg1"/>
                </a:solidFill>
              </a:rPr>
              <a:t>In continuous time the stochastic differential equation has one continuous solution when drift and volatility respond with bounded sensitivity and grow at most linearly (cited)</a:t>
            </a:r>
            <a:endParaRPr lang="en-US" sz="1700" dirty="0"/>
          </a:p>
          <a:p>
            <a:pPr marL="228600" indent="-228600">
              <a:spcAft>
                <a:spcPts val="800"/>
              </a:spcAft>
              <a:buSzPct val="100000"/>
              <a:buChar char="•"/>
            </a:pPr>
            <a:r>
              <a:rPr lang="en-US" sz="1700" b="1" dirty="0">
                <a:solidFill>
                  <a:schemeClr val="bg1"/>
                </a:solidFill>
              </a:rPr>
              <a:t>Proposition 8.2.</a:t>
            </a:r>
            <a:r>
              <a:rPr lang="en-US" sz="1700" dirty="0">
                <a:solidFill>
                  <a:schemeClr val="bg1"/>
                </a:solidFill>
              </a:rPr>
              <a:t> Every path statistic, its trough, the date it first crosses a threshold, its horizon value, has a distribution</a:t>
            </a:r>
            <a:endParaRPr lang="en-US" sz="1700" dirty="0"/>
          </a:p>
          <a:p>
            <a:pPr marL="228600" indent="-228600">
              <a:spcAft>
                <a:spcPts val="800"/>
              </a:spcAft>
              <a:buSzPct val="100000"/>
              <a:buChar char="•"/>
            </a:pPr>
            <a:r>
              <a:rPr lang="en-US" sz="1700" b="1" dirty="0">
                <a:solidFill>
                  <a:schemeClr val="bg1"/>
                </a:solidFill>
              </a:rPr>
              <a:t>Proposition 8.3.</a:t>
            </a:r>
            <a:r>
              <a:rPr lang="en-US" sz="1700" dirty="0">
                <a:solidFill>
                  <a:schemeClr val="bg1"/>
                </a:solidFill>
              </a:rPr>
              <a:t> With no spread in the noise, every result reduces to Chapter 7's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§8.5 · THEOREM 8.2 · FIGURE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fan chart is the forecast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8.2(i).</a:t>
            </a:r>
            <a:r>
              <a:rPr lang="en-US" sz="1600" dirty="0">
                <a:solidFill>
                  <a:schemeClr val="tx1"/>
                </a:solidFill>
              </a:rPr>
              <a:t> Paths are random; their distribution moves by an exact rule</a:t>
            </a:r>
            <a:endParaRPr lang="en-US" sz="1600" dirty="0"/>
          </a:p>
          <a:p>
            <a:pPr marL="228600" indent="-228600">
              <a:spcAft>
                <a:spcPts val="800"/>
              </a:spcAft>
              <a:buSzPct val="100000"/>
              <a:buChar char="•"/>
            </a:pPr>
            <a:r>
              <a:rPr lang="en-US" sz="1600" b="1" dirty="0">
                <a:solidFill>
                  <a:schemeClr val="tx1"/>
                </a:solidFill>
              </a:rPr>
              <a:t>(ii)</a:t>
            </a:r>
            <a:r>
              <a:rPr lang="en-US" sz="1600" dirty="0">
                <a:solidFill>
                  <a:schemeClr val="tx1"/>
                </a:solidFill>
              </a:rPr>
              <a:t> Multi-period odds compose: a three-year fan must match its one-year fans</a:t>
            </a:r>
            <a:endParaRPr lang="en-US" sz="1600" dirty="0"/>
          </a:p>
          <a:p>
            <a:pPr marL="228600" indent="-228600">
              <a:spcAft>
                <a:spcPts val="800"/>
              </a:spcAft>
              <a:buSzPct val="100000"/>
              <a:buChar char="•"/>
            </a:pPr>
            <a:r>
              <a:rPr lang="en-US" sz="1600" dirty="0">
                <a:solidFill>
                  <a:schemeClr val="tx1"/>
                </a:solidFill>
              </a:rPr>
              <a:t>After a strong quarter, Meridian's revenue fan drifts back toward plan and widens</a:t>
            </a:r>
            <a:endParaRPr lang="en-US" sz="1600" dirty="0"/>
          </a:p>
          <a:p>
            <a:pPr marL="228600" indent="-228600">
              <a:spcAft>
                <a:spcPts val="800"/>
              </a:spcAft>
              <a:buSzPct val="100000"/>
              <a:buChar char="•"/>
            </a:pPr>
            <a:r>
              <a:rPr lang="en-US" sz="1600" dirty="0">
                <a:solidFill>
                  <a:schemeClr val="tx1"/>
                </a:solidFill>
              </a:rPr>
              <a:t>It settles at a standard deviation of </a:t>
            </a:r>
            <a:r>
              <a:rPr lang="en-US" sz="1600" b="1" dirty="0">
                <a:solidFill>
                  <a:schemeClr val="tx1"/>
                </a:solidFill>
              </a:rPr>
              <a:t>$21m</a:t>
            </a:r>
            <a:r>
              <a:rPr lang="en-US" sz="1600" dirty="0">
                <a:solidFill>
                  <a:schemeClr val="tx1"/>
                </a:solidFill>
              </a:rPr>
              <a:t>: the fan, not its center, is the forecast</a:t>
            </a:r>
            <a:endParaRPr lang="en-US" sz="1600" dirty="0"/>
          </a:p>
        </p:txBody>
      </p:sp>
      <p:pic>
        <p:nvPicPr>
          <p:cNvPr id="6" name="Figure" descr="Figure 8.1: the forecast is a distribution">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8.1. Industrial Systems' revenue deviation, R′ = 0.7R + w with shocks of sd $15m, after a strong quarter; the shaded tail is the long-run chance of falling $45m or more short of plan.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THEOREM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Stable companies have a volatility budget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Diffusion Representation Theorem</a:t>
            </a:r>
            <a:endParaRPr lang="en-US" sz="2100" dirty="0"/>
          </a:p>
        </p:txBody>
      </p:sp>
      <p:pic>
        <p:nvPicPr>
          <p:cNvPr id="8" name="Equation" descr="Equation: \boldsymbol{\Sigma}_{k+1} \;=\; \mathbf{A}\boldsymbol{\Sigma}_k\mathbf{A}^{\top} \;+\; \mathbf{G}\mathbf{Q}\mathbf{G}^{\top}">    </p:cNvPr>
          <p:cNvPicPr>
            <a:picLocks noChangeAspect="1"/>
          </p:cNvPicPr>
          <p:nvPr/>
        </p:nvPicPr>
        <p:blipFill>
          <a:blip r:embed="rId1"/>
          <a:stretch>
            <a:fillRect/>
          </a:stretch>
        </p:blipFill>
        <p:spPr>
          <a:xfrm>
            <a:off x="822960" y="2743200"/>
            <a:ext cx="4034614" cy="548640"/>
          </a:xfrm>
          <a:prstGeom prst="rect">
            <a:avLst/>
          </a:prstGeom>
        </p:spPr>
      </p:pic>
      <p:sp>
        <p:nvSpPr>
          <p:cNvPr id="9" name="Bullets"/>
          <p:cNvSpPr txBox="1"/>
          <p:nvPr/>
        </p:nvSpPr>
        <p:spPr>
          <a:xfrm>
            <a:off x="822960" y="3456432"/>
            <a:ext cx="5394960" cy="257860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In the linear company the state stays normal; its mean and covariance follow exact recursions</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Stable: the covariance settles at the Lyapunov solution. With no restoring force it grows without bound</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Small, frequent shocks give the Ornstein–Uhlenbeck process; the scaled random walk, Brownian motion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Revenue: R′ = 0.7R + w, with shocks of sd $15m</a:t>
            </a:r>
            <a:endParaRPr lang="en-US" sz="1600" dirty="0"/>
          </a:p>
          <a:p>
            <a:pPr marL="228600" indent="-228600">
              <a:spcAft>
                <a:spcPts val="800"/>
              </a:spcAft>
              <a:buSzPct val="100000"/>
              <a:buChar char="•"/>
            </a:pPr>
            <a:r>
              <a:rPr lang="en-US" sz="1600" dirty="0">
                <a:solidFill>
                  <a:schemeClr val="tx1"/>
                </a:solidFill>
              </a:rPr>
              <a:t>Long-run variance 15</a:t>
            </a:r>
            <a:r>
              <a:rPr lang="en-US" sz="1600" baseline="30000" dirty="0">
                <a:solidFill>
                  <a:schemeClr val="tx1"/>
                </a:solidFill>
              </a:rPr>
              <a:t>2</a:t>
            </a:r>
            <a:r>
              <a:rPr lang="en-US" sz="1600" dirty="0">
                <a:solidFill>
                  <a:schemeClr val="tx1"/>
                </a:solidFill>
              </a:rPr>
              <a:t>/(1 − 0.7</a:t>
            </a:r>
            <a:r>
              <a:rPr lang="en-US" sz="1600" baseline="30000" dirty="0">
                <a:solidFill>
                  <a:schemeClr val="tx1"/>
                </a:solidFill>
              </a:rPr>
              <a:t>2</a:t>
            </a:r>
            <a:r>
              <a:rPr lang="en-US" sz="1600" dirty="0">
                <a:solidFill>
                  <a:schemeClr val="tx1"/>
                </a:solidFill>
              </a:rPr>
              <a:t>) ≈ 441: a budget of </a:t>
            </a:r>
            <a:r>
              <a:rPr lang="en-US" sz="1600" b="1" dirty="0">
                <a:solidFill>
                  <a:schemeClr val="tx1"/>
                </a:solidFill>
              </a:rPr>
              <a:t>$21m</a:t>
            </a:r>
            <a:r>
              <a:rPr lang="en-US" sz="1600" dirty="0">
                <a:solidFill>
                  <a:schemeClr val="tx1"/>
                </a:solidFill>
              </a:rPr>
              <a:t>, not $15m</a:t>
            </a:r>
            <a:endParaRPr lang="en-US" sz="1600" dirty="0"/>
          </a:p>
          <a:p>
            <a:pPr marL="228600" indent="-228600">
              <a:spcAft>
                <a:spcPts val="800"/>
              </a:spcAft>
              <a:buSzPct val="100000"/>
              <a:buChar char="•"/>
            </a:pPr>
            <a:r>
              <a:rPr lang="en-US" sz="1600" dirty="0">
                <a:solidFill>
                  <a:schemeClr val="tx1"/>
                </a:solidFill>
              </a:rPr>
              <a:t>A covenant test $45m below plan fails in 1.6% of quarters, not 0.13%</a:t>
            </a:r>
            <a:endParaRPr lang="en-US" sz="1600" dirty="0"/>
          </a:p>
          <a:p>
            <a:pPr marL="228600" indent="-228600">
              <a:spcAft>
                <a:spcPts val="800"/>
              </a:spcAft>
              <a:buSzPct val="100000"/>
              <a:buChar char="•"/>
            </a:pPr>
            <a:r>
              <a:rPr lang="en-US" sz="1600" dirty="0">
                <a:solidFill>
                  <a:schemeClr val="tx1"/>
                </a:solidFill>
              </a:rPr>
              <a:t>Halving the persistence cuts the budget to $16.0m and the chance sixfold</a:t>
            </a:r>
            <a:endParaRPr lang="en-US" sz="1600" dirty="0"/>
          </a:p>
          <a:p>
            <a:pPr marL="228600" indent="-228600">
              <a:spcAft>
                <a:spcPts val="800"/>
              </a:spcAft>
              <a:buSzPct val="100000"/>
              <a:buChar char="•"/>
            </a:pPr>
            <a:r>
              <a:rPr lang="en-US" sz="1600" dirty="0">
                <a:solidFill>
                  <a:schemeClr val="tx1"/>
                </a:solidFill>
              </a:rPr>
              <a:t>Excess measured variance flags undeclared noise or unmodeled dynamics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FIGURE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Without a restoring force, the band never settles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With 70% of a shock carried over, the band stops widening at ±2 × $21m</a:t>
            </a:r>
            <a:endParaRPr lang="en-US" sz="1600" dirty="0"/>
          </a:p>
          <a:p>
            <a:pPr marL="228600" indent="-228600">
              <a:spcAft>
                <a:spcPts val="800"/>
              </a:spcAft>
              <a:buSzPct val="100000"/>
              <a:buChar char="•"/>
            </a:pPr>
            <a:r>
              <a:rPr lang="en-US" sz="1600" dirty="0">
                <a:solidFill>
                  <a:schemeClr val="tx1"/>
                </a:solidFill>
              </a:rPr>
              <a:t>With every shock permanent, R′ = R + w, it widens like the square root of time</a:t>
            </a:r>
            <a:endParaRPr lang="en-US" sz="1600" dirty="0"/>
          </a:p>
          <a:p>
            <a:pPr marL="228600" indent="-228600">
              <a:spcAft>
                <a:spcPts val="800"/>
              </a:spcAft>
              <a:buSzPct val="100000"/>
              <a:buChar char="•"/>
            </a:pPr>
            <a:r>
              <a:rPr lang="en-US" sz="1600" dirty="0">
                <a:solidFill>
                  <a:schemeClr val="tx1"/>
                </a:solidFill>
              </a:rPr>
              <a:t>Eigenvalue-one accumulators turn steady small shocks into unbounded drift</a:t>
            </a:r>
            <a:endParaRPr lang="en-US" sz="1600" dirty="0"/>
          </a:p>
          <a:p>
            <a:pPr marL="228600" indent="-228600">
              <a:spcAft>
                <a:spcPts val="800"/>
              </a:spcAft>
              <a:buSzPct val="100000"/>
              <a:buChar char="•"/>
            </a:pPr>
            <a:r>
              <a:rPr lang="en-US" sz="1600" dirty="0">
                <a:solidFill>
                  <a:schemeClr val="tx1"/>
                </a:solidFill>
              </a:rPr>
              <a:t>“Death by a thousand cuts” has a formula; stability buys a budget, not silence</a:t>
            </a:r>
            <a:endParaRPr lang="en-US" sz="1600" dirty="0"/>
          </a:p>
        </p:txBody>
      </p:sp>
      <p:pic>
        <p:nvPicPr>
          <p:cNvPr id="6" name="Figure" descr="Figure 8.2: stability buys a volatility budget, not silence">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8.2. Left: Industrial Systems' revenue deviation stays inside a band that stops widening at ±2 × $21m. Right: the same shocks with no restoring force spread like the square root of time.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§8.7 · THEOREM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Event risk has two ledger lines</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8.4</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Jump-Diffusion Enterprise Dynamics Theorem</a:t>
            </a:r>
            <a:endParaRPr lang="en-US" sz="2100" dirty="0"/>
          </a:p>
        </p:txBody>
      </p:sp>
      <p:pic>
        <p:nvPicPr>
          <p:cNvPr id="8" name="Equation" descr="Equation: \mathrm{d}\mathbf{X}_t \;=\; f\,\mathrm{d}t \;+\; g\,\mathrm{d}\mathbf{W}_t \;+\; \mathbf{J}_t\,\mathrm{d}N_t">    </p:cNvPr>
          <p:cNvPicPr>
            <a:picLocks noChangeAspect="1"/>
          </p:cNvPicPr>
          <p:nvPr/>
        </p:nvPicPr>
        <p:blipFill>
          <a:blip r:embed="rId1"/>
          <a:stretch>
            <a:fillRect/>
          </a:stretch>
        </p:blipFill>
        <p:spPr>
          <a:xfrm>
            <a:off x="822960" y="2743200"/>
            <a:ext cx="4504267" cy="457200"/>
          </a:xfrm>
          <a:prstGeom prst="rect">
            <a:avLst/>
          </a:prstGeom>
        </p:spPr>
      </p:pic>
      <p:sp>
        <p:nvSpPr>
          <p:cNvPr id="9" name="Bullets"/>
          <p:cNvSpPr txBox="1"/>
          <p:nvPr/>
        </p:nvSpPr>
        <p:spPr>
          <a:xfrm>
            <a:off x="822960" y="3364992"/>
            <a:ext cx="5852160" cy="267004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Memorylessness.</a:t>
            </a:r>
            <a:r>
              <a:rPr lang="en-US" sz="1500" dirty="0">
                <a:solidFill>
                  <a:schemeClr val="tx1"/>
                </a:solidFill>
              </a:rPr>
              <a:t> The wait for a Poisson event does not depend on how long one has waited: an event is never “due”</a:t>
            </a:r>
            <a:endParaRPr lang="en-US" sz="1500" dirty="0"/>
          </a:p>
          <a:p>
            <a:pPr marL="228600" indent="-228600">
              <a:spcAft>
                <a:spcPts val="600"/>
              </a:spcAft>
              <a:buSzPct val="100000"/>
              <a:buChar char="•"/>
            </a:pPr>
            <a:r>
              <a:rPr lang="en-US" sz="1500" b="1" dirty="0">
                <a:solidFill>
                  <a:schemeClr val="tx1"/>
                </a:solidFill>
              </a:rPr>
              <a:t>(ii) Two ledger lines.</a:t>
            </a:r>
            <a:r>
              <a:rPr lang="en-US" sz="1500" dirty="0">
                <a:solidFill>
                  <a:schemeClr val="tx1"/>
                </a:solidFill>
              </a:rPr>
              <a:t> Events of frequency λ and size J add λE[J] to the expected outcome and λE[J</a:t>
            </a:r>
            <a:r>
              <a:rPr lang="en-US" sz="1500" baseline="30000" dirty="0">
                <a:solidFill>
                  <a:schemeClr val="tx1"/>
                </a:solidFill>
              </a:rPr>
              <a:t>2</a:t>
            </a:r>
            <a:r>
              <a:rPr lang="en-US" sz="1500" dirty="0">
                <a:solidFill>
                  <a:schemeClr val="tx1"/>
                </a:solidFill>
              </a:rPr>
              <a:t>] to its variance</a:t>
            </a:r>
            <a:endParaRPr lang="en-US" sz="1500" dirty="0"/>
          </a:p>
          <a:p>
            <a:pPr marL="228600" indent="-228600">
              <a:spcAft>
                <a:spcPts val="600"/>
              </a:spcAft>
              <a:buSzPct val="100000"/>
              <a:buChar char="•"/>
            </a:pPr>
            <a:r>
              <a:rPr lang="en-US" sz="1500" b="1" dirty="0">
                <a:solidFill>
                  <a:schemeClr val="tx1"/>
                </a:solidFill>
              </a:rPr>
              <a:t>(iii) Expected path.</a:t>
            </a:r>
            <a:r>
              <a:rPr lang="en-US" sz="1500" dirty="0">
                <a:solidFill>
                  <a:schemeClr val="tx1"/>
                </a:solidFill>
              </a:rPr>
              <a:t> Events correct the drift of the expected path to μ + λE[J]</a:t>
            </a:r>
            <a:endParaRPr lang="en-US" sz="1500" dirty="0"/>
          </a:p>
        </p:txBody>
      </p:sp>
      <p:sp>
        <p:nvSpPr>
          <p:cNvPr id="10"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Interventions arrive at λ = 0.15 a year and cost $40m on average (sd $30m)</a:t>
            </a:r>
            <a:endParaRPr lang="en-US" sz="1500" dirty="0"/>
          </a:p>
          <a:p>
            <a:pPr marL="228600" indent="-228600">
              <a:spcAft>
                <a:spcPts val="800"/>
              </a:spcAft>
              <a:buSzPct val="100000"/>
              <a:buChar char="•"/>
            </a:pPr>
            <a:r>
              <a:rPr lang="en-US" sz="1500" dirty="0">
                <a:solidFill>
                  <a:schemeClr val="tx1"/>
                </a:solidFill>
              </a:rPr>
              <a:t>Plan line: 0.15 × 40 = </a:t>
            </a:r>
            <a:r>
              <a:rPr lang="en-US" sz="1500" b="1" dirty="0">
                <a:solidFill>
                  <a:schemeClr val="tx1"/>
                </a:solidFill>
              </a:rPr>
              <a:t>$6m a year</a:t>
            </a:r>
            <a:r>
              <a:rPr lang="en-US" sz="1500" dirty="0">
                <a:solidFill>
                  <a:schemeClr val="tx1"/>
                </a:solidFill>
              </a:rPr>
              <a:t>, quiet years included</a:t>
            </a:r>
            <a:endParaRPr lang="en-US" sz="1500" dirty="0"/>
          </a:p>
          <a:p>
            <a:pPr marL="228600" indent="-228600">
              <a:spcAft>
                <a:spcPts val="800"/>
              </a:spcAft>
              <a:buSzPct val="100000"/>
              <a:buChar char="•"/>
            </a:pPr>
            <a:r>
              <a:rPr lang="en-US" sz="1500" dirty="0">
                <a:solidFill>
                  <a:schemeClr val="tx1"/>
                </a:solidFill>
              </a:rPr>
              <a:t>Risk line: 0.15 × 2,500 = 375 a year: an sd of about $19m over one year, $43m over five</a:t>
            </a:r>
            <a:endParaRPr lang="en-US" sz="1500" dirty="0"/>
          </a:p>
          <a:p>
            <a:pPr marL="228600" indent="-228600">
              <a:spcAft>
                <a:spcPts val="800"/>
              </a:spcAft>
              <a:buSzPct val="100000"/>
              <a:buChar char="•"/>
            </a:pPr>
            <a:r>
              <a:rPr lang="en-US" sz="1500" dirty="0">
                <a:solidFill>
                  <a:schemeClr val="tx1"/>
                </a:solidFill>
              </a:rPr>
              <a:t>Half the frequency at twice the size: same plan line, twice the variance</a:t>
            </a:r>
            <a:endParaRPr lang="en-US" sz="1500" dirty="0"/>
          </a:p>
          <a:p>
            <a:pPr marL="228600" indent="-228600">
              <a:spcAft>
                <a:spcPts val="800"/>
              </a:spcAft>
              <a:buSzPct val="100000"/>
              <a:buChar char="•"/>
            </a:pPr>
            <a:r>
              <a:rPr lang="en-US" sz="1500" dirty="0">
                <a:solidFill>
                  <a:schemeClr val="tx1"/>
                </a:solidFill>
              </a:rPr>
              <a:t>Five quiet years leave next year's chance at 1 − e</a:t>
            </a:r>
            <a:r>
              <a:rPr lang="en-US" sz="1500" baseline="30000" dirty="0">
                <a:solidFill>
                  <a:schemeClr val="tx1"/>
                </a:solidFill>
              </a:rPr>
              <a:t>−0.15</a:t>
            </a:r>
            <a:r>
              <a:rPr lang="en-US" sz="1500" dirty="0">
                <a:solidFill>
                  <a:schemeClr val="tx1"/>
                </a:solidFill>
              </a:rPr>
              <a:t> ≈ </a:t>
            </a:r>
            <a:r>
              <a:rPr lang="en-US" sz="1500" b="1" dirty="0">
                <a:solidFill>
                  <a:schemeClr val="tx1"/>
                </a:solidFill>
              </a:rPr>
              <a:t>14%</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§8.7 · FIGURE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plan line accrues through quiet years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cumulative compliance cost of Meridian's regulatory interventions</a:t>
            </a:r>
            <a:endParaRPr lang="en-US" sz="1600" dirty="0"/>
          </a:p>
          <a:p>
            <a:pPr marL="228600" indent="-228600">
              <a:spcAft>
                <a:spcPts val="800"/>
              </a:spcAft>
              <a:buSzPct val="100000"/>
              <a:buChar char="•"/>
            </a:pPr>
            <a:r>
              <a:rPr lang="en-US" sz="1600" dirty="0">
                <a:solidFill>
                  <a:schemeClr val="tx1"/>
                </a:solidFill>
              </a:rPr>
              <a:t>The plan line accrues </a:t>
            </a:r>
            <a:r>
              <a:rPr lang="en-US" sz="1600" b="1" dirty="0">
                <a:solidFill>
                  <a:schemeClr val="tx1"/>
                </a:solidFill>
              </a:rPr>
              <a:t>$6m a year</a:t>
            </a:r>
            <a:r>
              <a:rPr lang="en-US" sz="1600" dirty="0">
                <a:solidFill>
                  <a:schemeClr val="tx1"/>
                </a:solidFill>
              </a:rPr>
              <a:t>, in quiet years and eventful ones alike</a:t>
            </a:r>
            <a:endParaRPr lang="en-US" sz="1600" dirty="0"/>
          </a:p>
          <a:p>
            <a:pPr marL="228600" indent="-228600">
              <a:spcAft>
                <a:spcPts val="800"/>
              </a:spcAft>
              <a:buSzPct val="100000"/>
              <a:buChar char="•"/>
            </a:pPr>
            <a:r>
              <a:rPr lang="en-US" sz="1600" dirty="0">
                <a:solidFill>
                  <a:schemeClr val="tx1"/>
                </a:solidFill>
              </a:rPr>
              <a:t>The risk band, the plan line ± 2 sd, widens with the square root of time</a:t>
            </a:r>
            <a:endParaRPr lang="en-US" sz="1600" dirty="0"/>
          </a:p>
          <a:p>
            <a:pPr marL="228600" indent="-228600">
              <a:spcAft>
                <a:spcPts val="800"/>
              </a:spcAft>
              <a:buSzPct val="100000"/>
              <a:buChar char="•"/>
            </a:pPr>
            <a:r>
              <a:rPr lang="en-US" sz="1600" dirty="0">
                <a:solidFill>
                  <a:schemeClr val="tx1"/>
                </a:solidFill>
              </a:rPr>
              <a:t>Flat stretches are quiet years; a plan without the plan line understates every year</a:t>
            </a:r>
            <a:endParaRPr lang="en-US" sz="1600" dirty="0"/>
          </a:p>
        </p:txBody>
      </p:sp>
      <p:pic>
        <p:nvPicPr>
          <p:cNvPr id="6" name="Figure" descr="Figure 8.3: event risk has two ledger lines">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8.3. Interventions arrive at 0.15 a year and cost on average $40m (sd $30m): the plan line, the risk band, and simulated histories.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§8.8 · THEOREM 8.5 · PROPOSITION 8.5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plan is the average only when linear</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Expected Enterprise Evolution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Linear.</a:t>
            </a:r>
            <a:r>
              <a:rPr lang="en-US" sz="1500" dirty="0">
                <a:solidFill>
                  <a:schemeClr val="tx1"/>
                </a:solidFill>
              </a:rPr>
              <a:t> The average path obeys Chapter 7's deterministic law exactly</a:t>
            </a:r>
            <a:endParaRPr lang="en-US" sz="1500" dirty="0"/>
          </a:p>
          <a:p>
            <a:pPr marL="228600" indent="-228600">
              <a:spcAft>
                <a:spcPts val="600"/>
              </a:spcAft>
              <a:buSzPct val="100000"/>
              <a:buChar char="•"/>
            </a:pPr>
            <a:r>
              <a:rPr lang="en-US" sz="1500" b="1" dirty="0">
                <a:solidFill>
                  <a:schemeClr val="tx1"/>
                </a:solidFill>
              </a:rPr>
              <a:t>(ii) Curvature.</a:t>
            </a:r>
            <a:r>
              <a:rPr lang="en-US" sz="1500" dirty="0">
                <a:solidFill>
                  <a:schemeClr val="tx1"/>
                </a:solidFill>
              </a:rPr>
              <a:t> Convex: the average outcome lies above the plan at average inputs; concave: below (Jensen)</a:t>
            </a:r>
            <a:endParaRPr lang="en-US" sz="1500" dirty="0"/>
          </a:p>
          <a:p>
            <a:pPr marL="228600" indent="-228600">
              <a:spcAft>
                <a:spcPts val="600"/>
              </a:spcAft>
              <a:buSzPct val="100000"/>
              <a:buChar char="•"/>
            </a:pPr>
            <a:r>
              <a:rPr lang="en-US" sz="1500" b="1" dirty="0">
                <a:solidFill>
                  <a:schemeClr val="tx1"/>
                </a:solidFill>
              </a:rPr>
              <a:t>(iii) Total variance</a:t>
            </a:r>
            <a:r>
              <a:rPr lang="en-US" sz="1500" dirty="0">
                <a:solidFill>
                  <a:schemeClr val="tx1"/>
                </a:solidFill>
              </a:rPr>
              <a:t> splits into the average variance within scenarios plus the variance between them</a:t>
            </a:r>
            <a:endParaRPr lang="en-US" sz="1500" dirty="0"/>
          </a:p>
          <a:p>
            <a:pPr marL="228600" indent="-228600">
              <a:spcAft>
                <a:spcPts val="600"/>
              </a:spcAft>
              <a:buSzPct val="100000"/>
              <a:buChar char="•"/>
            </a:pPr>
            <a:r>
              <a:rPr lang="en-US" sz="1500" b="1" dirty="0">
                <a:solidFill>
                  <a:schemeClr val="tx1"/>
                </a:solidFill>
              </a:rPr>
              <a:t>Proposition 8.5.</a:t>
            </a:r>
            <a:r>
              <a:rPr lang="en-US" sz="1500" dirty="0">
                <a:solidFill>
                  <a:schemeClr val="tx1"/>
                </a:solidFill>
              </a:rPr>
              <a:t> A step with sensitivity L multiplies the mean-square spread it inherits by up to L</a:t>
            </a:r>
            <a:r>
              <a:rPr lang="en-US" sz="1500" baseline="30000" dirty="0">
                <a:solidFill>
                  <a:schemeClr val="tx1"/>
                </a:solidFill>
              </a:rPr>
              <a:t>2</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Capacity costs, which are convex, run over plan on average</a:t>
            </a:r>
            <a:endParaRPr lang="en-US" sz="1600" dirty="0"/>
          </a:p>
          <a:p>
            <a:pPr marL="228600" indent="-228600">
              <a:spcAft>
                <a:spcPts val="800"/>
              </a:spcAft>
              <a:buSzPct val="100000"/>
              <a:buChar char="•"/>
            </a:pPr>
            <a:r>
              <a:rPr lang="en-US" sz="1600" dirty="0">
                <a:solidFill>
                  <a:schemeClr val="tx1"/>
                </a:solidFill>
              </a:rPr>
              <a:t>A path's low point is concave: Meridian's average trough is $384m against a planned $482m</a:t>
            </a:r>
            <a:endParaRPr lang="en-US" sz="1600" dirty="0"/>
          </a:p>
          <a:p>
            <a:pPr marL="228600" indent="-228600">
              <a:spcAft>
                <a:spcPts val="800"/>
              </a:spcAft>
              <a:buSzPct val="100000"/>
              <a:buChar char="•"/>
            </a:pPr>
            <a:r>
              <a:rPr lang="en-US" sz="1600" dirty="0">
                <a:solidFill>
                  <a:schemeClr val="tx1"/>
                </a:solidFill>
              </a:rPr>
              <a:t>Quote a single path as the mean or a percentile, never as “the case”</a:t>
            </a:r>
            <a:endParaRPr lang="en-US" sz="1600" dirty="0"/>
          </a:p>
          <a:p>
            <a:pPr marL="228600" indent="-228600">
              <a:spcAft>
                <a:spcPts val="800"/>
              </a:spcAft>
              <a:buSzPct val="100000"/>
              <a:buChar char="•"/>
            </a:pPr>
            <a:r>
              <a:rPr lang="en-US" sz="1600" dirty="0">
                <a:solidFill>
                  <a:schemeClr val="tx1"/>
                </a:solidFill>
              </a:rPr>
              <a:t>Three expansive steps at 1.2 can triple the inherited variance; at 0.8 they cut it to 0.26 of its size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§8.9 · MONTE CARLO SIMULATION · TABLE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Report the error bar with the number</a:t>
            </a:r>
            <a:endParaRPr lang="en-US" sz="3200" dirty="0"/>
          </a:p>
        </p:txBody>
      </p:sp>
      <p:sp>
        <p:nvSpPr>
          <p:cNvPr id="5" name="Stat card"/>
          <p:cNvSpPr/>
          <p:nvPr/>
        </p:nvSpPr>
        <p:spPr>
          <a:xfrm>
            <a:off x="548640" y="1691640"/>
            <a:ext cx="2567864" cy="1691640"/>
          </a:xfrm>
          <a:prstGeom prst="roundRect">
            <a:avLst>
              <a:gd name="adj" fmla="val 4324"/>
            </a:avLst>
          </a:prstGeom>
          <a:solidFill>
            <a:schemeClr val="bg2"/>
          </a:solidFill>
          <a:ln w="9525">
            <a:solidFill>
              <a:srgbClr val="C4CBD8"/>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 paths: 25.0 percent</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1,000 paths: 25.2 percent</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10,000 paths: 24.5 percent</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tx1"/>
          </a:solidFill>
          <a:ln w="9525">
            <a:solidFill>
              <a:srgbClr val="0F1E3D"/>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±0.14</a:t>
            </a:r>
            <a:endParaRPr lang="en-US" sz="44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100,000 paths: 24.6 percent (Worked Example 8.1)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probability is estimated by the share of paths in which the event occurs, with standard error √(p(1 − p)/N); errors here are in percentage points</a:t>
            </a:r>
            <a:endParaRPr lang="en-US" sz="1700" dirty="0"/>
          </a:p>
          <a:p>
            <a:pPr marL="228600" indent="-228600">
              <a:spcAft>
                <a:spcPts val="800"/>
              </a:spcAft>
              <a:buSzPct val="100000"/>
              <a:buChar char="•"/>
            </a:pPr>
            <a:r>
              <a:rPr lang="en-US" sz="1700" dirty="0">
                <a:solidFill>
                  <a:schemeClr val="tx1"/>
                </a:solidFill>
              </a:rPr>
              <a:t>Precision improves only with the square root of the paths: one more decimal digit costs a hundredfold more</a:t>
            </a:r>
            <a:endParaRPr lang="en-US" sz="1700" dirty="0"/>
          </a:p>
          <a:p>
            <a:pPr marL="228600" indent="-228600">
              <a:spcAft>
                <a:spcPts val="800"/>
              </a:spcAft>
              <a:buSzPct val="100000"/>
              <a:buChar char="•"/>
            </a:pPr>
            <a:r>
              <a:rPr lang="en-US" sz="1700" dirty="0">
                <a:solidFill>
                  <a:schemeClr val="tx1"/>
                </a:solidFill>
              </a:rPr>
              <a:t>Pinning a probability to ±0.1 point takes 47,500 paths near 5 percent and 187,500 near 25 percent</a:t>
            </a:r>
            <a:endParaRPr lang="en-US" sz="1700" dirty="0"/>
          </a:p>
          <a:p>
            <a:pPr marL="228600" indent="-228600">
              <a:spcAft>
                <a:spcPts val="800"/>
              </a:spcAft>
              <a:buSzPct val="100000"/>
              <a:buChar char="•"/>
            </a:pPr>
            <a:r>
              <a:rPr lang="en-US" sz="1700" dirty="0">
                <a:solidFill>
                  <a:schemeClr val="tx1"/>
                </a:solidFill>
              </a:rPr>
              <a:t>Paths are exact for discrete models; Euler–Maruyama errs by order √Δ for paths and Δ for distributions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Will the digital program breach the floor?</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$482m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planned trough, in quarter 7, from $620m today; $510m by the end of year 3</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$132m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headroom above the board's floor of $350m (Table 5.4)</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board's appetite: the largest tolerated chance of breaching the floor</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Chapters 1 and 5 drew the digital program's liquidity path as a single line (Figure 5.2)</a:t>
            </a:r>
            <a:endParaRPr lang="en-US" sz="1700" dirty="0"/>
          </a:p>
          <a:p>
            <a:pPr marL="228600" indent="-228600">
              <a:spcAft>
                <a:spcPts val="800"/>
              </a:spcAft>
              <a:buSzPct val="100000"/>
              <a:buChar char="•"/>
            </a:pPr>
            <a:r>
              <a:rPr lang="en-US" sz="1700" dirty="0">
                <a:solidFill>
                  <a:schemeClr val="tx1"/>
                </a:solidFill>
              </a:rPr>
              <a:t>The board asks what a single line cannot answer: with what probability does liquidity fall below the floor in some quarter of the three years?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Declare two channels, size each, simulate</a:t>
            </a:r>
            <a:endParaRPr lang="en-US" sz="3200" dirty="0"/>
          </a:p>
        </p:txBody>
      </p:sp>
      <p:pic>
        <p:nvPicPr>
          <p:cNvPr id="5" name="Equation" descr="Equation: L_k \;=\; \text{plan}_k \;+\; E_k \;-\; \sum_{i \le N_k} J_i, \qquad E_{k+1} \;=\; 0.6\,E_k + w_k, \quad w_k \sim \mathcal{N}\bigl(0,\, 50^2\bigr)">    </p:cNvPr>
          <p:cNvPicPr>
            <a:picLocks noChangeAspect="1"/>
          </p:cNvPicPr>
          <p:nvPr/>
        </p:nvPicPr>
        <p:blipFill>
          <a:blip r:embed="rId1"/>
          <a:stretch>
            <a:fillRect/>
          </a:stretch>
        </p:blipFill>
        <p:spPr>
          <a:xfrm>
            <a:off x="1021140" y="1828800"/>
            <a:ext cx="10149415" cy="868680"/>
          </a:xfrm>
          <a:prstGeom prst="rect">
            <a:avLst/>
          </a:prstGeom>
        </p:spPr>
      </p:pic>
      <p:sp>
        <p:nvSpPr>
          <p:cNvPr id="6" name="Text 2"/>
          <p:cNvSpPr txBox="1"/>
          <p:nvPr/>
        </p:nvSpPr>
        <p:spPr>
          <a:xfrm>
            <a:off x="914400" y="283464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quarterly liquidity, $ million: the plan, a persistent deviation, less closures that are not recovered</a:t>
            </a:r>
            <a:endParaRPr lang="en-US" sz="1600" dirty="0"/>
          </a:p>
        </p:txBody>
      </p:sp>
      <p:sp>
        <p:nvSpPr>
          <p:cNvPr id="7" name="Bullets"/>
          <p:cNvSpPr txBox="1"/>
          <p:nvPr/>
        </p:nvSpPr>
        <p:spPr>
          <a:xfrm>
            <a:off x="914400" y="3429000"/>
            <a:ext cx="10362895" cy="27432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surprises of sd $50m a quarter, 60% carried over; closures about once a decade, removing $120m on average (sd $50m)</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deviation's budget is 50/√(1 − 0.6</a:t>
            </a:r>
            <a:r>
              <a:rPr lang="en-US" sz="1700" baseline="30000" dirty="0">
                <a:solidFill>
                  <a:schemeClr val="bg1"/>
                </a:solidFill>
              </a:rPr>
              <a:t>2</a:t>
            </a:r>
            <a:r>
              <a:rPr lang="en-US" sz="1700" dirty="0">
                <a:solidFill>
                  <a:schemeClr val="bg1"/>
                </a:solidFill>
              </a:rPr>
              <a:t>) = </a:t>
            </a:r>
            <a:r>
              <a:rPr lang="en-US" sz="1700" b="1" dirty="0">
                <a:solidFill>
                  <a:schemeClr val="bg1"/>
                </a:solidFill>
              </a:rPr>
              <a:t>$62.5m</a:t>
            </a:r>
            <a:r>
              <a:rPr lang="en-US" sz="1700" dirty="0">
                <a:solidFill>
                  <a:schemeClr val="bg1"/>
                </a:solidFill>
              </a:rPr>
              <a:t>, so the trough's headroom is only 2.1 sd</a:t>
            </a:r>
            <a:endParaRPr lang="en-US" sz="1700" dirty="0"/>
          </a:p>
          <a:p>
            <a:pPr marL="228600" indent="-228600">
              <a:spcAft>
                <a:spcPts val="800"/>
              </a:spcAft>
              <a:buSzPct val="100000"/>
              <a:buChar char="•"/>
            </a:pPr>
            <a:r>
              <a:rPr lang="en-US" sz="1700" dirty="0">
                <a:solidFill>
                  <a:schemeClr val="bg1"/>
                </a:solidFill>
              </a:rPr>
              <a:t>The closures' plan line is 0.10 × 120 = $12m a year, with a 26% chance of at least one in three years</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in 100,000 simulated paths liquidity falls below $350m in </a:t>
            </a:r>
            <a:r>
              <a:rPr lang="en-US" sz="1700" b="1" dirty="0">
                <a:solidFill>
                  <a:schemeClr val="bg1"/>
                </a:solidFill>
              </a:rPr>
              <a:t>24.6%</a:t>
            </a:r>
            <a:r>
              <a:rPr lang="en-US" sz="1700" dirty="0">
                <a:solidFill>
                  <a:schemeClr val="bg1"/>
                </a:solidFill>
              </a:rPr>
              <a:t>, standard error 0.14 points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 4 · FIGURE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average trough is not the planned trough</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path's lowest quarter averages </a:t>
            </a:r>
            <a:r>
              <a:rPr lang="en-US" sz="1600" b="1" dirty="0">
                <a:solidFill>
                  <a:schemeClr val="tx1"/>
                </a:solidFill>
              </a:rPr>
              <a:t>$384m</a:t>
            </a:r>
            <a:r>
              <a:rPr lang="en-US" sz="1600" dirty="0">
                <a:solidFill>
                  <a:schemeClr val="tx1"/>
                </a:solidFill>
              </a:rPr>
              <a:t>, almost $100m below the plan's $482m</a:t>
            </a:r>
            <a:endParaRPr lang="en-US" sz="1600" dirty="0"/>
          </a:p>
          <a:p>
            <a:pPr marL="228600" indent="-228600">
              <a:spcAft>
                <a:spcPts val="800"/>
              </a:spcAft>
              <a:buSzPct val="100000"/>
              <a:buChar char="•"/>
            </a:pPr>
            <a:r>
              <a:rPr lang="en-US" sz="1600" dirty="0">
                <a:solidFill>
                  <a:schemeClr val="tx1"/>
                </a:solidFill>
              </a:rPr>
              <a:t>The low point is concave in the path: Jensen's inequality works against the plan</a:t>
            </a:r>
            <a:endParaRPr lang="en-US" sz="1600" dirty="0"/>
          </a:p>
          <a:p>
            <a:pPr marL="228600" indent="-228600">
              <a:spcAft>
                <a:spcPts val="800"/>
              </a:spcAft>
              <a:buSzPct val="100000"/>
              <a:buChar char="•"/>
            </a:pPr>
            <a:r>
              <a:rPr lang="en-US" sz="1600" dirty="0">
                <a:solidFill>
                  <a:schemeClr val="tx1"/>
                </a:solidFill>
              </a:rPr>
              <a:t>Even the mean path bottoms out at $460m: closures accrue $12m a year</a:t>
            </a:r>
            <a:endParaRPr lang="en-US" sz="1600" dirty="0"/>
          </a:p>
          <a:p>
            <a:pPr marL="228600" indent="-228600">
              <a:spcAft>
                <a:spcPts val="800"/>
              </a:spcAft>
              <a:buSzPct val="100000"/>
              <a:buChar char="•"/>
            </a:pPr>
            <a:r>
              <a:rPr lang="en-US" sz="1600" dirty="0">
                <a:solidFill>
                  <a:schemeClr val="tx1"/>
                </a:solidFill>
              </a:rPr>
              <a:t>Deviation alone breaches in 8.4%, events alone in 10.6%, together in 24.6%</a:t>
            </a:r>
            <a:endParaRPr lang="en-US" sz="1600" dirty="0"/>
          </a:p>
          <a:p>
            <a:pPr marL="228600" indent="-228600">
              <a:spcAft>
                <a:spcPts val="800"/>
              </a:spcAft>
              <a:buSzPct val="100000"/>
              <a:buChar char="•"/>
            </a:pPr>
            <a:r>
              <a:rPr lang="en-US" sz="1600" dirty="0">
                <a:solidFill>
                  <a:schemeClr val="tx1"/>
                </a:solidFill>
              </a:rPr>
              <a:t>A path with a closure breaches 71% of the time; three in four breaches occur on such paths</a:t>
            </a:r>
            <a:endParaRPr lang="en-US" sz="1600" dirty="0"/>
          </a:p>
        </p:txBody>
      </p:sp>
      <p:pic>
        <p:nvPicPr>
          <p:cNvPr id="6" name="Figure" descr="Figure 8.4: odds on the digital program">    </p:cNvPr>
          <p:cNvPicPr>
            <a:picLocks noChangeAspect="1"/>
          </p:cNvPicPr>
          <p:nvPr/>
        </p:nvPicPr>
        <p:blipFill>
          <a:blip r:embed="rId1"/>
          <a:stretch>
            <a:fillRect/>
          </a:stretch>
        </p:blipFill>
        <p:spPr>
          <a:xfrm>
            <a:off x="5391174" y="1724592"/>
            <a:ext cx="6251881" cy="3847729"/>
          </a:xfrm>
          <a:prstGeom prst="rect">
            <a:avLst/>
          </a:prstGeom>
        </p:spPr>
      </p:pic>
      <p:sp>
        <p:nvSpPr>
          <p:cNvPr id="7" name="Caption"/>
          <p:cNvSpPr txBox="1"/>
          <p:nvPr/>
        </p:nvSpPr>
        <p:spPr>
          <a:xfrm>
            <a:off x="5391174" y="5645472"/>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8.4. Left: simulated quarterly liquidity paths (30 shown), the band holding 80 percent, the mean path, the plan and the floor. Right: each path's lowest quarter; the red share is the breach probability.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 5 · TABLE 8.5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both levers bring the odds within appetite</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868120"/>
                <a:gridCol w="2567303"/>
                <a:gridCol w="2658992"/>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Scenario</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Plan trough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Breach probability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Plan as drawn, both channels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Execution and market deviation only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Funding-window events only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Standby line (up to $100 million per closure)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Phased 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Standby line and phased 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Probability that liquidity falls below the $350 million floor during the three-year program; 100,000 simulated paths each; standard errors 0.05–0.14 percentage points.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Either lever alone halves the risk; only the two together bring it within the board's 5 percent appetite.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comfortable trough is not a small risk</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24.6%</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chance of breaching the floor, ±0.14 points: report the odds, not the trough</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 in 4</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breaches come with a funding event: manage the risk where it originates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3.0%</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with the standby line and the phased build together: within the appetite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Report the plan with its breach probability and its error bar, not with its trough alone</a:t>
            </a:r>
            <a:endParaRPr lang="en-US" sz="1700" dirty="0"/>
          </a:p>
          <a:p>
            <a:pPr marL="228600" indent="-228600">
              <a:spcAft>
                <a:spcPts val="800"/>
              </a:spcAft>
              <a:buSzPct val="100000"/>
              <a:buChar char="•"/>
            </a:pPr>
            <a:r>
              <a:rPr lang="en-US" sz="1700" dirty="0">
                <a:solidFill>
                  <a:schemeClr val="tx1"/>
                </a:solidFill>
              </a:rPr>
              <a:t>Either lever alone halves the risk; only the two together bring it within the board's appetite</a:t>
            </a:r>
            <a:endParaRPr lang="en-US" sz="1700" dirty="0"/>
          </a:p>
          <a:p>
            <a:pPr marL="228600" indent="-228600">
              <a:spcAft>
                <a:spcPts val="800"/>
              </a:spcAft>
              <a:buSzPct val="100000"/>
              <a:buChar char="•"/>
            </a:pPr>
            <a:r>
              <a:rPr lang="en-US" sz="1700" dirty="0">
                <a:solidFill>
                  <a:schemeClr val="tx1"/>
                </a:solidFill>
              </a:rPr>
              <a:t>For discussion: phasing delays the digital option's technology gains. How would you value that delay, to compare it with the cost of the standby line?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1.8 · MODULE AXIOM-08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Putting odds on Meridian's plan,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asked for a risk view of the digital program it can trust: the probability of breaching the liquidity floor, what drives it, and what each mitigation buys; the chief risk officer wants the planning pack's fans and event provisions checked. Open AXIOM, choose Lab 1.8 and load the Meridian stochastic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Watch the fan form</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Start the revenue deviation after a strong quarter; sweep persistence through one and watch the band stop settling.</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the multi-year view</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a one-year and a three-year fan from the planning pack and test whether they compose.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an event risk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Generate interventions at 0.15 a year, read the plan and risk lines, and condition on five quiet years.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Feel the flaw of averages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Bend a cost function and watch the gap between the average cost and the cost at average volume.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Put odds on the program</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Reproduce Worked Example 8.1: vary the paths, switch each channel off, test both levers.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risk memo to the board stating the breach probability with its error bar, the share due to each channel, the effect of each lever, and a recommendation against the 5 percent appetite. About 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Uncertainty is a declared channel of the model and cannot be modeled away; the honest forecast at decision time is a distribution.</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fan chart is the forecast: distributions evolve by an exact rule, and multi-year risk views must compose.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Stability buys a volatility budget, not silence; event risk has a plan line and a risk line, and memoryless events are never “due”.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deterministic plan is the exact average only for linear companies; with curvature the base case is biased, and expansive steps amplify inherited uncertainty.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Monte Carlo answers any question about paths, with an error bar that shrinks like 1/√N; report the bar with the number.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26108</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AXIOM-08</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1.8</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DCT_V1_Ch08_Lab.ipynb: Worked Example 8.1 and the lab's five steps in nine panels, ready for Colab; its 100,000 paths are the book's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DCT_V1_Ch08_Lab.xlsx: the plan, the volatility budget, the two ledger lines, Table 8.5, and 2,000 of the book's paths rebuilt by formula</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9 turns the model into an architecture</a:t>
            </a:r>
            <a:endParaRPr lang="en-US" sz="3200" dirty="0"/>
          </a:p>
        </p:txBody>
      </p:sp>
      <p:pic>
        <p:nvPicPr>
          <p:cNvPr id="5" name="Equation" descr="Equation: \mathcal{A}_{S} \;=\; \bigl(\mathcal{X},\, \mathcal{R},\, \mathcal{C}\bigr)">    </p:cNvPr>
          <p:cNvPicPr>
            <a:picLocks noChangeAspect="1"/>
          </p:cNvPicPr>
          <p:nvPr/>
        </p:nvPicPr>
        <p:blipFill>
          <a:blip r:embed="rId1"/>
          <a:stretch>
            <a:fillRect/>
          </a:stretch>
        </p:blipFill>
        <p:spPr>
          <a:xfrm>
            <a:off x="4231297" y="1691640"/>
            <a:ext cx="3729102"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 II built the mathematics of the company in general; Part III builds it around what companies are made of</a:t>
            </a:r>
            <a:endParaRPr lang="en-US" sz="1800" dirty="0"/>
          </a:p>
          <a:p>
            <a:pPr marL="228600" indent="-228600">
              <a:spcAft>
                <a:spcPts val="800"/>
              </a:spcAft>
              <a:buSzPct val="100000"/>
              <a:buChar char="•"/>
            </a:pPr>
            <a:r>
              <a:rPr lang="en-US" sz="1800" dirty="0">
                <a:solidFill>
                  <a:schemeClr val="bg1"/>
                </a:solidFill>
              </a:rPr>
              <a:t>Components with their own states, wired by flows of demand, cash, capability and policy, and bound by constraints that reach across the wiring</a:t>
            </a:r>
            <a:endParaRPr lang="en-US" sz="1800" dirty="0"/>
          </a:p>
          <a:p>
            <a:pPr marL="228600" indent="-228600">
              <a:spcAft>
                <a:spcPts val="800"/>
              </a:spcAft>
              <a:buSzPct val="100000"/>
              <a:buChar char="•"/>
            </a:pPr>
            <a:r>
              <a:rPr lang="en-US" sz="1800" dirty="0">
                <a:solidFill>
                  <a:schemeClr val="bg1"/>
                </a:solidFill>
              </a:rPr>
              <a:t>Shocks travel only along the arrows, never faster than the steps they must cross</a:t>
            </a:r>
            <a:endParaRPr lang="en-US" sz="1800" dirty="0"/>
          </a:p>
          <a:p>
            <a:pPr marL="228600" indent="-228600">
              <a:spcAft>
                <a:spcPts val="800"/>
              </a:spcAft>
              <a:buSzPct val="100000"/>
              <a:buChar char="•"/>
            </a:pPr>
            <a:r>
              <a:rPr lang="en-US" sz="1800" dirty="0">
                <a:solidFill>
                  <a:schemeClr val="bg1"/>
                </a:solidFill>
              </a:rPr>
              <a:t>For Meridian, a demand shock cannot reach the loan covenant before the second quarter-end</a:t>
            </a:r>
            <a:endParaRPr lang="en-US" sz="1800" dirty="0"/>
          </a:p>
          <a:p>
            <a:pPr marL="228600" indent="-228600">
              <a:spcAft>
                <a:spcPts val="800"/>
              </a:spcAft>
              <a:buSzPct val="100000"/>
              <a:buChar char="•"/>
            </a:pPr>
            <a:r>
              <a:rPr lang="en-US" sz="1800" dirty="0">
                <a:solidFill>
                  <a:schemeClr val="bg1"/>
                </a:solidFill>
              </a:rPr>
              <a:t>The risk architecture of Chapter 12 attaches this chapter's distributions to that wiring</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8: Stochastic Enterprise Dynamics</dc:title>
  <dc:subject>Slides for Volume I, Chapter 8 (V56)</dc:subject>
  <dc:creator>Samir Asaf</dc:creator>
  <cp:lastModifiedBy>Samir Asaf</cp:lastModifiedBy>
  <cp:revision>1</cp:revision>
  <dcterms:created xsi:type="dcterms:W3CDTF">2026-10-05T08:38:02Z</dcterms:created>
  <dcterms:modified xsi:type="dcterms:W3CDTF">2026-10-05T08:38:02Z</dcterms:modified>
</cp:coreProperties>
</file>