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12284f5-7f36-89d3-67ef-55e0b8424b11}">
          <p14:sldIdLst>
            <p14:sldId id="256"/>
            <p14:sldId id="257"/>
            <p14:sldId id="258"/>
            <p14:sldId id="259"/>
          </p14:sldIdLst>
        </p14:section>
        <p14:section name="9.1 From Org Chart to Wiring Diagram" id="{efc488dd-0f48-ba5d-0c2d-0d27a0139e0e}">
          <p14:sldIdLst>
            <p14:sldId id="260"/>
          </p14:sldIdLst>
        </p14:section>
        <p14:section name="9.2 Architecture versus Representation" id="{c0631232-8803-5a30-7509-db55d970a4d2}">
          <p14:sldIdLst>
            <p14:sldId id="261"/>
            <p14:sldId id="262"/>
          </p14:sldIdLst>
        </p14:section>
        <p14:section name="9.3 Enterprise Topology and State Dependencies" id="{b3c5fe58-b22e-f5e9-53fb-29dd37f1752c}">
          <p14:sldIdLst>
            <p14:sldId id="263"/>
            <p14:sldId id="264"/>
          </p14:sldIdLst>
        </p14:section>
        <p14:section name="9.4 Structural Dependency and Propagation" id="{bd0068f8-dbad-64fd-f471-783799a2ba12}">
          <p14:sldIdLst>
            <p14:sldId id="265"/>
          </p14:sldIdLst>
        </p14:section>
        <p14:section name="9.5 Hierarchical Enterprise States" id="{9d667ce1-ff3e-21ef-b3b4-c9b50be4c6b5}">
          <p14:sldIdLst>
            <p14:sldId id="266"/>
          </p14:sldIdLst>
        </p14:section>
        <p14:section name="9.6 Architectural Constraints and Consistency" id="{fb2fad12-c254-f048-fe39-f0b1b39cefec}">
          <p14:sldIdLst>
            <p14:sldId id="267"/>
            <p14:sldId id="268"/>
          </p14:sldIdLst>
        </p14:section>
        <p14:section name="9.7 Architectural Completeness and Validation" id="{c59f9d46-3bda-f67c-1fd9-52cb3ea502da}">
          <p14:sldIdLst>
            <p14:sldId id="269"/>
          </p14:sldIdLst>
        </p14:section>
        <p14:section name="9.8 Architecture Metrics and Complexity" id="{673693b9-2221-f4e7-bcd8-cf8630e9423f}">
          <p14:sldIdLst>
            <p14:sldId id="270"/>
            <p14:sldId id="271"/>
          </p14:sldIdLst>
        </p14:section>
        <p14:section name="Worked Example 9.1" id="{a209c1ee-a9f1-f037-8fd3-7d0a7d375d80}">
          <p14:sldIdLst>
            <p14:sldId id="272"/>
            <p14:sldId id="273"/>
            <p14:sldId id="274"/>
            <p14:sldId id="275"/>
          </p14:sldIdLst>
        </p14:section>
        <p14:section name="AXIOM Lab 1.9" id="{5473bc5a-0bf2-8bb8-5f70-32dcadd43514}">
          <p14:sldIdLst>
            <p14:sldId id="276"/>
          </p14:sldIdLst>
        </p14:section>
        <p14:section name="Close" id="{12328682-130b-e2cc-9b1e-4fdb1d6a0a1f}">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I, Chapter 9. Part II built the mathematics of the company in general: any state, any transformation, any dynamics, any noise. Part III builds it around what companies are made of, and this chapter builds the first and foundational architecture, the Enterprise State Architecture (Section 9.1).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Winston Churchill to the House of Commons, 28 October 1943, on rebuilding the bombed Commons chamber. The structure a company draws shapes what it can do; this chapter makes that structure an object with theorems (Section 9.1).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learning outcome statements; LOS Guidance at the end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9.2: Definitions 9.1-9.2, Proposition 9.1, Theorem 9.1 and Table 9.1. Section 9.3: Definitions 9.3-9.5, Proposition 9.2, Table 9.2 and Figure 9.1. Section 9.4: Theorem 9.2 and Proposition 9.3. Section 9.5: Definition 9.6, Proposition 9.4, Theorem 9.3 and Figure 9.2. Section 9.6: Definitions 9.7-9.8, Proposition 9.5, Theorem 9.4, Table 9.3 and Figure 9.3. Section 9.7: Definition 9.9, Theorem 9.5 and Table 9.4. Section 9.8: Definition 9.10, Proposition 9.6 and Tables 9.5-9.6. Worked Example 9.1: Table 9.7. AXIOM Lab 1.9: module AXIOM-09, five steps. Proofs of Theorems 9.2-9.4 are in Appendix 9.A; Theorems 9.1 and 9.5 and Propositions 9.1-9.6 in Online Appendix 9.B.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9.1. No executive meets a company as one vector in one space; one meets divisions, functions, subsidiaries and platforms, wired by flows of cash, capability, demand and obligation, and bound by constraints that reach across the wiring. The chapter's mathematical spine is the theory of directed graphs; it uses only elementary graph theory, and network optimization belongs to Volume 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9.1-9.2 and Table 9.1, with Meridian's instance. A representation (Chapter 4) says what is measured; an architecture says how what is measured is organized. Interfaces matter more than they look: what a component can read of the others shapes its behavior as much as its own state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9.1; formal statement and proof in Online Appendix 9.B. Part (ii) is the assembled system of Appendix 9.A (Equation 9.1): each component's next state is computed from its own state, the states of the components with arrows into it, and the common decisions and environment. Interface discipline is not documentation hygiene: an arrow that needs a reading its source does not expose leaves the company's own dynamics undefined (Proposition 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9.3-9.4, Table 9.2 and Proposition 9.2 (formal statement and proof in Online Appendix 9.B). Enterprise topology is meant in the network sense, connections, routes and loops, not the mathematician's sense of nearness between states.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9.5 and Figure 9.1. The six loops are the four two-way relationships, cash and funding between treasury and each of Industrial Systems and Digital and capability between engineering and each of them, and two loops through all four members. The condensation, one node per strongly connected component, is the company's one-way causal skeleton.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9.2 (proof in Appendix 9.A) and Proposition 9.3 (Online Appendix 9.B). The theorem bounds whether and how soon at the earliest, not how much: how much arrives is bounded by the sum over all routes of the products of their sensitivities (Online Appendix 9.B.2). Influence is not co-movement: components can move together because they share a driver, as the operating divisions share the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9.3 (proof in Appendix 9.A), Definition 9.6 and Proposition 9.4. Aggregation overstates coupling: the absence of a path on a summary map proves the absence of every underlying path, while its presence proves nothing. The divisions box is not strongly connected, since no arrow runs between two divisions. Aggregating by Meridian's causal structure, into the market, governance, Materials and the core, invents no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9.4 (proof in Appendix 9.A) and Definitions 9.7-9.8. The three rules: the budget at least a month after the capacity plan, the capacity plan at least a month after the hiring plan, and the hiring plan at least a month after the budget; any two can be met. The plan under part (ii) is built by fixing an acceptable setting for one component and extending outward, one link at a time. Bilateral sign-off is the only way distributed institutions can check compatibility; part (ii) certifies that practice on hub-and-spoke structures and part (i) locates its failure in a cycle of mutual accommodation. Proposition 9.5: an inconsistent architecture describes no company. Online Appendix 9.B.4: dates under such rules are feasible exactly when no cycle has negative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9.3 and Figure 9.3. The liquidity floor and the risk ceiling are board policies the company can revise; the covenant only the lenders can change. The constraint graph has four links, seven components and four separate pieces, so its cycle measure is 4 - 7 + 4 = 1 (Worked Example 9.1,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9.5 (Online Appendix 9.B) and Table 9.4. Meridian's architecture can bound how soon a demand shock reaches the covenant, because the question's support, the market, the divisions, treasury and the arrows among them, is declared. It cannot say which customers' orders will fall first: no component holds customer-level readings. Adding structure never shrinks the answerable set; aggregation spends completeness.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9.10, Table 9.5, Proposition 9.6 and Section 9.8's Meridian numbers. Each two-way relationship counts as a loop in the cycle measure: the four two-way relationships contribute four, and the graph with directions ignored the other four (Online Appendix 9.B.7). The constraint graph is much sparser, with β = 1. Metrics read the wiring and are blind to the dynamics; pricing what they find is the work of Part 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9.6. The hospital network is the rare case in which local consistency provably implies global; the government agency, the case in which every bilateral memo can be signed while the plan is infeasible.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9.1, the situation. The covenant is Table 5.4's: net leverage at most 4.5 times EBITDA.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9.1, Steps 1-5 and the discussion question. Treasury keeps the group's books, cash, debt and the EBITDA the divisions report along the cash arrows, so the covenant is a reading of treasury. Online Appendix 9.B.7 answers the discussion question: the funding arrow TRS -&gt; MAT puts Materials in the core, which grows to five members; the layers collapse to drivers and core, with depth 1; the two-box map's connection to Materials becomes real; and the single joint review is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9.1, Step 3, and Table 9.7. Five distinct paths lead from the market to treasury: three of two steps, one through each division, and two of four steps, through engineering. At least three arrows must be cut to separate treasury from the market, for instance the three cash arrows into treasury or the three demand arrows out of the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9.1, what the board should take away. The risk peak is Chapter 1's digital plan (Online Appendix 1.B, Equation 1.B.1); the measurement error is the risk committee's (Table 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AXIOM Lab 1.9. What to look for: no component moves before its distance from the shock (Theorem 9.2); summary maps add connections but never remove them (Theorem 9.3); the joint-review burden is set by the number of cycles, not by the number of constraints (Theorem 9.4). Discussion: which missing arrow are you least confident about, and how would you test it? Why might a company prefer a hub-and-spoke policy structure even when it costs flexibility?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Chapter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and workbook are on the course website, www.dynamiccorporatetransformation.com. None of the chapter's numbers is random; the lab's seed 26109 is used only for fresh draws, labelled as such.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9.8's bridge to Chapter 10, and Chapter 10's stock-and-flow balance (Equation 10.2). The performance and risk architectures of Chapters 11 and 12 are built on this one too, and Chapter 13 integrates the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CT Title">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logo-dark.png">    </p:cNvPr>
          <p:cNvPicPr>
            <a:picLocks noChangeAspect="1"/>
          </p:cNvPicPr>
          <p:nvPr/>
        </p:nvPicPr>
        <p:blipFill>
          <a:blip r:embed="rId1"/>
          <a:stretch>
            <a:fillRect/>
          </a:stretch>
        </p:blipFill>
        <p:spPr>
          <a:xfrm>
            <a:off x="731520" y="640080"/>
            <a:ext cx="4389120" cy="363931"/>
          </a:xfrm>
          <a:prstGeom prst="rect">
            <a:avLst/>
          </a:prstGeom>
        </p:spPr>
      </p:pic>
      <p:sp>
        <p:nvSpPr>
          <p:cNvPr id="3" name="Text 0"/>
          <p:cNvSpPr/>
          <p:nvPr>
            <p:ph idx="101" type="body" hasCustomPrompt="1"/>
          </p:nvPr>
        </p:nvSpPr>
        <p:spPr>
          <a:xfrm>
            <a:off x="731520" y="1874520"/>
            <a:ext cx="10607040" cy="411480"/>
          </a:xfrm>
          <a:prstGeom prst="rect">
            <a:avLst/>
          </a:prstGeom>
          <a:noFill/>
          <a:ln/>
        </p:spPr>
        <p:txBody>
          <a:bodyPr wrap="square" rtlCol="0"/>
          <a:lstStyle>
            <a:lvl1pPr indent="0" marL="0">
              <a:buNone/>
              <a:defRPr lang="en-US" sz="1500" b="1" spc="300" kern="0" dirty="0">
                <a:solidFill>
                  <a:schemeClr val="accent1"/>
                </a:solidFill>
              </a:defRPr>
            </a:lvl1pPr>
          </a:lstStyle>
          <a:p>
            <a:pPr indent="0" marL="0">
              <a:buNone/>
            </a:pP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rtlCol="0"/>
          <a:lstStyle>
            <a:lvl1pPr indent="0" marL="0">
              <a:buNone/>
              <a:defRPr lang="en-US" sz="1200" dirty="0">
                <a:solidFill>
                  <a:schemeClr val="accent4"/>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CT Quote">
    <p:bg>
      <p:bgPr>
        <a:solidFill>
          <a:srgbClr val="0F1E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280160" y="1371600"/>
            <a:ext cx="9601200" cy="3017520"/>
          </a:xfrm>
          <a:prstGeom prst="rect">
            <a:avLst/>
          </a:prstGeom>
          <a:noFill/>
          <a:ln/>
        </p:spPr>
        <p:txBody>
          <a:bodyPr wrap="square" rtlCol="0"/>
          <a:lstStyle>
            <a:lvl1pPr indent="0" marL="0">
              <a:buNone/>
              <a:defRPr lang="en-US" sz="3000" i="1" dirty="0">
                <a:solidFill>
                  <a:schemeClr val="bg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ph idx="101" type="body" hasCustomPrompt="1"/>
          </p:nvPr>
        </p:nvSpPr>
        <p:spPr>
          <a:xfrm>
            <a:off x="1280160" y="4617720"/>
            <a:ext cx="9601200" cy="457200"/>
          </a:xfrm>
          <a:prstGeom prst="rect">
            <a:avLst/>
          </a:prstGeom>
          <a:noFill/>
          <a:ln/>
        </p:spPr>
        <p:txBody>
          <a:bodyPr wrap="square" rtlCol="0"/>
          <a:lstStyle>
            <a:lvl1pPr indent="0" marL="0">
              <a:buNone/>
              <a:defRPr lang="en-US" sz="1800" b="1" dirty="0">
                <a:solidFill>
                  <a:schemeClr val="accent1"/>
                </a:solidFill>
              </a:defRPr>
            </a:lvl1pPr>
          </a:lstStyle>
          <a:p>
            <a:pPr indent="0" marL="0">
              <a:buNone/>
            </a:pPr>
            <a:endParaRPr lang="en-US" sz="1800" dirty="0"/>
          </a:p>
        </p:txBody>
      </p:sp>
      <p:sp>
        <p:nvSpPr>
          <p:cNvPr id="4" name="Text 0"/>
          <p:cNvSpPr/>
          <p:nvPr>
            <p:ph idx="102" type="body" hasCustomPrompt="1"/>
          </p:nvPr>
        </p:nvSpPr>
        <p:spPr>
          <a:xfrm>
            <a:off x="1280160" y="5074920"/>
            <a:ext cx="9601200" cy="731520"/>
          </a:xfrm>
          <a:prstGeom prst="rect">
            <a:avLst/>
          </a:prstGeom>
          <a:noFill/>
          <a:ln/>
        </p:spPr>
        <p:txBody>
          <a:bodyPr wrap="square" rtlCol="0"/>
          <a:lstStyle>
            <a:lvl1pPr indent="0" marL="0">
              <a:buNone/>
              <a:defRPr lang="en-US" sz="1400" dirty="0">
                <a:solidFill>
                  <a:schemeClr val="accent4"/>
                </a:solidFill>
              </a:defRPr>
            </a:lvl1pPr>
          </a:lstStyle>
          <a:p>
            <a:pPr indent="0" marL="0">
              <a:buNone/>
            </a:pPr>
            <a:endParaRPr lang="en-US" sz="1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CT Content">
    <p:bg>
      <p:bgPr>
        <a:solidFill>
          <a:srgbClr val="FFFFFF"/>
        </a:solidFill>
      </p:bgPr>
    </p:bg>
    <p:spTree>
      <p:nvGrpSpPr>
        <p:cNvPr id="1" name=""/>
        <p:cNvGrpSpPr/>
        <p:nvPr/>
      </p:nvGrpSpPr>
      <p:grpSpPr>
        <a:xfrm>
          <a:off x="0" y="0"/>
          <a:ext cx="0" cy="0"/>
          <a:chOff x="0" y="0"/>
          <a:chExt cx="0" cy="0"/>
        </a:xfrm>
      </p:grpSpPr>
      <p:pic>
        <p:nvPicPr>
          <p:cNvPr id="2" name="Image 0" descr="/home/claude/pixel-perfect-show-8533/public/brand/dct-m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tx2"/>
                </a:solidFill>
              </a:rPr>
              <a:t>Dynamic Corporate Transformation · Volume I · Chapter 9</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CT Dark Content">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mark-d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accent4"/>
                </a:solidFill>
              </a:rPr>
              <a:t>Dynamic Corporate Transformation · Volume I · Chapter 9</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5.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5.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1" type="body" hasCustomPrompt="1"/>
          </p:nvPr>
        </p:nvSpPr>
        <p:spPr>
          <a:xfrm>
            <a:off x="731520" y="1874520"/>
            <a:ext cx="10607040" cy="411480"/>
          </a:xfrm>
          <a:prstGeom prst="rect">
            <a:avLst/>
          </a:prstGeom>
          <a:noFill/>
          <a:ln/>
        </p:spPr>
        <p:txBody>
          <a:bodyPr wrap="square" lIns="0" tIns="0" rIns="0" bIns="0" rtlCol="0"/>
          <a:lstStyle/>
          <a:p>
            <a:pPr indent="0" marL="0">
              <a:buNone/>
            </a:pPr>
            <a:r>
              <a:rPr lang="en-US" sz="1500" b="1" spc="300" kern="0" dirty="0">
                <a:solidFill>
                  <a:schemeClr val="accent1"/>
                </a:solidFill>
              </a:rPr>
              <a:t>VOLUME I · CHAPTER 9 · WEEK 5</a:t>
            </a: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Enterprise State Architecture</a:t>
            </a: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lIns="0" tIns="0" rIns="0" bIns="0" rtlCol="0" anchor="t"/>
          <a:lstStyle/>
          <a:p>
            <a:pPr indent="0" marL="0">
              <a:buNone/>
            </a:pPr>
            <a:r>
              <a:rPr lang="en-US" sz="2000" dirty="0">
                <a:solidFill>
                  <a:schemeClr val="bg2"/>
                </a:solidFill>
              </a:rPr>
              <a:t>A company is drawn as an org chart but behaves as a wiring diagram: its arrows are testable claims, and the wiring sets a speed limit on every shock</a:t>
            </a: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lIns="0" tIns="0" rIns="0" bIns="0" rtlCol="0"/>
          <a:lstStyle/>
          <a:p>
            <a:pPr indent="0" marL="0">
              <a:buNone/>
            </a:pPr>
            <a:r>
              <a:rPr lang="en-US" sz="1200" dirty="0">
                <a:solidFill>
                  <a:schemeClr val="accent4"/>
                </a:solidFill>
              </a:rPr>
              <a:t>Graduate course companion · Lab seed 26109 · AXIOM Lab 1.9 (AXIOM-09)</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body" hasCustomPrompt="1"/>
          </p:nvPr>
        </p:nvSpPr>
        <p:spPr>
          <a:xfrm>
            <a:off x="1280160" y="1371600"/>
            <a:ext cx="9601200" cy="3017520"/>
          </a:xfrm>
          <a:prstGeom prst="rect">
            <a:avLst/>
          </a:prstGeom>
          <a:noFill/>
          <a:ln/>
        </p:spPr>
        <p:txBody>
          <a:bodyPr wrap="square" lIns="0" tIns="0" rIns="0" bIns="0" rtlCol="0" anchor="b"/>
          <a:lstStyle/>
          <a:p>
            <a:pPr indent="0" marL="0">
              <a:buNone/>
            </a:pPr>
            <a:r>
              <a:rPr lang="en-US" sz="3000" i="1" dirty="0">
                <a:solidFill>
                  <a:schemeClr val="bg1"/>
                </a:solidFill>
                <a:latin typeface="Cambria" pitchFamily="34" charset="0"/>
                <a:ea typeface="Cambria" pitchFamily="34" charset="-122"/>
                <a:cs typeface="Cambria" pitchFamily="34" charset="-120"/>
              </a:rPr>
              <a:t>“We shape our buildings and afterwards our buildings shape us.”</a:t>
            </a:r>
            <a:endParaRPr lang="en-US" sz="3000" dirty="0"/>
          </a:p>
        </p:txBody>
      </p:sp>
      <p:sp>
        <p:nvSpPr>
          <p:cNvPr id="4" name="Text 0"/>
          <p:cNvSpPr/>
          <p:nvPr>
            <p:ph idx="101" type="body" hasCustomPrompt="1"/>
          </p:nvPr>
        </p:nvSpPr>
        <p:spPr>
          <a:xfrm>
            <a:off x="1280160" y="4617720"/>
            <a:ext cx="9601200" cy="457200"/>
          </a:xfrm>
          <a:prstGeom prst="rect">
            <a:avLst/>
          </a:prstGeom>
          <a:noFill/>
          <a:ln/>
        </p:spPr>
        <p:txBody>
          <a:bodyPr wrap="square" lIns="0" tIns="0" rIns="0" bIns="0" rtlCol="0"/>
          <a:lstStyle/>
          <a:p>
            <a:pPr indent="0" marL="0">
              <a:buNone/>
            </a:pPr>
            <a:r>
              <a:rPr lang="en-US" sz="1800" b="1" dirty="0">
                <a:solidFill>
                  <a:schemeClr val="accent1"/>
                </a:solidFill>
              </a:rPr>
              <a:t>Winston S. Churchill</a:t>
            </a:r>
            <a:endParaRPr lang="en-US" sz="1800" dirty="0"/>
          </a:p>
        </p:txBody>
      </p:sp>
      <p:sp>
        <p:nvSpPr>
          <p:cNvPr id="5" name="Text 0"/>
          <p:cNvSpPr/>
          <p:nvPr>
            <p:ph idx="102" type="body" hasCustomPrompt="1"/>
          </p:nvPr>
        </p:nvSpPr>
        <p:spPr>
          <a:xfrm>
            <a:off x="1280160" y="5074920"/>
            <a:ext cx="9601200" cy="731520"/>
          </a:xfrm>
          <a:prstGeom prst="rect">
            <a:avLst/>
          </a:prstGeom>
          <a:noFill/>
          <a:ln/>
        </p:spPr>
        <p:txBody>
          <a:bodyPr wrap="square" lIns="0" tIns="0" rIns="0" bIns="0" rtlCol="0" anchor="t"/>
          <a:lstStyle/>
          <a:p>
            <a:pPr indent="0" marL="0">
              <a:buNone/>
            </a:pPr>
            <a:r>
              <a:rPr lang="en-US" sz="1400" dirty="0">
                <a:solidFill>
                  <a:schemeClr val="accent4"/>
                </a:solidFill>
              </a:rPr>
              <a:t>Nobel Prize in Literature 1953; House of Commons (1943)</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LEARNING OUTCOME STATEMENTS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After this chapter, you can</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9.1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600" dirty="0">
                <a:solidFill>
                  <a:schemeClr val="tx1"/>
                </a:solidFill>
              </a:rPr>
              <a:t>Explain what an enterprise state architecture adds to a description of a company's state—components, typed wiring, and scoped constraints—and why both its arrows and its missing arrows are testable claims.</a:t>
            </a:r>
            <a:endParaRPr lang="en-US" sz="16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9.2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600" dirty="0">
                <a:solidFill>
                  <a:schemeClr val="tx1"/>
                </a:solidFill>
              </a:rPr>
              <a:t>Use a dependency graph to determine which parts of a company a shock can reach, how soon at the earliest, and what it would take to insulate one part from another.</a:t>
            </a:r>
            <a:endParaRPr lang="en-US" sz="16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9.3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600" dirty="0">
                <a:solidFill>
                  <a:schemeClr val="tx1"/>
                </a:solidFill>
              </a:rPr>
              <a:t>Identify a company's feedback cores and causal layers, compare them with its org chart, and explain why a summary dependency map can prove separations but not connections.</a:t>
            </a:r>
            <a:endParaRPr lang="en-US" sz="16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9.4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600" dirty="0">
                <a:solidFill>
                  <a:schemeClr val="tx1"/>
                </a:solidFill>
              </a:rPr>
              <a:t>Explain why policies that are compatible pair by pair can be impossible to meet together, and decide where bilateral sign-off suffices and where a joint review is required.</a:t>
            </a:r>
            <a:endParaRPr lang="en-US" sz="16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9.5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600" dirty="0">
                <a:solidFill>
                  <a:schemeClr val="tx1"/>
                </a:solidFill>
              </a:rPr>
              <a:t>Judge whether an architecture can answer the questions put to it, audit it with the validation checklist, and read its complexity measures for what they show and what they cannot see.</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ROADMAP</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Eight sections, a worked example and a lab</a:t>
            </a:r>
            <a:endParaRPr lang="en-US" sz="3200" dirty="0"/>
          </a:p>
        </p:txBody>
      </p:sp>
      <p:sp>
        <p:nvSpPr>
          <p:cNvPr id="5" name="Card"/>
          <p:cNvSpPr/>
          <p:nvPr/>
        </p:nvSpPr>
        <p:spPr>
          <a:xfrm>
            <a:off x="548640" y="1691640"/>
            <a:ext cx="1999427" cy="2103120"/>
          </a:xfrm>
          <a:prstGeom prst="roundRect">
            <a:avLst>
              <a:gd name="adj" fmla="val 3659"/>
            </a:avLst>
          </a:prstGeom>
          <a:solidFill>
            <a:schemeClr val="bg2"/>
          </a:solidFill>
          <a:ln w="9525">
            <a:solidFill>
              <a:srgbClr val="C4CBD8"/>
            </a:solidFill>
            <a:prstDash val="solid"/>
          </a:ln>
        </p:spPr>
      </p:sp>
      <p:sp>
        <p:nvSpPr>
          <p:cNvPr id="6" name="Card label"/>
          <p:cNvSpPr txBox="1"/>
          <p:nvPr/>
        </p:nvSpPr>
        <p:spPr>
          <a:xfrm>
            <a:off x="731520"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§9.1</a:t>
            </a:r>
            <a:endParaRPr lang="en-US" sz="1300" dirty="0"/>
          </a:p>
        </p:txBody>
      </p:sp>
      <p:sp>
        <p:nvSpPr>
          <p:cNvPr id="7" name="Card head"/>
          <p:cNvSpPr txBox="1"/>
          <p:nvPr/>
        </p:nvSpPr>
        <p:spPr>
          <a:xfrm>
            <a:off x="731520"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From Org Chart to Wiring Diagram</a:t>
            </a:r>
            <a:endParaRPr lang="en-US" sz="1300" dirty="0"/>
          </a:p>
        </p:txBody>
      </p:sp>
      <p:sp>
        <p:nvSpPr>
          <p:cNvPr id="8" name="Card text"/>
          <p:cNvSpPr txBox="1"/>
          <p:nvPr/>
        </p:nvSpPr>
        <p:spPr>
          <a:xfrm>
            <a:off x="731520"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four questions, made computable</a:t>
            </a:r>
            <a:endParaRPr lang="en-US" sz="1200" dirty="0"/>
          </a:p>
        </p:txBody>
      </p:sp>
      <p:sp>
        <p:nvSpPr>
          <p:cNvPr id="9" name="Card"/>
          <p:cNvSpPr/>
          <p:nvPr/>
        </p:nvSpPr>
        <p:spPr>
          <a:xfrm>
            <a:off x="2822387" y="1691640"/>
            <a:ext cx="1999427" cy="2103120"/>
          </a:xfrm>
          <a:prstGeom prst="roundRect">
            <a:avLst>
              <a:gd name="adj" fmla="val 3659"/>
            </a:avLst>
          </a:prstGeom>
          <a:solidFill>
            <a:schemeClr val="bg2"/>
          </a:solidFill>
          <a:ln w="9525">
            <a:solidFill>
              <a:srgbClr val="C4CBD8"/>
            </a:solidFill>
            <a:prstDash val="solid"/>
          </a:ln>
        </p:spPr>
      </p:sp>
      <p:sp>
        <p:nvSpPr>
          <p:cNvPr id="10" name="Card label"/>
          <p:cNvSpPr txBox="1"/>
          <p:nvPr/>
        </p:nvSpPr>
        <p:spPr>
          <a:xfrm>
            <a:off x="3005267"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§9.2</a:t>
            </a:r>
            <a:endParaRPr lang="en-US" sz="1300" dirty="0"/>
          </a:p>
        </p:txBody>
      </p:sp>
      <p:sp>
        <p:nvSpPr>
          <p:cNvPr id="11" name="Card head"/>
          <p:cNvSpPr txBox="1"/>
          <p:nvPr/>
        </p:nvSpPr>
        <p:spPr>
          <a:xfrm>
            <a:off x="3005267"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Architecture versus Representation</a:t>
            </a:r>
            <a:endParaRPr lang="en-US" sz="1300" dirty="0"/>
          </a:p>
        </p:txBody>
      </p:sp>
      <p:sp>
        <p:nvSpPr>
          <p:cNvPr id="12" name="Card text"/>
          <p:cNvSpPr txBox="1"/>
          <p:nvPr/>
        </p:nvSpPr>
        <p:spPr>
          <a:xfrm>
            <a:off x="3005267"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Definition 9.1 · Theorem 9.1</a:t>
            </a:r>
            <a:endParaRPr lang="en-US" sz="1200" dirty="0"/>
          </a:p>
        </p:txBody>
      </p:sp>
      <p:sp>
        <p:nvSpPr>
          <p:cNvPr id="13" name="Card"/>
          <p:cNvSpPr/>
          <p:nvPr/>
        </p:nvSpPr>
        <p:spPr>
          <a:xfrm>
            <a:off x="5096134" y="1691640"/>
            <a:ext cx="1999427" cy="2103120"/>
          </a:xfrm>
          <a:prstGeom prst="roundRect">
            <a:avLst>
              <a:gd name="adj" fmla="val 3659"/>
            </a:avLst>
          </a:prstGeom>
          <a:solidFill>
            <a:schemeClr val="bg2"/>
          </a:solidFill>
          <a:ln w="9525">
            <a:solidFill>
              <a:srgbClr val="C4CBD8"/>
            </a:solidFill>
            <a:prstDash val="solid"/>
          </a:ln>
        </p:spPr>
      </p:sp>
      <p:sp>
        <p:nvSpPr>
          <p:cNvPr id="14" name="Card label"/>
          <p:cNvSpPr txBox="1"/>
          <p:nvPr/>
        </p:nvSpPr>
        <p:spPr>
          <a:xfrm>
            <a:off x="5279014"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§9.3</a:t>
            </a:r>
            <a:endParaRPr lang="en-US" sz="1300" dirty="0"/>
          </a:p>
        </p:txBody>
      </p:sp>
      <p:sp>
        <p:nvSpPr>
          <p:cNvPr id="15" name="Card head"/>
          <p:cNvSpPr txBox="1"/>
          <p:nvPr/>
        </p:nvSpPr>
        <p:spPr>
          <a:xfrm>
            <a:off x="5279014"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Enterprise Topology and State Dependencies</a:t>
            </a:r>
            <a:endParaRPr lang="en-US" sz="1300" dirty="0"/>
          </a:p>
        </p:txBody>
      </p:sp>
      <p:sp>
        <p:nvSpPr>
          <p:cNvPr id="16" name="Card text"/>
          <p:cNvSpPr txBox="1"/>
          <p:nvPr/>
        </p:nvSpPr>
        <p:spPr>
          <a:xfrm>
            <a:off x="5279014"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Table 9.2 · Figure 9.1</a:t>
            </a:r>
            <a:endParaRPr lang="en-US" sz="1200" dirty="0"/>
          </a:p>
        </p:txBody>
      </p:sp>
      <p:sp>
        <p:nvSpPr>
          <p:cNvPr id="17" name="Card"/>
          <p:cNvSpPr/>
          <p:nvPr/>
        </p:nvSpPr>
        <p:spPr>
          <a:xfrm>
            <a:off x="7369881" y="1691640"/>
            <a:ext cx="1999427" cy="2103120"/>
          </a:xfrm>
          <a:prstGeom prst="roundRect">
            <a:avLst>
              <a:gd name="adj" fmla="val 3659"/>
            </a:avLst>
          </a:prstGeom>
          <a:solidFill>
            <a:schemeClr val="bg2"/>
          </a:solidFill>
          <a:ln w="9525">
            <a:solidFill>
              <a:srgbClr val="C4CBD8"/>
            </a:solidFill>
            <a:prstDash val="solid"/>
          </a:ln>
        </p:spPr>
      </p:sp>
      <p:sp>
        <p:nvSpPr>
          <p:cNvPr id="18" name="Card label"/>
          <p:cNvSpPr txBox="1"/>
          <p:nvPr/>
        </p:nvSpPr>
        <p:spPr>
          <a:xfrm>
            <a:off x="7552761"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§9.4</a:t>
            </a:r>
            <a:endParaRPr lang="en-US" sz="1300" dirty="0"/>
          </a:p>
        </p:txBody>
      </p:sp>
      <p:sp>
        <p:nvSpPr>
          <p:cNvPr id="19" name="Card head"/>
          <p:cNvSpPr txBox="1"/>
          <p:nvPr/>
        </p:nvSpPr>
        <p:spPr>
          <a:xfrm>
            <a:off x="7552761"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Structural Dependency and Propagation</a:t>
            </a:r>
            <a:endParaRPr lang="en-US" sz="1300" dirty="0"/>
          </a:p>
        </p:txBody>
      </p:sp>
      <p:sp>
        <p:nvSpPr>
          <p:cNvPr id="20" name="Card text"/>
          <p:cNvSpPr txBox="1"/>
          <p:nvPr/>
        </p:nvSpPr>
        <p:spPr>
          <a:xfrm>
            <a:off x="7552761"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Theorem 9.2 · Proposition 9.3</a:t>
            </a:r>
            <a:endParaRPr lang="en-US" sz="1200" dirty="0"/>
          </a:p>
        </p:txBody>
      </p:sp>
      <p:sp>
        <p:nvSpPr>
          <p:cNvPr id="21" name="Card"/>
          <p:cNvSpPr/>
          <p:nvPr/>
        </p:nvSpPr>
        <p:spPr>
          <a:xfrm>
            <a:off x="9643628" y="1691640"/>
            <a:ext cx="1999427" cy="2103120"/>
          </a:xfrm>
          <a:prstGeom prst="roundRect">
            <a:avLst>
              <a:gd name="adj" fmla="val 3659"/>
            </a:avLst>
          </a:prstGeom>
          <a:solidFill>
            <a:schemeClr val="bg2"/>
          </a:solidFill>
          <a:ln w="9525">
            <a:solidFill>
              <a:srgbClr val="C4CBD8"/>
            </a:solidFill>
            <a:prstDash val="solid"/>
          </a:ln>
        </p:spPr>
      </p:sp>
      <p:sp>
        <p:nvSpPr>
          <p:cNvPr id="22" name="Card label"/>
          <p:cNvSpPr txBox="1"/>
          <p:nvPr/>
        </p:nvSpPr>
        <p:spPr>
          <a:xfrm>
            <a:off x="9826508"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§9.5</a:t>
            </a:r>
            <a:endParaRPr lang="en-US" sz="1300" dirty="0"/>
          </a:p>
        </p:txBody>
      </p:sp>
      <p:sp>
        <p:nvSpPr>
          <p:cNvPr id="23" name="Card head"/>
          <p:cNvSpPr txBox="1"/>
          <p:nvPr/>
        </p:nvSpPr>
        <p:spPr>
          <a:xfrm>
            <a:off x="9826508"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Hierarchical Enterprise States</a:t>
            </a:r>
            <a:endParaRPr lang="en-US" sz="1300" dirty="0"/>
          </a:p>
        </p:txBody>
      </p:sp>
      <p:sp>
        <p:nvSpPr>
          <p:cNvPr id="24" name="Card text"/>
          <p:cNvSpPr txBox="1"/>
          <p:nvPr/>
        </p:nvSpPr>
        <p:spPr>
          <a:xfrm>
            <a:off x="9826508"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Theorem 9.3 · Figure 9.2</a:t>
            </a:r>
            <a:endParaRPr lang="en-US" sz="1200" dirty="0"/>
          </a:p>
        </p:txBody>
      </p:sp>
      <p:sp>
        <p:nvSpPr>
          <p:cNvPr id="25" name="Card"/>
          <p:cNvSpPr/>
          <p:nvPr/>
        </p:nvSpPr>
        <p:spPr>
          <a:xfrm>
            <a:off x="548640" y="4069080"/>
            <a:ext cx="1999427" cy="2103120"/>
          </a:xfrm>
          <a:prstGeom prst="roundRect">
            <a:avLst>
              <a:gd name="adj" fmla="val 3659"/>
            </a:avLst>
          </a:prstGeom>
          <a:solidFill>
            <a:schemeClr val="bg2"/>
          </a:solidFill>
          <a:ln w="9525">
            <a:solidFill>
              <a:srgbClr val="C4CBD8"/>
            </a:solidFill>
            <a:prstDash val="solid"/>
          </a:ln>
        </p:spPr>
      </p:sp>
      <p:sp>
        <p:nvSpPr>
          <p:cNvPr id="26" name="Card label"/>
          <p:cNvSpPr txBox="1"/>
          <p:nvPr/>
        </p:nvSpPr>
        <p:spPr>
          <a:xfrm>
            <a:off x="731520"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§9.6</a:t>
            </a:r>
            <a:endParaRPr lang="en-US" sz="1300" dirty="0"/>
          </a:p>
        </p:txBody>
      </p:sp>
      <p:sp>
        <p:nvSpPr>
          <p:cNvPr id="27" name="Card head"/>
          <p:cNvSpPr txBox="1"/>
          <p:nvPr/>
        </p:nvSpPr>
        <p:spPr>
          <a:xfrm>
            <a:off x="731520" y="452628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Architectural Constraints and Consistency</a:t>
            </a:r>
            <a:endParaRPr lang="en-US" sz="1300" dirty="0"/>
          </a:p>
        </p:txBody>
      </p:sp>
      <p:sp>
        <p:nvSpPr>
          <p:cNvPr id="28" name="Card text"/>
          <p:cNvSpPr txBox="1"/>
          <p:nvPr/>
        </p:nvSpPr>
        <p:spPr>
          <a:xfrm>
            <a:off x="731520" y="5660136"/>
            <a:ext cx="1633667" cy="384048"/>
          </a:xfrm>
          <a:prstGeom prst="rect">
            <a:avLst/>
          </a:prstGeom>
          <a:noFill/>
          <a:ln/>
        </p:spPr>
        <p:txBody>
          <a:bodyPr wrap="square" lIns="0" tIns="0" rIns="0" bIns="0" rtlCol="0" anchor="t"/>
          <a:lstStyle/>
          <a:p>
            <a:pPr indent="0" marL="0">
              <a:buNone/>
            </a:pPr>
            <a:r>
              <a:rPr lang="en-US" sz="1200" dirty="0">
                <a:solidFill>
                  <a:schemeClr val="tx2"/>
                </a:solidFill>
              </a:rPr>
              <a:t>Theorem 9.4 · Figure 9.3</a:t>
            </a:r>
            <a:endParaRPr lang="en-US" sz="1200" dirty="0"/>
          </a:p>
        </p:txBody>
      </p:sp>
      <p:sp>
        <p:nvSpPr>
          <p:cNvPr id="29" name="Card"/>
          <p:cNvSpPr/>
          <p:nvPr/>
        </p:nvSpPr>
        <p:spPr>
          <a:xfrm>
            <a:off x="2822387" y="4069080"/>
            <a:ext cx="1999427" cy="2103120"/>
          </a:xfrm>
          <a:prstGeom prst="roundRect">
            <a:avLst>
              <a:gd name="adj" fmla="val 3659"/>
            </a:avLst>
          </a:prstGeom>
          <a:solidFill>
            <a:schemeClr val="bg2"/>
          </a:solidFill>
          <a:ln w="9525">
            <a:solidFill>
              <a:srgbClr val="C4CBD8"/>
            </a:solidFill>
            <a:prstDash val="solid"/>
          </a:ln>
        </p:spPr>
      </p:sp>
      <p:sp>
        <p:nvSpPr>
          <p:cNvPr id="30" name="Card label"/>
          <p:cNvSpPr txBox="1"/>
          <p:nvPr/>
        </p:nvSpPr>
        <p:spPr>
          <a:xfrm>
            <a:off x="3005267"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§9.7</a:t>
            </a:r>
            <a:endParaRPr lang="en-US" sz="1300" dirty="0"/>
          </a:p>
        </p:txBody>
      </p:sp>
      <p:sp>
        <p:nvSpPr>
          <p:cNvPr id="31" name="Card head"/>
          <p:cNvSpPr txBox="1"/>
          <p:nvPr/>
        </p:nvSpPr>
        <p:spPr>
          <a:xfrm>
            <a:off x="3005267" y="452628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Architectural Completeness and Validation</a:t>
            </a:r>
            <a:endParaRPr lang="en-US" sz="1300" dirty="0"/>
          </a:p>
        </p:txBody>
      </p:sp>
      <p:sp>
        <p:nvSpPr>
          <p:cNvPr id="32" name="Card text"/>
          <p:cNvSpPr txBox="1"/>
          <p:nvPr/>
        </p:nvSpPr>
        <p:spPr>
          <a:xfrm>
            <a:off x="3005267" y="5660136"/>
            <a:ext cx="1633667" cy="384048"/>
          </a:xfrm>
          <a:prstGeom prst="rect">
            <a:avLst/>
          </a:prstGeom>
          <a:noFill/>
          <a:ln/>
        </p:spPr>
        <p:txBody>
          <a:bodyPr wrap="square" lIns="0" tIns="0" rIns="0" bIns="0" rtlCol="0" anchor="t"/>
          <a:lstStyle/>
          <a:p>
            <a:pPr indent="0" marL="0">
              <a:buNone/>
            </a:pPr>
            <a:r>
              <a:rPr lang="en-US" sz="1200" dirty="0">
                <a:solidFill>
                  <a:schemeClr val="tx2"/>
                </a:solidFill>
              </a:rPr>
              <a:t>Theorem 9.5 · Table 9.4</a:t>
            </a:r>
            <a:endParaRPr lang="en-US" sz="1200" dirty="0"/>
          </a:p>
        </p:txBody>
      </p:sp>
      <p:sp>
        <p:nvSpPr>
          <p:cNvPr id="33" name="Card"/>
          <p:cNvSpPr/>
          <p:nvPr/>
        </p:nvSpPr>
        <p:spPr>
          <a:xfrm>
            <a:off x="5096134" y="4069080"/>
            <a:ext cx="1999427" cy="2103120"/>
          </a:xfrm>
          <a:prstGeom prst="roundRect">
            <a:avLst>
              <a:gd name="adj" fmla="val 3659"/>
            </a:avLst>
          </a:prstGeom>
          <a:solidFill>
            <a:schemeClr val="bg2"/>
          </a:solidFill>
          <a:ln w="9525">
            <a:solidFill>
              <a:srgbClr val="C4CBD8"/>
            </a:solidFill>
            <a:prstDash val="solid"/>
          </a:ln>
        </p:spPr>
      </p:sp>
      <p:sp>
        <p:nvSpPr>
          <p:cNvPr id="34" name="Card label"/>
          <p:cNvSpPr txBox="1"/>
          <p:nvPr/>
        </p:nvSpPr>
        <p:spPr>
          <a:xfrm>
            <a:off x="5279014"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§9.8</a:t>
            </a:r>
            <a:endParaRPr lang="en-US" sz="1300" dirty="0"/>
          </a:p>
        </p:txBody>
      </p:sp>
      <p:sp>
        <p:nvSpPr>
          <p:cNvPr id="35" name="Card head"/>
          <p:cNvSpPr txBox="1"/>
          <p:nvPr/>
        </p:nvSpPr>
        <p:spPr>
          <a:xfrm>
            <a:off x="5279014" y="452628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Architecture Metrics and Complexity</a:t>
            </a:r>
            <a:endParaRPr lang="en-US" sz="1300" dirty="0"/>
          </a:p>
        </p:txBody>
      </p:sp>
      <p:sp>
        <p:nvSpPr>
          <p:cNvPr id="36" name="Card text"/>
          <p:cNvSpPr txBox="1"/>
          <p:nvPr/>
        </p:nvSpPr>
        <p:spPr>
          <a:xfrm>
            <a:off x="5279014" y="5660136"/>
            <a:ext cx="1633667" cy="384048"/>
          </a:xfrm>
          <a:prstGeom prst="rect">
            <a:avLst/>
          </a:prstGeom>
          <a:noFill/>
          <a:ln/>
        </p:spPr>
        <p:txBody>
          <a:bodyPr wrap="square" lIns="0" tIns="0" rIns="0" bIns="0" rtlCol="0" anchor="t"/>
          <a:lstStyle/>
          <a:p>
            <a:pPr indent="0" marL="0">
              <a:buNone/>
            </a:pPr>
            <a:r>
              <a:rPr lang="en-US" sz="1200" dirty="0">
                <a:solidFill>
                  <a:schemeClr val="tx2"/>
                </a:solidFill>
              </a:rPr>
              <a:t>Definition 9.10 · Table 9.5</a:t>
            </a:r>
            <a:endParaRPr lang="en-US" sz="1200" dirty="0"/>
          </a:p>
        </p:txBody>
      </p:sp>
      <p:sp>
        <p:nvSpPr>
          <p:cNvPr id="37" name="Card"/>
          <p:cNvSpPr/>
          <p:nvPr/>
        </p:nvSpPr>
        <p:spPr>
          <a:xfrm>
            <a:off x="7369881" y="4069080"/>
            <a:ext cx="1999427" cy="2103120"/>
          </a:xfrm>
          <a:prstGeom prst="roundRect">
            <a:avLst>
              <a:gd name="adj" fmla="val 3659"/>
            </a:avLst>
          </a:prstGeom>
          <a:solidFill>
            <a:schemeClr val="tx1"/>
          </a:solidFill>
          <a:ln w="9525">
            <a:solidFill>
              <a:srgbClr val="0F1E3D"/>
            </a:solidFill>
            <a:prstDash val="solid"/>
          </a:ln>
        </p:spPr>
      </p:sp>
      <p:sp>
        <p:nvSpPr>
          <p:cNvPr id="38" name="Card label"/>
          <p:cNvSpPr txBox="1"/>
          <p:nvPr/>
        </p:nvSpPr>
        <p:spPr>
          <a:xfrm>
            <a:off x="7552761"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Worked Example 9.1</a:t>
            </a:r>
            <a:endParaRPr lang="en-US" sz="1300" dirty="0"/>
          </a:p>
        </p:txBody>
      </p:sp>
      <p:sp>
        <p:nvSpPr>
          <p:cNvPr id="39" name="Card head"/>
          <p:cNvSpPr txBox="1"/>
          <p:nvPr/>
        </p:nvSpPr>
        <p:spPr>
          <a:xfrm>
            <a:off x="7552761" y="4526280"/>
            <a:ext cx="1633667" cy="1060704"/>
          </a:xfrm>
          <a:prstGeom prst="rect">
            <a:avLst/>
          </a:prstGeom>
          <a:noFill/>
          <a:ln/>
        </p:spPr>
        <p:txBody>
          <a:bodyPr wrap="square" lIns="0" tIns="0" rIns="0" bIns="0" rtlCol="0" anchor="t"/>
          <a:lstStyle/>
          <a:p>
            <a:pPr indent="0" marL="0">
              <a:buNone/>
            </a:pPr>
            <a:r>
              <a:rPr lang="en-US" sz="1300" b="1" dirty="0">
                <a:solidFill>
                  <a:schemeClr val="bg1"/>
                </a:solidFill>
                <a:latin typeface="Cambria" pitchFamily="34" charset="0"/>
                <a:ea typeface="Cambria" pitchFamily="34" charset="-122"/>
                <a:cs typeface="Cambria" pitchFamily="34" charset="-120"/>
              </a:rPr>
              <a:t>How Fast Can a Demand Shock Reach the Covenant?</a:t>
            </a:r>
            <a:endParaRPr lang="en-US" sz="1300" dirty="0"/>
          </a:p>
        </p:txBody>
      </p:sp>
      <p:sp>
        <p:nvSpPr>
          <p:cNvPr id="40" name="Card text"/>
          <p:cNvSpPr txBox="1"/>
          <p:nvPr/>
        </p:nvSpPr>
        <p:spPr>
          <a:xfrm>
            <a:off x="7552761" y="5660136"/>
            <a:ext cx="1633667" cy="384048"/>
          </a:xfrm>
          <a:prstGeom prst="rect">
            <a:avLst/>
          </a:prstGeom>
          <a:noFill/>
          <a:ln/>
        </p:spPr>
        <p:txBody>
          <a:bodyPr wrap="square" lIns="0" tIns="0" rIns="0" bIns="0" rtlCol="0" anchor="t"/>
          <a:lstStyle/>
          <a:p>
            <a:pPr indent="0" marL="0">
              <a:buNone/>
            </a:pPr>
            <a:r>
              <a:rPr lang="en-US" sz="1200" dirty="0">
                <a:solidFill>
                  <a:schemeClr val="bg2"/>
                </a:solidFill>
              </a:rPr>
              <a:t>Table 9.7 · Figures 9.1–9.3</a:t>
            </a:r>
            <a:endParaRPr lang="en-US" sz="1200" dirty="0"/>
          </a:p>
        </p:txBody>
      </p:sp>
      <p:sp>
        <p:nvSpPr>
          <p:cNvPr id="41" name="Card"/>
          <p:cNvSpPr/>
          <p:nvPr/>
        </p:nvSpPr>
        <p:spPr>
          <a:xfrm>
            <a:off x="9643628" y="4069080"/>
            <a:ext cx="1999427" cy="2103120"/>
          </a:xfrm>
          <a:prstGeom prst="roundRect">
            <a:avLst>
              <a:gd name="adj" fmla="val 3659"/>
            </a:avLst>
          </a:prstGeom>
          <a:solidFill>
            <a:schemeClr val="bg2"/>
          </a:solidFill>
          <a:ln w="9525">
            <a:solidFill>
              <a:srgbClr val="C4CBD8"/>
            </a:solidFill>
            <a:prstDash val="solid"/>
          </a:ln>
        </p:spPr>
      </p:sp>
      <p:sp>
        <p:nvSpPr>
          <p:cNvPr id="42" name="Card label"/>
          <p:cNvSpPr txBox="1"/>
          <p:nvPr/>
        </p:nvSpPr>
        <p:spPr>
          <a:xfrm>
            <a:off x="9826508"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AXIOM Lab 1.9</a:t>
            </a:r>
            <a:endParaRPr lang="en-US" sz="1300" dirty="0"/>
          </a:p>
        </p:txBody>
      </p:sp>
      <p:sp>
        <p:nvSpPr>
          <p:cNvPr id="43" name="Card head"/>
          <p:cNvSpPr txBox="1"/>
          <p:nvPr/>
        </p:nvSpPr>
        <p:spPr>
          <a:xfrm>
            <a:off x="9826508" y="452628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Wiring Meridian</a:t>
            </a:r>
            <a:endParaRPr lang="en-US" sz="1300" dirty="0"/>
          </a:p>
        </p:txBody>
      </p:sp>
      <p:sp>
        <p:nvSpPr>
          <p:cNvPr id="44" name="Card text"/>
          <p:cNvSpPr txBox="1"/>
          <p:nvPr/>
        </p:nvSpPr>
        <p:spPr>
          <a:xfrm>
            <a:off x="9826508" y="5660136"/>
            <a:ext cx="1633667" cy="384048"/>
          </a:xfrm>
          <a:prstGeom prst="rect">
            <a:avLst/>
          </a:prstGeom>
          <a:noFill/>
          <a:ln/>
        </p:spPr>
        <p:txBody>
          <a:bodyPr wrap="square" lIns="0" tIns="0" rIns="0" bIns="0" rtlCol="0" anchor="t"/>
          <a:lstStyle/>
          <a:p>
            <a:pPr indent="0" marL="0">
              <a:buNone/>
            </a:pPr>
            <a:r>
              <a:rPr lang="en-US" sz="1200" dirty="0">
                <a:solidFill>
                  <a:schemeClr val="tx2"/>
                </a:solidFill>
              </a:rPr>
              <a:t>AXIOM-09 · five steps</a:t>
            </a:r>
            <a:endParaRPr lang="en-US" sz="1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§9.1 · FROM ORG CHART TO WIRING DIAGRAM</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Arguments become computations</a:t>
            </a:r>
            <a:endParaRPr lang="en-US" sz="3200" dirty="0"/>
          </a:p>
        </p:txBody>
      </p:sp>
      <p:sp>
        <p:nvSpPr>
          <p:cNvPr id="5" name="Card"/>
          <p:cNvSpPr/>
          <p:nvPr/>
        </p:nvSpPr>
        <p:spPr>
          <a:xfrm>
            <a:off x="548640" y="1691640"/>
            <a:ext cx="5410048" cy="1783080"/>
          </a:xfrm>
          <a:prstGeom prst="roundRect">
            <a:avLst>
              <a:gd name="adj" fmla="val 4103"/>
            </a:avLst>
          </a:prstGeom>
          <a:solidFill>
            <a:schemeClr val="bg2"/>
          </a:solidFill>
          <a:ln w="9525">
            <a:solidFill>
              <a:srgbClr val="C4CBD8"/>
            </a:solidFill>
            <a:prstDash val="solid"/>
          </a:ln>
        </p:spPr>
      </p:sp>
      <p:sp>
        <p:nvSpPr>
          <p:cNvPr id="6" name="Card label"/>
          <p:cNvSpPr txBox="1"/>
          <p:nvPr/>
        </p:nvSpPr>
        <p:spPr>
          <a:xfrm>
            <a:off x="731520" y="1819656"/>
            <a:ext cx="5044288" cy="310896"/>
          </a:xfrm>
          <a:prstGeom prst="rect">
            <a:avLst/>
          </a:prstGeom>
          <a:noFill/>
          <a:ln/>
        </p:spPr>
        <p:txBody>
          <a:bodyPr wrap="square" lIns="0" tIns="0" rIns="0" bIns="0" rtlCol="0" anchor="ctr"/>
          <a:lstStyle/>
          <a:p>
            <a:pPr indent="0" marL="0">
              <a:buNone/>
            </a:pPr>
            <a:r>
              <a:rPr lang="en-US" sz="1300" b="1" dirty="0">
                <a:solidFill>
                  <a:schemeClr val="accent1"/>
                </a:solidFill>
              </a:rPr>
              <a:t>Contagion</a:t>
            </a:r>
            <a:endParaRPr lang="en-US" sz="1300" dirty="0"/>
          </a:p>
        </p:txBody>
      </p:sp>
      <p:sp>
        <p:nvSpPr>
          <p:cNvPr id="7" name="Card head"/>
          <p:cNvSpPr txBox="1"/>
          <p:nvPr/>
        </p:nvSpPr>
        <p:spPr>
          <a:xfrm>
            <a:off x="731520" y="2148840"/>
            <a:ext cx="5044288" cy="740664"/>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How fast can a fall in demand reach the loan covenant?</a:t>
            </a:r>
            <a:endParaRPr lang="en-US" sz="1700" dirty="0"/>
          </a:p>
        </p:txBody>
      </p:sp>
      <p:sp>
        <p:nvSpPr>
          <p:cNvPr id="8" name="Card text"/>
          <p:cNvSpPr txBox="1"/>
          <p:nvPr/>
        </p:nvSpPr>
        <p:spPr>
          <a:xfrm>
            <a:off x="731520" y="2962656"/>
            <a:ext cx="5044288" cy="384048"/>
          </a:xfrm>
          <a:prstGeom prst="rect">
            <a:avLst/>
          </a:prstGeom>
          <a:noFill/>
          <a:ln/>
        </p:spPr>
        <p:txBody>
          <a:bodyPr wrap="square" lIns="0" tIns="0" rIns="0" bIns="0" rtlCol="0" anchor="t"/>
          <a:lstStyle/>
          <a:p>
            <a:pPr indent="0" marL="0">
              <a:buNone/>
            </a:pPr>
            <a:r>
              <a:rPr lang="en-US" sz="1400" dirty="0">
                <a:solidFill>
                  <a:schemeClr val="tx2"/>
                </a:solidFill>
              </a:rPr>
              <a:t>No faster than the number of arrows between them (Theorem 9.2).</a:t>
            </a:r>
            <a:endParaRPr lang="en-US" sz="1400" dirty="0"/>
          </a:p>
        </p:txBody>
      </p:sp>
      <p:sp>
        <p:nvSpPr>
          <p:cNvPr id="9" name="Card"/>
          <p:cNvSpPr/>
          <p:nvPr/>
        </p:nvSpPr>
        <p:spPr>
          <a:xfrm>
            <a:off x="6233008" y="1691640"/>
            <a:ext cx="5410048" cy="1783080"/>
          </a:xfrm>
          <a:prstGeom prst="roundRect">
            <a:avLst>
              <a:gd name="adj" fmla="val 4103"/>
            </a:avLst>
          </a:prstGeom>
          <a:solidFill>
            <a:schemeClr val="bg2"/>
          </a:solidFill>
          <a:ln w="9525">
            <a:solidFill>
              <a:srgbClr val="C4CBD8"/>
            </a:solidFill>
            <a:prstDash val="solid"/>
          </a:ln>
        </p:spPr>
      </p:sp>
      <p:sp>
        <p:nvSpPr>
          <p:cNvPr id="10" name="Card label"/>
          <p:cNvSpPr txBox="1"/>
          <p:nvPr/>
        </p:nvSpPr>
        <p:spPr>
          <a:xfrm>
            <a:off x="6415888" y="1819656"/>
            <a:ext cx="5044288" cy="310896"/>
          </a:xfrm>
          <a:prstGeom prst="rect">
            <a:avLst/>
          </a:prstGeom>
          <a:noFill/>
          <a:ln/>
        </p:spPr>
        <p:txBody>
          <a:bodyPr wrap="square" lIns="0" tIns="0" rIns="0" bIns="0" rtlCol="0" anchor="ctr"/>
          <a:lstStyle/>
          <a:p>
            <a:pPr indent="0" marL="0">
              <a:buNone/>
            </a:pPr>
            <a:r>
              <a:rPr lang="en-US" sz="1300" b="1" dirty="0">
                <a:solidFill>
                  <a:schemeClr val="accent1"/>
                </a:solidFill>
              </a:rPr>
              <a:t>Summary maps</a:t>
            </a:r>
            <a:endParaRPr lang="en-US" sz="1300" dirty="0"/>
          </a:p>
        </p:txBody>
      </p:sp>
      <p:sp>
        <p:nvSpPr>
          <p:cNvPr id="11" name="Card head"/>
          <p:cNvSpPr txBox="1"/>
          <p:nvPr/>
        </p:nvSpPr>
        <p:spPr>
          <a:xfrm>
            <a:off x="6415888" y="2148840"/>
            <a:ext cx="5044288" cy="740664"/>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Is the divisional dependency map trustworthy?</a:t>
            </a:r>
            <a:endParaRPr lang="en-US" sz="1700" dirty="0"/>
          </a:p>
        </p:txBody>
      </p:sp>
      <p:sp>
        <p:nvSpPr>
          <p:cNvPr id="12" name="Card text"/>
          <p:cNvSpPr txBox="1"/>
          <p:nvPr/>
        </p:nvSpPr>
        <p:spPr>
          <a:xfrm>
            <a:off x="6415888" y="2962656"/>
            <a:ext cx="5044288" cy="384048"/>
          </a:xfrm>
          <a:prstGeom prst="rect">
            <a:avLst/>
          </a:prstGeom>
          <a:noFill/>
          <a:ln/>
        </p:spPr>
        <p:txBody>
          <a:bodyPr wrap="square" lIns="0" tIns="0" rIns="0" bIns="0" rtlCol="0" anchor="t"/>
          <a:lstStyle/>
          <a:p>
            <a:pPr indent="0" marL="0">
              <a:buNone/>
            </a:pPr>
            <a:r>
              <a:rPr lang="en-US" sz="1400" dirty="0">
                <a:solidFill>
                  <a:schemeClr val="tx2"/>
                </a:solidFill>
              </a:rPr>
              <a:t>In one direction only (Theorem 9.3).</a:t>
            </a:r>
            <a:endParaRPr lang="en-US" sz="1400" dirty="0"/>
          </a:p>
        </p:txBody>
      </p:sp>
      <p:sp>
        <p:nvSpPr>
          <p:cNvPr id="13" name="Card"/>
          <p:cNvSpPr/>
          <p:nvPr/>
        </p:nvSpPr>
        <p:spPr>
          <a:xfrm>
            <a:off x="548640" y="3749040"/>
            <a:ext cx="5410048" cy="1783080"/>
          </a:xfrm>
          <a:prstGeom prst="roundRect">
            <a:avLst>
              <a:gd name="adj" fmla="val 4103"/>
            </a:avLst>
          </a:prstGeom>
          <a:solidFill>
            <a:schemeClr val="bg2"/>
          </a:solidFill>
          <a:ln w="9525">
            <a:solidFill>
              <a:srgbClr val="C4CBD8"/>
            </a:solidFill>
            <a:prstDash val="solid"/>
          </a:ln>
        </p:spPr>
      </p:sp>
      <p:sp>
        <p:nvSpPr>
          <p:cNvPr id="14" name="Card label"/>
          <p:cNvSpPr txBox="1"/>
          <p:nvPr/>
        </p:nvSpPr>
        <p:spPr>
          <a:xfrm>
            <a:off x="731520" y="3877056"/>
            <a:ext cx="5044288" cy="310896"/>
          </a:xfrm>
          <a:prstGeom prst="rect">
            <a:avLst/>
          </a:prstGeom>
          <a:noFill/>
          <a:ln/>
        </p:spPr>
        <p:txBody>
          <a:bodyPr wrap="square" lIns="0" tIns="0" rIns="0" bIns="0" rtlCol="0" anchor="ctr"/>
          <a:lstStyle/>
          <a:p>
            <a:pPr indent="0" marL="0">
              <a:buNone/>
            </a:pPr>
            <a:r>
              <a:rPr lang="en-US" sz="1300" b="1" dirty="0">
                <a:solidFill>
                  <a:schemeClr val="accent1"/>
                </a:solidFill>
              </a:rPr>
              <a:t>Policies</a:t>
            </a:r>
            <a:endParaRPr lang="en-US" sz="1300" dirty="0"/>
          </a:p>
        </p:txBody>
      </p:sp>
      <p:sp>
        <p:nvSpPr>
          <p:cNvPr id="15" name="Card head"/>
          <p:cNvSpPr txBox="1"/>
          <p:nvPr/>
        </p:nvSpPr>
        <p:spPr>
          <a:xfrm>
            <a:off x="731520" y="4206240"/>
            <a:ext cx="5044288" cy="740664"/>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Can rules agreed pair by pair be impossible to meet together?</a:t>
            </a:r>
            <a:endParaRPr lang="en-US" sz="1700" dirty="0"/>
          </a:p>
        </p:txBody>
      </p:sp>
      <p:sp>
        <p:nvSpPr>
          <p:cNvPr id="16" name="Card text"/>
          <p:cNvSpPr txBox="1"/>
          <p:nvPr/>
        </p:nvSpPr>
        <p:spPr>
          <a:xfrm>
            <a:off x="731520" y="5020056"/>
            <a:ext cx="5044288" cy="384048"/>
          </a:xfrm>
          <a:prstGeom prst="rect">
            <a:avLst/>
          </a:prstGeom>
          <a:noFill/>
          <a:ln/>
        </p:spPr>
        <p:txBody>
          <a:bodyPr wrap="square" lIns="0" tIns="0" rIns="0" bIns="0" rtlCol="0" anchor="t"/>
          <a:lstStyle/>
          <a:p>
            <a:pPr indent="0" marL="0">
              <a:buNone/>
            </a:pPr>
            <a:r>
              <a:rPr lang="en-US" sz="1400" dirty="0">
                <a:solidFill>
                  <a:schemeClr val="tx2"/>
                </a:solidFill>
              </a:rPr>
              <a:t>Exactly when the constraints form a cycle (Theorem 9.4).</a:t>
            </a:r>
            <a:endParaRPr lang="en-US" sz="1400" dirty="0"/>
          </a:p>
        </p:txBody>
      </p:sp>
      <p:sp>
        <p:nvSpPr>
          <p:cNvPr id="17" name="Card"/>
          <p:cNvSpPr/>
          <p:nvPr/>
        </p:nvSpPr>
        <p:spPr>
          <a:xfrm>
            <a:off x="6233008" y="3749040"/>
            <a:ext cx="5410048" cy="1783080"/>
          </a:xfrm>
          <a:prstGeom prst="roundRect">
            <a:avLst>
              <a:gd name="adj" fmla="val 4103"/>
            </a:avLst>
          </a:prstGeom>
          <a:solidFill>
            <a:schemeClr val="tx1"/>
          </a:solidFill>
          <a:ln w="9525">
            <a:solidFill>
              <a:srgbClr val="0F1E3D"/>
            </a:solidFill>
            <a:prstDash val="solid"/>
          </a:ln>
        </p:spPr>
      </p:sp>
      <p:sp>
        <p:nvSpPr>
          <p:cNvPr id="18" name="Card label"/>
          <p:cNvSpPr txBox="1"/>
          <p:nvPr/>
        </p:nvSpPr>
        <p:spPr>
          <a:xfrm>
            <a:off x="6415888" y="3877056"/>
            <a:ext cx="5044288" cy="310896"/>
          </a:xfrm>
          <a:prstGeom prst="rect">
            <a:avLst/>
          </a:prstGeom>
          <a:noFill/>
          <a:ln/>
        </p:spPr>
        <p:txBody>
          <a:bodyPr wrap="square" lIns="0" tIns="0" rIns="0" bIns="0" rtlCol="0" anchor="ctr"/>
          <a:lstStyle/>
          <a:p>
            <a:pPr indent="0" marL="0">
              <a:buNone/>
            </a:pPr>
            <a:r>
              <a:rPr lang="en-US" sz="1300" b="1" dirty="0">
                <a:solidFill>
                  <a:schemeClr val="accent1"/>
                </a:solidFill>
              </a:rPr>
              <a:t>Hierarchy</a:t>
            </a:r>
            <a:endParaRPr lang="en-US" sz="1300" dirty="0"/>
          </a:p>
        </p:txBody>
      </p:sp>
      <p:sp>
        <p:nvSpPr>
          <p:cNvPr id="19" name="Card head"/>
          <p:cNvSpPr txBox="1"/>
          <p:nvPr/>
        </p:nvSpPr>
        <p:spPr>
          <a:xfrm>
            <a:off x="6415888" y="4206240"/>
            <a:ext cx="5044288" cy="740664"/>
          </a:xfrm>
          <a:prstGeom prst="rect">
            <a:avLst/>
          </a:prstGeom>
          <a:noFill/>
          <a:ln/>
        </p:spPr>
        <p:txBody>
          <a:bodyPr wrap="square" lIns="0" tIns="0" rIns="0" bIns="0" rtlCol="0" anchor="t"/>
          <a:lstStyle/>
          <a:p>
            <a:pPr indent="0" marL="0">
              <a:buNone/>
            </a:pPr>
            <a:r>
              <a:rPr lang="en-US" sz="1700" b="1" dirty="0">
                <a:solidFill>
                  <a:schemeClr val="bg1"/>
                </a:solidFill>
                <a:latin typeface="Cambria" pitchFamily="34" charset="0"/>
                <a:ea typeface="Cambria" pitchFamily="34" charset="-122"/>
                <a:cs typeface="Cambria" pitchFamily="34" charset="-120"/>
              </a:rPr>
              <a:t>Is there a natural hierarchy beneath the org chart?</a:t>
            </a:r>
            <a:endParaRPr lang="en-US" sz="1700" dirty="0"/>
          </a:p>
        </p:txBody>
      </p:sp>
      <p:sp>
        <p:nvSpPr>
          <p:cNvPr id="20" name="Card text"/>
          <p:cNvSpPr txBox="1"/>
          <p:nvPr/>
        </p:nvSpPr>
        <p:spPr>
          <a:xfrm>
            <a:off x="6415888" y="5020056"/>
            <a:ext cx="5044288" cy="384048"/>
          </a:xfrm>
          <a:prstGeom prst="rect">
            <a:avLst/>
          </a:prstGeom>
          <a:noFill/>
          <a:ln/>
        </p:spPr>
        <p:txBody>
          <a:bodyPr wrap="square" lIns="0" tIns="0" rIns="0" bIns="0" rtlCol="0" anchor="t"/>
          <a:lstStyle/>
          <a:p>
            <a:pPr indent="0" marL="0">
              <a:buNone/>
            </a:pPr>
            <a:r>
              <a:rPr lang="en-US" sz="1400" dirty="0">
                <a:solidFill>
                  <a:schemeClr val="bg2"/>
                </a:solidFill>
              </a:rPr>
              <a:t>Yes, and it can be computed (Proposition 9.3).</a:t>
            </a:r>
            <a:endParaRPr lang="en-US" sz="1400" dirty="0"/>
          </a:p>
        </p:txBody>
      </p:sp>
      <p:sp>
        <p:nvSpPr>
          <p:cNvPr id="21" name="Lead"/>
          <p:cNvSpPr txBox="1"/>
          <p:nvPr/>
        </p:nvSpPr>
        <p:spPr>
          <a:xfrm>
            <a:off x="548640" y="580644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The architecture is the state space with its organization: components, wiring and constraints as one object.</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§9.2 · DEFINITIONS 9.1–9.2 · TABLE 9.1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An architecture is a triple</a:t>
            </a:r>
            <a:endParaRPr lang="en-US" sz="3200" dirty="0"/>
          </a:p>
        </p:txBody>
      </p:sp>
      <p:pic>
        <p:nvPicPr>
          <p:cNvPr id="5" name="Equation" descr="Equation: \mathcal{A}_{S} \;=\; \bigl(\mathcal{X},\; \mathcal{R},\; \mathcal{C}\bigr)">    </p:cNvPr>
          <p:cNvPicPr>
            <a:picLocks noChangeAspect="1"/>
          </p:cNvPicPr>
          <p:nvPr/>
        </p:nvPicPr>
        <p:blipFill>
          <a:blip r:embed="rId1"/>
          <a:stretch>
            <a:fillRect/>
          </a:stretch>
        </p:blipFill>
        <p:spPr>
          <a:xfrm>
            <a:off x="4062167" y="1828800"/>
            <a:ext cx="4067361" cy="777240"/>
          </a:xfrm>
          <a:prstGeom prst="rect">
            <a:avLst/>
          </a:prstGeom>
        </p:spPr>
      </p:pic>
      <p:sp>
        <p:nvSpPr>
          <p:cNvPr id="6" name="Text 2"/>
          <p:cNvSpPr txBox="1"/>
          <p:nvPr/>
        </p:nvSpPr>
        <p:spPr>
          <a:xfrm>
            <a:off x="914400" y="2743200"/>
            <a:ext cx="10362895" cy="411480"/>
          </a:xfrm>
          <a:prstGeom prst="rect">
            <a:avLst/>
          </a:prstGeom>
          <a:noFill/>
          <a:ln/>
        </p:spPr>
        <p:txBody>
          <a:bodyPr wrap="square" lIns="0" tIns="0" rIns="0" bIns="0" rtlCol="0" anchor="ctr"/>
          <a:lstStyle/>
          <a:p>
            <a:pPr algn="ctr" indent="0" marL="0">
              <a:buNone/>
            </a:pPr>
            <a:r>
              <a:rPr lang="en-US" sz="1600" i="1" dirty="0">
                <a:solidFill>
                  <a:schemeClr val="accent4"/>
                </a:solidFill>
              </a:rPr>
              <a:t>a structured state space, a relationship structure, and a constraint family with scopes</a:t>
            </a:r>
            <a:endParaRPr lang="en-US" sz="1600" dirty="0"/>
          </a:p>
        </p:txBody>
      </p:sp>
      <p:sp>
        <p:nvSpPr>
          <p:cNvPr id="7" name="Bullets"/>
          <p:cNvSpPr txBox="1"/>
          <p:nvPr/>
        </p:nvSpPr>
        <p:spPr>
          <a:xfrm>
            <a:off x="914400" y="3337560"/>
            <a:ext cx="10362895" cy="283464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bg1"/>
                </a:solidFill>
              </a:rPr>
              <a:t>Components</a:t>
            </a:r>
            <a:r>
              <a:rPr lang="en-US" sz="1700" dirty="0">
                <a:solidFill>
                  <a:schemeClr val="bg1"/>
                </a:solidFill>
              </a:rPr>
              <a:t> V, each with its own state: Meridian's divisions IND, DIG and MAT, engineering ENG, treasury TRS, the market MKT and governance GOV</a:t>
            </a:r>
            <a:endParaRPr lang="en-US" sz="1700" dirty="0"/>
          </a:p>
          <a:p>
            <a:pPr marL="228600" indent="-228600">
              <a:spcAft>
                <a:spcPts val="800"/>
              </a:spcAft>
              <a:buSzPct val="100000"/>
              <a:buChar char="•"/>
            </a:pPr>
            <a:r>
              <a:rPr lang="en-US" sz="1700" b="1" dirty="0">
                <a:solidFill>
                  <a:schemeClr val="bg1"/>
                </a:solidFill>
              </a:rPr>
              <a:t>Wiring:</a:t>
            </a:r>
            <a:r>
              <a:rPr lang="en-US" sz="1700" dirty="0">
                <a:solidFill>
                  <a:schemeClr val="bg1"/>
                </a:solidFill>
              </a:rPr>
              <a:t> a typed dependency graph D = (V, E), Meridian's demand, cash, funding, capability and policy arrows</a:t>
            </a:r>
            <a:endParaRPr lang="en-US" sz="1700" dirty="0"/>
          </a:p>
          <a:p>
            <a:pPr marL="228600" indent="-228600">
              <a:spcAft>
                <a:spcPts val="800"/>
              </a:spcAft>
              <a:buSzPct val="100000"/>
              <a:buChar char="•"/>
            </a:pPr>
            <a:r>
              <a:rPr lang="en-US" sz="1700" b="1" dirty="0">
                <a:solidFill>
                  <a:schemeClr val="bg1"/>
                </a:solidFill>
              </a:rPr>
              <a:t>Constraints</a:t>
            </a:r>
            <a:r>
              <a:rPr lang="en-US" sz="1700" dirty="0">
                <a:solidFill>
                  <a:schemeClr val="bg1"/>
                </a:solidFill>
              </a:rPr>
              <a:t>, each with a scope: local (covenant, liquidity floor, plant capacity) or coupling (risk ceiling, capability floor)</a:t>
            </a:r>
            <a:endParaRPr lang="en-US" sz="1700" dirty="0"/>
          </a:p>
          <a:p>
            <a:pPr marL="228600" indent="-228600">
              <a:spcAft>
                <a:spcPts val="800"/>
              </a:spcAft>
              <a:buSzPct val="100000"/>
              <a:buChar char="•"/>
            </a:pPr>
            <a:r>
              <a:rPr lang="en-US" sz="1700" b="1" dirty="0">
                <a:solidFill>
                  <a:schemeClr val="bg1"/>
                </a:solidFill>
              </a:rPr>
              <a:t>Interfaces</a:t>
            </a:r>
            <a:r>
              <a:rPr lang="en-US" sz="1700" dirty="0">
                <a:solidFill>
                  <a:schemeClr val="bg1"/>
                </a:solidFill>
              </a:rPr>
              <a:t> (Definition 9.2): treasury exposes funding capacity; engineering, the workforce-capability index</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§9.2 · THEOREM 9.1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Arrows are dependences; missing arrows, claims</a:t>
            </a:r>
            <a:endParaRPr lang="en-US" sz="3200" dirty="0"/>
          </a:p>
        </p:txBody>
      </p:sp>
      <p:sp>
        <p:nvSpPr>
          <p:cNvPr id="5" name="Result card"/>
          <p:cNvSpPr/>
          <p:nvPr/>
        </p:nvSpPr>
        <p:spPr>
          <a:xfrm>
            <a:off x="548640" y="1691640"/>
            <a:ext cx="717804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662940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9.1</a:t>
            </a:r>
            <a:endParaRPr lang="en-US" sz="1200" dirty="0"/>
          </a:p>
        </p:txBody>
      </p:sp>
      <p:sp>
        <p:nvSpPr>
          <p:cNvPr id="7" name="Text 4"/>
          <p:cNvSpPr txBox="1"/>
          <p:nvPr/>
        </p:nvSpPr>
        <p:spPr>
          <a:xfrm>
            <a:off x="822960" y="2194560"/>
            <a:ext cx="662940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Enterprise State Architecture Representation Theorem</a:t>
            </a:r>
            <a:endParaRPr lang="en-US" sz="2100" dirty="0"/>
          </a:p>
        </p:txBody>
      </p:sp>
      <p:sp>
        <p:nvSpPr>
          <p:cNvPr id="8" name="Bullets"/>
          <p:cNvSpPr txBox="1"/>
          <p:nvPr/>
        </p:nvSpPr>
        <p:spPr>
          <a:xfrm>
            <a:off x="822960" y="2743200"/>
            <a:ext cx="6629400" cy="3291840"/>
          </a:xfrm>
          <a:prstGeom prst="rect">
            <a:avLst/>
          </a:prstGeom>
          <a:noFill/>
          <a:ln/>
        </p:spPr>
        <p:txBody>
          <a:bodyPr wrap="square" lIns="635" tIns="635" rIns="635" bIns="635" rtlCol="0" anchor="t"/>
          <a:lstStyle/>
          <a:p>
            <a:pPr marL="228600" indent="-228600">
              <a:spcAft>
                <a:spcPts val="600"/>
              </a:spcAft>
              <a:buSzPct val="100000"/>
              <a:buChar char="•"/>
            </a:pPr>
            <a:r>
              <a:rPr lang="en-US" sz="1500" b="1" dirty="0">
                <a:solidFill>
                  <a:schemeClr val="tx1"/>
                </a:solidFill>
              </a:rPr>
              <a:t>(i) Systems induce architectures.</a:t>
            </a:r>
            <a:r>
              <a:rPr lang="en-US" sz="1500" dirty="0">
                <a:solidFill>
                  <a:schemeClr val="tx1"/>
                </a:solidFill>
              </a:rPr>
              <a:t> Draw u → v exactly when v's next state changes with u's: the canonical graph is the minimal sufficient wiring</a:t>
            </a:r>
            <a:endParaRPr lang="en-US" sz="1500" dirty="0"/>
          </a:p>
          <a:p>
            <a:pPr marL="228600" indent="-228600">
              <a:spcAft>
                <a:spcPts val="600"/>
              </a:spcAft>
              <a:buSzPct val="100000"/>
              <a:buChar char="•"/>
            </a:pPr>
            <a:r>
              <a:rPr lang="en-US" sz="1500" b="1" dirty="0">
                <a:solidFill>
                  <a:schemeClr val="tx1"/>
                </a:solidFill>
              </a:rPr>
              <a:t>(ii) Architectures assemble into systems.</a:t>
            </a:r>
            <a:r>
              <a:rPr lang="en-US" sz="1500" dirty="0">
                <a:solidFill>
                  <a:schemeClr val="tx1"/>
                </a:solidFill>
              </a:rPr>
              <a:t> Interface-backed components assemble into one company model with a unique path from every start</a:t>
            </a:r>
            <a:endParaRPr lang="en-US" sz="1500" dirty="0"/>
          </a:p>
          <a:p>
            <a:pPr marL="228600" indent="-228600">
              <a:spcAft>
                <a:spcPts val="600"/>
              </a:spcAft>
              <a:buSzPct val="100000"/>
              <a:buChar char="•"/>
            </a:pPr>
            <a:r>
              <a:rPr lang="en-US" sz="1500" b="1" dirty="0">
                <a:solidFill>
                  <a:schemeClr val="tx1"/>
                </a:solidFill>
              </a:rPr>
              <a:t>(iii) The two constructions agree.</a:t>
            </a:r>
            <a:r>
              <a:rPr lang="en-US" sz="1500" dirty="0">
                <a:solidFill>
                  <a:schemeClr val="tx1"/>
                </a:solidFill>
              </a:rPr>
              <a:t> Assembling the canonical architecture of a model gives back the model</a:t>
            </a:r>
            <a:endParaRPr lang="en-US" sz="1500" dirty="0"/>
          </a:p>
        </p:txBody>
      </p:sp>
      <p:sp>
        <p:nvSpPr>
          <p:cNvPr id="9" name="Text 6"/>
          <p:cNvSpPr txBox="1"/>
          <p:nvPr/>
        </p:nvSpPr>
        <p:spPr>
          <a:xfrm>
            <a:off x="8138160" y="1737360"/>
            <a:ext cx="3504895" cy="365760"/>
          </a:xfrm>
          <a:prstGeom prst="rect">
            <a:avLst/>
          </a:prstGeom>
          <a:noFill/>
          <a:ln/>
        </p:spPr>
        <p:txBody>
          <a:bodyPr wrap="square" lIns="0" tIns="0" rIns="0" bIns="0" rtlCol="0" anchor="ctr"/>
          <a:lstStyle/>
          <a:p>
            <a:pPr indent="0" marL="0">
              <a:buNone/>
            </a:pPr>
            <a:r>
              <a:rPr lang="en-US" sz="1600" b="1" dirty="0">
                <a:solidFill>
                  <a:schemeClr val="accent2"/>
                </a:solidFill>
              </a:rPr>
              <a:t>What it means</a:t>
            </a:r>
            <a:endParaRPr lang="en-US" sz="1600" dirty="0"/>
          </a:p>
        </p:txBody>
      </p:sp>
      <p:sp>
        <p:nvSpPr>
          <p:cNvPr id="10" name="Bullets"/>
          <p:cNvSpPr txBox="1"/>
          <p:nvPr/>
        </p:nvSpPr>
        <p:spPr>
          <a:xfrm>
            <a:off x="8138160" y="2194560"/>
            <a:ext cx="3504895" cy="397764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An arrow asserts a dependence; a missing arrow, an independence</a:t>
            </a:r>
            <a:endParaRPr lang="en-US" sz="1500" dirty="0"/>
          </a:p>
          <a:p>
            <a:pPr marL="228600" indent="-228600">
              <a:spcAft>
                <a:spcPts val="800"/>
              </a:spcAft>
              <a:buSzPct val="100000"/>
              <a:buChar char="•"/>
            </a:pPr>
            <a:r>
              <a:rPr lang="en-US" sz="1500" dirty="0">
                <a:solidFill>
                  <a:schemeClr val="tx1"/>
                </a:solidFill>
              </a:rPr>
              <a:t>“Materials does not depend on treasury” is a strong claim of the second kind</a:t>
            </a:r>
            <a:endParaRPr lang="en-US" sz="1500" dirty="0"/>
          </a:p>
          <a:p>
            <a:pPr marL="228600" indent="-228600">
              <a:spcAft>
                <a:spcPts val="800"/>
              </a:spcAft>
              <a:buSzPct val="100000"/>
              <a:buChar char="•"/>
            </a:pPr>
            <a:r>
              <a:rPr lang="en-US" sz="1500" dirty="0">
                <a:solidFill>
                  <a:schemeClr val="tx1"/>
                </a:solidFill>
              </a:rPr>
              <a:t>Wiring diagrams compute: an interfaced architecture is the company model</a:t>
            </a:r>
            <a:endParaRPr lang="en-US" sz="1500" dirty="0"/>
          </a:p>
          <a:p>
            <a:pPr marL="228600" indent="-228600">
              <a:spcAft>
                <a:spcPts val="800"/>
              </a:spcAft>
              <a:buSzPct val="100000"/>
              <a:buChar char="•"/>
            </a:pPr>
            <a:r>
              <a:rPr lang="en-US" sz="1500" dirty="0">
                <a:solidFill>
                  <a:schemeClr val="tx1"/>
                </a:solidFill>
              </a:rPr>
              <a:t>Proposition 9.1: every declared decomposition gives an architecture</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§9.3 · DEFINITION 9.3 · TABLE 9.2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Every arrow carries a declared type</a:t>
            </a:r>
            <a:endParaRPr lang="en-US" sz="32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017166"/>
                <a:gridCol w="4034333"/>
                <a:gridCol w="5042916"/>
              </a:tblGrid>
              <a:tr h="45720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Type</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What the arrow asserts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Meridian instance</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566928">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Dynamic</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v's next state changes with u's state</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demand: MKT to each division</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77724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Resource flow</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a conserved quantity (cash, people, materials) crosses the arrow</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cash: divisions to TRS; funding: TRS to IND, DIG; capability: ENG to and from IND, DIG</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658368">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Informational</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v reads u's signals or decisions; nothing is conserved</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policy: GOV to TRS, DIG</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658368">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Constraint coupling</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u and v appear in one constraint</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strategic-risk ceiling across the divisions; capability floor, ENG–DIG</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6" name="Table note"/>
          <p:cNvSpPr txBox="1"/>
          <p:nvPr/>
        </p:nvSpPr>
        <p:spPr>
          <a:xfrm>
            <a:off x="548640" y="498348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Table 9.2. One arrow may carry several types (every resource flow is also a dynamic dependence); each analysis declares which layer it reads.</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b="1" dirty="0">
                <a:solidFill>
                  <a:schemeClr val="accent2"/>
                </a:solidFill>
              </a:rPr>
              <a:t>Proposition 9.2.</a:t>
            </a:r>
            <a:r>
              <a:rPr lang="en-US" sz="1600" dirty="0">
                <a:solidFill>
                  <a:schemeClr val="accent2"/>
                </a:solidFill>
              </a:rPr>
              <a:t> The canonical graph is minimal and sufficient: it misses no channel and reports no vacuous one.</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§9.3 · DEFINITION 9.5 · FIGURE 9.1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One feedback core, three causal layers</a:t>
            </a:r>
            <a:endParaRPr lang="en-US" sz="3200" dirty="0"/>
          </a:p>
        </p:txBody>
      </p:sp>
      <p:sp>
        <p:nvSpPr>
          <p:cNvPr id="5" name="Bullets"/>
          <p:cNvSpPr txBox="1"/>
          <p:nvPr/>
        </p:nvSpPr>
        <p:spPr>
          <a:xfrm>
            <a:off x="548640" y="1691640"/>
            <a:ext cx="4254886"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Definition 9.5.</a:t>
            </a:r>
            <a:r>
              <a:rPr lang="en-US" sz="1600" dirty="0">
                <a:solidFill>
                  <a:schemeClr val="tx1"/>
                </a:solidFill>
              </a:rPr>
              <a:t> A </a:t>
            </a:r>
            <a:r>
              <a:rPr lang="en-US" sz="1600" b="1" dirty="0">
                <a:solidFill>
                  <a:schemeClr val="tx1"/>
                </a:solidFill>
              </a:rPr>
              <a:t>feedback core</a:t>
            </a:r>
            <a:r>
              <a:rPr lang="en-US" sz="1600" dirty="0">
                <a:solidFill>
                  <a:schemeClr val="tx1"/>
                </a:solidFill>
              </a:rPr>
              <a:t> is a strongly connected component of several members</a:t>
            </a:r>
            <a:endParaRPr lang="en-US" sz="1600" dirty="0"/>
          </a:p>
          <a:p>
            <a:pPr marL="228600" indent="-228600">
              <a:spcAft>
                <a:spcPts val="800"/>
              </a:spcAft>
              <a:buSzPct val="100000"/>
              <a:buChar char="•"/>
            </a:pPr>
            <a:r>
              <a:rPr lang="en-US" sz="1600" dirty="0">
                <a:solidFill>
                  <a:schemeClr val="tx1"/>
                </a:solidFill>
              </a:rPr>
              <a:t>Meridian: seven components, fourteen arrows, one core, {IND, DIG, ENG, TRS}, with six loops</a:t>
            </a:r>
            <a:endParaRPr lang="en-US" sz="1600" dirty="0"/>
          </a:p>
          <a:p>
            <a:pPr marL="228600" indent="-228600">
              <a:spcAft>
                <a:spcPts val="800"/>
              </a:spcAft>
              <a:buSzPct val="100000"/>
              <a:buChar char="•"/>
            </a:pPr>
            <a:r>
              <a:rPr lang="en-US" sz="1600" dirty="0">
                <a:solidFill>
                  <a:schemeClr val="tx1"/>
                </a:solidFill>
              </a:rPr>
              <a:t>Layers: </a:t>
            </a:r>
            <a:r>
              <a:rPr lang="en-US" sz="1600" b="1" dirty="0">
                <a:solidFill>
                  <a:schemeClr val="tx1"/>
                </a:solidFill>
              </a:rPr>
              <a:t>drivers</a:t>
            </a:r>
            <a:r>
              <a:rPr lang="en-US" sz="1600" dirty="0">
                <a:solidFill>
                  <a:schemeClr val="tx1"/>
                </a:solidFill>
              </a:rPr>
              <a:t> (market, governance), a </a:t>
            </a:r>
            <a:r>
              <a:rPr lang="en-US" sz="1600" b="1" dirty="0">
                <a:solidFill>
                  <a:schemeClr val="tx1"/>
                </a:solidFill>
              </a:rPr>
              <a:t>feeder</a:t>
            </a:r>
            <a:r>
              <a:rPr lang="en-US" sz="1600" dirty="0">
                <a:solidFill>
                  <a:schemeClr val="tx1"/>
                </a:solidFill>
              </a:rPr>
              <a:t> (Materials), the </a:t>
            </a:r>
            <a:r>
              <a:rPr lang="en-US" sz="1600" b="1" dirty="0">
                <a:solidFill>
                  <a:schemeClr val="tx1"/>
                </a:solidFill>
              </a:rPr>
              <a:t>core</a:t>
            </a:r>
            <a:endParaRPr lang="en-US" sz="1600" dirty="0"/>
          </a:p>
          <a:p>
            <a:pPr marL="228600" indent="-228600">
              <a:spcAft>
                <a:spcPts val="800"/>
              </a:spcAft>
              <a:buSzPct val="100000"/>
              <a:buChar char="•"/>
            </a:pPr>
            <a:r>
              <a:rPr lang="en-US" sz="1600" dirty="0">
                <a:solidFill>
                  <a:schemeClr val="tx1"/>
                </a:solidFill>
              </a:rPr>
              <a:t>Distances by breadth-first search, cores by Tarjan's algorithm: a fraction of a second</a:t>
            </a:r>
            <a:endParaRPr lang="en-US" sz="1600" dirty="0"/>
          </a:p>
        </p:txBody>
      </p:sp>
      <p:pic>
        <p:nvPicPr>
          <p:cNvPr id="6" name="Figure" descr="Figure 9.1: Meridian's state architecture">    </p:cNvPr>
          <p:cNvPicPr>
            <a:picLocks noChangeAspect="1"/>
          </p:cNvPicPr>
          <p:nvPr/>
        </p:nvPicPr>
        <p:blipFill>
          <a:blip r:embed="rId1"/>
          <a:stretch>
            <a:fillRect/>
          </a:stretch>
        </p:blipFill>
        <p:spPr>
          <a:xfrm>
            <a:off x="5545445" y="1691640"/>
            <a:ext cx="5721452" cy="3913632"/>
          </a:xfrm>
          <a:prstGeom prst="rect">
            <a:avLst/>
          </a:prstGeom>
        </p:spPr>
      </p:pic>
      <p:sp>
        <p:nvSpPr>
          <p:cNvPr id="7" name="Caption"/>
          <p:cNvSpPr txBox="1"/>
          <p:nvPr/>
        </p:nvSpPr>
        <p:spPr>
          <a:xfrm>
            <a:off x="5169286" y="5678424"/>
            <a:ext cx="6473769" cy="502920"/>
          </a:xfrm>
          <a:prstGeom prst="rect">
            <a:avLst/>
          </a:prstGeom>
          <a:noFill/>
          <a:ln/>
        </p:spPr>
        <p:txBody>
          <a:bodyPr wrap="square" lIns="0" tIns="0" rIns="0" bIns="0" rtlCol="0" anchor="t"/>
          <a:lstStyle/>
          <a:p>
            <a:pPr indent="0" marL="0">
              <a:buNone/>
            </a:pPr>
            <a:r>
              <a:rPr lang="en-US" sz="1100" i="1" dirty="0">
                <a:solidFill>
                  <a:schemeClr val="tx2"/>
                </a:solidFill>
              </a:rPr>
              <a:t>Figure 9.1. Meridian's state architecture: seven components joined by fourteen typed arrows; the shaded bands are the causal layers.</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§9.4 · THEOREM 9.2 · PROPOSITION 9.3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wiring is a speed limit</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9.2</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Structural Dependency Theorem</a:t>
            </a:r>
            <a:endParaRPr lang="en-US" sz="2100" dirty="0"/>
          </a:p>
        </p:txBody>
      </p:sp>
      <p:pic>
        <p:nvPicPr>
          <p:cNvPr id="8" name="Equation" descr="Equation: k \;&lt;\; d(u,v) \;\;\Longrightarrow\;\; \mathbf{x}_{k}^{(v)} \text{ is untouched by a shock to } u">    </p:cNvPr>
          <p:cNvPicPr>
            <a:picLocks noChangeAspect="1"/>
          </p:cNvPicPr>
          <p:nvPr/>
        </p:nvPicPr>
        <p:blipFill>
          <a:blip r:embed="rId1"/>
          <a:stretch>
            <a:fillRect/>
          </a:stretch>
        </p:blipFill>
        <p:spPr>
          <a:xfrm>
            <a:off x="822960" y="2743200"/>
            <a:ext cx="4481408" cy="384048"/>
          </a:xfrm>
          <a:prstGeom prst="rect">
            <a:avLst/>
          </a:prstGeom>
        </p:spPr>
      </p:pic>
      <p:sp>
        <p:nvSpPr>
          <p:cNvPr id="9" name="Bullets"/>
          <p:cNvSpPr txBox="1"/>
          <p:nvPr/>
        </p:nvSpPr>
        <p:spPr>
          <a:xfrm>
            <a:off x="822960" y="3291840"/>
            <a:ext cx="5394960" cy="2743200"/>
          </a:xfrm>
          <a:prstGeom prst="rect">
            <a:avLst/>
          </a:prstGeom>
          <a:noFill/>
          <a:ln/>
        </p:spPr>
        <p:txBody>
          <a:bodyPr wrap="square" lIns="635" tIns="635" rIns="635" bIns="635" rtlCol="0" anchor="t"/>
          <a:lstStyle/>
          <a:p>
            <a:pPr marL="228600" indent="-228600">
              <a:spcAft>
                <a:spcPts val="600"/>
              </a:spcAft>
              <a:buSzPct val="100000"/>
              <a:buChar char="•"/>
            </a:pPr>
            <a:r>
              <a:rPr lang="en-US" sz="1500" b="1" dirty="0">
                <a:solidFill>
                  <a:schemeClr val="tx1"/>
                </a:solidFill>
              </a:rPr>
              <a:t>(i) Influence travels only along paths.</a:t>
            </a:r>
            <a:r>
              <a:rPr lang="en-US" sz="1500" dirty="0">
                <a:solidFill>
                  <a:schemeClr val="tx1"/>
                </a:solidFill>
              </a:rPr>
              <a:t> With no path from u to v, a shock to u never changes v</a:t>
            </a:r>
            <a:endParaRPr lang="en-US" sz="1500" dirty="0"/>
          </a:p>
          <a:p>
            <a:pPr marL="228600" indent="-228600">
              <a:spcAft>
                <a:spcPts val="600"/>
              </a:spcAft>
              <a:buSzPct val="100000"/>
              <a:buChar char="•"/>
            </a:pPr>
            <a:r>
              <a:rPr lang="en-US" sz="1500" b="1" dirty="0">
                <a:solidFill>
                  <a:schemeClr val="tx1"/>
                </a:solidFill>
              </a:rPr>
              <a:t>(ii) Propagation is no faster than distance.</a:t>
            </a:r>
            <a:r>
              <a:rPr lang="en-US" sz="1500" dirty="0">
                <a:solidFill>
                  <a:schemeClr val="tx1"/>
                </a:solidFill>
              </a:rPr>
              <a:t> Graph distance is a floor on arrival time</a:t>
            </a:r>
            <a:endParaRPr lang="en-US" sz="1500" dirty="0"/>
          </a:p>
          <a:p>
            <a:pPr marL="228600" indent="-228600">
              <a:spcAft>
                <a:spcPts val="600"/>
              </a:spcAft>
              <a:buSzPct val="100000"/>
              <a:buChar char="•"/>
            </a:pPr>
            <a:r>
              <a:rPr lang="en-US" sz="1500" b="1" dirty="0">
                <a:solidFill>
                  <a:schemeClr val="tx1"/>
                </a:solidFill>
              </a:rPr>
              <a:t>(iii) Feedback lives in the cores.</a:t>
            </a:r>
            <a:r>
              <a:rPr lang="en-US" sz="1500" dirty="0">
                <a:solidFill>
                  <a:schemeClr val="tx1"/>
                </a:solidFill>
              </a:rPr>
              <a:t> Between the components of the condensation, influence runs one way</a:t>
            </a:r>
            <a:endParaRPr lang="en-US" sz="1500" dirty="0"/>
          </a:p>
          <a:p>
            <a:pPr marL="228600" indent="-228600">
              <a:spcAft>
                <a:spcPts val="600"/>
              </a:spcAft>
              <a:buSzPct val="100000"/>
              <a:buChar char="•"/>
            </a:pPr>
            <a:r>
              <a:rPr lang="en-US" sz="1500" b="1" dirty="0">
                <a:solidFill>
                  <a:schemeClr val="tx1"/>
                </a:solidFill>
              </a:rPr>
              <a:t>Scope.</a:t>
            </a:r>
            <a:r>
              <a:rPr lang="en-US" sz="1500" dirty="0">
                <a:solidFill>
                  <a:schemeClr val="tx1"/>
                </a:solidFill>
              </a:rPr>
              <a:t> It bounds whether and how soon, not how much: that is a route sum (Online Appendix 9.B.2)</a:t>
            </a:r>
            <a:endParaRPr lang="en-US" sz="1500" dirty="0"/>
          </a:p>
        </p:txBody>
      </p:sp>
      <p:sp>
        <p:nvSpPr>
          <p:cNvPr id="10"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What it means</a:t>
            </a:r>
            <a:endParaRPr lang="en-US" sz="1600" dirty="0"/>
          </a:p>
        </p:txBody>
      </p:sp>
      <p:sp>
        <p:nvSpPr>
          <p:cNvPr id="11"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Contagion:</a:t>
            </a:r>
            <a:r>
              <a:rPr lang="en-US" sz="1600" dirty="0">
                <a:solidFill>
                  <a:schemeClr val="tx1"/>
                </a:solidFill>
              </a:rPr>
              <a:t> a demand shock reaches the covenant no sooner than two quarters: a floor, not a forecast</a:t>
            </a:r>
            <a:endParaRPr lang="en-US" sz="1600" dirty="0"/>
          </a:p>
          <a:p>
            <a:pPr marL="228600" indent="-228600">
              <a:spcAft>
                <a:spcPts val="800"/>
              </a:spcAft>
              <a:buSzPct val="100000"/>
              <a:buChar char="•"/>
            </a:pPr>
            <a:r>
              <a:rPr lang="en-US" sz="1600" b="1" dirty="0">
                <a:solidFill>
                  <a:schemeClr val="tx1"/>
                </a:solidFill>
              </a:rPr>
              <a:t>Quarantine:</a:t>
            </a:r>
            <a:r>
              <a:rPr lang="en-US" sz="1600" dirty="0">
                <a:solidFill>
                  <a:schemeClr val="tx1"/>
                </a:solidFill>
              </a:rPr>
              <a:t> every path must be cut; a component reached by three separate routes needs three cuts</a:t>
            </a:r>
            <a:endParaRPr lang="en-US" sz="1600" dirty="0"/>
          </a:p>
          <a:p>
            <a:pPr marL="228600" indent="-228600">
              <a:spcAft>
                <a:spcPts val="800"/>
              </a:spcAft>
              <a:buSzPct val="100000"/>
              <a:buChar char="•"/>
            </a:pPr>
            <a:r>
              <a:rPr lang="en-US" sz="1600" b="1" dirty="0">
                <a:solidFill>
                  <a:schemeClr val="tx1"/>
                </a:solidFill>
              </a:rPr>
              <a:t>Feedback geography:</a:t>
            </a:r>
            <a:r>
              <a:rPr lang="en-US" sz="1600" dirty="0">
                <a:solidFill>
                  <a:schemeClr val="tx1"/>
                </a:solidFill>
              </a:rPr>
              <a:t> Meridian's core concentrates its leverage and its instability risk</a:t>
            </a:r>
            <a:endParaRPr lang="en-US" sz="1600" dirty="0"/>
          </a:p>
          <a:p>
            <a:pPr marL="228600" indent="-228600">
              <a:spcAft>
                <a:spcPts val="800"/>
              </a:spcAft>
              <a:buSzPct val="100000"/>
              <a:buChar char="•"/>
            </a:pPr>
            <a:r>
              <a:rPr lang="en-US" sz="1600" b="1" dirty="0">
                <a:solidFill>
                  <a:schemeClr val="tx1"/>
                </a:solidFill>
              </a:rPr>
              <a:t>Proposition 9.3:</a:t>
            </a:r>
            <a:r>
              <a:rPr lang="en-US" sz="1600" dirty="0">
                <a:solidFill>
                  <a:schemeClr val="tx1"/>
                </a:solidFill>
              </a:rPr>
              <a:t> every company owns a causal hierarchy that no one drew</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§9.5 · THEOREM 9.3 · FIGURE 9.2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Trust summary maps one way</a:t>
            </a:r>
            <a:endParaRPr lang="en-US" sz="3200" dirty="0"/>
          </a:p>
        </p:txBody>
      </p:sp>
      <p:sp>
        <p:nvSpPr>
          <p:cNvPr id="5" name="Bullets"/>
          <p:cNvSpPr txBox="1"/>
          <p:nvPr/>
        </p:nvSpPr>
        <p:spPr>
          <a:xfrm>
            <a:off x="548640" y="1691640"/>
            <a:ext cx="4254886"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Theorem 9.3.</a:t>
            </a:r>
            <a:r>
              <a:rPr lang="en-US" sz="1600" dirty="0">
                <a:solidFill>
                  <a:schemeClr val="tx1"/>
                </a:solidFill>
              </a:rPr>
              <a:t> Aggregation keeps every real path and never lengthens one; it can invent paths</a:t>
            </a:r>
            <a:endParaRPr lang="en-US" sz="1600" dirty="0"/>
          </a:p>
          <a:p>
            <a:pPr marL="228600" indent="-228600">
              <a:spcAft>
                <a:spcPts val="800"/>
              </a:spcAft>
              <a:buSzPct val="100000"/>
              <a:buChar char="•"/>
            </a:pPr>
            <a:r>
              <a:rPr lang="en-US" sz="1600" dirty="0">
                <a:solidFill>
                  <a:schemeClr val="tx1"/>
                </a:solidFill>
              </a:rPr>
              <a:t>On the two-box map, the corporate center reaches the operating divisions</a:t>
            </a:r>
            <a:endParaRPr lang="en-US" sz="1600" dirty="0"/>
          </a:p>
          <a:p>
            <a:pPr marL="228600" indent="-228600">
              <a:spcAft>
                <a:spcPts val="800"/>
              </a:spcAft>
              <a:buSzPct val="100000"/>
              <a:buChar char="•"/>
            </a:pPr>
            <a:r>
              <a:rPr lang="en-US" sz="1600" dirty="0">
                <a:solidFill>
                  <a:schemeClr val="tx1"/>
                </a:solidFill>
              </a:rPr>
              <a:t>True for Industrial Systems and Digital; false for Materials, which nothing in the center reaches</a:t>
            </a:r>
            <a:endParaRPr lang="en-US" sz="1600" dirty="0"/>
          </a:p>
          <a:p>
            <a:pPr marL="228600" indent="-228600">
              <a:spcAft>
                <a:spcPts val="800"/>
              </a:spcAft>
              <a:buSzPct val="100000"/>
              <a:buChar char="•"/>
            </a:pPr>
            <a:r>
              <a:rPr lang="en-US" sz="1600" dirty="0">
                <a:solidFill>
                  <a:schemeClr val="tx1"/>
                </a:solidFill>
              </a:rPr>
              <a:t>Clear with the summary map; drill down to confirm a connection</a:t>
            </a:r>
            <a:endParaRPr lang="en-US" sz="1600" dirty="0"/>
          </a:p>
          <a:p>
            <a:pPr marL="228600" indent="-228600">
              <a:spcAft>
                <a:spcPts val="800"/>
              </a:spcAft>
              <a:buSzPct val="100000"/>
              <a:buChar char="•"/>
            </a:pPr>
            <a:r>
              <a:rPr lang="en-US" sz="1600" dirty="0">
                <a:solidFill>
                  <a:schemeClr val="tx1"/>
                </a:solidFill>
              </a:rPr>
              <a:t>Boxes that are feedback cores invent no path (Online Appendix 9.B.3)</a:t>
            </a:r>
            <a:endParaRPr lang="en-US" sz="1600" dirty="0"/>
          </a:p>
        </p:txBody>
      </p:sp>
      <p:pic>
        <p:nvPicPr>
          <p:cNvPr id="6" name="Figure" descr="Figure 9.2: trust summary maps one way">    </p:cNvPr>
          <p:cNvPicPr>
            <a:picLocks noChangeAspect="1"/>
          </p:cNvPicPr>
          <p:nvPr/>
        </p:nvPicPr>
        <p:blipFill>
          <a:blip r:embed="rId1"/>
          <a:stretch>
            <a:fillRect/>
          </a:stretch>
        </p:blipFill>
        <p:spPr>
          <a:xfrm>
            <a:off x="5169286" y="1822089"/>
            <a:ext cx="6473769" cy="3652734"/>
          </a:xfrm>
          <a:prstGeom prst="rect">
            <a:avLst/>
          </a:prstGeom>
        </p:spPr>
      </p:pic>
      <p:sp>
        <p:nvSpPr>
          <p:cNvPr id="7" name="Caption"/>
          <p:cNvSpPr txBox="1"/>
          <p:nvPr/>
        </p:nvSpPr>
        <p:spPr>
          <a:xfrm>
            <a:off x="5169286" y="5547975"/>
            <a:ext cx="6473769" cy="502920"/>
          </a:xfrm>
          <a:prstGeom prst="rect">
            <a:avLst/>
          </a:prstGeom>
          <a:noFill/>
          <a:ln/>
        </p:spPr>
        <p:txBody>
          <a:bodyPr wrap="square" lIns="0" tIns="0" rIns="0" bIns="0" rtlCol="0" anchor="t"/>
          <a:lstStyle/>
          <a:p>
            <a:pPr indent="0" marL="0">
              <a:buNone/>
            </a:pPr>
            <a:r>
              <a:rPr lang="en-US" sz="1100" i="1" dirty="0">
                <a:solidFill>
                  <a:schemeClr val="tx2"/>
                </a:solidFill>
              </a:rPr>
              <a:t>Figure 9.2. Left: Meridian's two-box map. Right: the component map; double-headed arrows mark two-way dependencies.</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§9.6 · THEOREM 9.4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Compatible pair by pair, impossible together</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9.4</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Architectural Consistency Theorem</a:t>
            </a:r>
            <a:endParaRPr lang="en-US" sz="2100" dirty="0"/>
          </a:p>
        </p:txBody>
      </p:sp>
      <p:sp>
        <p:nvSpPr>
          <p:cNvPr id="8" name="Bullets"/>
          <p:cNvSpPr txBox="1"/>
          <p:nvPr/>
        </p:nvSpPr>
        <p:spPr>
          <a:xfrm>
            <a:off x="822960" y="2743200"/>
            <a:ext cx="5394960" cy="3291840"/>
          </a:xfrm>
          <a:prstGeom prst="rect">
            <a:avLst/>
          </a:prstGeom>
          <a:noFill/>
          <a:ln/>
        </p:spPr>
        <p:txBody>
          <a:bodyPr wrap="square" lIns="635" tIns="635" rIns="635" bIns="635" rtlCol="0" anchor="t"/>
          <a:lstStyle/>
          <a:p>
            <a:pPr marL="228600" indent="-228600">
              <a:spcAft>
                <a:spcPts val="600"/>
              </a:spcAft>
              <a:buSzPct val="100000"/>
              <a:buChar char="•"/>
            </a:pPr>
            <a:r>
              <a:rPr lang="en-US" sz="1500" b="1" dirty="0">
                <a:solidFill>
                  <a:schemeClr val="tx1"/>
                </a:solidFill>
              </a:rPr>
              <a:t>(i) Cycles defeat local checks.</a:t>
            </a:r>
            <a:r>
              <a:rPr lang="en-US" sz="1500" dirty="0">
                <a:solidFill>
                  <a:schemeClr val="tx1"/>
                </a:solidFill>
              </a:rPr>
              <a:t> Constraints can pass every bilateral check, any two can be met, and all together cannot</a:t>
            </a:r>
            <a:endParaRPr lang="en-US" sz="1500" dirty="0"/>
          </a:p>
          <a:p>
            <a:pPr marL="228600" indent="-228600">
              <a:spcAft>
                <a:spcPts val="600"/>
              </a:spcAft>
              <a:buSzPct val="100000"/>
              <a:buChar char="•"/>
            </a:pPr>
            <a:r>
              <a:rPr lang="en-US" sz="1500" dirty="0">
                <a:solidFill>
                  <a:schemeClr val="tx1"/>
                </a:solidFill>
              </a:rPr>
              <a:t>Three planning rules, each acceptable to the two units it binds, would put the budget three months after itself</a:t>
            </a:r>
            <a:endParaRPr lang="en-US" sz="1500" dirty="0"/>
          </a:p>
          <a:p>
            <a:pPr marL="228600" indent="-228600">
              <a:spcAft>
                <a:spcPts val="600"/>
              </a:spcAft>
              <a:buSzPct val="100000"/>
              <a:buChar char="•"/>
            </a:pPr>
            <a:r>
              <a:rPr lang="en-US" sz="1500" b="1" dirty="0">
                <a:solidFill>
                  <a:schemeClr val="tx1"/>
                </a:solidFill>
              </a:rPr>
              <a:t>(ii) Trees are safe.</a:t>
            </a:r>
            <a:r>
              <a:rPr lang="en-US" sz="1500" dirty="0">
                <a:solidFill>
                  <a:schemeClr val="tx1"/>
                </a:solidFill>
              </a:rPr>
              <a:t> With no cycle, bilateral arc-consistency guarantees a plan meeting every constraint</a:t>
            </a:r>
            <a:endParaRPr lang="en-US" sz="1500" dirty="0"/>
          </a:p>
        </p:txBody>
      </p:sp>
      <p:sp>
        <p:nvSpPr>
          <p:cNvPr id="9"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The audit rule</a:t>
            </a:r>
            <a:endParaRPr lang="en-US" sz="1600" dirty="0"/>
          </a:p>
        </p:txBody>
      </p:sp>
      <p:sp>
        <p:nvSpPr>
          <p:cNvPr id="10"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Count the cycles of the constraint graph: the cycle measure β</a:t>
            </a:r>
            <a:endParaRPr lang="en-US" sz="1600" dirty="0"/>
          </a:p>
          <a:p>
            <a:pPr marL="228600" indent="-228600">
              <a:spcAft>
                <a:spcPts val="800"/>
              </a:spcAft>
              <a:buSzPct val="100000"/>
              <a:buChar char="•"/>
            </a:pPr>
            <a:r>
              <a:rPr lang="en-US" sz="1600" dirty="0">
                <a:solidFill>
                  <a:schemeClr val="tx1"/>
                </a:solidFill>
              </a:rPr>
              <a:t>Sign off bilaterally on the tree-shaped parts; hold one joint review per cycle, of exactly its members</a:t>
            </a:r>
            <a:endParaRPr lang="en-US" sz="1600" dirty="0"/>
          </a:p>
          <a:p>
            <a:pPr marL="228600" indent="-228600">
              <a:spcAft>
                <a:spcPts val="800"/>
              </a:spcAft>
              <a:buSzPct val="100000"/>
              <a:buChar char="•"/>
            </a:pPr>
            <a:r>
              <a:rPr lang="en-US" sz="1600" dirty="0">
                <a:solidFill>
                  <a:schemeClr val="tx1"/>
                </a:solidFill>
              </a:rPr>
              <a:t>Each sign-off must cover everything that binds the pair</a:t>
            </a:r>
            <a:endParaRPr lang="en-US" sz="1600" dirty="0"/>
          </a:p>
          <a:p>
            <a:pPr marL="228600" indent="-228600">
              <a:spcAft>
                <a:spcPts val="800"/>
              </a:spcAft>
              <a:buSzPct val="100000"/>
              <a:buChar char="•"/>
            </a:pPr>
            <a:r>
              <a:rPr lang="en-US" sz="1600" dirty="0">
                <a:solidFill>
                  <a:schemeClr val="tx1"/>
                </a:solidFill>
              </a:rPr>
              <a:t>A group rule links every pair in its scope and closes a cycle (Online Appendix 9.B.6)</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§9.6 · TABLE 9.3 · FIGURE 9.3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Cycles, not counts, decide joint review</a:t>
            </a:r>
            <a:endParaRPr lang="en-US" sz="3200" dirty="0"/>
          </a:p>
        </p:txBody>
      </p:sp>
      <p:sp>
        <p:nvSpPr>
          <p:cNvPr id="5" name="Bullets"/>
          <p:cNvSpPr txBox="1"/>
          <p:nvPr/>
        </p:nvSpPr>
        <p:spPr>
          <a:xfrm>
            <a:off x="548640" y="1691640"/>
            <a:ext cx="4254886"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Covenant and liquidity floor at treasury, plant capacity at Industrial Systems: local</a:t>
            </a:r>
            <a:endParaRPr lang="en-US" sz="1600" dirty="0"/>
          </a:p>
          <a:p>
            <a:pPr marL="228600" indent="-228600">
              <a:spcAft>
                <a:spcPts val="800"/>
              </a:spcAft>
              <a:buSzPct val="100000"/>
              <a:buChar char="•"/>
            </a:pPr>
            <a:r>
              <a:rPr lang="en-US" sz="1600" dirty="0">
                <a:solidFill>
                  <a:schemeClr val="tx1"/>
                </a:solidFill>
              </a:rPr>
              <a:t>The risk ceiling of 75 couples the three divisions: a triangle, one cycle</a:t>
            </a:r>
            <a:endParaRPr lang="en-US" sz="1600" dirty="0"/>
          </a:p>
          <a:p>
            <a:pPr marL="228600" indent="-228600">
              <a:spcAft>
                <a:spcPts val="800"/>
              </a:spcAft>
              <a:buSzPct val="100000"/>
              <a:buChar char="•"/>
            </a:pPr>
            <a:r>
              <a:rPr lang="en-US" sz="1600" dirty="0">
                <a:solidFill>
                  <a:schemeClr val="tx1"/>
                </a:solidFill>
              </a:rPr>
              <a:t>The capability floor of 55 couples engineering and Digital: a branch</a:t>
            </a:r>
            <a:endParaRPr lang="en-US" sz="1600" dirty="0"/>
          </a:p>
          <a:p>
            <a:pPr marL="228600" indent="-228600">
              <a:spcAft>
                <a:spcPts val="800"/>
              </a:spcAft>
              <a:buSzPct val="100000"/>
              <a:buChar char="•"/>
            </a:pPr>
            <a:r>
              <a:rPr lang="en-US" sz="1600" dirty="0">
                <a:solidFill>
                  <a:schemeClr val="tx1"/>
                </a:solidFill>
              </a:rPr>
              <a:t>β = 4 − 7 + 4 = 1: one joint review, of the three division heads</a:t>
            </a:r>
            <a:endParaRPr lang="en-US" sz="1600" dirty="0"/>
          </a:p>
          <a:p>
            <a:pPr marL="228600" indent="-228600">
              <a:spcAft>
                <a:spcPts val="800"/>
              </a:spcAft>
              <a:buSzPct val="100000"/>
              <a:buChar char="•"/>
            </a:pPr>
            <a:r>
              <a:rPr lang="en-US" sz="1600" dirty="0">
                <a:solidFill>
                  <a:schemeClr val="tx1"/>
                </a:solidFill>
              </a:rPr>
              <a:t>Treasury, the market and governance carry local constraints only</a:t>
            </a:r>
            <a:endParaRPr lang="en-US" sz="1600" dirty="0"/>
          </a:p>
        </p:txBody>
      </p:sp>
      <p:pic>
        <p:nvPicPr>
          <p:cNvPr id="6" name="Figure" descr="Figure 9.3: cycles, not counts, decide where joint review is needed">    </p:cNvPr>
          <p:cNvPicPr>
            <a:picLocks noChangeAspect="1"/>
          </p:cNvPicPr>
          <p:nvPr/>
        </p:nvPicPr>
        <p:blipFill>
          <a:blip r:embed="rId1"/>
          <a:stretch>
            <a:fillRect/>
          </a:stretch>
        </p:blipFill>
        <p:spPr>
          <a:xfrm>
            <a:off x="5169286" y="2097449"/>
            <a:ext cx="6473769" cy="3102014"/>
          </a:xfrm>
          <a:prstGeom prst="rect">
            <a:avLst/>
          </a:prstGeom>
        </p:spPr>
      </p:pic>
      <p:sp>
        <p:nvSpPr>
          <p:cNvPr id="7" name="Caption"/>
          <p:cNvSpPr txBox="1"/>
          <p:nvPr/>
        </p:nvSpPr>
        <p:spPr>
          <a:xfrm>
            <a:off x="5169286" y="5272615"/>
            <a:ext cx="6473769" cy="502920"/>
          </a:xfrm>
          <a:prstGeom prst="rect">
            <a:avLst/>
          </a:prstGeom>
          <a:noFill/>
          <a:ln/>
        </p:spPr>
        <p:txBody>
          <a:bodyPr wrap="square" lIns="0" tIns="0" rIns="0" bIns="0" rtlCol="0" anchor="t"/>
          <a:lstStyle/>
          <a:p>
            <a:pPr indent="0" marL="0">
              <a:buNone/>
            </a:pPr>
            <a:r>
              <a:rPr lang="en-US" sz="1100" i="1" dirty="0">
                <a:solidFill>
                  <a:schemeClr val="tx2"/>
                </a:solidFill>
              </a:rPr>
              <a:t>Figure 9.3. Left: three planning rules, each acceptable to the two units it binds, that cannot all hold. Right: Meridian's constraint graph.</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§9.7 · THEOREM 9.5 · TABLE 9.4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Every architectural claim has an audit row</a:t>
            </a:r>
            <a:endParaRPr lang="en-US" sz="320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017166"/>
                <a:gridCol w="9077249"/>
              </a:tblGrid>
              <a:tr h="438912">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Stage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Checks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54864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Interfaces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every arrow interface-backed, so the components assemble (Proposition 9.5); exposed readings versioned</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73152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Wiring</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each arrow witnessed by a situation in which it is active (Theorem 9.1(i)); missing arrows tested as claims of independence; cores and layers computed and reviewed</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64008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Constraints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scopes declared; cycles listed; bilateral sign-off on the tree-shaped parts and one joint review per cycle (Theorem 9.4)</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4864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Hierarchy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aggregations tested (Theorem 4.2); summary maps used one way only (Theorem 9.3)</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64008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Completeness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question class declared; supports covered (Theorem 9.5); unanswerable questions listed with the enrichment that would admit them</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bl>
          </a:graphicData>
        </a:graphic>
      </p:graphicFrame>
      <p:sp>
        <p:nvSpPr>
          <p:cNvPr id="6" name="Table note"/>
          <p:cNvSpPr txBox="1"/>
          <p:nvPr/>
        </p:nvSpPr>
        <p:spPr>
          <a:xfrm>
            <a:off x="548640" y="534924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Table 9.4, extending Table 4.4. AXIOM automates every row that can be computed.</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b="1" dirty="0">
                <a:solidFill>
                  <a:schemeClr val="accent2"/>
                </a:solidFill>
              </a:rPr>
              <a:t>Theorem 9.5.</a:t>
            </a:r>
            <a:r>
              <a:rPr lang="en-US" sz="1600" dirty="0">
                <a:solidFill>
                  <a:schemeClr val="accent2"/>
                </a:solidFill>
              </a:rPr>
              <a:t> An architecture answers exactly the questions whose support it covers.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§9.8 · DEFINITION 9.10 · TABLE 9.5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Read the panel, not a single score</a:t>
            </a:r>
            <a:endParaRPr lang="en-US" sz="3200" dirty="0"/>
          </a:p>
        </p:txBody>
      </p:sp>
      <p:sp>
        <p:nvSpPr>
          <p:cNvPr id="5" name="Stat card"/>
          <p:cNvSpPr/>
          <p:nvPr/>
        </p:nvSpPr>
        <p:spPr>
          <a:xfrm>
            <a:off x="548640" y="1691640"/>
            <a:ext cx="1999427" cy="1783080"/>
          </a:xfrm>
          <a:prstGeom prst="roundRect">
            <a:avLst>
              <a:gd name="adj" fmla="val 4103"/>
            </a:avLst>
          </a:prstGeom>
          <a:solidFill>
            <a:schemeClr val="bg2"/>
          </a:solidFill>
          <a:ln w="9525">
            <a:solidFill>
              <a:srgbClr val="C4CBD8"/>
            </a:solidFill>
            <a:prstDash val="solid"/>
          </a:ln>
        </p:spPr>
      </p:sp>
      <p:sp>
        <p:nvSpPr>
          <p:cNvPr id="6" name="Stat value"/>
          <p:cNvSpPr txBox="1"/>
          <p:nvPr/>
        </p:nvSpPr>
        <p:spPr>
          <a:xfrm>
            <a:off x="685800" y="1801368"/>
            <a:ext cx="1725107"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14</a:t>
            </a:r>
            <a:endParaRPr lang="en-US" sz="4400" dirty="0"/>
          </a:p>
        </p:txBody>
      </p:sp>
      <p:sp>
        <p:nvSpPr>
          <p:cNvPr id="7" name="Stat label"/>
          <p:cNvSpPr txBox="1"/>
          <p:nvPr/>
        </p:nvSpPr>
        <p:spPr>
          <a:xfrm>
            <a:off x="685800" y="2697480"/>
            <a:ext cx="1725107" cy="704088"/>
          </a:xfrm>
          <a:prstGeom prst="rect">
            <a:avLst/>
          </a:prstGeom>
          <a:noFill/>
          <a:ln/>
        </p:spPr>
        <p:txBody>
          <a:bodyPr wrap="square" lIns="0" tIns="0" rIns="0" bIns="0" rtlCol="0" anchor="t"/>
          <a:lstStyle/>
          <a:p>
            <a:pPr algn="ctr" indent="0" marL="0">
              <a:buNone/>
            </a:pPr>
            <a:r>
              <a:rPr lang="en-US" sz="1400" dirty="0">
                <a:solidFill>
                  <a:schemeClr val="tx2"/>
                </a:solidFill>
              </a:rPr>
              <a:t>arrows on 7 components</a:t>
            </a:r>
            <a:endParaRPr lang="en-US" sz="1400" dirty="0"/>
          </a:p>
        </p:txBody>
      </p:sp>
      <p:sp>
        <p:nvSpPr>
          <p:cNvPr id="8" name="Stat card"/>
          <p:cNvSpPr/>
          <p:nvPr/>
        </p:nvSpPr>
        <p:spPr>
          <a:xfrm>
            <a:off x="2822387" y="1691640"/>
            <a:ext cx="1999427" cy="1783080"/>
          </a:xfrm>
          <a:prstGeom prst="roundRect">
            <a:avLst>
              <a:gd name="adj" fmla="val 4103"/>
            </a:avLst>
          </a:prstGeom>
          <a:solidFill>
            <a:schemeClr val="bg2"/>
          </a:solidFill>
          <a:ln w="9525">
            <a:solidFill>
              <a:srgbClr val="C4CBD8"/>
            </a:solidFill>
            <a:prstDash val="solid"/>
          </a:ln>
        </p:spPr>
      </p:sp>
      <p:sp>
        <p:nvSpPr>
          <p:cNvPr id="9" name="Stat value"/>
          <p:cNvSpPr txBox="1"/>
          <p:nvPr/>
        </p:nvSpPr>
        <p:spPr>
          <a:xfrm>
            <a:off x="2959547" y="1801368"/>
            <a:ext cx="1725107"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0.33</a:t>
            </a:r>
            <a:endParaRPr lang="en-US" sz="4400" dirty="0"/>
          </a:p>
        </p:txBody>
      </p:sp>
      <p:sp>
        <p:nvSpPr>
          <p:cNvPr id="10" name="Stat label"/>
          <p:cNvSpPr txBox="1"/>
          <p:nvPr/>
        </p:nvSpPr>
        <p:spPr>
          <a:xfrm>
            <a:off x="2959547" y="2697480"/>
            <a:ext cx="1725107" cy="704088"/>
          </a:xfrm>
          <a:prstGeom prst="rect">
            <a:avLst/>
          </a:prstGeom>
          <a:noFill/>
          <a:ln/>
        </p:spPr>
        <p:txBody>
          <a:bodyPr wrap="square" lIns="0" tIns="0" rIns="0" bIns="0" rtlCol="0" anchor="t"/>
          <a:lstStyle/>
          <a:p>
            <a:pPr algn="ctr" indent="0" marL="0">
              <a:buNone/>
            </a:pPr>
            <a:r>
              <a:rPr lang="en-US" sz="1400" dirty="0">
                <a:solidFill>
                  <a:schemeClr val="tx2"/>
                </a:solidFill>
              </a:rPr>
              <a:t>density: 14 of the 42 possible arrows</a:t>
            </a:r>
            <a:endParaRPr lang="en-US" sz="1400" dirty="0"/>
          </a:p>
        </p:txBody>
      </p:sp>
      <p:sp>
        <p:nvSpPr>
          <p:cNvPr id="11" name="Stat card"/>
          <p:cNvSpPr/>
          <p:nvPr/>
        </p:nvSpPr>
        <p:spPr>
          <a:xfrm>
            <a:off x="5096134" y="1691640"/>
            <a:ext cx="1999427" cy="1783080"/>
          </a:xfrm>
          <a:prstGeom prst="roundRect">
            <a:avLst>
              <a:gd name="adj" fmla="val 4103"/>
            </a:avLst>
          </a:prstGeom>
          <a:solidFill>
            <a:schemeClr val="tx1"/>
          </a:solidFill>
          <a:ln w="9525">
            <a:solidFill>
              <a:srgbClr val="0F1E3D"/>
            </a:solidFill>
            <a:prstDash val="solid"/>
          </a:ln>
        </p:spPr>
      </p:sp>
      <p:sp>
        <p:nvSpPr>
          <p:cNvPr id="12" name="Stat value"/>
          <p:cNvSpPr txBox="1"/>
          <p:nvPr/>
        </p:nvSpPr>
        <p:spPr>
          <a:xfrm>
            <a:off x="5233294" y="1801368"/>
            <a:ext cx="1725107"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8</a:t>
            </a:r>
            <a:endParaRPr lang="en-US" sz="4400" dirty="0"/>
          </a:p>
        </p:txBody>
      </p:sp>
      <p:sp>
        <p:nvSpPr>
          <p:cNvPr id="13" name="Stat label"/>
          <p:cNvSpPr txBox="1"/>
          <p:nvPr/>
        </p:nvSpPr>
        <p:spPr>
          <a:xfrm>
            <a:off x="5233294" y="2697480"/>
            <a:ext cx="1725107" cy="704088"/>
          </a:xfrm>
          <a:prstGeom prst="rect">
            <a:avLst/>
          </a:prstGeom>
          <a:noFill/>
          <a:ln/>
        </p:spPr>
        <p:txBody>
          <a:bodyPr wrap="square" lIns="0" tIns="0" rIns="0" bIns="0" rtlCol="0" anchor="t"/>
          <a:lstStyle/>
          <a:p>
            <a:pPr algn="ctr" indent="0" marL="0">
              <a:buNone/>
            </a:pPr>
            <a:r>
              <a:rPr lang="en-US" sz="1400" dirty="0">
                <a:solidFill>
                  <a:schemeClr val="bg2"/>
                </a:solidFill>
              </a:rPr>
              <a:t>cycle measure: 14 − 7 + 1</a:t>
            </a:r>
            <a:endParaRPr lang="en-US" sz="1400" dirty="0"/>
          </a:p>
        </p:txBody>
      </p:sp>
      <p:sp>
        <p:nvSpPr>
          <p:cNvPr id="14" name="Stat card"/>
          <p:cNvSpPr/>
          <p:nvPr/>
        </p:nvSpPr>
        <p:spPr>
          <a:xfrm>
            <a:off x="7369881" y="1691640"/>
            <a:ext cx="1999427" cy="1783080"/>
          </a:xfrm>
          <a:prstGeom prst="roundRect">
            <a:avLst>
              <a:gd name="adj" fmla="val 4103"/>
            </a:avLst>
          </a:prstGeom>
          <a:solidFill>
            <a:schemeClr val="bg2"/>
          </a:solidFill>
          <a:ln w="9525">
            <a:solidFill>
              <a:srgbClr val="C4CBD8"/>
            </a:solidFill>
            <a:prstDash val="solid"/>
          </a:ln>
        </p:spPr>
      </p:sp>
      <p:sp>
        <p:nvSpPr>
          <p:cNvPr id="15" name="Stat value"/>
          <p:cNvSpPr txBox="1"/>
          <p:nvPr/>
        </p:nvSpPr>
        <p:spPr>
          <a:xfrm>
            <a:off x="7507041" y="1801368"/>
            <a:ext cx="1725107"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4</a:t>
            </a:r>
            <a:endParaRPr lang="en-US" sz="4400" dirty="0"/>
          </a:p>
        </p:txBody>
      </p:sp>
      <p:sp>
        <p:nvSpPr>
          <p:cNvPr id="16" name="Stat label"/>
          <p:cNvSpPr txBox="1"/>
          <p:nvPr/>
        </p:nvSpPr>
        <p:spPr>
          <a:xfrm>
            <a:off x="7507041" y="2697480"/>
            <a:ext cx="1725107" cy="704088"/>
          </a:xfrm>
          <a:prstGeom prst="rect">
            <a:avLst/>
          </a:prstGeom>
          <a:noFill/>
          <a:ln/>
        </p:spPr>
        <p:txBody>
          <a:bodyPr wrap="square" lIns="0" tIns="0" rIns="0" bIns="0" rtlCol="0" anchor="t"/>
          <a:lstStyle/>
          <a:p>
            <a:pPr algn="ctr" indent="0" marL="0">
              <a:buNone/>
            </a:pPr>
            <a:r>
              <a:rPr lang="en-US" sz="1400" dirty="0">
                <a:solidFill>
                  <a:schemeClr val="tx2"/>
                </a:solidFill>
              </a:rPr>
              <a:t>members of the one core, with 6 loops</a:t>
            </a:r>
            <a:endParaRPr lang="en-US" sz="1400" dirty="0"/>
          </a:p>
        </p:txBody>
      </p:sp>
      <p:sp>
        <p:nvSpPr>
          <p:cNvPr id="17" name="Stat card"/>
          <p:cNvSpPr/>
          <p:nvPr/>
        </p:nvSpPr>
        <p:spPr>
          <a:xfrm>
            <a:off x="9643628" y="1691640"/>
            <a:ext cx="1999427" cy="1783080"/>
          </a:xfrm>
          <a:prstGeom prst="roundRect">
            <a:avLst>
              <a:gd name="adj" fmla="val 4103"/>
            </a:avLst>
          </a:prstGeom>
          <a:solidFill>
            <a:schemeClr val="bg2"/>
          </a:solidFill>
          <a:ln w="9525">
            <a:solidFill>
              <a:srgbClr val="C4CBD8"/>
            </a:solidFill>
            <a:prstDash val="solid"/>
          </a:ln>
        </p:spPr>
      </p:sp>
      <p:sp>
        <p:nvSpPr>
          <p:cNvPr id="18" name="Stat value"/>
          <p:cNvSpPr txBox="1"/>
          <p:nvPr/>
        </p:nvSpPr>
        <p:spPr>
          <a:xfrm>
            <a:off x="9780788" y="1801368"/>
            <a:ext cx="1725107"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2</a:t>
            </a:r>
            <a:endParaRPr lang="en-US" sz="4400" dirty="0"/>
          </a:p>
        </p:txBody>
      </p:sp>
      <p:sp>
        <p:nvSpPr>
          <p:cNvPr id="19" name="Stat label"/>
          <p:cNvSpPr txBox="1"/>
          <p:nvPr/>
        </p:nvSpPr>
        <p:spPr>
          <a:xfrm>
            <a:off x="9780788" y="2697480"/>
            <a:ext cx="1725107" cy="704088"/>
          </a:xfrm>
          <a:prstGeom prst="rect">
            <a:avLst/>
          </a:prstGeom>
          <a:noFill/>
          <a:ln/>
        </p:spPr>
        <p:txBody>
          <a:bodyPr wrap="square" lIns="0" tIns="0" rIns="0" bIns="0" rtlCol="0" anchor="t"/>
          <a:lstStyle/>
          <a:p>
            <a:pPr algn="ctr" indent="0" marL="0">
              <a:buNone/>
            </a:pPr>
            <a:r>
              <a:rPr lang="en-US" sz="1400" dirty="0">
                <a:solidFill>
                  <a:schemeClr val="tx2"/>
                </a:solidFill>
              </a:rPr>
              <a:t>depth of the condensation</a:t>
            </a:r>
            <a:endParaRPr lang="en-US" sz="1400" dirty="0"/>
          </a:p>
        </p:txBody>
      </p:sp>
      <p:sp>
        <p:nvSpPr>
          <p:cNvPr id="20" name="Bullets"/>
          <p:cNvSpPr txBox="1"/>
          <p:nvPr/>
        </p:nvSpPr>
        <p:spPr>
          <a:xfrm>
            <a:off x="548640" y="3794760"/>
            <a:ext cx="11094415" cy="237744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Definition 9.10.</a:t>
            </a:r>
            <a:r>
              <a:rPr lang="en-US" sz="1700" dirty="0">
                <a:solidFill>
                  <a:schemeClr val="tx1"/>
                </a:solidFill>
              </a:rPr>
              <a:t> Size, density, the cycle measure β = |E| − |V| + p, feedback mass, condensation depth, hierarchy depth</a:t>
            </a:r>
            <a:endParaRPr lang="en-US" sz="1700" dirty="0"/>
          </a:p>
          <a:p>
            <a:pPr marL="228600" indent="-228600">
              <a:spcAft>
                <a:spcPts val="800"/>
              </a:spcAft>
              <a:buSzPct val="100000"/>
              <a:buChar char="•"/>
            </a:pPr>
            <a:r>
              <a:rPr lang="en-US" sz="1700" dirty="0">
                <a:solidFill>
                  <a:schemeClr val="tx1"/>
                </a:solidFill>
              </a:rPr>
              <a:t>Each measure has a reading and a blindness (Table 9.5): none says how strong the loops are</a:t>
            </a:r>
            <a:endParaRPr lang="en-US" sz="1700" dirty="0"/>
          </a:p>
          <a:p>
            <a:pPr marL="228600" indent="-228600">
              <a:spcAft>
                <a:spcPts val="800"/>
              </a:spcAft>
              <a:buSzPct val="100000"/>
              <a:buChar char="•"/>
            </a:pPr>
            <a:r>
              <a:rPr lang="en-US" sz="1700" dirty="0">
                <a:solidFill>
                  <a:schemeClr val="tx1"/>
                </a:solidFill>
              </a:rPr>
              <a:t>Routes multiply: 3 routes of two steps from the market to treasury, 10 of four, 40 of six</a:t>
            </a:r>
            <a:endParaRPr lang="en-US" sz="1700" dirty="0"/>
          </a:p>
          <a:p>
            <a:pPr marL="228600" indent="-228600">
              <a:spcAft>
                <a:spcPts val="800"/>
              </a:spcAft>
              <a:buSzPct val="100000"/>
              <a:buChar char="•"/>
            </a:pPr>
            <a:r>
              <a:rPr lang="en-US" sz="1700" b="1" dirty="0">
                <a:solidFill>
                  <a:schemeClr val="tx1"/>
                </a:solidFill>
              </a:rPr>
              <a:t>Proposition 9.6.</a:t>
            </a:r>
            <a:r>
              <a:rPr lang="en-US" sz="1700" dirty="0">
                <a:solidFill>
                  <a:schemeClr val="tx1"/>
                </a:solidFill>
              </a:rPr>
              <a:t> An added arrow never lowers density, β, a route count or a core</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§9.8 · TABLE 9.6</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Architectures differ in where loops sit</a:t>
            </a:r>
            <a:endParaRPr lang="en-US" sz="3200" dirty="0"/>
          </a:p>
        </p:txBody>
      </p:sp>
      <p:graphicFrame>
        <p:nvGraphicFramePr>
          <p:cNvPr id="17"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017166"/>
                <a:gridCol w="4584469"/>
                <a:gridCol w="4492780"/>
              </a:tblGrid>
              <a:tr h="38404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Company</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Architectural signature</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What it means for management</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868680">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Commercial bank</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nearly everything in one core; capital and liquidity rules are wide couplings on it</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stability is a feedback question; bilateral compliance checks are insufficient: consolidated supervision is a necessity</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868680">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Hospital network</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nearly a one-way chain, intake to discharge, with readmission a thin return loop; hub and spoke constraints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surge planning is a distance computation; checks against the center suffice</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685800">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Technology platform</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a star: complementors wired to the hub, few links among them</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the hub's interface is the architecture; its stability is what the ecosystem relies on</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685800">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Government agency</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dominated by constraints imposed from outside, often cyclic</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every bilateral memo signed, the annual plan infeasible: one joint review per cycle</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6" name="Table note"/>
          <p:cNvSpPr txBox="1"/>
          <p:nvPr/>
        </p:nvSpPr>
        <p:spPr>
          <a:xfrm>
            <a:off x="548640" y="5285232"/>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Table 9.6, abridged.</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Architectures differ less in size than in where the loops sit and how the constraints are wired.</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9.1 · THE SITUATION</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How fast can a demand shock reach the covenant?</a:t>
            </a:r>
            <a:endParaRPr lang="en-US" sz="3200" dirty="0"/>
          </a:p>
        </p:txBody>
      </p:sp>
      <p:sp>
        <p:nvSpPr>
          <p:cNvPr id="5" name="Card"/>
          <p:cNvSpPr/>
          <p:nvPr/>
        </p:nvSpPr>
        <p:spPr>
          <a:xfrm>
            <a:off x="548640" y="1691640"/>
            <a:ext cx="3515258" cy="3063240"/>
          </a:xfrm>
          <a:prstGeom prst="roundRect">
            <a:avLst>
              <a:gd name="adj" fmla="val 2388"/>
            </a:avLst>
          </a:prstGeom>
          <a:solidFill>
            <a:schemeClr val="bg2"/>
          </a:solidFill>
          <a:ln w="9525">
            <a:solidFill>
              <a:srgbClr val="C4CBD8"/>
            </a:solidFill>
            <a:prstDash val="solid"/>
          </a:ln>
        </p:spPr>
      </p:sp>
      <p:sp>
        <p:nvSpPr>
          <p:cNvPr id="6" name="Card label"/>
          <p:cNvSpPr txBox="1"/>
          <p:nvPr/>
        </p:nvSpPr>
        <p:spPr>
          <a:xfrm>
            <a:off x="731520"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board's first question</a:t>
            </a:r>
            <a:endParaRPr lang="en-US" sz="1300" dirty="0"/>
          </a:p>
        </p:txBody>
      </p:sp>
      <p:sp>
        <p:nvSpPr>
          <p:cNvPr id="7" name="Card head"/>
          <p:cNvSpPr txBox="1"/>
          <p:nvPr/>
        </p:nvSpPr>
        <p:spPr>
          <a:xfrm>
            <a:off x="731520" y="2148840"/>
            <a:ext cx="3149498" cy="1444752"/>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How soon could a sharp fall in demand show up in the covenant?</a:t>
            </a:r>
            <a:endParaRPr lang="en-US" sz="2000" dirty="0"/>
          </a:p>
        </p:txBody>
      </p:sp>
      <p:sp>
        <p:nvSpPr>
          <p:cNvPr id="8" name="Card text"/>
          <p:cNvSpPr txBox="1"/>
          <p:nvPr/>
        </p:nvSpPr>
        <p:spPr>
          <a:xfrm>
            <a:off x="731520" y="3666744"/>
            <a:ext cx="3149498" cy="960120"/>
          </a:xfrm>
          <a:prstGeom prst="rect">
            <a:avLst/>
          </a:prstGeom>
          <a:noFill/>
          <a:ln/>
        </p:spPr>
        <p:txBody>
          <a:bodyPr wrap="square" lIns="0" tIns="0" rIns="0" bIns="0" rtlCol="0" anchor="t"/>
          <a:lstStyle/>
          <a:p>
            <a:pPr indent="0" marL="0">
              <a:buNone/>
            </a:pPr>
            <a:r>
              <a:rPr lang="en-US" sz="1600" dirty="0">
                <a:solidFill>
                  <a:schemeClr val="tx2"/>
                </a:solidFill>
              </a:rPr>
              <a:t>The loan covenant caps net leverage at 4.5 times EBITDA (Table 5.4).</a:t>
            </a:r>
            <a:endParaRPr lang="en-US" sz="1600" dirty="0"/>
          </a:p>
        </p:txBody>
      </p:sp>
      <p:sp>
        <p:nvSpPr>
          <p:cNvPr id="9" name="Card"/>
          <p:cNvSpPr/>
          <p:nvPr/>
        </p:nvSpPr>
        <p:spPr>
          <a:xfrm>
            <a:off x="4338218" y="1691640"/>
            <a:ext cx="3515258" cy="3063240"/>
          </a:xfrm>
          <a:prstGeom prst="roundRect">
            <a:avLst>
              <a:gd name="adj" fmla="val 2388"/>
            </a:avLst>
          </a:prstGeom>
          <a:solidFill>
            <a:schemeClr val="bg2"/>
          </a:solidFill>
          <a:ln w="9525">
            <a:solidFill>
              <a:srgbClr val="C4CBD8"/>
            </a:solidFill>
            <a:prstDash val="solid"/>
          </a:ln>
        </p:spPr>
      </p:sp>
      <p:sp>
        <p:nvSpPr>
          <p:cNvPr id="10" name="Card label"/>
          <p:cNvSpPr txBox="1"/>
          <p:nvPr/>
        </p:nvSpPr>
        <p:spPr>
          <a:xfrm>
            <a:off x="4521098"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board's second question</a:t>
            </a:r>
            <a:endParaRPr lang="en-US" sz="1300" dirty="0"/>
          </a:p>
        </p:txBody>
      </p:sp>
      <p:sp>
        <p:nvSpPr>
          <p:cNvPr id="11" name="Card head"/>
          <p:cNvSpPr txBox="1"/>
          <p:nvPr/>
        </p:nvSpPr>
        <p:spPr>
          <a:xfrm>
            <a:off x="4521098" y="2148840"/>
            <a:ext cx="3149498" cy="1444752"/>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Which limits must be reviewed jointly, not unit by unit?</a:t>
            </a:r>
            <a:endParaRPr lang="en-US" sz="2000" dirty="0"/>
          </a:p>
        </p:txBody>
      </p:sp>
      <p:sp>
        <p:nvSpPr>
          <p:cNvPr id="12" name="Card text"/>
          <p:cNvSpPr txBox="1"/>
          <p:nvPr/>
        </p:nvSpPr>
        <p:spPr>
          <a:xfrm>
            <a:off x="4521098" y="3666744"/>
            <a:ext cx="3149498" cy="960120"/>
          </a:xfrm>
          <a:prstGeom prst="rect">
            <a:avLst/>
          </a:prstGeom>
          <a:noFill/>
          <a:ln/>
        </p:spPr>
        <p:txBody>
          <a:bodyPr wrap="square" lIns="0" tIns="0" rIns="0" bIns="0" rtlCol="0" anchor="t"/>
          <a:lstStyle/>
          <a:p>
            <a:pPr indent="0" marL="0">
              <a:buNone/>
            </a:pPr>
            <a:r>
              <a:rPr lang="en-US" sz="1600" dirty="0">
                <a:solidFill>
                  <a:schemeClr val="tx2"/>
                </a:solidFill>
              </a:rPr>
              <a:t>To be sure that they can all be met at once.</a:t>
            </a:r>
            <a:endParaRPr lang="en-US" sz="1600" dirty="0"/>
          </a:p>
        </p:txBody>
      </p:sp>
      <p:sp>
        <p:nvSpPr>
          <p:cNvPr id="13" name="Card"/>
          <p:cNvSpPr/>
          <p:nvPr/>
        </p:nvSpPr>
        <p:spPr>
          <a:xfrm>
            <a:off x="8127797" y="1691640"/>
            <a:ext cx="3515258" cy="3063240"/>
          </a:xfrm>
          <a:prstGeom prst="roundRect">
            <a:avLst>
              <a:gd name="adj" fmla="val 2388"/>
            </a:avLst>
          </a:prstGeom>
          <a:solidFill>
            <a:schemeClr val="tx1"/>
          </a:solidFill>
          <a:ln w="9525">
            <a:solidFill>
              <a:srgbClr val="0F1E3D"/>
            </a:solidFill>
            <a:prstDash val="solid"/>
          </a:ln>
        </p:spPr>
      </p:sp>
      <p:sp>
        <p:nvSpPr>
          <p:cNvPr id="14" name="Card label"/>
          <p:cNvSpPr txBox="1"/>
          <p:nvPr/>
        </p:nvSpPr>
        <p:spPr>
          <a:xfrm>
            <a:off x="8310677"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Today</a:t>
            </a:r>
            <a:endParaRPr lang="en-US" sz="1300" dirty="0"/>
          </a:p>
        </p:txBody>
      </p:sp>
      <p:sp>
        <p:nvSpPr>
          <p:cNvPr id="15" name="Card head"/>
          <p:cNvSpPr txBox="1"/>
          <p:nvPr/>
        </p:nvSpPr>
        <p:spPr>
          <a:xfrm>
            <a:off x="8310677" y="2148840"/>
            <a:ext cx="3149498" cy="1444752"/>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Both are answered from experience</a:t>
            </a:r>
            <a:endParaRPr lang="en-US" sz="2000" dirty="0"/>
          </a:p>
        </p:txBody>
      </p:sp>
      <p:sp>
        <p:nvSpPr>
          <p:cNvPr id="16" name="Card text"/>
          <p:cNvSpPr txBox="1"/>
          <p:nvPr/>
        </p:nvSpPr>
        <p:spPr>
          <a:xfrm>
            <a:off x="8310677" y="3666744"/>
            <a:ext cx="3149498" cy="960120"/>
          </a:xfrm>
          <a:prstGeom prst="rect">
            <a:avLst/>
          </a:prstGeom>
          <a:noFill/>
          <a:ln/>
        </p:spPr>
        <p:txBody>
          <a:bodyPr wrap="square" lIns="0" tIns="0" rIns="0" bIns="0" rtlCol="0" anchor="t"/>
          <a:lstStyle/>
          <a:p>
            <a:pPr indent="0" marL="0">
              <a:buNone/>
            </a:pPr>
            <a:r>
              <a:rPr lang="en-US" sz="1600" dirty="0">
                <a:solidFill>
                  <a:schemeClr val="bg2"/>
                </a:solidFill>
              </a:rPr>
              <a:t>The architecture answers them by computation, with the model running in quarters.</a:t>
            </a:r>
            <a:endParaRPr lang="en-US" sz="1600" dirty="0"/>
          </a:p>
        </p:txBody>
      </p:sp>
      <p:sp>
        <p:nvSpPr>
          <p:cNvPr id="17" name="Lead"/>
          <p:cNvSpPr txBox="1"/>
          <p:nvPr/>
        </p:nvSpPr>
        <p:spPr>
          <a:xfrm>
            <a:off x="548640" y="502920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Before it commits to the digital program, Meridian's board puts two questions to the chief financial officer.</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9.1 · STEPS 1–5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From the declared map to the answers</a:t>
            </a:r>
            <a:endParaRPr lang="en-US" sz="3200" dirty="0"/>
          </a:p>
        </p:txBody>
      </p:sp>
      <p:sp>
        <p:nvSpPr>
          <p:cNvPr id="5" name="Step card"/>
          <p:cNvSpPr/>
          <p:nvPr/>
        </p:nvSpPr>
        <p:spPr>
          <a:xfrm>
            <a:off x="548640" y="1691640"/>
            <a:ext cx="3515258" cy="2103120"/>
          </a:xfrm>
          <a:prstGeom prst="roundRect">
            <a:avLst>
              <a:gd name="adj" fmla="val 3478"/>
            </a:avLst>
          </a:prstGeom>
          <a:solidFill>
            <a:schemeClr val="bg2"/>
          </a:solidFill>
          <a:ln w="9525">
            <a:solidFill>
              <a:srgbClr val="C4CBD8"/>
            </a:solidFill>
            <a:prstDash val="solid"/>
          </a:ln>
        </p:spPr>
      </p:sp>
      <p:sp>
        <p:nvSpPr>
          <p:cNvPr id="6" name="Number"/>
          <p:cNvSpPr/>
          <p:nvPr/>
        </p:nvSpPr>
        <p:spPr>
          <a:xfrm>
            <a:off x="731520" y="1874520"/>
            <a:ext cx="457200" cy="457200"/>
          </a:xfrm>
          <a:prstGeom prst="ellipse">
            <a:avLst/>
          </a:prstGeom>
          <a:solidFill>
            <a:schemeClr val="accent1"/>
          </a:solidFill>
          <a:ln w="6350">
            <a:solidFill>
              <a:schemeClr val="accent1"/>
            </a:solidFill>
            <a:prstDash val="solid"/>
          </a:ln>
        </p:spPr>
      </p:sp>
      <p:sp>
        <p:nvSpPr>
          <p:cNvPr id="7" name="Text 4"/>
          <p:cNvSpPr txBox="1"/>
          <p:nvPr/>
        </p:nvSpPr>
        <p:spPr>
          <a:xfrm>
            <a:off x="731520" y="1874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8" name="Step head"/>
          <p:cNvSpPr txBox="1"/>
          <p:nvPr/>
        </p:nvSpPr>
        <p:spPr>
          <a:xfrm>
            <a:off x="1325880" y="185623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Declare the wiring</a:t>
            </a:r>
            <a:endParaRPr lang="en-US" sz="1700" dirty="0"/>
          </a:p>
        </p:txBody>
      </p:sp>
      <p:sp>
        <p:nvSpPr>
          <p:cNvPr id="9" name="Step text"/>
          <p:cNvSpPr txBox="1"/>
          <p:nvPr/>
        </p:nvSpPr>
        <p:spPr>
          <a:xfrm>
            <a:off x="731520" y="2468880"/>
            <a:ext cx="3149498" cy="1234440"/>
          </a:xfrm>
          <a:prstGeom prst="rect">
            <a:avLst/>
          </a:prstGeom>
          <a:noFill/>
          <a:ln/>
        </p:spPr>
        <p:txBody>
          <a:bodyPr wrap="square" lIns="0" tIns="0" rIns="0" bIns="0" rtlCol="0" anchor="t"/>
          <a:lstStyle/>
          <a:p>
            <a:pPr indent="0" marL="0">
              <a:buNone/>
            </a:pPr>
            <a:r>
              <a:rPr lang="en-US" sz="1400" dirty="0">
                <a:solidFill>
                  <a:schemeClr val="tx1"/>
                </a:solidFill>
              </a:rPr>
              <a:t>Seven components, fourteen typed arrows. Covenant and $350m floor local to treasury; the risk ceiling couples the divisions, the capability floor ENG and DIG.</a:t>
            </a:r>
            <a:endParaRPr lang="en-US" sz="1400" dirty="0"/>
          </a:p>
        </p:txBody>
      </p:sp>
      <p:sp>
        <p:nvSpPr>
          <p:cNvPr id="10" name="Step card"/>
          <p:cNvSpPr/>
          <p:nvPr/>
        </p:nvSpPr>
        <p:spPr>
          <a:xfrm>
            <a:off x="4338218" y="1691640"/>
            <a:ext cx="3515258" cy="2103120"/>
          </a:xfrm>
          <a:prstGeom prst="roundRect">
            <a:avLst>
              <a:gd name="adj" fmla="val 3478"/>
            </a:avLst>
          </a:prstGeom>
          <a:solidFill>
            <a:schemeClr val="bg2"/>
          </a:solidFill>
          <a:ln w="9525">
            <a:solidFill>
              <a:srgbClr val="C4CBD8"/>
            </a:solidFill>
            <a:prstDash val="solid"/>
          </a:ln>
        </p:spPr>
      </p:sp>
      <p:sp>
        <p:nvSpPr>
          <p:cNvPr id="11" name="Number"/>
          <p:cNvSpPr/>
          <p:nvPr/>
        </p:nvSpPr>
        <p:spPr>
          <a:xfrm>
            <a:off x="4521098" y="1874520"/>
            <a:ext cx="457200" cy="457200"/>
          </a:xfrm>
          <a:prstGeom prst="ellipse">
            <a:avLst/>
          </a:prstGeom>
          <a:solidFill>
            <a:schemeClr val="accent1"/>
          </a:solidFill>
          <a:ln w="6350">
            <a:solidFill>
              <a:schemeClr val="accent1"/>
            </a:solidFill>
            <a:prstDash val="solid"/>
          </a:ln>
        </p:spPr>
      </p:sp>
      <p:sp>
        <p:nvSpPr>
          <p:cNvPr id="12" name="Text 9"/>
          <p:cNvSpPr txBox="1"/>
          <p:nvPr/>
        </p:nvSpPr>
        <p:spPr>
          <a:xfrm>
            <a:off x="4521098" y="1874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3" name="Step head"/>
          <p:cNvSpPr txBox="1"/>
          <p:nvPr/>
        </p:nvSpPr>
        <p:spPr>
          <a:xfrm>
            <a:off x="5115458" y="185623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Find the core</a:t>
            </a:r>
            <a:endParaRPr lang="en-US" sz="1700" dirty="0"/>
          </a:p>
        </p:txBody>
      </p:sp>
      <p:sp>
        <p:nvSpPr>
          <p:cNvPr id="14" name="Step text"/>
          <p:cNvSpPr txBox="1"/>
          <p:nvPr/>
        </p:nvSpPr>
        <p:spPr>
          <a:xfrm>
            <a:off x="4521098" y="2468880"/>
            <a:ext cx="3149498" cy="1234440"/>
          </a:xfrm>
          <a:prstGeom prst="rect">
            <a:avLst/>
          </a:prstGeom>
          <a:noFill/>
          <a:ln/>
        </p:spPr>
        <p:txBody>
          <a:bodyPr wrap="square" lIns="0" tIns="0" rIns="0" bIns="0" rtlCol="0" anchor="t"/>
          <a:lstStyle/>
          <a:p>
            <a:pPr indent="0" marL="0">
              <a:buNone/>
            </a:pPr>
            <a:r>
              <a:rPr lang="en-US" sz="1400" dirty="0">
                <a:solidFill>
                  <a:schemeClr val="tx1"/>
                </a:solidFill>
              </a:rPr>
              <a:t>One core, {IND, DIG, ENG, TRS}, with six loops. Layers: drivers, feeder, core; the core cuts across the org chart.</a:t>
            </a:r>
            <a:endParaRPr lang="en-US" sz="1400" dirty="0"/>
          </a:p>
        </p:txBody>
      </p:sp>
      <p:sp>
        <p:nvSpPr>
          <p:cNvPr id="15" name="Step card"/>
          <p:cNvSpPr/>
          <p:nvPr/>
        </p:nvSpPr>
        <p:spPr>
          <a:xfrm>
            <a:off x="8127797" y="1691640"/>
            <a:ext cx="3515258" cy="2103120"/>
          </a:xfrm>
          <a:prstGeom prst="roundRect">
            <a:avLst>
              <a:gd name="adj" fmla="val 3478"/>
            </a:avLst>
          </a:prstGeom>
          <a:solidFill>
            <a:schemeClr val="bg2"/>
          </a:solidFill>
          <a:ln w="9525">
            <a:solidFill>
              <a:srgbClr val="C4CBD8"/>
            </a:solidFill>
            <a:prstDash val="solid"/>
          </a:ln>
        </p:spPr>
      </p:sp>
      <p:sp>
        <p:nvSpPr>
          <p:cNvPr id="16" name="Number"/>
          <p:cNvSpPr/>
          <p:nvPr/>
        </p:nvSpPr>
        <p:spPr>
          <a:xfrm>
            <a:off x="8310677" y="1874520"/>
            <a:ext cx="457200" cy="457200"/>
          </a:xfrm>
          <a:prstGeom prst="ellipse">
            <a:avLst/>
          </a:prstGeom>
          <a:solidFill>
            <a:schemeClr val="accent1"/>
          </a:solidFill>
          <a:ln w="6350">
            <a:solidFill>
              <a:schemeClr val="accent1"/>
            </a:solidFill>
            <a:prstDash val="solid"/>
          </a:ln>
        </p:spPr>
      </p:sp>
      <p:sp>
        <p:nvSpPr>
          <p:cNvPr id="17" name="Text 14"/>
          <p:cNvSpPr txBox="1"/>
          <p:nvPr/>
        </p:nvSpPr>
        <p:spPr>
          <a:xfrm>
            <a:off x="8310677" y="1874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8" name="Step head"/>
          <p:cNvSpPr txBox="1"/>
          <p:nvPr/>
        </p:nvSpPr>
        <p:spPr>
          <a:xfrm>
            <a:off x="8905037" y="185623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Floor the arrivals</a:t>
            </a:r>
            <a:endParaRPr lang="en-US" sz="1700" dirty="0"/>
          </a:p>
        </p:txBody>
      </p:sp>
      <p:sp>
        <p:nvSpPr>
          <p:cNvPr id="19" name="Step text"/>
          <p:cNvSpPr txBox="1"/>
          <p:nvPr/>
        </p:nvSpPr>
        <p:spPr>
          <a:xfrm>
            <a:off x="8310677" y="2468880"/>
            <a:ext cx="3149498" cy="1234440"/>
          </a:xfrm>
          <a:prstGeom prst="rect">
            <a:avLst/>
          </a:prstGeom>
          <a:noFill/>
          <a:ln/>
        </p:spPr>
        <p:txBody>
          <a:bodyPr wrap="square" lIns="0" tIns="0" rIns="0" bIns="0" rtlCol="0" anchor="t"/>
          <a:lstStyle/>
          <a:p>
            <a:pPr indent="0" marL="0">
              <a:buNone/>
            </a:pPr>
            <a:r>
              <a:rPr lang="en-US" sz="1400" dirty="0">
                <a:solidFill>
                  <a:schemeClr val="tx1"/>
                </a:solidFill>
              </a:rPr>
              <a:t>The covenant cannot move before the second quarter-end. Five paths reach treasury; three share no arrow: three cuts.</a:t>
            </a:r>
            <a:endParaRPr lang="en-US" sz="1400" dirty="0"/>
          </a:p>
        </p:txBody>
      </p:sp>
      <p:sp>
        <p:nvSpPr>
          <p:cNvPr id="20" name="Step card"/>
          <p:cNvSpPr/>
          <p:nvPr/>
        </p:nvSpPr>
        <p:spPr>
          <a:xfrm>
            <a:off x="548640" y="4069080"/>
            <a:ext cx="3515258" cy="2103120"/>
          </a:xfrm>
          <a:prstGeom prst="roundRect">
            <a:avLst>
              <a:gd name="adj" fmla="val 3478"/>
            </a:avLst>
          </a:prstGeom>
          <a:solidFill>
            <a:schemeClr val="bg2"/>
          </a:solidFill>
          <a:ln w="9525">
            <a:solidFill>
              <a:srgbClr val="C4CBD8"/>
            </a:solidFill>
            <a:prstDash val="solid"/>
          </a:ln>
        </p:spPr>
      </p:sp>
      <p:sp>
        <p:nvSpPr>
          <p:cNvPr id="21" name="Number"/>
          <p:cNvSpPr/>
          <p:nvPr/>
        </p:nvSpPr>
        <p:spPr>
          <a:xfrm>
            <a:off x="731520" y="4251960"/>
            <a:ext cx="457200" cy="457200"/>
          </a:xfrm>
          <a:prstGeom prst="ellipse">
            <a:avLst/>
          </a:prstGeom>
          <a:solidFill>
            <a:schemeClr val="accent1"/>
          </a:solidFill>
          <a:ln w="6350">
            <a:solidFill>
              <a:schemeClr val="accent1"/>
            </a:solidFill>
            <a:prstDash val="solid"/>
          </a:ln>
        </p:spPr>
      </p:sp>
      <p:sp>
        <p:nvSpPr>
          <p:cNvPr id="22" name="Text 19"/>
          <p:cNvSpPr txBox="1"/>
          <p:nvPr/>
        </p:nvSpPr>
        <p:spPr>
          <a:xfrm>
            <a:off x="731520" y="42519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23" name="Step head"/>
          <p:cNvSpPr txBox="1"/>
          <p:nvPr/>
        </p:nvSpPr>
        <p:spPr>
          <a:xfrm>
            <a:off x="1325880" y="423367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Audit the constraints</a:t>
            </a:r>
            <a:endParaRPr lang="en-US" sz="1700" dirty="0"/>
          </a:p>
        </p:txBody>
      </p:sp>
      <p:sp>
        <p:nvSpPr>
          <p:cNvPr id="24" name="Step text"/>
          <p:cNvSpPr txBox="1"/>
          <p:nvPr/>
        </p:nvSpPr>
        <p:spPr>
          <a:xfrm>
            <a:off x="731520" y="4846320"/>
            <a:ext cx="3149498" cy="1234440"/>
          </a:xfrm>
          <a:prstGeom prst="rect">
            <a:avLst/>
          </a:prstGeom>
          <a:noFill/>
          <a:ln/>
        </p:spPr>
        <p:txBody>
          <a:bodyPr wrap="square" lIns="0" tIns="0" rIns="0" bIns="0" rtlCol="0" anchor="t"/>
          <a:lstStyle/>
          <a:p>
            <a:pPr indent="0" marL="0">
              <a:buNone/>
            </a:pPr>
            <a:r>
              <a:rPr lang="en-US" sz="1400" dirty="0">
                <a:solidFill>
                  <a:schemeClr val="tx1"/>
                </a:solidFill>
              </a:rPr>
              <a:t>β = 4 − 7 + 4 = 1: one joint review, of the division heads. Risk peaks at 73.6, 1.4 under the ceiling of 75.</a:t>
            </a:r>
            <a:endParaRPr lang="en-US" sz="1400" dirty="0"/>
          </a:p>
        </p:txBody>
      </p:sp>
      <p:sp>
        <p:nvSpPr>
          <p:cNvPr id="25" name="Step card"/>
          <p:cNvSpPr/>
          <p:nvPr/>
        </p:nvSpPr>
        <p:spPr>
          <a:xfrm>
            <a:off x="4338218" y="4069080"/>
            <a:ext cx="3515258" cy="2103120"/>
          </a:xfrm>
          <a:prstGeom prst="roundRect">
            <a:avLst>
              <a:gd name="adj" fmla="val 3478"/>
            </a:avLst>
          </a:prstGeom>
          <a:solidFill>
            <a:schemeClr val="bg2"/>
          </a:solidFill>
          <a:ln w="9525">
            <a:solidFill>
              <a:srgbClr val="C4CBD8"/>
            </a:solidFill>
            <a:prstDash val="solid"/>
          </a:ln>
        </p:spPr>
      </p:sp>
      <p:sp>
        <p:nvSpPr>
          <p:cNvPr id="26" name="Number"/>
          <p:cNvSpPr/>
          <p:nvPr/>
        </p:nvSpPr>
        <p:spPr>
          <a:xfrm>
            <a:off x="4521098" y="4251960"/>
            <a:ext cx="457200" cy="457200"/>
          </a:xfrm>
          <a:prstGeom prst="ellipse">
            <a:avLst/>
          </a:prstGeom>
          <a:solidFill>
            <a:schemeClr val="accent1"/>
          </a:solidFill>
          <a:ln w="6350">
            <a:solidFill>
              <a:schemeClr val="accent1"/>
            </a:solidFill>
            <a:prstDash val="solid"/>
          </a:ln>
        </p:spPr>
      </p:sp>
      <p:sp>
        <p:nvSpPr>
          <p:cNvPr id="27" name="Text 24"/>
          <p:cNvSpPr txBox="1"/>
          <p:nvPr/>
        </p:nvSpPr>
        <p:spPr>
          <a:xfrm>
            <a:off x="4521098" y="42519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28" name="Step head"/>
          <p:cNvSpPr txBox="1"/>
          <p:nvPr/>
        </p:nvSpPr>
        <p:spPr>
          <a:xfrm>
            <a:off x="5115458" y="423367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Test the map's claims</a:t>
            </a:r>
            <a:endParaRPr lang="en-US" sz="1700" dirty="0"/>
          </a:p>
        </p:txBody>
      </p:sp>
      <p:sp>
        <p:nvSpPr>
          <p:cNvPr id="29" name="Step text"/>
          <p:cNvSpPr txBox="1"/>
          <p:nvPr/>
        </p:nvSpPr>
        <p:spPr>
          <a:xfrm>
            <a:off x="4521098" y="4846320"/>
            <a:ext cx="3149498" cy="1234440"/>
          </a:xfrm>
          <a:prstGeom prst="rect">
            <a:avLst/>
          </a:prstGeom>
          <a:noFill/>
          <a:ln/>
        </p:spPr>
        <p:txBody>
          <a:bodyPr wrap="square" lIns="0" tIns="0" rIns="0" bIns="0" rtlCol="0" anchor="t"/>
          <a:lstStyle/>
          <a:p>
            <a:pPr indent="0" marL="0">
              <a:buNone/>
            </a:pPr>
            <a:r>
              <a:rPr lang="en-US" sz="1400" dirty="0">
                <a:solidFill>
                  <a:schemeClr val="tx1"/>
                </a:solidFill>
              </a:rPr>
              <a:t>The center reaches Industrial Systems and Digital, not Materials. No arrow points into the market.</a:t>
            </a:r>
            <a:endParaRPr lang="en-US" sz="1400" dirty="0"/>
          </a:p>
        </p:txBody>
      </p:sp>
      <p:sp>
        <p:nvSpPr>
          <p:cNvPr id="30" name="Step card"/>
          <p:cNvSpPr/>
          <p:nvPr/>
        </p:nvSpPr>
        <p:spPr>
          <a:xfrm>
            <a:off x="8127797" y="4069080"/>
            <a:ext cx="3515258" cy="2103120"/>
          </a:xfrm>
          <a:prstGeom prst="roundRect">
            <a:avLst>
              <a:gd name="adj" fmla="val 3478"/>
            </a:avLst>
          </a:prstGeom>
          <a:solidFill>
            <a:schemeClr val="bg2"/>
          </a:solidFill>
          <a:ln w="9525">
            <a:solidFill>
              <a:srgbClr val="C4CBD8"/>
            </a:solidFill>
            <a:prstDash val="solid"/>
          </a:ln>
        </p:spPr>
      </p:sp>
      <p:sp>
        <p:nvSpPr>
          <p:cNvPr id="31" name="Number"/>
          <p:cNvSpPr/>
          <p:nvPr/>
        </p:nvSpPr>
        <p:spPr>
          <a:xfrm>
            <a:off x="8310677" y="4251960"/>
            <a:ext cx="457200" cy="457200"/>
          </a:xfrm>
          <a:prstGeom prst="ellipse">
            <a:avLst/>
          </a:prstGeom>
          <a:solidFill>
            <a:schemeClr val="accent1"/>
          </a:solidFill>
          <a:ln w="6350">
            <a:solidFill>
              <a:schemeClr val="accent1"/>
            </a:solidFill>
            <a:prstDash val="solid"/>
          </a:ln>
        </p:spPr>
      </p:sp>
      <p:sp>
        <p:nvSpPr>
          <p:cNvPr id="32" name="Text 29"/>
          <p:cNvSpPr txBox="1"/>
          <p:nvPr/>
        </p:nvSpPr>
        <p:spPr>
          <a:xfrm>
            <a:off x="8310677" y="42519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a:t>
            </a:r>
            <a:endParaRPr lang="en-US" sz="1500" dirty="0"/>
          </a:p>
        </p:txBody>
      </p:sp>
      <p:sp>
        <p:nvSpPr>
          <p:cNvPr id="33" name="Step head"/>
          <p:cNvSpPr txBox="1"/>
          <p:nvPr/>
        </p:nvSpPr>
        <p:spPr>
          <a:xfrm>
            <a:off x="8905037" y="423367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For discussion</a:t>
            </a:r>
            <a:endParaRPr lang="en-US" sz="1700" dirty="0"/>
          </a:p>
        </p:txBody>
      </p:sp>
      <p:sp>
        <p:nvSpPr>
          <p:cNvPr id="34" name="Step text"/>
          <p:cNvSpPr txBox="1"/>
          <p:nvPr/>
        </p:nvSpPr>
        <p:spPr>
          <a:xfrm>
            <a:off x="8310677" y="4846320"/>
            <a:ext cx="3149498" cy="1234440"/>
          </a:xfrm>
          <a:prstGeom prst="rect">
            <a:avLst/>
          </a:prstGeom>
          <a:noFill/>
          <a:ln/>
        </p:spPr>
        <p:txBody>
          <a:bodyPr wrap="square" lIns="0" tIns="0" rIns="0" bIns="0" rtlCol="0" anchor="t"/>
          <a:lstStyle/>
          <a:p>
            <a:pPr indent="0" marL="0">
              <a:buNone/>
            </a:pPr>
            <a:r>
              <a:rPr lang="en-US" sz="1400" dirty="0">
                <a:solidFill>
                  <a:schemeClr val="tx1"/>
                </a:solidFill>
              </a:rPr>
              <a:t>If treasury funds Materials' next expansion, which arrow is added, and what happens to the core, the layers and the joint reviews?</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9.1 · STEP 3 · TABLE 9.7</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covenant cannot move before quarter two</a:t>
            </a:r>
            <a:endParaRPr lang="en-US" sz="3200" dirty="0"/>
          </a:p>
        </p:txBody>
      </p:sp>
      <p:graphicFrame>
        <p:nvGraphicFramePr>
          <p:cNvPr id="20"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3575886"/>
                <a:gridCol w="2017166"/>
                <a:gridCol w="5501363"/>
              </a:tblGrid>
              <a:tr h="45720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Component</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Earliest quarter</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 shortest route</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45720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Industrial Systems (IND)</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F1E3D"/>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MKT → IND</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5720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Digital (DIG)</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ctr" indent="0" marL="0">
                        <a:buNone/>
                      </a:pPr>
                      <a:r>
                        <a:rPr lang="en-US" sz="1600" dirty="0">
                          <a:solidFill>
                            <a:srgbClr val="0F1E3D"/>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MKT → DIG</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5720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Materials (MAT)</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F1E3D"/>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MKT → MAT</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5720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Shared engineering (ENG)</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ctr" indent="0" marL="0">
                        <a:buNone/>
                      </a:pPr>
                      <a:r>
                        <a:rPr lang="en-US" sz="1600" dirty="0">
                          <a:solidFill>
                            <a:srgbClr val="0F1E3D"/>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MKT → IND → ENG (also via DIG)</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57200">
                <a:tc>
                  <a:txBody>
                    <a:bodyPr/>
                    <a:lstStyle/>
                    <a:p>
                      <a:pPr algn="l" indent="0" marL="0">
                        <a:buNone/>
                      </a:pPr>
                      <a:r>
                        <a:rPr lang="en-US" sz="1600" b="1" dirty="0">
                          <a:solidFill>
                            <a:srgbClr val="0F1E3D"/>
                          </a:solidFill>
                          <a:latin typeface="Calibri" pitchFamily="34" charset="0"/>
                          <a:ea typeface="Calibri" pitchFamily="34" charset="-122"/>
                          <a:cs typeface="Calibri" pitchFamily="34" charset="-120"/>
                        </a:rPr>
                        <a:t>Treasury (TRS), covenant</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ctr" indent="0" marL="0">
                        <a:buNone/>
                      </a:pPr>
                      <a:r>
                        <a:rPr lang="en-US" sz="1600" dirty="0">
                          <a:solidFill>
                            <a:srgbClr val="0F1E3D"/>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MKT → IND → TRS (also via DIG, MAT)</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r h="45720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Governance (GOV)</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ctr" indent="0" marL="0">
                        <a:buNone/>
                      </a:pPr>
                      <a:r>
                        <a:rPr lang="en-US" sz="1600" dirty="0">
                          <a:solidFill>
                            <a:srgbClr val="0F1E3D"/>
                          </a:solidFill>
                          <a:latin typeface="Calibri" pitchFamily="34" charset="0"/>
                          <a:ea typeface="Calibri" pitchFamily="34" charset="-122"/>
                          <a:cs typeface="Calibri" pitchFamily="34" charset="-120"/>
                        </a:rPr>
                        <a:t>never</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no path</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6" name="Table note"/>
          <p:cNvSpPr txBox="1"/>
          <p:nvPr/>
        </p:nvSpPr>
        <p:spPr>
          <a:xfrm>
            <a:off x="548640" y="502920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Table 9.7: the earliest quarter-end at which a demand shock can change each component, its graph distance from the market (Theorem 9.2(ii)).</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Five paths reach treasury; three share no arrow, so insulating it takes three cuts.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9.1 · WHAT THE BOARD SHOULD TAKE AWAY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Headroom, not insulation, defends the covenant</a:t>
            </a:r>
            <a:endParaRPr lang="en-US" sz="3200" dirty="0"/>
          </a:p>
        </p:txBody>
      </p:sp>
      <p:sp>
        <p:nvSpPr>
          <p:cNvPr id="5" name="Stat card"/>
          <p:cNvSpPr/>
          <p:nvPr/>
        </p:nvSpPr>
        <p:spPr>
          <a:xfrm>
            <a:off x="548640" y="1691640"/>
            <a:ext cx="3515258" cy="1920240"/>
          </a:xfrm>
          <a:prstGeom prst="roundRect">
            <a:avLst>
              <a:gd name="adj" fmla="val 3810"/>
            </a:avLst>
          </a:prstGeom>
          <a:solidFill>
            <a:schemeClr val="tx1"/>
          </a:solidFill>
          <a:ln w="9525">
            <a:solidFill>
              <a:srgbClr val="0F1E3D"/>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4000" b="1" dirty="0">
                <a:solidFill>
                  <a:schemeClr val="accent1"/>
                </a:solidFill>
                <a:latin typeface="Cambria" pitchFamily="34" charset="0"/>
                <a:ea typeface="Cambria" pitchFamily="34" charset="-122"/>
                <a:cs typeface="Cambria" pitchFamily="34" charset="-120"/>
              </a:rPr>
              <a:t>1 quarter</a:t>
            </a:r>
            <a:endParaRPr lang="en-US" sz="4000" dirty="0"/>
          </a:p>
        </p:txBody>
      </p:sp>
      <p:sp>
        <p:nvSpPr>
          <p:cNvPr id="7" name="Stat label"/>
          <p:cNvSpPr txBox="1"/>
          <p:nvPr/>
        </p:nvSpPr>
        <p:spPr>
          <a:xfrm>
            <a:off x="685800" y="2697480"/>
            <a:ext cx="3240938" cy="841248"/>
          </a:xfrm>
          <a:prstGeom prst="rect">
            <a:avLst/>
          </a:prstGeom>
          <a:noFill/>
          <a:ln/>
        </p:spPr>
        <p:txBody>
          <a:bodyPr wrap="square" lIns="0" tIns="0" rIns="0" bIns="0" rtlCol="0" anchor="t"/>
          <a:lstStyle/>
          <a:p>
            <a:pPr algn="ctr" indent="0" marL="0">
              <a:buNone/>
            </a:pPr>
            <a:r>
              <a:rPr lang="en-US" sz="1400" dirty="0">
                <a:solidFill>
                  <a:schemeClr val="bg2"/>
                </a:solidFill>
              </a:rPr>
              <a:t>the covenant's reaction window: no change before the second quarter-end</a:t>
            </a:r>
            <a:endParaRPr lang="en-US" sz="1400" dirty="0"/>
          </a:p>
        </p:txBody>
      </p:sp>
      <p:sp>
        <p:nvSpPr>
          <p:cNvPr id="8" name="Stat card"/>
          <p:cNvSpPr/>
          <p:nvPr/>
        </p:nvSpPr>
        <p:spPr>
          <a:xfrm>
            <a:off x="4338218" y="1691640"/>
            <a:ext cx="3515258" cy="1920240"/>
          </a:xfrm>
          <a:prstGeom prst="roundRect">
            <a:avLst>
              <a:gd name="adj" fmla="val 3810"/>
            </a:avLst>
          </a:prstGeom>
          <a:solidFill>
            <a:schemeClr val="bg2"/>
          </a:solidFill>
          <a:ln w="9525">
            <a:solidFill>
              <a:srgbClr val="C4CBD8"/>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4000" b="1" dirty="0">
                <a:solidFill>
                  <a:schemeClr val="tx1"/>
                </a:solidFill>
                <a:latin typeface="Cambria" pitchFamily="34" charset="0"/>
                <a:ea typeface="Cambria" pitchFamily="34" charset="-122"/>
                <a:cs typeface="Cambria" pitchFamily="34" charset="-120"/>
              </a:rPr>
              <a:t>3 routes</a:t>
            </a:r>
            <a:endParaRPr lang="en-US" sz="4000" dirty="0"/>
          </a:p>
        </p:txBody>
      </p:sp>
      <p:sp>
        <p:nvSpPr>
          <p:cNvPr id="10" name="Stat label"/>
          <p:cNvSpPr txBox="1"/>
          <p:nvPr/>
        </p:nvSpPr>
        <p:spPr>
          <a:xfrm>
            <a:off x="4475378" y="2697480"/>
            <a:ext cx="3240938" cy="841248"/>
          </a:xfrm>
          <a:prstGeom prst="rect">
            <a:avLst/>
          </a:prstGeom>
          <a:noFill/>
          <a:ln/>
        </p:spPr>
        <p:txBody>
          <a:bodyPr wrap="square" lIns="0" tIns="0" rIns="0" bIns="0" rtlCol="0" anchor="t"/>
          <a:lstStyle/>
          <a:p>
            <a:pPr algn="ctr" indent="0" marL="0">
              <a:buNone/>
            </a:pPr>
            <a:r>
              <a:rPr lang="en-US" sz="1400" dirty="0">
                <a:solidFill>
                  <a:schemeClr val="tx2"/>
                </a:solidFill>
              </a:rPr>
              <a:t>reach it then, sharing no arrow: insulation would take three cuts</a:t>
            </a:r>
            <a:endParaRPr lang="en-US" sz="1400" dirty="0"/>
          </a:p>
        </p:txBody>
      </p:sp>
      <p:sp>
        <p:nvSpPr>
          <p:cNvPr id="11" name="Stat card"/>
          <p:cNvSpPr/>
          <p:nvPr/>
        </p:nvSpPr>
        <p:spPr>
          <a:xfrm>
            <a:off x="8127797" y="1691640"/>
            <a:ext cx="3515258" cy="1920240"/>
          </a:xfrm>
          <a:prstGeom prst="roundRect">
            <a:avLst>
              <a:gd name="adj" fmla="val 3810"/>
            </a:avLst>
          </a:prstGeom>
          <a:solidFill>
            <a:schemeClr val="bg2"/>
          </a:solidFill>
          <a:ln w="9525">
            <a:solidFill>
              <a:srgbClr val="C4CBD8"/>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4000" b="1" dirty="0">
                <a:solidFill>
                  <a:schemeClr val="tx1"/>
                </a:solidFill>
                <a:latin typeface="Cambria" pitchFamily="34" charset="0"/>
                <a:ea typeface="Cambria" pitchFamily="34" charset="-122"/>
                <a:cs typeface="Cambria" pitchFamily="34" charset="-120"/>
              </a:rPr>
              <a:t>1 review</a:t>
            </a:r>
            <a:endParaRPr lang="en-US" sz="4000" dirty="0"/>
          </a:p>
        </p:txBody>
      </p:sp>
      <p:sp>
        <p:nvSpPr>
          <p:cNvPr id="13" name="Stat label"/>
          <p:cNvSpPr txBox="1"/>
          <p:nvPr/>
        </p:nvSpPr>
        <p:spPr>
          <a:xfrm>
            <a:off x="8264957" y="2697480"/>
            <a:ext cx="3240938" cy="841248"/>
          </a:xfrm>
          <a:prstGeom prst="rect">
            <a:avLst/>
          </a:prstGeom>
          <a:noFill/>
          <a:ln/>
        </p:spPr>
        <p:txBody>
          <a:bodyPr wrap="square" lIns="0" tIns="0" rIns="0" bIns="0" rtlCol="0" anchor="t"/>
          <a:lstStyle/>
          <a:p>
            <a:pPr algn="ctr" indent="0" marL="0">
              <a:buNone/>
            </a:pPr>
            <a:r>
              <a:rPr lang="en-US" sz="1400" dirty="0">
                <a:solidFill>
                  <a:schemeClr val="tx2"/>
                </a:solidFill>
              </a:rPr>
              <a:t>of all the group's limits, only the risk ceiling needs a joint review</a:t>
            </a:r>
            <a:endParaRPr lang="en-US" sz="1400" dirty="0"/>
          </a:p>
        </p:txBody>
      </p:sp>
      <p:sp>
        <p:nvSpPr>
          <p:cNvPr id="14" name="Bullets"/>
          <p:cNvSpPr txBox="1"/>
          <p:nvPr/>
        </p:nvSpPr>
        <p:spPr>
          <a:xfrm>
            <a:off x="548640" y="3931920"/>
            <a:ext cx="11094415" cy="2240280"/>
          </a:xfrm>
          <a:prstGeom prst="rect">
            <a:avLst/>
          </a:prstGeom>
          <a:noFill/>
          <a:ln/>
        </p:spPr>
        <p:txBody>
          <a:bodyPr wrap="square" lIns="635" tIns="635" rIns="635" bIns="635" rtlCol="0" anchor="t"/>
          <a:lstStyle/>
          <a:p>
            <a:pPr marL="228600" indent="-228600">
              <a:spcAft>
                <a:spcPts val="800"/>
              </a:spcAft>
              <a:buSzPct val="100000"/>
              <a:buChar char="•"/>
            </a:pPr>
            <a:r>
              <a:rPr lang="en-US" sz="1700" dirty="0">
                <a:solidFill>
                  <a:schemeClr val="tx1"/>
                </a:solidFill>
              </a:rPr>
              <a:t>On the digital plan, strategic risk peaks at 73.6 about eleven months in: 1.4 points under the ceiling, well inside the ±6 measurement error, so that review decides the matter</a:t>
            </a:r>
            <a:endParaRPr lang="en-US" sz="1700" dirty="0"/>
          </a:p>
          <a:p>
            <a:pPr marL="228600" indent="-228600">
              <a:spcAft>
                <a:spcPts val="800"/>
              </a:spcAft>
              <a:buSzPct val="100000"/>
              <a:buChar char="•"/>
            </a:pPr>
            <a:r>
              <a:rPr lang="en-US" sz="1700" dirty="0">
                <a:solidFill>
                  <a:schemeClr val="tx1"/>
                </a:solidFill>
              </a:rPr>
              <a:t>The two-box map should be used to clear connections, never to assert them</a:t>
            </a:r>
            <a:endParaRPr lang="en-US" sz="1700" dirty="0"/>
          </a:p>
          <a:p>
            <a:pPr marL="228600" indent="-228600">
              <a:spcAft>
                <a:spcPts val="800"/>
              </a:spcAft>
              <a:buSzPct val="100000"/>
              <a:buChar char="•"/>
            </a:pPr>
            <a:r>
              <a:rPr lang="en-US" sz="1700" dirty="0">
                <a:solidFill>
                  <a:schemeClr val="tx1"/>
                </a:solidFill>
              </a:rPr>
              <a:t>For discussion: which missing arrow in Meridian's architecture are you least confident about, and how would you test it?</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AXIOM LAB 1.9 · MODULE AXIOM-09</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Wiring Meridian, in AXIOM</a:t>
            </a:r>
            <a:endParaRPr lang="en-US" sz="3200" dirty="0"/>
          </a:p>
        </p:txBody>
      </p:sp>
      <p:pic>
        <p:nvPicPr>
          <p:cNvPr id="5" name="AXIOM logo" descr="AXIOM">    </p:cNvPr>
          <p:cNvPicPr>
            <a:picLocks noChangeAspect="1"/>
          </p:cNvPicPr>
          <p:nvPr/>
        </p:nvPicPr>
        <p:blipFill>
          <a:blip r:embed="rId1"/>
          <a:stretch>
            <a:fillRect/>
          </a:stretch>
        </p:blipFill>
        <p:spPr>
          <a:xfrm>
            <a:off x="9539935" y="310896"/>
            <a:ext cx="2103120" cy="420624"/>
          </a:xfrm>
          <a:prstGeom prst="rect">
            <a:avLst/>
          </a:prstGeom>
        </p:spPr>
      </p:pic>
      <p:sp>
        <p:nvSpPr>
          <p:cNvPr id="6" name="Situation"/>
          <p:cNvSpPr txBox="1"/>
          <p:nvPr/>
        </p:nvSpPr>
        <p:spPr>
          <a:xfrm>
            <a:off x="548640" y="1645920"/>
            <a:ext cx="11094415" cy="777240"/>
          </a:xfrm>
          <a:prstGeom prst="rect">
            <a:avLst/>
          </a:prstGeom>
          <a:noFill/>
          <a:ln/>
        </p:spPr>
        <p:txBody>
          <a:bodyPr wrap="square" lIns="0" tIns="0" rIns="0" bIns="0" rtlCol="0" anchor="t"/>
          <a:lstStyle/>
          <a:p>
            <a:pPr indent="0" marL="0">
              <a:buNone/>
            </a:pPr>
            <a:r>
              <a:rPr lang="en-US" sz="1500" dirty="0">
                <a:solidFill>
                  <a:schemeClr val="tx1"/>
                </a:solidFill>
              </a:rPr>
              <a:t>Meridian is preparing a reorganization and a board review of its limits. The chief operating officer wants to know which units really depend on which; treasury wants the reaction window for a demand shock; the risk committee wants to know which reviews must be held jointly. Open AXIOM, choose Lab 1.9 and load the Meridian architecture.</a:t>
            </a:r>
            <a:endParaRPr lang="en-US" sz="1500" dirty="0"/>
          </a:p>
        </p:txBody>
      </p:sp>
      <p:sp>
        <p:nvSpPr>
          <p:cNvPr id="7" name="Flow line"/>
          <p:cNvSpPr/>
          <p:nvPr/>
        </p:nvSpPr>
        <p:spPr>
          <a:xfrm>
            <a:off x="1658082" y="2880360"/>
            <a:ext cx="8875532" cy="0"/>
          </a:xfrm>
          <a:prstGeom prst="line">
            <a:avLst/>
          </a:prstGeom>
          <a:noFill/>
          <a:ln w="25400">
            <a:solidFill>
              <a:srgbClr val="C4CBD8"/>
            </a:solidFill>
            <a:prstDash val="solid"/>
          </a:ln>
        </p:spPr>
      </p:sp>
      <p:sp>
        <p:nvSpPr>
          <p:cNvPr id="8" name="Number"/>
          <p:cNvSpPr/>
          <p:nvPr/>
        </p:nvSpPr>
        <p:spPr>
          <a:xfrm>
            <a:off x="1383762" y="2606040"/>
            <a:ext cx="548640" cy="548640"/>
          </a:xfrm>
          <a:prstGeom prst="ellipse">
            <a:avLst/>
          </a:prstGeom>
          <a:solidFill>
            <a:schemeClr val="accent1"/>
          </a:solidFill>
          <a:ln w="6350">
            <a:solidFill>
              <a:schemeClr val="accent1"/>
            </a:solidFill>
            <a:prstDash val="solid"/>
          </a:ln>
        </p:spPr>
      </p:sp>
      <p:sp>
        <p:nvSpPr>
          <p:cNvPr id="9" name="Text 5"/>
          <p:cNvSpPr txBox="1"/>
          <p:nvPr/>
        </p:nvSpPr>
        <p:spPr>
          <a:xfrm>
            <a:off x="1383762"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0" name="Flow head"/>
          <p:cNvSpPr txBox="1"/>
          <p:nvPr/>
        </p:nvSpPr>
        <p:spPr>
          <a:xfrm>
            <a:off x="621792"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Declare the architecture</a:t>
            </a:r>
            <a:endParaRPr lang="en-US" sz="1600" dirty="0"/>
          </a:p>
        </p:txBody>
      </p:sp>
      <p:sp>
        <p:nvSpPr>
          <p:cNvPr id="11" name="Flow text"/>
          <p:cNvSpPr txBox="1"/>
          <p:nvPr/>
        </p:nvSpPr>
        <p:spPr>
          <a:xfrm>
            <a:off x="640080"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Inspect the components, typed arrows and scoped constraints; check each arrow's reading against its source's interface.</a:t>
            </a:r>
            <a:endParaRPr lang="en-US" sz="1400" dirty="0"/>
          </a:p>
        </p:txBody>
      </p:sp>
      <p:sp>
        <p:nvSpPr>
          <p:cNvPr id="12" name="Number"/>
          <p:cNvSpPr/>
          <p:nvPr/>
        </p:nvSpPr>
        <p:spPr>
          <a:xfrm>
            <a:off x="3602645" y="2606040"/>
            <a:ext cx="548640" cy="548640"/>
          </a:xfrm>
          <a:prstGeom prst="ellipse">
            <a:avLst/>
          </a:prstGeom>
          <a:solidFill>
            <a:schemeClr val="accent1"/>
          </a:solidFill>
          <a:ln w="6350">
            <a:solidFill>
              <a:schemeClr val="accent1"/>
            </a:solidFill>
            <a:prstDash val="solid"/>
          </a:ln>
        </p:spPr>
      </p:sp>
      <p:sp>
        <p:nvSpPr>
          <p:cNvPr id="13" name="Text 9"/>
          <p:cNvSpPr txBox="1"/>
          <p:nvPr/>
        </p:nvSpPr>
        <p:spPr>
          <a:xfrm>
            <a:off x="3602645"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4" name="Flow head"/>
          <p:cNvSpPr txBox="1"/>
          <p:nvPr/>
        </p:nvSpPr>
        <p:spPr>
          <a:xfrm>
            <a:off x="2840675"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Find the core</a:t>
            </a:r>
            <a:endParaRPr lang="en-US" sz="1600" dirty="0"/>
          </a:p>
        </p:txBody>
      </p:sp>
      <p:sp>
        <p:nvSpPr>
          <p:cNvPr id="15" name="Flow text"/>
          <p:cNvSpPr txBox="1"/>
          <p:nvPr/>
        </p:nvSpPr>
        <p:spPr>
          <a:xfrm>
            <a:off x="2858963"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Run the topology analyzer: components, condensation and layers, against the org chart.</a:t>
            </a:r>
            <a:endParaRPr lang="en-US" sz="1400" dirty="0"/>
          </a:p>
        </p:txBody>
      </p:sp>
      <p:sp>
        <p:nvSpPr>
          <p:cNvPr id="16" name="Number"/>
          <p:cNvSpPr/>
          <p:nvPr/>
        </p:nvSpPr>
        <p:spPr>
          <a:xfrm>
            <a:off x="5821528" y="2606040"/>
            <a:ext cx="548640" cy="548640"/>
          </a:xfrm>
          <a:prstGeom prst="ellipse">
            <a:avLst/>
          </a:prstGeom>
          <a:solidFill>
            <a:schemeClr val="accent1"/>
          </a:solidFill>
          <a:ln w="6350">
            <a:solidFill>
              <a:schemeClr val="accent1"/>
            </a:solidFill>
            <a:prstDash val="solid"/>
          </a:ln>
        </p:spPr>
      </p:sp>
      <p:sp>
        <p:nvSpPr>
          <p:cNvPr id="17" name="Text 13"/>
          <p:cNvSpPr txBox="1"/>
          <p:nvPr/>
        </p:nvSpPr>
        <p:spPr>
          <a:xfrm>
            <a:off x="5821528"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8" name="Flow head"/>
          <p:cNvSpPr txBox="1"/>
          <p:nvPr/>
        </p:nvSpPr>
        <p:spPr>
          <a:xfrm>
            <a:off x="5059558"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Send a shock</a:t>
            </a:r>
            <a:endParaRPr lang="en-US" sz="1600" dirty="0"/>
          </a:p>
        </p:txBody>
      </p:sp>
      <p:sp>
        <p:nvSpPr>
          <p:cNvPr id="19" name="Flow text"/>
          <p:cNvSpPr txBox="1"/>
          <p:nvPr/>
        </p:nvSpPr>
        <p:spPr>
          <a:xfrm>
            <a:off x="5077846"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Watch the wavefront for three quarters; weaken a dependence; count the routes to treasury.</a:t>
            </a:r>
            <a:endParaRPr lang="en-US" sz="1400" dirty="0"/>
          </a:p>
        </p:txBody>
      </p:sp>
      <p:sp>
        <p:nvSpPr>
          <p:cNvPr id="20" name="Number"/>
          <p:cNvSpPr/>
          <p:nvPr/>
        </p:nvSpPr>
        <p:spPr>
          <a:xfrm>
            <a:off x="8040411" y="2606040"/>
            <a:ext cx="548640" cy="548640"/>
          </a:xfrm>
          <a:prstGeom prst="ellipse">
            <a:avLst/>
          </a:prstGeom>
          <a:solidFill>
            <a:schemeClr val="accent1"/>
          </a:solidFill>
          <a:ln w="6350">
            <a:solidFill>
              <a:schemeClr val="accent1"/>
            </a:solidFill>
            <a:prstDash val="solid"/>
          </a:ln>
        </p:spPr>
      </p:sp>
      <p:sp>
        <p:nvSpPr>
          <p:cNvPr id="21" name="Text 17"/>
          <p:cNvSpPr txBox="1"/>
          <p:nvPr/>
        </p:nvSpPr>
        <p:spPr>
          <a:xfrm>
            <a:off x="8040411"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22" name="Flow head"/>
          <p:cNvSpPr txBox="1"/>
          <p:nvPr/>
        </p:nvSpPr>
        <p:spPr>
          <a:xfrm>
            <a:off x="7278441"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Test the summary map</a:t>
            </a:r>
            <a:endParaRPr lang="en-US" sz="1600" dirty="0"/>
          </a:p>
        </p:txBody>
      </p:sp>
      <p:sp>
        <p:nvSpPr>
          <p:cNvPr id="23" name="Flow text"/>
          <p:cNvSpPr txBox="1"/>
          <p:nvPr/>
        </p:nvSpPr>
        <p:spPr>
          <a:xfrm>
            <a:off x="7296729"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Build the two-box map, find the connections it invents and drill down; then aggregate by cores.</a:t>
            </a:r>
            <a:endParaRPr lang="en-US" sz="1400" dirty="0"/>
          </a:p>
        </p:txBody>
      </p:sp>
      <p:sp>
        <p:nvSpPr>
          <p:cNvPr id="24" name="Number"/>
          <p:cNvSpPr/>
          <p:nvPr/>
        </p:nvSpPr>
        <p:spPr>
          <a:xfrm>
            <a:off x="10259294" y="2606040"/>
            <a:ext cx="548640" cy="548640"/>
          </a:xfrm>
          <a:prstGeom prst="ellipse">
            <a:avLst/>
          </a:prstGeom>
          <a:solidFill>
            <a:schemeClr val="accent1"/>
          </a:solidFill>
          <a:ln w="6350">
            <a:solidFill>
              <a:schemeClr val="accent1"/>
            </a:solidFill>
            <a:prstDash val="solid"/>
          </a:ln>
        </p:spPr>
      </p:sp>
      <p:sp>
        <p:nvSpPr>
          <p:cNvPr id="25" name="Text 21"/>
          <p:cNvSpPr txBox="1"/>
          <p:nvPr/>
        </p:nvSpPr>
        <p:spPr>
          <a:xfrm>
            <a:off x="10259294"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5</a:t>
            </a:r>
            <a:endParaRPr lang="en-US" sz="1600" dirty="0"/>
          </a:p>
        </p:txBody>
      </p:sp>
      <p:sp>
        <p:nvSpPr>
          <p:cNvPr id="26" name="Flow head"/>
          <p:cNvSpPr txBox="1"/>
          <p:nvPr/>
        </p:nvSpPr>
        <p:spPr>
          <a:xfrm>
            <a:off x="9497324"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Audit the constraints</a:t>
            </a:r>
            <a:endParaRPr lang="en-US" sz="1600" dirty="0"/>
          </a:p>
        </p:txBody>
      </p:sp>
      <p:sp>
        <p:nvSpPr>
          <p:cNvPr id="27" name="Flow text"/>
          <p:cNvSpPr txBox="1"/>
          <p:nvPr/>
        </p:nvSpPr>
        <p:spPr>
          <a:xfrm>
            <a:off x="9515612"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Enter the three planning rules; load Meridian's constraints, count the cycles, run the checklist.</a:t>
            </a:r>
            <a:endParaRPr lang="en-US" sz="1400" dirty="0"/>
          </a:p>
        </p:txBody>
      </p:sp>
      <p:sp>
        <p:nvSpPr>
          <p:cNvPr id="28" name="Deliverable card"/>
          <p:cNvSpPr/>
          <p:nvPr/>
        </p:nvSpPr>
        <p:spPr>
          <a:xfrm>
            <a:off x="548640" y="5486400"/>
            <a:ext cx="11094415" cy="685800"/>
          </a:xfrm>
          <a:prstGeom prst="roundRect">
            <a:avLst>
              <a:gd name="adj" fmla="val 10667"/>
            </a:avLst>
          </a:prstGeom>
          <a:solidFill>
            <a:schemeClr val="bg2"/>
          </a:solidFill>
          <a:ln w="9525">
            <a:solidFill>
              <a:srgbClr val="C4CBD8"/>
            </a:solidFill>
            <a:prstDash val="solid"/>
          </a:ln>
        </p:spPr>
      </p:sp>
      <p:sp>
        <p:nvSpPr>
          <p:cNvPr id="29" name="Deliverable"/>
          <p:cNvSpPr txBox="1"/>
          <p:nvPr/>
        </p:nvSpPr>
        <p:spPr>
          <a:xfrm>
            <a:off x="777240" y="5559552"/>
            <a:ext cx="10637215" cy="539496"/>
          </a:xfrm>
          <a:prstGeom prst="rect">
            <a:avLst/>
          </a:prstGeom>
          <a:noFill/>
          <a:ln/>
        </p:spPr>
        <p:txBody>
          <a:bodyPr wrap="square" lIns="0" tIns="0" rIns="0" bIns="0" rtlCol="0" anchor="ctr"/>
          <a:lstStyle/>
          <a:p>
            <a:pPr indent="0" marL="0">
              <a:buNone/>
            </a:pPr>
            <a:r>
              <a:rPr lang="en-US" sz="1400" b="1" dirty="0">
                <a:solidFill>
                  <a:schemeClr val="tx1"/>
                </a:solidFill>
              </a:rPr>
              <a:t>Deliverable:</a:t>
            </a:r>
            <a:r>
              <a:rPr lang="en-US" sz="1400" dirty="0">
                <a:solidFill>
                  <a:schemeClr val="tx1"/>
                </a:solidFill>
              </a:rPr>
              <a:t> a one-page architecture memo to the chief operating officer: the declared map, the feedback core and layers, the arrival floors for a demand shock, the joint-review calendar, and the one missing arrow to test first. About 75 minutes.</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KEY TAKEAWAYS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What to carry forward</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500" dirty="0">
                <a:solidFill>
                  <a:schemeClr val="tx1"/>
                </a:solidFill>
              </a:rPr>
              <a:t>An architecture is a state description organized into components, typed wiring, and scoped constraints; its arrows are testable dependences and its missing arrows testable claims of independence.</a:t>
            </a:r>
            <a:endParaRPr lang="en-US" sz="15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500" dirty="0">
                <a:solidFill>
                  <a:schemeClr val="tx1"/>
                </a:solidFill>
              </a:rPr>
              <a:t>The wiring is a speed limit: influence travels only along arrows and never faster than graph distance, so arrival floors and quarantine proofs are reachability computations.</a:t>
            </a:r>
            <a:endParaRPr lang="en-US" sz="15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500" dirty="0">
                <a:solidFill>
                  <a:schemeClr val="tx1"/>
                </a:solidFill>
              </a:rPr>
              <a:t>Feedback lives in strongly connected cores; the one-way layers between them are the company's causal hierarchy, which rarely matches its org chart.</a:t>
            </a:r>
            <a:endParaRPr lang="en-US" sz="15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500" dirty="0">
                <a:solidFill>
                  <a:schemeClr val="tx1"/>
                </a:solidFill>
              </a:rPr>
              <a:t>Trust summary dependency maps one way only: they prove separations, never connections, because aggregation overstates coupling.</a:t>
            </a:r>
            <a:endParaRPr lang="en-US" sz="15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500" dirty="0">
                <a:solidFill>
                  <a:schemeClr val="tx1"/>
                </a:solidFill>
              </a:rPr>
              <a:t>Bilateral sign-off suffices when the constraint graph is a tree and never on a cycle: count the cycles and hold one joint review per cycle; completeness and complexity are audits of the same object.</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THIS WEEK'S LABORATORY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Notebook and workbook reproduce the book</a:t>
            </a:r>
            <a:endParaRPr lang="en-US" sz="3200" dirty="0"/>
          </a:p>
        </p:txBody>
      </p:sp>
      <p:sp>
        <p:nvSpPr>
          <p:cNvPr id="5" name="Stat card"/>
          <p:cNvSpPr/>
          <p:nvPr/>
        </p:nvSpPr>
        <p:spPr>
          <a:xfrm>
            <a:off x="548640" y="1691640"/>
            <a:ext cx="2567864" cy="1691640"/>
          </a:xfrm>
          <a:prstGeom prst="roundRect">
            <a:avLst>
              <a:gd name="adj" fmla="val 4324"/>
            </a:avLst>
          </a:prstGeom>
          <a:solidFill>
            <a:schemeClr val="tx1"/>
          </a:solidFill>
          <a:ln w="9525">
            <a:solidFill>
              <a:srgbClr val="0F1E3D"/>
            </a:solidFill>
            <a:prstDash val="solid"/>
          </a:ln>
        </p:spPr>
      </p:sp>
      <p:sp>
        <p:nvSpPr>
          <p:cNvPr id="6" name="Stat value"/>
          <p:cNvSpPr txBox="1"/>
          <p:nvPr/>
        </p:nvSpPr>
        <p:spPr>
          <a:xfrm>
            <a:off x="685800" y="1801368"/>
            <a:ext cx="2293544"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76</a:t>
            </a:r>
            <a:endParaRPr lang="en-US" sz="4400" dirty="0"/>
          </a:p>
        </p:txBody>
      </p:sp>
      <p:sp>
        <p:nvSpPr>
          <p:cNvPr id="7" name="Stat label"/>
          <p:cNvSpPr txBox="1"/>
          <p:nvPr/>
        </p:nvSpPr>
        <p:spPr>
          <a:xfrm>
            <a:off x="685800" y="2697480"/>
            <a:ext cx="2293544" cy="612648"/>
          </a:xfrm>
          <a:prstGeom prst="rect">
            <a:avLst/>
          </a:prstGeom>
          <a:noFill/>
          <a:ln/>
        </p:spPr>
        <p:txBody>
          <a:bodyPr wrap="square" lIns="0" tIns="0" rIns="0" bIns="0" rtlCol="0" anchor="t"/>
          <a:lstStyle/>
          <a:p>
            <a:pPr algn="ctr" indent="0" marL="0">
              <a:buNone/>
            </a:pPr>
            <a:r>
              <a:rPr lang="en-US" sz="1400" dirty="0">
                <a:solidFill>
                  <a:schemeClr val="bg2"/>
                </a:solidFill>
              </a:rPr>
              <a:t>notebook checkpoints, every one PASS</a:t>
            </a:r>
            <a:endParaRPr lang="en-US" sz="1400" dirty="0"/>
          </a:p>
        </p:txBody>
      </p:sp>
      <p:sp>
        <p:nvSpPr>
          <p:cNvPr id="8" name="Stat card"/>
          <p:cNvSpPr/>
          <p:nvPr/>
        </p:nvSpPr>
        <p:spPr>
          <a:xfrm>
            <a:off x="3390824" y="1691640"/>
            <a:ext cx="2567864" cy="1691640"/>
          </a:xfrm>
          <a:prstGeom prst="roundRect">
            <a:avLst>
              <a:gd name="adj" fmla="val 4324"/>
            </a:avLst>
          </a:prstGeom>
          <a:solidFill>
            <a:schemeClr val="bg2"/>
          </a:solidFill>
          <a:ln w="9525">
            <a:solidFill>
              <a:srgbClr val="C4CBD8"/>
            </a:solidFill>
            <a:prstDash val="solid"/>
          </a:ln>
        </p:spPr>
      </p:sp>
      <p:sp>
        <p:nvSpPr>
          <p:cNvPr id="9" name="Stat value"/>
          <p:cNvSpPr txBox="1"/>
          <p:nvPr/>
        </p:nvSpPr>
        <p:spPr>
          <a:xfrm>
            <a:off x="3527984"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75</a:t>
            </a:r>
            <a:endParaRPr lang="en-US" sz="4400" dirty="0"/>
          </a:p>
        </p:txBody>
      </p:sp>
      <p:sp>
        <p:nvSpPr>
          <p:cNvPr id="10" name="Stat label"/>
          <p:cNvSpPr txBox="1"/>
          <p:nvPr/>
        </p:nvSpPr>
        <p:spPr>
          <a:xfrm>
            <a:off x="3527984"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workbook checks against the engine, ALL PASS</a:t>
            </a:r>
            <a:endParaRPr lang="en-US" sz="1400" dirty="0"/>
          </a:p>
        </p:txBody>
      </p:sp>
      <p:sp>
        <p:nvSpPr>
          <p:cNvPr id="11" name="Stat card"/>
          <p:cNvSpPr/>
          <p:nvPr/>
        </p:nvSpPr>
        <p:spPr>
          <a:xfrm>
            <a:off x="6233008" y="1691640"/>
            <a:ext cx="2567864" cy="1691640"/>
          </a:xfrm>
          <a:prstGeom prst="roundRect">
            <a:avLst>
              <a:gd name="adj" fmla="val 4324"/>
            </a:avLst>
          </a:prstGeom>
          <a:solidFill>
            <a:schemeClr val="bg2"/>
          </a:solidFill>
          <a:ln w="9525">
            <a:solidFill>
              <a:srgbClr val="C4CBD8"/>
            </a:solidFill>
            <a:prstDash val="solid"/>
          </a:ln>
        </p:spPr>
      </p:sp>
      <p:sp>
        <p:nvSpPr>
          <p:cNvPr id="12" name="Stat value"/>
          <p:cNvSpPr txBox="1"/>
          <p:nvPr/>
        </p:nvSpPr>
        <p:spPr>
          <a:xfrm>
            <a:off x="6370168"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26109</a:t>
            </a:r>
            <a:endParaRPr lang="en-US" sz="4400" dirty="0"/>
          </a:p>
        </p:txBody>
      </p:sp>
      <p:sp>
        <p:nvSpPr>
          <p:cNvPr id="13" name="Stat label"/>
          <p:cNvSpPr txBox="1"/>
          <p:nvPr/>
        </p:nvSpPr>
        <p:spPr>
          <a:xfrm>
            <a:off x="6370168"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the lab's seed</a:t>
            </a:r>
            <a:endParaRPr lang="en-US" sz="1400" dirty="0"/>
          </a:p>
        </p:txBody>
      </p:sp>
      <p:sp>
        <p:nvSpPr>
          <p:cNvPr id="14" name="Stat card"/>
          <p:cNvSpPr/>
          <p:nvPr/>
        </p:nvSpPr>
        <p:spPr>
          <a:xfrm>
            <a:off x="9075191" y="1691640"/>
            <a:ext cx="2567864" cy="1691640"/>
          </a:xfrm>
          <a:prstGeom prst="roundRect">
            <a:avLst>
              <a:gd name="adj" fmla="val 4324"/>
            </a:avLst>
          </a:prstGeom>
          <a:solidFill>
            <a:schemeClr val="bg2"/>
          </a:solidFill>
          <a:ln w="9525">
            <a:solidFill>
              <a:srgbClr val="C4CBD8"/>
            </a:solidFill>
            <a:prstDash val="solid"/>
          </a:ln>
        </p:spPr>
      </p:sp>
      <p:sp>
        <p:nvSpPr>
          <p:cNvPr id="15" name="Stat value"/>
          <p:cNvSpPr txBox="1"/>
          <p:nvPr/>
        </p:nvSpPr>
        <p:spPr>
          <a:xfrm>
            <a:off x="9212351" y="1801368"/>
            <a:ext cx="2293544" cy="91440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AXIOM-09</a:t>
            </a:r>
            <a:endParaRPr lang="en-US" sz="3000" dirty="0"/>
          </a:p>
        </p:txBody>
      </p:sp>
      <p:sp>
        <p:nvSpPr>
          <p:cNvPr id="16" name="Stat label"/>
          <p:cNvSpPr txBox="1"/>
          <p:nvPr/>
        </p:nvSpPr>
        <p:spPr>
          <a:xfrm>
            <a:off x="9212351"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AXIOM Lab 1.9</a:t>
            </a:r>
            <a:endParaRPr lang="en-US" sz="1400" dirty="0"/>
          </a:p>
        </p:txBody>
      </p:sp>
      <p:sp>
        <p:nvSpPr>
          <p:cNvPr id="17" name="Bullets"/>
          <p:cNvSpPr txBox="1"/>
          <p:nvPr/>
        </p:nvSpPr>
        <p:spPr>
          <a:xfrm>
            <a:off x="548640" y="3703320"/>
            <a:ext cx="11094415" cy="246888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Notebook</a:t>
            </a:r>
            <a:r>
              <a:rPr lang="en-US" sz="1700" dirty="0">
                <a:solidFill>
                  <a:schemeClr val="tx1"/>
                </a:solidFill>
              </a:rPr>
              <a:t> DCT_V1_Ch09_Lab.ipynb: Worked Example 9.1 and the lab's five steps in eight panels, every graph algorithm in plain Python, ready for Colab</a:t>
            </a:r>
            <a:endParaRPr lang="en-US" sz="1700" dirty="0"/>
          </a:p>
          <a:p>
            <a:pPr marL="228600" indent="-228600">
              <a:spcAft>
                <a:spcPts val="800"/>
              </a:spcAft>
              <a:buSzPct val="100000"/>
              <a:buChar char="•"/>
            </a:pPr>
            <a:r>
              <a:rPr lang="en-US" sz="1700" b="1" dirty="0">
                <a:solidFill>
                  <a:schemeClr val="tx1"/>
                </a:solidFill>
              </a:rPr>
              <a:t>Workbook</a:t>
            </a:r>
            <a:r>
              <a:rPr lang="en-US" sz="1700" dirty="0">
                <a:solidFill>
                  <a:schemeClr val="tx1"/>
                </a:solidFill>
              </a:rPr>
              <a:t> DCT_V1_Ch09_Lab.xlsx: the arrow list drives reach, cores, layers, Table 9.7, the cuts, the summary maps and the joint review, in formulas</a:t>
            </a:r>
            <a:endParaRPr lang="en-US" sz="1700" dirty="0"/>
          </a:p>
          <a:p>
            <a:pPr marL="228600" indent="-228600">
              <a:spcAft>
                <a:spcPts val="800"/>
              </a:spcAft>
              <a:buSzPct val="100000"/>
              <a:buChar char="•"/>
            </a:pPr>
            <a:r>
              <a:rPr lang="en-US" sz="1700" dirty="0">
                <a:solidFill>
                  <a:schemeClr val="tx1"/>
                </a:solidFill>
              </a:rPr>
              <a:t>Every number on these slides is the book's, and both companions check it</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NEXT · CHAPTER 10</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Chapter 10 adds the stocks</a:t>
            </a:r>
            <a:endParaRPr lang="en-US" sz="3200" dirty="0"/>
          </a:p>
        </p:txBody>
      </p:sp>
      <p:pic>
        <p:nvPicPr>
          <p:cNvPr id="5" name="Equation" descr="Equation: C_{i,k+1} \;=\; (1-\delta_i)\,C_{i,k} \;+\; I_{i,k} \;-\; O_{i,k} \;+\; \sum_{j \to i} \eta_{ji}\,T_{ji,k} \;-\; \sum_{i \to j} T_{ij,k}">    </p:cNvPr>
          <p:cNvPicPr>
            <a:picLocks noChangeAspect="1"/>
          </p:cNvPicPr>
          <p:nvPr/>
        </p:nvPicPr>
        <p:blipFill>
          <a:blip r:embed="rId1"/>
          <a:stretch>
            <a:fillRect/>
          </a:stretch>
        </p:blipFill>
        <p:spPr>
          <a:xfrm>
            <a:off x="1830670" y="1691640"/>
            <a:ext cx="8530355" cy="868680"/>
          </a:xfrm>
          <a:prstGeom prst="rect">
            <a:avLst/>
          </a:prstGeom>
        </p:spPr>
      </p:pic>
      <p:sp>
        <p:nvSpPr>
          <p:cNvPr id="6" name="Bullets"/>
          <p:cNvSpPr txBox="1"/>
          <p:nvPr/>
        </p:nvSpPr>
        <p:spPr>
          <a:xfrm>
            <a:off x="548640" y="2880360"/>
            <a:ext cx="11094415" cy="329184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bg1"/>
                </a:solidFill>
              </a:rPr>
              <a:t>The balance of Equation 10.2: each stock decays, grows by investment, is drawn down by use, and converts into other forms, with some loss</a:t>
            </a:r>
            <a:endParaRPr lang="en-US" sz="1800" dirty="0"/>
          </a:p>
          <a:p>
            <a:pPr marL="228600" indent="-228600">
              <a:spcAft>
                <a:spcPts val="800"/>
              </a:spcAft>
              <a:buSzPct val="100000"/>
              <a:buChar char="•"/>
            </a:pPr>
            <a:r>
              <a:rPr lang="en-US" sz="1800" dirty="0">
                <a:solidFill>
                  <a:schemeClr val="bg1"/>
                </a:solidFill>
              </a:rPr>
              <a:t>The capital architecture equips the components through which capital enters, resides and leaves with conservation laws along the arrows</a:t>
            </a:r>
            <a:endParaRPr lang="en-US" sz="1800" dirty="0"/>
          </a:p>
          <a:p>
            <a:pPr marL="228600" indent="-228600">
              <a:spcAft>
                <a:spcPts val="800"/>
              </a:spcAft>
              <a:buSzPct val="100000"/>
              <a:buChar char="•"/>
            </a:pPr>
            <a:r>
              <a:rPr lang="en-US" sz="1800" dirty="0">
                <a:solidFill>
                  <a:schemeClr val="bg1"/>
                </a:solidFill>
              </a:rPr>
              <a:t>Its carriers are this chapter's components and its conversions run along this chapter's arrows: structure on the state architecture, not a parallel construction</a:t>
            </a:r>
            <a:endParaRPr lang="en-US" sz="18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Dynamic Corporate Transformation">
  <a:themeElements>
    <a:clrScheme name="Dynamic Corporate Transformation">
      <a:dk1>
        <a:srgbClr val="0F1E3D"/>
      </a:dk1>
      <a:lt1>
        <a:srgbClr val="FFFFFF"/>
      </a:lt1>
      <a:dk2>
        <a:srgbClr val="5A6B82"/>
      </a:dk2>
      <a:lt2>
        <a:srgbClr val="F7F4ED"/>
      </a:lt2>
      <a:accent1>
        <a:srgbClr val="B4884A"/>
      </a:accent1>
      <a:accent2>
        <a:srgbClr val="2F6F6B"/>
      </a:accent2>
      <a:accent3>
        <a:srgbClr val="8A6A33"/>
      </a:accent3>
      <a:accent4>
        <a:srgbClr val="C4CBD8"/>
      </a:accent4>
      <a:accent5>
        <a:srgbClr val="1F4FD8"/>
      </a:accent5>
      <a:accent6>
        <a:srgbClr val="16263F"/>
      </a:accent6>
      <a:hlink>
        <a:srgbClr val="1F4FD8"/>
      </a:hlink>
      <a:folHlink>
        <a:srgbClr val="5A6B82"/>
      </a:folHlink>
    </a:clrScheme>
    <a:fontScheme name="Dynamic Corporate Transform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Dynamic Corporate Transformation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Corporate Transformation, Volume I, Chapter 9: Enterprise State Architecture</dc:title>
  <dc:subject>Slides for Volume I, Chapter 9 (V56)</dc:subject>
  <dc:creator>Samir Asaf</dc:creator>
  <cp:lastModifiedBy>Samir Asaf</cp:lastModifiedBy>
  <cp:revision>1</cp:revision>
  <dcterms:created xsi:type="dcterms:W3CDTF">2026-10-05T09:46:49Z</dcterms:created>
  <dcterms:modified xsi:type="dcterms:W3CDTF">2026-10-05T09:46:49Z</dcterms:modified>
</cp:coreProperties>
</file>