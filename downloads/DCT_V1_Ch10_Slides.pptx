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32b672-0f24-5373-6661-29d63985997f}">
          <p14:sldIdLst>
            <p14:sldId id="256"/>
            <p14:sldId id="257"/>
            <p14:sldId id="258"/>
            <p14:sldId id="259"/>
          </p14:sldIdLst>
        </p14:section>
        <p14:section name="10.1 Why Capital Is More Than Money" id="{14e62433-f688-fafd-f7f2-0682554e6401}">
          <p14:sldIdLst>
            <p14:sldId id="260"/>
          </p14:sldIdLst>
        </p14:section>
        <p14:section name="10.2 Capital Beyond Finance" id="{8981ca25-34f9-4072-31f1-7bb45466b592}">
          <p14:sldIdLst>
            <p14:sldId id="261"/>
          </p14:sldIdLst>
        </p14:section>
        <p14:section name="10.3 The Enterprise Capital Architecture" id="{fdb3f59a-de35-268e-2585-50af8af21a04}">
          <p14:sldIdLst>
            <p14:sldId id="262"/>
          </p14:sldIdLst>
        </p14:section>
        <p14:section name="10.4 The Forms of Enterprise Capital" id="{1f82cfe9-42de-facc-5ace-c415a4cb4a83}">
          <p14:sldIdLst>
            <p14:sldId id="263"/>
            <p14:sldId id="264"/>
          </p14:sldIdLst>
        </p14:section>
        <p14:section name="10.5 Capital Dependencies" id="{fded7e48-2b2a-c8ee-2206-40fd85445cbc}">
          <p14:sldIdLst>
            <p14:sldId id="265"/>
          </p14:sldIdLst>
        </p14:section>
        <p14:section name="10.6 Capital Accumulation and Depletion" id="{ff31bd4a-5a82-2c3f-2ea2-86bd09eca36e}">
          <p14:sldIdLst>
            <p14:sldId id="266"/>
            <p14:sldId id="267"/>
          </p14:sldIdLst>
        </p14:section>
        <p14:section name="10.7 Capital Allocation and Productivity" id="{0c013744-e11b-8e2f-a84a-9619b7b76f59}">
          <p14:sldIdLst>
            <p14:sldId id="268"/>
          </p14:sldIdLst>
        </p14:section>
        <p14:section name="10.8 Architecture Consistency and Capital Dynamics" id="{af4ec3fa-6301-ad1d-50ea-6214ff13e90d}">
          <p14:sldIdLst>
            <p14:sldId id="269"/>
            <p14:sldId id="270"/>
          </p14:sldIdLst>
        </p14:section>
        <p14:section name="Worked Example 10.1" id="{3acbb41e-02b0-0ac4-22a0-a20ec604a469}">
          <p14:sldIdLst>
            <p14:sldId id="271"/>
            <p14:sldId id="272"/>
            <p14:sldId id="273"/>
            <p14:sldId id="274"/>
            <p14:sldId id="275"/>
          </p14:sldIdLst>
        </p14:section>
        <p14:section name="AXIOM Lab 1.10" id="{10589fe6-a54b-cce3-ff70-e6ad150e7a14}">
          <p14:sldIdLst>
            <p14:sldId id="276"/>
          </p14:sldIdLst>
        </p14:section>
        <p14:section name="Close" id="{ebd6b47f-cecc-4bc2-f246-b4d79153c481}">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10. Chapter 9 built the company's skeleton: components, wiring and constraints. This chapter adds the stocks: the durable quantities that make action possible and are consumed, converted and rebuilt by it (Section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Solow's remark (1987). Technological capital is productive only when integrated, hence its complementarity with human and organizational capital (Definition 10.6); those complements are stocks that build at the rate their decay allows, and the balance sheet does not record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10.2: Proposition 10.1. Section 10.3: Definitions 10.1-10.2 and Theorem 10.1. Section 10.4: Definitions 10.3-10.9 and Tables 10.1-10.3. Section 10.5: Definition 10.10, Proposition 10.2 and Theorem 10.2. Section 10.6: Definitions 10.11-10.12, Theorem 10.3, Propositions 10.3-10.4 and Figure 10.1. Section 10.7: Theorem 10.4 and Figure 10.2. Section 10.8: Proposition 10.5, Theorem 10.5 and Table 10.4. Worked Example 10.1: Table 10.5 and Figure 10.3. AXIOM Lab 1.10: module AXIOM-10, five steps. Proofs of Theorems 10.2-10.4 are in Appendix 10.A; Theorems 10.1 and 10.5 and Propositions 10.1-10.5 in Online Appendix 10.B.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10.1. Of everything a state architecture carries, the stocks do disproportionate work in transformation: cash and debt capacity, but equally the trained workforce, codified know-how, installed technology, routines, relationships and strategic positions. Formalizing turns folklore into results with numbers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10.1; formal statement and proof in Online Appendix 10.B. The hypothesis does the work: which non-financial stocks move capacity, and over what range, is what a capital architecture declares.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10.1-10.2 and Theorem 10.1; formal statement and proof in Online Appendix 10.B, with the chain of conversions (10.B.1). The architecture is the triple (C, D, G): capital components with their carriers, the dependency structure, and capital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10.1 and Definitions 10.1 and 10.3-10.9. The capital vector is C = [C_F, C_H, C_I, C_T, C_O, C_R, C_S, C_G, C_N, C_Info]: ten forms. Definitions 10.3-10.9 define the first of them one by one; the other three, governance, innovation and informational capital, are treated with the same machinery, and no result depends on the length of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10.2: the forms of Definitions 10.3-10.9 on the four properties that drive their dynamics. The softer forms, organizational, relational and strategic, have the widest error bars exactly where they matter most (Section 10.4); LOS Guidance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10.10, Proposition 10.2 and Theorem 10.2; proof in Appendix 10.A. Complementarity is Milgrom and Roberts's. Part (iii) imports Chapter 9's arithmetic: capital contagion has computable arrival floors.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10.11-10.12, Theorem 10.3 (proof in Appendix 10.A) and Propositions 10.3-10.4 (Online Appendix 10.B). Closing all but a fraction ε of the gap to the ceiling takes about (1/δ) ln(1/ε) periods when δ is small. Burning capital is fast; rebuilding it is limited by 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10.1 and Section 10.6's enterprise box. The time to build is the planning constant that settles Chapter 1's tension between ambition and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Theorems 10.2(i) and 10.4(ii); proofs in Appendix 10.A. The shadow value λ is the company's internal price of capacity, its hurdle rate for capability. Part (iii): fund strict complements together; one-sided programs are self-undermining.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10.5 and Proposition 10.5; formal statements and proofs in Online Appendix 10.B, with what the plug reveals (10.B.5). Run the balance for every declared form of capital.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10.4. The capital architecture hands the chapters that follow their subject in audited form: performance (Chapter 11), risk (Chapter 12) and optimization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the situation. The terms are Worked Example 3.1's; the floor of 55 is the one both the digital build and the automation program require (Figure 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Steps 1-3. Technology falls from 41 to 36.9 either way; capability falls by 5 points unless the team stays. The rent is already in the operating budget. Annual depreciation is 1 - 0.975^4 = 9.6 percent, inside the 6-11 percent attrition range of Table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Steps 3-4, Figure 10.3 and Online Appendix 10.B.6; Propositions 10.3 and 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10.5 and Step 5. Online Appendix 10.B.6: with the cap at 2.0 points a quarter, quarters 4 and 9 and $17.8m more; attrition of 6 percent a year, 2 and 4 and $19.4m; 11 percent, 3 and 6 and $18.2m.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10.1, what the board should take away, and the discussion question; Online Appendix 10.B.6 prices the $30m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1.10. What to look for: holding a stock costs its rent for as long as it is wanted; after a cut the stock recovers only slowly at the old budget and, at the cap, no faster than the time to build (Theorem 10.3); spending off the bottleneck buys nothing (Theorem 10.2(i)).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10.8's bridge to Chapter 11, and Section 11.8 on Meridian's capability 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10</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10</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10 · WEEK 5</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Capital Architecture</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Give every form of capital the same accounting: holding a stock is a rental, rebuilding it has a speed limit, and money spent off the bottleneck buys nothing</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26110 · AXIOM Lab 1.10 (AXIOM-10)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“You can see the computer age everywhere but in the productivity statistics.”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Robert M. Solow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1987; New York Times Book Review (1987)</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a company's capacity depends on more than its financial capital, and describe the forms of enterprise capital by how they behave: how fast they decay, how long they take to build, and whether they can be bought or separated from the people who carry them.</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Account for any capital stock as investment, use, decay, and conversion, recognize the loss in converting one form into another, and use the unexplained residual to detect channels the ledger has missed.</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Use the accumulation law to price the rent on a capital stock and the minimum time to build it, and explain why capital is fast to destroy and slow to rebuild.</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the bottleneck and complementarity regimes of capital interaction, and explain what each implies for where the next dollar should go.</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10.5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Allocate a capital budget across forms by equalizing marginal returns, recognize when zero funding is optimal, and audit a capital architecture for consistency.</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§10.1</a:t>
            </a:r>
            <a:endParaRPr lang="en-US" sz="1300" dirty="0"/>
          </a:p>
        </p:txBody>
      </p:sp>
      <p:sp>
        <p:nvSpPr>
          <p:cNvPr id="7" name="Card head"/>
          <p:cNvSpPr txBox="1"/>
          <p:nvPr/>
        </p:nvSpPr>
        <p:spPr>
          <a:xfrm>
            <a:off x="731520"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Capital Is More Than Money</a:t>
            </a:r>
            <a:endParaRPr lang="en-US" sz="1300" dirty="0"/>
          </a:p>
        </p:txBody>
      </p:sp>
      <p:sp>
        <p:nvSpPr>
          <p:cNvPr id="8"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9"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§10.2</a:t>
            </a:r>
            <a:endParaRPr lang="en-US" sz="1300" dirty="0"/>
          </a:p>
        </p:txBody>
      </p:sp>
      <p:sp>
        <p:nvSpPr>
          <p:cNvPr id="10" name="Card head"/>
          <p:cNvSpPr txBox="1"/>
          <p:nvPr/>
        </p:nvSpPr>
        <p:spPr>
          <a:xfrm>
            <a:off x="3005267"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Capital Beyond Finance</a:t>
            </a:r>
            <a:endParaRPr lang="en-US" sz="1300" dirty="0"/>
          </a:p>
        </p:txBody>
      </p:sp>
      <p:sp>
        <p:nvSpPr>
          <p:cNvPr id="11"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2"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§10.3</a:t>
            </a:r>
            <a:endParaRPr lang="en-US" sz="1300" dirty="0"/>
          </a:p>
        </p:txBody>
      </p:sp>
      <p:sp>
        <p:nvSpPr>
          <p:cNvPr id="13" name="Card head"/>
          <p:cNvSpPr txBox="1"/>
          <p:nvPr/>
        </p:nvSpPr>
        <p:spPr>
          <a:xfrm>
            <a:off x="5279014"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Enterprise Capital Architecture</a:t>
            </a:r>
            <a:endParaRPr lang="en-US" sz="1300" dirty="0"/>
          </a:p>
        </p:txBody>
      </p:sp>
      <p:sp>
        <p:nvSpPr>
          <p:cNvPr id="14"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5"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§10.4</a:t>
            </a:r>
            <a:endParaRPr lang="en-US" sz="1300" dirty="0"/>
          </a:p>
        </p:txBody>
      </p:sp>
      <p:sp>
        <p:nvSpPr>
          <p:cNvPr id="16" name="Card head"/>
          <p:cNvSpPr txBox="1"/>
          <p:nvPr/>
        </p:nvSpPr>
        <p:spPr>
          <a:xfrm>
            <a:off x="7552761"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Forms of Enterprise Capital</a:t>
            </a:r>
            <a:endParaRPr lang="en-US" sz="1300" dirty="0"/>
          </a:p>
        </p:txBody>
      </p:sp>
      <p:sp>
        <p:nvSpPr>
          <p:cNvPr id="17"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§10.5</a:t>
            </a:r>
            <a:endParaRPr lang="en-US" sz="1300" dirty="0"/>
          </a:p>
        </p:txBody>
      </p:sp>
      <p:sp>
        <p:nvSpPr>
          <p:cNvPr id="19" name="Card head"/>
          <p:cNvSpPr txBox="1"/>
          <p:nvPr/>
        </p:nvSpPr>
        <p:spPr>
          <a:xfrm>
            <a:off x="9826508" y="214884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Capital Dependencies</a:t>
            </a:r>
            <a:endParaRPr lang="en-US" sz="1300" dirty="0"/>
          </a:p>
        </p:txBody>
      </p:sp>
      <p:sp>
        <p:nvSpPr>
          <p:cNvPr id="20"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1"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§10.6</a:t>
            </a:r>
            <a:endParaRPr lang="en-US" sz="1300" dirty="0"/>
          </a:p>
        </p:txBody>
      </p:sp>
      <p:sp>
        <p:nvSpPr>
          <p:cNvPr id="22" name="Card head"/>
          <p:cNvSpPr txBox="1"/>
          <p:nvPr/>
        </p:nvSpPr>
        <p:spPr>
          <a:xfrm>
            <a:off x="731520"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Capital Accumulation and Depletion</a:t>
            </a:r>
            <a:endParaRPr lang="en-US" sz="1300" dirty="0"/>
          </a:p>
        </p:txBody>
      </p:sp>
      <p:sp>
        <p:nvSpPr>
          <p:cNvPr id="23"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24"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§10.7</a:t>
            </a:r>
            <a:endParaRPr lang="en-US" sz="1300" dirty="0"/>
          </a:p>
        </p:txBody>
      </p:sp>
      <p:sp>
        <p:nvSpPr>
          <p:cNvPr id="25" name="Card head"/>
          <p:cNvSpPr txBox="1"/>
          <p:nvPr/>
        </p:nvSpPr>
        <p:spPr>
          <a:xfrm>
            <a:off x="3005267"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Capital Allocation and Productivity</a:t>
            </a:r>
            <a:endParaRPr lang="en-US" sz="1300" dirty="0"/>
          </a:p>
        </p:txBody>
      </p:sp>
      <p:sp>
        <p:nvSpPr>
          <p:cNvPr id="26"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27"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§10.8</a:t>
            </a:r>
            <a:endParaRPr lang="en-US" sz="1300" dirty="0"/>
          </a:p>
        </p:txBody>
      </p:sp>
      <p:sp>
        <p:nvSpPr>
          <p:cNvPr id="28" name="Card head"/>
          <p:cNvSpPr txBox="1"/>
          <p:nvPr/>
        </p:nvSpPr>
        <p:spPr>
          <a:xfrm>
            <a:off x="5279014"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Architecture Consistency and Capital Dynamics</a:t>
            </a:r>
            <a:endParaRPr lang="en-US" sz="1300" dirty="0"/>
          </a:p>
        </p:txBody>
      </p:sp>
      <p:sp>
        <p:nvSpPr>
          <p:cNvPr id="29"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0"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10.1</a:t>
            </a:r>
            <a:endParaRPr lang="en-US" sz="1300" dirty="0"/>
          </a:p>
        </p:txBody>
      </p:sp>
      <p:sp>
        <p:nvSpPr>
          <p:cNvPr id="31" name="Card head"/>
          <p:cNvSpPr txBox="1"/>
          <p:nvPr/>
        </p:nvSpPr>
        <p:spPr>
          <a:xfrm>
            <a:off x="7552761" y="4526280"/>
            <a:ext cx="1633667" cy="1444752"/>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Keep the Engineers or Rebuild Them?</a:t>
            </a:r>
            <a:endParaRPr lang="en-US" sz="1300" dirty="0"/>
          </a:p>
        </p:txBody>
      </p:sp>
      <p:sp>
        <p:nvSpPr>
          <p:cNvPr id="32"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33"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1.10</a:t>
            </a:r>
            <a:endParaRPr lang="en-US" sz="1300" dirty="0"/>
          </a:p>
        </p:txBody>
      </p:sp>
      <p:sp>
        <p:nvSpPr>
          <p:cNvPr id="34" name="Card head"/>
          <p:cNvSpPr txBox="1"/>
          <p:nvPr/>
        </p:nvSpPr>
        <p:spPr>
          <a:xfrm>
            <a:off x="9826508" y="4526280"/>
            <a:ext cx="1633667" cy="1444752"/>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Meridian's Capital Ledger</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§10.1 · WHY CAPITAL IS MORE THAN MONEY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Folklore becomes results with numbers</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“It takes time to build”</a:t>
            </a:r>
            <a:endParaRPr lang="en-US" sz="1300" dirty="0"/>
          </a:p>
        </p:txBody>
      </p:sp>
      <p:sp>
        <p:nvSpPr>
          <p:cNvPr id="7" name="Card head"/>
          <p:cNvSpPr txBox="1"/>
          <p:nvPr/>
        </p:nvSpPr>
        <p:spPr>
          <a:xfrm>
            <a:off x="731520"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 floor of about (1/δ) ln(1/ε) periods</a:t>
            </a:r>
            <a:endParaRPr lang="en-US" sz="1700" dirty="0"/>
          </a:p>
        </p:txBody>
      </p:sp>
      <p:sp>
        <p:nvSpPr>
          <p:cNvPr id="8" name="Card text"/>
          <p:cNvSpPr txBox="1"/>
          <p:nvPr/>
        </p:nvSpPr>
        <p:spPr>
          <a:xfrm>
            <a:off x="731520"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10.3(iii)</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“It needs maintenance”</a:t>
            </a:r>
            <a:endParaRPr lang="en-US" sz="1300" dirty="0"/>
          </a:p>
        </p:txBody>
      </p:sp>
      <p:sp>
        <p:nvSpPr>
          <p:cNvPr id="11" name="Card head"/>
          <p:cNvSpPr txBox="1"/>
          <p:nvPr/>
        </p:nvSpPr>
        <p:spPr>
          <a:xfrm>
            <a:off x="4521098"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I = δC: capital is rented, not bought</a:t>
            </a:r>
            <a:endParaRPr lang="en-US" sz="1700" dirty="0"/>
          </a:p>
        </p:txBody>
      </p:sp>
      <p:sp>
        <p:nvSpPr>
          <p:cNvPr id="12" name="Card text"/>
          <p:cNvSpPr txBox="1"/>
          <p:nvPr/>
        </p:nvSpPr>
        <p:spPr>
          <a:xfrm>
            <a:off x="4521098"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10.3(ii)</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weakest capital binds”</a:t>
            </a:r>
            <a:endParaRPr lang="en-US" sz="1300" dirty="0"/>
          </a:p>
        </p:txBody>
      </p:sp>
      <p:sp>
        <p:nvSpPr>
          <p:cNvPr id="15" name="Card head"/>
          <p:cNvSpPr txBox="1"/>
          <p:nvPr/>
        </p:nvSpPr>
        <p:spPr>
          <a:xfrm>
            <a:off x="8310677" y="21488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Marginal value sits on the bottleneck</a:t>
            </a:r>
            <a:endParaRPr lang="en-US" sz="1700" dirty="0"/>
          </a:p>
        </p:txBody>
      </p:sp>
      <p:sp>
        <p:nvSpPr>
          <p:cNvPr id="16" name="Card text"/>
          <p:cNvSpPr txBox="1"/>
          <p:nvPr/>
        </p:nvSpPr>
        <p:spPr>
          <a:xfrm>
            <a:off x="8310677" y="30266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10.2(i)</a:t>
            </a:r>
            <a:endParaRPr lang="en-US" sz="1400" dirty="0"/>
          </a:p>
        </p:txBody>
      </p:sp>
      <p:sp>
        <p:nvSpPr>
          <p:cNvPr id="17" name="Card"/>
          <p:cNvSpPr/>
          <p:nvPr/>
        </p:nvSpPr>
        <p:spPr>
          <a:xfrm>
            <a:off x="548640" y="3749040"/>
            <a:ext cx="3515258" cy="1783080"/>
          </a:xfrm>
          <a:prstGeom prst="roundRect">
            <a:avLst>
              <a:gd name="adj" fmla="val 4103"/>
            </a:avLst>
          </a:prstGeom>
          <a:solidFill>
            <a:schemeClr val="bg2"/>
          </a:solidFill>
          <a:ln w="9525">
            <a:solidFill>
              <a:srgbClr val="C4CBD8"/>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“Equalize marginal returns”</a:t>
            </a:r>
            <a:endParaRPr lang="en-US" sz="1300" dirty="0"/>
          </a:p>
        </p:txBody>
      </p:sp>
      <p:sp>
        <p:nvSpPr>
          <p:cNvPr id="19" name="Card head"/>
          <p:cNvSpPr txBox="1"/>
          <p:nvPr/>
        </p:nvSpPr>
        <p:spPr>
          <a:xfrm>
            <a:off x="731520" y="42062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An optimality condition, with its exceptions</a:t>
            </a:r>
            <a:endParaRPr lang="en-US" sz="1700" dirty="0"/>
          </a:p>
        </p:txBody>
      </p:sp>
      <p:sp>
        <p:nvSpPr>
          <p:cNvPr id="20" name="Card text"/>
          <p:cNvSpPr txBox="1"/>
          <p:nvPr/>
        </p:nvSpPr>
        <p:spPr>
          <a:xfrm>
            <a:off x="731520" y="50840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10.4(i)</a:t>
            </a:r>
            <a:endParaRPr lang="en-US" sz="1400" dirty="0"/>
          </a:p>
        </p:txBody>
      </p:sp>
      <p:sp>
        <p:nvSpPr>
          <p:cNvPr id="21" name="Card"/>
          <p:cNvSpPr/>
          <p:nvPr/>
        </p:nvSpPr>
        <p:spPr>
          <a:xfrm>
            <a:off x="4338218" y="3749040"/>
            <a:ext cx="3515258" cy="1783080"/>
          </a:xfrm>
          <a:prstGeom prst="roundRect">
            <a:avLst>
              <a:gd name="adj" fmla="val 4103"/>
            </a:avLst>
          </a:prstGeom>
          <a:solidFill>
            <a:schemeClr val="bg2"/>
          </a:solidFill>
          <a:ln w="9525">
            <a:solidFill>
              <a:srgbClr val="C4CBD8"/>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accountant's plug”</a:t>
            </a:r>
            <a:endParaRPr lang="en-US" sz="1300" dirty="0"/>
          </a:p>
        </p:txBody>
      </p:sp>
      <p:sp>
        <p:nvSpPr>
          <p:cNvPr id="23" name="Card head"/>
          <p:cNvSpPr txBox="1"/>
          <p:nvPr/>
        </p:nvSpPr>
        <p:spPr>
          <a:xfrm>
            <a:off x="4521098" y="4206240"/>
            <a:ext cx="3149498" cy="8046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A detector of model error</a:t>
            </a:r>
            <a:endParaRPr lang="en-US" sz="1700" dirty="0"/>
          </a:p>
        </p:txBody>
      </p:sp>
      <p:sp>
        <p:nvSpPr>
          <p:cNvPr id="24" name="Card text"/>
          <p:cNvSpPr txBox="1"/>
          <p:nvPr/>
        </p:nvSpPr>
        <p:spPr>
          <a:xfrm>
            <a:off x="4521098" y="5084064"/>
            <a:ext cx="3149498" cy="320040"/>
          </a:xfrm>
          <a:prstGeom prst="rect">
            <a:avLst/>
          </a:prstGeom>
          <a:noFill/>
          <a:ln/>
        </p:spPr>
        <p:txBody>
          <a:bodyPr wrap="square" lIns="0" tIns="0" rIns="0" bIns="0" rtlCol="0" anchor="t"/>
          <a:lstStyle/>
          <a:p>
            <a:pPr indent="0" marL="0">
              <a:buNone/>
            </a:pPr>
            <a:r>
              <a:rPr lang="en-US" sz="1400" dirty="0">
                <a:solidFill>
                  <a:schemeClr val="tx2"/>
                </a:solidFill>
              </a:rPr>
              <a:t>Theorem 10.5(iii)</a:t>
            </a:r>
            <a:endParaRPr lang="en-US" sz="1400" dirty="0"/>
          </a:p>
        </p:txBody>
      </p:sp>
      <p:sp>
        <p:nvSpPr>
          <p:cNvPr id="25" name="Card"/>
          <p:cNvSpPr/>
          <p:nvPr/>
        </p:nvSpPr>
        <p:spPr>
          <a:xfrm>
            <a:off x="8127797" y="3749040"/>
            <a:ext cx="3515258" cy="1783080"/>
          </a:xfrm>
          <a:prstGeom prst="roundRect">
            <a:avLst>
              <a:gd name="adj" fmla="val 4103"/>
            </a:avLst>
          </a:prstGeom>
          <a:solidFill>
            <a:schemeClr val="tx1"/>
          </a:solidFill>
          <a:ln w="9525">
            <a:solidFill>
              <a:srgbClr val="0F1E3D"/>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“Capital is optionality”</a:t>
            </a:r>
            <a:endParaRPr lang="en-US" sz="1300" dirty="0"/>
          </a:p>
        </p:txBody>
      </p:sp>
      <p:sp>
        <p:nvSpPr>
          <p:cNvPr id="27" name="Card head"/>
          <p:cNvSpPr txBox="1"/>
          <p:nvPr/>
        </p:nvSpPr>
        <p:spPr>
          <a:xfrm>
            <a:off x="8310677" y="4206240"/>
            <a:ext cx="3149498" cy="80467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More capital never removes a move</a:t>
            </a:r>
            <a:endParaRPr lang="en-US" sz="1700" dirty="0"/>
          </a:p>
        </p:txBody>
      </p:sp>
      <p:sp>
        <p:nvSpPr>
          <p:cNvPr id="28" name="Card text"/>
          <p:cNvSpPr txBox="1"/>
          <p:nvPr/>
        </p:nvSpPr>
        <p:spPr>
          <a:xfrm>
            <a:off x="8310677" y="5084064"/>
            <a:ext cx="3149498" cy="320040"/>
          </a:xfrm>
          <a:prstGeom prst="rect">
            <a:avLst/>
          </a:prstGeom>
          <a:noFill/>
          <a:ln/>
        </p:spPr>
        <p:txBody>
          <a:bodyPr wrap="square" lIns="0" tIns="0" rIns="0" bIns="0" rtlCol="0" anchor="t"/>
          <a:lstStyle/>
          <a:p>
            <a:pPr indent="0" marL="0">
              <a:buNone/>
            </a:pPr>
            <a:r>
              <a:rPr lang="en-US" sz="1400" dirty="0">
                <a:solidFill>
                  <a:schemeClr val="bg2"/>
                </a:solidFill>
              </a:rPr>
              <a:t>Proposition 10.3</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Stocks live at components, flow and convert along the wiring, and are governed by scoped constraints.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§10.2 · PROPOSITION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Money alone does not set what a company can do</a:t>
            </a:r>
            <a:endParaRPr lang="en-US" sz="3200" dirty="0"/>
          </a:p>
        </p:txBody>
      </p:sp>
      <p:sp>
        <p:nvSpPr>
          <p:cNvPr id="5" name="Result card"/>
          <p:cNvSpPr/>
          <p:nvPr/>
        </p:nvSpPr>
        <p:spPr>
          <a:xfrm>
            <a:off x="548640" y="1691640"/>
            <a:ext cx="72237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6751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10.1</a:t>
            </a:r>
            <a:endParaRPr lang="en-US" sz="1200" dirty="0"/>
          </a:p>
        </p:txBody>
      </p:sp>
      <p:sp>
        <p:nvSpPr>
          <p:cNvPr id="7" name="Text 4"/>
          <p:cNvSpPr txBox="1"/>
          <p:nvPr/>
        </p:nvSpPr>
        <p:spPr>
          <a:xfrm>
            <a:off x="822960" y="2194560"/>
            <a:ext cx="66751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Value Depends on Multidimensional Capital</a:t>
            </a:r>
            <a:endParaRPr lang="en-US" sz="2100" dirty="0"/>
          </a:p>
        </p:txBody>
      </p:sp>
      <p:sp>
        <p:nvSpPr>
          <p:cNvPr id="8" name="Bullets"/>
          <p:cNvSpPr txBox="1"/>
          <p:nvPr/>
        </p:nvSpPr>
        <p:spPr>
          <a:xfrm>
            <a:off x="822960" y="2743200"/>
            <a:ext cx="6675120" cy="3291840"/>
          </a:xfrm>
          <a:prstGeom prst="rect">
            <a:avLst/>
          </a:prstGeom>
          <a:noFill/>
          <a:ln/>
        </p:spPr>
        <p:txBody>
          <a:bodyPr wrap="square" lIns="635" tIns="635" rIns="635" bIns="635" rtlCol="0" anchor="t"/>
          <a:lstStyle/>
          <a:p>
            <a:pPr marL="228600" indent="-228600">
              <a:spcAft>
                <a:spcPts val="600"/>
              </a:spcAft>
              <a:buSzPct val="100000"/>
              <a:buChar char="•"/>
            </a:pPr>
            <a:r>
              <a:rPr lang="en-US" sz="1700" dirty="0">
                <a:solidFill>
                  <a:schemeClr val="tx1"/>
                </a:solidFill>
              </a:rPr>
              <a:t>If capacity rises with at least one non-financial form of capital, the others held fixed, financial capital alone does not determine capacity</a:t>
            </a:r>
            <a:endParaRPr lang="en-US" sz="1700" dirty="0"/>
          </a:p>
          <a:p>
            <a:pPr marL="228600" indent="-228600">
              <a:spcAft>
                <a:spcPts val="600"/>
              </a:spcAft>
              <a:buSzPct val="100000"/>
              <a:buChar char="•"/>
            </a:pPr>
            <a:r>
              <a:rPr lang="en-US" sz="1700" dirty="0">
                <a:solidFill>
                  <a:schemeClr val="tx1"/>
                </a:solidFill>
              </a:rPr>
              <a:t>Two companies with identical financial capital can differ in what they can do</a:t>
            </a:r>
            <a:endParaRPr lang="en-US" sz="1700" dirty="0"/>
          </a:p>
          <a:p>
            <a:pPr marL="228600" indent="-228600">
              <a:spcAft>
                <a:spcPts val="600"/>
              </a:spcAft>
              <a:buSzPct val="100000"/>
              <a:buChar char="•"/>
            </a:pPr>
            <a:r>
              <a:rPr lang="en-US" sz="1700" dirty="0">
                <a:solidFill>
                  <a:schemeClr val="tx1"/>
                </a:solidFill>
              </a:rPr>
              <a:t>Any plan or valuation built on financial capital alone lacks information it needs</a:t>
            </a:r>
            <a:endParaRPr lang="en-US" sz="1700" dirty="0"/>
          </a:p>
          <a:p>
            <a:pPr marL="228600" indent="-228600">
              <a:spcAft>
                <a:spcPts val="600"/>
              </a:spcAft>
              <a:buSzPct val="100000"/>
              <a:buChar char="•"/>
            </a:pPr>
            <a:r>
              <a:rPr lang="en-US" sz="1700" dirty="0">
                <a:solidFill>
                  <a:schemeClr val="tx1"/>
                </a:solidFill>
              </a:rPr>
              <a:t>The benchmark: under Modigliani and Miller, value is set by the productive capacity of the assets; DCT asks what that capacity is made of</a:t>
            </a:r>
            <a:endParaRPr lang="en-US" sz="1700" dirty="0"/>
          </a:p>
        </p:txBody>
      </p:sp>
      <p:sp>
        <p:nvSpPr>
          <p:cNvPr id="9" name="Text 6"/>
          <p:cNvSpPr txBox="1"/>
          <p:nvPr/>
        </p:nvSpPr>
        <p:spPr>
          <a:xfrm>
            <a:off x="8183880" y="1737360"/>
            <a:ext cx="345917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8183880" y="2194560"/>
            <a:ext cx="345917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Identical balance sheets can differ by the whole value of unmeasured stocks</a:t>
            </a:r>
            <a:endParaRPr lang="en-US" sz="1500" dirty="0"/>
          </a:p>
          <a:p>
            <a:pPr marL="228600" indent="-228600">
              <a:spcAft>
                <a:spcPts val="800"/>
              </a:spcAft>
              <a:buSzPct val="100000"/>
              <a:buChar char="•"/>
            </a:pPr>
            <a:r>
              <a:rPr lang="en-US" sz="1500" dirty="0">
                <a:solidFill>
                  <a:schemeClr val="tx1"/>
                </a:solidFill>
              </a:rPr>
              <a:t>Acquirers learn this as goodwill, boards as key-person risk</a:t>
            </a:r>
            <a:endParaRPr lang="en-US" sz="1500" dirty="0"/>
          </a:p>
          <a:p>
            <a:pPr marL="228600" indent="-228600">
              <a:spcAft>
                <a:spcPts val="800"/>
              </a:spcAft>
              <a:buSzPct val="100000"/>
              <a:buChar char="•"/>
            </a:pPr>
            <a:r>
              <a:rPr lang="en-US" sz="1500" dirty="0">
                <a:solidFill>
                  <a:schemeClr val="tx1"/>
                </a:solidFill>
              </a:rPr>
              <a:t>Running down routines can flatter the financials while capacity falls</a:t>
            </a:r>
            <a:endParaRPr lang="en-US" sz="1500" dirty="0"/>
          </a:p>
          <a:p>
            <a:pPr marL="228600" indent="-228600">
              <a:spcAft>
                <a:spcPts val="800"/>
              </a:spcAft>
              <a:buSzPct val="100000"/>
              <a:buChar char="•"/>
            </a:pPr>
            <a:r>
              <a:rPr lang="en-US" sz="1500" dirty="0">
                <a:solidFill>
                  <a:schemeClr val="tx1"/>
                </a:solidFill>
              </a:rPr>
              <a:t>A money-only plan misprices capability building and platform migration</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§10.3 · THEOREM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Every form of capital obeys double-entry</a:t>
            </a:r>
            <a:endParaRPr lang="en-US" sz="3200" dirty="0"/>
          </a:p>
        </p:txBody>
      </p:sp>
      <p:pic>
        <p:nvPicPr>
          <p:cNvPr id="5" name="Equation" descr="Equation: C_{i,k+1} \;=\; (1-\delta_i)\,C_{i,k} \;+\; I_{i,k} \;-\; O_{i,k} \;+\; \sum_{j \to i} \eta_{ji}\,T_{ji,k} \;-\; \sum_{i \to j} T_{ij,k}">    </p:cNvPr>
          <p:cNvPicPr>
            <a:picLocks noChangeAspect="1"/>
          </p:cNvPicPr>
          <p:nvPr/>
        </p:nvPicPr>
        <p:blipFill>
          <a:blip r:embed="rId1"/>
          <a:stretch>
            <a:fillRect/>
          </a:stretch>
        </p:blipFill>
        <p:spPr>
          <a:xfrm>
            <a:off x="1606187" y="1828800"/>
            <a:ext cx="8979321"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decay, investment, use, and conversion in and out at efficiency η: the balance of Equation 10.2</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(i) Stock and flow.</a:t>
            </a:r>
            <a:r>
              <a:rPr lang="en-US" sz="1700" dirty="0">
                <a:solidFill>
                  <a:schemeClr val="bg1"/>
                </a:solidFill>
              </a:rPr>
              <a:t> When every channel is measured, each change in a stock splits uniquely into its channels; when not, only their net is known</a:t>
            </a:r>
            <a:endParaRPr lang="en-US" sz="1700" dirty="0"/>
          </a:p>
          <a:p>
            <a:pPr marL="228600" indent="-228600">
              <a:spcAft>
                <a:spcPts val="800"/>
              </a:spcAft>
              <a:buSzPct val="100000"/>
              <a:buChar char="•"/>
            </a:pPr>
            <a:r>
              <a:rPr lang="en-US" sz="1700" b="1" dirty="0">
                <a:solidFill>
                  <a:schemeClr val="bg1"/>
                </a:solidFill>
              </a:rPr>
              <a:t>(ii) Conversion leaks.</a:t>
            </a:r>
            <a:r>
              <a:rPr lang="en-US" sz="1700" dirty="0">
                <a:solidFill>
                  <a:schemeClr val="bg1"/>
                </a:solidFill>
              </a:rPr>
              <a:t> Conversion never creates capital: the conversion bill Σ(1 − η)T is a cost separate from execution drift</a:t>
            </a:r>
            <a:endParaRPr lang="en-US" sz="1700" dirty="0"/>
          </a:p>
          <a:p>
            <a:pPr marL="228600" indent="-228600">
              <a:spcAft>
                <a:spcPts val="800"/>
              </a:spcAft>
              <a:buSzPct val="100000"/>
              <a:buChar char="•"/>
            </a:pPr>
            <a:r>
              <a:rPr lang="en-US" sz="1700" b="1" dirty="0">
                <a:solidFill>
                  <a:schemeClr val="bg1"/>
                </a:solidFill>
              </a:rPr>
              <a:t>(iii) Capital dynamics are company dynamics.</a:t>
            </a:r>
            <a:r>
              <a:rPr lang="en-US" sz="1700" dirty="0">
                <a:solidFill>
                  <a:schemeClr val="bg1"/>
                </a:solidFill>
              </a:rPr>
              <a:t> The balance is a Part II state equation, so its results apply unchanged</a:t>
            </a:r>
            <a:endParaRPr lang="en-US" sz="1700" dirty="0"/>
          </a:p>
          <a:p>
            <a:pPr marL="228600" indent="-228600">
              <a:spcAft>
                <a:spcPts val="800"/>
              </a:spcAft>
              <a:buSzPct val="100000"/>
              <a:buChar char="•"/>
            </a:pPr>
            <a:r>
              <a:rPr lang="en-US" sz="1700" dirty="0">
                <a:solidFill>
                  <a:schemeClr val="bg1"/>
                </a:solidFill>
              </a:rPr>
              <a:t>A chain leaks more than any link: a platform built at 80 percent and turned into capability at 70 percent delivers 56 percent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§10.4 · TABLE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Ten forms of capital, one accounting</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4951227"/>
                <a:gridCol w="3759265"/>
              </a:tblGrid>
              <a:tr h="36118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Content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Typical carrier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Financial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money and funding capacity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treasury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Human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skills embodied in the workforce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people, functions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Intellectual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codified knowledge and IP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IP estate; data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Technological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installed systems and platforms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operations; 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Organizational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routines and coordination capacity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wiring itself</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Relational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external trust and commitments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boundary components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positional advantage and options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corporate center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Governance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decision quality and legitimacy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board; governance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Innovation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pipeline of unrealized options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R&amp;D; ventures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1188">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Informational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decision-relevant data and models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platforms; functions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78815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The ten representative forms of the capital vector (Equation 10.1). The list is a modeling choice, not an ontology: shorter vectors are legitimate wherever the questions asked allow.</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§10.4 · TABLE 10.2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forms differ in how fast they decay</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2750681"/>
                <a:gridCol w="2383924"/>
                <a:gridCol w="1925477"/>
                <a:gridCol w="1650409"/>
              </a:tblGrid>
              <a:tr h="402336">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Depreciation a year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Build time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Tradable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Separable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Financial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about 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immediate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fully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fully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Human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0.10–0.25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at the margin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Intellectual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0.05–0.20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Technological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0.15–0.30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quarters to 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 parts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Organizational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0.03–0.10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Relational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0.05–0.15, plus breach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tied to the regime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rarely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partly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Typical ranges and modeling defaults, to be declared for each company. Each form needs declared indicators, error bars and a validity range (Table 10.3).</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Technology decays fast but can be bought in parts; organizational capital decays slowly, cannot be bought, and cannot be separated from its carriers.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§10.5 · THEOREM 10.2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Know the coupling regime before allocating</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10.2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Capital Dependency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Bottleneck concentration.</a:t>
            </a:r>
            <a:r>
              <a:rPr lang="en-US" sz="1600" dirty="0">
                <a:solidFill>
                  <a:schemeClr val="tx1"/>
                </a:solidFill>
              </a:rPr>
              <a:t> In fixed proportions only the scarcest form adds capacity at the margin</a:t>
            </a:r>
            <a:endParaRPr lang="en-US" sz="1600" dirty="0"/>
          </a:p>
          <a:p>
            <a:pPr marL="228600" indent="-228600">
              <a:spcAft>
                <a:spcPts val="600"/>
              </a:spcAft>
              <a:buSzPct val="100000"/>
              <a:buChar char="•"/>
            </a:pPr>
            <a:r>
              <a:rPr lang="en-US" sz="1600" b="1" dirty="0">
                <a:solidFill>
                  <a:schemeClr val="tx1"/>
                </a:solidFill>
              </a:rPr>
              <a:t>(ii) Complementary accumulation.</a:t>
            </a:r>
            <a:r>
              <a:rPr lang="en-US" sz="1600" dirty="0">
                <a:solidFill>
                  <a:schemeClr val="tx1"/>
                </a:solidFill>
              </a:rPr>
              <a:t> Building one complement raises the return to the other: joint programs win</a:t>
            </a:r>
            <a:endParaRPr lang="en-US" sz="1600" dirty="0"/>
          </a:p>
          <a:p>
            <a:pPr marL="228600" indent="-228600">
              <a:spcAft>
                <a:spcPts val="600"/>
              </a:spcAft>
              <a:buSzPct val="100000"/>
              <a:buChar char="•"/>
            </a:pPr>
            <a:r>
              <a:rPr lang="en-US" sz="1600" b="1" dirty="0">
                <a:solidFill>
                  <a:schemeClr val="tx1"/>
                </a:solidFill>
              </a:rPr>
              <a:t>(iii) Propagation discipline.</a:t>
            </a:r>
            <a:r>
              <a:rPr lang="en-US" sz="1600" dirty="0">
                <a:solidFill>
                  <a:schemeClr val="tx1"/>
                </a:solidFill>
              </a:rPr>
              <a:t> A shock reaches another form only along dependency paths, at their distance</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Investment that provably does nothing: technology without trained operators, data without models</a:t>
            </a:r>
            <a:endParaRPr lang="en-US" sz="1600" dirty="0"/>
          </a:p>
          <a:p>
            <a:pPr marL="228600" indent="-228600">
              <a:spcAft>
                <a:spcPts val="800"/>
              </a:spcAft>
              <a:buSzPct val="100000"/>
              <a:buChar char="•"/>
            </a:pPr>
            <a:r>
              <a:rPr lang="en-US" sz="1600" dirty="0">
                <a:solidFill>
                  <a:schemeClr val="tx1"/>
                </a:solidFill>
              </a:rPr>
              <a:t>The bottleneck ledger: publish the ratios C/r beside the budget; fund the smallest</a:t>
            </a:r>
            <a:endParaRPr lang="en-US" sz="1600" dirty="0"/>
          </a:p>
          <a:p>
            <a:pPr marL="228600" indent="-228600">
              <a:spcAft>
                <a:spcPts val="800"/>
              </a:spcAft>
              <a:buSzPct val="100000"/>
              <a:buChar char="•"/>
            </a:pPr>
            <a:r>
              <a:rPr lang="en-US" sz="1600" dirty="0">
                <a:solidFill>
                  <a:schemeClr val="tx1"/>
                </a:solidFill>
              </a:rPr>
              <a:t>Where forms are smooth complements, fund technology with training with process redesign</a:t>
            </a:r>
            <a:endParaRPr lang="en-US" sz="1600" dirty="0"/>
          </a:p>
          <a:p>
            <a:pPr marL="228600" indent="-228600">
              <a:spcAft>
                <a:spcPts val="800"/>
              </a:spcAft>
              <a:buSzPct val="100000"/>
              <a:buChar char="•"/>
            </a:pPr>
            <a:r>
              <a:rPr lang="en-US" sz="1600" dirty="0">
                <a:solidFill>
                  <a:schemeClr val="tx1"/>
                </a:solidFill>
              </a:rPr>
              <a:t>Proposition 10.2: independence is the strong claim; a missing dependency is a testable claim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§10.6 · THEOREM 10.3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Capital is a rental with a speed limit</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10.3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Capital Accumulation Theorem</a:t>
            </a:r>
            <a:endParaRPr lang="en-US" sz="2100" dirty="0"/>
          </a:p>
        </p:txBody>
      </p:sp>
      <p:pic>
        <p:nvPicPr>
          <p:cNvPr id="8" name="Equation" descr="Equation: k^{*} \;=\; \frac{\ln\bigl((\bar C - C_0)/(\bar C - C^{*})\bigr)}{\ln\bigl(1/(1-\delta)\bigr)},\qquad \bar C = \bar I/\delta">    </p:cNvPr>
          <p:cNvPicPr>
            <a:picLocks noChangeAspect="1"/>
          </p:cNvPicPr>
          <p:nvPr/>
        </p:nvPicPr>
        <p:blipFill>
          <a:blip r:embed="rId1"/>
          <a:stretch>
            <a:fillRect/>
          </a:stretch>
        </p:blipFill>
        <p:spPr>
          <a:xfrm>
            <a:off x="822960" y="2743200"/>
            <a:ext cx="4575393" cy="777240"/>
          </a:xfrm>
          <a:prstGeom prst="rect">
            <a:avLst/>
          </a:prstGeom>
        </p:spPr>
      </p:pic>
      <p:sp>
        <p:nvSpPr>
          <p:cNvPr id="9" name="Bullets"/>
          <p:cNvSpPr txBox="1"/>
          <p:nvPr/>
        </p:nvSpPr>
        <p:spPr>
          <a:xfrm>
            <a:off x="822960" y="3685032"/>
            <a:ext cx="5394960" cy="2350008"/>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Geometric memory.</a:t>
            </a:r>
            <a:r>
              <a:rPr lang="en-US" sz="1600" dirty="0">
                <a:solidFill>
                  <a:schemeClr val="tx1"/>
                </a:solidFill>
              </a:rPr>
              <a:t> The inherited stock decays by the factor 1 − δ a period</a:t>
            </a:r>
            <a:endParaRPr lang="en-US" sz="1600" dirty="0"/>
          </a:p>
          <a:p>
            <a:pPr marL="228600" indent="-228600">
              <a:spcAft>
                <a:spcPts val="600"/>
              </a:spcAft>
              <a:buSzPct val="100000"/>
              <a:buChar char="•"/>
            </a:pPr>
            <a:r>
              <a:rPr lang="en-US" sz="1600" b="1" dirty="0">
                <a:solidFill>
                  <a:schemeClr val="tx1"/>
                </a:solidFill>
              </a:rPr>
              <a:t>(ii) Capital is a rental.</a:t>
            </a:r>
            <a:r>
              <a:rPr lang="en-US" sz="1600" dirty="0">
                <a:solidFill>
                  <a:schemeClr val="tx1"/>
                </a:solidFill>
              </a:rPr>
              <a:t> Holding C* needs the perpetual flow I = δC*; any lower flow guarantees decline</a:t>
            </a:r>
            <a:endParaRPr lang="en-US" sz="1600" dirty="0"/>
          </a:p>
          <a:p>
            <a:pPr marL="228600" indent="-228600">
              <a:spcAft>
                <a:spcPts val="600"/>
              </a:spcAft>
              <a:buSzPct val="100000"/>
              <a:buChar char="•"/>
            </a:pPr>
            <a:r>
              <a:rPr lang="en-US" sz="1600" b="1" dirty="0">
                <a:solidFill>
                  <a:schemeClr val="tx1"/>
                </a:solidFill>
              </a:rPr>
              <a:t>(iii) Time to build.</a:t>
            </a:r>
            <a:r>
              <a:rPr lang="en-US" sz="1600" dirty="0">
                <a:solidFill>
                  <a:schemeClr val="tx1"/>
                </a:solidFill>
              </a:rPr>
              <a:t> Under a cap Ī on investment, nothing beats full throttle, which takes at least k* periods</a:t>
            </a:r>
            <a:endParaRPr lang="en-US" sz="16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The first period the rent goes unpaid, decline is not a risk but a certainty</a:t>
            </a:r>
            <a:endParaRPr lang="en-US" sz="1600" dirty="0"/>
          </a:p>
          <a:p>
            <a:pPr marL="228600" indent="-228600">
              <a:spcAft>
                <a:spcPts val="800"/>
              </a:spcAft>
              <a:buSzPct val="100000"/>
              <a:buChar char="•"/>
            </a:pPr>
            <a:r>
              <a:rPr lang="en-US" sz="1600" dirty="0">
                <a:solidFill>
                  <a:schemeClr val="tx1"/>
                </a:solidFill>
              </a:rPr>
              <a:t>No budget inside the cap shortens the time to build; only a higher cap, or buying a tradable stock</a:t>
            </a:r>
            <a:endParaRPr lang="en-US" sz="1600" dirty="0"/>
          </a:p>
          <a:p>
            <a:pPr marL="228600" indent="-228600">
              <a:spcAft>
                <a:spcPts val="800"/>
              </a:spcAft>
              <a:buSzPct val="100000"/>
              <a:buChar char="•"/>
            </a:pPr>
            <a:r>
              <a:rPr lang="en-US" sz="1600" dirty="0">
                <a:solidFill>
                  <a:schemeClr val="tx1"/>
                </a:solidFill>
              </a:rPr>
              <a:t>Proposition 10.3: more capital never removes an option</a:t>
            </a:r>
            <a:endParaRPr lang="en-US" sz="1600" dirty="0"/>
          </a:p>
          <a:p>
            <a:pPr marL="228600" indent="-228600">
              <a:spcAft>
                <a:spcPts val="800"/>
              </a:spcAft>
              <a:buSzPct val="100000"/>
              <a:buChar char="•"/>
            </a:pPr>
            <a:r>
              <a:rPr lang="en-US" sz="1600" dirty="0">
                <a:solidFill>
                  <a:schemeClr val="tx1"/>
                </a:solidFill>
              </a:rPr>
              <a:t>Proposition 10.4: a stock can fall below a floor in one period; climbing back takes the time to build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§10.6 · FIGURE 10.1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Slow stocks are cheap to hold, slow to build</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Target 100; decay of 5, 10 and 25 percent a year: rents of 5, 10 and 25 a year</a:t>
            </a:r>
            <a:endParaRPr lang="en-US" sz="1600" dirty="0"/>
          </a:p>
          <a:p>
            <a:pPr marL="228600" indent="-228600">
              <a:spcAft>
                <a:spcPts val="800"/>
              </a:spcAft>
              <a:buSzPct val="100000"/>
              <a:buChar char="•"/>
            </a:pPr>
            <a:r>
              <a:rPr lang="en-US" sz="1600" dirty="0">
                <a:solidFill>
                  <a:schemeClr val="tx1"/>
                </a:solidFill>
              </a:rPr>
              <a:t>To 90 percent at the rent: </a:t>
            </a:r>
            <a:r>
              <a:rPr lang="en-US" sz="1600" b="1" dirty="0">
                <a:solidFill>
                  <a:schemeClr val="tx1"/>
                </a:solidFill>
              </a:rPr>
              <a:t>44.9, 21.9 and 8.0 years</a:t>
            </a:r>
            <a:r>
              <a:rPr lang="en-US" sz="1600" dirty="0">
                <a:solidFill>
                  <a:schemeClr val="tx1"/>
                </a:solidFill>
              </a:rPr>
              <a:t>; at twice the rent, </a:t>
            </a:r>
            <a:r>
              <a:rPr lang="en-US" sz="1600" b="1" dirty="0">
                <a:solidFill>
                  <a:schemeClr val="tx1"/>
                </a:solidFill>
              </a:rPr>
              <a:t>11.7, 5.7, 2.1</a:t>
            </a:r>
            <a:endParaRPr lang="en-US" sz="1600" dirty="0"/>
          </a:p>
          <a:p>
            <a:pPr marL="228600" indent="-228600">
              <a:spcAft>
                <a:spcPts val="800"/>
              </a:spcAft>
              <a:buSzPct val="100000"/>
              <a:buChar char="•"/>
            </a:pPr>
            <a:r>
              <a:rPr lang="en-US" sz="1600" dirty="0">
                <a:solidFill>
                  <a:schemeClr val="tx1"/>
                </a:solidFill>
              </a:rPr>
              <a:t>Slow stocks take decades at the rent and more than a decade at twice it</a:t>
            </a:r>
            <a:endParaRPr lang="en-US" sz="1600" dirty="0"/>
          </a:p>
          <a:p>
            <a:pPr marL="228600" indent="-228600">
              <a:spcAft>
                <a:spcPts val="800"/>
              </a:spcAft>
              <a:buSzPct val="100000"/>
              <a:buChar char="•"/>
            </a:pPr>
            <a:r>
              <a:rPr lang="en-US" sz="1600" dirty="0">
                <a:solidFill>
                  <a:schemeClr val="tx1"/>
                </a:solidFill>
              </a:rPr>
              <a:t>Protect slow stocks: running them down creates a repurchase liability</a:t>
            </a:r>
            <a:endParaRPr lang="en-US" sz="1600" dirty="0"/>
          </a:p>
        </p:txBody>
      </p:sp>
      <p:pic>
        <p:nvPicPr>
          <p:cNvPr id="6" name="Figure" descr="Figure 10.1: capital is a rental">    </p:cNvPr>
          <p:cNvPicPr>
            <a:picLocks noChangeAspect="1"/>
          </p:cNvPicPr>
          <p:nvPr/>
        </p:nvPicPr>
        <p:blipFill>
          <a:blip r:embed="rId1"/>
          <a:stretch>
            <a:fillRect/>
          </a:stretch>
        </p:blipFill>
        <p:spPr>
          <a:xfrm>
            <a:off x="5169286" y="1878285"/>
            <a:ext cx="6473769" cy="3540342"/>
          </a:xfrm>
          <a:prstGeom prst="rect">
            <a:avLst/>
          </a:prstGeom>
        </p:spPr>
      </p:pic>
      <p:sp>
        <p:nvSpPr>
          <p:cNvPr id="7" name="Caption"/>
          <p:cNvSpPr txBox="1"/>
          <p:nvPr/>
        </p:nvSpPr>
        <p:spPr>
          <a:xfrm>
            <a:off x="5169286" y="5491779"/>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10.1. Three stocks with the same target and different depreciation rates, built from zero. Solid: investing the rent; dashed: twice the rent until the target is reached.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§10.7 · THEOREM 10.4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Fund the bottleneck, then rotate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10.4.</a:t>
            </a:r>
            <a:r>
              <a:rPr lang="en-US" sz="1600" dirty="0">
                <a:solidFill>
                  <a:schemeClr val="tx1"/>
                </a:solidFill>
              </a:rPr>
              <a:t> Funded forms earn the same marginal capacity λ; unfunded forms earn less</a:t>
            </a:r>
            <a:endParaRPr lang="en-US" sz="1600" dirty="0"/>
          </a:p>
          <a:p>
            <a:pPr marL="228600" indent="-228600">
              <a:spcAft>
                <a:spcPts val="800"/>
              </a:spcAft>
              <a:buSzPct val="100000"/>
              <a:buChar char="•"/>
            </a:pPr>
            <a:r>
              <a:rPr lang="en-US" sz="1600" dirty="0">
                <a:solidFill>
                  <a:schemeClr val="tx1"/>
                </a:solidFill>
              </a:rPr>
              <a:t>Stocks 80, 45, 60, requirements 1.0, 0.5, 0.75: technology and routines bind</a:t>
            </a:r>
            <a:endParaRPr lang="en-US" sz="1600" dirty="0"/>
          </a:p>
          <a:p>
            <a:pPr marL="228600" indent="-228600">
              <a:spcAft>
                <a:spcPts val="800"/>
              </a:spcAft>
              <a:buSzPct val="100000"/>
              <a:buChar char="•"/>
            </a:pPr>
            <a:r>
              <a:rPr lang="en-US" sz="1600" dirty="0">
                <a:solidFill>
                  <a:schemeClr val="tx1"/>
                </a:solidFill>
              </a:rPr>
              <a:t>Funding the bottleneck adds </a:t>
            </a:r>
            <a:r>
              <a:rPr lang="en-US" sz="1600" b="1" dirty="0">
                <a:solidFill>
                  <a:schemeClr val="tx1"/>
                </a:solidFill>
              </a:rPr>
              <a:t>0.57</a:t>
            </a:r>
            <a:r>
              <a:rPr lang="en-US" sz="1600" dirty="0">
                <a:solidFill>
                  <a:schemeClr val="tx1"/>
                </a:solidFill>
              </a:rPr>
              <a:t> a point until all tie at 90 (17.5 points), then </a:t>
            </a:r>
            <a:r>
              <a:rPr lang="en-US" sz="1600" b="1" dirty="0">
                <a:solidFill>
                  <a:schemeClr val="tx1"/>
                </a:solidFill>
              </a:rPr>
              <a:t>0.44</a:t>
            </a:r>
            <a:endParaRPr lang="en-US" sz="1600" dirty="0"/>
          </a:p>
          <a:p>
            <a:pPr marL="228600" indent="-228600">
              <a:spcAft>
                <a:spcPts val="800"/>
              </a:spcAft>
              <a:buSzPct val="100000"/>
              <a:buChar char="•"/>
            </a:pPr>
            <a:r>
              <a:rPr lang="en-US" sz="1600" dirty="0">
                <a:solidFill>
                  <a:schemeClr val="tx1"/>
                </a:solidFill>
              </a:rPr>
              <a:t>After 30 points: </a:t>
            </a:r>
            <a:r>
              <a:rPr lang="en-US" sz="1600" b="1" dirty="0">
                <a:solidFill>
                  <a:schemeClr val="tx1"/>
                </a:solidFill>
              </a:rPr>
              <a:t>95.6</a:t>
            </a:r>
            <a:r>
              <a:rPr lang="en-US" sz="1600" dirty="0">
                <a:solidFill>
                  <a:schemeClr val="tx1"/>
                </a:solidFill>
              </a:rPr>
              <a:t>; an equal split 90.0, the “talent war” 80.0</a:t>
            </a:r>
            <a:endParaRPr lang="en-US" sz="1600" dirty="0"/>
          </a:p>
        </p:txBody>
      </p:sp>
      <p:pic>
        <p:nvPicPr>
          <p:cNvPr id="6" name="Figure" descr="Figure 10.2: fund the bottleneck">    </p:cNvPr>
          <p:cNvPicPr>
            <a:picLocks noChangeAspect="1"/>
          </p:cNvPicPr>
          <p:nvPr/>
        </p:nvPicPr>
        <p:blipFill>
          <a:blip r:embed="rId1"/>
          <a:stretch>
            <a:fillRect/>
          </a:stretch>
        </p:blipFill>
        <p:spPr>
          <a:xfrm>
            <a:off x="5391174" y="1990514"/>
            <a:ext cx="6251881" cy="3315885"/>
          </a:xfrm>
          <a:prstGeom prst="rect">
            <a:avLst/>
          </a:prstGeom>
        </p:spPr>
      </p:pic>
      <p:sp>
        <p:nvSpPr>
          <p:cNvPr id="7" name="Caption"/>
          <p:cNvSpPr txBox="1"/>
          <p:nvPr/>
        </p:nvSpPr>
        <p:spPr>
          <a:xfrm>
            <a:off x="5391174" y="5379550"/>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10.2. Capacity against budget spent under three policies; the kink marks the point where all three forms tie and the bottleneck rotates.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§10.8 · THEOREM 10.5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plug is a detector, not an embarrassment</a:t>
            </a:r>
            <a:endParaRPr lang="en-US" sz="3200" dirty="0"/>
          </a:p>
        </p:txBody>
      </p:sp>
      <p:sp>
        <p:nvSpPr>
          <p:cNvPr id="5" name="Result card"/>
          <p:cNvSpPr/>
          <p:nvPr/>
        </p:nvSpPr>
        <p:spPr>
          <a:xfrm>
            <a:off x="548640" y="1691640"/>
            <a:ext cx="699516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44652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10.5</a:t>
            </a:r>
            <a:endParaRPr lang="en-US" sz="1200" dirty="0"/>
          </a:p>
        </p:txBody>
      </p:sp>
      <p:sp>
        <p:nvSpPr>
          <p:cNvPr id="7" name="Text 4"/>
          <p:cNvSpPr txBox="1"/>
          <p:nvPr/>
        </p:nvSpPr>
        <p:spPr>
          <a:xfrm>
            <a:off x="822960" y="2194560"/>
            <a:ext cx="644652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Capital Architecture Consistency Theorem</a:t>
            </a:r>
            <a:endParaRPr lang="en-US" sz="2100" dirty="0"/>
          </a:p>
        </p:txBody>
      </p:sp>
      <p:sp>
        <p:nvSpPr>
          <p:cNvPr id="8" name="Bullets"/>
          <p:cNvSpPr txBox="1"/>
          <p:nvPr/>
        </p:nvSpPr>
        <p:spPr>
          <a:xfrm>
            <a:off x="822960" y="2743200"/>
            <a:ext cx="644652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Capital and state.</a:t>
            </a:r>
            <a:r>
              <a:rPr lang="en-US" sz="1600" dirty="0">
                <a:solidFill>
                  <a:schemeClr val="tx1"/>
                </a:solidFill>
              </a:rPr>
              <a:t> Capital dynamics close only if companies alike in measured capital evolve alike in it</a:t>
            </a:r>
            <a:endParaRPr lang="en-US" sz="1600" dirty="0"/>
          </a:p>
          <a:p>
            <a:pPr marL="228600" indent="-228600">
              <a:spcAft>
                <a:spcPts val="600"/>
              </a:spcAft>
              <a:buSzPct val="100000"/>
              <a:buChar char="•"/>
            </a:pPr>
            <a:r>
              <a:rPr lang="en-US" sz="1600" b="1" dirty="0">
                <a:solidFill>
                  <a:schemeClr val="tx1"/>
                </a:solidFill>
              </a:rPr>
              <a:t>(ii) Governance.</a:t>
            </a:r>
            <a:r>
              <a:rPr lang="en-US" sz="1600" dirty="0">
                <a:solidFill>
                  <a:schemeClr val="tx1"/>
                </a:solidFill>
              </a:rPr>
              <a:t> Budget identities and group ratios are wide couplings that need joint review</a:t>
            </a:r>
            <a:endParaRPr lang="en-US" sz="1600" dirty="0"/>
          </a:p>
          <a:p>
            <a:pPr marL="228600" indent="-228600">
              <a:spcAft>
                <a:spcPts val="600"/>
              </a:spcAft>
              <a:buSzPct val="100000"/>
              <a:buChar char="•"/>
            </a:pPr>
            <a:r>
              <a:rPr lang="en-US" sz="1600" b="1" dirty="0">
                <a:solidFill>
                  <a:schemeClr val="tx1"/>
                </a:solidFill>
              </a:rPr>
              <a:t>(iii) The plug.</a:t>
            </a:r>
            <a:r>
              <a:rPr lang="en-US" sz="1600" dirty="0">
                <a:solidFill>
                  <a:schemeClr val="tx1"/>
                </a:solidFill>
              </a:rPr>
              <a:t> Each form's residual π vanishes exactly when the declared channels are complete; its sign and timing locate a missing one</a:t>
            </a:r>
            <a:endParaRPr lang="en-US" sz="1600" dirty="0"/>
          </a:p>
          <a:p>
            <a:pPr marL="228600" indent="-228600">
              <a:spcAft>
                <a:spcPts val="600"/>
              </a:spcAft>
              <a:buSzPct val="100000"/>
              <a:buChar char="•"/>
            </a:pPr>
            <a:r>
              <a:rPr lang="en-US" sz="1600" dirty="0">
                <a:solidFill>
                  <a:schemeClr val="tx1"/>
                </a:solidFill>
              </a:rPr>
              <a:t>Meridian: booked without the team, the sale leaves a plug of −5 capability points at closing and $20m of unexplained cash</a:t>
            </a:r>
            <a:endParaRPr lang="en-US" sz="1600" dirty="0"/>
          </a:p>
        </p:txBody>
      </p:sp>
      <p:sp>
        <p:nvSpPr>
          <p:cNvPr id="9" name="Text 6"/>
          <p:cNvSpPr txBox="1"/>
          <p:nvPr/>
        </p:nvSpPr>
        <p:spPr>
          <a:xfrm>
            <a:off x="7955280" y="1737360"/>
            <a:ext cx="368777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7955280" y="2194560"/>
            <a:ext cx="368777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A persistent negative plug on routines: coordination costs billed off the books</a:t>
            </a:r>
            <a:endParaRPr lang="en-US" sz="1500" dirty="0"/>
          </a:p>
          <a:p>
            <a:pPr marL="228600" indent="-228600">
              <a:spcAft>
                <a:spcPts val="800"/>
              </a:spcAft>
              <a:buSzPct val="100000"/>
              <a:buChar char="•"/>
            </a:pPr>
            <a:r>
              <a:rPr lang="en-US" sz="1500" dirty="0">
                <a:solidFill>
                  <a:schemeClr val="tx1"/>
                </a:solidFill>
              </a:rPr>
              <a:t>A positive plug on human capital: learning by doing that no budget paid for</a:t>
            </a:r>
            <a:endParaRPr lang="en-US" sz="1500" dirty="0"/>
          </a:p>
          <a:p>
            <a:pPr marL="228600" indent="-228600">
              <a:spcAft>
                <a:spcPts val="800"/>
              </a:spcAft>
              <a:buSzPct val="100000"/>
              <a:buChar char="•"/>
            </a:pPr>
            <a:r>
              <a:rPr lang="en-US" sz="1500" dirty="0">
                <a:solidFill>
                  <a:schemeClr val="tx1"/>
                </a:solidFill>
              </a:rPr>
              <a:t>Proposition 10.5: transformations rewrite the architecture; audit it before and after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§10.8 · TABLE 10.4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Companies differ in which regime binds</a:t>
            </a:r>
            <a:endParaRPr lang="en-US" sz="32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833788"/>
                <a:gridCol w="4676158"/>
                <a:gridCol w="4584469"/>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Capital signature</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it means for management</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7724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Technology company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delivery needs technology, people and routines in fixed proportions; the scarcest binds (Figure 10.2)</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publish the ratios beside the budget; spending off the bottleneck buys nothing</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Commercial bank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regulated financial capital; depositor and regulator trust built slowly and destroyed by breach</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consolidated joint checks are mandatory; franchises are priced on trust, failures told in cash</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7724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Hospital network</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platform comes at purchase speed; trained clinicians and redesigned workflows build at the rate δ allows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the dip after go-live is a time-to-build floor; schedule go-live to the complements</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77240">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Start-up</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everything but cash and the idea starts near zero and must be built within the runway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300" dirty="0">
                          <a:solidFill>
                            <a:srgbClr val="0F1E3D"/>
                          </a:solidFill>
                          <a:latin typeface="Calibri" pitchFamily="34" charset="0"/>
                          <a:ea typeface="Calibri" pitchFamily="34" charset="-122"/>
                          <a:cs typeface="Calibri" pitchFamily="34" charset="-120"/>
                        </a:rPr>
                        <a:t>viability: time to build no longer than the runway; funding buys runway</a:t>
                      </a:r>
                      <a:endParaRPr lang="en-US" sz="13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39496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10.4, abridged. Each kind of company differs less in how much capital it holds than in which regime binds and which stocks are slow.</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Keep the engineers or rebuild them?</a:t>
            </a:r>
            <a:endParaRPr lang="en-US" sz="3200" dirty="0"/>
          </a:p>
        </p:txBody>
      </p:sp>
      <p:sp>
        <p:nvSpPr>
          <p:cNvPr id="5" name="Card"/>
          <p:cNvSpPr/>
          <p:nvPr/>
        </p:nvSpPr>
        <p:spPr>
          <a:xfrm>
            <a:off x="548640" y="1691640"/>
            <a:ext cx="3515258" cy="2926080"/>
          </a:xfrm>
          <a:prstGeom prst="roundRect">
            <a:avLst>
              <a:gd name="adj" fmla="val 2500"/>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buyer</a:t>
            </a:r>
            <a:endParaRPr lang="en-US" sz="1300" dirty="0"/>
          </a:p>
        </p:txBody>
      </p:sp>
      <p:sp>
        <p:nvSpPr>
          <p:cNvPr id="7" name="Card head"/>
          <p:cNvSpPr txBox="1"/>
          <p:nvPr/>
        </p:nvSpPr>
        <p:spPr>
          <a:xfrm>
            <a:off x="731520" y="2148840"/>
            <a:ext cx="3149498" cy="117043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$112m if the engineering team goes, $92m if Meridian keeps it</a:t>
            </a:r>
            <a:endParaRPr lang="en-US" sz="1900" dirty="0"/>
          </a:p>
        </p:txBody>
      </p:sp>
      <p:sp>
        <p:nvSpPr>
          <p:cNvPr id="8" name="Card text"/>
          <p:cNvSpPr txBox="1"/>
          <p:nvPr/>
        </p:nvSpPr>
        <p:spPr>
          <a:xfrm>
            <a:off x="731520" y="3392424"/>
            <a:ext cx="3149498" cy="1097280"/>
          </a:xfrm>
          <a:prstGeom prst="rect">
            <a:avLst/>
          </a:prstGeom>
          <a:noFill/>
          <a:ln/>
        </p:spPr>
        <p:txBody>
          <a:bodyPr wrap="square" lIns="0" tIns="0" rIns="0" bIns="0" rtlCol="0" anchor="t"/>
          <a:lstStyle/>
          <a:p>
            <a:pPr indent="0" marL="0">
              <a:buNone/>
            </a:pPr>
            <a:r>
              <a:rPr lang="en-US" sz="1600" dirty="0">
                <a:solidFill>
                  <a:schemeClr val="tx2"/>
                </a:solidFill>
              </a:rPr>
              <a:t>The sale of part of Industrial Systems, Meridian's restructuring option.</a:t>
            </a:r>
            <a:endParaRPr lang="en-US" sz="1600" dirty="0"/>
          </a:p>
        </p:txBody>
      </p:sp>
      <p:sp>
        <p:nvSpPr>
          <p:cNvPr id="9" name="Card"/>
          <p:cNvSpPr/>
          <p:nvPr/>
        </p:nvSpPr>
        <p:spPr>
          <a:xfrm>
            <a:off x="4338218" y="1691640"/>
            <a:ext cx="3515258" cy="2926080"/>
          </a:xfrm>
          <a:prstGeom prst="roundRect">
            <a:avLst>
              <a:gd name="adj" fmla="val 2500"/>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11" name="Card head"/>
          <p:cNvSpPr txBox="1"/>
          <p:nvPr/>
        </p:nvSpPr>
        <p:spPr>
          <a:xfrm>
            <a:off x="4521098" y="2148840"/>
            <a:ext cx="3149498" cy="117043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Take the extra $20m and rebuild capability</a:t>
            </a:r>
            <a:endParaRPr lang="en-US" sz="1900" dirty="0"/>
          </a:p>
        </p:txBody>
      </p:sp>
      <p:sp>
        <p:nvSpPr>
          <p:cNvPr id="12" name="Card text"/>
          <p:cNvSpPr txBox="1"/>
          <p:nvPr/>
        </p:nvSpPr>
        <p:spPr>
          <a:xfrm>
            <a:off x="4521098" y="3392424"/>
            <a:ext cx="3149498" cy="1097280"/>
          </a:xfrm>
          <a:prstGeom prst="rect">
            <a:avLst/>
          </a:prstGeom>
          <a:noFill/>
          <a:ln/>
        </p:spPr>
        <p:txBody>
          <a:bodyPr wrap="square" lIns="0" tIns="0" rIns="0" bIns="0" rtlCol="0" anchor="t"/>
          <a:lstStyle/>
          <a:p>
            <a:pPr indent="0" marL="0">
              <a:buNone/>
            </a:pPr>
            <a:r>
              <a:rPr lang="en-US" sz="1600" dirty="0">
                <a:solidFill>
                  <a:schemeClr val="tx2"/>
                </a:solidFill>
              </a:rPr>
              <a:t>Without the team, capability falls from 58 to 53, below the floor of 55.</a:t>
            </a:r>
            <a:endParaRPr lang="en-US" sz="1600" dirty="0"/>
          </a:p>
        </p:txBody>
      </p:sp>
      <p:sp>
        <p:nvSpPr>
          <p:cNvPr id="13" name="Card"/>
          <p:cNvSpPr/>
          <p:nvPr/>
        </p:nvSpPr>
        <p:spPr>
          <a:xfrm>
            <a:off x="8127797" y="1691640"/>
            <a:ext cx="3515258" cy="2926080"/>
          </a:xfrm>
          <a:prstGeom prst="roundRect">
            <a:avLst>
              <a:gd name="adj" fmla="val 2500"/>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5" name="Card head"/>
          <p:cNvSpPr txBox="1"/>
          <p:nvPr/>
        </p:nvSpPr>
        <p:spPr>
          <a:xfrm>
            <a:off x="8310677" y="2148840"/>
            <a:ext cx="3149498" cy="117043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What does the extra $20m really cost?</a:t>
            </a:r>
            <a:endParaRPr lang="en-US" sz="1900" dirty="0"/>
          </a:p>
        </p:txBody>
      </p:sp>
      <p:sp>
        <p:nvSpPr>
          <p:cNvPr id="16" name="Card text"/>
          <p:cNvSpPr txBox="1"/>
          <p:nvPr/>
        </p:nvSpPr>
        <p:spPr>
          <a:xfrm>
            <a:off x="8310677" y="3392424"/>
            <a:ext cx="3149498" cy="1097280"/>
          </a:xfrm>
          <a:prstGeom prst="rect">
            <a:avLst/>
          </a:prstGeom>
          <a:noFill/>
          <a:ln/>
        </p:spPr>
        <p:txBody>
          <a:bodyPr wrap="square" lIns="0" tIns="0" rIns="0" bIns="0" rtlCol="0" anchor="t"/>
          <a:lstStyle/>
          <a:p>
            <a:pPr indent="0" marL="0">
              <a:buNone/>
            </a:pPr>
            <a:r>
              <a:rPr lang="en-US" sz="1600" dirty="0">
                <a:solidFill>
                  <a:schemeClr val="bg2"/>
                </a:solidFill>
              </a:rPr>
              <a:t>The digital build and the automation program both require capability of 55.</a:t>
            </a:r>
            <a:endParaRPr lang="en-US" sz="1600" dirty="0"/>
          </a:p>
        </p:txBody>
      </p:sp>
      <p:sp>
        <p:nvSpPr>
          <p:cNvPr id="17" name="Lead"/>
          <p:cNvSpPr txBox="1"/>
          <p:nvPr/>
        </p:nvSpPr>
        <p:spPr>
          <a:xfrm>
            <a:off x="548640" y="48920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Capability is a stock the balance sheet never shows; the buyer has just put a price on it.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Price the stock, pay the rent, run the clock</a:t>
            </a:r>
            <a:endParaRPr lang="en-US" sz="3200" dirty="0"/>
          </a:p>
        </p:txBody>
      </p:sp>
      <p:pic>
        <p:nvPicPr>
          <p:cNvPr id="5" name="Equation" descr="Equation: k \;\ge\; \frac{\ln\bigl((\bar C - 53)/(\bar C - 58)\bigr)}{\ln(1/0.975)} \;=\; \frac{\ln(47/42)}{\ln(1/0.975)} \;=\; 4.4 \text{ quarters}">    </p:cNvPr>
          <p:cNvPicPr>
            <a:picLocks noChangeAspect="1"/>
          </p:cNvPicPr>
          <p:nvPr/>
        </p:nvPicPr>
        <p:blipFill>
          <a:blip r:embed="rId1"/>
          <a:stretch>
            <a:fillRect/>
          </a:stretch>
        </p:blipFill>
        <p:spPr>
          <a:xfrm>
            <a:off x="1986692" y="1828800"/>
            <a:ext cx="8218311"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from 53 back to 58 at the cap of 2.5 points a quarter, with the ceiling C̄ = 2.5/0.025 = 100</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the sale converts technological, human and relational capital into cash: liquidity rises from $620m to $732m, or to $712m with the team</a:t>
            </a:r>
            <a:endParaRPr lang="en-US" sz="1700" dirty="0"/>
          </a:p>
          <a:p>
            <a:pPr marL="228600" indent="-228600">
              <a:spcAft>
                <a:spcPts val="800"/>
              </a:spcAft>
              <a:buSzPct val="100000"/>
              <a:buChar char="•"/>
            </a:pPr>
            <a:r>
              <a:rPr lang="en-US" sz="1700" dirty="0">
                <a:solidFill>
                  <a:schemeClr val="bg1"/>
                </a:solidFill>
              </a:rPr>
              <a:t>The buyer's discount is a price, $20m for 5 points: </a:t>
            </a:r>
            <a:r>
              <a:rPr lang="en-US" sz="1700" b="1" dirty="0">
                <a:solidFill>
                  <a:schemeClr val="bg1"/>
                </a:solidFill>
              </a:rPr>
              <a:t>$4m a point</a:t>
            </a:r>
            <a:r>
              <a:rPr lang="en-US" sz="1700" dirty="0">
                <a:solidFill>
                  <a:schemeClr val="bg1"/>
                </a:solidFill>
              </a:rPr>
              <a:t> for a stock that never appears on the balance sheet</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capability loses 2.5 percent a quarter; holding 58 costs </a:t>
            </a:r>
            <a:r>
              <a:rPr lang="en-US" sz="1700" b="1" dirty="0">
                <a:solidFill>
                  <a:schemeClr val="bg1"/>
                </a:solidFill>
              </a:rPr>
              <a:t>1.45 points a quarter, about $23m a year</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at full throttle, at least 1.7 quarters to clear 55 and 4.4 to regain 58: </a:t>
            </a:r>
            <a:r>
              <a:rPr lang="en-US" sz="1700" b="1" dirty="0">
                <a:solidFill>
                  <a:schemeClr val="bg1"/>
                </a:solidFill>
              </a:rPr>
              <a:t>two and five</a:t>
            </a:r>
            <a:r>
              <a:rPr lang="en-US" sz="1700" dirty="0">
                <a:solidFill>
                  <a:schemeClr val="bg1"/>
                </a:solidFill>
              </a:rPr>
              <a:t>; at the old budget, 21</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STEPS 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Money rebuilds the stock, not the quarters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At the cap: 53.00, 54.18, 55.32, 56.44, 57.53, 58.00</a:t>
            </a:r>
            <a:endParaRPr lang="en-US" sz="1600" dirty="0"/>
          </a:p>
          <a:p>
            <a:pPr marL="228600" indent="-228600">
              <a:spcAft>
                <a:spcPts val="800"/>
              </a:spcAft>
              <a:buSzPct val="100000"/>
              <a:buChar char="•"/>
            </a:pPr>
            <a:r>
              <a:rPr lang="en-US" sz="1600" dirty="0">
                <a:solidFill>
                  <a:schemeClr val="tx1"/>
                </a:solidFill>
              </a:rPr>
              <a:t>The floor is cleared at quarter 2 and 58 regained at quarter 5</a:t>
            </a:r>
            <a:endParaRPr lang="en-US" sz="1600" dirty="0"/>
          </a:p>
          <a:p>
            <a:pPr marL="228600" indent="-228600">
              <a:spcAft>
                <a:spcPts val="800"/>
              </a:spcAft>
              <a:buSzPct val="100000"/>
              <a:buChar char="•"/>
            </a:pPr>
            <a:r>
              <a:rPr lang="en-US" sz="1600" dirty="0">
                <a:solidFill>
                  <a:schemeClr val="tx1"/>
                </a:solidFill>
              </a:rPr>
              <a:t>At the old budget, 58 − 5 × 0.975</a:t>
            </a:r>
            <a:r>
              <a:rPr lang="en-US" sz="1600" baseline="30000" dirty="0">
                <a:solidFill>
                  <a:schemeClr val="tx1"/>
                </a:solidFill>
              </a:rPr>
              <a:t>k</a:t>
            </a:r>
            <a:r>
              <a:rPr lang="en-US" sz="1600" dirty="0">
                <a:solidFill>
                  <a:schemeClr val="tx1"/>
                </a:solidFill>
              </a:rPr>
              <a:t>: past 55 only after 21 quarters</a:t>
            </a:r>
            <a:endParaRPr lang="en-US" sz="1600" dirty="0"/>
          </a:p>
          <a:p>
            <a:pPr marL="228600" indent="-228600">
              <a:spcAft>
                <a:spcPts val="800"/>
              </a:spcAft>
              <a:buSzPct val="100000"/>
              <a:buChar char="•"/>
            </a:pPr>
            <a:r>
              <a:rPr lang="en-US" sz="1600" b="1" dirty="0">
                <a:solidFill>
                  <a:schemeClr val="tx1"/>
                </a:solidFill>
              </a:rPr>
              <a:t>Step 4:</a:t>
            </a:r>
            <a:r>
              <a:rPr lang="en-US" sz="1600" dirty="0">
                <a:solidFill>
                  <a:schemeClr val="tx1"/>
                </a:solidFill>
              </a:rPr>
              <a:t> below 55 the digital build and the automation program are off the menu</a:t>
            </a:r>
            <a:endParaRPr lang="en-US" sz="1600" dirty="0"/>
          </a:p>
          <a:p>
            <a:pPr marL="228600" indent="-228600">
              <a:spcAft>
                <a:spcPts val="800"/>
              </a:spcAft>
              <a:buSzPct val="100000"/>
              <a:buChar char="•"/>
            </a:pPr>
            <a:r>
              <a:rPr lang="en-US" sz="1600" dirty="0">
                <a:solidFill>
                  <a:schemeClr val="tx1"/>
                </a:solidFill>
              </a:rPr>
              <a:t>The sale removes them the day it closes; buying them back takes two quarters</a:t>
            </a:r>
            <a:endParaRPr lang="en-US" sz="1600" dirty="0"/>
          </a:p>
        </p:txBody>
      </p:sp>
      <p:pic>
        <p:nvPicPr>
          <p:cNvPr id="6" name="Figure" descr="Figure 10.3: keep the engineers or rebuild them">    </p:cNvPr>
          <p:cNvPicPr>
            <a:picLocks noChangeAspect="1"/>
          </p:cNvPicPr>
          <p:nvPr/>
        </p:nvPicPr>
        <p:blipFill>
          <a:blip r:embed="rId1"/>
          <a:stretch>
            <a:fillRect/>
          </a:stretch>
        </p:blipFill>
        <p:spPr>
          <a:xfrm>
            <a:off x="5169286" y="1931671"/>
            <a:ext cx="6473769" cy="3433570"/>
          </a:xfrm>
          <a:prstGeom prst="rect">
            <a:avLst/>
          </a:prstGeom>
        </p:spPr>
      </p:pic>
      <p:sp>
        <p:nvSpPr>
          <p:cNvPr id="7" name="Caption"/>
          <p:cNvSpPr txBox="1"/>
          <p:nvPr/>
        </p:nvSpPr>
        <p:spPr>
          <a:xfrm>
            <a:off x="5169286" y="5438393"/>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10.3. Meridian's workforce-capability index after the sale, quarter by quarter.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TABLE 10.5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 cash, the two options are a wash</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6051499"/>
                <a:gridCol w="2383924"/>
                <a:gridCol w="2658992"/>
              </a:tblGrid>
              <a:tr h="457200">
                <a:tc>
                  <a:txBody>
                    <a:bodyPr/>
                    <a:lstStyle/>
                    <a:p>
                      <a:pPr algn="l" indent="0" marL="0">
                        <a:buNone/>
                      </a:pP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Keep the team</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600" b="1" dirty="0">
                          <a:solidFill>
                            <a:srgbClr val="FFFFFF"/>
                          </a:solidFill>
                          <a:latin typeface="Calibri" pitchFamily="34" charset="0"/>
                          <a:ea typeface="Calibri" pitchFamily="34" charset="-122"/>
                          <a:cs typeface="Calibri" pitchFamily="34" charset="-120"/>
                        </a:rPr>
                        <a:t>Let it go, rebuild</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Proceeds at closing ($ million)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92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112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Capability at closing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53</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Quarters below the floor of 55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Quarters below 58</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Capability investment, five quarters (points)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7.25</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11.9</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Capability investment, five quarters ($ million)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29.0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47.6</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600" b="1" dirty="0">
                          <a:solidFill>
                            <a:srgbClr val="0F1E3D"/>
                          </a:solidFill>
                          <a:latin typeface="Calibri" pitchFamily="34" charset="0"/>
                          <a:ea typeface="Calibri" pitchFamily="34" charset="-122"/>
                          <a:cs typeface="Calibri" pitchFamily="34" charset="-120"/>
                        </a:rPr>
                        <a:t>Proceeds net of that investment ($ million)</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63.0</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600" dirty="0">
                          <a:solidFill>
                            <a:srgbClr val="0F1E3D"/>
                          </a:solidFill>
                          <a:latin typeface="Calibri" pitchFamily="34" charset="0"/>
                          <a:ea typeface="Calibri" pitchFamily="34" charset="-122"/>
                          <a:cs typeface="Calibri" pitchFamily="34" charset="-120"/>
                        </a:rPr>
                        <a:t>64.4</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45896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Over the five-quarter rebuild window, capability points valued at $4 million.</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Rebuilding invests $18.6m more than holding 58, and comes out $1.4m ahead net of the extra $20m.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10.1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$20m is the price of time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2 quarters</a:t>
            </a:r>
            <a:endParaRPr lang="en-US" sz="40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in which the digital program cannot start</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5 quarters</a:t>
            </a:r>
            <a:endParaRPr lang="en-US" sz="40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of reduced capability, with hiring and training run at their limit</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$1.4m</a:t>
            </a:r>
            <a:endParaRPr lang="en-US" sz="40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rebuilding's lead in cash: the buyer prices the team at roughly its rebuild cost</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$20m is not a premium for capability: money can rebuild the stock; it cannot buy back the quarters</a:t>
            </a:r>
            <a:endParaRPr lang="en-US" sz="1700" dirty="0"/>
          </a:p>
          <a:p>
            <a:pPr marL="228600" indent="-228600">
              <a:spcAft>
                <a:spcPts val="800"/>
              </a:spcAft>
              <a:buSzPct val="100000"/>
              <a:buChar char="•"/>
            </a:pPr>
            <a:r>
              <a:rPr lang="en-US" sz="1700" dirty="0">
                <a:solidFill>
                  <a:schemeClr val="tx1"/>
                </a:solidFill>
              </a:rPr>
              <a:t>For discussion: at a $30m ask, keeping the team costs about $11m more in cash than rebuilding</a:t>
            </a:r>
            <a:endParaRPr lang="en-US" sz="1700" dirty="0"/>
          </a:p>
          <a:p>
            <a:pPr marL="228600" indent="-228600">
              <a:spcAft>
                <a:spcPts val="800"/>
              </a:spcAft>
              <a:buSzPct val="100000"/>
              <a:buChar char="•"/>
            </a:pPr>
            <a:r>
              <a:rPr lang="en-US" sz="1700" dirty="0">
                <a:solidFill>
                  <a:schemeClr val="tx1"/>
                </a:solidFill>
              </a:rPr>
              <a:t>What would you need to know about the value of two quarters of digital-program time?</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1.10 · MODULE AXIOM-10</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Meridian's capital ledger,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The chief financial officer wants a capital view of the transformation: which stocks each option builds or consumes, what each costs to hold, how fast each can be rebuilt. The transformation office must defend its training and platform budgets against a cut for a year. Open AXIOM, choose Lab 1.10 and load the Meridian capital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Build the capital vector</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Declare financial, human, technological and organizational capital with carriers, units, indicators and error bars.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 the rent</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Hold each stock with its sustaining flow; cut investment for four quarters and recover at the old budget and at the cap.</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Test the asymmetry</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Destroy 30 percent of human capital in one quarter and count the quarters needed to recover.</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Allocate a budget</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Balanced, finance-heavy, bottleneck first: compare the capacity each buys and read the shadow value λ.</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Audit the ledger</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plug auditor on a record with one undeclared conversion and locate it by sign and timing.</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capital memo to the chief financial officer: the capital vector with error bars, the rent on each stock, the time to rebuild what each option consumes, the bottleneck, and one reallocation you would propose.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Capital is the family of stocks a company builds, uses, and loses; most of it is off the balance sheet, and financial capital alone does not determine what a company can do.</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Every form of capital obeys double-entry: a change in a stock splits into investment, use, decay, and conversion, conversion leaks, and the unexplained residual is a detector, not an embarrassment.</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Capital is a rental and capability has a speed limit: holding C* costs δ C* every period, no budget inside the cap builds faster than the time to build allows, and one decision can destroy in a day what takes quarters to rebuild.</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Know the coupling regime before allocating: under fixed proportions, value sits on the bottleneck; under complementarity, returns compound and joint programs win.</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Equalize marginal returns across funded forms at the budget's shadow value; zero funding can be optimal; and audit the architecture before trusting its dynamics.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Both companions reproduce the book's numbers</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53</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59</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26110</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AXIOM-10</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1.10</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DCT_V1_Ch10_Lab.ipynb: Worked Example 10.1 and the lab's five steps in eight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DCT_V1_Ch10_Lab.xlsx: the capital vector, the rent, the rebuild clock, Table 10.5, the bottleneck and the plug auditor,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11 measures what the stocks produce</a:t>
            </a:r>
            <a:endParaRPr lang="en-US" sz="3200" dirty="0"/>
          </a:p>
        </p:txBody>
      </p:sp>
      <p:pic>
        <p:nvPicPr>
          <p:cNvPr id="5" name="Equation" descr="Equation: \mathbf{P}_k \;=\; \Phi(\mathbf{x}_k, \mathbf{u}_k)">    </p:cNvPr>
          <p:cNvPicPr>
            <a:picLocks noChangeAspect="1"/>
          </p:cNvPicPr>
          <p:nvPr/>
        </p:nvPicPr>
        <p:blipFill>
          <a:blip r:embed="rId1"/>
          <a:stretch>
            <a:fillRect/>
          </a:stretch>
        </p:blipFill>
        <p:spPr>
          <a:xfrm>
            <a:off x="4320192" y="1691640"/>
            <a:ext cx="3551311"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Performance is a flow, consumed by the period that produces it; capital is the stock behind it (Definition 11.1)</a:t>
            </a:r>
            <a:endParaRPr lang="en-US" sz="1800" dirty="0"/>
          </a:p>
          <a:p>
            <a:pPr marL="228600" indent="-228600">
              <a:spcAft>
                <a:spcPts val="800"/>
              </a:spcAft>
              <a:buSzPct val="100000"/>
              <a:buChar char="•"/>
            </a:pPr>
            <a:r>
              <a:rPr lang="en-US" sz="1800" dirty="0">
                <a:solidFill>
                  <a:schemeClr val="bg1"/>
                </a:solidFill>
              </a:rPr>
              <a:t>The stock-and-flow balance becomes the basis for attribution: results earned by deploying stocks against results earned by consuming them</a:t>
            </a:r>
            <a:endParaRPr lang="en-US" sz="1800" dirty="0"/>
          </a:p>
          <a:p>
            <a:pPr marL="228600" indent="-228600">
              <a:spcAft>
                <a:spcPts val="800"/>
              </a:spcAft>
              <a:buSzPct val="100000"/>
              <a:buChar char="•"/>
            </a:pPr>
            <a:r>
              <a:rPr lang="en-US" sz="1800" dirty="0">
                <a:solidFill>
                  <a:schemeClr val="bg1"/>
                </a:solidFill>
              </a:rPr>
              <a:t>The rent δC* becomes a required line in any honest performance statement: skipping Meridian's $23m a year flatters EBITDA while capability falls below 55 within three quarters</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10: Enterprise Capital Architecture</dc:title>
  <dc:subject>Slides for Volume I, Chapter 10 (V56)</dc:subject>
  <dc:creator>Samir Asaf</dc:creator>
  <cp:lastModifiedBy>Samir Asaf</cp:lastModifiedBy>
  <cp:revision>1</cp:revision>
  <dcterms:created xsi:type="dcterms:W3CDTF">2026-10-05T09:20:40Z</dcterms:created>
  <dcterms:modified xsi:type="dcterms:W3CDTF">2026-10-05T09:20:40Z</dcterms:modified>
</cp:coreProperties>
</file>