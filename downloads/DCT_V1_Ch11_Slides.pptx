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79d8969-ab66-195c-de16-5aff9efb2db9}">
          <p14:sldIdLst>
            <p14:sldId id="256"/>
            <p14:sldId id="257"/>
            <p14:sldId id="258"/>
            <p14:sldId id="259"/>
          </p14:sldIdLst>
        </p14:section>
        <p14:section name="11.1 Why Performance Needs an Architecture" id="{9629ff81-5625-8b75-9bb5-d193695143d4}">
          <p14:sldIdLst>
            <p14:sldId id="260"/>
          </p14:sldIdLst>
        </p14:section>
        <p14:section name="11.2 Performance Beyond Financial Metrics" id="{a9cc0da8-e7a3-ce6f-00eb-9c6b5be694e7}">
          <p14:sldIdLst>
            <p14:sldId id="261"/>
          </p14:sldIdLst>
        </p14:section>
        <p14:section name="11.3 Dimensions of Enterprise Performance" id="{42bdc4ad-9020-090a-8e03-265619029a78}">
          <p14:sldIdLst>
            <p14:sldId id="262"/>
          </p14:sldIdLst>
        </p14:section>
        <p14:section name="11.4 Indicators, Metrics, and Measurement Systems" id="{77ece8b4-9273-751e-bf08-4ef8cc16ca06}">
          <p14:sldIdLst>
            <p14:sldId id="263"/>
          </p14:sldIdLst>
        </p14:section>
        <p14:section name="11.5 Aggregation and Weighting" id="{3a74f4a4-f0fd-21a8-13c2-caca582cd4bb}">
          <p14:sldIdLst>
            <p14:sldId id="264"/>
            <p14:sldId id="265"/>
          </p14:sldIdLst>
        </p14:section>
        <p14:section name="11.6 Performance Dependencies" id="{d3f39b4d-eeb5-4534-24b0-94970fae5547}">
          <p14:sldIdLst>
            <p14:sldId id="266"/>
            <p14:sldId id="267"/>
          </p14:sldIdLst>
        </p14:section>
        <p14:section name="11.7 Trade-offs and the Performance Frontier" id="{34946f64-0615-241b-d69c-df8d6320c44b}">
          <p14:sldIdLst>
            <p14:sldId id="268"/>
          </p14:sldIdLst>
        </p14:section>
        <p14:section name="11.8 Performance Dynamics" id="{35f76af3-7091-a307-e698-44b6a9b2806c}">
          <p14:sldIdLst>
            <p14:sldId id="269"/>
          </p14:sldIdLst>
        </p14:section>
        <p14:section name="11.9 Consistency of Measurement Systems" id="{f5c4ef63-59de-1a63-01cf-f0da1a3b3b80}">
          <p14:sldIdLst>
            <p14:sldId id="270"/>
          </p14:sldIdLst>
        </p14:section>
        <p14:section name="Worked Example 11.1" id="{3a0e2c71-4e4b-c802-fdb7-aa869abbee1d}">
          <p14:sldIdLst>
            <p14:sldId id="271"/>
            <p14:sldId id="272"/>
            <p14:sldId id="273"/>
            <p14:sldId id="274"/>
            <p14:sldId id="275"/>
          </p14:sldIdLst>
        </p14:section>
        <p14:section name="AXIOM Lab 1.11" id="{89e1956a-73ef-e1f2-dd91-d9fbbb4323de}">
          <p14:sldIdLst>
            <p14:sldId id="276"/>
          </p14:sldIdLst>
        </p14:section>
        <p14:section name="Close" id="{a6f983ec-c12b-31aa-4929-61462fc12de2}">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11. Chapter 10 built the company's stocks; this chapter builds its flows: performance, the readings a company's state and decisions produce each period, and the Enterprise Performance Architecture that measures and combines them (Section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Coase's remark (1982), the chapter's epigraph. A scorecard can make data confess to more than one ranking: between options that do not dominate each other, its weights, its normalization and its rule decide (Theorem 11.2). The chapter's remedy is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11.2: Definitions 11.1-11.2, Proposition 11.1 and Table 11.1. Section 11.3: Definitions 11.3-11.4, Theorem 11.1 and Table 11.2. Section 11.4: Definitions 11.5-11.6. Section 11.5: Theorem 11.2, Table 11.3 and Figure 11.1. Section 11.6: Theorem 11.3 and Table 11.4. Section 11.7: Definitions 11.7-11.10, Theorem 11.4, Proposition 11.2 and Figure 11.2. Section 11.8: Proposition 11.3 and Definitions 11.11-11.12. Section 11.9: Theorem 11.5 and Table 11.5. Worked Example 11.1: Table 11.6 and Figure 11.3. AXIOM Lab 1.11: module AXIOM-11, five steps. Proofs of Theorems 11.2, 11.3 and 11.5 are in Appendix 11.A; those of Theorems 11.1 and 11.4 and Propositions 11.1-11.3 in Online Appendix 11.B.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11.1. The hazards of performance measurement are usually discussed as management pathologies; here they are mathematical properties of the apparatus. The Enterprise Performance Architecture is the triple (P, M, W): performance dimensions, measurement mappings, and the apparatus of weights, normalizations, aggregation rules and target cascades (Definition 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11.1-11.2 and Proposition 11.1; formal statement and proof in Online Appendix 11.B, with the twin example. Table 11.1 contrasts financial and non-financial measures by their mathematical character: verifiability, timing, aggregation, gaming exposure, horizon and comparability. Financial measures are the best-behaved coordinates of the performance vector, not the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11.2 and Definitions 11.3-11.4. Each coordinate carries declared units and scale, its support (the components whose readings it uses) and its measurement mapping; a performance function reads exactly the readings of its dimension's support, the attachment Theorem 11.3 exploits.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11.1 (Section 11.3; formal statement and proof in Online Appendix 11.B) and Definitions 11.5-11.6 (Section 11.4). Part (iii) is the result that comes before Goodhart's law: the first failure is a collapse of information, not its manipulation. The design responses: several indicators per dimension, declared error models with periodic revalidation, and aggregation that is owned rather than inherited.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11.2; formal statement and proof in Appendix 11.A. Part (ii) is the sentence for every scorecard review: between options that do not dominate each other, the index is the decision, and whoever set the weights made the choice. Table 11.3 is part (iv)'s compensability spectrum: the rule is a policy choice, to be declared in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11.1, Worked Example 11.1 Step 2 and Online Appendix 11.B.2. Drawing 200,000 weightings uniformly from the simplex (seed 26111), digital ranks first under 49.4 percent, restructuring under 49.3 and the turnaround under 1.3; the count measures how much of the space of weights each option wins, not a probability that either option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11.3; formal statement and proof in Appendix 11.A. The two managerial numbers are the depth of the dip, cū, known in advance, and the payback window, 1 + cū/Δ periods. When the built state decays the window lengthens: a program that costs 10 and adds 3 pays back over 4.3 periods if the benefit lasts, 4.8 at 10 percent decay a period, 5.9 at 20 percent, and never at 30 percent or more (Online Appendix 11.B.1).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11.4 and Theorem 11.3(i). Supports: financial and resilience performance at treasury; operational at Industrial Systems and Materials; strategic at the three divisions; technological at Digital; innovation at Digital and engineering. The notebook and workbook recompute all 20 declared lag floors from Chapter 9's fourteen arrows. Crediting this year's Materials efficiency to the digital program is refuted by the wiring: no path leads from Digital to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11.7-11.10, Theorem 11.4 and Proposition 11.2; formal statements and proofs in Online Appendix 11.B. A weighted index is a legitimate vehicle to the frontier and a biased explorer of it: when programs are lumpy, walk the frontier by hand. Online Appendix 11.B.4: three programs (0, m), (a, a), (m, 0) leave the balanced one visible exactly when 2a ≥ m. Most organizations debate weights while standing inside their frontier.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11.8's three disciplines: report flows with their fans; match windows to lags (Theorem 11.3(iii)); charge borrowed level. Meridian's capability rent is about $23 million a year (Worked Example 10.1); without it capability falls from 58 to 56.55, 55.14 and 53.76, below 55 in the third quarter. Chapter 12 gives resilience its full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11.5; formal statement and proof in Appendix 11.A; the bank's bridge in Online Appendix 11.B.5. The safe rule: add numerators and denominators separately, then divide, and show the mix as its own exhibit. For Meridian the trap is not hypothetical: the digital option shifts revenue toward a growing division whose margins are still being built. Table 11.5 also reads a hospital network, a start-up and a government agency through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11.1, the situation and Step 1. The scorecard is Worked Example 1.1's, on the Chapter 1 model (Table 1.9). At Year 5 digital leads restructuring by 36.8 points on technology; restructuring leads by 26.8 on liquidity, 5.8 on strategic risk and 0.1 on efficiency; the turnaround has the best efficiency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11.1, Steps 1-3; Online Appendix 11.B.2-11.B.3. The best-to-worst scale's effective weights, as shares, are 12, 8, 62 and 18 percent; the percentage scale's 16, 38, 22 and 24. The 'equal' weights are equal on neither scale: the first all but ignores technology, the second leans on it. Same data, same weights, opposite rankings.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11.1, Step 4, Figure 11.3 and Online Appendix 11.B.6. Restructuring's score jumps by 6.57 points when the sale closes at Year 1; before that, restructuring and the turnaround differ by less than 0.1 point. A board that compares the options at its annual reviews will see digital trail for four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11.6 and Worked Example 11.1, Step 5. The strategy team's recommendation is not 'digital scores 47.1' but a declaration the board can own: the weights, with their 1.6-point margin from a tie; the yardstick and the options or peers it rescales against; the aggregation rule and any gates; and the review window, at least five years for the digital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11.1, what the board should take away, and the discussion question. The 24.6 and 3.0 percent are Worked Example 8.1's, drawn with random seed 8; as a lexicographic gate (Table 11.3) the program as planned fails its tier, and passes once both levers are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1.11. What to look for: between options that do not dominate each other, the ranking moves with the weights and with the normalization (Theorem 11.2); divisional ratios can all improve while the pooled ratio worsens (Theorem 11.5(i)); and a program's verdict flips at the payback window (Theorem 11.3(iii)). Supports LOS 11.2-11.5.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11.9's bridge to Chapter 12. The performance architecture hands the risk architecture four finished parts: the performance vector with its supports, the targets and constraints, the fans of Proposition 11.3, and the resilience dimension of Definition 11.12.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11</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11</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11 · WEEK 5</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Performance Architecture</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Between options that do not dominate each other, a scorecard's weights, yardstick and review window choose the winner: declare them</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26111 · AXIOM Lab 1.11 (AXIOM-11)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“If you torture the data long enough, nature will confess.”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Ronald H. Coase</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1991; “How Should Economists Choose?” (1982)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enterprise performance as the flows that a company's state and decisions produce each period, distinguish it from the capital stocks that produce it, and tell what is measured apart from the indicators that measure it.</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a weighted scorecard decides: why its weights choose between options that do not dominate each other, how normalization reweights silently, and how the aggregation rule sets how far strength in one dimension may offset weakness in another.</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Trace how performance dimensions influence one another through the company's architecture, and use the J-curve to compute a transformation's dip and the evaluation window it needs.</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effectiveness, efficiency, and productivity; identify the performance frontier; and explain why weighted indices reach the frontier but can miss balanced options, and what the frontier's slope prices.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11.5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Audit a measurement system: roll up ratio measures correctly, check cascaded targets for joint feasibility, and report performance with its uncertainty, its sustainable level, and its resilience.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Nine sections, a worked example and a lab</a:t>
            </a:r>
            <a:endParaRPr lang="en-US" sz="3200" dirty="0"/>
          </a:p>
        </p:txBody>
      </p:sp>
      <p:sp>
        <p:nvSpPr>
          <p:cNvPr id="5" name="Card"/>
          <p:cNvSpPr/>
          <p:nvPr/>
        </p:nvSpPr>
        <p:spPr>
          <a:xfrm>
            <a:off x="548640" y="1691640"/>
            <a:ext cx="1999427" cy="1310640"/>
          </a:xfrm>
          <a:prstGeom prst="roundRect">
            <a:avLst>
              <a:gd name="adj" fmla="val 5581"/>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§11.1</a:t>
            </a:r>
            <a:endParaRPr lang="en-US" sz="1300" dirty="0"/>
          </a:p>
        </p:txBody>
      </p:sp>
      <p:sp>
        <p:nvSpPr>
          <p:cNvPr id="7" name="Card head"/>
          <p:cNvSpPr txBox="1"/>
          <p:nvPr/>
        </p:nvSpPr>
        <p:spPr>
          <a:xfrm>
            <a:off x="731520"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Performance Needs an Architecture</a:t>
            </a:r>
            <a:endParaRPr lang="en-US" sz="1300" dirty="0"/>
          </a:p>
        </p:txBody>
      </p:sp>
      <p:sp>
        <p:nvSpPr>
          <p:cNvPr id="8" name="Card"/>
          <p:cNvSpPr/>
          <p:nvPr/>
        </p:nvSpPr>
        <p:spPr>
          <a:xfrm>
            <a:off x="2822387" y="1691640"/>
            <a:ext cx="1999427" cy="1310640"/>
          </a:xfrm>
          <a:prstGeom prst="roundRect">
            <a:avLst>
              <a:gd name="adj" fmla="val 5581"/>
            </a:avLst>
          </a:prstGeom>
          <a:solidFill>
            <a:schemeClr val="bg2"/>
          </a:solidFill>
          <a:ln w="9525">
            <a:solidFill>
              <a:srgbClr val="C4CBD8"/>
            </a:solidFill>
            <a:prstDash val="solid"/>
          </a:ln>
        </p:spPr>
      </p:sp>
      <p:sp>
        <p:nvSpPr>
          <p:cNvPr id="9"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§11.2</a:t>
            </a:r>
            <a:endParaRPr lang="en-US" sz="1300" dirty="0"/>
          </a:p>
        </p:txBody>
      </p:sp>
      <p:sp>
        <p:nvSpPr>
          <p:cNvPr id="10" name="Card head"/>
          <p:cNvSpPr txBox="1"/>
          <p:nvPr/>
        </p:nvSpPr>
        <p:spPr>
          <a:xfrm>
            <a:off x="3005267"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Performance Beyond Financial Metrics</a:t>
            </a:r>
            <a:endParaRPr lang="en-US" sz="1300" dirty="0"/>
          </a:p>
        </p:txBody>
      </p:sp>
      <p:sp>
        <p:nvSpPr>
          <p:cNvPr id="11" name="Card"/>
          <p:cNvSpPr/>
          <p:nvPr/>
        </p:nvSpPr>
        <p:spPr>
          <a:xfrm>
            <a:off x="5096134" y="1691640"/>
            <a:ext cx="1999427" cy="1310640"/>
          </a:xfrm>
          <a:prstGeom prst="roundRect">
            <a:avLst>
              <a:gd name="adj" fmla="val 5581"/>
            </a:avLst>
          </a:prstGeom>
          <a:solidFill>
            <a:schemeClr val="bg2"/>
          </a:solidFill>
          <a:ln w="9525">
            <a:solidFill>
              <a:srgbClr val="C4CBD8"/>
            </a:solidFill>
            <a:prstDash val="solid"/>
          </a:ln>
        </p:spPr>
      </p:sp>
      <p:sp>
        <p:nvSpPr>
          <p:cNvPr id="12"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§11.3</a:t>
            </a:r>
            <a:endParaRPr lang="en-US" sz="1300" dirty="0"/>
          </a:p>
        </p:txBody>
      </p:sp>
      <p:sp>
        <p:nvSpPr>
          <p:cNvPr id="13" name="Card head"/>
          <p:cNvSpPr txBox="1"/>
          <p:nvPr/>
        </p:nvSpPr>
        <p:spPr>
          <a:xfrm>
            <a:off x="5279014"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Dimensions of Enterprise Performance</a:t>
            </a:r>
            <a:endParaRPr lang="en-US" sz="1300" dirty="0"/>
          </a:p>
        </p:txBody>
      </p:sp>
      <p:sp>
        <p:nvSpPr>
          <p:cNvPr id="14" name="Card"/>
          <p:cNvSpPr/>
          <p:nvPr/>
        </p:nvSpPr>
        <p:spPr>
          <a:xfrm>
            <a:off x="7369881" y="1691640"/>
            <a:ext cx="1999427" cy="1310640"/>
          </a:xfrm>
          <a:prstGeom prst="roundRect">
            <a:avLst>
              <a:gd name="adj" fmla="val 5581"/>
            </a:avLst>
          </a:prstGeom>
          <a:solidFill>
            <a:schemeClr val="bg2"/>
          </a:solidFill>
          <a:ln w="9525">
            <a:solidFill>
              <a:srgbClr val="C4CBD8"/>
            </a:solidFill>
            <a:prstDash val="solid"/>
          </a:ln>
        </p:spPr>
      </p:sp>
      <p:sp>
        <p:nvSpPr>
          <p:cNvPr id="15"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§11.4</a:t>
            </a:r>
            <a:endParaRPr lang="en-US" sz="1300" dirty="0"/>
          </a:p>
        </p:txBody>
      </p:sp>
      <p:sp>
        <p:nvSpPr>
          <p:cNvPr id="16" name="Card head"/>
          <p:cNvSpPr txBox="1"/>
          <p:nvPr/>
        </p:nvSpPr>
        <p:spPr>
          <a:xfrm>
            <a:off x="7552761"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Indicators, Metrics, and Measurement Systems</a:t>
            </a:r>
            <a:endParaRPr lang="en-US" sz="1300" dirty="0"/>
          </a:p>
        </p:txBody>
      </p:sp>
      <p:sp>
        <p:nvSpPr>
          <p:cNvPr id="17" name="Card"/>
          <p:cNvSpPr/>
          <p:nvPr/>
        </p:nvSpPr>
        <p:spPr>
          <a:xfrm>
            <a:off x="9643628" y="1691640"/>
            <a:ext cx="1999427" cy="1310640"/>
          </a:xfrm>
          <a:prstGeom prst="roundRect">
            <a:avLst>
              <a:gd name="adj" fmla="val 5581"/>
            </a:avLst>
          </a:prstGeom>
          <a:solidFill>
            <a:schemeClr val="bg2"/>
          </a:solidFill>
          <a:ln w="9525">
            <a:solidFill>
              <a:srgbClr val="C4CBD8"/>
            </a:solidFill>
            <a:prstDash val="solid"/>
          </a:ln>
        </p:spPr>
      </p:sp>
      <p:sp>
        <p:nvSpPr>
          <p:cNvPr id="18"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§11.5</a:t>
            </a:r>
            <a:endParaRPr lang="en-US" sz="1300" dirty="0"/>
          </a:p>
        </p:txBody>
      </p:sp>
      <p:sp>
        <p:nvSpPr>
          <p:cNvPr id="19" name="Card head"/>
          <p:cNvSpPr txBox="1"/>
          <p:nvPr/>
        </p:nvSpPr>
        <p:spPr>
          <a:xfrm>
            <a:off x="9826508"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Aggregation and Weighting</a:t>
            </a:r>
            <a:endParaRPr lang="en-US" sz="1300" dirty="0"/>
          </a:p>
        </p:txBody>
      </p:sp>
      <p:sp>
        <p:nvSpPr>
          <p:cNvPr id="20" name="Card"/>
          <p:cNvSpPr/>
          <p:nvPr/>
        </p:nvSpPr>
        <p:spPr>
          <a:xfrm>
            <a:off x="548640" y="3276600"/>
            <a:ext cx="1999427" cy="1310640"/>
          </a:xfrm>
          <a:prstGeom prst="roundRect">
            <a:avLst>
              <a:gd name="adj" fmla="val 5581"/>
            </a:avLst>
          </a:prstGeom>
          <a:solidFill>
            <a:schemeClr val="bg2"/>
          </a:solidFill>
          <a:ln w="9525">
            <a:solidFill>
              <a:srgbClr val="C4CBD8"/>
            </a:solidFill>
            <a:prstDash val="solid"/>
          </a:ln>
        </p:spPr>
      </p:sp>
      <p:sp>
        <p:nvSpPr>
          <p:cNvPr id="21" name="Card label"/>
          <p:cNvSpPr txBox="1"/>
          <p:nvPr/>
        </p:nvSpPr>
        <p:spPr>
          <a:xfrm>
            <a:off x="731520"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§11.6</a:t>
            </a:r>
            <a:endParaRPr lang="en-US" sz="1300" dirty="0"/>
          </a:p>
        </p:txBody>
      </p:sp>
      <p:sp>
        <p:nvSpPr>
          <p:cNvPr id="22" name="Card head"/>
          <p:cNvSpPr txBox="1"/>
          <p:nvPr/>
        </p:nvSpPr>
        <p:spPr>
          <a:xfrm>
            <a:off x="731520"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Performance Dependencies</a:t>
            </a:r>
            <a:endParaRPr lang="en-US" sz="1300" dirty="0"/>
          </a:p>
        </p:txBody>
      </p:sp>
      <p:sp>
        <p:nvSpPr>
          <p:cNvPr id="23" name="Card"/>
          <p:cNvSpPr/>
          <p:nvPr/>
        </p:nvSpPr>
        <p:spPr>
          <a:xfrm>
            <a:off x="2822387" y="3276600"/>
            <a:ext cx="1999427" cy="1310640"/>
          </a:xfrm>
          <a:prstGeom prst="roundRect">
            <a:avLst>
              <a:gd name="adj" fmla="val 5581"/>
            </a:avLst>
          </a:prstGeom>
          <a:solidFill>
            <a:schemeClr val="bg2"/>
          </a:solidFill>
          <a:ln w="9525">
            <a:solidFill>
              <a:srgbClr val="C4CBD8"/>
            </a:solidFill>
            <a:prstDash val="solid"/>
          </a:ln>
        </p:spPr>
      </p:sp>
      <p:sp>
        <p:nvSpPr>
          <p:cNvPr id="24" name="Card label"/>
          <p:cNvSpPr txBox="1"/>
          <p:nvPr/>
        </p:nvSpPr>
        <p:spPr>
          <a:xfrm>
            <a:off x="3005267"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§11.7</a:t>
            </a:r>
            <a:endParaRPr lang="en-US" sz="1300" dirty="0"/>
          </a:p>
        </p:txBody>
      </p:sp>
      <p:sp>
        <p:nvSpPr>
          <p:cNvPr id="25" name="Card head"/>
          <p:cNvSpPr txBox="1"/>
          <p:nvPr/>
        </p:nvSpPr>
        <p:spPr>
          <a:xfrm>
            <a:off x="3005267"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Trade-offs and the Performance Frontier</a:t>
            </a:r>
            <a:endParaRPr lang="en-US" sz="1300" dirty="0"/>
          </a:p>
        </p:txBody>
      </p:sp>
      <p:sp>
        <p:nvSpPr>
          <p:cNvPr id="26" name="Card"/>
          <p:cNvSpPr/>
          <p:nvPr/>
        </p:nvSpPr>
        <p:spPr>
          <a:xfrm>
            <a:off x="5096134" y="3276600"/>
            <a:ext cx="1999427" cy="1310640"/>
          </a:xfrm>
          <a:prstGeom prst="roundRect">
            <a:avLst>
              <a:gd name="adj" fmla="val 5581"/>
            </a:avLst>
          </a:prstGeom>
          <a:solidFill>
            <a:schemeClr val="bg2"/>
          </a:solidFill>
          <a:ln w="9525">
            <a:solidFill>
              <a:srgbClr val="C4CBD8"/>
            </a:solidFill>
            <a:prstDash val="solid"/>
          </a:ln>
        </p:spPr>
      </p:sp>
      <p:sp>
        <p:nvSpPr>
          <p:cNvPr id="27" name="Card label"/>
          <p:cNvSpPr txBox="1"/>
          <p:nvPr/>
        </p:nvSpPr>
        <p:spPr>
          <a:xfrm>
            <a:off x="5279014"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§11.8</a:t>
            </a:r>
            <a:endParaRPr lang="en-US" sz="1300" dirty="0"/>
          </a:p>
        </p:txBody>
      </p:sp>
      <p:sp>
        <p:nvSpPr>
          <p:cNvPr id="28" name="Card head"/>
          <p:cNvSpPr txBox="1"/>
          <p:nvPr/>
        </p:nvSpPr>
        <p:spPr>
          <a:xfrm>
            <a:off x="5279014"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Performance Dynamics</a:t>
            </a:r>
            <a:endParaRPr lang="en-US" sz="1300" dirty="0"/>
          </a:p>
        </p:txBody>
      </p:sp>
      <p:sp>
        <p:nvSpPr>
          <p:cNvPr id="29" name="Card"/>
          <p:cNvSpPr/>
          <p:nvPr/>
        </p:nvSpPr>
        <p:spPr>
          <a:xfrm>
            <a:off x="7369881" y="3276600"/>
            <a:ext cx="1999427" cy="1310640"/>
          </a:xfrm>
          <a:prstGeom prst="roundRect">
            <a:avLst>
              <a:gd name="adj" fmla="val 5581"/>
            </a:avLst>
          </a:prstGeom>
          <a:solidFill>
            <a:schemeClr val="bg2"/>
          </a:solidFill>
          <a:ln w="9525">
            <a:solidFill>
              <a:srgbClr val="C4CBD8"/>
            </a:solidFill>
            <a:prstDash val="solid"/>
          </a:ln>
        </p:spPr>
      </p:sp>
      <p:sp>
        <p:nvSpPr>
          <p:cNvPr id="30" name="Card label"/>
          <p:cNvSpPr txBox="1"/>
          <p:nvPr/>
        </p:nvSpPr>
        <p:spPr>
          <a:xfrm>
            <a:off x="7552761"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§11.9</a:t>
            </a:r>
            <a:endParaRPr lang="en-US" sz="1300" dirty="0"/>
          </a:p>
        </p:txBody>
      </p:sp>
      <p:sp>
        <p:nvSpPr>
          <p:cNvPr id="31" name="Card head"/>
          <p:cNvSpPr txBox="1"/>
          <p:nvPr/>
        </p:nvSpPr>
        <p:spPr>
          <a:xfrm>
            <a:off x="7552761"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Consistency of Measurement Systems</a:t>
            </a:r>
            <a:endParaRPr lang="en-US" sz="1300" dirty="0"/>
          </a:p>
        </p:txBody>
      </p:sp>
      <p:sp>
        <p:nvSpPr>
          <p:cNvPr id="32" name="Card"/>
          <p:cNvSpPr/>
          <p:nvPr/>
        </p:nvSpPr>
        <p:spPr>
          <a:xfrm>
            <a:off x="9643628" y="3276600"/>
            <a:ext cx="1999427" cy="1310640"/>
          </a:xfrm>
          <a:prstGeom prst="roundRect">
            <a:avLst>
              <a:gd name="adj" fmla="val 5581"/>
            </a:avLst>
          </a:prstGeom>
          <a:solidFill>
            <a:schemeClr val="tx1"/>
          </a:solidFill>
          <a:ln w="9525">
            <a:solidFill>
              <a:srgbClr val="0F1E3D"/>
            </a:solidFill>
            <a:prstDash val="solid"/>
          </a:ln>
        </p:spPr>
      </p:sp>
      <p:sp>
        <p:nvSpPr>
          <p:cNvPr id="33" name="Card label"/>
          <p:cNvSpPr txBox="1"/>
          <p:nvPr/>
        </p:nvSpPr>
        <p:spPr>
          <a:xfrm>
            <a:off x="9826508"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11.1</a:t>
            </a:r>
            <a:endParaRPr lang="en-US" sz="1300" dirty="0"/>
          </a:p>
        </p:txBody>
      </p:sp>
      <p:sp>
        <p:nvSpPr>
          <p:cNvPr id="34" name="Card head"/>
          <p:cNvSpPr txBox="1"/>
          <p:nvPr/>
        </p:nvSpPr>
        <p:spPr>
          <a:xfrm>
            <a:off x="9826508" y="3733800"/>
            <a:ext cx="1633667" cy="652272"/>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Who Really Chose Digital?</a:t>
            </a:r>
            <a:endParaRPr lang="en-US" sz="1300" dirty="0"/>
          </a:p>
        </p:txBody>
      </p:sp>
      <p:sp>
        <p:nvSpPr>
          <p:cNvPr id="35" name="Card"/>
          <p:cNvSpPr/>
          <p:nvPr/>
        </p:nvSpPr>
        <p:spPr>
          <a:xfrm>
            <a:off x="548640" y="4861560"/>
            <a:ext cx="1999427" cy="1310640"/>
          </a:xfrm>
          <a:prstGeom prst="roundRect">
            <a:avLst>
              <a:gd name="adj" fmla="val 5581"/>
            </a:avLst>
          </a:prstGeom>
          <a:solidFill>
            <a:schemeClr val="bg2"/>
          </a:solidFill>
          <a:ln w="9525">
            <a:solidFill>
              <a:srgbClr val="C4CBD8"/>
            </a:solidFill>
            <a:prstDash val="solid"/>
          </a:ln>
        </p:spPr>
      </p:sp>
      <p:sp>
        <p:nvSpPr>
          <p:cNvPr id="36" name="Card label"/>
          <p:cNvSpPr txBox="1"/>
          <p:nvPr/>
        </p:nvSpPr>
        <p:spPr>
          <a:xfrm>
            <a:off x="731520" y="498957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1.11</a:t>
            </a:r>
            <a:endParaRPr lang="en-US" sz="1300" dirty="0"/>
          </a:p>
        </p:txBody>
      </p:sp>
      <p:sp>
        <p:nvSpPr>
          <p:cNvPr id="37" name="Card head"/>
          <p:cNvSpPr txBox="1"/>
          <p:nvPr/>
        </p:nvSpPr>
        <p:spPr>
          <a:xfrm>
            <a:off x="731520" y="531876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Auditing Meridian's Scorecard</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§11.1 · WHY PERFORMANCE NEEDS AN ARCHITECTURE</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Measurement hazards are mathematical properties</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“One metric crowds out the rest”</a:t>
            </a:r>
            <a:endParaRPr lang="en-US" sz="1300" dirty="0"/>
          </a:p>
        </p:txBody>
      </p:sp>
      <p:sp>
        <p:nvSpPr>
          <p:cNvPr id="7" name="Card head"/>
          <p:cNvSpPr txBox="1"/>
          <p:nvPr/>
        </p:nvSpPr>
        <p:spPr>
          <a:xfrm>
            <a:off x="731520"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 merged indicator loses information before any gaming</a:t>
            </a:r>
            <a:endParaRPr lang="en-US" sz="1700" dirty="0"/>
          </a:p>
        </p:txBody>
      </p:sp>
      <p:sp>
        <p:nvSpPr>
          <p:cNvPr id="8" name="Card text"/>
          <p:cNvSpPr txBox="1"/>
          <p:nvPr/>
        </p:nvSpPr>
        <p:spPr>
          <a:xfrm>
            <a:off x="731520"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11.1(iii)</a:t>
            </a:r>
            <a:endParaRPr lang="en-US" sz="14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scorecard ratified the decision”</a:t>
            </a:r>
            <a:endParaRPr lang="en-US" sz="1300" dirty="0"/>
          </a:p>
        </p:txBody>
      </p:sp>
      <p:sp>
        <p:nvSpPr>
          <p:cNvPr id="11" name="Card head"/>
          <p:cNvSpPr txBox="1"/>
          <p:nvPr/>
        </p:nvSpPr>
        <p:spPr>
          <a:xfrm>
            <a:off x="4521098"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Between undominated options, the weights choose</a:t>
            </a:r>
            <a:endParaRPr lang="en-US" sz="1700" dirty="0"/>
          </a:p>
        </p:txBody>
      </p:sp>
      <p:sp>
        <p:nvSpPr>
          <p:cNvPr id="12" name="Card text"/>
          <p:cNvSpPr txBox="1"/>
          <p:nvPr/>
        </p:nvSpPr>
        <p:spPr>
          <a:xfrm>
            <a:off x="4521098"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11.2(ii)</a:t>
            </a:r>
            <a:endParaRPr lang="en-US" sz="1400" dirty="0"/>
          </a:p>
        </p:txBody>
      </p:sp>
      <p:sp>
        <p:nvSpPr>
          <p:cNvPr id="13" name="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new peer group reversed the ranks”</a:t>
            </a:r>
            <a:endParaRPr lang="en-US" sz="1300" dirty="0"/>
          </a:p>
        </p:txBody>
      </p:sp>
      <p:sp>
        <p:nvSpPr>
          <p:cNvPr id="15" name="Card head"/>
          <p:cNvSpPr txBox="1"/>
          <p:nvPr/>
        </p:nvSpPr>
        <p:spPr>
          <a:xfrm>
            <a:off x="8310677"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Normalization is a second set of weights</a:t>
            </a:r>
            <a:endParaRPr lang="en-US" sz="1700" dirty="0"/>
          </a:p>
        </p:txBody>
      </p:sp>
      <p:sp>
        <p:nvSpPr>
          <p:cNvPr id="16" name="Card text"/>
          <p:cNvSpPr txBox="1"/>
          <p:nvPr/>
        </p:nvSpPr>
        <p:spPr>
          <a:xfrm>
            <a:off x="8310677"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11.2(iii)</a:t>
            </a:r>
            <a:endParaRPr lang="en-US" sz="1400" dirty="0"/>
          </a:p>
        </p:txBody>
      </p:sp>
      <p:sp>
        <p:nvSpPr>
          <p:cNvPr id="17" name="Card"/>
          <p:cNvSpPr/>
          <p:nvPr/>
        </p:nvSpPr>
        <p:spPr>
          <a:xfrm>
            <a:off x="548640" y="3749040"/>
            <a:ext cx="3515258"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dashboard punished the program”</a:t>
            </a:r>
            <a:endParaRPr lang="en-US" sz="1300" dirty="0"/>
          </a:p>
        </p:txBody>
      </p:sp>
      <p:sp>
        <p:nvSpPr>
          <p:cNvPr id="19" name="Card head"/>
          <p:cNvSpPr txBox="1"/>
          <p:nvPr/>
        </p:nvSpPr>
        <p:spPr>
          <a:xfrm>
            <a:off x="731520" y="42062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Transformation is measured as underperformance first</a:t>
            </a:r>
            <a:endParaRPr lang="en-US" sz="1700" dirty="0"/>
          </a:p>
        </p:txBody>
      </p:sp>
      <p:sp>
        <p:nvSpPr>
          <p:cNvPr id="20" name="Card text"/>
          <p:cNvSpPr txBox="1"/>
          <p:nvPr/>
        </p:nvSpPr>
        <p:spPr>
          <a:xfrm>
            <a:off x="731520" y="50840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11.3(iii)</a:t>
            </a:r>
            <a:endParaRPr lang="en-US" sz="1400" dirty="0"/>
          </a:p>
        </p:txBody>
      </p:sp>
      <p:sp>
        <p:nvSpPr>
          <p:cNvPr id="21" name="Card"/>
          <p:cNvSpPr/>
          <p:nvPr/>
        </p:nvSpPr>
        <p:spPr>
          <a:xfrm>
            <a:off x="4338218" y="3749040"/>
            <a:ext cx="3515258"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targets were agreed pair by pair”</a:t>
            </a:r>
            <a:endParaRPr lang="en-US" sz="1300" dirty="0"/>
          </a:p>
        </p:txBody>
      </p:sp>
      <p:sp>
        <p:nvSpPr>
          <p:cNvPr id="23" name="Card head"/>
          <p:cNvSpPr txBox="1"/>
          <p:nvPr/>
        </p:nvSpPr>
        <p:spPr>
          <a:xfrm>
            <a:off x="4521098" y="42062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Around a cycle, pairwise agreement is not joint feasibility</a:t>
            </a:r>
            <a:endParaRPr lang="en-US" sz="1700" dirty="0"/>
          </a:p>
        </p:txBody>
      </p:sp>
      <p:sp>
        <p:nvSpPr>
          <p:cNvPr id="24" name="Card text"/>
          <p:cNvSpPr txBox="1"/>
          <p:nvPr/>
        </p:nvSpPr>
        <p:spPr>
          <a:xfrm>
            <a:off x="4521098" y="50840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11.5(ii)</a:t>
            </a:r>
            <a:endParaRPr lang="en-US" sz="1400" dirty="0"/>
          </a:p>
        </p:txBody>
      </p:sp>
      <p:sp>
        <p:nvSpPr>
          <p:cNvPr id="25" name="Card"/>
          <p:cNvSpPr/>
          <p:nvPr/>
        </p:nvSpPr>
        <p:spPr>
          <a:xfrm>
            <a:off x="8127797" y="3749040"/>
            <a:ext cx="3515258" cy="1783080"/>
          </a:xfrm>
          <a:prstGeom prst="roundRect">
            <a:avLst>
              <a:gd name="adj" fmla="val 4103"/>
            </a:avLst>
          </a:prstGeom>
          <a:solidFill>
            <a:schemeClr val="tx1"/>
          </a:solidFill>
          <a:ln w="9525">
            <a:solidFill>
              <a:srgbClr val="0F1E3D"/>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“Every division improved its margin”</a:t>
            </a:r>
            <a:endParaRPr lang="en-US" sz="1300" dirty="0"/>
          </a:p>
        </p:txBody>
      </p:sp>
      <p:sp>
        <p:nvSpPr>
          <p:cNvPr id="27" name="Card head"/>
          <p:cNvSpPr txBox="1"/>
          <p:nvPr/>
        </p:nvSpPr>
        <p:spPr>
          <a:xfrm>
            <a:off x="8310677" y="4206240"/>
            <a:ext cx="3149498" cy="804672"/>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Ratios do not average: the group can still fall</a:t>
            </a:r>
            <a:endParaRPr lang="en-US" sz="1700" dirty="0"/>
          </a:p>
        </p:txBody>
      </p:sp>
      <p:sp>
        <p:nvSpPr>
          <p:cNvPr id="28" name="Card text"/>
          <p:cNvSpPr txBox="1"/>
          <p:nvPr/>
        </p:nvSpPr>
        <p:spPr>
          <a:xfrm>
            <a:off x="8310677" y="5084064"/>
            <a:ext cx="3149498" cy="320040"/>
          </a:xfrm>
          <a:prstGeom prst="rect">
            <a:avLst/>
          </a:prstGeom>
          <a:noFill/>
          <a:ln/>
        </p:spPr>
        <p:txBody>
          <a:bodyPr wrap="square" lIns="0" tIns="0" rIns="0" bIns="0" rtlCol="0" anchor="t"/>
          <a:lstStyle/>
          <a:p>
            <a:pPr indent="0" marL="0">
              <a:buNone/>
            </a:pPr>
            <a:r>
              <a:rPr lang="en-US" sz="1400" dirty="0">
                <a:solidFill>
                  <a:schemeClr val="bg2"/>
                </a:solidFill>
              </a:rPr>
              <a:t>Theorem 11.5(i)</a:t>
            </a:r>
            <a:endParaRPr lang="en-US" sz="14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Here they are properties of the measurement apparatus: they can be proved, and therefore designed around.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§11.2 · DEFINITION 11.1 · PROPOSITION 11.1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Performance is a flow, capital the stock behind it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11.1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Performance</a:t>
            </a:r>
            <a:endParaRPr lang="en-US" sz="2100" dirty="0"/>
          </a:p>
        </p:txBody>
      </p:sp>
      <p:pic>
        <p:nvPicPr>
          <p:cNvPr id="8" name="Equation" descr="Equation: \mathbf{P}_k \;=\; \Phi(\mathbf{x}_k, \mathbf{u}_k)">    </p:cNvPr>
          <p:cNvPicPr>
            <a:picLocks noChangeAspect="1"/>
          </p:cNvPicPr>
          <p:nvPr/>
        </p:nvPicPr>
        <p:blipFill>
          <a:blip r:embed="rId1"/>
          <a:stretch>
            <a:fillRect/>
          </a:stretch>
        </p:blipFill>
        <p:spPr>
          <a:xfrm>
            <a:off x="822960" y="2743200"/>
            <a:ext cx="2441526" cy="502920"/>
          </a:xfrm>
          <a:prstGeom prst="rect">
            <a:avLst/>
          </a:prstGeom>
        </p:spPr>
      </p:pic>
      <p:sp>
        <p:nvSpPr>
          <p:cNvPr id="9" name="Bullets"/>
          <p:cNvSpPr txBox="1"/>
          <p:nvPr/>
        </p:nvSpPr>
        <p:spPr>
          <a:xfrm>
            <a:off x="822960" y="3410712"/>
            <a:ext cx="5394960" cy="262432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Flows, not stocks.</a:t>
            </a:r>
            <a:r>
              <a:rPr lang="en-US" sz="1500" dirty="0">
                <a:solidFill>
                  <a:schemeClr val="tx1"/>
                </a:solidFill>
              </a:rPr>
              <a:t> Readings defined per period, as functions of the state and the decisions</a:t>
            </a:r>
            <a:endParaRPr lang="en-US" sz="1500" dirty="0"/>
          </a:p>
          <a:p>
            <a:pPr marL="228600" indent="-228600">
              <a:spcAft>
                <a:spcPts val="600"/>
              </a:spcAft>
              <a:buSzPct val="100000"/>
              <a:buChar char="•"/>
            </a:pPr>
            <a:r>
              <a:rPr lang="en-US" sz="1500" dirty="0">
                <a:solidFill>
                  <a:schemeClr val="tx1"/>
                </a:solidFill>
              </a:rPr>
              <a:t>Consumed by the period that produces it; what it leaves behind, it leaves as changes in state and capital</a:t>
            </a:r>
            <a:endParaRPr lang="en-US" sz="1500" dirty="0"/>
          </a:p>
          <a:p>
            <a:pPr marL="228600" indent="-228600">
              <a:spcAft>
                <a:spcPts val="600"/>
              </a:spcAft>
              <a:buSzPct val="100000"/>
              <a:buChar char="•"/>
            </a:pPr>
            <a:r>
              <a:rPr lang="en-US" sz="1500" b="1" dirty="0">
                <a:solidFill>
                  <a:schemeClr val="tx1"/>
                </a:solidFill>
              </a:rPr>
              <a:t>Proposition 11.1.</a:t>
            </a:r>
            <a:r>
              <a:rPr lang="en-US" sz="1500" dirty="0">
                <a:solidFill>
                  <a:schemeClr val="tx1"/>
                </a:solidFill>
              </a:rPr>
              <a:t> No single financial measure is complete for the questions a board must answer</a:t>
            </a:r>
            <a:endParaRPr lang="en-US" sz="1500" dirty="0"/>
          </a:p>
          <a:p>
            <a:pPr marL="228600" indent="-228600">
              <a:spcAft>
                <a:spcPts val="600"/>
              </a:spcAft>
              <a:buSzPct val="100000"/>
              <a:buChar char="•"/>
            </a:pPr>
            <a:r>
              <a:rPr lang="en-US" sz="1500" b="1" dirty="0">
                <a:solidFill>
                  <a:schemeClr val="tx1"/>
                </a:solidFill>
              </a:rPr>
              <a:t>Definition 11.2.</a:t>
            </a:r>
            <a:r>
              <a:rPr lang="en-US" sz="1500" dirty="0">
                <a:solidFill>
                  <a:schemeClr val="tx1"/>
                </a:solidFill>
              </a:rPr>
              <a:t> The EPA declares dimensions, measurement mappings, and the weights and rules that combine them</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Table 5.2: efficiency, ROIC and market share are performance; liquidity and capability are capital</a:t>
            </a:r>
            <a:endParaRPr lang="en-US" sz="1600" dirty="0"/>
          </a:p>
          <a:p>
            <a:pPr marL="228600" indent="-228600">
              <a:spcAft>
                <a:spcPts val="800"/>
              </a:spcAft>
              <a:buSzPct val="100000"/>
              <a:buChar char="•"/>
            </a:pPr>
            <a:r>
              <a:rPr lang="en-US" sz="1600" dirty="0">
                <a:solidFill>
                  <a:schemeClr val="tx1"/>
                </a:solidFill>
              </a:rPr>
              <a:t>Meridian: EBITDA about $496m, liquidity $0.62bn; a twin: the same EBITDA, $0.45bn</a:t>
            </a:r>
            <a:endParaRPr lang="en-US" sz="1600" dirty="0"/>
          </a:p>
          <a:p>
            <a:pPr marL="228600" indent="-228600">
              <a:spcAft>
                <a:spcPts val="800"/>
              </a:spcAft>
              <a:buSzPct val="100000"/>
              <a:buChar char="•"/>
            </a:pPr>
            <a:r>
              <a:rPr lang="en-US" sz="1600" dirty="0">
                <a:solidFill>
                  <a:schemeClr val="tx1"/>
                </a:solidFill>
              </a:rPr>
              <a:t>A $0.15bn shock leaves Meridian at $0.47bn, above the $0.35bn floor, and the twin at $0.30bn, below it</a:t>
            </a:r>
            <a:endParaRPr lang="en-US" sz="1600" dirty="0"/>
          </a:p>
          <a:p>
            <a:pPr marL="228600" indent="-228600">
              <a:spcAft>
                <a:spcPts val="800"/>
              </a:spcAft>
              <a:buSzPct val="100000"/>
              <a:buChar char="•"/>
            </a:pPr>
            <a:r>
              <a:rPr lang="en-US" sz="1600" dirty="0">
                <a:solidFill>
                  <a:schemeClr val="tx1"/>
                </a:solidFill>
              </a:rPr>
              <a:t>Same financial performance, different resilience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§11.3 · TABLE 11.2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Ten dimensions, each read off its support</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83924"/>
                <a:gridCol w="4584469"/>
                <a:gridCol w="4126022"/>
              </a:tblGrid>
              <a:tr h="3611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Dimension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What it measures per period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Sample indicators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Financial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earnings, cash, returns on capital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margin, ROIC, free cash flow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Operational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throughput, quality, delivery, cost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equipment effectiveness, defects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Strategic</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position gained: share, options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share change, win rate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Human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capability applied and grown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output per employee, retention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Technological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platform uptime and speed of change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availability, cycle time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Innovation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validated novelty shipped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new-product revenue share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Governance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quality of decisions and controls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audit findings, incidents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Environmental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footprint per unit of output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intensity metrics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Resilience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shock absorption, shown or ready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recovery half-life, buffer days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Sustainability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above, without depleting capital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Definition 11.11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788152"/>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The ten working dimensions of Equation 11.2 (Definition 11.3), each subject to the proxy contract of Chapter 4. As with capital, the list is a modeling choice.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§11.4 · DEFINITIONS 11.5–11.6 · THEOREM 11.1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Information is lost before anyone games it</a:t>
            </a:r>
            <a:endParaRPr lang="en-US" sz="3200" dirty="0"/>
          </a:p>
        </p:txBody>
      </p:sp>
      <p:sp>
        <p:nvSpPr>
          <p:cNvPr id="5" name="Result card"/>
          <p:cNvSpPr/>
          <p:nvPr/>
        </p:nvSpPr>
        <p:spPr>
          <a:xfrm>
            <a:off x="548640" y="1691640"/>
            <a:ext cx="694944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4008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11.1</a:t>
            </a:r>
            <a:endParaRPr lang="en-US" sz="1200" dirty="0"/>
          </a:p>
        </p:txBody>
      </p:sp>
      <p:sp>
        <p:nvSpPr>
          <p:cNvPr id="7" name="Text 4"/>
          <p:cNvSpPr txBox="1"/>
          <p:nvPr/>
        </p:nvSpPr>
        <p:spPr>
          <a:xfrm>
            <a:off x="822960" y="2194560"/>
            <a:ext cx="640080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Performance Representation Theorem</a:t>
            </a:r>
            <a:endParaRPr lang="en-US" sz="2100" dirty="0"/>
          </a:p>
        </p:txBody>
      </p:sp>
      <p:sp>
        <p:nvSpPr>
          <p:cNvPr id="8" name="Bullets"/>
          <p:cNvSpPr txBox="1"/>
          <p:nvPr/>
        </p:nvSpPr>
        <p:spPr>
          <a:xfrm>
            <a:off x="822960" y="2743200"/>
            <a:ext cx="640080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Well defined.</a:t>
            </a:r>
            <a:r>
              <a:rPr lang="en-US" sz="1500" dirty="0">
                <a:solidFill>
                  <a:schemeClr val="tx1"/>
                </a:solidFill>
              </a:rPr>
              <a:t> Once its performance function is declared, performance is defined along every path, planned or uncertain</a:t>
            </a:r>
            <a:endParaRPr lang="en-US" sz="1500" dirty="0"/>
          </a:p>
          <a:p>
            <a:pPr marL="228600" indent="-228600">
              <a:spcAft>
                <a:spcPts val="600"/>
              </a:spcAft>
              <a:buSzPct val="100000"/>
              <a:buChar char="•"/>
            </a:pPr>
            <a:r>
              <a:rPr lang="en-US" sz="1500" b="1" dirty="0">
                <a:solidFill>
                  <a:schemeClr val="tx1"/>
                </a:solidFill>
              </a:rPr>
              <a:t>(ii) Read off the state.</a:t>
            </a:r>
            <a:r>
              <a:rPr lang="en-US" sz="1500" dirty="0">
                <a:solidFill>
                  <a:schemeClr val="tx1"/>
                </a:solidFill>
              </a:rPr>
              <a:t> A dimension that reads more than financial flows cannot be reproduced from them</a:t>
            </a:r>
            <a:endParaRPr lang="en-US" sz="1500" dirty="0"/>
          </a:p>
          <a:p>
            <a:pPr marL="228600" indent="-228600">
              <a:spcAft>
                <a:spcPts val="600"/>
              </a:spcAft>
              <a:buSzPct val="100000"/>
              <a:buChar char="•"/>
            </a:pPr>
            <a:r>
              <a:rPr lang="en-US" sz="1500" b="1" dirty="0">
                <a:solidFill>
                  <a:schemeClr val="tx1"/>
                </a:solidFill>
              </a:rPr>
              <a:t>(iii) What is measured versus what measures it.</a:t>
            </a:r>
            <a:r>
              <a:rPr lang="en-US" sz="1500" dirty="0">
                <a:solidFill>
                  <a:schemeClr val="tx1"/>
                </a:solidFill>
              </a:rPr>
              <a:t> An indicator that merges levels the company ranks differently can choose the worse</a:t>
            </a:r>
            <a:endParaRPr lang="en-US" sz="1500" dirty="0"/>
          </a:p>
          <a:p>
            <a:pPr marL="228600" indent="-228600">
              <a:spcAft>
                <a:spcPts val="600"/>
              </a:spcAft>
              <a:buSzPct val="100000"/>
              <a:buChar char="•"/>
            </a:pPr>
            <a:r>
              <a:rPr lang="en-US" sz="1500" b="1" dirty="0">
                <a:solidFill>
                  <a:schemeClr val="tx1"/>
                </a:solidFill>
              </a:rPr>
              <a:t>Definitions 11.5–11.6.</a:t>
            </a:r>
            <a:r>
              <a:rPr lang="en-US" sz="1500" dirty="0">
                <a:solidFill>
                  <a:schemeClr val="tx1"/>
                </a:solidFill>
              </a:rPr>
              <a:t> An indicator estimates a dimension with a declared error; a metric adds a declared scale</a:t>
            </a:r>
            <a:endParaRPr lang="en-US" sz="1500" dirty="0"/>
          </a:p>
        </p:txBody>
      </p:sp>
      <p:sp>
        <p:nvSpPr>
          <p:cNvPr id="9" name="Text 6"/>
          <p:cNvSpPr txBox="1"/>
          <p:nvPr/>
        </p:nvSpPr>
        <p:spPr>
          <a:xfrm>
            <a:off x="7909560" y="1737360"/>
            <a:ext cx="3733495" cy="365760"/>
          </a:xfrm>
          <a:prstGeom prst="rect">
            <a:avLst/>
          </a:prstGeom>
          <a:noFill/>
          <a:ln/>
        </p:spPr>
        <p:txBody>
          <a:bodyPr wrap="square" lIns="0" tIns="0" rIns="0" bIns="0" rtlCol="0" anchor="ctr"/>
          <a:lstStyle/>
          <a:p>
            <a:pPr indent="0" marL="0">
              <a:buNone/>
            </a:pPr>
            <a:r>
              <a:rPr lang="en-US" sz="1600" b="1" dirty="0">
                <a:solidFill>
                  <a:schemeClr val="accent2"/>
                </a:solidFill>
              </a:rPr>
              <a:t>Two design rules</a:t>
            </a:r>
            <a:endParaRPr lang="en-US" sz="1600" dirty="0"/>
          </a:p>
        </p:txBody>
      </p:sp>
      <p:sp>
        <p:nvSpPr>
          <p:cNvPr id="10" name="Bullets"/>
          <p:cNvSpPr txBox="1"/>
          <p:nvPr/>
        </p:nvSpPr>
        <p:spPr>
          <a:xfrm>
            <a:off x="7909560" y="2194560"/>
            <a:ext cx="373349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Cover the supports:</a:t>
            </a:r>
            <a:r>
              <a:rPr lang="en-US" sz="1500" dirty="0">
                <a:solidFill>
                  <a:schemeClr val="tx1"/>
                </a:solidFill>
              </a:rPr>
              <a:t> every dimension needs an indicator that reads its support</a:t>
            </a:r>
            <a:endParaRPr lang="en-US" sz="1500" dirty="0"/>
          </a:p>
          <a:p>
            <a:pPr marL="228600" indent="-228600">
              <a:spcAft>
                <a:spcPts val="800"/>
              </a:spcAft>
              <a:buSzPct val="100000"/>
              <a:buChar char="•"/>
            </a:pPr>
            <a:r>
              <a:rPr lang="en-US" sz="1500" b="1" dirty="0">
                <a:solidFill>
                  <a:schemeClr val="tx1"/>
                </a:solidFill>
              </a:rPr>
              <a:t>Mind the merging:</a:t>
            </a:r>
            <a:r>
              <a:rPr lang="en-US" sz="1500" dirty="0">
                <a:solidFill>
                  <a:schemeClr val="tx1"/>
                </a:solidFill>
              </a:rPr>
              <a:t> one indicator per dimension is an information bottleneck</a:t>
            </a:r>
            <a:endParaRPr lang="en-US" sz="1500" dirty="0"/>
          </a:p>
          <a:p>
            <a:pPr marL="228600" indent="-228600">
              <a:spcAft>
                <a:spcPts val="800"/>
              </a:spcAft>
              <a:buSzPct val="100000"/>
              <a:buChar char="•"/>
            </a:pPr>
            <a:r>
              <a:rPr lang="en-US" sz="1500" dirty="0">
                <a:solidFill>
                  <a:schemeClr val="tx1"/>
                </a:solidFill>
              </a:rPr>
              <a:t>Gaming comes second: targets move the operation where validation never went</a:t>
            </a:r>
            <a:endParaRPr lang="en-US" sz="1500" dirty="0"/>
          </a:p>
          <a:p>
            <a:pPr marL="228600" indent="-228600">
              <a:spcAft>
                <a:spcPts val="800"/>
              </a:spcAft>
              <a:buSzPct val="100000"/>
              <a:buChar char="•"/>
            </a:pPr>
            <a:r>
              <a:rPr lang="en-US" sz="1500" dirty="0">
                <a:solidFill>
                  <a:schemeClr val="tx1"/>
                </a:solidFill>
              </a:rPr>
              <a:t>When a measure becomes a target, it stops measuring what it measured</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§11.5 · THEOREM 11.2 · TABLE 11.3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Between undominated options, the weights choose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11.2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Performance Aggregation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Additive indices are weighted sums</a:t>
            </a:r>
            <a:r>
              <a:rPr lang="en-US" sz="1500" dirty="0">
                <a:solidFill>
                  <a:schemeClr val="tx1"/>
                </a:solidFill>
              </a:rPr>
              <a:t> with nonnegative weights: additivity is not a style of index</a:t>
            </a:r>
            <a:endParaRPr lang="en-US" sz="1500" dirty="0"/>
          </a:p>
          <a:p>
            <a:pPr marL="228600" indent="-228600">
              <a:spcAft>
                <a:spcPts val="600"/>
              </a:spcAft>
              <a:buSzPct val="100000"/>
              <a:buChar char="•"/>
            </a:pPr>
            <a:r>
              <a:rPr lang="en-US" sz="1500" b="1" dirty="0">
                <a:solidFill>
                  <a:schemeClr val="tx1"/>
                </a:solidFill>
              </a:rPr>
              <a:t>(ii) The weights choose.</a:t>
            </a:r>
            <a:r>
              <a:rPr lang="en-US" sz="1500" dirty="0">
                <a:solidFill>
                  <a:schemeClr val="tx1"/>
                </a:solidFill>
              </a:rPr>
              <a:t> Between options that do not dominate each other, some positive weights favor each</a:t>
            </a:r>
            <a:endParaRPr lang="en-US" sz="1500" dirty="0"/>
          </a:p>
          <a:p>
            <a:pPr marL="228600" indent="-228600">
              <a:spcAft>
                <a:spcPts val="600"/>
              </a:spcAft>
              <a:buSzPct val="100000"/>
              <a:buChar char="•"/>
            </a:pPr>
            <a:r>
              <a:rPr lang="en-US" sz="1500" b="1" dirty="0">
                <a:solidFill>
                  <a:schemeClr val="tx1"/>
                </a:solidFill>
              </a:rPr>
              <a:t>(iii) Normalization is a second set of weights:</a:t>
            </a:r>
            <a:r>
              <a:rPr lang="en-US" sz="1500" dirty="0">
                <a:solidFill>
                  <a:schemeClr val="tx1"/>
                </a:solidFill>
              </a:rPr>
              <a:t> rescaling a dimension multiplies its effective weight</a:t>
            </a:r>
            <a:endParaRPr lang="en-US" sz="1500" dirty="0"/>
          </a:p>
          <a:p>
            <a:pPr marL="228600" indent="-228600">
              <a:spcAft>
                <a:spcPts val="600"/>
              </a:spcAft>
              <a:buSzPct val="100000"/>
              <a:buChar char="•"/>
            </a:pPr>
            <a:r>
              <a:rPr lang="en-US" sz="1500" b="1" dirty="0">
                <a:solidFill>
                  <a:schemeClr val="tx1"/>
                </a:solidFill>
              </a:rPr>
              <a:t>(iv) The rule sets compensability:</a:t>
            </a:r>
            <a:r>
              <a:rPr lang="en-US" sz="1500" dirty="0">
                <a:solidFill>
                  <a:schemeClr val="tx1"/>
                </a:solidFill>
              </a:rPr>
              <a:t> how far strength in one dimension may offset weakness in another</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Table 11.3: may finance excuse weak safety?</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Weighted average:</a:t>
            </a:r>
            <a:r>
              <a:rPr lang="en-US" sz="1600" dirty="0">
                <a:solidFill>
                  <a:schemeClr val="tx1"/>
                </a:solidFill>
              </a:rPr>
              <a:t> yes, at a fixed rate</a:t>
            </a:r>
            <a:endParaRPr lang="en-US" sz="1600" dirty="0"/>
          </a:p>
          <a:p>
            <a:pPr marL="228600" indent="-228600">
              <a:spcAft>
                <a:spcPts val="800"/>
              </a:spcAft>
              <a:buSzPct val="100000"/>
              <a:buChar char="•"/>
            </a:pPr>
            <a:r>
              <a:rPr lang="en-US" sz="1600" b="1" dirty="0">
                <a:solidFill>
                  <a:schemeClr val="tx1"/>
                </a:solidFill>
              </a:rPr>
              <a:t>Geometric mean:</a:t>
            </a:r>
            <a:r>
              <a:rPr lang="en-US" sz="1600" dirty="0">
                <a:solidFill>
                  <a:schemeClr val="tx1"/>
                </a:solidFill>
              </a:rPr>
              <a:t> less and less; a zero on any dimension zeroes the index</a:t>
            </a:r>
            <a:endParaRPr lang="en-US" sz="1600" dirty="0"/>
          </a:p>
          <a:p>
            <a:pPr marL="228600" indent="-228600">
              <a:spcAft>
                <a:spcPts val="800"/>
              </a:spcAft>
              <a:buSzPct val="100000"/>
              <a:buChar char="•"/>
            </a:pPr>
            <a:r>
              <a:rPr lang="en-US" sz="1600" b="1" dirty="0">
                <a:solidFill>
                  <a:schemeClr val="tx1"/>
                </a:solidFill>
              </a:rPr>
              <a:t>Minimum:</a:t>
            </a:r>
            <a:r>
              <a:rPr lang="en-US" sz="1600" dirty="0">
                <a:solidFill>
                  <a:schemeClr val="tx1"/>
                </a:solidFill>
              </a:rPr>
              <a:t> never; the weakest link governs</a:t>
            </a:r>
            <a:endParaRPr lang="en-US" sz="1600" dirty="0"/>
          </a:p>
          <a:p>
            <a:pPr marL="228600" indent="-228600">
              <a:spcAft>
                <a:spcPts val="800"/>
              </a:spcAft>
              <a:buSzPct val="100000"/>
              <a:buChar char="•"/>
            </a:pPr>
            <a:r>
              <a:rPr lang="en-US" sz="1600" b="1" dirty="0">
                <a:solidFill>
                  <a:schemeClr val="tx1"/>
                </a:solidFill>
              </a:rPr>
              <a:t>Lexicographic gate:</a:t>
            </a:r>
            <a:r>
              <a:rPr lang="en-US" sz="1600" dirty="0">
                <a:solidFill>
                  <a:schemeClr val="tx1"/>
                </a:solidFill>
              </a:rPr>
              <a:t> not until the safety tier passes, the mathematics of “non-negotiable”</a:t>
            </a:r>
            <a:endParaRPr lang="en-US" sz="1600" dirty="0"/>
          </a:p>
          <a:p>
            <a:pPr marL="228600" indent="-228600">
              <a:spcAft>
                <a:spcPts val="800"/>
              </a:spcAft>
              <a:buSzPct val="100000"/>
              <a:buChar char="•"/>
            </a:pPr>
            <a:r>
              <a:rPr lang="en-US" sz="1600" dirty="0">
                <a:solidFill>
                  <a:schemeClr val="tx1"/>
                </a:solidFill>
              </a:rPr>
              <a:t>Declare the weights, the normalization and its reference group, the rule and the gates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§11.5 · FIGURE 11.1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Meridian's ranking sits 1.6 points from a tie</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At equal weights digital leads restructuring by one point, 47.1 to 46.1</a:t>
            </a:r>
            <a:endParaRPr lang="en-US" sz="1600" dirty="0"/>
          </a:p>
          <a:p>
            <a:pPr marL="228600" indent="-228600">
              <a:spcAft>
                <a:spcPts val="800"/>
              </a:spcAft>
              <a:buSzPct val="100000"/>
              <a:buChar char="•"/>
            </a:pPr>
            <a:r>
              <a:rPr lang="en-US" sz="1600" dirty="0">
                <a:solidFill>
                  <a:schemeClr val="tx1"/>
                </a:solidFill>
              </a:rPr>
              <a:t>Each point of weight moved from technology to liquidity cuts the lead by 0.64</a:t>
            </a:r>
            <a:endParaRPr lang="en-US" sz="1600" dirty="0"/>
          </a:p>
          <a:p>
            <a:pPr marL="228600" indent="-228600">
              <a:spcAft>
                <a:spcPts val="800"/>
              </a:spcAft>
              <a:buSzPct val="100000"/>
              <a:buChar char="•"/>
            </a:pPr>
            <a:r>
              <a:rPr lang="en-US" sz="1600" dirty="0">
                <a:solidFill>
                  <a:schemeClr val="tx1"/>
                </a:solidFill>
              </a:rPr>
              <a:t>After </a:t>
            </a:r>
            <a:r>
              <a:rPr lang="en-US" sz="1600" b="1" dirty="0">
                <a:solidFill>
                  <a:schemeClr val="tx1"/>
                </a:solidFill>
              </a:rPr>
              <a:t>1.6 points</a:t>
            </a:r>
            <a:r>
              <a:rPr lang="en-US" sz="1600" dirty="0">
                <a:solidFill>
                  <a:schemeClr val="tx1"/>
                </a:solidFill>
              </a:rPr>
              <a:t> the two tie; after 2, restructuring leads, 47.7 to 47.5</a:t>
            </a:r>
            <a:endParaRPr lang="en-US" sz="1600" dirty="0"/>
          </a:p>
          <a:p>
            <a:pPr marL="228600" indent="-228600">
              <a:spcAft>
                <a:spcPts val="800"/>
              </a:spcAft>
              <a:buSzPct val="100000"/>
              <a:buChar char="•"/>
            </a:pPr>
            <a:r>
              <a:rPr lang="en-US" sz="1600" dirty="0">
                <a:solidFill>
                  <a:schemeClr val="tx1"/>
                </a:solidFill>
              </a:rPr>
              <a:t>Over all weightings each leader wins about half; the turnaround about </a:t>
            </a:r>
            <a:r>
              <a:rPr lang="en-US" sz="1600" b="1" dirty="0">
                <a:solidFill>
                  <a:schemeClr val="tx1"/>
                </a:solidFill>
              </a:rPr>
              <a:t>1 percent</a:t>
            </a:r>
            <a:endParaRPr lang="en-US" sz="1600" dirty="0"/>
          </a:p>
          <a:p>
            <a:pPr marL="228600" indent="-228600">
              <a:spcAft>
                <a:spcPts val="800"/>
              </a:spcAft>
              <a:buSzPct val="100000"/>
              <a:buChar char="•"/>
            </a:pPr>
            <a:r>
              <a:rPr lang="en-US" sz="1600" dirty="0">
                <a:solidFill>
                  <a:schemeClr val="tx1"/>
                </a:solidFill>
              </a:rPr>
              <a:t>The turnaround wins only where efficiency carries most of the weight</a:t>
            </a:r>
            <a:endParaRPr lang="en-US" sz="1600" dirty="0"/>
          </a:p>
        </p:txBody>
      </p:sp>
      <p:pic>
        <p:nvPicPr>
          <p:cNvPr id="6" name="Figure" descr="Figure 11.1: who ranks first is a choice of weights">    </p:cNvPr>
          <p:cNvPicPr>
            <a:picLocks noChangeAspect="1"/>
          </p:cNvPicPr>
          <p:nvPr/>
        </p:nvPicPr>
        <p:blipFill>
          <a:blip r:embed="rId1"/>
          <a:stretch>
            <a:fillRect/>
          </a:stretch>
        </p:blipFill>
        <p:spPr>
          <a:xfrm>
            <a:off x="5169286" y="1931671"/>
            <a:ext cx="6473769" cy="3433570"/>
          </a:xfrm>
          <a:prstGeom prst="rect">
            <a:avLst/>
          </a:prstGeom>
        </p:spPr>
      </p:pic>
      <p:sp>
        <p:nvSpPr>
          <p:cNvPr id="7" name="Caption"/>
          <p:cNvSpPr txBox="1"/>
          <p:nvPr/>
        </p:nvSpPr>
        <p:spPr>
          <a:xfrm>
            <a:off x="5169286" y="5438393"/>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11.1. Who ranks first on a slice of the weights: efficiency and strategic risk share what technology and liquidity leave.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§11.6 · THEOREM 11.3 · EQUATION 11.3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Transformation shows underperformance first</a:t>
            </a:r>
            <a:endParaRPr lang="en-US" sz="3200" dirty="0"/>
          </a:p>
        </p:txBody>
      </p:sp>
      <p:pic>
        <p:nvPicPr>
          <p:cNvPr id="5" name="Equation" descr="Equation: (H - 1)\,\bigl[\, g(x_1 + b\bar u) - g(x_1) \,\bigr] \;&gt;\; c\,\bar u">    </p:cNvPr>
          <p:cNvPicPr>
            <a:picLocks noChangeAspect="1"/>
          </p:cNvPicPr>
          <p:nvPr/>
        </p:nvPicPr>
        <p:blipFill>
          <a:blip r:embed="rId1"/>
          <a:stretch>
            <a:fillRect/>
          </a:stretch>
        </p:blipFill>
        <p:spPr>
          <a:xfrm>
            <a:off x="2504765" y="1828800"/>
            <a:ext cx="7182165" cy="777240"/>
          </a:xfrm>
          <a:prstGeom prst="rect">
            <a:avLst/>
          </a:prstGeom>
        </p:spPr>
      </p:pic>
      <p:sp>
        <p:nvSpPr>
          <p:cNvPr id="6" name="Text 2"/>
          <p:cNvSpPr txBox="1"/>
          <p:nvPr/>
        </p:nvSpPr>
        <p:spPr>
          <a:xfrm>
            <a:off x="914400" y="274320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a program that spends ū once shows a net gain over H periods exactly when its later gains exceed its cost</a:t>
            </a:r>
            <a:endParaRPr lang="en-US" sz="1600" dirty="0"/>
          </a:p>
        </p:txBody>
      </p:sp>
      <p:sp>
        <p:nvSpPr>
          <p:cNvPr id="7" name="Bullets"/>
          <p:cNvSpPr txBox="1"/>
          <p:nvPr/>
        </p:nvSpPr>
        <p:spPr>
          <a:xfrm>
            <a:off x="914400" y="3337560"/>
            <a:ext cx="10362895" cy="28346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(i) Influence obeys the architecture.</a:t>
            </a:r>
            <a:r>
              <a:rPr lang="en-US" sz="1700" dirty="0">
                <a:solidFill>
                  <a:schemeClr val="bg1"/>
                </a:solidFill>
              </a:rPr>
              <a:t> A shock to one dimension's support reaches another no sooner than the distance between the supports</a:t>
            </a:r>
            <a:endParaRPr lang="en-US" sz="1700" dirty="0"/>
          </a:p>
          <a:p>
            <a:pPr marL="228600" indent="-228600">
              <a:spcAft>
                <a:spcPts val="800"/>
              </a:spcAft>
              <a:buSzPct val="100000"/>
              <a:buChar char="•"/>
            </a:pPr>
            <a:r>
              <a:rPr lang="en-US" sz="1700" b="1" dirty="0">
                <a:solidFill>
                  <a:schemeClr val="bg1"/>
                </a:solidFill>
              </a:rPr>
              <a:t>(ii) Transformation couples dimensions:</a:t>
            </a:r>
            <a:r>
              <a:rPr lang="en-US" sz="1700" dirty="0">
                <a:solidFill>
                  <a:schemeClr val="bg1"/>
                </a:solidFill>
              </a:rPr>
              <a:t> a program moves the dimensions it touches together</a:t>
            </a:r>
            <a:endParaRPr lang="en-US" sz="1700" dirty="0"/>
          </a:p>
          <a:p>
            <a:pPr marL="228600" indent="-228600">
              <a:spcAft>
                <a:spcPts val="800"/>
              </a:spcAft>
              <a:buSzPct val="100000"/>
              <a:buChar char="•"/>
            </a:pPr>
            <a:r>
              <a:rPr lang="en-US" sz="1700" b="1" dirty="0">
                <a:solidFill>
                  <a:schemeClr val="bg1"/>
                </a:solidFill>
              </a:rPr>
              <a:t>(iii) The J-curve.</a:t>
            </a:r>
            <a:r>
              <a:rPr lang="en-US" sz="1700" dirty="0">
                <a:solidFill>
                  <a:schemeClr val="bg1"/>
                </a:solidFill>
              </a:rPr>
              <a:t> Costs hit financial performance at once, by cū; benefits arrive only through the state, Δ a period</a:t>
            </a:r>
            <a:endParaRPr lang="en-US" sz="1700" dirty="0"/>
          </a:p>
          <a:p>
            <a:pPr marL="228600" indent="-228600">
              <a:spcAft>
                <a:spcPts val="800"/>
              </a:spcAft>
              <a:buSzPct val="100000"/>
              <a:buChar char="•"/>
            </a:pPr>
            <a:r>
              <a:rPr lang="en-US" sz="1700" dirty="0">
                <a:solidFill>
                  <a:schemeClr val="bg1"/>
                </a:solidFill>
              </a:rPr>
              <a:t>Any window shorter than 1 + cū/Δ periods reports a sound program as a loss: correctly for the window, wrongly for the program</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§11.6 · TABLE 11.4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 effect arrives faster than the wiring allows</a:t>
            </a:r>
            <a:endParaRPr lang="en-US" sz="32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264166"/>
                <a:gridCol w="1449066"/>
                <a:gridCol w="1449066"/>
                <a:gridCol w="1449066"/>
                <a:gridCol w="1584916"/>
                <a:gridCol w="1449066"/>
                <a:gridCol w="1449066"/>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Improving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Financial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Operational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Strategic</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Technological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Innovation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Resilience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Financial (funds)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Operational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Strategic</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Technological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Innovation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Resilience (buffers)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 /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ct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Sign of the medium-run effect of improving the row on the column, and the floor on the lag in quarters: the distance between the two supports in Chapter 9's architecture. Actual lags can be longer, never shorter. A blank means no material effect is declared.</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Nothing done in Digital reaches Industrial Systems' operations in under two quarters; no path leads to Materials.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§11.7 · THEOREM 11.4 · FIGURE 11.2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Weighted indices reach the frontier, not all of it</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Effectiveness</a:t>
            </a:r>
            <a:r>
              <a:rPr lang="en-US" sz="1600" dirty="0">
                <a:solidFill>
                  <a:schemeClr val="tx1"/>
                </a:solidFill>
              </a:rPr>
              <a:t> is attainment of a target; </a:t>
            </a:r>
            <a:r>
              <a:rPr lang="en-US" sz="1600" b="1" dirty="0">
                <a:solidFill>
                  <a:schemeClr val="tx1"/>
                </a:solidFill>
              </a:rPr>
              <a:t>efficiency</a:t>
            </a:r>
            <a:r>
              <a:rPr lang="en-US" sz="1600" dirty="0">
                <a:solidFill>
                  <a:schemeClr val="tx1"/>
                </a:solidFill>
              </a:rPr>
              <a:t>, distance to the frontier</a:t>
            </a:r>
            <a:endParaRPr lang="en-US" sz="1600" dirty="0"/>
          </a:p>
          <a:p>
            <a:pPr marL="228600" indent="-228600">
              <a:spcAft>
                <a:spcPts val="800"/>
              </a:spcAft>
              <a:buSzPct val="100000"/>
              <a:buChar char="•"/>
            </a:pPr>
            <a:r>
              <a:rPr lang="en-US" sz="1600" b="1" dirty="0">
                <a:solidFill>
                  <a:schemeClr val="tx1"/>
                </a:solidFill>
              </a:rPr>
              <a:t>Productivity</a:t>
            </a:r>
            <a:r>
              <a:rPr lang="en-US" sz="1600" dirty="0">
                <a:solidFill>
                  <a:schemeClr val="tx1"/>
                </a:solidFill>
              </a:rPr>
              <a:t> is flow per unit of capital (Definitions 11.7–11.9)</a:t>
            </a:r>
            <a:endParaRPr lang="en-US" sz="1600" dirty="0"/>
          </a:p>
          <a:p>
            <a:pPr marL="228600" indent="-228600">
              <a:spcAft>
                <a:spcPts val="800"/>
              </a:spcAft>
              <a:buSzPct val="100000"/>
              <a:buChar char="•"/>
            </a:pPr>
            <a:r>
              <a:rPr lang="en-US" sz="1600" b="1" dirty="0">
                <a:solidFill>
                  <a:schemeClr val="tx1"/>
                </a:solidFill>
              </a:rPr>
              <a:t>Theorem 11.4:</a:t>
            </a:r>
            <a:r>
              <a:rPr lang="en-US" sz="1600" dirty="0">
                <a:solidFill>
                  <a:schemeClr val="tx1"/>
                </a:solidFill>
              </a:rPr>
              <a:t> every positively weighted index picks a Pareto-optimal point</a:t>
            </a:r>
            <a:endParaRPr lang="en-US" sz="1600" dirty="0"/>
          </a:p>
          <a:p>
            <a:pPr marL="228600" indent="-228600">
              <a:spcAft>
                <a:spcPts val="800"/>
              </a:spcAft>
              <a:buSzPct val="100000"/>
              <a:buChar char="•"/>
            </a:pPr>
            <a:r>
              <a:rPr lang="en-US" sz="1600" dirty="0">
                <a:solidFill>
                  <a:schemeClr val="tx1"/>
                </a:solidFill>
              </a:rPr>
              <a:t>Of (0, 10), (4, 4) and (10, 0), the balanced program is never ranked first</a:t>
            </a:r>
            <a:endParaRPr lang="en-US" sz="1600" dirty="0"/>
          </a:p>
          <a:p>
            <a:pPr marL="228600" indent="-228600">
              <a:spcAft>
                <a:spcPts val="800"/>
              </a:spcAft>
              <a:buSzPct val="100000"/>
              <a:buChar char="•"/>
            </a:pPr>
            <a:r>
              <a:rPr lang="en-US" sz="1600" dirty="0">
                <a:solidFill>
                  <a:schemeClr val="tx1"/>
                </a:solidFill>
              </a:rPr>
              <a:t>The slope is an exchange rate: a margin point costs </a:t>
            </a:r>
            <a:r>
              <a:rPr lang="en-US" sz="1600" b="1" dirty="0">
                <a:solidFill>
                  <a:schemeClr val="tx1"/>
                </a:solidFill>
              </a:rPr>
              <a:t>0.84 months</a:t>
            </a:r>
            <a:r>
              <a:rPr lang="en-US" sz="1600" dirty="0">
                <a:solidFill>
                  <a:schemeClr val="tx1"/>
                </a:solidFill>
              </a:rPr>
              <a:t> of cover</a:t>
            </a:r>
            <a:endParaRPr lang="en-US" sz="1600" dirty="0"/>
          </a:p>
          <a:p>
            <a:pPr marL="228600" indent="-228600">
              <a:spcAft>
                <a:spcPts val="800"/>
              </a:spcAft>
              <a:buSzPct val="100000"/>
              <a:buChar char="•"/>
            </a:pPr>
            <a:r>
              <a:rPr lang="en-US" sz="1600" b="1" dirty="0">
                <a:solidFill>
                  <a:schemeClr val="tx1"/>
                </a:solidFill>
              </a:rPr>
              <a:t>Proposition 11.2:</a:t>
            </a:r>
            <a:r>
              <a:rPr lang="en-US" sz="1600" dirty="0">
                <a:solidFill>
                  <a:schemeClr val="tx1"/>
                </a:solidFill>
              </a:rPr>
              <a:t> inside the frontier, improve before trading off</a:t>
            </a:r>
            <a:endParaRPr lang="en-US" sz="1600" dirty="0"/>
          </a:p>
        </p:txBody>
      </p:sp>
      <p:pic>
        <p:nvPicPr>
          <p:cNvPr id="6" name="Figure" descr="Figure 11.2: the performance frontier">    </p:cNvPr>
          <p:cNvPicPr>
            <a:picLocks noChangeAspect="1"/>
          </p:cNvPicPr>
          <p:nvPr/>
        </p:nvPicPr>
        <p:blipFill>
          <a:blip r:embed="rId1"/>
          <a:stretch>
            <a:fillRect/>
          </a:stretch>
        </p:blipFill>
        <p:spPr>
          <a:xfrm>
            <a:off x="5169286" y="1987867"/>
            <a:ext cx="6473769" cy="3321178"/>
          </a:xfrm>
          <a:prstGeom prst="rect">
            <a:avLst/>
          </a:prstGeom>
        </p:spPr>
      </p:pic>
      <p:sp>
        <p:nvSpPr>
          <p:cNvPr id="7" name="Caption"/>
          <p:cNvSpPr txBox="1"/>
          <p:nvPr/>
        </p:nvSpPr>
        <p:spPr>
          <a:xfrm>
            <a:off x="5169286" y="5382197"/>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11.2. Left: a smooth frontier of margin against liquidity cover. Right: three indivisible programs; half of each end program is not available.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§11.8 · DEFINITIONS 11.11–11.12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Skipping the rent is borrowed performance</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$23m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a year: Meridian's capability rent, which skipping would add to reported EBITDA</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3 quarters</a:t>
            </a:r>
            <a:endParaRPr lang="en-US" sz="40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until capability, decaying 2.5 percent a quarter, falls below the floor of 55</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3400" b="1" dirty="0">
                <a:solidFill>
                  <a:schemeClr val="tx1"/>
                </a:solidFill>
                <a:latin typeface="Cambria" pitchFamily="34" charset="0"/>
                <a:ea typeface="Cambria" pitchFamily="34" charset="-122"/>
                <a:cs typeface="Cambria" pitchFamily="34" charset="-120"/>
              </a:rPr>
              <a:t>ln 2/|ln ρ|</a:t>
            </a:r>
            <a:endParaRPr lang="en-US" sz="3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periods: the recovery half-life that resilience performance reports</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Proposition 11.3.</a:t>
            </a:r>
            <a:r>
              <a:rPr lang="en-US" sz="1700" dirty="0">
                <a:solidFill>
                  <a:schemeClr val="tx1"/>
                </a:solidFill>
              </a:rPr>
              <a:t> Performance inherits the state's dynamics: a forecast has a fan, a mean and quantiles</a:t>
            </a:r>
            <a:endParaRPr lang="en-US" sz="1700" dirty="0"/>
          </a:p>
          <a:p>
            <a:pPr marL="228600" indent="-228600">
              <a:spcAft>
                <a:spcPts val="800"/>
              </a:spcAft>
              <a:buSzPct val="100000"/>
              <a:buChar char="•"/>
            </a:pPr>
            <a:r>
              <a:rPr lang="en-US" sz="1700" b="1" dirty="0">
                <a:solidFill>
                  <a:schemeClr val="tx1"/>
                </a:solidFill>
              </a:rPr>
              <a:t>Definition 11.11.</a:t>
            </a:r>
            <a:r>
              <a:rPr lang="en-US" sz="1700" dirty="0">
                <a:solidFill>
                  <a:schemeClr val="tx1"/>
                </a:solidFill>
              </a:rPr>
              <a:t> A level is sustainable if it can be delivered while every stock receives its rent δC</a:t>
            </a:r>
            <a:endParaRPr lang="en-US" sz="1700" dirty="0"/>
          </a:p>
          <a:p>
            <a:pPr marL="228600" indent="-228600">
              <a:spcAft>
                <a:spcPts val="800"/>
              </a:spcAft>
              <a:buSzPct val="100000"/>
              <a:buChar char="•"/>
            </a:pPr>
            <a:r>
              <a:rPr lang="en-US" sz="1700" b="1" dirty="0">
                <a:solidFill>
                  <a:schemeClr val="tx1"/>
                </a:solidFill>
              </a:rPr>
              <a:t>Definition 11.12.</a:t>
            </a:r>
            <a:r>
              <a:rPr lang="en-US" sz="1700" dirty="0">
                <a:solidFill>
                  <a:schemeClr val="tx1"/>
                </a:solidFill>
              </a:rPr>
              <a:t> Resilience: the recovery half-life, with the buffer margins to binding constraints</a:t>
            </a:r>
            <a:endParaRPr lang="en-US" sz="1700" dirty="0"/>
          </a:p>
          <a:p>
            <a:pPr marL="228600" indent="-228600">
              <a:spcAft>
                <a:spcPts val="800"/>
              </a:spcAft>
              <a:buSzPct val="100000"/>
              <a:buChar char="•"/>
            </a:pPr>
            <a:r>
              <a:rPr lang="en-US" sz="1700" dirty="0">
                <a:solidFill>
                  <a:schemeClr val="tx1"/>
                </a:solidFill>
              </a:rPr>
              <a:t>Meridian with no rent: capability 58, then 56.55, 55.14 and 53.76, below the floor of 55 in quarter 3</a:t>
            </a:r>
            <a:endParaRPr lang="en-US" sz="1700" dirty="0"/>
          </a:p>
          <a:p>
            <a:pPr marL="228600" indent="-228600">
              <a:spcAft>
                <a:spcPts val="800"/>
              </a:spcAft>
              <a:buSzPct val="100000"/>
              <a:buChar char="•"/>
            </a:pPr>
            <a:r>
              <a:rPr lang="en-US" sz="1700" dirty="0">
                <a:solidFill>
                  <a:schemeClr val="tx1"/>
                </a:solidFill>
              </a:rPr>
              <a:t>A dashboard without a sustainability line will reliably prefer the program that eats the base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§11.9 · THEOREM 11.5 · TABLE 11.5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Ratios do not average: pool them, then bridge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11.5</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Performance Consistency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Ratios do not average.</a:t>
            </a:r>
            <a:r>
              <a:rPr lang="en-US" sz="1500" dirty="0">
                <a:solidFill>
                  <a:schemeClr val="tx1"/>
                </a:solidFill>
              </a:rPr>
              <a:t> The group ratio weights divisional ratios by their shares of the denominator</a:t>
            </a:r>
            <a:endParaRPr lang="en-US" sz="1500" dirty="0"/>
          </a:p>
          <a:p>
            <a:pPr marL="228600" indent="-228600">
              <a:spcAft>
                <a:spcPts val="600"/>
              </a:spcAft>
              <a:buSzPct val="100000"/>
              <a:buChar char="•"/>
            </a:pPr>
            <a:r>
              <a:rPr lang="en-US" sz="1500" dirty="0">
                <a:solidFill>
                  <a:schemeClr val="tx1"/>
                </a:solidFill>
              </a:rPr>
              <a:t>Two margins rise, 20.0 to 22.0 and 15.0 to 16.0 percent, while the group's falls from 18.3 to 18.0</a:t>
            </a:r>
            <a:endParaRPr lang="en-US" sz="1500" dirty="0"/>
          </a:p>
          <a:p>
            <a:pPr marL="228600" indent="-228600">
              <a:spcAft>
                <a:spcPts val="600"/>
              </a:spcAft>
              <a:buSzPct val="100000"/>
              <a:buChar char="•"/>
            </a:pPr>
            <a:r>
              <a:rPr lang="en-US" sz="1500" b="1" dirty="0">
                <a:solidFill>
                  <a:schemeClr val="tx1"/>
                </a:solidFill>
              </a:rPr>
              <a:t>(ii) Target cascades are constraint families:</a:t>
            </a:r>
            <a:r>
              <a:rPr lang="en-US" sz="1500" dirty="0">
                <a:solidFill>
                  <a:schemeClr val="tx1"/>
                </a:solidFill>
              </a:rPr>
              <a:t> around a cycle, pairwise agreement is not joint feasibility</a:t>
            </a:r>
            <a:endParaRPr lang="en-US" sz="1500" dirty="0"/>
          </a:p>
          <a:p>
            <a:pPr marL="228600" indent="-228600">
              <a:spcAft>
                <a:spcPts val="600"/>
              </a:spcAft>
              <a:buSzPct val="100000"/>
              <a:buChar char="•"/>
            </a:pPr>
            <a:r>
              <a:rPr lang="en-US" sz="1500" b="1" dirty="0">
                <a:solidFill>
                  <a:schemeClr val="tx1"/>
                </a:solidFill>
              </a:rPr>
              <a:t>(iii) Roll-ups need certificates:</a:t>
            </a:r>
            <a:r>
              <a:rPr lang="en-US" sz="1500" dirty="0">
                <a:solidFill>
                  <a:schemeClr val="tx1"/>
                </a:solidFill>
              </a:rPr>
              <a:t> totals pass; a ratio rolls up only with its denominators</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bank of Table 11.5</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Retail shrinks on purpose: cost–income 80 to 78 percent</a:t>
            </a:r>
            <a:endParaRPr lang="en-US" sz="1600" dirty="0"/>
          </a:p>
          <a:p>
            <a:pPr marL="228600" indent="-228600">
              <a:spcAft>
                <a:spcPts val="800"/>
              </a:spcAft>
              <a:buSzPct val="100000"/>
              <a:buChar char="•"/>
            </a:pPr>
            <a:r>
              <a:rPr lang="en-US" sz="1600" dirty="0">
                <a:solidFill>
                  <a:schemeClr val="tx1"/>
                </a:solidFill>
              </a:rPr>
              <a:t>Markets grows: 85 to 84 percent</a:t>
            </a:r>
            <a:endParaRPr lang="en-US" sz="1600" dirty="0"/>
          </a:p>
          <a:p>
            <a:pPr marL="228600" indent="-228600">
              <a:spcAft>
                <a:spcPts val="800"/>
              </a:spcAft>
              <a:buSzPct val="100000"/>
              <a:buChar char="•"/>
            </a:pPr>
            <a:r>
              <a:rPr lang="en-US" sz="1600" dirty="0">
                <a:solidFill>
                  <a:schemeClr val="tx1"/>
                </a:solidFill>
              </a:rPr>
              <a:t>The group worsens, </a:t>
            </a:r>
            <a:r>
              <a:rPr lang="en-US" sz="1600" b="1" dirty="0">
                <a:solidFill>
                  <a:schemeClr val="tx1"/>
                </a:solidFill>
              </a:rPr>
              <a:t>81.7 to 82.0 percent</a:t>
            </a:r>
            <a:r>
              <a:rPr lang="en-US" sz="1600" dirty="0">
                <a:solidFill>
                  <a:schemeClr val="tx1"/>
                </a:solidFill>
              </a:rPr>
              <a:t>: rate effect −1.3 points, mix effect +1.7</a:t>
            </a:r>
            <a:endParaRPr lang="en-US" sz="1600" dirty="0"/>
          </a:p>
          <a:p>
            <a:pPr marL="228600" indent="-228600">
              <a:spcAft>
                <a:spcPts val="800"/>
              </a:spcAft>
              <a:buSzPct val="100000"/>
              <a:buChar char="•"/>
            </a:pPr>
            <a:r>
              <a:rPr lang="en-US" sz="1600" dirty="0">
                <a:solidFill>
                  <a:schemeClr val="tx1"/>
                </a:solidFill>
              </a:rPr>
              <a:t>The unweighted average falls 82.5 to 81.0 and reports an improvement</a:t>
            </a:r>
            <a:endParaRPr lang="en-US" sz="1600" dirty="0"/>
          </a:p>
          <a:p>
            <a:pPr marL="228600" indent="-228600">
              <a:spcAft>
                <a:spcPts val="800"/>
              </a:spcAft>
              <a:buSzPct val="100000"/>
              <a:buChar char="•"/>
            </a:pPr>
            <a:r>
              <a:rPr lang="en-US" sz="1600" dirty="0">
                <a:solidFill>
                  <a:schemeClr val="tx1"/>
                </a:solidFill>
              </a:rPr>
              <a:t>Discuss the mix decision, which was the strategy, not two ratios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Who really chose digital?</a:t>
            </a:r>
            <a:endParaRPr lang="en-US" sz="3200" dirty="0"/>
          </a:p>
        </p:txBody>
      </p:sp>
      <p:sp>
        <p:nvSpPr>
          <p:cNvPr id="5" name="Card"/>
          <p:cNvSpPr/>
          <p:nvPr/>
        </p:nvSpPr>
        <p:spPr>
          <a:xfrm>
            <a:off x="548640" y="1691640"/>
            <a:ext cx="3515258" cy="2926080"/>
          </a:xfrm>
          <a:prstGeom prst="roundRect">
            <a:avLst>
              <a:gd name="adj" fmla="val 2500"/>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CFO's scorecard</a:t>
            </a:r>
            <a:endParaRPr lang="en-US" sz="1300" dirty="0"/>
          </a:p>
        </p:txBody>
      </p:sp>
      <p:sp>
        <p:nvSpPr>
          <p:cNvPr id="7" name="Card head"/>
          <p:cNvSpPr txBox="1"/>
          <p:nvPr/>
        </p:nvSpPr>
        <p:spPr>
          <a:xfrm>
            <a:off x="731520" y="2148840"/>
            <a:ext cx="3149498" cy="117043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Digital 47.1, restructuring 46.1, turnaround 38.4</a:t>
            </a:r>
            <a:endParaRPr lang="en-US" sz="1900" dirty="0"/>
          </a:p>
        </p:txBody>
      </p:sp>
      <p:sp>
        <p:nvSpPr>
          <p:cNvPr id="8" name="Card text"/>
          <p:cNvSpPr txBox="1"/>
          <p:nvPr/>
        </p:nvSpPr>
        <p:spPr>
          <a:xfrm>
            <a:off x="731520" y="3392424"/>
            <a:ext cx="3149498" cy="1097280"/>
          </a:xfrm>
          <a:prstGeom prst="rect">
            <a:avLst/>
          </a:prstGeom>
          <a:noFill/>
          <a:ln/>
        </p:spPr>
        <p:txBody>
          <a:bodyPr wrap="square" lIns="0" tIns="0" rIns="0" bIns="0" rtlCol="0" anchor="t"/>
          <a:lstStyle/>
          <a:p>
            <a:pPr indent="0" marL="0">
              <a:buNone/>
            </a:pPr>
            <a:r>
              <a:rPr lang="en-US" sz="1600" dirty="0">
                <a:solidFill>
                  <a:schemeClr val="tx2"/>
                </a:solidFill>
              </a:rPr>
              <a:t>Liquidity, technology and efficiency, less strategic risk, equally weighted, at Year 5.</a:t>
            </a:r>
            <a:endParaRPr lang="en-US" sz="1600" dirty="0"/>
          </a:p>
        </p:txBody>
      </p:sp>
      <p:sp>
        <p:nvSpPr>
          <p:cNvPr id="9" name="Card"/>
          <p:cNvSpPr/>
          <p:nvPr/>
        </p:nvSpPr>
        <p:spPr>
          <a:xfrm>
            <a:off x="4338218" y="1691640"/>
            <a:ext cx="3515258" cy="2926080"/>
          </a:xfrm>
          <a:prstGeom prst="roundRect">
            <a:avLst>
              <a:gd name="adj" fmla="val 2500"/>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head of Digital Solutions</a:t>
            </a:r>
            <a:endParaRPr lang="en-US" sz="1300" dirty="0"/>
          </a:p>
        </p:txBody>
      </p:sp>
      <p:sp>
        <p:nvSpPr>
          <p:cNvPr id="11" name="Card head"/>
          <p:cNvSpPr txBox="1"/>
          <p:nvPr/>
        </p:nvSpPr>
        <p:spPr>
          <a:xfrm>
            <a:off x="4521098" y="2148840"/>
            <a:ext cx="3149498" cy="117043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Presents the ranking as the case for digital</a:t>
            </a:r>
            <a:endParaRPr lang="en-US" sz="1900" dirty="0"/>
          </a:p>
        </p:txBody>
      </p:sp>
      <p:sp>
        <p:nvSpPr>
          <p:cNvPr id="12" name="Card text"/>
          <p:cNvSpPr txBox="1"/>
          <p:nvPr/>
        </p:nvSpPr>
        <p:spPr>
          <a:xfrm>
            <a:off x="4521098" y="3392424"/>
            <a:ext cx="3149498" cy="1097280"/>
          </a:xfrm>
          <a:prstGeom prst="rect">
            <a:avLst/>
          </a:prstGeom>
          <a:noFill/>
          <a:ln/>
        </p:spPr>
        <p:txBody>
          <a:bodyPr wrap="square" lIns="0" tIns="0" rIns="0" bIns="0" rtlCol="0" anchor="t"/>
          <a:lstStyle/>
          <a:p>
            <a:pPr indent="0" marL="0">
              <a:buNone/>
            </a:pPr>
            <a:r>
              <a:rPr lang="en-US" sz="1600" dirty="0">
                <a:solidFill>
                  <a:schemeClr val="tx2"/>
                </a:solidFill>
              </a:rPr>
              <a:t>One point ahead of restructuring, well ahead of the turnaround.</a:t>
            </a:r>
            <a:endParaRPr lang="en-US" sz="1600" dirty="0"/>
          </a:p>
        </p:txBody>
      </p:sp>
      <p:sp>
        <p:nvSpPr>
          <p:cNvPr id="13" name="Card"/>
          <p:cNvSpPr/>
          <p:nvPr/>
        </p:nvSpPr>
        <p:spPr>
          <a:xfrm>
            <a:off x="8127797" y="1691640"/>
            <a:ext cx="3515258" cy="2926080"/>
          </a:xfrm>
          <a:prstGeom prst="roundRect">
            <a:avLst>
              <a:gd name="adj" fmla="val 2500"/>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chair</a:t>
            </a:r>
            <a:endParaRPr lang="en-US" sz="1300" dirty="0"/>
          </a:p>
        </p:txBody>
      </p:sp>
      <p:sp>
        <p:nvSpPr>
          <p:cNvPr id="15" name="Card head"/>
          <p:cNvSpPr txBox="1"/>
          <p:nvPr/>
        </p:nvSpPr>
        <p:spPr>
          <a:xfrm>
            <a:off x="8310677" y="2148840"/>
            <a:ext cx="3149498" cy="117043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Did the data choose digital, or the design of the scorecard?</a:t>
            </a:r>
            <a:endParaRPr lang="en-US" sz="1900" dirty="0"/>
          </a:p>
        </p:txBody>
      </p:sp>
      <p:sp>
        <p:nvSpPr>
          <p:cNvPr id="16" name="Card text"/>
          <p:cNvSpPr txBox="1"/>
          <p:nvPr/>
        </p:nvSpPr>
        <p:spPr>
          <a:xfrm>
            <a:off x="8310677" y="3392424"/>
            <a:ext cx="3149498" cy="1097280"/>
          </a:xfrm>
          <a:prstGeom prst="rect">
            <a:avLst/>
          </a:prstGeom>
          <a:noFill/>
          <a:ln/>
        </p:spPr>
        <p:txBody>
          <a:bodyPr wrap="square" lIns="0" tIns="0" rIns="0" bIns="0" rtlCol="0" anchor="t"/>
          <a:lstStyle/>
          <a:p>
            <a:pPr indent="0" marL="0">
              <a:buNone/>
            </a:pPr>
            <a:r>
              <a:rPr lang="en-US" sz="1600" dirty="0">
                <a:solidFill>
                  <a:schemeClr val="bg2"/>
                </a:solidFill>
              </a:rPr>
              <a:t>A sharper question than Chapter 1 could ask, before the board votes.</a:t>
            </a:r>
            <a:endParaRPr lang="en-US" sz="1600" dirty="0"/>
          </a:p>
        </p:txBody>
      </p:sp>
      <p:sp>
        <p:nvSpPr>
          <p:cNvPr id="17" name="Lead"/>
          <p:cNvSpPr txBox="1"/>
          <p:nvPr/>
        </p:nvSpPr>
        <p:spPr>
          <a:xfrm>
            <a:off x="548640" y="48920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No option dominates another: digital leads on technology, restructuring on liquidity, risk and efficiency.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weights and the yardstick pick the winner</a:t>
            </a:r>
            <a:endParaRPr lang="en-US" sz="3200" dirty="0"/>
          </a:p>
        </p:txBody>
      </p:sp>
      <p:sp>
        <p:nvSpPr>
          <p:cNvPr id="5" name="Stat card"/>
          <p:cNvSpPr/>
          <p:nvPr/>
        </p:nvSpPr>
        <p:spPr>
          <a:xfrm>
            <a:off x="548640" y="1691640"/>
            <a:ext cx="3515258" cy="1965960"/>
          </a:xfrm>
          <a:prstGeom prst="roundRect">
            <a:avLst>
              <a:gd name="adj" fmla="val 3721"/>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1.6 points</a:t>
            </a:r>
            <a:endParaRPr lang="en-US" sz="4000" dirty="0"/>
          </a:p>
        </p:txBody>
      </p:sp>
      <p:sp>
        <p:nvSpPr>
          <p:cNvPr id="7" name="Stat label"/>
          <p:cNvSpPr txBox="1"/>
          <p:nvPr/>
        </p:nvSpPr>
        <p:spPr>
          <a:xfrm>
            <a:off x="685800" y="2697480"/>
            <a:ext cx="3240938" cy="886968"/>
          </a:xfrm>
          <a:prstGeom prst="rect">
            <a:avLst/>
          </a:prstGeom>
          <a:noFill/>
          <a:ln/>
        </p:spPr>
        <p:txBody>
          <a:bodyPr wrap="square" lIns="0" tIns="0" rIns="0" bIns="0" rtlCol="0" anchor="t"/>
          <a:lstStyle/>
          <a:p>
            <a:pPr algn="ctr" indent="0" marL="0">
              <a:buNone/>
            </a:pPr>
            <a:r>
              <a:rPr lang="en-US" sz="1400" dirty="0">
                <a:solidFill>
                  <a:schemeClr val="bg2"/>
                </a:solidFill>
              </a:rPr>
              <a:t>of weight moved from technology to liquidity tie the leaders; 2 points put restructuring first, 47.7 to 47.5</a:t>
            </a:r>
            <a:endParaRPr lang="en-US" sz="1400" dirty="0"/>
          </a:p>
        </p:txBody>
      </p:sp>
      <p:sp>
        <p:nvSpPr>
          <p:cNvPr id="8" name="Stat card"/>
          <p:cNvSpPr/>
          <p:nvPr/>
        </p:nvSpPr>
        <p:spPr>
          <a:xfrm>
            <a:off x="4338218" y="1691640"/>
            <a:ext cx="3515258" cy="1965960"/>
          </a:xfrm>
          <a:prstGeom prst="roundRect">
            <a:avLst>
              <a:gd name="adj" fmla="val 3721"/>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3600" b="1" dirty="0">
                <a:solidFill>
                  <a:schemeClr val="tx1"/>
                </a:solidFill>
                <a:latin typeface="Cambria" pitchFamily="34" charset="0"/>
                <a:ea typeface="Cambria" pitchFamily="34" charset="-122"/>
                <a:cs typeface="Cambria" pitchFamily="34" charset="-120"/>
              </a:rPr>
              <a:t>52.3 to 41.4</a:t>
            </a:r>
            <a:endParaRPr lang="en-US" sz="3600" dirty="0"/>
          </a:p>
        </p:txBody>
      </p:sp>
      <p:sp>
        <p:nvSpPr>
          <p:cNvPr id="10" name="Stat label"/>
          <p:cNvSpPr txBox="1"/>
          <p:nvPr/>
        </p:nvSpPr>
        <p:spPr>
          <a:xfrm>
            <a:off x="4475378" y="2697480"/>
            <a:ext cx="3240938" cy="886968"/>
          </a:xfrm>
          <a:prstGeom prst="rect">
            <a:avLst/>
          </a:prstGeom>
          <a:noFill/>
          <a:ln/>
        </p:spPr>
        <p:txBody>
          <a:bodyPr wrap="square" lIns="0" tIns="0" rIns="0" bIns="0" rtlCol="0" anchor="t"/>
          <a:lstStyle/>
          <a:p>
            <a:pPr algn="ctr" indent="0" marL="0">
              <a:buNone/>
            </a:pPr>
            <a:r>
              <a:rPr lang="en-US" sz="1400" dirty="0">
                <a:solidFill>
                  <a:schemeClr val="tx2"/>
                </a:solidFill>
              </a:rPr>
              <a:t>restructuring first when each reading is rescaled, best option 100 and worst 0</a:t>
            </a:r>
            <a:endParaRPr lang="en-US" sz="1400" dirty="0"/>
          </a:p>
        </p:txBody>
      </p:sp>
      <p:sp>
        <p:nvSpPr>
          <p:cNvPr id="11" name="Stat card"/>
          <p:cNvSpPr/>
          <p:nvPr/>
        </p:nvSpPr>
        <p:spPr>
          <a:xfrm>
            <a:off x="8127797" y="1691640"/>
            <a:ext cx="3515258" cy="1965960"/>
          </a:xfrm>
          <a:prstGeom prst="roundRect">
            <a:avLst>
              <a:gd name="adj" fmla="val 3721"/>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3600" b="1" dirty="0">
                <a:solidFill>
                  <a:schemeClr val="tx1"/>
                </a:solidFill>
                <a:latin typeface="Cambria" pitchFamily="34" charset="0"/>
                <a:ea typeface="Cambria" pitchFamily="34" charset="-122"/>
                <a:cs typeface="Cambria" pitchFamily="34" charset="-120"/>
              </a:rPr>
              <a:t>24.0 to 10.6</a:t>
            </a:r>
            <a:endParaRPr lang="en-US" sz="3600" dirty="0"/>
          </a:p>
        </p:txBody>
      </p:sp>
      <p:sp>
        <p:nvSpPr>
          <p:cNvPr id="13" name="Stat label"/>
          <p:cNvSpPr txBox="1"/>
          <p:nvPr/>
        </p:nvSpPr>
        <p:spPr>
          <a:xfrm>
            <a:off x="8264957" y="2697480"/>
            <a:ext cx="3240938" cy="886968"/>
          </a:xfrm>
          <a:prstGeom prst="rect">
            <a:avLst/>
          </a:prstGeom>
          <a:noFill/>
          <a:ln/>
        </p:spPr>
        <p:txBody>
          <a:bodyPr wrap="square" lIns="0" tIns="0" rIns="0" bIns="0" rtlCol="0" anchor="t"/>
          <a:lstStyle/>
          <a:p>
            <a:pPr algn="ctr" indent="0" marL="0">
              <a:buNone/>
            </a:pPr>
            <a:r>
              <a:rPr lang="en-US" sz="1400" dirty="0">
                <a:solidFill>
                  <a:schemeClr val="tx2"/>
                </a:solidFill>
              </a:rPr>
              <a:t>digital first when the readings are scored by percentage improvement on today</a:t>
            </a:r>
            <a:endParaRPr lang="en-US" sz="1400" dirty="0"/>
          </a:p>
        </p:txBody>
      </p:sp>
      <p:sp>
        <p:nvSpPr>
          <p:cNvPr id="14" name="Bullets"/>
          <p:cNvSpPr txBox="1"/>
          <p:nvPr/>
        </p:nvSpPr>
        <p:spPr>
          <a:xfrm>
            <a:off x="548640" y="3977640"/>
            <a:ext cx="11094415" cy="21945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Step 1:</a:t>
            </a:r>
            <a:r>
              <a:rPr lang="en-US" sz="1700" dirty="0">
                <a:solidFill>
                  <a:schemeClr val="tx1"/>
                </a:solidFill>
              </a:rPr>
              <a:t> no option dominates another, so positive weights exist that put either leader first (Theorem 11.2(ii))</a:t>
            </a:r>
            <a:endParaRPr lang="en-US" sz="1700" dirty="0"/>
          </a:p>
          <a:p>
            <a:pPr marL="228600" indent="-228600">
              <a:spcAft>
                <a:spcPts val="800"/>
              </a:spcAft>
              <a:buSzPct val="100000"/>
              <a:buChar char="•"/>
            </a:pPr>
            <a:r>
              <a:rPr lang="en-US" sz="1700" b="1" dirty="0">
                <a:solidFill>
                  <a:schemeClr val="tx1"/>
                </a:solidFill>
              </a:rPr>
              <a:t>Step 2:</a:t>
            </a:r>
            <a:r>
              <a:rPr lang="en-US" sz="1700" dirty="0">
                <a:solidFill>
                  <a:schemeClr val="tx1"/>
                </a:solidFill>
              </a:rPr>
              <a:t> each leader ranks first under 49 percent of all weightings, the turnaround under about 1 percent</a:t>
            </a:r>
            <a:endParaRPr lang="en-US" sz="1700" dirty="0"/>
          </a:p>
          <a:p>
            <a:pPr marL="228600" indent="-228600">
              <a:spcAft>
                <a:spcPts val="800"/>
              </a:spcAft>
              <a:buSzPct val="100000"/>
              <a:buChar char="•"/>
            </a:pPr>
            <a:r>
              <a:rPr lang="en-US" sz="1700" b="1" dirty="0">
                <a:solidFill>
                  <a:schemeClr val="tx1"/>
                </a:solidFill>
              </a:rPr>
              <a:t>Step 3:</a:t>
            </a:r>
            <a:r>
              <a:rPr lang="en-US" sz="1700" dirty="0">
                <a:solidFill>
                  <a:schemeClr val="tx1"/>
                </a:solidFill>
              </a:rPr>
              <a:t> rescaling divides by each reading's spread: strategic risk's 5.8 points become 34, technology's 36.8-point lead 93</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STEP 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Digital trails at four annual reviews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Digital falls to </a:t>
            </a:r>
            <a:r>
              <a:rPr lang="en-US" sz="1600" b="1" dirty="0">
                <a:solidFill>
                  <a:schemeClr val="tx1"/>
                </a:solidFill>
              </a:rPr>
              <a:t>32.1 at month 11</a:t>
            </a:r>
            <a:r>
              <a:rPr lang="en-US" sz="1600" dirty="0">
                <a:solidFill>
                  <a:schemeClr val="tx1"/>
                </a:solidFill>
              </a:rPr>
              <a:t> and regains today's 37.0 at </a:t>
            </a:r>
            <a:r>
              <a:rPr lang="en-US" sz="1600" b="1" dirty="0">
                <a:solidFill>
                  <a:schemeClr val="tx1"/>
                </a:solidFill>
              </a:rPr>
              <a:t>month 29</a:t>
            </a:r>
            <a:endParaRPr lang="en-US" sz="1600" dirty="0"/>
          </a:p>
          <a:p>
            <a:pPr marL="228600" indent="-228600">
              <a:spcAft>
                <a:spcPts val="800"/>
              </a:spcAft>
              <a:buSzPct val="100000"/>
              <a:buChar char="•"/>
            </a:pPr>
            <a:r>
              <a:rPr lang="en-US" sz="1600" dirty="0">
                <a:solidFill>
                  <a:schemeClr val="tx1"/>
                </a:solidFill>
              </a:rPr>
              <a:t>It passes the turnaround at month 33 and restructuring only at </a:t>
            </a:r>
            <a:r>
              <a:rPr lang="en-US" sz="1600" b="1" dirty="0">
                <a:solidFill>
                  <a:schemeClr val="tx1"/>
                </a:solidFill>
              </a:rPr>
              <a:t>month 56</a:t>
            </a:r>
            <a:endParaRPr lang="en-US" sz="1600" dirty="0"/>
          </a:p>
          <a:p>
            <a:pPr marL="228600" indent="-228600">
              <a:spcAft>
                <a:spcPts val="800"/>
              </a:spcAft>
              <a:buSzPct val="100000"/>
              <a:buChar char="•"/>
            </a:pPr>
            <a:r>
              <a:rPr lang="en-US" sz="1600" dirty="0">
                <a:solidFill>
                  <a:schemeClr val="tx1"/>
                </a:solidFill>
              </a:rPr>
              <a:t>Annual reviews rank it last in Years 1–2 and second in Years 3–4</a:t>
            </a:r>
            <a:endParaRPr lang="en-US" sz="1600" dirty="0"/>
          </a:p>
          <a:p>
            <a:pPr marL="228600" indent="-228600">
              <a:spcAft>
                <a:spcPts val="800"/>
              </a:spcAft>
              <a:buSzPct val="100000"/>
              <a:buChar char="•"/>
            </a:pPr>
            <a:r>
              <a:rPr lang="en-US" sz="1600" dirty="0">
                <a:solidFill>
                  <a:schemeClr val="tx1"/>
                </a:solidFill>
              </a:rPr>
              <a:t>Only a five-year window ranks it first</a:t>
            </a:r>
            <a:endParaRPr lang="en-US" sz="1600" dirty="0"/>
          </a:p>
          <a:p>
            <a:pPr marL="228600" indent="-228600">
              <a:spcAft>
                <a:spcPts val="800"/>
              </a:spcAft>
              <a:buSzPct val="100000"/>
              <a:buChar char="•"/>
            </a:pPr>
            <a:r>
              <a:rPr lang="en-US" sz="1600" dirty="0">
                <a:solidFill>
                  <a:schemeClr val="tx1"/>
                </a:solidFill>
              </a:rPr>
              <a:t>The J-curve of Theorem 11.3(iii): the liquidity trough and the efficiency dip</a:t>
            </a:r>
            <a:endParaRPr lang="en-US" sz="1600" dirty="0"/>
          </a:p>
        </p:txBody>
      </p:sp>
      <p:pic>
        <p:nvPicPr>
          <p:cNvPr id="6" name="Figure" descr="Figure 11.3: who really chose digital? The scorecard over time">    </p:cNvPr>
          <p:cNvPicPr>
            <a:picLocks noChangeAspect="1"/>
          </p:cNvPicPr>
          <p:nvPr/>
        </p:nvPicPr>
        <p:blipFill>
          <a:blip r:embed="rId1"/>
          <a:stretch>
            <a:fillRect/>
          </a:stretch>
        </p:blipFill>
        <p:spPr>
          <a:xfrm>
            <a:off x="5169286" y="1878285"/>
            <a:ext cx="6473769" cy="3540342"/>
          </a:xfrm>
          <a:prstGeom prst="rect">
            <a:avLst/>
          </a:prstGeom>
        </p:spPr>
      </p:pic>
      <p:sp>
        <p:nvSpPr>
          <p:cNvPr id="7" name="Caption"/>
          <p:cNvSpPr txBox="1"/>
          <p:nvPr/>
        </p:nvSpPr>
        <p:spPr>
          <a:xfrm>
            <a:off x="5169286" y="5491779"/>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11.3. The CFO's scorecard for Meridian's three options, month by month, with the annual reviews marked.</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TABLE 11.6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Same data, opposite rankings</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010381"/>
                <a:gridCol w="1342066"/>
                <a:gridCol w="1610480"/>
                <a:gridCol w="1431537"/>
                <a:gridCol w="1699951"/>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Declaration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Digital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Restructuring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Turnaround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First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The CFO's scorecard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47.1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46.1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38.4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digital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2 points of weight moved from technology to liquidity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47.5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47.7</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39.8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restructuring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Best option 100, worst 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41.4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52.3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35.3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restructuring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Percentage improvement on today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digital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Review at Year 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32.2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44.5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37.9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restructuring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Review at Year 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39.9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45.6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38.4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restructuring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Meridian's three options under alternative scorecard declarations (Chapter 1 model). Equal weights, index points, and Year 5 unless stated.</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Each is a legitimate choice. None is a fact about the options.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data did not choose digital</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1.6 points</a:t>
            </a:r>
            <a:endParaRPr lang="en-US" sz="40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the weights' margin from a tie, to be declared with the weights</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5 years</a:t>
            </a:r>
            <a:endParaRPr lang="en-US" sz="40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review window the digital program needs before it ranks first</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24.6%</a:t>
            </a:r>
            <a:endParaRPr lang="en-US" sz="40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chance the planned program breaches the liquidity floor, against a 5 percent appetite</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The data narrowed the choice to two options that no scorecard can separate without a declared view</a:t>
            </a:r>
            <a:endParaRPr lang="en-US" sz="1700" dirty="0"/>
          </a:p>
          <a:p>
            <a:pPr marL="228600" indent="-228600">
              <a:spcAft>
                <a:spcPts val="800"/>
              </a:spcAft>
              <a:buSzPct val="100000"/>
              <a:buChar char="•"/>
            </a:pPr>
            <a:r>
              <a:rPr lang="en-US" sz="1700" dirty="0">
                <a:solidFill>
                  <a:schemeClr val="tx1"/>
                </a:solidFill>
              </a:rPr>
              <a:t>The 47.1 is the board's own judgment returned to it as arithmetic (Theorem 11.2)</a:t>
            </a:r>
            <a:endParaRPr lang="en-US" sz="1700" dirty="0"/>
          </a:p>
          <a:p>
            <a:pPr marL="228600" indent="-228600">
              <a:spcAft>
                <a:spcPts val="800"/>
              </a:spcAft>
              <a:buSzPct val="100000"/>
              <a:buChar char="•"/>
            </a:pPr>
            <a:r>
              <a:rPr lang="en-US" sz="1700" dirty="0">
                <a:solidFill>
                  <a:schemeClr val="tx1"/>
                </a:solidFill>
              </a:rPr>
              <a:t>For discussion: the appetite as a weight or as a gate? A standby line and a phased build bring the chance to 3.0 percent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1.11 · MODULE AXIOM-11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Auditing Meridian's scorecard,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wants a performance dashboard it can trust through five years of transformation, whichever option it chooses. The CFO wants one number, the transformation office the full profile, the divisions their own margins. Open AXIOM, choose Lab 1.11 and load the Meridian performance model.</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Build the dashboard</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Declare six or more dimensions with supports, one indicator each with its error, and a band.</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Sweep the weights</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Score the three options, sweep the weights and find the tie nearest the CFO's equal weights.</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Change the yardstick</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Switch among index points, best-to-worst and percentage scales, and between two reference groups.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Roll up a ratio</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Shift revenue between divisions; rebuild the report as a pooled ratio with a rate-and-mix bridge.</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Walk the frontier, move the window</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Find any balanced option no weighting selects; slide the window until digital turns to a gain.</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performance declaration: dimensions with supports and indicators; weights and their margin from a tie; the yardstick and its reference group; the rule and any gates; pooled ratios with a mix bridge; each program's evaluation window. About 75–90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Performance is the family of flows read off the company's state and decisions, distinct from the stocks that produce it and multidimensional by necessity; indicators estimate it, and an indicator that merges levels the company would rank differently loses information before anyone games it.</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Between options that do not dominate each other, the scorecard's weights choose; normalization is a second set of weights; and the aggregation rule sets how far strength may excuse weakness. Declare all three.</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Costs arrive at once and benefits only through the state, no sooner than the architecture allows: transformation is measured as underperformance first, and a review window shorter than 1 + cū/Δ periods condemns a sound program.</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Weighted indices reach the frontier but cannot explore it: balanced options can be invisible to every weighting, and the frontier's slope is the exchange rate the company has chosen. Inside the frontier, improve before trading off.</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Ratios do not average: pool numerators and denominators and bridge the mix; audit target cascades as Chapter 9 audits constraints; and report performance with its fan, its sustainable level, and its resilience.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112</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125</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26111</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AXIOM-11</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1.11</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DCT_V1_Ch11_Lab.ipynb: Worked Example 11.1 and the lab's five steps in eight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DCT_V1_Ch11_Lab.xlsx: the Chapter 1 paths, Table 11.4's lag floors, the weights, the yardsticks, the ratio bridge and Table 11.6,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12 turns targets into risk</a:t>
            </a:r>
            <a:endParaRPr lang="en-US" sz="3200" dirty="0"/>
          </a:p>
        </p:txBody>
      </p:sp>
      <p:pic>
        <p:nvPicPr>
          <p:cNvPr id="5" name="Equation" descr="Equation: R_i \;=\; \varrho_i(L_i), \qquad L_i \;=\; \ell_i(\mathbf{x}, \mathbf{u})">    </p:cNvPr>
          <p:cNvPicPr>
            <a:picLocks noChangeAspect="1"/>
          </p:cNvPicPr>
          <p:nvPr/>
        </p:nvPicPr>
        <p:blipFill>
          <a:blip r:embed="rId1"/>
          <a:stretch>
            <a:fillRect/>
          </a:stretch>
        </p:blipFill>
        <p:spPr>
          <a:xfrm>
            <a:off x="2697718" y="1691640"/>
            <a:ext cx="6796258" cy="731520"/>
          </a:xfrm>
          <a:prstGeom prst="rect">
            <a:avLst/>
          </a:prstGeom>
        </p:spPr>
      </p:pic>
      <p:sp>
        <p:nvSpPr>
          <p:cNvPr id="6" name="Bullets"/>
          <p:cNvSpPr txBox="1"/>
          <p:nvPr/>
        </p:nvSpPr>
        <p:spPr>
          <a:xfrm>
            <a:off x="548640" y="2743200"/>
            <a:ext cx="11094415" cy="34290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Risk is the exposure of declared objectives, this chapter's targets, floors and frontiers, to the distribution of the state (Definition 12.1)</a:t>
            </a:r>
            <a:endParaRPr lang="en-US" sz="1800" dirty="0"/>
          </a:p>
          <a:p>
            <a:pPr marL="228600" indent="-228600">
              <a:spcAft>
                <a:spcPts val="800"/>
              </a:spcAft>
              <a:buSzPct val="100000"/>
              <a:buChar char="•"/>
            </a:pPr>
            <a:r>
              <a:rPr lang="en-US" sz="1800" dirty="0">
                <a:solidFill>
                  <a:schemeClr val="bg1"/>
                </a:solidFill>
              </a:rPr>
              <a:t>Four questions kept apart: risk, vulnerability, robustness, and resilience, the spring-back</a:t>
            </a:r>
            <a:endParaRPr lang="en-US" sz="1800" dirty="0"/>
          </a:p>
          <a:p>
            <a:pPr marL="228600" indent="-228600">
              <a:spcAft>
                <a:spcPts val="800"/>
              </a:spcAft>
              <a:buSzPct val="100000"/>
              <a:buChar char="•"/>
            </a:pPr>
            <a:r>
              <a:rPr lang="en-US" sz="1800" dirty="0">
                <a:solidFill>
                  <a:schemeClr val="bg1"/>
                </a:solidFill>
              </a:rPr>
              <a:t>The habit to carry forward: a target without a distribution is not yet a statement about risk</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11: Enterprise Performance Architecture</dc:title>
  <dc:subject>Slides for Volume I, Chapter 11 (V56)</dc:subject>
  <dc:creator>Samir Asaf</dc:creator>
  <cp:lastModifiedBy>Samir Asaf</cp:lastModifiedBy>
  <cp:revision>1</cp:revision>
  <dcterms:created xsi:type="dcterms:W3CDTF">2026-10-05T09:46:51Z</dcterms:created>
  <dcterms:modified xsi:type="dcterms:W3CDTF">2026-10-05T09:46:51Z</dcterms:modified>
</cp:coreProperties>
</file>