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06a37d5-5371-ed39-7946-2f555f41d763}">
          <p14:sldIdLst>
            <p14:sldId id="256"/>
            <p14:sldId id="257"/>
            <p14:sldId id="258"/>
            <p14:sldId id="259"/>
          </p14:sldIdLst>
        </p14:section>
        <p14:section name="12.1 Why Risk Needs Four Words" id="{0fcbe19d-1a06-9822-c754-0d32cb6fbd7c}">
          <p14:sldIdLst>
            <p14:sldId id="260"/>
          </p14:sldIdLst>
        </p14:section>
        <p14:section name="12.2 Risk, Uncertainty, and the Architecture" id="{0c74f7d8-fb76-5039-2ba5-8c4f09e54215}">
          <p14:sldIdLst>
            <p14:sldId id="261"/>
            <p14:sldId id="262"/>
          </p14:sldIdLst>
        </p14:section>
        <p14:section name="12.3 Shocks, Stress, and Vulnerability" id="{783322ea-c4de-9a7f-908b-11470ac1c690}">
          <p14:sldIdLst>
            <p14:sldId id="263"/>
          </p14:sldIdLst>
        </p14:section>
        <p14:section name="12.4 Enterprise Robustness" id="{2bd42e2c-15e8-6f7e-7f8c-db945f14f170}">
          <p14:sldIdLst>
            <p14:sldId id="264"/>
          </p14:sldIdLst>
        </p14:section>
        <p14:section name="12.5 Enterprise Resilience and Recoverability" id="{ad469511-48ce-c892-f70d-de91ebb157a5}">
          <p14:sldIdLst>
            <p14:sldId id="265"/>
          </p14:sldIdLst>
        </p14:section>
        <p14:section name="12.6 Enterprise Survivability" id="{65ca486f-7ae1-c4ec-6edd-a917844fd5b6}">
          <p14:sldIdLst>
            <p14:sldId id="266"/>
          </p14:sldIdLst>
        </p14:section>
        <p14:section name="12.7 Risk Propagation and Systemic Risk" id="{d2751f96-ce29-5fd8-188f-5376cd85d817}">
          <p14:sldIdLst>
            <p14:sldId id="267"/>
            <p14:sldId id="268"/>
          </p14:sldIdLst>
        </p14:section>
        <p14:section name="12.8 The Risk Architecture Assembled" id="{ff462c50-da63-53e6-7cba-5bae4a9bfa0e}">
          <p14:sldIdLst>
            <p14:sldId id="269"/>
          </p14:sldIdLst>
        </p14:section>
        <p14:section name="Worked Example 12.1" id="{aadfae8d-1ede-3f5b-9906-089784d7de6d}">
          <p14:sldIdLst>
            <p14:sldId id="270"/>
            <p14:sldId id="271"/>
            <p14:sldId id="272"/>
            <p14:sldId id="273"/>
            <p14:sldId id="274"/>
          </p14:sldIdLst>
        </p14:section>
        <p14:section name="AXIOM Lab 1.12" id="{c9e03d47-72dc-6987-a79d-ca3fb5875f6a}">
          <p14:sldIdLst>
            <p14:sldId id="275"/>
          </p14:sldIdLst>
        </p14:section>
        <p14:section name="Close" id="{c3eb6ca2-12e9-49ad-829f-9a21751a05f5}">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12. Part III has built what the company is, has and delivers; this chapter builds what it can lose, and what decides whether a loss is a bruise, a change of regime, or the end (Section 12.1). The Enterprise Risk, Resilience, and Robustness Architecture is the quadruple of risk, vulnerability, resilience and robustness on the state architecture (Definition 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Churchill on the Malakand Field Force (1898). To be shot at without result is robustness: every shock smaller than the armor is absorbed in place (Theorem 12.2). The chapter keeps that guarantee apart from risk, vulnerability and resilience, the other three words for what a company can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12.2: Definitions 12.1-12.3, Propositions 12.1-12.2, Theorem 12.1 and Tables 12.2-12.3. Section 12.3: Definitions 12.4-12.6. Section 12.4: Definition 12.7 and Theorem 12.2. Section 12.5: Definitions 12.8-12.9, Theorem 12.3 and Figure 12.1. Section 12.6: Definition 12.10 and Theorem 12.4. Section 12.7: Definitions 12.11-12.12, Theorem 12.5 and Figure 12.2. Section 12.8: Tables 12.4-12.5. Worked Example 12.1: Table 12.6 and Figure 12.3. AXIOM Lab 1.12: module AXIOM-12, five steps. Proofs of Theorems 12.1, 12.3 and 12.5 are in Appendix 12.A; those of Theorems 12.2 and 12.4 and Propositions 12.1-12.2 in Online Appendix 12.B.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12.1 and Section 12.1. Risk is computed from a distribution of losses; vulnerability is a damage map; robustness is a guarantee, the largest shock the company is certain to absorb, with no probabilities required; resilience is dynamic. A board that asks 'are we exposed?' may mean any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12.1; formal statement and proof in Appendix 12.A. Online Appendix 12.B.1 locates the trap at 1 - sqrt(alpha) &lt; p &lt;= 1 - alpha. Value at risk answers a real question but sees nothing beyond its quantile, and the blindness has a direction: it can rank a concentrated book above a diversified one. Expected shortfall restores subadditivity at the price of estimating deeper into the tail, which is why the banking standard moved to it at the 97.5 percent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12.2-12.3, Definitions 12.1-12.3 and Propositions 12.1-12.2 (Online Appendix 12.B). No single risk number answers every risk question: channels have different supports (Proposition 12.1). A robustness guarantee is a risk guarantee under every distribution the declared set allows, but not conversely (Proposition 12.2, the Knightian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12.4-12.6 and Section 12.3. Vulnerability is a property of state and wiring, not of the shock alone (Worked Examples 9.1 and 12.1). Chapter 7 prices both the shock, through the free response, and the stress, through the forced response and the shift of the 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12.7 and Theorem 12.2; formal statement and proof in Online Appendix 12.B. Buffers are strategy, not slack: the governance question is never 'robust or not' but 'how much premium for how much armor'. Online Appendix 12.B.2 prices the worst case in a two-by-two table: the robust choice raises the guaranteed outcome from 2 to 4 and costs 4.0 in expectation. Armor certifies nothing outside the declared walls and shocks (Proposition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12.3 (formal statement and proof in Appendix 12.A) and Definitions 12.8-12.9. Recovery time grows only with the logarithm of the shock, but without bound as the rate approaches one. A stress test is first an equilibrium computation: can the company live at the stressed point? Fast-and-brittle against slow-and-wide is a strategic choice, and no single number can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12.10 and Theorem 12.4; formal statement and proof in Online Appendix 12.B, with Boole's floor against simulation (12.B.5). Interventions arrive about once in 6.7 years; Industrial Systems needs 7 quarters to work a $90 million shock down to a tenth. The Poisson clock is the optimistic case: when shocks cluster, the next one is most likely precisely when the company is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12.11-12.12 and Theorem 12.5; formal statement and proof in Appendix 12.A; Online Appendix 12.B.4 computes the multiplier component by component. A shock at Digital reaches engineering and treasury in one quarter and Industrial Systems in two. The same wiring with gains a quarter higher than 0.40, and containment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12.5(iv) and Online Appendix 12.B.3: with z = 10 percent the ratio is 4.9 when the separate failures have probability 5 percent, 8.4 at 1 percent, and approaches 10 as they vanish. Portfolios diversified across names can be crowded in common factors, and hedges that diversify in calm conditions fail in the liquidity stress in which they are needed (Section 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12.8 and Tables 12.4-12.5. Part III's four structures now stand: what the company is, has, delivers, and can lose. Chapter 15's optimization treats this chapter's objects as constraints and objectives at last: radii as constraint margins, risk measures as terms in the objective, recovery clocks and the race as design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12.1, the situation. The chair of the risk committee asks for the stress test in the four words of Table 12.1: how much armor the plan leaves and where it is thinnest, how deep the tail goes, whether Meridian could recover from one shock before the next, and what it would cost to make the program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12.1, Steps 1-2; Theorem 12.2(iii); Online Appendix 12.B. Along the plan the cash armor falls from $270 million to $132 million at quarter 7 and recovers only to $160 million when the program ends: the build spends $138 million of armor and rebuilds $28 million. Robustness at the risk peak is not a number the board can know; it is a number the board must decide how to treat.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12.1, Steps 2-4; Theorem 12.4(iii). The paths are Worked Example 8.1's (100,000 paths, seed 8). The worst one path in twenty averages a low point $184 million below the floor. Closures arrive about once a decade and remove $120 million on average (median $113 million, 90th percentile $187 million) that does not come back within the program; one lands in the seven thin quarters with probability 1 - exp(-0.10 x 7/4) = 16 percent. After the low point the plan rebuilds its armor only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12.6 and Step 5. The standby line leaves the plan's armor at $132 million but covers $100 million of any closure, so only a closure above $232 million breaks the floor at the low point; the breach odds halve to 12.4 percent. Phasing the build raises the armor itself, to $181 million. With both, a closure must exceed $281 million, a 0.6 percent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12.1, what the board should take away, and the discussion question: at the digital peak strategic risk sits 1.4 points below a ceiling measured with an error of ±6 points. Should the board treat the ceiling as breached, commission a better measurement, or redesign the program so that the peak stays further away? What would each choice cost, and which of the four words does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1.12. What to look for: value at risk can rank the concentrated book as safer (Theorem 12.1); armor is set by the nearest wall on the declared scale (Theorem 12.2(iii)); recovery is to the band (Theorem 12.3(iv)); the race is lost when armor is thin and recovery slow (Theorem 12.4(iii)); and the multiplier explodes as the spectral radius of G approaches one (Theorem 12.5(iii)). Discussion: which channels would you treat with a distribution and which with a set of scenarios? Rewrite the appetite so that it also limits how deep a breach may go. Which arrow of the feedback core would you dampen first, and what would it cost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worked example's paths are Worked Example 8.1's, drawn as in the book with random seed 8 (Online Appendix 12.B.6); Online Appendix 12.B.5's revenue paths use the book's seed 12; the lab's seed 26112 is used only for fresh draws,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12.8's bridge and Chapter 13's abstract; Definition 13.1 of the Unified Enterprise Transformation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12</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12</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12 · WEEK 6</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Risk, Resilience, and Robustness Architecture</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Boards use one word, risk, for four different questions: keep them apart, and each becomes a number the board can act on</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26112 · AXIOM Lab 1.12 (AXIOM-12)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“Nothing in life is so exhilarating as to be shot at without result.”</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Winston S. Churchill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1953; The Story of the Malakand Field Force (1898)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12.1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risk, vulnerability, robustness, and resilience as four different answers to four different board questions, and use the distinctions to diagnose a risk report or register that blurs them.</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12.2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a risk measure turns a distribution of losses into a number; compare expected loss, value at risk, and expected shortfall; and explain why the choice decides whether a risk dashboard rewards or punishes diversification.</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12.3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Compute a company's armor against its declared limits—the robustness radius, read as a reverse stress test—and explain what protection against the worst case costs in expected performance.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12.4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resilience as two numbers, margin and rate; compute a recovery clock; treat recovery as re-entry into a band rather than a return to plan; and estimate the odds that the next shock arrives before recovery from the last.</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12.5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Trace a shock through a company's feedback core, explain why containment depends on an eigenvalue of the gain-weighted wiring, and explain why common causes make joint failures far likelier than a register of separate risks suggests.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Risk Needs Four Words</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 12.1</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Risk, Uncertainty, and the Architecture</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12.1 · Tables 12.2–12.3</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Shocks, Stress, and Vulnerability</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Definitions 12.4–12.6</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Robustness</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12.2</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Resilience and Recoverability</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12.3 · Figure 12.1</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Survivability</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12.4</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Risk Propagation and Systemic Risk</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12.5 · Figure 12.2</a:t>
            </a:r>
            <a:endParaRPr lang="en-US" sz="1200" dirty="0"/>
          </a:p>
        </p:txBody>
      </p:sp>
      <p:sp>
        <p:nvSpPr>
          <p:cNvPr id="33"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§12.8</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Risk Architecture Assembled</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Tables 12.4–12.5</a:t>
            </a:r>
            <a:endParaRPr lang="en-US" sz="1200" dirty="0"/>
          </a:p>
        </p:txBody>
      </p:sp>
      <p:sp>
        <p:nvSpPr>
          <p:cNvPr id="37"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12.1</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What Would Break Meridian?</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12.6 · Figure 12.3</a:t>
            </a:r>
            <a:endParaRPr lang="en-US" sz="1200" dirty="0"/>
          </a:p>
        </p:txBody>
      </p:sp>
      <p:sp>
        <p:nvSpPr>
          <p:cNvPr id="41"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42"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1.12</a:t>
            </a:r>
            <a:endParaRPr lang="en-US" sz="1300" dirty="0"/>
          </a:p>
        </p:txBody>
      </p:sp>
      <p:sp>
        <p:nvSpPr>
          <p:cNvPr id="43" name="Card head"/>
          <p:cNvSpPr txBox="1"/>
          <p:nvPr/>
        </p:nvSpPr>
        <p:spPr>
          <a:xfrm>
            <a:off x="9826508"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Stress-Testing Meridian</a:t>
            </a:r>
            <a:endParaRPr lang="en-US" sz="1300" dirty="0"/>
          </a:p>
        </p:txBody>
      </p:sp>
      <p:sp>
        <p:nvSpPr>
          <p:cNvPr id="44" name="Card text"/>
          <p:cNvSpPr txBox="1"/>
          <p:nvPr/>
        </p:nvSpPr>
        <p:spPr>
          <a:xfrm>
            <a:off x="9826508"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AXIOM-12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§12.1 · TABLE 12.1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words for four board questions</a:t>
            </a:r>
            <a:endParaRPr lang="en-US" sz="32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604564"/>
                <a:gridCol w="2796526"/>
                <a:gridCol w="2888216"/>
                <a:gridCol w="3805109"/>
              </a:tblGrid>
              <a:tr h="41148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Concept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Question it answers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What it is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Meridian reading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84124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How likely, and how bad?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number computed from the distribution of losses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24.6% chance that the digital program breaches the liquidity floor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84124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Vulnerability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Where does a given shock hurt, and when?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damage map on the state and the wiring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demand shock reaches the divisions in one quarter, treasury in two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84124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Robustness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What is guaranteed, whatever happens in a declared set?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armor: the smallest shock that breaks a limit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$270 million of cash above the floor today, $132 million at the program's low point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84124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Resilience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How far can it be pushed, and how fast does it return?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two numbers: margin and rate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Industrial Systems back inside its normal band three quarters after a $90 million shock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4864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12.1. Conflating the four is the standard failure of risk conversations.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risk report that answers a different question from the one asked is among the commonest failures of risk governance.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§12.2 · THEOREM 12.1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Value at risk can punish diversification</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12.1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Risk Representation Theorem</a:t>
            </a:r>
            <a:endParaRPr lang="en-US" sz="2100" dirty="0"/>
          </a:p>
        </p:txBody>
      </p:sp>
      <p:pic>
        <p:nvPicPr>
          <p:cNvPr id="8" name="Equation" descr="Equation: \mathrm{ES}_{\alpha}(L) \;=\; \frac{1}{1-\alpha}\int_{\alpha}^{1}\mathrm{VaR}_{u}(L)\,\mathrm{d}u">    </p:cNvPr>
          <p:cNvPicPr>
            <a:picLocks noChangeAspect="1"/>
          </p:cNvPicPr>
          <p:nvPr/>
        </p:nvPicPr>
        <p:blipFill>
          <a:blip r:embed="rId1"/>
          <a:stretch>
            <a:fillRect/>
          </a:stretch>
        </p:blipFill>
        <p:spPr>
          <a:xfrm>
            <a:off x="822960" y="2743200"/>
            <a:ext cx="3316252" cy="640080"/>
          </a:xfrm>
          <a:prstGeom prst="rect">
            <a:avLst/>
          </a:prstGeom>
        </p:spPr>
      </p:pic>
      <p:sp>
        <p:nvSpPr>
          <p:cNvPr id="9" name="Bullets"/>
          <p:cNvSpPr txBox="1"/>
          <p:nvPr/>
        </p:nvSpPr>
        <p:spPr>
          <a:xfrm>
            <a:off x="822960" y="3547872"/>
            <a:ext cx="5394960" cy="248716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Risk is well defined.</a:t>
            </a:r>
            <a:r>
              <a:rPr lang="en-US" sz="1500" dirty="0">
                <a:solidFill>
                  <a:schemeClr val="tx1"/>
                </a:solidFill>
              </a:rPr>
              <a:t> Every loss channel, and every path quantity such as a program's lowest liquidity, has a distribution derived from the state's</a:t>
            </a:r>
            <a:endParaRPr lang="en-US" sz="1500" dirty="0"/>
          </a:p>
          <a:p>
            <a:pPr marL="228600" indent="-228600">
              <a:spcAft>
                <a:spcPts val="600"/>
              </a:spcAft>
              <a:buSzPct val="100000"/>
              <a:buChar char="•"/>
            </a:pPr>
            <a:r>
              <a:rPr lang="en-US" sz="1500" b="1" dirty="0">
                <a:solidFill>
                  <a:schemeClr val="tx1"/>
                </a:solidFill>
              </a:rPr>
              <a:t>(ii) Coherence, and who has it.</a:t>
            </a:r>
            <a:r>
              <a:rPr lang="en-US" sz="1500" dirty="0">
                <a:solidFill>
                  <a:schemeClr val="tx1"/>
                </a:solidFill>
              </a:rPr>
              <a:t> Expected loss and expected shortfall are coherent; value at risk is not subadditive</a:t>
            </a:r>
            <a:endParaRPr lang="en-US" sz="1500" dirty="0"/>
          </a:p>
          <a:p>
            <a:pPr marL="228600" indent="-228600">
              <a:spcAft>
                <a:spcPts val="600"/>
              </a:spcAft>
              <a:buSzPct val="100000"/>
              <a:buChar char="•"/>
            </a:pPr>
            <a:r>
              <a:rPr lang="en-US" sz="1500" b="1" dirty="0">
                <a:solidFill>
                  <a:schemeClr val="tx1"/>
                </a:solidFill>
              </a:rPr>
              <a:t>(iii) The diversification verdict.</a:t>
            </a:r>
            <a:r>
              <a:rPr lang="en-US" sz="1500" dirty="0">
                <a:solidFill>
                  <a:schemeClr val="tx1"/>
                </a:solidFill>
              </a:rPr>
              <a:t> Under a subadditive measure the whole never looks riskier than its parts; under value at risk it can</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Two independent loans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Each loses 100 with probability 4 percent</a:t>
            </a:r>
            <a:endParaRPr lang="en-US" sz="1600" dirty="0"/>
          </a:p>
          <a:p>
            <a:pPr marL="228600" indent="-228600">
              <a:spcAft>
                <a:spcPts val="800"/>
              </a:spcAft>
              <a:buSzPct val="100000"/>
              <a:buChar char="•"/>
            </a:pPr>
            <a:r>
              <a:rPr lang="en-US" sz="1600" dirty="0">
                <a:solidFill>
                  <a:schemeClr val="tx1"/>
                </a:solidFill>
              </a:rPr>
              <a:t>95% value at risk: </a:t>
            </a:r>
            <a:r>
              <a:rPr lang="en-US" sz="1600" b="1" dirty="0">
                <a:solidFill>
                  <a:schemeClr val="tx1"/>
                </a:solidFill>
              </a:rPr>
              <a:t>0</a:t>
            </a:r>
            <a:r>
              <a:rPr lang="en-US" sz="1600" dirty="0">
                <a:solidFill>
                  <a:schemeClr val="tx1"/>
                </a:solidFill>
              </a:rPr>
              <a:t> for each loan, </a:t>
            </a:r>
            <a:r>
              <a:rPr lang="en-US" sz="1600" b="1" dirty="0">
                <a:solidFill>
                  <a:schemeClr val="tx1"/>
                </a:solidFill>
              </a:rPr>
              <a:t>100</a:t>
            </a:r>
            <a:r>
              <a:rPr lang="en-US" sz="1600" dirty="0">
                <a:solidFill>
                  <a:schemeClr val="tx1"/>
                </a:solidFill>
              </a:rPr>
              <a:t> for the pair</a:t>
            </a:r>
            <a:endParaRPr lang="en-US" sz="1600" dirty="0"/>
          </a:p>
          <a:p>
            <a:pPr marL="228600" indent="-228600">
              <a:spcAft>
                <a:spcPts val="800"/>
              </a:spcAft>
              <a:buSzPct val="100000"/>
              <a:buChar char="•"/>
            </a:pPr>
            <a:r>
              <a:rPr lang="en-US" sz="1600" dirty="0">
                <a:solidFill>
                  <a:schemeClr val="tx1"/>
                </a:solidFill>
              </a:rPr>
              <a:t>Expected shortfall: </a:t>
            </a:r>
            <a:r>
              <a:rPr lang="en-US" sz="1600" b="1" dirty="0">
                <a:solidFill>
                  <a:schemeClr val="tx1"/>
                </a:solidFill>
              </a:rPr>
              <a:t>80</a:t>
            </a:r>
            <a:r>
              <a:rPr lang="en-US" sz="1600" dirty="0">
                <a:solidFill>
                  <a:schemeClr val="tx1"/>
                </a:solidFill>
              </a:rPr>
              <a:t> for each, </a:t>
            </a:r>
            <a:r>
              <a:rPr lang="en-US" sz="1600" b="1" dirty="0">
                <a:solidFill>
                  <a:schemeClr val="tx1"/>
                </a:solidFill>
              </a:rPr>
              <a:t>103.2</a:t>
            </a:r>
            <a:r>
              <a:rPr lang="en-US" sz="1600" dirty="0">
                <a:solidFill>
                  <a:schemeClr val="tx1"/>
                </a:solidFill>
              </a:rPr>
              <a:t> for the pair, well below the 160 of the parts</a:t>
            </a:r>
            <a:endParaRPr lang="en-US" sz="1600" dirty="0"/>
          </a:p>
          <a:p>
            <a:pPr marL="228600" indent="-228600">
              <a:spcAft>
                <a:spcPts val="800"/>
              </a:spcAft>
              <a:buSzPct val="100000"/>
              <a:buChar char="•"/>
            </a:pPr>
            <a:r>
              <a:rPr lang="en-US" sz="1600" dirty="0">
                <a:solidFill>
                  <a:schemeClr val="tx1"/>
                </a:solidFill>
              </a:rPr>
              <a:t>The trap opens for tail probabilities just below 1 − α: from 0.025 to 0.05 at 95 percent</a:t>
            </a:r>
            <a:endParaRPr lang="en-US" sz="1600" dirty="0"/>
          </a:p>
          <a:p>
            <a:pPr marL="228600" indent="-228600">
              <a:spcAft>
                <a:spcPts val="800"/>
              </a:spcAft>
              <a:buSzPct val="100000"/>
              <a:buChar char="•"/>
            </a:pPr>
            <a:r>
              <a:rPr lang="en-US" sz="1600" dirty="0">
                <a:solidFill>
                  <a:schemeClr val="tx1"/>
                </a:solidFill>
              </a:rPr>
              <a:t>Report two numbers for any channel: how often, and how deep</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§12.2 · TABLES 12.2–12.3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Declare the measure, and whether it is coherent</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58992"/>
                <a:gridCol w="2200545"/>
                <a:gridCol w="3025750"/>
                <a:gridCol w="3209128"/>
              </a:tblGrid>
              <a:tr h="54864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Measure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Coherent?</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What it sees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Honest use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Expected loss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yes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the average only</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pricing, budgets, plan lines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Standard deviation</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gains and losses alike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volatility budgets (Theorem 8.3)</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Value at risk</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no: not subadditive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one quantile; blind beyond it</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threshold reporting, never netting</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0F1E3D"/>
                          </a:solidFill>
                          <a:latin typeface="Calibri" pitchFamily="34" charset="0"/>
                          <a:ea typeface="Calibri" pitchFamily="34" charset="-122"/>
                          <a:cs typeface="Calibri" pitchFamily="34" charset="-120"/>
                        </a:rPr>
                        <a:t>Expected shortfall</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yes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the average of the tail</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netting, consolidation, appetite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4864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Breach probability</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no</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how often, not how deep</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survival odds (Theorem 12.4)</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12.3. Table 12.2 declares a support and a measure for each of the risk vector's ten channels: financial, operational, strategic, technological, cyber, governance, legal and regulatory, environmental, reputational, and ESG (Equation 12.1).</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Declare the measure for each channel, state whether it is coherent, and never net risks with one that is not.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§12.3 · DEFINITIONS 12.4–12.6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Vulnerability depends on the state and wiring</a:t>
            </a:r>
            <a:endParaRPr lang="en-US" sz="3200" dirty="0"/>
          </a:p>
        </p:txBody>
      </p:sp>
      <p:pic>
        <p:nvPicPr>
          <p:cNvPr id="5" name="Equation" descr="Equation: V(\mathbf{x}, \mathbf{s}) \;=\; \Phi(\mathbf{x}) \;-\; \Phi(\mathbf{x} + \mathbf{s})">    </p:cNvPr>
          <p:cNvPicPr>
            <a:picLocks noChangeAspect="1"/>
          </p:cNvPicPr>
          <p:nvPr/>
        </p:nvPicPr>
        <p:blipFill>
          <a:blip r:embed="rId1"/>
          <a:stretch>
            <a:fillRect/>
          </a:stretch>
        </p:blipFill>
        <p:spPr>
          <a:xfrm>
            <a:off x="3217832" y="1828800"/>
            <a:ext cx="5756031" cy="685800"/>
          </a:xfrm>
          <a:prstGeom prst="rect">
            <a:avLst/>
          </a:prstGeom>
        </p:spPr>
      </p:pic>
      <p:sp>
        <p:nvSpPr>
          <p:cNvPr id="6" name="Text 2"/>
          <p:cNvSpPr txBox="1"/>
          <p:nvPr/>
        </p:nvSpPr>
        <p:spPr>
          <a:xfrm>
            <a:off x="914400" y="26517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damage map: the declared performance lost at impact when a shock s displaces the state x</a:t>
            </a:r>
            <a:endParaRPr lang="en-US" sz="1600" dirty="0"/>
          </a:p>
        </p:txBody>
      </p:sp>
      <p:sp>
        <p:nvSpPr>
          <p:cNvPr id="7" name="Bullets"/>
          <p:cNvSpPr txBox="1"/>
          <p:nvPr/>
        </p:nvSpPr>
        <p:spPr>
          <a:xfrm>
            <a:off x="914400" y="3246120"/>
            <a:ext cx="10362895" cy="29260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A shock</a:t>
            </a:r>
            <a:r>
              <a:rPr lang="en-US" sz="1700" dirty="0">
                <a:solidFill>
                  <a:schemeClr val="bg1"/>
                </a:solidFill>
              </a:rPr>
              <a:t> is a sudden displacement of the state; </a:t>
            </a:r>
            <a:r>
              <a:rPr lang="en-US" sz="1700" b="1" dirty="0">
                <a:solidFill>
                  <a:schemeClr val="bg1"/>
                </a:solidFill>
              </a:rPr>
              <a:t>a stress</a:t>
            </a:r>
            <a:r>
              <a:rPr lang="en-US" sz="1700" dirty="0">
                <a:solidFill>
                  <a:schemeClr val="bg1"/>
                </a:solidFill>
              </a:rPr>
              <a:t> a sustained adverse path: the impulse and the step of the same dynamics</a:t>
            </a:r>
            <a:endParaRPr lang="en-US" sz="1700" dirty="0"/>
          </a:p>
          <a:p>
            <a:pPr marL="228600" indent="-228600">
              <a:spcAft>
                <a:spcPts val="800"/>
              </a:spcAft>
              <a:buSzPct val="100000"/>
              <a:buChar char="•"/>
            </a:pPr>
            <a:r>
              <a:rPr lang="en-US" sz="1700" dirty="0">
                <a:solidFill>
                  <a:schemeClr val="bg1"/>
                </a:solidFill>
              </a:rPr>
              <a:t>The same $150 million cash loss is absorbed today, with $270 million above the floor, and breaks the floor at the program's low point, with $132 million</a:t>
            </a:r>
            <a:endParaRPr lang="en-US" sz="1700" dirty="0"/>
          </a:p>
          <a:p>
            <a:pPr marL="228600" indent="-228600">
              <a:spcAft>
                <a:spcPts val="800"/>
              </a:spcAft>
              <a:buSzPct val="100000"/>
              <a:buChar char="•"/>
            </a:pPr>
            <a:r>
              <a:rPr lang="en-US" sz="1700" dirty="0">
                <a:solidFill>
                  <a:schemeClr val="bg1"/>
                </a:solidFill>
              </a:rPr>
              <a:t>A demand shock reaches Meridian's divisions in one quarter, but treasury, where the covenant lives, only in two</a:t>
            </a:r>
            <a:endParaRPr lang="en-US" sz="1700" dirty="0"/>
          </a:p>
          <a:p>
            <a:pPr marL="228600" indent="-228600">
              <a:spcAft>
                <a:spcPts val="800"/>
              </a:spcAft>
              <a:buSzPct val="100000"/>
              <a:buChar char="•"/>
            </a:pPr>
            <a:r>
              <a:rPr lang="en-US" sz="1700" dirty="0">
                <a:solidFill>
                  <a:schemeClr val="bg1"/>
                </a:solidFill>
              </a:rPr>
              <a:t>Arrival floors are the first layer of a damage map; Theorem 12.5 adds the magnitudes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§12.4 · THEOREM 12.2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Armor is the distance to the nearest wall</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12.2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Robustness Theorem</a:t>
            </a:r>
            <a:endParaRPr lang="en-US" sz="2100" dirty="0"/>
          </a:p>
        </p:txBody>
      </p:sp>
      <p:pic>
        <p:nvPicPr>
          <p:cNvPr id="8" name="Equation" descr="Equation: r(\mathbf{x}) \;=\; \inf\bigl\{\lVert\mathbf{s}\rVert :\ \mathbf{x} + \mathbf{s} \notin \mathcal{A}\bigr\}">    </p:cNvPr>
          <p:cNvPicPr>
            <a:picLocks noChangeAspect="1"/>
          </p:cNvPicPr>
          <p:nvPr/>
        </p:nvPicPr>
        <p:blipFill>
          <a:blip r:embed="rId1"/>
          <a:stretch>
            <a:fillRect/>
          </a:stretch>
        </p:blipFill>
        <p:spPr>
          <a:xfrm>
            <a:off x="822960" y="2743200"/>
            <a:ext cx="3917482" cy="502920"/>
          </a:xfrm>
          <a:prstGeom prst="rect">
            <a:avLst/>
          </a:prstGeom>
        </p:spPr>
      </p:pic>
      <p:sp>
        <p:nvSpPr>
          <p:cNvPr id="9" name="Bullets"/>
          <p:cNvSpPr txBox="1"/>
          <p:nvPr/>
        </p:nvSpPr>
        <p:spPr>
          <a:xfrm>
            <a:off x="822960" y="3410712"/>
            <a:ext cx="5394960" cy="262432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The armor bound.</a:t>
            </a:r>
            <a:r>
              <a:rPr lang="en-US" sz="1500" dirty="0">
                <a:solidFill>
                  <a:schemeClr val="tx1"/>
                </a:solidFill>
              </a:rPr>
              <a:t> Every shock smaller than the radius is absorbed in place; with one sensitivity, the radius becomes a guaranteed performance floor</a:t>
            </a:r>
            <a:endParaRPr lang="en-US" sz="1500" dirty="0"/>
          </a:p>
          <a:p>
            <a:pPr marL="228600" indent="-228600">
              <a:spcAft>
                <a:spcPts val="600"/>
              </a:spcAft>
              <a:buSzPct val="100000"/>
              <a:buChar char="•"/>
            </a:pPr>
            <a:r>
              <a:rPr lang="en-US" sz="1500" b="1" dirty="0">
                <a:solidFill>
                  <a:schemeClr val="tx1"/>
                </a:solidFill>
              </a:rPr>
              <a:t>(ii) The price of the worst case.</a:t>
            </a:r>
            <a:r>
              <a:rPr lang="en-US" sz="1500" dirty="0">
                <a:solidFill>
                  <a:schemeClr val="tx1"/>
                </a:solidFill>
              </a:rPr>
              <a:t> Protection against every shock in a declared set costs expected performance: a computable premium</a:t>
            </a:r>
            <a:endParaRPr lang="en-US" sz="1500" dirty="0"/>
          </a:p>
          <a:p>
            <a:pPr marL="228600" indent="-228600">
              <a:spcAft>
                <a:spcPts val="600"/>
              </a:spcAft>
              <a:buSzPct val="100000"/>
              <a:buChar char="•"/>
            </a:pPr>
            <a:r>
              <a:rPr lang="en-US" sz="1500" b="1" dirty="0">
                <a:solidFill>
                  <a:schemeClr val="tx1"/>
                </a:solidFill>
              </a:rPr>
              <a:t>(iii) The reverse stress test.</a:t>
            </a:r>
            <a:r>
              <a:rPr lang="en-US" sz="1500" dirty="0">
                <a:solidFill>
                  <a:schemeClr val="tx1"/>
                </a:solidFill>
              </a:rPr>
              <a:t> When each limit bounds one reading, the radius is the smallest slack on the declared scale</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 today</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cash loss of </a:t>
            </a:r>
            <a:r>
              <a:rPr lang="en-US" sz="1600" b="1" dirty="0">
                <a:solidFill>
                  <a:schemeClr val="tx1"/>
                </a:solidFill>
              </a:rPr>
              <a:t>$270m</a:t>
            </a:r>
            <a:r>
              <a:rPr lang="en-US" sz="1600" dirty="0">
                <a:solidFill>
                  <a:schemeClr val="tx1"/>
                </a:solidFill>
              </a:rPr>
              <a:t> breaks the floor; it would lift leverage only to 3.9 times</a:t>
            </a:r>
            <a:endParaRPr lang="en-US" sz="1600" dirty="0"/>
          </a:p>
          <a:p>
            <a:pPr marL="228600" indent="-228600">
              <a:spcAft>
                <a:spcPts val="800"/>
              </a:spcAft>
              <a:buSzPct val="100000"/>
              <a:buChar char="•"/>
            </a:pPr>
            <a:r>
              <a:rPr lang="en-US" sz="1600" dirty="0">
                <a:solidFill>
                  <a:schemeClr val="tx1"/>
                </a:solidFill>
              </a:rPr>
              <a:t>EBITDA would have to fall </a:t>
            </a:r>
            <a:r>
              <a:rPr lang="en-US" sz="1600" b="1" dirty="0">
                <a:solidFill>
                  <a:schemeClr val="tx1"/>
                </a:solidFill>
              </a:rPr>
              <a:t>$121m</a:t>
            </a:r>
            <a:r>
              <a:rPr lang="en-US" sz="1600" dirty="0">
                <a:solidFill>
                  <a:schemeClr val="tx1"/>
                </a:solidFill>
              </a:rPr>
              <a:t>, 24 percent, to break the covenant</a:t>
            </a:r>
            <a:endParaRPr lang="en-US" sz="1600" dirty="0"/>
          </a:p>
          <a:p>
            <a:pPr marL="228600" indent="-228600">
              <a:spcAft>
                <a:spcPts val="800"/>
              </a:spcAft>
              <a:buSzPct val="100000"/>
              <a:buChar char="•"/>
            </a:pPr>
            <a:r>
              <a:rPr lang="en-US" sz="1600" dirty="0">
                <a:solidFill>
                  <a:schemeClr val="tx1"/>
                </a:solidFill>
              </a:rPr>
              <a:t>Strategic risk can rise </a:t>
            </a:r>
            <a:r>
              <a:rPr lang="en-US" sz="1600" b="1" dirty="0">
                <a:solidFill>
                  <a:schemeClr val="tx1"/>
                </a:solidFill>
              </a:rPr>
              <a:t>11 points</a:t>
            </a:r>
            <a:r>
              <a:rPr lang="en-US" sz="1600" dirty="0">
                <a:solidFill>
                  <a:schemeClr val="tx1"/>
                </a:solidFill>
              </a:rPr>
              <a:t> before it meets the ceiling</a:t>
            </a:r>
            <a:endParaRPr lang="en-US" sz="1600" dirty="0"/>
          </a:p>
          <a:p>
            <a:pPr marL="228600" indent="-228600">
              <a:spcAft>
                <a:spcPts val="800"/>
              </a:spcAft>
              <a:buSzPct val="100000"/>
              <a:buChar char="•"/>
            </a:pPr>
            <a:r>
              <a:rPr lang="en-US" sz="1600" dirty="0">
                <a:solidFill>
                  <a:schemeClr val="tx1"/>
                </a:solidFill>
              </a:rPr>
              <a:t>On the declared scale, 0.44, 0.32 and </a:t>
            </a:r>
            <a:r>
              <a:rPr lang="en-US" sz="1600" b="1" dirty="0">
                <a:solidFill>
                  <a:schemeClr val="tx1"/>
                </a:solidFill>
              </a:rPr>
              <a:t>0.11</a:t>
            </a:r>
            <a:r>
              <a:rPr lang="en-US" sz="1600" dirty="0">
                <a:solidFill>
                  <a:schemeClr val="tx1"/>
                </a:solidFill>
              </a:rPr>
              <a:t>: the nearest wall is not a financial one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§12.5 · THEOREM 12.3 · FIGURE 12.1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Recovery is to the band, not to the plan</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The clock:</a:t>
            </a:r>
            <a:r>
              <a:rPr lang="en-US" sz="1500" dirty="0">
                <a:solidFill>
                  <a:schemeClr val="tx1"/>
                </a:solidFill>
              </a:rPr>
              <a:t> a $90m shock falls to a tenth in </a:t>
            </a:r>
            <a:r>
              <a:rPr lang="en-US" sz="1500" b="1" dirty="0">
                <a:solidFill>
                  <a:schemeClr val="tx1"/>
                </a:solidFill>
              </a:rPr>
              <a:t>7 quarters</a:t>
            </a:r>
            <a:r>
              <a:rPr lang="en-US" sz="1500" dirty="0">
                <a:solidFill>
                  <a:schemeClr val="tx1"/>
                </a:solidFill>
              </a:rPr>
              <a:t> (Equation 12.2)</a:t>
            </a:r>
            <a:endParaRPr lang="en-US" sz="1500" dirty="0"/>
          </a:p>
          <a:p>
            <a:pPr marL="228600" indent="-228600">
              <a:spcAft>
                <a:spcPts val="800"/>
              </a:spcAft>
              <a:buSzPct val="100000"/>
              <a:buChar char="•"/>
            </a:pPr>
            <a:r>
              <a:rPr lang="en-US" sz="1500" dirty="0">
                <a:solidFill>
                  <a:schemeClr val="tx1"/>
                </a:solidFill>
              </a:rPr>
              <a:t>But it re-enters the 90% band, ±$34.5m, after </a:t>
            </a:r>
            <a:r>
              <a:rPr lang="en-US" sz="1500" b="1" dirty="0">
                <a:solidFill>
                  <a:schemeClr val="tx1"/>
                </a:solidFill>
              </a:rPr>
              <a:t>2.7 quarters</a:t>
            </a:r>
            <a:r>
              <a:rPr lang="en-US" sz="1500" dirty="0">
                <a:solidFill>
                  <a:schemeClr val="tx1"/>
                </a:solidFill>
              </a:rPr>
              <a:t>: the honest target</a:t>
            </a:r>
            <a:endParaRPr lang="en-US" sz="1500" dirty="0"/>
          </a:p>
          <a:p>
            <a:pPr marL="228600" indent="-228600">
              <a:spcAft>
                <a:spcPts val="800"/>
              </a:spcAft>
              <a:buSzPct val="100000"/>
              <a:buChar char="•"/>
            </a:pPr>
            <a:r>
              <a:rPr lang="en-US" sz="1500" dirty="0">
                <a:solidFill>
                  <a:schemeClr val="tx1"/>
                </a:solidFill>
              </a:rPr>
              <a:t>Revenue is within $1m of plan only </a:t>
            </a:r>
            <a:r>
              <a:rPr lang="en-US" sz="1500" b="1" dirty="0">
                <a:solidFill>
                  <a:schemeClr val="tx1"/>
                </a:solidFill>
              </a:rPr>
              <a:t>3.8%</a:t>
            </a:r>
            <a:r>
              <a:rPr lang="en-US" sz="1500" dirty="0">
                <a:solidFill>
                  <a:schemeClr val="tx1"/>
                </a:solidFill>
              </a:rPr>
              <a:t> of the time: plan is never reached for good</a:t>
            </a:r>
            <a:endParaRPr lang="en-US" sz="1500" dirty="0"/>
          </a:p>
          <a:p>
            <a:pPr marL="228600" indent="-228600">
              <a:spcAft>
                <a:spcPts val="800"/>
              </a:spcAft>
              <a:buSzPct val="100000"/>
              <a:buChar char="•"/>
            </a:pPr>
            <a:r>
              <a:rPr lang="en-US" sz="1500" dirty="0">
                <a:solidFill>
                  <a:schemeClr val="tx1"/>
                </a:solidFill>
              </a:rPr>
              <a:t>A sustained $15m shortfall moves the equilibrium to </a:t>
            </a:r>
            <a:r>
              <a:rPr lang="en-US" sz="1500" b="1" dirty="0">
                <a:solidFill>
                  <a:schemeClr val="tx1"/>
                </a:solidFill>
              </a:rPr>
              <a:t>$50m</a:t>
            </a:r>
            <a:r>
              <a:rPr lang="en-US" sz="1500" dirty="0">
                <a:solidFill>
                  <a:schemeClr val="tx1"/>
                </a:solidFill>
              </a:rPr>
              <a:t> below plan</a:t>
            </a:r>
            <a:endParaRPr lang="en-US" sz="1500" dirty="0"/>
          </a:p>
          <a:p>
            <a:pPr marL="228600" indent="-228600">
              <a:spcAft>
                <a:spcPts val="800"/>
              </a:spcAft>
              <a:buSzPct val="100000"/>
              <a:buChar char="•"/>
            </a:pPr>
            <a:r>
              <a:rPr lang="en-US" sz="1500" dirty="0">
                <a:solidFill>
                  <a:schemeClr val="tx1"/>
                </a:solidFill>
              </a:rPr>
              <a:t>Margin and rate cannot substitute: no single resilience score can rank A and B</a:t>
            </a:r>
            <a:endParaRPr lang="en-US" sz="1500" dirty="0"/>
          </a:p>
        </p:txBody>
      </p:sp>
      <p:pic>
        <p:nvPicPr>
          <p:cNvPr id="6" name="Figure" descr="Figure 12.1: resilience, read correctly">    </p:cNvPr>
          <p:cNvPicPr>
            <a:picLocks noChangeAspect="1"/>
          </p:cNvPicPr>
          <p:nvPr/>
        </p:nvPicPr>
        <p:blipFill>
          <a:blip r:embed="rId1"/>
          <a:stretch>
            <a:fillRect/>
          </a:stretch>
        </p:blipFill>
        <p:spPr>
          <a:xfrm>
            <a:off x="5169286" y="1987867"/>
            <a:ext cx="6473769" cy="3321178"/>
          </a:xfrm>
          <a:prstGeom prst="rect">
            <a:avLst/>
          </a:prstGeom>
        </p:spPr>
      </p:pic>
      <p:sp>
        <p:nvSpPr>
          <p:cNvPr id="7" name="Caption"/>
          <p:cNvSpPr txBox="1"/>
          <p:nvPr/>
        </p:nvSpPr>
        <p:spPr>
          <a:xfrm>
            <a:off x="5169286" y="5382197"/>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12.1. Left: Industrial Systems' revenue after a $90 million shock re-enters the 90 percent band after 2.7 quarters. Right: A (rate 2, margin 1) heals a shock of 0.5 in 1.2 against B's 11.5; a shock of 5 ends A's regime, while B heals it in 23.</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§12.6 · THEOREM 12.4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next shock may arrive before recovery</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23%</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chance that the next regulatory intervention lands while Industrial Systems is still recovering: 1 − exp(−0.15 × 7/4)</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19%</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at most: Boole's floor on a quarter $45m below plan within three years</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by simulation, with its error bar: persistent deviations make bad quarters come together</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800" b="1" dirty="0">
                <a:solidFill>
                  <a:schemeClr val="tx1"/>
                </a:solidFill>
              </a:rPr>
              <a:t>(i)</a:t>
            </a:r>
            <a:r>
              <a:rPr lang="en-US" sz="1800" dirty="0">
                <a:solidFill>
                  <a:schemeClr val="tx1"/>
                </a:solidFill>
              </a:rPr>
              <a:t> Survival is a product of period-by-period hazards; with a constant hazard h, failure comes after 1/h periods</a:t>
            </a:r>
            <a:endParaRPr lang="en-US" sz="1800" dirty="0"/>
          </a:p>
          <a:p>
            <a:pPr marL="228600" indent="-228600">
              <a:spcAft>
                <a:spcPts val="800"/>
              </a:spcAft>
              <a:buSzPct val="100000"/>
              <a:buChar char="•"/>
            </a:pPr>
            <a:r>
              <a:rPr lang="en-US" sz="1800" b="1" dirty="0">
                <a:solidFill>
                  <a:schemeClr val="tx1"/>
                </a:solidFill>
              </a:rPr>
              <a:t>(ii)</a:t>
            </a:r>
            <a:r>
              <a:rPr lang="en-US" sz="1800" dirty="0">
                <a:solidFill>
                  <a:schemeClr val="tx1"/>
                </a:solidFill>
              </a:rPr>
              <a:t> Single-period breach probabilities add up to a conservative floor; simulation tightens it</a:t>
            </a:r>
            <a:endParaRPr lang="en-US" sz="1800" dirty="0"/>
          </a:p>
          <a:p>
            <a:pPr marL="228600" indent="-228600">
              <a:spcAft>
                <a:spcPts val="800"/>
              </a:spcAft>
              <a:buSzPct val="100000"/>
              <a:buChar char="•"/>
            </a:pPr>
            <a:r>
              <a:rPr lang="en-US" sz="1800" b="1" dirty="0">
                <a:solidFill>
                  <a:schemeClr val="tx1"/>
                </a:solidFill>
              </a:rPr>
              <a:t>(iii) The race:</a:t>
            </a:r>
            <a:r>
              <a:rPr lang="en-US" sz="1800" dirty="0">
                <a:solidFill>
                  <a:schemeClr val="tx1"/>
                </a:solidFill>
              </a:rPr>
              <a:t> the next shock beats recovery with probability 1 − e</a:t>
            </a:r>
            <a:r>
              <a:rPr lang="en-US" sz="1800" baseline="30000" dirty="0">
                <a:solidFill>
                  <a:schemeClr val="tx1"/>
                </a:solidFill>
              </a:rPr>
              <a:t>−λT_rec</a:t>
            </a:r>
            <a:r>
              <a:rPr lang="en-US" sz="1800" dirty="0">
                <a:solidFill>
                  <a:schemeClr val="tx1"/>
                </a:solidFill>
              </a:rPr>
              <a:t>; survivable shocks ratchet</a:t>
            </a:r>
            <a:endParaRPr lang="en-US" sz="1800" dirty="0"/>
          </a:p>
          <a:p>
            <a:pPr marL="228600" indent="-228600">
              <a:spcAft>
                <a:spcPts val="800"/>
              </a:spcAft>
              <a:buSzPct val="100000"/>
              <a:buChar char="•"/>
            </a:pPr>
            <a:r>
              <a:rPr lang="en-US" sz="1800" dirty="0">
                <a:solidFill>
                  <a:schemeClr val="tx1"/>
                </a:solidFill>
              </a:rPr>
              <a:t>Levers: shorten the recovery, lower the effective λ, or widen the armor so that wounded is not fragile</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§12.7 · THEOREM 12.5 · FIGURE 12.2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Containment is an eigenvalue</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Gain matrix G:</a:t>
            </a:r>
            <a:r>
              <a:rPr lang="en-US" sz="1500" dirty="0">
                <a:solidFill>
                  <a:schemeClr val="tx1"/>
                </a:solidFill>
              </a:rPr>
              <a:t> each arrow passes on a share g of the loss arriving at its source</a:t>
            </a:r>
            <a:endParaRPr lang="en-US" sz="1500" dirty="0"/>
          </a:p>
          <a:p>
            <a:pPr marL="228600" indent="-228600">
              <a:spcAft>
                <a:spcPts val="800"/>
              </a:spcAft>
              <a:buSzPct val="100000"/>
              <a:buChar char="•"/>
            </a:pPr>
            <a:r>
              <a:rPr lang="en-US" sz="1500" b="1" dirty="0">
                <a:solidFill>
                  <a:schemeClr val="tx1"/>
                </a:solidFill>
              </a:rPr>
              <a:t>Threshold:</a:t>
            </a:r>
            <a:r>
              <a:rPr lang="en-US" sz="1500" dirty="0">
                <a:solidFill>
                  <a:schemeClr val="tx1"/>
                </a:solidFill>
              </a:rPr>
              <a:t> the core's spectral radius is 2g; cascades die out only below g = 0.5</a:t>
            </a:r>
            <a:endParaRPr lang="en-US" sz="1500" dirty="0"/>
          </a:p>
          <a:p>
            <a:pPr marL="228600" indent="-228600">
              <a:spcAft>
                <a:spcPts val="800"/>
              </a:spcAft>
              <a:buSzPct val="100000"/>
              <a:buChar char="•"/>
            </a:pPr>
            <a:r>
              <a:rPr lang="en-US" sz="1500" b="1" dirty="0">
                <a:solidFill>
                  <a:schemeClr val="tx1"/>
                </a:solidFill>
              </a:rPr>
              <a:t>Multiplier</a:t>
            </a:r>
            <a:r>
              <a:rPr lang="en-US" sz="1500" dirty="0">
                <a:solidFill>
                  <a:schemeClr val="tx1"/>
                </a:solidFill>
              </a:rPr>
              <a:t> 1/(1 − 2g): 2 at g = 0.25, </a:t>
            </a:r>
            <a:r>
              <a:rPr lang="en-US" sz="1500" b="1" dirty="0">
                <a:solidFill>
                  <a:schemeClr val="tx1"/>
                </a:solidFill>
              </a:rPr>
              <a:t>5</a:t>
            </a:r>
            <a:r>
              <a:rPr lang="en-US" sz="1500" dirty="0">
                <a:solidFill>
                  <a:schemeClr val="tx1"/>
                </a:solidFill>
              </a:rPr>
              <a:t> at 0.40, 10 at 0.45, none from 0.5</a:t>
            </a:r>
            <a:endParaRPr lang="en-US" sz="1500" dirty="0"/>
          </a:p>
          <a:p>
            <a:pPr marL="228600" indent="-228600">
              <a:spcAft>
                <a:spcPts val="800"/>
              </a:spcAft>
              <a:buSzPct val="100000"/>
              <a:buChar char="•"/>
            </a:pPr>
            <a:r>
              <a:rPr lang="en-US" sz="1500" dirty="0">
                <a:solidFill>
                  <a:schemeClr val="tx1"/>
                </a:solidFill>
              </a:rPr>
              <a:t>At g = 0.40 a unit shock to Digital costs Digital itself </a:t>
            </a:r>
            <a:r>
              <a:rPr lang="en-US" sz="1500" b="1" dirty="0">
                <a:solidFill>
                  <a:schemeClr val="tx1"/>
                </a:solidFill>
              </a:rPr>
              <a:t>1.9</a:t>
            </a:r>
            <a:endParaRPr lang="en-US" sz="1500" dirty="0"/>
          </a:p>
          <a:p>
            <a:pPr marL="228600" indent="-228600">
              <a:spcAft>
                <a:spcPts val="800"/>
              </a:spcAft>
              <a:buSzPct val="100000"/>
              <a:buChar char="•"/>
            </a:pPr>
            <a:r>
              <a:rPr lang="en-US" sz="1500" dirty="0">
                <a:solidFill>
                  <a:schemeClr val="tx1"/>
                </a:solidFill>
              </a:rPr>
              <a:t>Engineering and treasury 1.1 each, and Industrial Systems 0.9</a:t>
            </a:r>
            <a:endParaRPr lang="en-US" sz="1500" dirty="0"/>
          </a:p>
          <a:p>
            <a:pPr marL="228600" indent="-228600">
              <a:spcAft>
                <a:spcPts val="800"/>
              </a:spcAft>
              <a:buSzPct val="100000"/>
              <a:buChar char="•"/>
            </a:pPr>
            <a:r>
              <a:rPr lang="en-US" sz="1500" dirty="0">
                <a:solidFill>
                  <a:schemeClr val="tx1"/>
                </a:solidFill>
              </a:rPr>
              <a:t>A register of direct exposures books </a:t>
            </a:r>
            <a:r>
              <a:rPr lang="en-US" sz="1500" b="1" dirty="0">
                <a:solidFill>
                  <a:schemeClr val="tx1"/>
                </a:solidFill>
              </a:rPr>
              <a:t>1.8</a:t>
            </a:r>
            <a:r>
              <a:rPr lang="en-US" sz="1500" dirty="0">
                <a:solidFill>
                  <a:schemeClr val="tx1"/>
                </a:solidFill>
              </a:rPr>
              <a:t> of the 5.0</a:t>
            </a:r>
            <a:endParaRPr lang="en-US" sz="1500" dirty="0"/>
          </a:p>
        </p:txBody>
      </p:sp>
      <p:pic>
        <p:nvPicPr>
          <p:cNvPr id="6" name="Figure" descr="Figure 12.2: containment is an eigenvalue">    </p:cNvPr>
          <p:cNvPicPr>
            <a:picLocks noChangeAspect="1"/>
          </p:cNvPicPr>
          <p:nvPr/>
        </p:nvPicPr>
        <p:blipFill>
          <a:blip r:embed="rId1"/>
          <a:stretch>
            <a:fillRect/>
          </a:stretch>
        </p:blipFill>
        <p:spPr>
          <a:xfrm>
            <a:off x="5169286" y="2044063"/>
            <a:ext cx="6473769" cy="3208787"/>
          </a:xfrm>
          <a:prstGeom prst="rect">
            <a:avLst/>
          </a:prstGeom>
        </p:spPr>
      </p:pic>
      <p:sp>
        <p:nvSpPr>
          <p:cNvPr id="7" name="Caption"/>
          <p:cNvSpPr txBox="1"/>
          <p:nvPr/>
        </p:nvSpPr>
        <p:spPr>
          <a:xfrm>
            <a:off x="5169286" y="5326001"/>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12.2. Left: Meridian's feedback core, a four-cycle whose every link runs both ways. Right: the total impact of a unit shock, 1/(1 − 2g): 2, 5 and 10, and unbounded from g = 0.5 on.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§12.7 · THEOREM 12.5(IV)</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Common causes make joint failures likelier</a:t>
            </a:r>
            <a:endParaRPr lang="en-US" sz="3200" dirty="0"/>
          </a:p>
        </p:txBody>
      </p:sp>
      <p:sp>
        <p:nvSpPr>
          <p:cNvPr id="5" name="Stat 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14.5%</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each of two units fails: a common cause of 10 percent, plus 5 percent on its own</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2.1%</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both fail, if the register multiplies the separate probabilities</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10.2%</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both fail, truly: nearly five times as likely</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A register that multiplies separate probabilities has assumed an independence it must defend</a:t>
            </a:r>
            <a:endParaRPr lang="en-US" sz="1800" dirty="0"/>
          </a:p>
          <a:p>
            <a:pPr marL="228600" indent="-228600">
              <a:spcAft>
                <a:spcPts val="800"/>
              </a:spcAft>
              <a:buSzPct val="100000"/>
              <a:buChar char="•"/>
            </a:pPr>
            <a:r>
              <a:rPr lang="en-US" sz="1800" dirty="0">
                <a:solidFill>
                  <a:schemeClr val="tx1"/>
                </a:solidFill>
              </a:rPr>
              <a:t>A common cause of probability z can make a joint failure up to 1/z times likelier</a:t>
            </a:r>
            <a:endParaRPr lang="en-US" sz="1800" dirty="0"/>
          </a:p>
          <a:p>
            <a:pPr marL="228600" indent="-228600">
              <a:spcAft>
                <a:spcPts val="800"/>
              </a:spcAft>
              <a:buSzPct val="100000"/>
              <a:buChar char="•"/>
            </a:pPr>
            <a:r>
              <a:rPr lang="en-US" sz="1800" dirty="0">
                <a:solidFill>
                  <a:schemeClr val="tx1"/>
                </a:solidFill>
              </a:rPr>
              <a:t>Three levers: cut gains (dampen arrows), cut cycles (restructure the core), cut common causes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§12.8 · TABLE 12.4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stress test as an audit, item by item</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475613"/>
                <a:gridCol w="8618802"/>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Element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Content and grounding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Scenario declaration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shocks and stresses; distributions for measurable channels, sets for Knightian ones (Definition 12.2)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Stressed equilibrium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shift of the equilibrium under the stress: can the company live at the stressed point? (Theorem 12.3(iii))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Propagation account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walk bounds and the multiplier on G; the threshold check ρ(G) &lt; 1 (Theorem 12.5)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Recovery clocks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clock for each mode; re-entry into the band, never return to the point (Theorem 12.3(i), (iv))</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Survivability account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hazards, the summed floor, simulation with error bars; the race number (Theorem 12.4)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Dependence audit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common causes named; no multiplying of separate probabilities without a defense (Theorem 12.5(iv))</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Reverse stress test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smallest breaking shock, wall by wall and jointly: the robustness radius (Theorem 12.2(iii))</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41324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12.4. Table 12.5 reads the same architecture in a commercial bank, a technology company, a manufacturer and a hospital network.</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Every risk statement names its object: distribution or set, dent or spring-back, separate or systemic.</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12.1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would break Meridian?</a:t>
            </a:r>
            <a:endParaRPr lang="en-US" sz="3200" dirty="0"/>
          </a:p>
        </p:txBody>
      </p:sp>
      <p:sp>
        <p:nvSpPr>
          <p:cNvPr id="5" name="Card"/>
          <p:cNvSpPr/>
          <p:nvPr/>
        </p:nvSpPr>
        <p:spPr>
          <a:xfrm>
            <a:off x="548640" y="1691640"/>
            <a:ext cx="2567864" cy="301752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Robustness</a:t>
            </a:r>
            <a:endParaRPr lang="en-US" sz="1300" dirty="0"/>
          </a:p>
        </p:txBody>
      </p:sp>
      <p:sp>
        <p:nvSpPr>
          <p:cNvPr id="7" name="Card head"/>
          <p:cNvSpPr txBox="1"/>
          <p:nvPr/>
        </p:nvSpPr>
        <p:spPr>
          <a:xfrm>
            <a:off x="731520" y="2148840"/>
            <a:ext cx="2202104" cy="16276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How much armor does the plan leave, and where is it thinnest?</a:t>
            </a:r>
            <a:endParaRPr lang="en-US" sz="2000" dirty="0"/>
          </a:p>
        </p:txBody>
      </p:sp>
      <p:sp>
        <p:nvSpPr>
          <p:cNvPr id="8" name="Card text"/>
          <p:cNvSpPr txBox="1"/>
          <p:nvPr/>
        </p:nvSpPr>
        <p:spPr>
          <a:xfrm>
            <a:off x="731520" y="3849624"/>
            <a:ext cx="2202104" cy="731520"/>
          </a:xfrm>
          <a:prstGeom prst="rect">
            <a:avLst/>
          </a:prstGeom>
          <a:noFill/>
          <a:ln/>
        </p:spPr>
        <p:txBody>
          <a:bodyPr wrap="square" lIns="0" tIns="0" rIns="0" bIns="0" rtlCol="0" anchor="t"/>
          <a:lstStyle/>
          <a:p>
            <a:pPr indent="0" marL="0">
              <a:buNone/>
            </a:pPr>
            <a:r>
              <a:rPr lang="en-US" sz="1500" dirty="0">
                <a:solidFill>
                  <a:schemeClr val="tx2"/>
                </a:solidFill>
              </a:rPr>
              <a:t>Steps 1–2: the walls, today and along the plan</a:t>
            </a:r>
            <a:endParaRPr lang="en-US" sz="1500" dirty="0"/>
          </a:p>
        </p:txBody>
      </p:sp>
      <p:sp>
        <p:nvSpPr>
          <p:cNvPr id="9" name="Card"/>
          <p:cNvSpPr/>
          <p:nvPr/>
        </p:nvSpPr>
        <p:spPr>
          <a:xfrm>
            <a:off x="3390824" y="1691640"/>
            <a:ext cx="2567864" cy="301752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Risk</a:t>
            </a:r>
            <a:endParaRPr lang="en-US" sz="1300" dirty="0"/>
          </a:p>
        </p:txBody>
      </p:sp>
      <p:sp>
        <p:nvSpPr>
          <p:cNvPr id="11" name="Card head"/>
          <p:cNvSpPr txBox="1"/>
          <p:nvPr/>
        </p:nvSpPr>
        <p:spPr>
          <a:xfrm>
            <a:off x="3573704" y="2148840"/>
            <a:ext cx="2202104" cy="16276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How deep does the tail go?</a:t>
            </a:r>
            <a:endParaRPr lang="en-US" sz="2000" dirty="0"/>
          </a:p>
        </p:txBody>
      </p:sp>
      <p:sp>
        <p:nvSpPr>
          <p:cNvPr id="12" name="Card text"/>
          <p:cNvSpPr txBox="1"/>
          <p:nvPr/>
        </p:nvSpPr>
        <p:spPr>
          <a:xfrm>
            <a:off x="3573704" y="3849624"/>
            <a:ext cx="2202104" cy="731520"/>
          </a:xfrm>
          <a:prstGeom prst="rect">
            <a:avLst/>
          </a:prstGeom>
          <a:noFill/>
          <a:ln/>
        </p:spPr>
        <p:txBody>
          <a:bodyPr wrap="square" lIns="0" tIns="0" rIns="0" bIns="0" rtlCol="0" anchor="t"/>
          <a:lstStyle/>
          <a:p>
            <a:pPr indent="0" marL="0">
              <a:buNone/>
            </a:pPr>
            <a:r>
              <a:rPr lang="en-US" sz="1500" dirty="0">
                <a:solidFill>
                  <a:schemeClr val="tx2"/>
                </a:solidFill>
              </a:rPr>
              <a:t>Step 3: the program's low point</a:t>
            </a:r>
            <a:endParaRPr lang="en-US" sz="1500" dirty="0"/>
          </a:p>
        </p:txBody>
      </p:sp>
      <p:sp>
        <p:nvSpPr>
          <p:cNvPr id="13" name="Card"/>
          <p:cNvSpPr/>
          <p:nvPr/>
        </p:nvSpPr>
        <p:spPr>
          <a:xfrm>
            <a:off x="6233008" y="1691640"/>
            <a:ext cx="2567864" cy="301752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Resilience</a:t>
            </a:r>
            <a:endParaRPr lang="en-US" sz="1300" dirty="0"/>
          </a:p>
        </p:txBody>
      </p:sp>
      <p:sp>
        <p:nvSpPr>
          <p:cNvPr id="15" name="Card head"/>
          <p:cNvSpPr txBox="1"/>
          <p:nvPr/>
        </p:nvSpPr>
        <p:spPr>
          <a:xfrm>
            <a:off x="6415888" y="2148840"/>
            <a:ext cx="2202104" cy="16276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Could Meridian recover from one shock before the next?</a:t>
            </a:r>
            <a:endParaRPr lang="en-US" sz="2000" dirty="0"/>
          </a:p>
        </p:txBody>
      </p:sp>
      <p:sp>
        <p:nvSpPr>
          <p:cNvPr id="16" name="Card text"/>
          <p:cNvSpPr txBox="1"/>
          <p:nvPr/>
        </p:nvSpPr>
        <p:spPr>
          <a:xfrm>
            <a:off x="6415888" y="3849624"/>
            <a:ext cx="2202104" cy="731520"/>
          </a:xfrm>
          <a:prstGeom prst="rect">
            <a:avLst/>
          </a:prstGeom>
          <a:noFill/>
          <a:ln/>
        </p:spPr>
        <p:txBody>
          <a:bodyPr wrap="square" lIns="0" tIns="0" rIns="0" bIns="0" rtlCol="0" anchor="t"/>
          <a:lstStyle/>
          <a:p>
            <a:pPr indent="0" marL="0">
              <a:buNone/>
            </a:pPr>
            <a:r>
              <a:rPr lang="en-US" sz="1500" dirty="0">
                <a:solidFill>
                  <a:schemeClr val="tx2"/>
                </a:solidFill>
              </a:rPr>
              <a:t>Step 4: the race</a:t>
            </a:r>
            <a:endParaRPr lang="en-US" sz="1500" dirty="0"/>
          </a:p>
        </p:txBody>
      </p:sp>
      <p:sp>
        <p:nvSpPr>
          <p:cNvPr id="17" name="Card"/>
          <p:cNvSpPr/>
          <p:nvPr/>
        </p:nvSpPr>
        <p:spPr>
          <a:xfrm>
            <a:off x="9075191" y="1691640"/>
            <a:ext cx="2567864" cy="301752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The levers</a:t>
            </a:r>
            <a:endParaRPr lang="en-US" sz="1300" dirty="0"/>
          </a:p>
        </p:txBody>
      </p:sp>
      <p:sp>
        <p:nvSpPr>
          <p:cNvPr id="19" name="Card head"/>
          <p:cNvSpPr txBox="1"/>
          <p:nvPr/>
        </p:nvSpPr>
        <p:spPr>
          <a:xfrm>
            <a:off x="9258071" y="2148840"/>
            <a:ext cx="2202104" cy="162763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What would it cost to make the program safe?</a:t>
            </a:r>
            <a:endParaRPr lang="en-US" sz="2000" dirty="0"/>
          </a:p>
        </p:txBody>
      </p:sp>
      <p:sp>
        <p:nvSpPr>
          <p:cNvPr id="20" name="Card text"/>
          <p:cNvSpPr txBox="1"/>
          <p:nvPr/>
        </p:nvSpPr>
        <p:spPr>
          <a:xfrm>
            <a:off x="9258071" y="3849624"/>
            <a:ext cx="2202104" cy="731520"/>
          </a:xfrm>
          <a:prstGeom prst="rect">
            <a:avLst/>
          </a:prstGeom>
          <a:noFill/>
          <a:ln/>
        </p:spPr>
        <p:txBody>
          <a:bodyPr wrap="square" lIns="0" tIns="0" rIns="0" bIns="0" rtlCol="0" anchor="t"/>
          <a:lstStyle/>
          <a:p>
            <a:pPr indent="0" marL="0">
              <a:buNone/>
            </a:pPr>
            <a:r>
              <a:rPr lang="en-US" sz="1500" dirty="0">
                <a:solidFill>
                  <a:schemeClr val="bg2"/>
                </a:solidFill>
              </a:rPr>
              <a:t>Step 5: Chapter 8's levers, in the four words</a:t>
            </a:r>
            <a:endParaRPr lang="en-US" sz="1500" dirty="0"/>
          </a:p>
        </p:txBody>
      </p:sp>
      <p:sp>
        <p:nvSpPr>
          <p:cNvPr id="21" name="Lead"/>
          <p:cNvSpPr txBox="1"/>
          <p:nvPr/>
        </p:nvSpPr>
        <p:spPr>
          <a:xfrm>
            <a:off x="548640" y="498348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board has the odds from Worked Example 8.1: a 24.6 percent chance of breaching the $350 million floor, against an appetite of 5 percent.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12.1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Armor today, and where the program thins it</a:t>
            </a:r>
            <a:endParaRPr lang="en-US" sz="32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025750"/>
                <a:gridCol w="2750681"/>
                <a:gridCol w="1742098"/>
                <a:gridCol w="3575886"/>
              </a:tblGrid>
              <a:tr h="566928">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Wall (Table 5.4)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Armor today</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Declared scale</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At the program's thinnest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868680">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Liquidity floor, $350m</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$270m of cash</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0.44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$132m at quarter 7 (0.21)</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868680">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Covenant, 4.5× net leverage</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$121m of EBITDA, 24%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0.32</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for cash shocks the floor binds first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868680">
                <a:tc>
                  <a:txBody>
                    <a:bodyPr/>
                    <a:lstStyle/>
                    <a:p>
                      <a:pPr algn="l" indent="0" marL="0">
                        <a:buNone/>
                      </a:pPr>
                      <a:r>
                        <a:rPr lang="en-US" sz="1800" b="1" dirty="0">
                          <a:solidFill>
                            <a:srgbClr val="0F1E3D"/>
                          </a:solidFill>
                          <a:latin typeface="Calibri" pitchFamily="34" charset="0"/>
                          <a:ea typeface="Calibri" pitchFamily="34" charset="-122"/>
                          <a:cs typeface="Calibri" pitchFamily="34" charset="-120"/>
                        </a:rPr>
                        <a:t>Strategic-risk ceiling, 75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11 points</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0.11</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1.4 points around month 11 (0.014)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Armor is the slack to each declared wall, read on Meridian's declared scale (Chapter 3). A cash loss big enough to break the floor lifts leverage only to 3.9 times. The risk committee measures strategic risk with an error of ±6 points (Table 5.2).</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reverse stress test points first at the risk ceiling: at the digital peak its armor is less than a quarter of the measurement error.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12.1 · STEPS 2–4 · FIGURE 12.3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Thin armor meets a deep tail</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Cash armor sits below </a:t>
            </a:r>
            <a:r>
              <a:rPr lang="en-US" sz="1500" b="1" dirty="0">
                <a:solidFill>
                  <a:schemeClr val="tx1"/>
                </a:solidFill>
              </a:rPr>
              <a:t>$150m</a:t>
            </a:r>
            <a:r>
              <a:rPr lang="en-US" sz="1500" dirty="0">
                <a:solidFill>
                  <a:schemeClr val="tx1"/>
                </a:solidFill>
              </a:rPr>
              <a:t> for seven quarters, quarters 4 to 10</a:t>
            </a:r>
            <a:endParaRPr lang="en-US" sz="1500" dirty="0"/>
          </a:p>
          <a:p>
            <a:pPr marL="228600" indent="-228600">
              <a:spcAft>
                <a:spcPts val="800"/>
              </a:spcAft>
              <a:buSzPct val="100000"/>
              <a:buChar char="•"/>
            </a:pPr>
            <a:r>
              <a:rPr lang="en-US" sz="1500" b="1" dirty="0">
                <a:solidFill>
                  <a:schemeClr val="tx1"/>
                </a:solidFill>
              </a:rPr>
              <a:t>24.6%</a:t>
            </a:r>
            <a:r>
              <a:rPr lang="en-US" sz="1500" dirty="0">
                <a:solidFill>
                  <a:schemeClr val="tx1"/>
                </a:solidFill>
              </a:rPr>
              <a:t> of paths breach the floor, by </a:t>
            </a:r>
            <a:r>
              <a:rPr lang="en-US" sz="1500" b="1" dirty="0">
                <a:solidFill>
                  <a:schemeClr val="tx1"/>
                </a:solidFill>
              </a:rPr>
              <a:t>$72m</a:t>
            </a:r>
            <a:r>
              <a:rPr lang="en-US" sz="1500" dirty="0">
                <a:solidFill>
                  <a:schemeClr val="tx1"/>
                </a:solidFill>
              </a:rPr>
              <a:t> on average</a:t>
            </a:r>
            <a:endParaRPr lang="en-US" sz="1500" dirty="0"/>
          </a:p>
          <a:p>
            <a:pPr marL="228600" indent="-228600">
              <a:spcAft>
                <a:spcPts val="800"/>
              </a:spcAft>
              <a:buSzPct val="100000"/>
              <a:buChar char="•"/>
            </a:pPr>
            <a:r>
              <a:rPr lang="en-US" sz="1500" dirty="0">
                <a:solidFill>
                  <a:schemeClr val="tx1"/>
                </a:solidFill>
              </a:rPr>
              <a:t>95% value at risk of the low point </a:t>
            </a:r>
            <a:r>
              <a:rPr lang="en-US" sz="1500" b="1" dirty="0">
                <a:solidFill>
                  <a:schemeClr val="tx1"/>
                </a:solidFill>
              </a:rPr>
              <a:t>$231m</a:t>
            </a:r>
            <a:r>
              <a:rPr lang="en-US" sz="1500" dirty="0">
                <a:solidFill>
                  <a:schemeClr val="tx1"/>
                </a:solidFill>
              </a:rPr>
              <a:t>; expected shortfall </a:t>
            </a:r>
            <a:r>
              <a:rPr lang="en-US" sz="1500" b="1" dirty="0">
                <a:solidFill>
                  <a:schemeClr val="tx1"/>
                </a:solidFill>
              </a:rPr>
              <a:t>$166m</a:t>
            </a:r>
            <a:endParaRPr lang="en-US" sz="1500" dirty="0"/>
          </a:p>
          <a:p>
            <a:pPr marL="228600" indent="-228600">
              <a:spcAft>
                <a:spcPts val="800"/>
              </a:spcAft>
              <a:buSzPct val="100000"/>
              <a:buChar char="•"/>
            </a:pPr>
            <a:r>
              <a:rPr lang="en-US" sz="1500" dirty="0">
                <a:solidFill>
                  <a:schemeClr val="tx1"/>
                </a:solidFill>
              </a:rPr>
              <a:t>A closure lands in the thin window with probability </a:t>
            </a:r>
            <a:r>
              <a:rPr lang="en-US" sz="1500" b="1" dirty="0">
                <a:solidFill>
                  <a:schemeClr val="tx1"/>
                </a:solidFill>
              </a:rPr>
              <a:t>16%</a:t>
            </a:r>
            <a:endParaRPr lang="en-US" sz="1500" dirty="0"/>
          </a:p>
          <a:p>
            <a:pPr marL="228600" indent="-228600">
              <a:spcAft>
                <a:spcPts val="800"/>
              </a:spcAft>
              <a:buSzPct val="100000"/>
              <a:buChar char="•"/>
            </a:pPr>
            <a:r>
              <a:rPr lang="en-US" sz="1500" dirty="0">
                <a:solidFill>
                  <a:schemeClr val="tx1"/>
                </a:solidFill>
              </a:rPr>
              <a:t>At the low point a closure exceeds the armor with probability </a:t>
            </a:r>
            <a:r>
              <a:rPr lang="en-US" sz="1500" b="1" dirty="0">
                <a:solidFill>
                  <a:schemeClr val="tx1"/>
                </a:solidFill>
              </a:rPr>
              <a:t>36%</a:t>
            </a:r>
            <a:endParaRPr lang="en-US" sz="1500" dirty="0"/>
          </a:p>
          <a:p>
            <a:pPr marL="228600" indent="-228600">
              <a:spcAft>
                <a:spcPts val="800"/>
              </a:spcAft>
              <a:buSzPct val="100000"/>
              <a:buChar char="•"/>
            </a:pPr>
            <a:r>
              <a:rPr lang="en-US" sz="1500" dirty="0">
                <a:solidFill>
                  <a:schemeClr val="tx1"/>
                </a:solidFill>
              </a:rPr>
              <a:t>Recovery cannot win this race: it must be won with armor, not speed</a:t>
            </a:r>
            <a:endParaRPr lang="en-US" sz="1500" dirty="0"/>
          </a:p>
        </p:txBody>
      </p:sp>
      <p:pic>
        <p:nvPicPr>
          <p:cNvPr id="6" name="Figure" descr="Figure 12.3: what would break Meridian?">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12.3. Left: cash armor along the program, as planned and phased, against the median and 90th-percentile closure. Right: the program's lowest liquidity over 100,000 simulated paths.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12.1 · STEP 5 · TABLE 12.6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levers buy armor; only both meet appetite</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300818"/>
                <a:gridCol w="1833788"/>
                <a:gridCol w="2200545"/>
                <a:gridCol w="1375341"/>
                <a:gridCol w="1191962"/>
                <a:gridCol w="1191962"/>
              </a:tblGrid>
              <a:tr h="658368">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Configuration</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900" b="1" dirty="0">
                          <a:solidFill>
                            <a:srgbClr val="FFFFFF"/>
                          </a:solidFill>
                          <a:latin typeface="Calibri" pitchFamily="34" charset="0"/>
                          <a:ea typeface="Calibri" pitchFamily="34" charset="-122"/>
                          <a:cs typeface="Calibri" pitchFamily="34" charset="-120"/>
                        </a:rPr>
                        <a:t>Armor ($m)</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900" b="1" dirty="0">
                          <a:solidFill>
                            <a:srgbClr val="FFFFFF"/>
                          </a:solidFill>
                          <a:latin typeface="Calibri" pitchFamily="34" charset="0"/>
                          <a:ea typeface="Calibri" pitchFamily="34" charset="-122"/>
                          <a:cs typeface="Calibri" pitchFamily="34" charset="-120"/>
                        </a:rPr>
                        <a:t>Closure exceeds it</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900" b="1" dirty="0">
                          <a:solidFill>
                            <a:srgbClr val="FFFFFF"/>
                          </a:solidFill>
                          <a:latin typeface="Calibri" pitchFamily="34" charset="0"/>
                          <a:ea typeface="Calibri" pitchFamily="34" charset="-122"/>
                          <a:cs typeface="Calibri" pitchFamily="34" charset="-120"/>
                        </a:rPr>
                        <a:t>Breach</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900" b="1" dirty="0">
                          <a:solidFill>
                            <a:srgbClr val="FFFFFF"/>
                          </a:solidFill>
                          <a:latin typeface="Calibri" pitchFamily="34" charset="0"/>
                          <a:ea typeface="Calibri" pitchFamily="34" charset="-122"/>
                          <a:cs typeface="Calibri" pitchFamily="34" charset="-120"/>
                        </a:rPr>
                        <a:t>VaR</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900" b="1" dirty="0">
                          <a:solidFill>
                            <a:srgbClr val="FFFFFF"/>
                          </a:solidFill>
                          <a:latin typeface="Calibri" pitchFamily="34" charset="0"/>
                          <a:ea typeface="Calibri" pitchFamily="34" charset="-122"/>
                          <a:cs typeface="Calibri" pitchFamily="34" charset="-120"/>
                        </a:rPr>
                        <a:t>ES</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58368">
                <a:tc>
                  <a:txBody>
                    <a:bodyPr/>
                    <a:lstStyle/>
                    <a:p>
                      <a:pPr algn="l" indent="0" marL="0">
                        <a:buNone/>
                      </a:pPr>
                      <a:r>
                        <a:rPr lang="en-US" sz="1900" dirty="0">
                          <a:solidFill>
                            <a:srgbClr val="0F1E3D"/>
                          </a:solidFill>
                          <a:latin typeface="Calibri" pitchFamily="34" charset="0"/>
                          <a:ea typeface="Calibri" pitchFamily="34" charset="-122"/>
                          <a:cs typeface="Calibri" pitchFamily="34" charset="-120"/>
                        </a:rPr>
                        <a:t>Plan as designed</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132</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36%</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24.6%</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231</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166</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900" dirty="0">
                          <a:solidFill>
                            <a:srgbClr val="0F1E3D"/>
                          </a:solidFill>
                          <a:latin typeface="Calibri" pitchFamily="34" charset="0"/>
                          <a:ea typeface="Calibri" pitchFamily="34" charset="-122"/>
                          <a:cs typeface="Calibri" pitchFamily="34" charset="-120"/>
                        </a:rPr>
                        <a:t>Standby line</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132 + 100</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2.8%</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12.4%</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320</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286</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58368">
                <a:tc>
                  <a:txBody>
                    <a:bodyPr/>
                    <a:lstStyle/>
                    <a:p>
                      <a:pPr algn="l" indent="0" marL="0">
                        <a:buNone/>
                      </a:pPr>
                      <a:r>
                        <a:rPr lang="en-US" sz="1900" dirty="0">
                          <a:solidFill>
                            <a:srgbClr val="0F1E3D"/>
                          </a:solidFill>
                          <a:latin typeface="Calibri" pitchFamily="34" charset="0"/>
                          <a:ea typeface="Calibri" pitchFamily="34" charset="-122"/>
                          <a:cs typeface="Calibri" pitchFamily="34" charset="-120"/>
                        </a:rPr>
                        <a:t>Phased build</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181</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12%</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13.1%</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278</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213</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900" b="1" dirty="0">
                          <a:solidFill>
                            <a:srgbClr val="0F1E3D"/>
                          </a:solidFill>
                          <a:latin typeface="Calibri" pitchFamily="34" charset="0"/>
                          <a:ea typeface="Calibri" pitchFamily="34" charset="-122"/>
                          <a:cs typeface="Calibri" pitchFamily="34" charset="-120"/>
                        </a:rPr>
                        <a:t>Both levers</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181 + 100</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0.6%</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3.0%</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367</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900" dirty="0">
                          <a:solidFill>
                            <a:srgbClr val="0F1E3D"/>
                          </a:solidFill>
                          <a:latin typeface="Calibri" pitchFamily="34" charset="0"/>
                          <a:ea typeface="Calibri" pitchFamily="34" charset="-122"/>
                          <a:cs typeface="Calibri" pitchFamily="34" charset="-120"/>
                        </a:rPr>
                        <a:t>332</a:t>
                      </a:r>
                      <a:endParaRPr lang="en-US" sz="19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100,000 simulated paths each (seed 8). Armor is liquidity above the $350 million floor at the low point; VaR and ES are the 95 percent value at risk and expected shortfall of the program's lowest liquidity, in $ million.</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With both levers the odds fall to 3.0 percent, within appetite, yet the expected shortfall sits $18m below the floor.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12.1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Within appetite is not out of the tail</a:t>
            </a:r>
            <a:endParaRPr lang="en-US" sz="3200" dirty="0"/>
          </a:p>
        </p:txBody>
      </p:sp>
      <p:sp>
        <p:nvSpPr>
          <p:cNvPr id="5" name="Stat 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3.0%</a:t>
            </a:r>
            <a:endParaRPr lang="en-US" sz="4400" dirty="0"/>
          </a:p>
        </p:txBody>
      </p:sp>
      <p:sp>
        <p:nvSpPr>
          <p:cNvPr id="7" name="Stat label"/>
          <p:cNvSpPr txBox="1"/>
          <p:nvPr/>
        </p:nvSpPr>
        <p:spPr>
          <a:xfrm>
            <a:off x="685800"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breach odds with both levers: within the board's 5 percent appetite</a:t>
            </a:r>
            <a:endParaRPr lang="en-US" sz="1400" dirty="0"/>
          </a:p>
        </p:txBody>
      </p:sp>
      <p:sp>
        <p:nvSpPr>
          <p:cNvPr id="8" name="Stat 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+$17m</a:t>
            </a:r>
            <a:endParaRPr lang="en-US" sz="4400" dirty="0"/>
          </a:p>
        </p:txBody>
      </p:sp>
      <p:sp>
        <p:nvSpPr>
          <p:cNvPr id="10" name="Stat label"/>
          <p:cNvSpPr txBox="1"/>
          <p:nvPr/>
        </p:nvSpPr>
        <p:spPr>
          <a:xfrm>
            <a:off x="4475378" y="2697480"/>
            <a:ext cx="3240938" cy="704088"/>
          </a:xfrm>
          <a:prstGeom prst="rect">
            <a:avLst/>
          </a:prstGeom>
          <a:noFill/>
          <a:ln/>
        </p:spPr>
        <p:txBody>
          <a:bodyPr wrap="square" lIns="0" tIns="0" rIns="0" bIns="0" rtlCol="0" anchor="t"/>
          <a:lstStyle/>
          <a:p>
            <a:pPr algn="ctr" indent="0" marL="0">
              <a:buNone/>
            </a:pPr>
            <a:r>
              <a:rPr lang="en-US" sz="1400" dirty="0">
                <a:solidFill>
                  <a:schemeClr val="tx2"/>
                </a:solidFill>
              </a:rPr>
              <a:t>the low point's 95 percent value at risk, above the floor</a:t>
            </a:r>
            <a:endParaRPr lang="en-US" sz="1400" dirty="0"/>
          </a:p>
        </p:txBody>
      </p:sp>
      <p:sp>
        <p:nvSpPr>
          <p:cNvPr id="11" name="Stat card"/>
          <p:cNvSpPr/>
          <p:nvPr/>
        </p:nvSpPr>
        <p:spPr>
          <a:xfrm>
            <a:off x="8127797" y="1691640"/>
            <a:ext cx="3515258" cy="1783080"/>
          </a:xfrm>
          <a:prstGeom prst="roundRect">
            <a:avLst>
              <a:gd name="adj" fmla="val 4103"/>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−$18m</a:t>
            </a:r>
            <a:endParaRPr lang="en-US" sz="4400" dirty="0"/>
          </a:p>
        </p:txBody>
      </p:sp>
      <p:sp>
        <p:nvSpPr>
          <p:cNvPr id="13" name="Stat label"/>
          <p:cNvSpPr txBox="1"/>
          <p:nvPr/>
        </p:nvSpPr>
        <p:spPr>
          <a:xfrm>
            <a:off x="8264957" y="2697480"/>
            <a:ext cx="3240938" cy="704088"/>
          </a:xfrm>
          <a:prstGeom prst="rect">
            <a:avLst/>
          </a:prstGeom>
          <a:noFill/>
          <a:ln/>
        </p:spPr>
        <p:txBody>
          <a:bodyPr wrap="square" lIns="0" tIns="0" rIns="0" bIns="0" rtlCol="0" anchor="t"/>
          <a:lstStyle/>
          <a:p>
            <a:pPr algn="ctr" indent="0" marL="0">
              <a:buNone/>
            </a:pPr>
            <a:r>
              <a:rPr lang="en-US" sz="1400" dirty="0">
                <a:solidFill>
                  <a:schemeClr val="bg2"/>
                </a:solidFill>
              </a:rPr>
              <a:t>its expected shortfall: the worst one path in twenty averages that far below</a:t>
            </a:r>
            <a:endParaRPr lang="en-US" sz="1400" dirty="0"/>
          </a:p>
        </p:txBody>
      </p:sp>
      <p:sp>
        <p:nvSpPr>
          <p:cNvPr id="14" name="Bullets"/>
          <p:cNvSpPr txBox="1"/>
          <p:nvPr/>
        </p:nvSpPr>
        <p:spPr>
          <a:xfrm>
            <a:off x="548640" y="3794760"/>
            <a:ext cx="11094415" cy="23774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An appetite stated only as a probability is a value-at-risk statement, blind beyond its threshold</a:t>
            </a:r>
            <a:endParaRPr lang="en-US" sz="1800" dirty="0"/>
          </a:p>
          <a:p>
            <a:pPr marL="228600" indent="-228600">
              <a:spcAft>
                <a:spcPts val="800"/>
              </a:spcAft>
              <a:buSzPct val="100000"/>
              <a:buChar char="•"/>
            </a:pPr>
            <a:r>
              <a:rPr lang="en-US" sz="1800" dirty="0">
                <a:solidFill>
                  <a:schemeClr val="tx1"/>
                </a:solidFill>
              </a:rPr>
              <a:t>Meridian's appetite should say both how often and how deep (Theorem 12.1)</a:t>
            </a:r>
            <a:endParaRPr lang="en-US" sz="1800" dirty="0"/>
          </a:p>
          <a:p>
            <a:pPr marL="228600" indent="-228600">
              <a:spcAft>
                <a:spcPts val="800"/>
              </a:spcAft>
              <a:buSzPct val="100000"/>
              <a:buChar char="•"/>
            </a:pPr>
            <a:r>
              <a:rPr lang="en-US" sz="1800" dirty="0">
                <a:solidFill>
                  <a:schemeClr val="tx1"/>
                </a:solidFill>
              </a:rPr>
              <a:t>The most important finding: at the digital peak, the risk armor is smaller than its measurement error</a:t>
            </a:r>
            <a:endParaRPr lang="en-US" sz="1800" dirty="0"/>
          </a:p>
          <a:p>
            <a:pPr marL="228600" indent="-228600">
              <a:spcAft>
                <a:spcPts val="800"/>
              </a:spcAft>
              <a:buSzPct val="100000"/>
              <a:buChar char="•"/>
            </a:pPr>
            <a:r>
              <a:rPr lang="en-US" sz="1800" dirty="0">
                <a:solidFill>
                  <a:schemeClr val="tx1"/>
                </a:solidFill>
              </a:rPr>
              <a:t>For discussion: treat the ceiling as breached, measure better, or redesign the program? At what cost?</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1.12 · MODULE AXIOM-12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Stress-testing Meridian,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risk committee must sign off the digital program's stress test before the board's next meeting: what would break the company, how badly, how fast it would recover, and whether a shock in one division would spread. Open AXIOM, choose Lab 1.12 and load the Meridian risk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Build the register</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Declare six or more channels with supports and measures, flag the coherent ones, and run the two-loan demonstration.</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Map the armor</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Read the distance to each wall today and at the low point, on the declared scale; run the reverse stress test.</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Shock and recover</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Hit Industrial Systems with a $90 million shock; compare recovery to plan with re-entry into the band; hold a stress.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Race the next shock</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Set the closure rate and the recovery time; simulate with the error bar, with and without the levers.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Cross the threshold</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Raise the core's gain until the multiplier explodes; dampen or cut one arrow and record the threshold.</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two-page stress-test report for the risk committee: the register and its measures, the armor table with the reverse stress test, recovery clocks and bands, the race number, the core's multiplier and threshold, and the levers with the armor each buys. About 75 to 90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Four words, four objects: risk is a number computed from a distribution, vulnerability a damage map, robustness armor against a declared set, resilience a margin and a rate. Name the object, or the conversation is already lost.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risk measure is a governance choice. Subadditivity decides whether consolidation can look worse than its parts, and value at risk fails it by arithmetic; report how often and how deep.</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Armor is distance to the nearest wall: every shock below the radius is absorbed, the reverse stress test is a computation, and the worst case has a computable premium.</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Resilience is two numbers. Recovery clocks grow with the logarithm of the shock and explode as the rate slows; stress moves the equilibrium; recovery is to the band, never the point; and the next shock may arrive first, with odds 1 - e^(-λ T_rec).</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Containment is an eigenvalue: cascades die out when ρ(G) &lt; 1, the total bill is the multiplier (I - G)⁻¹, and registers of separate risks omit both the cascade terms and the common causes.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133</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127</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26112</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AXIOM-12</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1.12</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DCT_V1_Ch12_Lab.ipynb: Worked Example 12.1 and the lab's five steps in eight panels, ready for Colab; its 100,000 paths are the book's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DCT_V1_Ch12_Lab.xlsx: the register, the armor table, the recovery clock, the race, the core's multiplier and Table 12.6 in formulas, with 2,000 of the book's paths rebuilt by formula</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13 assembles the five architectures</a:t>
            </a:r>
            <a:endParaRPr lang="en-US" sz="3200" dirty="0"/>
          </a:p>
        </p:txBody>
      </p:sp>
      <p:pic>
        <p:nvPicPr>
          <p:cNvPr id="5" name="Equation" descr="Equation: \mathcal{U}_{E} \;=\; \bigl(\mathcal{A}_{S},\ \mathcal{A}_{T},\ \mathcal{A}_{C},\ \mathcal{A}_{P},\ \mathcal{A}_{R}\bigr)">    </p:cNvPr>
          <p:cNvPicPr>
            <a:picLocks noChangeAspect="1"/>
          </p:cNvPicPr>
          <p:nvPr/>
        </p:nvPicPr>
        <p:blipFill>
          <a:blip r:embed="rId1"/>
          <a:stretch>
            <a:fillRect/>
          </a:stretch>
        </p:blipFill>
        <p:spPr>
          <a:xfrm>
            <a:off x="3032264" y="1691640"/>
            <a:ext cx="6127168"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Part III's four structures now stand: what the company is, has, delivers, and can lose</a:t>
            </a:r>
            <a:endParaRPr lang="en-US" sz="1800" dirty="0"/>
          </a:p>
          <a:p>
            <a:pPr marL="228600" indent="-228600">
              <a:spcAft>
                <a:spcPts val="800"/>
              </a:spcAft>
              <a:buSzPct val="100000"/>
              <a:buChar char="•"/>
            </a:pPr>
            <a:r>
              <a:rPr lang="en-US" sz="1800" dirty="0">
                <a:solidFill>
                  <a:schemeClr val="bg1"/>
                </a:solidFill>
              </a:rPr>
              <a:t>Chapter 13 assembles them, with the transformation layer as the element they share: one state, five layers, and a declared register of the couplings between them</a:t>
            </a:r>
            <a:endParaRPr lang="en-US" sz="1800" dirty="0"/>
          </a:p>
          <a:p>
            <a:pPr marL="228600" indent="-228600">
              <a:spcAft>
                <a:spcPts val="800"/>
              </a:spcAft>
              <a:buSzPct val="100000"/>
              <a:buChar char="•"/>
            </a:pPr>
            <a:r>
              <a:rPr lang="en-US" sz="1800" dirty="0">
                <a:solidFill>
                  <a:schemeClr val="bg1"/>
                </a:solidFill>
              </a:rPr>
              <a:t>Every layer can pass its own stress test while the whole is unstable</a:t>
            </a:r>
            <a:endParaRPr lang="en-US" sz="1800" dirty="0"/>
          </a:p>
          <a:p>
            <a:pPr marL="228600" indent="-228600">
              <a:spcAft>
                <a:spcPts val="800"/>
              </a:spcAft>
              <a:buSzPct val="100000"/>
              <a:buChar char="•"/>
            </a:pPr>
            <a:r>
              <a:rPr lang="en-US" sz="1800" dirty="0">
                <a:solidFill>
                  <a:schemeClr val="bg1"/>
                </a:solidFill>
              </a:rPr>
              <a:t>On the same digital program, the joint check finds $325 million of claims on $270 million of cash</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12: Enterprise Risk, Resilience, and Robustness Architecture</dc:title>
  <dc:subject>Slides for Volume I, Chapter 12 (V56)</dc:subject>
  <dc:creator>Samir Asaf</dc:creator>
  <cp:lastModifiedBy>Samir Asaf</cp:lastModifiedBy>
  <cp:revision>1</cp:revision>
  <dcterms:created xsi:type="dcterms:W3CDTF">2026-10-05T09:20:42Z</dcterms:created>
  <dcterms:modified xsi:type="dcterms:W3CDTF">2026-10-05T09:20:42Z</dcterms:modified>
</cp:coreProperties>
</file>