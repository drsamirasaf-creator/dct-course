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Lst>
  <p:notesMasterIdLst>
    <p:notesMasterId r:id="rId2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50a62c7a-d551-3e0c-ed6e-4e950f6fedd2}">
          <p14:sldIdLst>
            <p14:sldId id="256"/>
            <p14:sldId id="257"/>
            <p14:sldId id="258"/>
            <p14:sldId id="259"/>
          </p14:sldIdLst>
        </p14:section>
        <p14:section name="13.1 Why Transformation Needs One Architecture" id="{56fbdf95-b75f-ed63-dbf4-10cf67601737}">
          <p14:sldIdLst>
            <p14:sldId id="260"/>
          </p14:sldIdLst>
        </p14:section>
        <p14:section name="13.2 The Five Architectures as Interfaces" id="{0aceef39-5cc6-c65c-eacd-162ca6e106fc}">
          <p14:sldIdLst>
            <p14:sldId id="261"/>
          </p14:sldIdLst>
        </p14:section>
        <p14:section name="13.3 Integration Principles" id="{c3d99d30-b14b-aba1-9e62-529abbe5d467}">
          <p14:sldIdLst>
            <p14:sldId id="262"/>
          </p14:sldIdLst>
        </p14:section>
        <p14:section name="13.4 The Unified Enterprise Representation" id="{943d8916-5b55-fb18-11ca-6524ccc75a9c}">
          <p14:sldIdLst>
            <p14:sldId id="263"/>
            <p14:sldId id="264"/>
          </p14:sldIdLst>
        </p14:section>
        <p14:section name="13.5 Enterprise Architecture Interactions" id="{10f7651f-22bc-5f45-c478-44d827ee93ab}">
          <p14:sldIdLst>
            <p14:sldId id="265"/>
            <p14:sldId id="266"/>
          </p14:sldIdLst>
        </p14:section>
        <p14:section name="13.6 Integrated Enterprise Dynamics" id="{79890a86-bcd7-889a-4988-e4ca1caf2b76}">
          <p14:sldIdLst>
            <p14:sldId id="267"/>
          </p14:sldIdLst>
        </p14:section>
        <p14:section name="13.7 Architectural Consistency" id="{f527eae6-f067-5273-d78f-5861180e08dd}">
          <p14:sldIdLst>
            <p14:sldId id="268"/>
            <p14:sldId id="269"/>
          </p14:sldIdLst>
        </p14:section>
        <p14:section name="13.8 The Enterprise Transformation Framework" id="{67fb7537-b80d-f7a5-238e-cfe2ea6652f4}">
          <p14:sldIdLst>
            <p14:sldId id="270"/>
          </p14:sldIdLst>
        </p14:section>
        <p14:section name="Worked Example 13.1" id="{d4ccc16e-53f8-5ca9-fa69-06caa44ce1cf}">
          <p14:sldIdLst>
            <p14:sldId id="271"/>
            <p14:sldId id="272"/>
            <p14:sldId id="273"/>
            <p14:sldId id="274"/>
            <p14:sldId id="275"/>
          </p14:sldIdLst>
        </p14:section>
        <p14:section name="AXIOM Lab 1.13" id="{6ebc6451-6915-10cf-0369-a79197734e2a}">
          <p14:sldIdLst>
            <p14:sldId id="276"/>
          </p14:sldIdLst>
        </p14:section>
        <p14:section name="Close" id="{873e80b9-66b4-26aa-115a-547c366af186}">
          <p14:sldIdLst>
            <p14:sldId id="277"/>
            <p14:sldId id="278"/>
            <p14:sldId id="27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notesMaster" Target="notesMasters/notesMaster1.xml"/><Relationship Id="rId27" Type="http://schemas.openxmlformats.org/officeDocument/2006/relationships/presProps" Target="presProps.xml"/><Relationship Id="rId28" Type="http://schemas.openxmlformats.org/officeDocument/2006/relationships/viewProps" Target="viewProps.xml"/><Relationship Id="rId29" Type="http://schemas.openxmlformats.org/officeDocument/2006/relationships/theme" Target="theme/theme1.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Volume I, Chapter 13. Part II built the transformation layer and Part III four architectures on it, each answering its own questions. A transformation program ignores these jurisdictions; this chapter assembles the five architectures into one object (Section 13.1 and the abstract).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Joseph Stiglitz in The Guardian (2002). The chapter's counterpart: coordination among a company's ledgers does not happen by itself. Whatever crosses a layer boundary must be declared, and an undeclared coupling is a modeling error for the audit to find (Section 13.3, the declared-coupling principle).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five learning outcome statements; LOS Guidance at the end of the chapter.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13.1: Figure 13.1. Section 13.2: Table 13.1. Section 13.3: Proposition 13.1. Section 13.4: Definitions 13.1-13.4 and Theorems 13.1-13.2. Section 13.5: Proposition 13.2, Definition 13.5, Table 13.2, Theorem 13.3, Propositions 13.3-13.4 and Figure 13.2. Section 13.6: Definitions 13.6-13.8 and Theorem 13.4. Section 13.7: Definition 13.9, Tables 13.3-13.4 and Theorem 13.5. Section 13.8: Definition 13.10, Proposition 13.5 and Table 13.5. Worked Example 13.1: Table 13.6 and Figure 13.3. AXIOM Lab 1.13: module AXIOM-13, five steps. Proofs of Theorems 13.1, 13.3 and 13.5 and Proposition 13.5 are in Appendix 13.A; Theorems 13.2 and 13.4 and Propositions 13.1-13.4 in Online Appendix 13.B.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13.1 and Figure 13.1. Costs and benefits land in different ledgers at different times. Chapter 1 promised that transformation would be treated as the evolution of one multidimensional state; this chapter keeps the promise. Two facts make the assembly cheap: every architecture is structure on the same skeleton, and every architecture reads one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13.1 and Section 13.2. The layers already exchange objects: capital's rent to performance, performance's targets to risk, risk's buffers back to capital. These handoffs are the couplings that Section 13.5 registers. Every layer travels with a declaration under Chapter 4's contract, so the compatibility of layers is a checkable property of declarations, not a hope.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13.3 and Proposition 13.1 (formal statement and proof in Online Appendix 13.B). Every observed J-curve, every program funded by running down a stock, every buffer that turned out to be someone else's working capital is a coupling that the empty coupling register suppressed.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13.1-13.4 and Equations 13.1-13.2. Each readout travels with its measurement contract. Compatibility is a property of declarations, and it is checkable (Section 13.7). In Meridian's declaration, (C3) names the closure buffer as treasury cash, and (C4) is the joint check of Worked Example 13.1.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Theorems 13.1 (proof in Appendix 13.A) and 13.2 (Online Appendix 13.B). Part (ii) keeps the unified dashboard from becoming five dashboards stapled together. Theorem 13.2(iii) is the board-pack theorem at full strength: couplings seen only in the aggregate must be audited below before anyone acts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13.5, Table 13.2 and Proposition 13.2 (Online Appendix 13.B). The results that price each block: conversion bills and write-offs (Proposition 10.5), conversions (Theorem 10.2), retained flows (Theorem 10.1), depletion (Definition 10.12); the J-curve (Equation 11.3), stocks produce flows (Theorem 10.4), dents and recoveries (Theorem 12.3); buffers (C3), shortfalls as loss channels (Definition 12.1), propagation (Theorem 12.5); composition (Theorem 6.3), the menu (Proposition 10.3), shrinking domains (Theorem 12.2).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13.3 (proof in Appendix 13.A), Propositions 13.3-13.4 and Online Appendix 13.B.1. Every column of the cycle matrix sums to a + c, so rho(M) = a + c while each layer's radius is a. Meridian's loop: stocks fund delivery, shortfalls trip the risk appetite, and the appetite freezes funding. The fire-sale spiral of 2008 was such a loop, invisible to each diagonal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Definitions 13.6-13.8, Equation 13.5 and Theorem 13.4 (Online Appendix 13.B), parts (ii)-(v). The ledger clocks are Online Appendix 13.B.3: treasury is one arrow from Digital and Industrial Systems one arrow from engineering; Advanced Materials, the market and governance cannot be reached, so crediting Materials' results to the program is refuted by the wiring. The $384 million is Worked Example 8.1's average 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Theorem 13.5; formal statement and proof in Appendix 13.A. The chapter's governance theorem: the anatomy of every funding squeeze in which 'fully funded' and 'fully buffered' were both true until the quarter in which they were jointly false. Every cycle added is audit cost compounded.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13.3, and Table 13.4, the unified validation checklist: carriers (C1), contracts (C2), buffer identities (C3), joint feasibility (C4), domains (C5), the coupling register, the cycle walk, the spectral report with the share owed to each block, invariant tripwires, and the hierarchy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Definition 13.10 (the unified enterprise system), Proposition 13.5 (proof in Appendix 13.A) and Table 13.5. The proposition does not say that central optimization should replace divisional judgment. The reader carries three objects forward: the quintuple with its coupling register, the interaction matrix with its spectral reading, and the integrated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13.1, the situation and Step 1. Liquidity today is $620 million against the board's floor of $350 million. The plan is Chapter 8's; the closure law is Chapter 12's (gamma, mean $120 million and standard deviation $50 million: median $113 million, 90th percentile $187 million). Each check is correct.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13.1, Steps 1-3; Online Appendix 13.B.2 (the joint check as a constraint network) and 13.B.4 (the numbers). The program, as planned, spends the cash that the buffer is counting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13.1, Step 4, Figure 13.3 and Online Appendix 13.B.4. Half of all closures would exceed the median buffer, and the breach odds stay at 24.6 percent, since the declaration does not change the cash. The phased build runs inside the buffer line only in quarters 5-8, by at most $6 million.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Table 13.6 and Online Appendix 13.B.4. The notebook and the workbook recompute every entry from the declarations: closures gamma with mean $120 million and standard deviation $50 million, the plan and the phased build from Chapter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Worked Example 13.1, Step 5, what the board should take away and the discussion question; Proposition 13.5. Each repair alone is a separated choice: the unified problem with the other ledgers' repairs ruled out; deciding alone, each office guards its own ledger. The breach odds are Worked Example 12.1's, over Chapter 8's 100,000 paths (seed 8): 24.6 percent for the plan with either buffer declaration, 13.1 for the phased build, 12.4 for the standby line, 3.0 for both. The coupling register that names the buffer's funding stock makes the line of joint arithmetic impossible to skip.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AXIOM Lab 1.13. What to look for: the layers are returned unchanged by the assembly (Theorem 13.1(iii)); the whole can be unstable while every layer is stable (Theorem 13.3(ii)); no ledger responds before its layered distance allows (Theorem 13.4(iii)); bilateral checks pass on a cycle that the joint check fails (Theorem 13.5(iii)); separated decisions lose exactly what the couplings carry (Proposition 13.5). Discussion: which coupling would you audit first? What do you reply to a divisional CFO who says unification will override her capital model? Which zero block are you least willing to certify, and who should be accountable for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Takeaways, Chapter 13.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notebook and workbook are on the course website, www.dynamiccorporatetransformation.com. The breach odds are drawn, as in the book, with random seed 8 (Volume II, Online Appendix 1.B.4); the lab's seed 26113 is used only for fresh draws, labelled as such.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13.8's bridge to Chapters 14 and 15, and Chapter 14's abstract and Equation 14.1.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CT Title">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logo-dark.png">    </p:cNvPr>
          <p:cNvPicPr>
            <a:picLocks noChangeAspect="1"/>
          </p:cNvPicPr>
          <p:nvPr/>
        </p:nvPicPr>
        <p:blipFill>
          <a:blip r:embed="rId1"/>
          <a:stretch>
            <a:fillRect/>
          </a:stretch>
        </p:blipFill>
        <p:spPr>
          <a:xfrm>
            <a:off x="731520" y="640080"/>
            <a:ext cx="4389120" cy="363931"/>
          </a:xfrm>
          <a:prstGeom prst="rect">
            <a:avLst/>
          </a:prstGeom>
        </p:spPr>
      </p:pic>
      <p:sp>
        <p:nvSpPr>
          <p:cNvPr id="3" name="Text 0"/>
          <p:cNvSpPr/>
          <p:nvPr>
            <p:ph idx="101" type="body" hasCustomPrompt="1"/>
          </p:nvPr>
        </p:nvSpPr>
        <p:spPr>
          <a:xfrm>
            <a:off x="731520" y="1874520"/>
            <a:ext cx="10607040" cy="411480"/>
          </a:xfrm>
          <a:prstGeom prst="rect">
            <a:avLst/>
          </a:prstGeom>
          <a:noFill/>
          <a:ln/>
        </p:spPr>
        <p:txBody>
          <a:bodyPr wrap="square" rtlCol="0"/>
          <a:lstStyle>
            <a:lvl1pPr indent="0" marL="0">
              <a:buNone/>
              <a:defRPr lang="en-US" sz="1500" b="1" spc="300" kern="0" dirty="0">
                <a:solidFill>
                  <a:schemeClr val="accent1"/>
                </a:solidFill>
              </a:defRPr>
            </a:lvl1pPr>
          </a:lstStyle>
          <a:p>
            <a:pPr indent="0" marL="0">
              <a:buNone/>
            </a:pP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rtlCol="0"/>
          <a:lstStyle>
            <a:lvl1pPr algn="l" indent="0" marL="0">
              <a:buNone/>
              <a:defRPr lang="en-US" sz="44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rtlCol="0"/>
          <a:lstStyle>
            <a:lvl1pPr indent="0" marL="0">
              <a:buNone/>
              <a:defRPr lang="en-US" sz="2000" dirty="0">
                <a:solidFill>
                  <a:schemeClr val="bg2"/>
                </a:solidFill>
              </a:defRPr>
            </a:lvl1pPr>
          </a:lstStyle>
          <a:p>
            <a:pPr indent="0" marL="0">
              <a:buNone/>
            </a:pP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rtlCol="0"/>
          <a:lstStyle>
            <a:lvl1pPr indent="0" marL="0">
              <a:buNone/>
              <a:defRPr lang="en-US" sz="1200" dirty="0">
                <a:solidFill>
                  <a:schemeClr val="accent4"/>
                </a:solidFill>
              </a:defRPr>
            </a:lvl1pPr>
          </a:lstStyle>
          <a:p>
            <a:pPr indent="0" marL="0">
              <a:buNone/>
            </a:pPr>
            <a:endParaRPr lang="en-US" sz="1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CT Quote">
    <p:bg>
      <p:bgPr>
        <a:solidFill>
          <a:srgbClr val="0F1E3D"/>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1280160" y="1371600"/>
            <a:ext cx="9601200" cy="3017520"/>
          </a:xfrm>
          <a:prstGeom prst="rect">
            <a:avLst/>
          </a:prstGeom>
          <a:noFill/>
          <a:ln/>
        </p:spPr>
        <p:txBody>
          <a:bodyPr wrap="square" rtlCol="0"/>
          <a:lstStyle>
            <a:lvl1pPr indent="0" marL="0">
              <a:buNone/>
              <a:defRPr lang="en-US" sz="3000" i="1" dirty="0">
                <a:solidFill>
                  <a:schemeClr val="bg1"/>
                </a:solidFill>
                <a:latin typeface="Cambria" pitchFamily="34" charset="0"/>
                <a:ea typeface="Cambria" pitchFamily="34" charset="-122"/>
                <a:cs typeface="Cambria" pitchFamily="34" charset="-120"/>
              </a:defRPr>
            </a:lvl1pPr>
          </a:lstStyle>
          <a:p>
            <a:pPr indent="0" marL="0">
              <a:buNone/>
            </a:pPr>
            <a:endParaRPr lang="en-US" sz="3000" dirty="0"/>
          </a:p>
        </p:txBody>
      </p:sp>
      <p:sp>
        <p:nvSpPr>
          <p:cNvPr id="3" name="Text 0"/>
          <p:cNvSpPr/>
          <p:nvPr>
            <p:ph idx="101" type="body" hasCustomPrompt="1"/>
          </p:nvPr>
        </p:nvSpPr>
        <p:spPr>
          <a:xfrm>
            <a:off x="1280160" y="4617720"/>
            <a:ext cx="9601200" cy="457200"/>
          </a:xfrm>
          <a:prstGeom prst="rect">
            <a:avLst/>
          </a:prstGeom>
          <a:noFill/>
          <a:ln/>
        </p:spPr>
        <p:txBody>
          <a:bodyPr wrap="square" rtlCol="0"/>
          <a:lstStyle>
            <a:lvl1pPr indent="0" marL="0">
              <a:buNone/>
              <a:defRPr lang="en-US" sz="1800" b="1" dirty="0">
                <a:solidFill>
                  <a:schemeClr val="accent1"/>
                </a:solidFill>
              </a:defRPr>
            </a:lvl1pPr>
          </a:lstStyle>
          <a:p>
            <a:pPr indent="0" marL="0">
              <a:buNone/>
            </a:pPr>
            <a:endParaRPr lang="en-US" sz="1800" dirty="0"/>
          </a:p>
        </p:txBody>
      </p:sp>
      <p:sp>
        <p:nvSpPr>
          <p:cNvPr id="4" name="Text 0"/>
          <p:cNvSpPr/>
          <p:nvPr>
            <p:ph idx="102" type="body" hasCustomPrompt="1"/>
          </p:nvPr>
        </p:nvSpPr>
        <p:spPr>
          <a:xfrm>
            <a:off x="1280160" y="5074920"/>
            <a:ext cx="9601200" cy="731520"/>
          </a:xfrm>
          <a:prstGeom prst="rect">
            <a:avLst/>
          </a:prstGeom>
          <a:noFill/>
          <a:ln/>
        </p:spPr>
        <p:txBody>
          <a:bodyPr wrap="square" rtlCol="0"/>
          <a:lstStyle>
            <a:lvl1pPr indent="0" marL="0">
              <a:buNone/>
              <a:defRPr lang="en-US" sz="1400" dirty="0">
                <a:solidFill>
                  <a:schemeClr val="accent4"/>
                </a:solidFill>
              </a:defRPr>
            </a:lvl1pPr>
          </a:lstStyle>
          <a:p>
            <a:pPr indent="0" marL="0">
              <a:buNone/>
            </a:pPr>
            <a:endParaRPr lang="en-US" sz="14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CT Content">
    <p:bg>
      <p:bgPr>
        <a:solidFill>
          <a:srgbClr val="FFFFFF"/>
        </a:solidFill>
      </p:bgPr>
    </p:bg>
    <p:spTree>
      <p:nvGrpSpPr>
        <p:cNvPr id="1" name=""/>
        <p:cNvGrpSpPr/>
        <p:nvPr/>
      </p:nvGrpSpPr>
      <p:grpSpPr>
        <a:xfrm>
          <a:off x="0" y="0"/>
          <a:ext cx="0" cy="0"/>
          <a:chOff x="0" y="0"/>
          <a:chExt cx="0" cy="0"/>
        </a:xfrm>
      </p:grpSpPr>
      <p:pic>
        <p:nvPicPr>
          <p:cNvPr id="2" name="Image 0" descr="/home/claude/pixel-perfect-show-8533/public/brand/dct-m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tx2"/>
                </a:solidFill>
              </a:rPr>
              <a:t>Dynamic Corporate Transformation · Volume I · Chapter 13</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tx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CT Dark Content">
    <p:bg>
      <p:bgPr>
        <a:solidFill>
          <a:srgbClr val="0F1E3D"/>
        </a:solidFill>
      </p:bgPr>
    </p:bg>
    <p:spTree>
      <p:nvGrpSpPr>
        <p:cNvPr id="1" name=""/>
        <p:cNvGrpSpPr/>
        <p:nvPr/>
      </p:nvGrpSpPr>
      <p:grpSpPr>
        <a:xfrm>
          <a:off x="0" y="0"/>
          <a:ext cx="0" cy="0"/>
          <a:chOff x="0" y="0"/>
          <a:chExt cx="0" cy="0"/>
        </a:xfrm>
      </p:grpSpPr>
      <p:pic>
        <p:nvPicPr>
          <p:cNvPr id="2" name="Image 0" descr="/home/claude/pixel-perfect-show-8533/public/brand/dct-mark-dark.png">    </p:cNvPr>
          <p:cNvPicPr>
            <a:picLocks noChangeAspect="1"/>
          </p:cNvPicPr>
          <p:nvPr/>
        </p:nvPicPr>
        <p:blipFill>
          <a:blip r:embed="rId1"/>
          <a:stretch>
            <a:fillRect/>
          </a:stretch>
        </p:blipFill>
        <p:spPr>
          <a:xfrm>
            <a:off x="548640" y="6391656"/>
            <a:ext cx="155448" cy="188390"/>
          </a:xfrm>
          <a:prstGeom prst="rect">
            <a:avLst/>
          </a:prstGeom>
        </p:spPr>
      </p:pic>
      <p:sp>
        <p:nvSpPr>
          <p:cNvPr id="3" name="Text 0"/>
          <p:cNvSpPr/>
          <p:nvPr/>
        </p:nvSpPr>
        <p:spPr>
          <a:xfrm>
            <a:off x="822960" y="6382512"/>
            <a:ext cx="8686800" cy="237744"/>
          </a:xfrm>
          <a:prstGeom prst="rect">
            <a:avLst/>
          </a:prstGeom>
          <a:noFill/>
          <a:ln/>
        </p:spPr>
        <p:txBody>
          <a:bodyPr wrap="square" lIns="0" tIns="0" rIns="0" bIns="0" rtlCol="0" anchor="ctr"/>
          <a:lstStyle/>
          <a:p>
            <a:pPr indent="0" marL="0">
              <a:buNone/>
            </a:pPr>
            <a:r>
              <a:rPr lang="en-US" sz="1000" dirty="0">
                <a:solidFill>
                  <a:schemeClr val="accent4"/>
                </a:solidFill>
              </a:rPr>
              <a:t>Dynamic Corporate Transformation · Volume I · Chapter 13</a:t>
            </a:r>
            <a:endParaRPr lang="en-US" sz="1000" dirty="0"/>
          </a:p>
        </p:txBody>
      </p:sp>
      <p:sp>
        <p:nvSpPr>
          <p:cNvPr id="4" name="Text 1"/>
          <p:cNvSpPr/>
          <p:nvPr>
            <p:ph idx="102" type="body" hasCustomPrompt="1"/>
          </p:nvPr>
        </p:nvSpPr>
        <p:spPr>
          <a:xfrm>
            <a:off x="548640" y="347472"/>
            <a:ext cx="11094415"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5" name="Text 1"/>
          <p:cNvSpPr/>
          <p:nvPr>
            <p:ph idx="103" type="title" hasCustomPrompt="1"/>
          </p:nvPr>
        </p:nvSpPr>
        <p:spPr>
          <a:xfrm>
            <a:off x="548640" y="658368"/>
            <a:ext cx="11094415" cy="86868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5.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5.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5.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4.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5.xml"/><Relationship Id="rId3" Type="http://schemas.openxmlformats.org/officeDocument/2006/relationships/notesSlide" Target="../notesSlides/notesSlide2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ph idx="101" type="body" hasCustomPrompt="1"/>
          </p:nvPr>
        </p:nvSpPr>
        <p:spPr>
          <a:xfrm>
            <a:off x="731520" y="1874520"/>
            <a:ext cx="10607040" cy="411480"/>
          </a:xfrm>
          <a:prstGeom prst="rect">
            <a:avLst/>
          </a:prstGeom>
          <a:noFill/>
          <a:ln/>
        </p:spPr>
        <p:txBody>
          <a:bodyPr wrap="square" lIns="0" tIns="0" rIns="0" bIns="0" rtlCol="0"/>
          <a:lstStyle/>
          <a:p>
            <a:pPr indent="0" marL="0">
              <a:buNone/>
            </a:pPr>
            <a:r>
              <a:rPr lang="en-US" sz="1500" b="1" spc="300" kern="0" dirty="0">
                <a:solidFill>
                  <a:schemeClr val="accent1"/>
                </a:solidFill>
              </a:rPr>
              <a:t>VOLUME I · CHAPTER 13 · WEEK 6</a:t>
            </a:r>
            <a:endParaRPr lang="en-US" sz="1500" dirty="0"/>
          </a:p>
        </p:txBody>
      </p:sp>
      <p:sp>
        <p:nvSpPr>
          <p:cNvPr id="4" name="Text 0"/>
          <p:cNvSpPr/>
          <p:nvPr>
            <p:ph idx="102" type="title" hasCustomPrompt="1"/>
          </p:nvPr>
        </p:nvSpPr>
        <p:spPr>
          <a:xfrm>
            <a:off x="731520" y="2331720"/>
            <a:ext cx="10607040" cy="1737360"/>
          </a:xfrm>
          <a:prstGeom prst="rect">
            <a:avLst/>
          </a:prstGeom>
          <a:noFill/>
          <a:ln/>
        </p:spPr>
        <p:txBody>
          <a:bodyPr wrap="square" lIns="0" tIns="0" rIns="0" bIns="0" rtlCol="0" anchor="t"/>
          <a:lstStyle/>
          <a:p>
            <a:pPr algn="l" indent="0" marL="0">
              <a:buNone/>
            </a:pPr>
            <a:r>
              <a:rPr lang="en-US" sz="4400" b="1" dirty="0">
                <a:solidFill>
                  <a:schemeClr val="bg1"/>
                </a:solidFill>
                <a:latin typeface="Cambria" pitchFamily="34" charset="0"/>
                <a:ea typeface="Cambria" pitchFamily="34" charset="-122"/>
                <a:cs typeface="Cambria" pitchFamily="34" charset="-120"/>
              </a:rPr>
              <a:t>Unified Enterprise Transformation Architecture</a:t>
            </a:r>
            <a:endParaRPr lang="en-US" sz="4400" dirty="0"/>
          </a:p>
        </p:txBody>
      </p:sp>
      <p:sp>
        <p:nvSpPr>
          <p:cNvPr id="5" name="Text 0"/>
          <p:cNvSpPr/>
          <p:nvPr>
            <p:ph idx="103" type="body" hasCustomPrompt="1"/>
          </p:nvPr>
        </p:nvSpPr>
        <p:spPr>
          <a:xfrm>
            <a:off x="731520" y="4160520"/>
            <a:ext cx="10241280" cy="914400"/>
          </a:xfrm>
          <a:prstGeom prst="rect">
            <a:avLst/>
          </a:prstGeom>
          <a:noFill/>
          <a:ln/>
        </p:spPr>
        <p:txBody>
          <a:bodyPr wrap="square" lIns="0" tIns="0" rIns="0" bIns="0" rtlCol="0" anchor="t"/>
          <a:lstStyle/>
          <a:p>
            <a:pPr indent="0" marL="0">
              <a:buNone/>
            </a:pPr>
            <a:r>
              <a:rPr lang="en-US" sz="2000" dirty="0">
                <a:solidFill>
                  <a:schemeClr val="bg2"/>
                </a:solidFill>
              </a:rPr>
              <a:t>Five layers on one skeleton, read from one state, with a declared register of the couplings: a verdict reached in any one ledger can be wrong in sign</a:t>
            </a:r>
            <a:endParaRPr lang="en-US" sz="2000" dirty="0"/>
          </a:p>
        </p:txBody>
      </p:sp>
      <p:sp>
        <p:nvSpPr>
          <p:cNvPr id="6" name="Text 0"/>
          <p:cNvSpPr/>
          <p:nvPr>
            <p:ph idx="104" type="body" hasCustomPrompt="1"/>
          </p:nvPr>
        </p:nvSpPr>
        <p:spPr>
          <a:xfrm>
            <a:off x="731520" y="5897880"/>
            <a:ext cx="10607040" cy="365760"/>
          </a:xfrm>
          <a:prstGeom prst="rect">
            <a:avLst/>
          </a:prstGeom>
          <a:noFill/>
          <a:ln/>
        </p:spPr>
        <p:txBody>
          <a:bodyPr wrap="square" lIns="0" tIns="0" rIns="0" bIns="0" rtlCol="0"/>
          <a:lstStyle/>
          <a:p>
            <a:pPr indent="0" marL="0">
              <a:buNone/>
            </a:pPr>
            <a:r>
              <a:rPr lang="en-US" sz="1200" dirty="0">
                <a:solidFill>
                  <a:schemeClr val="accent4"/>
                </a:solidFill>
              </a:rPr>
              <a:t>Graduate course companion · Lab seed 26113 · AXIOM Lab 1.13 (AXIOM-13)</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3" name="Text 0"/>
          <p:cNvSpPr/>
          <p:nvPr>
            <p:ph idx="100" type="body" hasCustomPrompt="1"/>
          </p:nvPr>
        </p:nvSpPr>
        <p:spPr>
          <a:xfrm>
            <a:off x="1280160" y="1371600"/>
            <a:ext cx="9601200" cy="3017520"/>
          </a:xfrm>
          <a:prstGeom prst="rect">
            <a:avLst/>
          </a:prstGeom>
          <a:noFill/>
          <a:ln/>
        </p:spPr>
        <p:txBody>
          <a:bodyPr wrap="square" lIns="0" tIns="0" rIns="0" bIns="0" rtlCol="0" anchor="b"/>
          <a:lstStyle/>
          <a:p>
            <a:pPr indent="0" marL="0">
              <a:buNone/>
            </a:pPr>
            <a:r>
              <a:rPr lang="en-US" sz="3000" i="1" dirty="0">
                <a:solidFill>
                  <a:schemeClr val="bg1"/>
                </a:solidFill>
                <a:latin typeface="Cambria" pitchFamily="34" charset="0"/>
                <a:ea typeface="Cambria" pitchFamily="34" charset="-122"/>
                <a:cs typeface="Cambria" pitchFamily="34" charset="-120"/>
              </a:rPr>
              <a:t>“Adam Smith's invisible hand—the idea that free markets lead to efficiency as if guided by unseen forces—is invisible, at least in part, because it is not there.”</a:t>
            </a:r>
            <a:endParaRPr lang="en-US" sz="3000" dirty="0"/>
          </a:p>
        </p:txBody>
      </p:sp>
      <p:sp>
        <p:nvSpPr>
          <p:cNvPr id="4" name="Text 0"/>
          <p:cNvSpPr/>
          <p:nvPr>
            <p:ph idx="101" type="body" hasCustomPrompt="1"/>
          </p:nvPr>
        </p:nvSpPr>
        <p:spPr>
          <a:xfrm>
            <a:off x="1280160" y="4617720"/>
            <a:ext cx="9601200" cy="457200"/>
          </a:xfrm>
          <a:prstGeom prst="rect">
            <a:avLst/>
          </a:prstGeom>
          <a:noFill/>
          <a:ln/>
        </p:spPr>
        <p:txBody>
          <a:bodyPr wrap="square" lIns="0" tIns="0" rIns="0" bIns="0" rtlCol="0"/>
          <a:lstStyle/>
          <a:p>
            <a:pPr indent="0" marL="0">
              <a:buNone/>
            </a:pPr>
            <a:r>
              <a:rPr lang="en-US" sz="1800" b="1" dirty="0">
                <a:solidFill>
                  <a:schemeClr val="accent1"/>
                </a:solidFill>
              </a:rPr>
              <a:t>Joseph E. Stiglitz</a:t>
            </a:r>
            <a:endParaRPr lang="en-US" sz="1800" dirty="0"/>
          </a:p>
        </p:txBody>
      </p:sp>
      <p:sp>
        <p:nvSpPr>
          <p:cNvPr id="5" name="Text 0"/>
          <p:cNvSpPr/>
          <p:nvPr>
            <p:ph idx="102" type="body" hasCustomPrompt="1"/>
          </p:nvPr>
        </p:nvSpPr>
        <p:spPr>
          <a:xfrm>
            <a:off x="1280160" y="5074920"/>
            <a:ext cx="9601200" cy="731520"/>
          </a:xfrm>
          <a:prstGeom prst="rect">
            <a:avLst/>
          </a:prstGeom>
          <a:noFill/>
          <a:ln/>
        </p:spPr>
        <p:txBody>
          <a:bodyPr wrap="square" lIns="0" tIns="0" rIns="0" bIns="0" rtlCol="0" anchor="t"/>
          <a:lstStyle/>
          <a:p>
            <a:pPr indent="0" marL="0">
              <a:buNone/>
            </a:pPr>
            <a:r>
              <a:rPr lang="en-US" sz="1400" dirty="0">
                <a:solidFill>
                  <a:schemeClr val="accent4"/>
                </a:solidFill>
              </a:rPr>
              <a:t>Nobel Memorial Prize in Economic Sciences 2001; The Guardian (2002)</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LEARNING OUTCOME STATEMENTS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After this chapter, you can</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13.1</a:t>
            </a:r>
            <a:endParaRPr lang="en-US" sz="13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600" dirty="0">
                <a:solidFill>
                  <a:schemeClr val="tx1"/>
                </a:solidFill>
              </a:rPr>
              <a:t>Explain why a transformation program cannot be judged in any single ledger, and what a unified architecture adds: one state, five layers, and a declared register of the couplings between them.</a:t>
            </a:r>
            <a:endParaRPr lang="en-US" sz="16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13.2</a:t>
            </a:r>
            <a:endParaRPr lang="en-US" sz="13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600" dirty="0">
                <a:solidFill>
                  <a:schemeClr val="tx1"/>
                </a:solidFill>
              </a:rPr>
              <a:t>Assemble a unified architecture for a company—skeleton, layers, compatibility checks, coupling register—and explain why unification costs the existing models nothing and why no layer can be dropped.</a:t>
            </a:r>
            <a:endParaRPr lang="en-US" sz="16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13.3</a:t>
            </a:r>
            <a:endParaRPr lang="en-US" sz="13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600" dirty="0">
                <a:solidFill>
                  <a:schemeClr val="tx1"/>
                </a:solidFill>
              </a:rPr>
              <a:t>Use the layered network and the interaction matrix to trace and time cross-ledger effects, and explain why every layer can pass its own stress test while the whole company is unstable.</a:t>
            </a:r>
            <a:endParaRPr lang="en-US" sz="16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13.4</a:t>
            </a:r>
            <a:endParaRPr lang="en-US" sz="13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600" dirty="0">
                <a:solidFill>
                  <a:schemeClr val="tx1"/>
                </a:solidFill>
              </a:rPr>
              <a:t>Audit a unified declaration: find the capital–performance–risk cycle that a funded program creates, explain why bilateral sign-offs cannot certify it, and locate errors with invariants.</a:t>
            </a:r>
            <a:endParaRPr lang="en-US" sz="16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300" b="1" dirty="0">
                <a:solidFill>
                  <a:schemeClr val="bg1"/>
                </a:solidFill>
                <a:latin typeface="Calibri" pitchFamily="34" charset="0"/>
                <a:ea typeface="Calibri" pitchFamily="34" charset="-122"/>
                <a:cs typeface="Calibri" pitchFamily="34" charset="-120"/>
              </a:rPr>
              <a:t>13.5</a:t>
            </a:r>
            <a:endParaRPr lang="en-US" sz="13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600" dirty="0">
                <a:solidFill>
                  <a:schemeClr val="tx1"/>
                </a:solidFill>
              </a:rPr>
              <a:t>Read one program in synchronized ledgers on their own clocks, and explain why integrated decisions dominate separated ones and what that implies for the optimization problem of Chapter 15.</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ROADMAP</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Eight sections, a worked example and a lab</a:t>
            </a:r>
            <a:endParaRPr lang="en-US" sz="3200" dirty="0"/>
          </a:p>
        </p:txBody>
      </p:sp>
      <p:sp>
        <p:nvSpPr>
          <p:cNvPr id="5" name="Card"/>
          <p:cNvSpPr/>
          <p:nvPr/>
        </p:nvSpPr>
        <p:spPr>
          <a:xfrm>
            <a:off x="548640" y="1691640"/>
            <a:ext cx="1999427" cy="2103120"/>
          </a:xfrm>
          <a:prstGeom prst="roundRect">
            <a:avLst>
              <a:gd name="adj" fmla="val 3659"/>
            </a:avLst>
          </a:prstGeom>
          <a:solidFill>
            <a:schemeClr val="bg2"/>
          </a:solidFill>
          <a:ln w="9525">
            <a:solidFill>
              <a:srgbClr val="C4CBD8"/>
            </a:solidFill>
            <a:prstDash val="solid"/>
          </a:ln>
        </p:spPr>
      </p:sp>
      <p:sp>
        <p:nvSpPr>
          <p:cNvPr id="6" name="Card label"/>
          <p:cNvSpPr txBox="1"/>
          <p:nvPr/>
        </p:nvSpPr>
        <p:spPr>
          <a:xfrm>
            <a:off x="731520"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§13.1</a:t>
            </a:r>
            <a:endParaRPr lang="en-US" sz="1300" dirty="0"/>
          </a:p>
        </p:txBody>
      </p:sp>
      <p:sp>
        <p:nvSpPr>
          <p:cNvPr id="7" name="Card head"/>
          <p:cNvSpPr txBox="1"/>
          <p:nvPr/>
        </p:nvSpPr>
        <p:spPr>
          <a:xfrm>
            <a:off x="731520"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Why Transformation Needs One Architecture</a:t>
            </a:r>
            <a:endParaRPr lang="en-US" sz="1300" dirty="0"/>
          </a:p>
        </p:txBody>
      </p:sp>
      <p:sp>
        <p:nvSpPr>
          <p:cNvPr id="8" name="Card text"/>
          <p:cNvSpPr txBox="1"/>
          <p:nvPr/>
        </p:nvSpPr>
        <p:spPr>
          <a:xfrm>
            <a:off x="731520"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Figure 13.1</a:t>
            </a:r>
            <a:endParaRPr lang="en-US" sz="1200" dirty="0"/>
          </a:p>
        </p:txBody>
      </p:sp>
      <p:sp>
        <p:nvSpPr>
          <p:cNvPr id="9" name="Card"/>
          <p:cNvSpPr/>
          <p:nvPr/>
        </p:nvSpPr>
        <p:spPr>
          <a:xfrm>
            <a:off x="2822387" y="1691640"/>
            <a:ext cx="1999427" cy="2103120"/>
          </a:xfrm>
          <a:prstGeom prst="roundRect">
            <a:avLst>
              <a:gd name="adj" fmla="val 3659"/>
            </a:avLst>
          </a:prstGeom>
          <a:solidFill>
            <a:schemeClr val="bg2"/>
          </a:solidFill>
          <a:ln w="9525">
            <a:solidFill>
              <a:srgbClr val="C4CBD8"/>
            </a:solidFill>
            <a:prstDash val="solid"/>
          </a:ln>
        </p:spPr>
      </p:sp>
      <p:sp>
        <p:nvSpPr>
          <p:cNvPr id="10" name="Card label"/>
          <p:cNvSpPr txBox="1"/>
          <p:nvPr/>
        </p:nvSpPr>
        <p:spPr>
          <a:xfrm>
            <a:off x="3005267"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§13.2</a:t>
            </a:r>
            <a:endParaRPr lang="en-US" sz="1300" dirty="0"/>
          </a:p>
        </p:txBody>
      </p:sp>
      <p:sp>
        <p:nvSpPr>
          <p:cNvPr id="11" name="Card head"/>
          <p:cNvSpPr txBox="1"/>
          <p:nvPr/>
        </p:nvSpPr>
        <p:spPr>
          <a:xfrm>
            <a:off x="3005267"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Five Architectures as Interfaces</a:t>
            </a:r>
            <a:endParaRPr lang="en-US" sz="1300" dirty="0"/>
          </a:p>
        </p:txBody>
      </p:sp>
      <p:sp>
        <p:nvSpPr>
          <p:cNvPr id="12" name="Card text"/>
          <p:cNvSpPr txBox="1"/>
          <p:nvPr/>
        </p:nvSpPr>
        <p:spPr>
          <a:xfrm>
            <a:off x="3005267"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Table 13.1</a:t>
            </a:r>
            <a:endParaRPr lang="en-US" sz="1200" dirty="0"/>
          </a:p>
        </p:txBody>
      </p:sp>
      <p:sp>
        <p:nvSpPr>
          <p:cNvPr id="13" name="Card"/>
          <p:cNvSpPr/>
          <p:nvPr/>
        </p:nvSpPr>
        <p:spPr>
          <a:xfrm>
            <a:off x="5096134" y="1691640"/>
            <a:ext cx="1999427" cy="2103120"/>
          </a:xfrm>
          <a:prstGeom prst="roundRect">
            <a:avLst>
              <a:gd name="adj" fmla="val 3659"/>
            </a:avLst>
          </a:prstGeom>
          <a:solidFill>
            <a:schemeClr val="bg2"/>
          </a:solidFill>
          <a:ln w="9525">
            <a:solidFill>
              <a:srgbClr val="C4CBD8"/>
            </a:solidFill>
            <a:prstDash val="solid"/>
          </a:ln>
        </p:spPr>
      </p:sp>
      <p:sp>
        <p:nvSpPr>
          <p:cNvPr id="14" name="Card label"/>
          <p:cNvSpPr txBox="1"/>
          <p:nvPr/>
        </p:nvSpPr>
        <p:spPr>
          <a:xfrm>
            <a:off x="5279014"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§13.3</a:t>
            </a:r>
            <a:endParaRPr lang="en-US" sz="1300" dirty="0"/>
          </a:p>
        </p:txBody>
      </p:sp>
      <p:sp>
        <p:nvSpPr>
          <p:cNvPr id="15" name="Card head"/>
          <p:cNvSpPr txBox="1"/>
          <p:nvPr/>
        </p:nvSpPr>
        <p:spPr>
          <a:xfrm>
            <a:off x="5279014"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Integration Principles</a:t>
            </a:r>
            <a:endParaRPr lang="en-US" sz="1300" dirty="0"/>
          </a:p>
        </p:txBody>
      </p:sp>
      <p:sp>
        <p:nvSpPr>
          <p:cNvPr id="16" name="Card text"/>
          <p:cNvSpPr txBox="1"/>
          <p:nvPr/>
        </p:nvSpPr>
        <p:spPr>
          <a:xfrm>
            <a:off x="5279014"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13.1</a:t>
            </a:r>
            <a:endParaRPr lang="en-US" sz="1200" dirty="0"/>
          </a:p>
        </p:txBody>
      </p:sp>
      <p:sp>
        <p:nvSpPr>
          <p:cNvPr id="17" name="Card"/>
          <p:cNvSpPr/>
          <p:nvPr/>
        </p:nvSpPr>
        <p:spPr>
          <a:xfrm>
            <a:off x="7369881" y="1691640"/>
            <a:ext cx="1999427" cy="2103120"/>
          </a:xfrm>
          <a:prstGeom prst="roundRect">
            <a:avLst>
              <a:gd name="adj" fmla="val 3659"/>
            </a:avLst>
          </a:prstGeom>
          <a:solidFill>
            <a:schemeClr val="bg2"/>
          </a:solidFill>
          <a:ln w="9525">
            <a:solidFill>
              <a:srgbClr val="C4CBD8"/>
            </a:solidFill>
            <a:prstDash val="solid"/>
          </a:ln>
        </p:spPr>
      </p:sp>
      <p:sp>
        <p:nvSpPr>
          <p:cNvPr id="18" name="Card label"/>
          <p:cNvSpPr txBox="1"/>
          <p:nvPr/>
        </p:nvSpPr>
        <p:spPr>
          <a:xfrm>
            <a:off x="7552761"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§13.4</a:t>
            </a:r>
            <a:endParaRPr lang="en-US" sz="1300" dirty="0"/>
          </a:p>
        </p:txBody>
      </p:sp>
      <p:sp>
        <p:nvSpPr>
          <p:cNvPr id="19" name="Card head"/>
          <p:cNvSpPr txBox="1"/>
          <p:nvPr/>
        </p:nvSpPr>
        <p:spPr>
          <a:xfrm>
            <a:off x="7552761"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Unified Enterprise Representation</a:t>
            </a:r>
            <a:endParaRPr lang="en-US" sz="1300" dirty="0"/>
          </a:p>
        </p:txBody>
      </p:sp>
      <p:sp>
        <p:nvSpPr>
          <p:cNvPr id="20" name="Card text"/>
          <p:cNvSpPr txBox="1"/>
          <p:nvPr/>
        </p:nvSpPr>
        <p:spPr>
          <a:xfrm>
            <a:off x="7552761"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Theorems 13.1–13.2</a:t>
            </a:r>
            <a:endParaRPr lang="en-US" sz="1200" dirty="0"/>
          </a:p>
        </p:txBody>
      </p:sp>
      <p:sp>
        <p:nvSpPr>
          <p:cNvPr id="21" name="Card"/>
          <p:cNvSpPr/>
          <p:nvPr/>
        </p:nvSpPr>
        <p:spPr>
          <a:xfrm>
            <a:off x="9643628" y="1691640"/>
            <a:ext cx="1999427" cy="2103120"/>
          </a:xfrm>
          <a:prstGeom prst="roundRect">
            <a:avLst>
              <a:gd name="adj" fmla="val 3659"/>
            </a:avLst>
          </a:prstGeom>
          <a:solidFill>
            <a:schemeClr val="bg2"/>
          </a:solidFill>
          <a:ln w="9525">
            <a:solidFill>
              <a:srgbClr val="C4CBD8"/>
            </a:solidFill>
            <a:prstDash val="solid"/>
          </a:ln>
        </p:spPr>
      </p:sp>
      <p:sp>
        <p:nvSpPr>
          <p:cNvPr id="22" name="Card label"/>
          <p:cNvSpPr txBox="1"/>
          <p:nvPr/>
        </p:nvSpPr>
        <p:spPr>
          <a:xfrm>
            <a:off x="9826508" y="181965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§13.5</a:t>
            </a:r>
            <a:endParaRPr lang="en-US" sz="1300" dirty="0"/>
          </a:p>
        </p:txBody>
      </p:sp>
      <p:sp>
        <p:nvSpPr>
          <p:cNvPr id="23" name="Card head"/>
          <p:cNvSpPr txBox="1"/>
          <p:nvPr/>
        </p:nvSpPr>
        <p:spPr>
          <a:xfrm>
            <a:off x="9826508" y="214884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Enterprise Architecture Interactions</a:t>
            </a:r>
            <a:endParaRPr lang="en-US" sz="1300" dirty="0"/>
          </a:p>
        </p:txBody>
      </p:sp>
      <p:sp>
        <p:nvSpPr>
          <p:cNvPr id="24" name="Card text"/>
          <p:cNvSpPr txBox="1"/>
          <p:nvPr/>
        </p:nvSpPr>
        <p:spPr>
          <a:xfrm>
            <a:off x="9826508" y="328269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13.3 · Table 13.2</a:t>
            </a:r>
            <a:endParaRPr lang="en-US" sz="1200" dirty="0"/>
          </a:p>
        </p:txBody>
      </p:sp>
      <p:sp>
        <p:nvSpPr>
          <p:cNvPr id="25" name="Card"/>
          <p:cNvSpPr/>
          <p:nvPr/>
        </p:nvSpPr>
        <p:spPr>
          <a:xfrm>
            <a:off x="548640" y="4069080"/>
            <a:ext cx="1999427" cy="2103120"/>
          </a:xfrm>
          <a:prstGeom prst="roundRect">
            <a:avLst>
              <a:gd name="adj" fmla="val 3659"/>
            </a:avLst>
          </a:prstGeom>
          <a:solidFill>
            <a:schemeClr val="bg2"/>
          </a:solidFill>
          <a:ln w="9525">
            <a:solidFill>
              <a:srgbClr val="C4CBD8"/>
            </a:solidFill>
            <a:prstDash val="solid"/>
          </a:ln>
        </p:spPr>
      </p:sp>
      <p:sp>
        <p:nvSpPr>
          <p:cNvPr id="26" name="Card label"/>
          <p:cNvSpPr txBox="1"/>
          <p:nvPr/>
        </p:nvSpPr>
        <p:spPr>
          <a:xfrm>
            <a:off x="731520"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§13.6</a:t>
            </a:r>
            <a:endParaRPr lang="en-US" sz="1300" dirty="0"/>
          </a:p>
        </p:txBody>
      </p:sp>
      <p:sp>
        <p:nvSpPr>
          <p:cNvPr id="27" name="Card head"/>
          <p:cNvSpPr txBox="1"/>
          <p:nvPr/>
        </p:nvSpPr>
        <p:spPr>
          <a:xfrm>
            <a:off x="731520"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Integrated Enterprise Dynamics</a:t>
            </a:r>
            <a:endParaRPr lang="en-US" sz="1300" dirty="0"/>
          </a:p>
        </p:txBody>
      </p:sp>
      <p:sp>
        <p:nvSpPr>
          <p:cNvPr id="28" name="Card text"/>
          <p:cNvSpPr txBox="1"/>
          <p:nvPr/>
        </p:nvSpPr>
        <p:spPr>
          <a:xfrm>
            <a:off x="731520"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13.4</a:t>
            </a:r>
            <a:endParaRPr lang="en-US" sz="1200" dirty="0"/>
          </a:p>
        </p:txBody>
      </p:sp>
      <p:sp>
        <p:nvSpPr>
          <p:cNvPr id="29" name="Card"/>
          <p:cNvSpPr/>
          <p:nvPr/>
        </p:nvSpPr>
        <p:spPr>
          <a:xfrm>
            <a:off x="2822387" y="4069080"/>
            <a:ext cx="1999427" cy="2103120"/>
          </a:xfrm>
          <a:prstGeom prst="roundRect">
            <a:avLst>
              <a:gd name="adj" fmla="val 3659"/>
            </a:avLst>
          </a:prstGeom>
          <a:solidFill>
            <a:schemeClr val="bg2"/>
          </a:solidFill>
          <a:ln w="9525">
            <a:solidFill>
              <a:srgbClr val="C4CBD8"/>
            </a:solidFill>
            <a:prstDash val="solid"/>
          </a:ln>
        </p:spPr>
      </p:sp>
      <p:sp>
        <p:nvSpPr>
          <p:cNvPr id="30" name="Card label"/>
          <p:cNvSpPr txBox="1"/>
          <p:nvPr/>
        </p:nvSpPr>
        <p:spPr>
          <a:xfrm>
            <a:off x="3005267"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§13.7</a:t>
            </a:r>
            <a:endParaRPr lang="en-US" sz="1300" dirty="0"/>
          </a:p>
        </p:txBody>
      </p:sp>
      <p:sp>
        <p:nvSpPr>
          <p:cNvPr id="31" name="Card head"/>
          <p:cNvSpPr txBox="1"/>
          <p:nvPr/>
        </p:nvSpPr>
        <p:spPr>
          <a:xfrm>
            <a:off x="3005267"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Architectural Consistency</a:t>
            </a:r>
            <a:endParaRPr lang="en-US" sz="1300" dirty="0"/>
          </a:p>
        </p:txBody>
      </p:sp>
      <p:sp>
        <p:nvSpPr>
          <p:cNvPr id="32" name="Card text"/>
          <p:cNvSpPr txBox="1"/>
          <p:nvPr/>
        </p:nvSpPr>
        <p:spPr>
          <a:xfrm>
            <a:off x="3005267"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Theorem 13.5 · Table 13.3</a:t>
            </a:r>
            <a:endParaRPr lang="en-US" sz="1200" dirty="0"/>
          </a:p>
        </p:txBody>
      </p:sp>
      <p:sp>
        <p:nvSpPr>
          <p:cNvPr id="33" name="Card"/>
          <p:cNvSpPr/>
          <p:nvPr/>
        </p:nvSpPr>
        <p:spPr>
          <a:xfrm>
            <a:off x="5096134" y="4069080"/>
            <a:ext cx="1999427" cy="2103120"/>
          </a:xfrm>
          <a:prstGeom prst="roundRect">
            <a:avLst>
              <a:gd name="adj" fmla="val 3659"/>
            </a:avLst>
          </a:prstGeom>
          <a:solidFill>
            <a:schemeClr val="bg2"/>
          </a:solidFill>
          <a:ln w="9525">
            <a:solidFill>
              <a:srgbClr val="C4CBD8"/>
            </a:solidFill>
            <a:prstDash val="solid"/>
          </a:ln>
        </p:spPr>
      </p:sp>
      <p:sp>
        <p:nvSpPr>
          <p:cNvPr id="34" name="Card label"/>
          <p:cNvSpPr txBox="1"/>
          <p:nvPr/>
        </p:nvSpPr>
        <p:spPr>
          <a:xfrm>
            <a:off x="5279014"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§13.8</a:t>
            </a:r>
            <a:endParaRPr lang="en-US" sz="1300" dirty="0"/>
          </a:p>
        </p:txBody>
      </p:sp>
      <p:sp>
        <p:nvSpPr>
          <p:cNvPr id="35" name="Card head"/>
          <p:cNvSpPr txBox="1"/>
          <p:nvPr/>
        </p:nvSpPr>
        <p:spPr>
          <a:xfrm>
            <a:off x="5279014"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The Enterprise Transformation Framework</a:t>
            </a:r>
            <a:endParaRPr lang="en-US" sz="1300" dirty="0"/>
          </a:p>
        </p:txBody>
      </p:sp>
      <p:sp>
        <p:nvSpPr>
          <p:cNvPr id="36" name="Card text"/>
          <p:cNvSpPr txBox="1"/>
          <p:nvPr/>
        </p:nvSpPr>
        <p:spPr>
          <a:xfrm>
            <a:off x="5279014"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Proposition 13.5</a:t>
            </a:r>
            <a:endParaRPr lang="en-US" sz="1200" dirty="0"/>
          </a:p>
        </p:txBody>
      </p:sp>
      <p:sp>
        <p:nvSpPr>
          <p:cNvPr id="37" name="Card"/>
          <p:cNvSpPr/>
          <p:nvPr/>
        </p:nvSpPr>
        <p:spPr>
          <a:xfrm>
            <a:off x="7369881" y="4069080"/>
            <a:ext cx="1999427" cy="2103120"/>
          </a:xfrm>
          <a:prstGeom prst="roundRect">
            <a:avLst>
              <a:gd name="adj" fmla="val 3659"/>
            </a:avLst>
          </a:prstGeom>
          <a:solidFill>
            <a:schemeClr val="tx1"/>
          </a:solidFill>
          <a:ln w="9525">
            <a:solidFill>
              <a:srgbClr val="0F1E3D"/>
            </a:solidFill>
            <a:prstDash val="solid"/>
          </a:ln>
        </p:spPr>
      </p:sp>
      <p:sp>
        <p:nvSpPr>
          <p:cNvPr id="38" name="Card label"/>
          <p:cNvSpPr txBox="1"/>
          <p:nvPr/>
        </p:nvSpPr>
        <p:spPr>
          <a:xfrm>
            <a:off x="7552761"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Worked Example 13.1</a:t>
            </a:r>
            <a:endParaRPr lang="en-US" sz="1300" dirty="0"/>
          </a:p>
        </p:txBody>
      </p:sp>
      <p:sp>
        <p:nvSpPr>
          <p:cNvPr id="39" name="Card head"/>
          <p:cNvSpPr txBox="1"/>
          <p:nvPr/>
        </p:nvSpPr>
        <p:spPr>
          <a:xfrm>
            <a:off x="7552761" y="4526280"/>
            <a:ext cx="1633667" cy="1060704"/>
          </a:xfrm>
          <a:prstGeom prst="rect">
            <a:avLst/>
          </a:prstGeom>
          <a:noFill/>
          <a:ln/>
        </p:spPr>
        <p:txBody>
          <a:bodyPr wrap="square" lIns="0" tIns="0" rIns="0" bIns="0" rtlCol="0" anchor="t"/>
          <a:lstStyle/>
          <a:p>
            <a:pPr indent="0" marL="0">
              <a:buNone/>
            </a:pPr>
            <a:r>
              <a:rPr lang="en-US" sz="1300" b="1" dirty="0">
                <a:solidFill>
                  <a:schemeClr val="bg1"/>
                </a:solidFill>
                <a:latin typeface="Cambria" pitchFamily="34" charset="0"/>
                <a:ea typeface="Cambria" pitchFamily="34" charset="-122"/>
                <a:cs typeface="Cambria" pitchFamily="34" charset="-120"/>
              </a:rPr>
              <a:t>Is the Same Cash Promised Twice?</a:t>
            </a:r>
            <a:endParaRPr lang="en-US" sz="1300" dirty="0"/>
          </a:p>
        </p:txBody>
      </p:sp>
      <p:sp>
        <p:nvSpPr>
          <p:cNvPr id="40" name="Card text"/>
          <p:cNvSpPr txBox="1"/>
          <p:nvPr/>
        </p:nvSpPr>
        <p:spPr>
          <a:xfrm>
            <a:off x="7552761" y="5660136"/>
            <a:ext cx="1633667" cy="384048"/>
          </a:xfrm>
          <a:prstGeom prst="rect">
            <a:avLst/>
          </a:prstGeom>
          <a:noFill/>
          <a:ln/>
        </p:spPr>
        <p:txBody>
          <a:bodyPr wrap="square" lIns="0" tIns="0" rIns="0" bIns="0" rtlCol="0" anchor="t"/>
          <a:lstStyle/>
          <a:p>
            <a:pPr indent="0" marL="0">
              <a:buNone/>
            </a:pPr>
            <a:r>
              <a:rPr lang="en-US" sz="1200" dirty="0">
                <a:solidFill>
                  <a:schemeClr val="bg2"/>
                </a:solidFill>
              </a:rPr>
              <a:t>Table 13.6 · Figure 13.3</a:t>
            </a:r>
            <a:endParaRPr lang="en-US" sz="1200" dirty="0"/>
          </a:p>
        </p:txBody>
      </p:sp>
      <p:sp>
        <p:nvSpPr>
          <p:cNvPr id="41" name="Card"/>
          <p:cNvSpPr/>
          <p:nvPr/>
        </p:nvSpPr>
        <p:spPr>
          <a:xfrm>
            <a:off x="9643628" y="4069080"/>
            <a:ext cx="1999427" cy="2103120"/>
          </a:xfrm>
          <a:prstGeom prst="roundRect">
            <a:avLst>
              <a:gd name="adj" fmla="val 3659"/>
            </a:avLst>
          </a:prstGeom>
          <a:solidFill>
            <a:schemeClr val="bg2"/>
          </a:solidFill>
          <a:ln w="9525">
            <a:solidFill>
              <a:srgbClr val="C4CBD8"/>
            </a:solidFill>
            <a:prstDash val="solid"/>
          </a:ln>
        </p:spPr>
      </p:sp>
      <p:sp>
        <p:nvSpPr>
          <p:cNvPr id="42" name="Card label"/>
          <p:cNvSpPr txBox="1"/>
          <p:nvPr/>
        </p:nvSpPr>
        <p:spPr>
          <a:xfrm>
            <a:off x="9826508" y="4197096"/>
            <a:ext cx="1633667" cy="310896"/>
          </a:xfrm>
          <a:prstGeom prst="rect">
            <a:avLst/>
          </a:prstGeom>
          <a:noFill/>
          <a:ln/>
        </p:spPr>
        <p:txBody>
          <a:bodyPr wrap="square" lIns="0" tIns="0" rIns="0" bIns="0" rtlCol="0" anchor="ctr"/>
          <a:lstStyle/>
          <a:p>
            <a:pPr indent="0" marL="0">
              <a:buNone/>
            </a:pPr>
            <a:r>
              <a:rPr lang="en-US" sz="1300" b="1" dirty="0">
                <a:solidFill>
                  <a:schemeClr val="accent1"/>
                </a:solidFill>
              </a:rPr>
              <a:t>AXIOM Lab 1.13</a:t>
            </a:r>
            <a:endParaRPr lang="en-US" sz="1300" dirty="0"/>
          </a:p>
        </p:txBody>
      </p:sp>
      <p:sp>
        <p:nvSpPr>
          <p:cNvPr id="43" name="Card head"/>
          <p:cNvSpPr txBox="1"/>
          <p:nvPr/>
        </p:nvSpPr>
        <p:spPr>
          <a:xfrm>
            <a:off x="9826508" y="4526280"/>
            <a:ext cx="1633667" cy="1060704"/>
          </a:xfrm>
          <a:prstGeom prst="rect">
            <a:avLst/>
          </a:prstGeom>
          <a:noFill/>
          <a:ln/>
        </p:spPr>
        <p:txBody>
          <a:bodyPr wrap="square" lIns="0" tIns="0" rIns="0" bIns="0" rtlCol="0" anchor="t"/>
          <a:lstStyle/>
          <a:p>
            <a:pPr indent="0" marL="0">
              <a:buNone/>
            </a:pPr>
            <a:r>
              <a:rPr lang="en-US" sz="1300" b="1" dirty="0">
                <a:solidFill>
                  <a:schemeClr val="tx1"/>
                </a:solidFill>
                <a:latin typeface="Cambria" pitchFamily="34" charset="0"/>
                <a:ea typeface="Cambria" pitchFamily="34" charset="-122"/>
                <a:cs typeface="Cambria" pitchFamily="34" charset="-120"/>
              </a:rPr>
              <a:t>One Company, Five Ledgers</a:t>
            </a:r>
            <a:endParaRPr lang="en-US" sz="1300" dirty="0"/>
          </a:p>
        </p:txBody>
      </p:sp>
      <p:sp>
        <p:nvSpPr>
          <p:cNvPr id="44" name="Card text"/>
          <p:cNvSpPr txBox="1"/>
          <p:nvPr/>
        </p:nvSpPr>
        <p:spPr>
          <a:xfrm>
            <a:off x="9826508" y="5660136"/>
            <a:ext cx="1633667" cy="384048"/>
          </a:xfrm>
          <a:prstGeom prst="rect">
            <a:avLst/>
          </a:prstGeom>
          <a:noFill/>
          <a:ln/>
        </p:spPr>
        <p:txBody>
          <a:bodyPr wrap="square" lIns="0" tIns="0" rIns="0" bIns="0" rtlCol="0" anchor="t"/>
          <a:lstStyle/>
          <a:p>
            <a:pPr indent="0" marL="0">
              <a:buNone/>
            </a:pPr>
            <a:r>
              <a:rPr lang="en-US" sz="1200" dirty="0">
                <a:solidFill>
                  <a:schemeClr val="tx2"/>
                </a:solidFill>
              </a:rPr>
              <a:t>AXIOM-13 · five steps</a:t>
            </a:r>
            <a:endParaRPr lang="en-US" sz="12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§13.1 · FIGURE 13.1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program, three ledgers, three clocks</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Meridian's digital program, month by month, in the capital, performance and risk ledgers</a:t>
            </a:r>
            <a:endParaRPr lang="en-US" sz="1600" dirty="0"/>
          </a:p>
          <a:p>
            <a:pPr marL="228600" indent="-228600">
              <a:spcAft>
                <a:spcPts val="800"/>
              </a:spcAft>
              <a:buSzPct val="100000"/>
              <a:buChar char="•"/>
            </a:pPr>
            <a:r>
              <a:rPr lang="en-US" sz="1600" dirty="0">
                <a:solidFill>
                  <a:schemeClr val="tx1"/>
                </a:solidFill>
              </a:rPr>
              <a:t>The CFO's scorecard and strategic risk are at their worst in </a:t>
            </a:r>
            <a:r>
              <a:rPr lang="en-US" sz="1600" b="1" dirty="0">
                <a:solidFill>
                  <a:schemeClr val="tx1"/>
                </a:solidFill>
              </a:rPr>
              <a:t>month 11</a:t>
            </a:r>
            <a:r>
              <a:rPr lang="en-US" sz="1600" dirty="0">
                <a:solidFill>
                  <a:schemeClr val="tx1"/>
                </a:solidFill>
              </a:rPr>
              <a:t>, liquidity in </a:t>
            </a:r>
            <a:r>
              <a:rPr lang="en-US" sz="1600" b="1" dirty="0">
                <a:solidFill>
                  <a:schemeClr val="tx1"/>
                </a:solidFill>
              </a:rPr>
              <a:t>month 21</a:t>
            </a:r>
            <a:endParaRPr lang="en-US" sz="1600" dirty="0"/>
          </a:p>
          <a:p>
            <a:pPr marL="228600" indent="-228600">
              <a:spcAft>
                <a:spcPts val="800"/>
              </a:spcAft>
              <a:buSzPct val="100000"/>
              <a:buChar char="•"/>
            </a:pPr>
            <a:r>
              <a:rPr lang="en-US" sz="1600" dirty="0">
                <a:solidFill>
                  <a:schemeClr val="tx1"/>
                </a:solidFill>
              </a:rPr>
              <a:t>The scorecard regains today's 37.0 only in </a:t>
            </a:r>
            <a:r>
              <a:rPr lang="en-US" sz="1600" b="1" dirty="0">
                <a:solidFill>
                  <a:schemeClr val="tx1"/>
                </a:solidFill>
              </a:rPr>
              <a:t>month 29</a:t>
            </a:r>
            <a:endParaRPr lang="en-US" sz="1600" dirty="0"/>
          </a:p>
          <a:p>
            <a:pPr marL="228600" indent="-228600">
              <a:spcAft>
                <a:spcPts val="800"/>
              </a:spcAft>
              <a:buSzPct val="100000"/>
              <a:buChar char="•"/>
            </a:pPr>
            <a:r>
              <a:rPr lang="en-US" sz="1600" dirty="0">
                <a:solidFill>
                  <a:schemeClr val="tx1"/>
                </a:solidFill>
              </a:rPr>
              <a:t>At month 11, three reviews: a failing program, a falling but ample cushion, a ceiling 1.4 points away</a:t>
            </a:r>
            <a:endParaRPr lang="en-US" sz="1600" dirty="0"/>
          </a:p>
          <a:p>
            <a:pPr marL="228600" indent="-228600">
              <a:spcAft>
                <a:spcPts val="800"/>
              </a:spcAft>
              <a:buSzPct val="100000"/>
              <a:buChar char="•"/>
            </a:pPr>
            <a:r>
              <a:rPr lang="en-US" sz="1600" dirty="0">
                <a:solidFill>
                  <a:schemeClr val="tx1"/>
                </a:solidFill>
              </a:rPr>
              <a:t>Each verdict is correct in its ledger and unsafe as a verdict on the program</a:t>
            </a:r>
            <a:endParaRPr lang="en-US" sz="1600" dirty="0"/>
          </a:p>
        </p:txBody>
      </p:sp>
      <p:pic>
        <p:nvPicPr>
          <p:cNvPr id="6" name="Figure" descr="Figure 13.1: one program, three ledgers, three clocks">    </p:cNvPr>
          <p:cNvPicPr>
            <a:picLocks noChangeAspect="1"/>
          </p:cNvPicPr>
          <p:nvPr/>
        </p:nvPicPr>
        <p:blipFill>
          <a:blip r:embed="rId1"/>
          <a:stretch>
            <a:fillRect/>
          </a:stretch>
        </p:blipFill>
        <p:spPr>
          <a:xfrm>
            <a:off x="5169286" y="2097449"/>
            <a:ext cx="6473769" cy="3102014"/>
          </a:xfrm>
          <a:prstGeom prst="rect">
            <a:avLst/>
          </a:prstGeom>
        </p:spPr>
      </p:pic>
      <p:sp>
        <p:nvSpPr>
          <p:cNvPr id="7" name="Caption"/>
          <p:cNvSpPr txBox="1"/>
          <p:nvPr/>
        </p:nvSpPr>
        <p:spPr>
          <a:xfrm>
            <a:off x="5169286" y="5272615"/>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13.1. The Chapter 1 model, month by month: liquidity against the $350m floor, the CFO's scorecard against today's 37.0, strategic risk against its ceiling of 75 with the risk committee's band of ±6.</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§13.2 · TABLE 13.1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Five architectures as interfaces, one new object</a:t>
            </a:r>
            <a:endParaRPr lang="en-US" sz="32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450574"/>
                <a:gridCol w="3341691"/>
                <a:gridCol w="2094127"/>
                <a:gridCol w="3208024"/>
              </a:tblGrid>
              <a:tr h="457200">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Layer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Question it answers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Key results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Meridian instance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State (Chapter 9)</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what is connected; how fast influence travels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Theorems 9.1, 9.2, 9.4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seven components; a feedback core of four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Transformation (Chapters 6–8)</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what can be done, in what order, with what odds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Theorems 6.1, 6.3, 8.2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digital build, sale, automation rounds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Capital (Chapter 10)</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what the company has; how stocks build and wear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Theorems 10.1, 10.3, 10.4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ten forms; a capability rent of $23m a year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Performance (Chapter 11)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what it delivers, at what trade-offs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Theorems 11.1, 11.2, 11.4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ten dimensions; the CFO's scorecard</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457200">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Risk (Chapter 12)</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what it can lose, absorb, and recover from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Theorems 12.1, 12.3, 12.5</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$270m of armor; 24.6% breach odds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400" b="1" dirty="0">
                          <a:solidFill>
                            <a:srgbClr val="0F1E3D"/>
                          </a:solidFill>
                          <a:latin typeface="Calibri" pitchFamily="34" charset="0"/>
                          <a:ea typeface="Calibri" pitchFamily="34" charset="-122"/>
                          <a:cs typeface="Calibri" pitchFamily="34" charset="-120"/>
                        </a:rPr>
                        <a:t>Couplings (this chapter)</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what crosses between layers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Definition 13.1</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funding, buffer and target links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507492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13.1. Four of the five layers are declared on the first: capital carriers, performance supports, risk supports and operator domains are components of the state architecture.</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only new object is the coupling register: the handoffs with which each chapter of Part III closed.</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§13.3 · INTEGRATION PRINCIPLES · PROPOSITION 13.1</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Three principles make the assembly cheap</a:t>
            </a:r>
            <a:endParaRPr lang="en-US" sz="3200" dirty="0"/>
          </a:p>
        </p:txBody>
      </p:sp>
      <p:sp>
        <p:nvSpPr>
          <p:cNvPr id="5" name="Card"/>
          <p:cNvSpPr/>
          <p:nvPr/>
        </p:nvSpPr>
        <p:spPr>
          <a:xfrm>
            <a:off x="548640" y="1691640"/>
            <a:ext cx="2567864" cy="3154680"/>
          </a:xfrm>
          <a:prstGeom prst="roundRect">
            <a:avLst>
              <a:gd name="adj" fmla="val 2849"/>
            </a:avLst>
          </a:prstGeom>
          <a:solidFill>
            <a:schemeClr val="bg2"/>
          </a:solidFill>
          <a:ln w="9525">
            <a:solidFill>
              <a:srgbClr val="C4CBD8"/>
            </a:solidFill>
            <a:prstDash val="solid"/>
          </a:ln>
        </p:spPr>
      </p:sp>
      <p:sp>
        <p:nvSpPr>
          <p:cNvPr id="6" name="Card label"/>
          <p:cNvSpPr txBox="1"/>
          <p:nvPr/>
        </p:nvSpPr>
        <p:spPr>
          <a:xfrm>
            <a:off x="731520"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Shared skeleton</a:t>
            </a:r>
            <a:endParaRPr lang="en-US" sz="1300" dirty="0"/>
          </a:p>
        </p:txBody>
      </p:sp>
      <p:sp>
        <p:nvSpPr>
          <p:cNvPr id="7" name="Card head"/>
          <p:cNvSpPr txBox="1"/>
          <p:nvPr/>
        </p:nvSpPr>
        <p:spPr>
          <a:xfrm>
            <a:off x="731520" y="2148840"/>
            <a:ext cx="2202104" cy="103327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All content attaches to one state architecture</a:t>
            </a:r>
            <a:endParaRPr lang="en-US" sz="1800" dirty="0"/>
          </a:p>
        </p:txBody>
      </p:sp>
      <p:sp>
        <p:nvSpPr>
          <p:cNvPr id="8" name="Card text"/>
          <p:cNvSpPr txBox="1"/>
          <p:nvPr/>
        </p:nvSpPr>
        <p:spPr>
          <a:xfrm>
            <a:off x="731520" y="3255264"/>
            <a:ext cx="2202104" cy="1463040"/>
          </a:xfrm>
          <a:prstGeom prst="rect">
            <a:avLst/>
          </a:prstGeom>
          <a:noFill/>
          <a:ln/>
        </p:spPr>
        <p:txBody>
          <a:bodyPr wrap="square" lIns="0" tIns="0" rIns="0" bIns="0" rtlCol="0" anchor="t"/>
          <a:lstStyle/>
          <a:p>
            <a:pPr indent="0" marL="0">
              <a:buNone/>
            </a:pPr>
            <a:r>
              <a:rPr lang="en-US" sz="1500" dirty="0">
                <a:solidFill>
                  <a:schemeClr val="tx2"/>
                </a:solidFill>
              </a:rPr>
              <a:t>One set of components, one dependency graph, one constraint discipline: every propagation question runs on Chapter 9's machinery.</a:t>
            </a:r>
            <a:endParaRPr lang="en-US" sz="1500" dirty="0"/>
          </a:p>
        </p:txBody>
      </p:sp>
      <p:sp>
        <p:nvSpPr>
          <p:cNvPr id="9" name="Card"/>
          <p:cNvSpPr/>
          <p:nvPr/>
        </p:nvSpPr>
        <p:spPr>
          <a:xfrm>
            <a:off x="3390824" y="1691640"/>
            <a:ext cx="2567864" cy="3154680"/>
          </a:xfrm>
          <a:prstGeom prst="roundRect">
            <a:avLst>
              <a:gd name="adj" fmla="val 2849"/>
            </a:avLst>
          </a:prstGeom>
          <a:solidFill>
            <a:schemeClr val="bg2"/>
          </a:solidFill>
          <a:ln w="9525">
            <a:solidFill>
              <a:srgbClr val="C4CBD8"/>
            </a:solidFill>
            <a:prstDash val="solid"/>
          </a:ln>
        </p:spPr>
      </p:sp>
      <p:sp>
        <p:nvSpPr>
          <p:cNvPr id="10" name="Card label"/>
          <p:cNvSpPr txBox="1"/>
          <p:nvPr/>
        </p:nvSpPr>
        <p:spPr>
          <a:xfrm>
            <a:off x="3573704"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Single state</a:t>
            </a:r>
            <a:endParaRPr lang="en-US" sz="1300" dirty="0"/>
          </a:p>
        </p:txBody>
      </p:sp>
      <p:sp>
        <p:nvSpPr>
          <p:cNvPr id="11" name="Card head"/>
          <p:cNvSpPr txBox="1"/>
          <p:nvPr/>
        </p:nvSpPr>
        <p:spPr>
          <a:xfrm>
            <a:off x="3573704" y="2148840"/>
            <a:ext cx="2202104" cy="103327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All layers read one state process</a:t>
            </a:r>
            <a:endParaRPr lang="en-US" sz="1800" dirty="0"/>
          </a:p>
        </p:txBody>
      </p:sp>
      <p:sp>
        <p:nvSpPr>
          <p:cNvPr id="12" name="Card text"/>
          <p:cNvSpPr txBox="1"/>
          <p:nvPr/>
        </p:nvSpPr>
        <p:spPr>
          <a:xfrm>
            <a:off x="3573704" y="3255264"/>
            <a:ext cx="2202104" cy="1463040"/>
          </a:xfrm>
          <a:prstGeom prst="rect">
            <a:avLst/>
          </a:prstGeom>
          <a:noFill/>
          <a:ln/>
        </p:spPr>
        <p:txBody>
          <a:bodyPr wrap="square" lIns="0" tIns="0" rIns="0" bIns="0" rtlCol="0" anchor="t"/>
          <a:lstStyle/>
          <a:p>
            <a:pPr indent="0" marL="0">
              <a:buNone/>
            </a:pPr>
            <a:r>
              <a:rPr lang="en-US" sz="1500" dirty="0">
                <a:solidFill>
                  <a:schemeClr val="tx2"/>
                </a:solidFill>
              </a:rPr>
              <a:t>No layer carries dynamics of its own: one state equation, and the layers' paths are readouts of the state's path.</a:t>
            </a:r>
            <a:endParaRPr lang="en-US" sz="1500" dirty="0"/>
          </a:p>
        </p:txBody>
      </p:sp>
      <p:sp>
        <p:nvSpPr>
          <p:cNvPr id="13" name="Card"/>
          <p:cNvSpPr/>
          <p:nvPr/>
        </p:nvSpPr>
        <p:spPr>
          <a:xfrm>
            <a:off x="6233008" y="1691640"/>
            <a:ext cx="2567864" cy="3154680"/>
          </a:xfrm>
          <a:prstGeom prst="roundRect">
            <a:avLst>
              <a:gd name="adj" fmla="val 2849"/>
            </a:avLst>
          </a:prstGeom>
          <a:solidFill>
            <a:schemeClr val="bg2"/>
          </a:solidFill>
          <a:ln w="9525">
            <a:solidFill>
              <a:srgbClr val="C4CBD8"/>
            </a:solidFill>
            <a:prstDash val="solid"/>
          </a:ln>
        </p:spPr>
      </p:sp>
      <p:sp>
        <p:nvSpPr>
          <p:cNvPr id="14" name="Card label"/>
          <p:cNvSpPr txBox="1"/>
          <p:nvPr/>
        </p:nvSpPr>
        <p:spPr>
          <a:xfrm>
            <a:off x="6415888"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Declared coupling</a:t>
            </a:r>
            <a:endParaRPr lang="en-US" sz="1300" dirty="0"/>
          </a:p>
        </p:txBody>
      </p:sp>
      <p:sp>
        <p:nvSpPr>
          <p:cNvPr id="15" name="Card head"/>
          <p:cNvSpPr txBox="1"/>
          <p:nvPr/>
        </p:nvSpPr>
        <p:spPr>
          <a:xfrm>
            <a:off x="6415888" y="2148840"/>
            <a:ext cx="2202104" cy="1033272"/>
          </a:xfrm>
          <a:prstGeom prst="rect">
            <a:avLst/>
          </a:prstGeom>
          <a:noFill/>
          <a:ln/>
        </p:spPr>
        <p:txBody>
          <a:bodyPr wrap="square" lIns="0" tIns="0" rIns="0" bIns="0" rtlCol="0" anchor="t"/>
          <a:lstStyle/>
          <a:p>
            <a:pPr indent="0" marL="0">
              <a:buNone/>
            </a:pPr>
            <a:r>
              <a:rPr lang="en-US" sz="1800" b="1" dirty="0">
                <a:solidFill>
                  <a:schemeClr val="tx1"/>
                </a:solidFill>
                <a:latin typeface="Cambria" pitchFamily="34" charset="0"/>
                <a:ea typeface="Cambria" pitchFamily="34" charset="-122"/>
                <a:cs typeface="Cambria" pitchFamily="34" charset="-120"/>
              </a:rPr>
              <a:t>Whatever crosses a layer boundary is declared</a:t>
            </a:r>
            <a:endParaRPr lang="en-US" sz="1800" dirty="0"/>
          </a:p>
        </p:txBody>
      </p:sp>
      <p:sp>
        <p:nvSpPr>
          <p:cNvPr id="16" name="Card text"/>
          <p:cNvSpPr txBox="1"/>
          <p:nvPr/>
        </p:nvSpPr>
        <p:spPr>
          <a:xfrm>
            <a:off x="6415888" y="3255264"/>
            <a:ext cx="2202104" cy="1463040"/>
          </a:xfrm>
          <a:prstGeom prst="rect">
            <a:avLst/>
          </a:prstGeom>
          <a:noFill/>
          <a:ln/>
        </p:spPr>
        <p:txBody>
          <a:bodyPr wrap="square" lIns="0" tIns="0" rIns="0" bIns="0" rtlCol="0" anchor="t"/>
          <a:lstStyle/>
          <a:p>
            <a:pPr indent="0" marL="0">
              <a:buNone/>
            </a:pPr>
            <a:r>
              <a:rPr lang="en-US" sz="1500" dirty="0">
                <a:solidFill>
                  <a:schemeClr val="tx2"/>
                </a:solidFill>
              </a:rPr>
              <a:t>Which stocks feed which flows, which buffers are which stocks: an undeclared coupling is a modeling error.</a:t>
            </a:r>
            <a:endParaRPr lang="en-US" sz="1500" dirty="0"/>
          </a:p>
        </p:txBody>
      </p:sp>
      <p:sp>
        <p:nvSpPr>
          <p:cNvPr id="17" name="Card"/>
          <p:cNvSpPr/>
          <p:nvPr/>
        </p:nvSpPr>
        <p:spPr>
          <a:xfrm>
            <a:off x="9075191" y="1691640"/>
            <a:ext cx="2567864" cy="3154680"/>
          </a:xfrm>
          <a:prstGeom prst="roundRect">
            <a:avLst>
              <a:gd name="adj" fmla="val 2849"/>
            </a:avLst>
          </a:prstGeom>
          <a:solidFill>
            <a:schemeClr val="tx1"/>
          </a:solidFill>
          <a:ln w="9525">
            <a:solidFill>
              <a:srgbClr val="0F1E3D"/>
            </a:solidFill>
            <a:prstDash val="solid"/>
          </a:ln>
        </p:spPr>
      </p:sp>
      <p:sp>
        <p:nvSpPr>
          <p:cNvPr id="18" name="Card label"/>
          <p:cNvSpPr txBox="1"/>
          <p:nvPr/>
        </p:nvSpPr>
        <p:spPr>
          <a:xfrm>
            <a:off x="9258071" y="1819656"/>
            <a:ext cx="2202104" cy="310896"/>
          </a:xfrm>
          <a:prstGeom prst="rect">
            <a:avLst/>
          </a:prstGeom>
          <a:noFill/>
          <a:ln/>
        </p:spPr>
        <p:txBody>
          <a:bodyPr wrap="square" lIns="0" tIns="0" rIns="0" bIns="0" rtlCol="0" anchor="ctr"/>
          <a:lstStyle/>
          <a:p>
            <a:pPr indent="0" marL="0">
              <a:buNone/>
            </a:pPr>
            <a:r>
              <a:rPr lang="en-US" sz="1300" b="1" dirty="0">
                <a:solidFill>
                  <a:schemeClr val="accent1"/>
                </a:solidFill>
              </a:rPr>
              <a:t>Proposition 13.1</a:t>
            </a:r>
            <a:endParaRPr lang="en-US" sz="1300" dirty="0"/>
          </a:p>
        </p:txBody>
      </p:sp>
      <p:sp>
        <p:nvSpPr>
          <p:cNvPr id="19" name="Card head"/>
          <p:cNvSpPr txBox="1"/>
          <p:nvPr/>
        </p:nvSpPr>
        <p:spPr>
          <a:xfrm>
            <a:off x="9258071" y="2148840"/>
            <a:ext cx="2202104" cy="1033272"/>
          </a:xfrm>
          <a:prstGeom prst="rect">
            <a:avLst/>
          </a:prstGeom>
          <a:noFill/>
          <a:ln/>
        </p:spPr>
        <p:txBody>
          <a:bodyPr wrap="square" lIns="0" tIns="0" rIns="0" bIns="0" rtlCol="0" anchor="t"/>
          <a:lstStyle/>
          <a:p>
            <a:pPr indent="0" marL="0">
              <a:buNone/>
            </a:pPr>
            <a:r>
              <a:rPr lang="en-US" sz="1800" b="1" dirty="0">
                <a:solidFill>
                  <a:schemeClr val="bg1"/>
                </a:solidFill>
                <a:latin typeface="Cambria" pitchFamily="34" charset="0"/>
                <a:ea typeface="Cambria" pitchFamily="34" charset="-122"/>
                <a:cs typeface="Cambria" pitchFamily="34" charset="-120"/>
              </a:rPr>
              <a:t>Every company has a unified architecture</a:t>
            </a:r>
            <a:endParaRPr lang="en-US" sz="1800" dirty="0"/>
          </a:p>
        </p:txBody>
      </p:sp>
      <p:sp>
        <p:nvSpPr>
          <p:cNvPr id="20" name="Card text"/>
          <p:cNvSpPr txBox="1"/>
          <p:nvPr/>
        </p:nvSpPr>
        <p:spPr>
          <a:xfrm>
            <a:off x="9258071" y="3255264"/>
            <a:ext cx="2202104" cy="1463040"/>
          </a:xfrm>
          <a:prstGeom prst="rect">
            <a:avLst/>
          </a:prstGeom>
          <a:noFill/>
          <a:ln/>
        </p:spPr>
        <p:txBody>
          <a:bodyPr wrap="square" lIns="0" tIns="0" rIns="0" bIns="0" rtlCol="0" anchor="t"/>
          <a:lstStyle/>
          <a:p>
            <a:pPr indent="0" marL="0">
              <a:buNone/>
            </a:pPr>
            <a:r>
              <a:rPr lang="en-US" sz="1500" dirty="0">
                <a:solidFill>
                  <a:schemeClr val="bg2"/>
                </a:solidFill>
              </a:rPr>
              <a:t>The trivial one, with no declared couplings, always exists. What is substantive is which couplings it registers.</a:t>
            </a:r>
            <a:endParaRPr lang="en-US" sz="1500" dirty="0"/>
          </a:p>
        </p:txBody>
      </p:sp>
      <p:sp>
        <p:nvSpPr>
          <p:cNvPr id="21" name="Lead"/>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Offices that manage capital, performance and risk with separate models claim an empty coupling register: a falsifiable claim.</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§13.4 · DEFINITIONS 13.1–13.4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One object: five layers and their couplings</a:t>
            </a:r>
            <a:endParaRPr lang="en-US" sz="3200" dirty="0"/>
          </a:p>
        </p:txBody>
      </p:sp>
      <p:pic>
        <p:nvPicPr>
          <p:cNvPr id="5" name="Equation" descr="Equation: \mathcal{U}_{E} \;=\; \bigl(\mathcal{A}_{S},\ \mathcal{A}_{T},\ \mathcal{A}_{C},\ \mathcal{A}_{P},\ \mathcal{A}_{R}\bigr)\ \text{ with a coupling register } \mathcal{K}">    </p:cNvPr>
          <p:cNvPicPr>
            <a:picLocks noChangeAspect="1"/>
          </p:cNvPicPr>
          <p:nvPr/>
        </p:nvPicPr>
        <p:blipFill>
          <a:blip r:embed="rId1"/>
          <a:stretch>
            <a:fillRect/>
          </a:stretch>
        </p:blipFill>
        <p:spPr>
          <a:xfrm>
            <a:off x="914400" y="1906236"/>
            <a:ext cx="10362895" cy="668088"/>
          </a:xfrm>
          <a:prstGeom prst="rect">
            <a:avLst/>
          </a:prstGeom>
        </p:spPr>
      </p:pic>
      <p:sp>
        <p:nvSpPr>
          <p:cNvPr id="6" name="Text 2"/>
          <p:cNvSpPr txBox="1"/>
          <p:nvPr/>
        </p:nvSpPr>
        <p:spPr>
          <a:xfrm>
            <a:off x="914400" y="2711484"/>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state, transformation, capital, performance and risk architectures on one skeleton, plus the declared channels between them</a:t>
            </a:r>
            <a:endParaRPr lang="en-US" sz="1600" dirty="0"/>
          </a:p>
        </p:txBody>
      </p:sp>
      <p:sp>
        <p:nvSpPr>
          <p:cNvPr id="7" name="Bullets"/>
          <p:cNvSpPr txBox="1"/>
          <p:nvPr/>
        </p:nvSpPr>
        <p:spPr>
          <a:xfrm>
            <a:off x="914400" y="3305844"/>
            <a:ext cx="10362895" cy="2866356"/>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Definition 13.2.</a:t>
            </a:r>
            <a:r>
              <a:rPr lang="en-US" sz="1700" dirty="0">
                <a:solidFill>
                  <a:schemeClr val="bg1"/>
                </a:solidFill>
              </a:rPr>
              <a:t> Every layer is a readout of one state: capital κ(x), performance Φ(x, u), risk measures of the loss channels under the state's distribution</a:t>
            </a:r>
            <a:endParaRPr lang="en-US" sz="1700" dirty="0"/>
          </a:p>
          <a:p>
            <a:pPr marL="228600" indent="-228600">
              <a:spcAft>
                <a:spcPts val="800"/>
              </a:spcAft>
              <a:buSzPct val="100000"/>
              <a:buChar char="•"/>
            </a:pPr>
            <a:r>
              <a:rPr lang="en-US" sz="1700" b="1" dirty="0">
                <a:solidFill>
                  <a:schemeClr val="bg1"/>
                </a:solidFill>
              </a:rPr>
              <a:t>Definition 13.3.</a:t>
            </a:r>
            <a:r>
              <a:rPr lang="en-US" sz="1700" dirty="0">
                <a:solidFill>
                  <a:schemeClr val="bg1"/>
                </a:solidFill>
              </a:rPr>
              <a:t> Integration attaches a layer whose every reference resolves to the skeleton</a:t>
            </a:r>
            <a:endParaRPr lang="en-US" sz="1700" dirty="0"/>
          </a:p>
          <a:p>
            <a:pPr marL="228600" indent="-228600">
              <a:spcAft>
                <a:spcPts val="800"/>
              </a:spcAft>
              <a:buSzPct val="100000"/>
              <a:buChar char="•"/>
            </a:pPr>
            <a:r>
              <a:rPr lang="en-US" sz="1700" b="1" dirty="0">
                <a:solidFill>
                  <a:schemeClr val="bg1"/>
                </a:solidFill>
              </a:rPr>
              <a:t>Definition 13.4.</a:t>
            </a:r>
            <a:r>
              <a:rPr lang="en-US" sz="1700" dirty="0">
                <a:solidFill>
                  <a:schemeClr val="bg1"/>
                </a:solidFill>
              </a:rPr>
              <a:t> Compatible: (C1) every carrier is a component; (C2) one contract per shared indicator; (C3) every buffer named to a capital stock; (C4) a joint feasible region; (C5) operator domains recomputed against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§13.4 · THEOREMS 13.1–13.2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Unification costs the existing models nothing</a:t>
            </a:r>
            <a:endParaRPr lang="en-US" sz="3200" dirty="0"/>
          </a:p>
        </p:txBody>
      </p:sp>
      <p:sp>
        <p:nvSpPr>
          <p:cNvPr id="5" name="Result card"/>
          <p:cNvSpPr/>
          <p:nvPr/>
        </p:nvSpPr>
        <p:spPr>
          <a:xfrm>
            <a:off x="548640" y="1691640"/>
            <a:ext cx="59436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3949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13.1</a:t>
            </a:r>
            <a:endParaRPr lang="en-US" sz="1200" dirty="0"/>
          </a:p>
        </p:txBody>
      </p:sp>
      <p:sp>
        <p:nvSpPr>
          <p:cNvPr id="7" name="Text 4"/>
          <p:cNvSpPr txBox="1"/>
          <p:nvPr/>
        </p:nvSpPr>
        <p:spPr>
          <a:xfrm>
            <a:off x="822960" y="2194560"/>
            <a:ext cx="53949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Unified Enterprise Representation Theorem</a:t>
            </a:r>
            <a:endParaRPr lang="en-US" sz="2100" dirty="0"/>
          </a:p>
        </p:txBody>
      </p:sp>
      <p:sp>
        <p:nvSpPr>
          <p:cNvPr id="8" name="Bullets"/>
          <p:cNvSpPr txBox="1"/>
          <p:nvPr/>
        </p:nvSpPr>
        <p:spPr>
          <a:xfrm>
            <a:off x="822960" y="2743200"/>
            <a:ext cx="53949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 Existence.</a:t>
            </a:r>
            <a:r>
              <a:rPr lang="en-US" sz="1600" dirty="0">
                <a:solidFill>
                  <a:schemeClr val="tx1"/>
                </a:solidFill>
              </a:rPr>
              <a:t> The quintuple built on the skeleton, each layer attached by its own construction, is determined by the declarations</a:t>
            </a:r>
            <a:endParaRPr lang="en-US" sz="1600" dirty="0"/>
          </a:p>
          <a:p>
            <a:pPr marL="228600" indent="-228600">
              <a:spcAft>
                <a:spcPts val="600"/>
              </a:spcAft>
              <a:buSzPct val="100000"/>
              <a:buChar char="•"/>
            </a:pPr>
            <a:r>
              <a:rPr lang="en-US" sz="1600" b="1" dirty="0">
                <a:solidFill>
                  <a:schemeClr val="tx1"/>
                </a:solidFill>
              </a:rPr>
              <a:t>(ii) One state.</a:t>
            </a:r>
            <a:r>
              <a:rPr lang="en-US" sz="1600" dirty="0">
                <a:solidFill>
                  <a:schemeClr val="tx1"/>
                </a:solidFill>
              </a:rPr>
              <a:t> Every layer quantity is a declared function of the state, the decisions and the distribution</a:t>
            </a:r>
            <a:endParaRPr lang="en-US" sz="1600" dirty="0"/>
          </a:p>
          <a:p>
            <a:pPr marL="228600" indent="-228600">
              <a:spcAft>
                <a:spcPts val="600"/>
              </a:spcAft>
              <a:buSzPct val="100000"/>
              <a:buChar char="•"/>
            </a:pPr>
            <a:r>
              <a:rPr lang="en-US" sz="1600" b="1" dirty="0">
                <a:solidFill>
                  <a:schemeClr val="tx1"/>
                </a:solidFill>
              </a:rPr>
              <a:t>(iii) Faithful restriction.</a:t>
            </a:r>
            <a:r>
              <a:rPr lang="en-US" sz="1600" dirty="0">
                <a:solidFill>
                  <a:schemeClr val="tx1"/>
                </a:solidFill>
              </a:rPr>
              <a:t> Dropping all but one layer returns that layer exactly</a:t>
            </a:r>
            <a:endParaRPr lang="en-US" sz="1600" dirty="0"/>
          </a:p>
          <a:p>
            <a:pPr marL="228600" indent="-228600">
              <a:spcAft>
                <a:spcPts val="600"/>
              </a:spcAft>
              <a:buSzPct val="100000"/>
              <a:buChar char="•"/>
            </a:pPr>
            <a:r>
              <a:rPr lang="en-US" sz="1600" b="1" dirty="0">
                <a:solidFill>
                  <a:schemeClr val="tx1"/>
                </a:solidFill>
              </a:rPr>
              <a:t>(iv) Non-redundancy.</a:t>
            </a:r>
            <a:r>
              <a:rPr lang="en-US" sz="1600" dirty="0">
                <a:solidFill>
                  <a:schemeClr val="tx1"/>
                </a:solidFill>
              </a:rPr>
              <a:t> No layer is determined by the other four: declared with value at risk or with expected shortfall, one risk channel answers “does consolidating two loans raise measured risk?” differently</a:t>
            </a:r>
            <a:endParaRPr lang="en-US" sz="1600" dirty="0"/>
          </a:p>
        </p:txBody>
      </p:sp>
      <p:sp>
        <p:nvSpPr>
          <p:cNvPr id="9" name="Text 6"/>
          <p:cNvSpPr txBox="1"/>
          <p:nvPr/>
        </p:nvSpPr>
        <p:spPr>
          <a:xfrm>
            <a:off x="6903720" y="1737360"/>
            <a:ext cx="47393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6903720" y="2194560"/>
            <a:ext cx="47393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Two panels that disagree reveal a declaration defect, not a fact about the world</a:t>
            </a:r>
            <a:endParaRPr lang="en-US" sz="1500" dirty="0"/>
          </a:p>
          <a:p>
            <a:pPr marL="228600" indent="-228600">
              <a:spcAft>
                <a:spcPts val="800"/>
              </a:spcAft>
              <a:buSzPct val="100000"/>
              <a:buChar char="•"/>
            </a:pPr>
            <a:r>
              <a:rPr lang="en-US" sz="1500" dirty="0">
                <a:solidFill>
                  <a:schemeClr val="tx1"/>
                </a:solidFill>
              </a:rPr>
              <a:t>The treasurer's, the COO's and the CRO's models survive as restrictions; they lose only the pretense of self-sufficiency</a:t>
            </a:r>
            <a:endParaRPr lang="en-US" sz="1500" dirty="0"/>
          </a:p>
          <a:p>
            <a:pPr marL="228600" indent="-228600">
              <a:spcAft>
                <a:spcPts val="800"/>
              </a:spcAft>
              <a:buSzPct val="100000"/>
              <a:buChar char="•"/>
            </a:pPr>
            <a:r>
              <a:rPr lang="en-US" sz="1500" dirty="0">
                <a:solidFill>
                  <a:schemeClr val="tx1"/>
                </a:solidFill>
              </a:rPr>
              <a:t>A four-layer governance model is not leaner but blind in a declared direction</a:t>
            </a:r>
            <a:endParaRPr lang="en-US" sz="1500" dirty="0"/>
          </a:p>
          <a:p>
            <a:pPr marL="228600" indent="-228600">
              <a:spcAft>
                <a:spcPts val="800"/>
              </a:spcAft>
              <a:buSzPct val="100000"/>
              <a:buChar char="•"/>
            </a:pPr>
            <a:r>
              <a:rPr lang="en-US" sz="1500" b="1" dirty="0">
                <a:solidFill>
                  <a:schemeClr val="tx1"/>
                </a:solidFill>
              </a:rPr>
              <a:t>Theorem 13.2.</a:t>
            </a:r>
            <a:r>
              <a:rPr lang="en-US" sz="1500" dirty="0">
                <a:solidFill>
                  <a:schemeClr val="tx1"/>
                </a:solidFill>
              </a:rPr>
              <a:t> Order does not matter; divisional models glue exactly when they agree on what they share</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§13.5 · DEFINITION 13.5 · TABLE 13.2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interaction matrix as a governance document</a:t>
            </a:r>
            <a:endParaRPr lang="en-US" sz="32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1925477"/>
                <a:gridCol w="2338079"/>
                <a:gridCol w="2246390"/>
                <a:gridCol w="2338079"/>
                <a:gridCol w="2246390"/>
              </a:tblGrid>
              <a:tr h="566928">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Receives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from transformation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from capital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from performance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400" b="1" dirty="0">
                          <a:solidFill>
                            <a:srgbClr val="FFFFFF"/>
                          </a:solidFill>
                          <a:latin typeface="Calibri" pitchFamily="34" charset="0"/>
                          <a:ea typeface="Calibri" pitchFamily="34" charset="-122"/>
                          <a:cs typeface="Calibri" pitchFamily="34" charset="-120"/>
                        </a:rPr>
                        <a:t>from risk</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capital</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conversion bills, write-offs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(within: conversions)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retained flows build stocks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shocks deplete stocks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performance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the J-curve</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stocks produce flows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(within: Table 11.4)</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dents and recoveries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risk</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exposure during the program</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buffers are stocks (C3)</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shortfalls are loss channels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(within: propagation gains)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66928">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transformation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(within: composition)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stocks enlarge the menu</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review windows trigger action</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400" dirty="0">
                          <a:solidFill>
                            <a:srgbClr val="0F1E3D"/>
                          </a:solidFill>
                          <a:latin typeface="Calibri" pitchFamily="34" charset="0"/>
                          <a:ea typeface="Calibri" pitchFamily="34" charset="-122"/>
                          <a:cs typeface="Calibri" pitchFamily="34" charset="-120"/>
                        </a:rPr>
                        <a:t>thin armor shrinks domains</a:t>
                      </a:r>
                      <a:endParaRPr lang="en-US" sz="14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48006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13.2. The row layer receives, the column layer sends; diagonal blocks are the layers' own structures, and a zero block is a declaration that nothing passes directly.</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b="1" dirty="0">
                <a:solidFill>
                  <a:schemeClr val="accent2"/>
                </a:solidFill>
              </a:rPr>
              <a:t>Proposition 13.2.</a:t>
            </a:r>
            <a:r>
              <a:rPr lang="en-US" sz="1600" dirty="0">
                <a:solidFill>
                  <a:schemeClr val="accent2"/>
                </a:solidFill>
              </a:rPr>
              <a:t> A program changes, in general, every layer supported where it writes: one ledger sees a projection.</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§13.5 · THEOREM 13.3 · FIGURE 13.2</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Every layer can pass while the whole fails</a:t>
            </a:r>
            <a:endParaRPr lang="en-US" sz="3200" dirty="0"/>
          </a:p>
        </p:txBody>
      </p:sp>
      <p:sp>
        <p:nvSpPr>
          <p:cNvPr id="5" name="Bullets"/>
          <p:cNvSpPr txBox="1"/>
          <p:nvPr/>
        </p:nvSpPr>
        <p:spPr>
          <a:xfrm>
            <a:off x="548640" y="1691640"/>
            <a:ext cx="4476774"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Theorem 13.3.</a:t>
            </a:r>
            <a:r>
              <a:rPr lang="en-US" sz="1600" dirty="0">
                <a:solidFill>
                  <a:schemeClr val="tx1"/>
                </a:solidFill>
              </a:rPr>
              <a:t> The layered graph is one network: influence travels only along its paths</a:t>
            </a:r>
            <a:endParaRPr lang="en-US" sz="1600" dirty="0"/>
          </a:p>
          <a:p>
            <a:pPr marL="228600" indent="-228600">
              <a:spcAft>
                <a:spcPts val="800"/>
              </a:spcAft>
              <a:buSzPct val="100000"/>
              <a:buChar char="•"/>
            </a:pPr>
            <a:r>
              <a:rPr lang="en-US" sz="1600" dirty="0">
                <a:solidFill>
                  <a:schemeClr val="tx1"/>
                </a:solidFill>
              </a:rPr>
              <a:t>Containment needs ρ(M) &lt; 1 for the </a:t>
            </a:r>
            <a:r>
              <a:rPr lang="en-US" sz="1600" b="1" dirty="0">
                <a:solidFill>
                  <a:schemeClr val="tx1"/>
                </a:solidFill>
              </a:rPr>
              <a:t>whole</a:t>
            </a:r>
            <a:r>
              <a:rPr lang="en-US" sz="1600" dirty="0">
                <a:solidFill>
                  <a:schemeClr val="tx1"/>
                </a:solidFill>
              </a:rPr>
              <a:t> matrix; each layer passing its own test is necessary, not sufficient</a:t>
            </a:r>
            <a:endParaRPr lang="en-US" sz="1600" dirty="0"/>
          </a:p>
          <a:p>
            <a:pPr marL="228600" indent="-228600">
              <a:spcAft>
                <a:spcPts val="800"/>
              </a:spcAft>
              <a:buSzPct val="100000"/>
              <a:buChar char="•"/>
            </a:pPr>
            <a:r>
              <a:rPr lang="en-US" sz="1600" dirty="0">
                <a:solidFill>
                  <a:schemeClr val="tx1"/>
                </a:solidFill>
              </a:rPr>
              <a:t>Three layers that each book a shock twice over book it </a:t>
            </a:r>
            <a:r>
              <a:rPr lang="en-US" sz="1600" b="1" dirty="0">
                <a:solidFill>
                  <a:schemeClr val="tx1"/>
                </a:solidFill>
              </a:rPr>
              <a:t>4</a:t>
            </a:r>
            <a:r>
              <a:rPr lang="en-US" sz="1600" dirty="0">
                <a:solidFill>
                  <a:schemeClr val="tx1"/>
                </a:solidFill>
              </a:rPr>
              <a:t> times over when a quarter crosses, </a:t>
            </a:r>
            <a:r>
              <a:rPr lang="en-US" sz="1600" b="1" dirty="0">
                <a:solidFill>
                  <a:schemeClr val="tx1"/>
                </a:solidFill>
              </a:rPr>
              <a:t>10</a:t>
            </a:r>
            <a:r>
              <a:rPr lang="en-US" sz="1600" dirty="0">
                <a:solidFill>
                  <a:schemeClr val="tx1"/>
                </a:solidFill>
              </a:rPr>
              <a:t> at 0.40, without limit from 0.5</a:t>
            </a:r>
            <a:endParaRPr lang="en-US" sz="1600" dirty="0"/>
          </a:p>
          <a:p>
            <a:pPr marL="228600" indent="-228600">
              <a:spcAft>
                <a:spcPts val="800"/>
              </a:spcAft>
              <a:buSzPct val="100000"/>
              <a:buChar char="•"/>
            </a:pPr>
            <a:r>
              <a:rPr lang="en-US" sz="1600" dirty="0">
                <a:solidFill>
                  <a:schemeClr val="tx1"/>
                </a:solidFill>
              </a:rPr>
              <a:t>Cross-layer feedback lives where strongly connected components span layers; Meridian has one by construction</a:t>
            </a:r>
            <a:endParaRPr lang="en-US" sz="1600" dirty="0"/>
          </a:p>
        </p:txBody>
      </p:sp>
      <p:pic>
        <p:nvPicPr>
          <p:cNvPr id="6" name="Figure" descr="Figure 13.2: every layer passes, the whole fails">    </p:cNvPr>
          <p:cNvPicPr>
            <a:picLocks noChangeAspect="1"/>
          </p:cNvPicPr>
          <p:nvPr/>
        </p:nvPicPr>
        <p:blipFill>
          <a:blip r:embed="rId1"/>
          <a:stretch>
            <a:fillRect/>
          </a:stretch>
        </p:blipFill>
        <p:spPr>
          <a:xfrm>
            <a:off x="5391174" y="2044783"/>
            <a:ext cx="6251881" cy="3207345"/>
          </a:xfrm>
          <a:prstGeom prst="rect">
            <a:avLst/>
          </a:prstGeom>
        </p:spPr>
      </p:pic>
      <p:sp>
        <p:nvSpPr>
          <p:cNvPr id="7" name="Caption"/>
          <p:cNvSpPr txBox="1"/>
          <p:nvPr/>
        </p:nvSpPr>
        <p:spPr>
          <a:xfrm>
            <a:off x="5391174" y="5325281"/>
            <a:ext cx="6251881" cy="502920"/>
          </a:xfrm>
          <a:prstGeom prst="rect">
            <a:avLst/>
          </a:prstGeom>
          <a:noFill/>
          <a:ln/>
        </p:spPr>
        <p:txBody>
          <a:bodyPr wrap="square" lIns="0" tIns="0" rIns="0" bIns="0" rtlCol="0" anchor="t"/>
          <a:lstStyle/>
          <a:p>
            <a:pPr indent="0" marL="0">
              <a:buNone/>
            </a:pPr>
            <a:r>
              <a:rPr lang="en-US" sz="1100" i="1" dirty="0">
                <a:solidFill>
                  <a:schemeClr val="tx2"/>
                </a:solidFill>
              </a:rPr>
              <a:t>Figure 13.2. Left: three layers in a cycle, each keeping half of a quarter's loss (a = 0.5). Right: the total impact of a unit shock, 1/(1 − a − c), while every layer alone still reports 2.</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§13.6 · DEFINITION 13.8 · THEOREM 13.4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One state equation drives every ledger</a:t>
            </a:r>
            <a:endParaRPr lang="en-US" sz="3200" dirty="0"/>
          </a:p>
        </p:txBody>
      </p:sp>
      <p:pic>
        <p:nvPicPr>
          <p:cNvPr id="5" name="Equation" descr="Equation: \mathbf{x}_{k+1} = f(\mathbf{x}_k, \mathbf{u}_k, \mathbf{w}_k), \qquad \boldsymbol{\xi}_{k+1} = \bigl(\mathbf{x}_{k+1};\ \kappa(\mathbf{x}_{k+1});\ \Phi(\mathbf{x}_{k+1}, \mathbf{u}_{k+1});\ \mathbf{R}_{k+1}\bigr)">    </p:cNvPr>
          <p:cNvPicPr>
            <a:picLocks noChangeAspect="1"/>
          </p:cNvPicPr>
          <p:nvPr/>
        </p:nvPicPr>
        <p:blipFill>
          <a:blip r:embed="rId1"/>
          <a:stretch>
            <a:fillRect/>
          </a:stretch>
        </p:blipFill>
        <p:spPr>
          <a:xfrm>
            <a:off x="914400" y="1892586"/>
            <a:ext cx="10362895" cy="558228"/>
          </a:xfrm>
          <a:prstGeom prst="rect">
            <a:avLst/>
          </a:prstGeom>
        </p:spPr>
      </p:pic>
      <p:sp>
        <p:nvSpPr>
          <p:cNvPr id="6" name="Text 2"/>
          <p:cNvSpPr txBox="1"/>
          <p:nvPr/>
        </p:nvSpPr>
        <p:spPr>
          <a:xfrm>
            <a:off x="914400" y="2587974"/>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integrated state is a presentation of the state, not an enlargement: the ledgers move because they read it</a:t>
            </a:r>
            <a:endParaRPr lang="en-US" sz="1600" dirty="0"/>
          </a:p>
        </p:txBody>
      </p:sp>
      <p:sp>
        <p:nvSpPr>
          <p:cNvPr id="7" name="Bullets"/>
          <p:cNvSpPr txBox="1"/>
          <p:nvPr/>
        </p:nvSpPr>
        <p:spPr>
          <a:xfrm>
            <a:off x="914400" y="3182334"/>
            <a:ext cx="10362895" cy="2989866"/>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The two dashboards agree:</a:t>
            </a:r>
            <a:r>
              <a:rPr lang="en-US" sz="1700" dirty="0">
                <a:solidFill>
                  <a:schemeClr val="bg1"/>
                </a:solidFill>
              </a:rPr>
              <a:t> scenario paths for planning and distributions for risk differ only where an implementation departs from the declaration</a:t>
            </a:r>
            <a:endParaRPr lang="en-US" sz="1700" dirty="0"/>
          </a:p>
          <a:p>
            <a:pPr marL="228600" indent="-228600">
              <a:spcAft>
                <a:spcPts val="800"/>
              </a:spcAft>
              <a:buSzPct val="100000"/>
              <a:buChar char="•"/>
            </a:pPr>
            <a:r>
              <a:rPr lang="en-US" sz="1700" b="1" dirty="0">
                <a:solidFill>
                  <a:schemeClr val="bg1"/>
                </a:solidFill>
              </a:rPr>
              <a:t>Confinement:</a:t>
            </a:r>
            <a:r>
              <a:rPr lang="en-US" sz="1700" dirty="0">
                <a:solidFill>
                  <a:schemeClr val="bg1"/>
                </a:solidFill>
              </a:rPr>
              <a:t> the program writes to Digital and engineering; treasury and Industrial Systems can respond after one quarter, Materials never</a:t>
            </a:r>
            <a:endParaRPr lang="en-US" sz="1700" dirty="0"/>
          </a:p>
          <a:p>
            <a:pPr marL="228600" indent="-228600">
              <a:spcAft>
                <a:spcPts val="800"/>
              </a:spcAft>
              <a:buSzPct val="100000"/>
              <a:buChar char="•"/>
            </a:pPr>
            <a:r>
              <a:rPr lang="en-US" sz="1700" b="1" dirty="0">
                <a:solidFill>
                  <a:schemeClr val="bg1"/>
                </a:solidFill>
              </a:rPr>
              <a:t>The flaw of averages in every ledger:</a:t>
            </a:r>
            <a:r>
              <a:rPr lang="en-US" sz="1700" dirty="0">
                <a:solidFill>
                  <a:schemeClr val="bg1"/>
                </a:solidFill>
              </a:rPr>
              <a:t> a planned low of $482m, an average simulated low of $384m</a:t>
            </a:r>
            <a:endParaRPr lang="en-US" sz="1700" dirty="0"/>
          </a:p>
          <a:p>
            <a:pPr marL="228600" indent="-228600">
              <a:spcAft>
                <a:spcPts val="800"/>
              </a:spcAft>
              <a:buSzPct val="100000"/>
              <a:buChar char="•"/>
            </a:pPr>
            <a:r>
              <a:rPr lang="en-US" sz="1700" b="1" dirty="0">
                <a:solidFill>
                  <a:schemeClr val="bg1"/>
                </a:solidFill>
              </a:rPr>
              <a:t>Invariants as tripwires:</a:t>
            </a:r>
            <a:r>
              <a:rPr lang="en-US" sz="1700" dirty="0">
                <a:solidFill>
                  <a:schemeClr val="bg1"/>
                </a:solidFill>
              </a:rPr>
              <a:t> a computed violation points to a declaration or implementation error</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§13.7 · THEOREM 13.5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Cycles defeat bilateral sign-offs</a:t>
            </a:r>
            <a:endParaRPr lang="en-US" sz="3200" dirty="0"/>
          </a:p>
        </p:txBody>
      </p:sp>
      <p:sp>
        <p:nvSpPr>
          <p:cNvPr id="5" name="Result card"/>
          <p:cNvSpPr/>
          <p:nvPr/>
        </p:nvSpPr>
        <p:spPr>
          <a:xfrm>
            <a:off x="548640" y="1691640"/>
            <a:ext cx="640080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585216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THEOREM 13.5</a:t>
            </a:r>
            <a:endParaRPr lang="en-US" sz="1200" dirty="0"/>
          </a:p>
        </p:txBody>
      </p:sp>
      <p:sp>
        <p:nvSpPr>
          <p:cNvPr id="7" name="Text 4"/>
          <p:cNvSpPr txBox="1"/>
          <p:nvPr/>
        </p:nvSpPr>
        <p:spPr>
          <a:xfrm>
            <a:off x="822960" y="2194560"/>
            <a:ext cx="585216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Unified Consistency Theorem</a:t>
            </a:r>
            <a:endParaRPr lang="en-US" sz="2100" dirty="0"/>
          </a:p>
        </p:txBody>
      </p:sp>
      <p:sp>
        <p:nvSpPr>
          <p:cNvPr id="8" name="Bullets"/>
          <p:cNvSpPr txBox="1"/>
          <p:nvPr/>
        </p:nvSpPr>
        <p:spPr>
          <a:xfrm>
            <a:off x="822960" y="2743200"/>
            <a:ext cx="585216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a:t>
            </a:r>
            <a:r>
              <a:rPr lang="en-US" sz="1600" dirty="0">
                <a:solidFill>
                  <a:schemeClr val="tx1"/>
                </a:solidFill>
              </a:rPr>
              <a:t> Inconsistent declarations admit no state: no analysis of them is about any company</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Trees are safe: bilateral checks certify the whole. On a cycle they cannot</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Cross-layer cycles are the norm: a buffer identity, a funding coupling and a target link close one</a:t>
            </a:r>
            <a:endParaRPr lang="en-US" sz="1600" dirty="0"/>
          </a:p>
          <a:p>
            <a:pPr marL="228600" indent="-228600">
              <a:spcAft>
                <a:spcPts val="600"/>
              </a:spcAft>
              <a:buSzPct val="100000"/>
              <a:buChar char="•"/>
            </a:pPr>
            <a:r>
              <a:rPr lang="en-US" sz="1600" b="1" dirty="0">
                <a:solidFill>
                  <a:schemeClr val="tx1"/>
                </a:solidFill>
              </a:rPr>
              <a:t>(iv)</a:t>
            </a:r>
            <a:r>
              <a:rPr lang="en-US" sz="1600" dirty="0">
                <a:solidFill>
                  <a:schemeClr val="tx1"/>
                </a:solidFill>
              </a:rPr>
              <a:t> Divisions assemble exactly when some setting of the shared components works for both</a:t>
            </a:r>
            <a:endParaRPr lang="en-US" sz="1600" dirty="0"/>
          </a:p>
          <a:p>
            <a:pPr marL="228600" indent="-228600">
              <a:spcAft>
                <a:spcPts val="600"/>
              </a:spcAft>
              <a:buSzPct val="100000"/>
              <a:buChar char="•"/>
            </a:pPr>
            <a:r>
              <a:rPr lang="en-US" sz="1600" b="1" dirty="0">
                <a:solidFill>
                  <a:schemeClr val="tx1"/>
                </a:solidFill>
              </a:rPr>
              <a:t>(v)</a:t>
            </a:r>
            <a:r>
              <a:rPr lang="en-US" sz="1600" dirty="0">
                <a:solidFill>
                  <a:schemeClr val="tx1"/>
                </a:solidFill>
              </a:rPr>
              <a:t> A failed invariant points to its ancestors; every other node is cleared</a:t>
            </a:r>
            <a:endParaRPr lang="en-US" sz="1600" dirty="0"/>
          </a:p>
        </p:txBody>
      </p:sp>
      <p:sp>
        <p:nvSpPr>
          <p:cNvPr id="9" name="Text 6"/>
          <p:cNvSpPr txBox="1"/>
          <p:nvPr/>
        </p:nvSpPr>
        <p:spPr>
          <a:xfrm>
            <a:off x="7360920" y="1737360"/>
            <a:ext cx="428213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7360920" y="2194560"/>
            <a:ext cx="4282135" cy="3977640"/>
          </a:xfrm>
          <a:prstGeom prst="rect">
            <a:avLst/>
          </a:prstGeom>
          <a:noFill/>
          <a:ln/>
        </p:spPr>
        <p:txBody>
          <a:bodyPr wrap="square" lIns="635" tIns="635" rIns="635" bIns="635" rtlCol="0" anchor="t"/>
          <a:lstStyle/>
          <a:p>
            <a:pPr marL="228600" indent="-228600">
              <a:spcAft>
                <a:spcPts val="800"/>
              </a:spcAft>
              <a:buSzPct val="100000"/>
              <a:buChar char="•"/>
            </a:pPr>
            <a:r>
              <a:rPr lang="en-US" sz="1500" dirty="0">
                <a:solidFill>
                  <a:schemeClr val="tx1"/>
                </a:solidFill>
              </a:rPr>
              <a:t>The CFO–COO, COO–CRO and CRO–CFO checks can all pass while the three books are jointly infeasible</a:t>
            </a:r>
            <a:endParaRPr lang="en-US" sz="1500" dirty="0"/>
          </a:p>
          <a:p>
            <a:pPr marL="228600" indent="-228600">
              <a:spcAft>
                <a:spcPts val="800"/>
              </a:spcAft>
              <a:buSzPct val="100000"/>
              <a:buChar char="•"/>
            </a:pPr>
            <a:r>
              <a:rPr lang="en-US" sz="1500" dirty="0">
                <a:solidFill>
                  <a:schemeClr val="tx1"/>
                </a:solidFill>
              </a:rPr>
              <a:t>The same liquidity is promised twice: once as program funding, once as risk buffer</a:t>
            </a:r>
            <a:endParaRPr lang="en-US" sz="1500" dirty="0"/>
          </a:p>
          <a:p>
            <a:pPr marL="228600" indent="-228600">
              <a:spcAft>
                <a:spcPts val="800"/>
              </a:spcAft>
              <a:buSzPct val="100000"/>
              <a:buChar char="•"/>
            </a:pPr>
            <a:r>
              <a:rPr lang="en-US" sz="1500" dirty="0">
                <a:solidFill>
                  <a:schemeClr val="tx1"/>
                </a:solidFill>
              </a:rPr>
              <a:t>Walk the cycle as one constraint; keep the constraint topology as close to a tree as the real couplings allow</a:t>
            </a:r>
            <a:endParaRPr lang="en-US" sz="1500" dirty="0"/>
          </a:p>
          <a:p>
            <a:pPr marL="228600" indent="-228600">
              <a:spcAft>
                <a:spcPts val="800"/>
              </a:spcAft>
              <a:buSzPct val="100000"/>
              <a:buChar char="•"/>
            </a:pPr>
            <a:r>
              <a:rPr lang="en-US" sz="1500" dirty="0">
                <a:solidFill>
                  <a:schemeClr val="tx1"/>
                </a:solidFill>
              </a:rPr>
              <a:t>Meridian: a $138m draw and a $187m buffer each fit in $270m of cash; together they need $325m</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§13.7 · TABLE 13.3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Unified constraints, with Meridian's instances</a:t>
            </a:r>
            <a:endParaRPr lang="en-US" sz="32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2750681"/>
                <a:gridCol w="3850954"/>
                <a:gridCol w="4492780"/>
              </a:tblGrid>
              <a:tr h="45720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Class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Form</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Meridian instance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Single-layer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layer's own scoped constraints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covenant at treasury; plant capacity (Table 9.3)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Buffer identities (C3)</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buffer = a named capital stock</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closure buffer is treasury cash</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Funding couplings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program draw within available stocks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digital build's draw within cash above the floor</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500" b="1" dirty="0">
                          <a:solidFill>
                            <a:srgbClr val="0F1E3D"/>
                          </a:solidFill>
                          <a:latin typeface="Calibri" pitchFamily="34" charset="0"/>
                          <a:ea typeface="Calibri" pitchFamily="34" charset="-122"/>
                          <a:cs typeface="Calibri" pitchFamily="34" charset="-120"/>
                        </a:rPr>
                        <a:t>Target–exposure links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shortfall wired to a loss channel</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plan corridor and the 5% appetite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Domain restrictions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risk responses shrink operator domains</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thin armor freezes the next build phase</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457200">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Unified feasibility (C4)</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a nonempty joint feasible region</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l" indent="0" marL="0">
                        <a:buNone/>
                      </a:pPr>
                      <a:r>
                        <a:rPr lang="en-US" sz="1500" dirty="0">
                          <a:solidFill>
                            <a:srgbClr val="0F1E3D"/>
                          </a:solidFill>
                          <a:latin typeface="Calibri" pitchFamily="34" charset="0"/>
                          <a:ea typeface="Calibri" pitchFamily="34" charset="-122"/>
                          <a:cs typeface="Calibri" pitchFamily="34" charset="-120"/>
                        </a:rPr>
                        <a:t>the joint check of Worked Example 13.1</a:t>
                      </a:r>
                      <a:endParaRPr lang="en-US" sz="15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bl>
          </a:graphicData>
        </a:graphic>
      </p:graphicFrame>
      <p:sp>
        <p:nvSpPr>
          <p:cNvPr id="6" name="Table note"/>
          <p:cNvSpPr txBox="1"/>
          <p:nvPr/>
        </p:nvSpPr>
        <p:spPr>
          <a:xfrm>
            <a:off x="548640" y="502920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13.3. Highlighted: the buffer identity, the funding coupling and the target link that close Meridian's capital–performance–risk cycle.</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The unified audit (Table 13.4) walks the cycle as one constraint and reports ρ(M) block by block.</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§13.8 · PROPOSITION 13.5</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Integrated decisions dominate separated ones</a:t>
            </a:r>
            <a:endParaRPr lang="en-US" sz="3200" dirty="0"/>
          </a:p>
        </p:txBody>
      </p:sp>
      <p:sp>
        <p:nvSpPr>
          <p:cNvPr id="5" name="Result card"/>
          <p:cNvSpPr/>
          <p:nvPr/>
        </p:nvSpPr>
        <p:spPr>
          <a:xfrm>
            <a:off x="548640" y="1691640"/>
            <a:ext cx="7498080" cy="4480560"/>
          </a:xfrm>
          <a:prstGeom prst="roundRect">
            <a:avLst>
              <a:gd name="adj" fmla="val 1633"/>
            </a:avLst>
          </a:prstGeom>
          <a:solidFill>
            <a:schemeClr val="bg2"/>
          </a:solidFill>
          <a:ln w="9525">
            <a:solidFill>
              <a:srgbClr val="C4CBD8"/>
            </a:solidFill>
            <a:prstDash val="solid"/>
          </a:ln>
        </p:spPr>
      </p:sp>
      <p:sp>
        <p:nvSpPr>
          <p:cNvPr id="6" name="Text 3"/>
          <p:cNvSpPr txBox="1"/>
          <p:nvPr/>
        </p:nvSpPr>
        <p:spPr>
          <a:xfrm>
            <a:off x="822960" y="1892808"/>
            <a:ext cx="694944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PROPOSITION 13.5</a:t>
            </a:r>
            <a:endParaRPr lang="en-US" sz="1200" dirty="0"/>
          </a:p>
        </p:txBody>
      </p:sp>
      <p:sp>
        <p:nvSpPr>
          <p:cNvPr id="7" name="Text 4"/>
          <p:cNvSpPr txBox="1"/>
          <p:nvPr/>
        </p:nvSpPr>
        <p:spPr>
          <a:xfrm>
            <a:off x="822960" y="2194560"/>
            <a:ext cx="6949440" cy="457200"/>
          </a:xfrm>
          <a:prstGeom prst="rect">
            <a:avLst/>
          </a:prstGeom>
          <a:noFill/>
          <a:ln/>
        </p:spPr>
        <p:txBody>
          <a:bodyPr wrap="square" lIns="0" tIns="0" rIns="0" bIns="0" rtlCol="0" anchor="ctr"/>
          <a:lstStyle/>
          <a:p>
            <a:pPr indent="0" marL="0">
              <a:buNone/>
            </a:pPr>
            <a:r>
              <a:rPr lang="en-US" sz="2100" b="1" dirty="0">
                <a:solidFill>
                  <a:schemeClr val="tx1"/>
                </a:solidFill>
                <a:latin typeface="Cambria" pitchFamily="34" charset="0"/>
                <a:ea typeface="Cambria" pitchFamily="34" charset="-122"/>
                <a:cs typeface="Cambria" pitchFamily="34" charset="-120"/>
              </a:rPr>
              <a:t>Unified Representation Enables Integrated Optimization</a:t>
            </a:r>
            <a:endParaRPr lang="en-US" sz="2100" dirty="0"/>
          </a:p>
        </p:txBody>
      </p:sp>
      <p:sp>
        <p:nvSpPr>
          <p:cNvPr id="8" name="Bullets"/>
          <p:cNvSpPr txBox="1"/>
          <p:nvPr/>
        </p:nvSpPr>
        <p:spPr>
          <a:xfrm>
            <a:off x="822960" y="2743200"/>
            <a:ext cx="6949440" cy="3291840"/>
          </a:xfrm>
          <a:prstGeom prst="rect">
            <a:avLst/>
          </a:prstGeom>
          <a:noFill/>
          <a:ln/>
        </p:spPr>
        <p:txBody>
          <a:bodyPr wrap="square" lIns="635" tIns="635" rIns="635" bIns="635" rtlCol="0" anchor="t"/>
          <a:lstStyle/>
          <a:p>
            <a:pPr marL="228600" indent="-228600">
              <a:spcAft>
                <a:spcPts val="600"/>
              </a:spcAft>
              <a:buSzPct val="100000"/>
              <a:buChar char="•"/>
            </a:pPr>
            <a:r>
              <a:rPr lang="en-US" sz="1600" b="1" dirty="0">
                <a:solidFill>
                  <a:schemeClr val="tx1"/>
                </a:solidFill>
              </a:rPr>
              <a:t>(i)</a:t>
            </a:r>
            <a:r>
              <a:rPr lang="en-US" sz="1600" dirty="0">
                <a:solidFill>
                  <a:schemeClr val="tx1"/>
                </a:solidFill>
              </a:rPr>
              <a:t> Objectives and constraints that mix ledgers are well defined on the unified object, and on no single layer</a:t>
            </a:r>
            <a:endParaRPr lang="en-US" sz="1600" dirty="0"/>
          </a:p>
          <a:p>
            <a:pPr marL="228600" indent="-228600">
              <a:spcAft>
                <a:spcPts val="600"/>
              </a:spcAft>
              <a:buSzPct val="100000"/>
              <a:buChar char="•"/>
            </a:pPr>
            <a:r>
              <a:rPr lang="en-US" sz="1600" b="1" dirty="0">
                <a:solidFill>
                  <a:schemeClr val="tx1"/>
                </a:solidFill>
              </a:rPr>
              <a:t>(ii)</a:t>
            </a:r>
            <a:r>
              <a:rPr lang="en-US" sz="1600" dirty="0">
                <a:solidFill>
                  <a:schemeClr val="tx1"/>
                </a:solidFill>
              </a:rPr>
              <a:t> A separated procedure is the unified problem with extra constraints: never better, strictly worse exactly when they exclude every integrated optimum</a:t>
            </a:r>
            <a:endParaRPr lang="en-US" sz="1600" dirty="0"/>
          </a:p>
          <a:p>
            <a:pPr marL="228600" indent="-228600">
              <a:spcAft>
                <a:spcPts val="600"/>
              </a:spcAft>
              <a:buSzPct val="100000"/>
              <a:buChar char="•"/>
            </a:pPr>
            <a:r>
              <a:rPr lang="en-US" sz="1600" b="1" dirty="0">
                <a:solidFill>
                  <a:schemeClr val="tx1"/>
                </a:solidFill>
              </a:rPr>
              <a:t>(iii)</a:t>
            </a:r>
            <a:r>
              <a:rPr lang="en-US" sz="1600" dirty="0">
                <a:solidFill>
                  <a:schemeClr val="tx1"/>
                </a:solidFill>
              </a:rPr>
              <a:t> When the problem truly separates, separation costs nothing: what it loses is what the couplings carry</a:t>
            </a:r>
            <a:endParaRPr lang="en-US" sz="1600" dirty="0"/>
          </a:p>
          <a:p>
            <a:pPr marL="228600" indent="-228600">
              <a:spcAft>
                <a:spcPts val="600"/>
              </a:spcAft>
              <a:buSzPct val="100000"/>
              <a:buChar char="•"/>
            </a:pPr>
            <a:r>
              <a:rPr lang="en-US" sz="1600" b="1" dirty="0">
                <a:solidFill>
                  <a:schemeClr val="tx1"/>
                </a:solidFill>
              </a:rPr>
              <a:t>Meridian</a:t>
            </a:r>
            <a:r>
              <a:rPr lang="en-US" sz="1600" dirty="0">
                <a:solidFill>
                  <a:schemeClr val="tx1"/>
                </a:solidFill>
              </a:rPr>
              <a:t> (Worked Example 13.1): each repair alone fails a ledger; only both levers, chosen in one place, pass every one</a:t>
            </a:r>
            <a:endParaRPr lang="en-US" sz="1600" dirty="0"/>
          </a:p>
        </p:txBody>
      </p:sp>
      <p:sp>
        <p:nvSpPr>
          <p:cNvPr id="9" name="Text 6"/>
          <p:cNvSpPr txBox="1"/>
          <p:nvPr/>
        </p:nvSpPr>
        <p:spPr>
          <a:xfrm>
            <a:off x="8458200" y="1737360"/>
            <a:ext cx="3184855" cy="365760"/>
          </a:xfrm>
          <a:prstGeom prst="rect">
            <a:avLst/>
          </a:prstGeom>
          <a:noFill/>
          <a:ln/>
        </p:spPr>
        <p:txBody>
          <a:bodyPr wrap="square" lIns="0" tIns="0" rIns="0" bIns="0" rtlCol="0" anchor="ctr"/>
          <a:lstStyle/>
          <a:p>
            <a:pPr indent="0" marL="0">
              <a:buNone/>
            </a:pPr>
            <a:r>
              <a:rPr lang="en-US" sz="1600" b="1" dirty="0">
                <a:solidFill>
                  <a:schemeClr val="accent2"/>
                </a:solidFill>
              </a:rPr>
              <a:t>What it means</a:t>
            </a:r>
            <a:endParaRPr lang="en-US" sz="1600" dirty="0"/>
          </a:p>
        </p:txBody>
      </p:sp>
      <p:sp>
        <p:nvSpPr>
          <p:cNvPr id="10" name="Bullets"/>
          <p:cNvSpPr txBox="1"/>
          <p:nvPr/>
        </p:nvSpPr>
        <p:spPr>
          <a:xfrm>
            <a:off x="8458200" y="2194560"/>
            <a:ext cx="3184855" cy="3977640"/>
          </a:xfrm>
          <a:prstGeom prst="rect">
            <a:avLst/>
          </a:prstGeom>
          <a:noFill/>
          <a:ln/>
        </p:spPr>
        <p:txBody>
          <a:bodyPr wrap="square" lIns="635" tIns="635" rIns="635" bIns="635" rtlCol="0" anchor="t"/>
          <a:lstStyle/>
          <a:p>
            <a:pPr marL="228600" indent="-228600">
              <a:spcAft>
                <a:spcPts val="800"/>
              </a:spcAft>
              <a:buSzPct val="100000"/>
              <a:buChar char="•"/>
            </a:pPr>
            <a:r>
              <a:rPr lang="en-US" sz="1400" dirty="0">
                <a:solidFill>
                  <a:schemeClr val="tx1"/>
                </a:solidFill>
              </a:rPr>
              <a:t>A J-curve rejected by performance, a program funded blind by capital, a trough priced without its recovery by risk</a:t>
            </a:r>
            <a:endParaRPr lang="en-US" sz="1400" dirty="0"/>
          </a:p>
          <a:p>
            <a:pPr marL="228600" indent="-228600">
              <a:spcAft>
                <a:spcPts val="800"/>
              </a:spcAft>
              <a:buSzPct val="100000"/>
              <a:buChar char="•"/>
            </a:pPr>
            <a:r>
              <a:rPr lang="en-US" sz="1400" dirty="0">
                <a:solidFill>
                  <a:schemeClr val="tx1"/>
                </a:solidFill>
              </a:rPr>
              <a:t>The formulation must be unified even where execution is delegated: the shape of Chapter 15's problem</a:t>
            </a:r>
            <a:endParaRPr lang="en-US" sz="1400" dirty="0"/>
          </a:p>
          <a:p>
            <a:pPr marL="228600" indent="-228600">
              <a:spcAft>
                <a:spcPts val="800"/>
              </a:spcAft>
              <a:buSzPct val="100000"/>
              <a:buChar char="•"/>
            </a:pPr>
            <a:r>
              <a:rPr lang="en-US" sz="1400" dirty="0">
                <a:solidFill>
                  <a:schemeClr val="tx1"/>
                </a:solidFill>
              </a:rPr>
              <a:t>Dashboards: every layer on one skeleton, the couplings shown, the ledgers on one clock</a:t>
            </a:r>
            <a:endParaRPr lang="en-US" sz="1400" dirty="0"/>
          </a:p>
          <a:p>
            <a:pPr marL="228600" indent="-228600">
              <a:spcAft>
                <a:spcPts val="800"/>
              </a:spcAft>
              <a:buSzPct val="100000"/>
              <a:buChar char="•"/>
            </a:pPr>
            <a:r>
              <a:rPr lang="en-US" sz="1400" dirty="0">
                <a:solidFill>
                  <a:schemeClr val="tx1"/>
                </a:solidFill>
              </a:rPr>
              <a:t>Table 13.5: a bank's regulatory capital sits in three ledgers; a hospital's quality floors keep its network a tree</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THE SITUATION</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Is the same cash promised twice?</a:t>
            </a:r>
            <a:endParaRPr lang="en-US" sz="3200" dirty="0"/>
          </a:p>
        </p:txBody>
      </p:sp>
      <p:sp>
        <p:nvSpPr>
          <p:cNvPr id="5" name="Card"/>
          <p:cNvSpPr/>
          <p:nvPr/>
        </p:nvSpPr>
        <p:spPr>
          <a:xfrm>
            <a:off x="548640" y="1691640"/>
            <a:ext cx="3515258" cy="3154680"/>
          </a:xfrm>
          <a:prstGeom prst="roundRect">
            <a:avLst>
              <a:gd name="adj" fmla="val 2319"/>
            </a:avLst>
          </a:prstGeom>
          <a:solidFill>
            <a:schemeClr val="bg2"/>
          </a:solidFill>
          <a:ln w="9525">
            <a:solidFill>
              <a:srgbClr val="C4CBD8"/>
            </a:solidFill>
            <a:prstDash val="solid"/>
          </a:ln>
        </p:spPr>
      </p:sp>
      <p:sp>
        <p:nvSpPr>
          <p:cNvPr id="6" name="Card label"/>
          <p:cNvSpPr txBox="1"/>
          <p:nvPr/>
        </p:nvSpPr>
        <p:spPr>
          <a:xfrm>
            <a:off x="731520"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CFO and transformation office</a:t>
            </a:r>
            <a:endParaRPr lang="en-US" sz="1300" dirty="0"/>
          </a:p>
        </p:txBody>
      </p:sp>
      <p:sp>
        <p:nvSpPr>
          <p:cNvPr id="7" name="Card head"/>
          <p:cNvSpPr txBox="1"/>
          <p:nvPr/>
        </p:nvSpPr>
        <p:spPr>
          <a:xfrm>
            <a:off x="731520" y="2148840"/>
            <a:ext cx="3149498" cy="107899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The program is fully funded</a:t>
            </a:r>
            <a:endParaRPr lang="en-US" sz="2100" dirty="0"/>
          </a:p>
        </p:txBody>
      </p:sp>
      <p:sp>
        <p:nvSpPr>
          <p:cNvPr id="8" name="Card text"/>
          <p:cNvSpPr txBox="1"/>
          <p:nvPr/>
        </p:nvSpPr>
        <p:spPr>
          <a:xfrm>
            <a:off x="731520" y="3300984"/>
            <a:ext cx="3149498" cy="1417320"/>
          </a:xfrm>
          <a:prstGeom prst="rect">
            <a:avLst/>
          </a:prstGeom>
          <a:noFill/>
          <a:ln/>
        </p:spPr>
        <p:txBody>
          <a:bodyPr wrap="square" lIns="0" tIns="0" rIns="0" bIns="0" rtlCol="0" anchor="t"/>
          <a:lstStyle/>
          <a:p>
            <a:pPr indent="0" marL="0">
              <a:buNone/>
            </a:pPr>
            <a:r>
              <a:rPr lang="en-US" sz="1600" dirty="0">
                <a:solidFill>
                  <a:schemeClr val="tx2"/>
                </a:solidFill>
              </a:rPr>
              <a:t>On Chapter 8's plan its deepest draw is $138m, at quarter 7: it fits in the $270m above the floor, with $132m to spare.</a:t>
            </a:r>
            <a:endParaRPr lang="en-US" sz="1600" dirty="0"/>
          </a:p>
        </p:txBody>
      </p:sp>
      <p:sp>
        <p:nvSpPr>
          <p:cNvPr id="9" name="Card"/>
          <p:cNvSpPr/>
          <p:nvPr/>
        </p:nvSpPr>
        <p:spPr>
          <a:xfrm>
            <a:off x="4338218" y="1691640"/>
            <a:ext cx="3515258" cy="3154680"/>
          </a:xfrm>
          <a:prstGeom prst="roundRect">
            <a:avLst>
              <a:gd name="adj" fmla="val 2319"/>
            </a:avLst>
          </a:prstGeom>
          <a:solidFill>
            <a:schemeClr val="bg2"/>
          </a:solidFill>
          <a:ln w="9525">
            <a:solidFill>
              <a:srgbClr val="C4CBD8"/>
            </a:solidFill>
            <a:prstDash val="solid"/>
          </a:ln>
        </p:spPr>
      </p:sp>
      <p:sp>
        <p:nvSpPr>
          <p:cNvPr id="10" name="Card label"/>
          <p:cNvSpPr txBox="1"/>
          <p:nvPr/>
        </p:nvSpPr>
        <p:spPr>
          <a:xfrm>
            <a:off x="4521098"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CFO and CRO</a:t>
            </a:r>
            <a:endParaRPr lang="en-US" sz="1300" dirty="0"/>
          </a:p>
        </p:txBody>
      </p:sp>
      <p:sp>
        <p:nvSpPr>
          <p:cNvPr id="11" name="Card head"/>
          <p:cNvSpPr txBox="1"/>
          <p:nvPr/>
        </p:nvSpPr>
        <p:spPr>
          <a:xfrm>
            <a:off x="4521098" y="2148840"/>
            <a:ext cx="3149498" cy="1078992"/>
          </a:xfrm>
          <a:prstGeom prst="rect">
            <a:avLst/>
          </a:prstGeom>
          <a:noFill/>
          <a:ln/>
        </p:spPr>
        <p:txBody>
          <a:bodyPr wrap="square" lIns="0" tIns="0" rIns="0" bIns="0" rtlCol="0" anchor="t"/>
          <a:lstStyle/>
          <a:p>
            <a:pPr indent="0" marL="0">
              <a:buNone/>
            </a:pPr>
            <a:r>
              <a:rPr lang="en-US" sz="2100" b="1" dirty="0">
                <a:solidFill>
                  <a:schemeClr val="tx1"/>
                </a:solidFill>
                <a:latin typeface="Cambria" pitchFamily="34" charset="0"/>
                <a:ea typeface="Cambria" pitchFamily="34" charset="-122"/>
                <a:cs typeface="Cambria" pitchFamily="34" charset="-120"/>
              </a:rPr>
              <a:t>The risk buffer is fully funded</a:t>
            </a:r>
            <a:endParaRPr lang="en-US" sz="2100" dirty="0"/>
          </a:p>
        </p:txBody>
      </p:sp>
      <p:sp>
        <p:nvSpPr>
          <p:cNvPr id="12" name="Card text"/>
          <p:cNvSpPr txBox="1"/>
          <p:nvPr/>
        </p:nvSpPr>
        <p:spPr>
          <a:xfrm>
            <a:off x="4521098" y="3300984"/>
            <a:ext cx="3149498" cy="1417320"/>
          </a:xfrm>
          <a:prstGeom prst="rect">
            <a:avLst/>
          </a:prstGeom>
          <a:noFill/>
          <a:ln/>
        </p:spPr>
        <p:txBody>
          <a:bodyPr wrap="square" lIns="0" tIns="0" rIns="0" bIns="0" rtlCol="0" anchor="t"/>
          <a:lstStyle/>
          <a:p>
            <a:pPr indent="0" marL="0">
              <a:buNone/>
            </a:pPr>
            <a:r>
              <a:rPr lang="en-US" sz="1600" dirty="0">
                <a:solidFill>
                  <a:schemeClr val="tx2"/>
                </a:solidFill>
              </a:rPr>
              <a:t>The risk office holds the 90th-percentile closure of a funding window, $187m: it fits in the same $270m, with $83m to spare.</a:t>
            </a:r>
            <a:endParaRPr lang="en-US" sz="1600" dirty="0"/>
          </a:p>
        </p:txBody>
      </p:sp>
      <p:sp>
        <p:nvSpPr>
          <p:cNvPr id="13" name="Card"/>
          <p:cNvSpPr/>
          <p:nvPr/>
        </p:nvSpPr>
        <p:spPr>
          <a:xfrm>
            <a:off x="8127797" y="1691640"/>
            <a:ext cx="3515258" cy="3154680"/>
          </a:xfrm>
          <a:prstGeom prst="roundRect">
            <a:avLst>
              <a:gd name="adj" fmla="val 2319"/>
            </a:avLst>
          </a:prstGeom>
          <a:solidFill>
            <a:schemeClr val="tx1"/>
          </a:solidFill>
          <a:ln w="9525">
            <a:solidFill>
              <a:srgbClr val="0F1E3D"/>
            </a:solidFill>
            <a:prstDash val="solid"/>
          </a:ln>
        </p:spPr>
      </p:sp>
      <p:sp>
        <p:nvSpPr>
          <p:cNvPr id="14" name="Card label"/>
          <p:cNvSpPr txBox="1"/>
          <p:nvPr/>
        </p:nvSpPr>
        <p:spPr>
          <a:xfrm>
            <a:off x="8310677" y="1819656"/>
            <a:ext cx="3149498" cy="310896"/>
          </a:xfrm>
          <a:prstGeom prst="rect">
            <a:avLst/>
          </a:prstGeom>
          <a:noFill/>
          <a:ln/>
        </p:spPr>
        <p:txBody>
          <a:bodyPr wrap="square" lIns="0" tIns="0" rIns="0" bIns="0" rtlCol="0" anchor="ctr"/>
          <a:lstStyle/>
          <a:p>
            <a:pPr indent="0" marL="0">
              <a:buNone/>
            </a:pPr>
            <a:r>
              <a:rPr lang="en-US" sz="1300" b="1" dirty="0">
                <a:solidFill>
                  <a:schemeClr val="accent1"/>
                </a:solidFill>
              </a:rPr>
              <a:t>Transformation office and CRO</a:t>
            </a:r>
            <a:endParaRPr lang="en-US" sz="1300" dirty="0"/>
          </a:p>
        </p:txBody>
      </p:sp>
      <p:sp>
        <p:nvSpPr>
          <p:cNvPr id="15" name="Card head"/>
          <p:cNvSpPr txBox="1"/>
          <p:nvPr/>
        </p:nvSpPr>
        <p:spPr>
          <a:xfrm>
            <a:off x="8310677" y="2148840"/>
            <a:ext cx="3149498" cy="1078992"/>
          </a:xfrm>
          <a:prstGeom prst="rect">
            <a:avLst/>
          </a:prstGeom>
          <a:noFill/>
          <a:ln/>
        </p:spPr>
        <p:txBody>
          <a:bodyPr wrap="square" lIns="0" tIns="0" rIns="0" bIns="0" rtlCol="0" anchor="t"/>
          <a:lstStyle/>
          <a:p>
            <a:pPr indent="0" marL="0">
              <a:buNone/>
            </a:pPr>
            <a:r>
              <a:rPr lang="en-US" sz="2100" b="1" dirty="0">
                <a:solidFill>
                  <a:schemeClr val="bg1"/>
                </a:solidFill>
                <a:latin typeface="Cambria" pitchFamily="34" charset="0"/>
                <a:ea typeface="Cambria" pitchFamily="34" charset="-122"/>
                <a:cs typeface="Cambria" pitchFamily="34" charset="-120"/>
              </a:rPr>
              <a:t>The unphased schedule is within appetite</a:t>
            </a:r>
            <a:endParaRPr lang="en-US" sz="2100" dirty="0"/>
          </a:p>
        </p:txBody>
      </p:sp>
      <p:sp>
        <p:nvSpPr>
          <p:cNvPr id="16" name="Card text"/>
          <p:cNvSpPr txBox="1"/>
          <p:nvPr/>
        </p:nvSpPr>
        <p:spPr>
          <a:xfrm>
            <a:off x="8310677" y="3300984"/>
            <a:ext cx="3149498" cy="1417320"/>
          </a:xfrm>
          <a:prstGeom prst="rect">
            <a:avLst/>
          </a:prstGeom>
          <a:noFill/>
          <a:ln/>
        </p:spPr>
        <p:txBody>
          <a:bodyPr wrap="square" lIns="0" tIns="0" rIns="0" bIns="0" rtlCol="0" anchor="t"/>
          <a:lstStyle/>
          <a:p>
            <a:pPr indent="0" marL="0">
              <a:buNone/>
            </a:pPr>
            <a:r>
              <a:rPr lang="en-US" sz="1600" dirty="0">
                <a:solidFill>
                  <a:schemeClr val="bg2"/>
                </a:solidFill>
              </a:rPr>
              <a:t>The risk office accepts the plan as scheduled because the buffer is held.</a:t>
            </a:r>
            <a:endParaRPr lang="en-US" sz="1600" dirty="0"/>
          </a:p>
        </p:txBody>
      </p:sp>
      <p:sp>
        <p:nvSpPr>
          <p:cNvPr id="17" name="Lead"/>
          <p:cNvSpPr txBox="1"/>
          <p:nvPr/>
        </p:nvSpPr>
        <p:spPr>
          <a:xfrm>
            <a:off x="548640" y="5120640"/>
            <a:ext cx="11094415" cy="457200"/>
          </a:xfrm>
          <a:prstGeom prst="rect">
            <a:avLst/>
          </a:prstGeom>
          <a:noFill/>
          <a:ln/>
        </p:spPr>
        <p:txBody>
          <a:bodyPr wrap="square" lIns="0" tIns="0" rIns="0" bIns="0" rtlCol="0" anchor="ctr"/>
          <a:lstStyle/>
          <a:p>
            <a:pPr indent="0" marL="0">
              <a:buNone/>
            </a:pPr>
            <a:r>
              <a:rPr lang="en-US" sz="1600" i="1" dirty="0">
                <a:solidFill>
                  <a:schemeClr val="accent2"/>
                </a:solidFill>
              </a:rPr>
              <a:t>Before approving the program's second phase, the chair asks whether the three are true together.</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STEPS 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Put both claims on one skeleton</a:t>
            </a:r>
            <a:endParaRPr lang="en-US" sz="3200" dirty="0"/>
          </a:p>
        </p:txBody>
      </p:sp>
      <p:pic>
        <p:nvPicPr>
          <p:cNvPr id="5" name="Equation" descr="Equation: D + B \;\le\; A: \qquad 138 + 187 \;=\; 325 \;&gt;\; 270">    </p:cNvPr>
          <p:cNvPicPr>
            <a:picLocks noChangeAspect="1"/>
          </p:cNvPicPr>
          <p:nvPr/>
        </p:nvPicPr>
        <p:blipFill>
          <a:blip r:embed="rId1"/>
          <a:stretch>
            <a:fillRect/>
          </a:stretch>
        </p:blipFill>
        <p:spPr>
          <a:xfrm>
            <a:off x="972718" y="1828800"/>
            <a:ext cx="10246259" cy="685800"/>
          </a:xfrm>
          <a:prstGeom prst="rect">
            <a:avLst/>
          </a:prstGeom>
        </p:spPr>
      </p:pic>
      <p:sp>
        <p:nvSpPr>
          <p:cNvPr id="6" name="Text 2"/>
          <p:cNvSpPr txBox="1"/>
          <p:nvPr/>
        </p:nvSpPr>
        <p:spPr>
          <a:xfrm>
            <a:off x="914400" y="2651760"/>
            <a:ext cx="10362895" cy="411480"/>
          </a:xfrm>
          <a:prstGeom prst="rect">
            <a:avLst/>
          </a:prstGeom>
          <a:noFill/>
          <a:ln/>
        </p:spPr>
        <p:txBody>
          <a:bodyPr wrap="square" lIns="0" tIns="0" rIns="0" bIns="0" rtlCol="0" anchor="ctr"/>
          <a:lstStyle/>
          <a:p>
            <a:pPr algn="ctr" indent="0" marL="0">
              <a:buNone/>
            </a:pPr>
            <a:r>
              <a:rPr lang="en-US" sz="1600" i="1" dirty="0">
                <a:solidFill>
                  <a:schemeClr val="accent4"/>
                </a:solidFill>
              </a:rPr>
              <a:t>the program's deepest draw plus the closure buffer, against the cash above the floor ($ million)</a:t>
            </a:r>
            <a:endParaRPr lang="en-US" sz="1600" dirty="0"/>
          </a:p>
        </p:txBody>
      </p:sp>
      <p:sp>
        <p:nvSpPr>
          <p:cNvPr id="7" name="Bullets"/>
          <p:cNvSpPr txBox="1"/>
          <p:nvPr/>
        </p:nvSpPr>
        <p:spPr>
          <a:xfrm>
            <a:off x="914400" y="3246120"/>
            <a:ext cx="10362895" cy="29260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bg1"/>
                </a:solidFill>
              </a:rPr>
              <a:t>Step 1:</a:t>
            </a:r>
            <a:r>
              <a:rPr lang="en-US" sz="1700" dirty="0">
                <a:solidFill>
                  <a:schemeClr val="bg1"/>
                </a:solidFill>
              </a:rPr>
              <a:t> each check is correct: the draw fits with $132m to spare, the buffer with $83m</a:t>
            </a:r>
            <a:endParaRPr lang="en-US" sz="1700" dirty="0"/>
          </a:p>
          <a:p>
            <a:pPr marL="228600" indent="-228600">
              <a:spcAft>
                <a:spcPts val="800"/>
              </a:spcAft>
              <a:buSzPct val="100000"/>
              <a:buChar char="•"/>
            </a:pPr>
            <a:r>
              <a:rPr lang="en-US" sz="1700" b="1" dirty="0">
                <a:solidFill>
                  <a:schemeClr val="bg1"/>
                </a:solidFill>
              </a:rPr>
              <a:t>Step 2:</a:t>
            </a:r>
            <a:r>
              <a:rPr lang="en-US" sz="1700" dirty="0">
                <a:solidFill>
                  <a:schemeClr val="bg1"/>
                </a:solidFill>
              </a:rPr>
              <a:t> the draw flows through Digital's cash arrow to treasury; the buffer is a claim on that cash (C3); the schedule links the plan to the appetite</a:t>
            </a:r>
            <a:endParaRPr lang="en-US" sz="1700" dirty="0"/>
          </a:p>
          <a:p>
            <a:pPr marL="228600" indent="-228600">
              <a:spcAft>
                <a:spcPts val="800"/>
              </a:spcAft>
              <a:buSzPct val="100000"/>
              <a:buChar char="•"/>
            </a:pPr>
            <a:r>
              <a:rPr lang="en-US" sz="1700" dirty="0">
                <a:solidFill>
                  <a:schemeClr val="bg1"/>
                </a:solidFill>
              </a:rPr>
              <a:t>One constraint binds three ledgers: a triangle, a cycle, so no bilateral sign-off can certify it (Theorem 13.5(iii))</a:t>
            </a:r>
            <a:endParaRPr lang="en-US" sz="1700" dirty="0"/>
          </a:p>
          <a:p>
            <a:pPr marL="228600" indent="-228600">
              <a:spcAft>
                <a:spcPts val="800"/>
              </a:spcAft>
              <a:buSzPct val="100000"/>
              <a:buChar char="•"/>
            </a:pPr>
            <a:r>
              <a:rPr lang="en-US" sz="1700" b="1" dirty="0">
                <a:solidFill>
                  <a:schemeClr val="bg1"/>
                </a:solidFill>
              </a:rPr>
              <a:t>Step 3:</a:t>
            </a:r>
            <a:r>
              <a:rPr lang="en-US" sz="1700" dirty="0">
                <a:solidFill>
                  <a:schemeClr val="bg1"/>
                </a:solidFill>
              </a:rPr>
              <a:t> infeasible by </a:t>
            </a:r>
            <a:r>
              <a:rPr lang="en-US" sz="1700" b="1" dirty="0">
                <a:solidFill>
                  <a:schemeClr val="bg1"/>
                </a:solidFill>
              </a:rPr>
              <a:t>$55m</a:t>
            </a:r>
            <a:r>
              <a:rPr lang="en-US" sz="1700" dirty="0">
                <a:solidFill>
                  <a:schemeClr val="bg1"/>
                </a:solidFill>
              </a:rPr>
              <a:t>; from quarter 3 on, the plan runs inside the buffer line of $537m, 55 deep at quarter 7</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STEP 4 · FIGURE 13.3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Four repairs, each in its own ledger</a:t>
            </a:r>
            <a:endParaRPr lang="en-US" sz="3200" dirty="0"/>
          </a:p>
        </p:txBody>
      </p:sp>
      <p:sp>
        <p:nvSpPr>
          <p:cNvPr id="5" name="Bullets"/>
          <p:cNvSpPr txBox="1"/>
          <p:nvPr/>
        </p:nvSpPr>
        <p:spPr>
          <a:xfrm>
            <a:off x="548640" y="1691640"/>
            <a:ext cx="4254886" cy="4480560"/>
          </a:xfrm>
          <a:prstGeom prst="rect">
            <a:avLst/>
          </a:prstGeom>
          <a:noFill/>
          <a:ln/>
        </p:spPr>
        <p:txBody>
          <a:bodyPr wrap="square" lIns="635" tIns="635" rIns="635" bIns="635" rtlCol="0" anchor="t"/>
          <a:lstStyle/>
          <a:p>
            <a:pPr marL="228600" indent="-228600">
              <a:spcAft>
                <a:spcPts val="800"/>
              </a:spcAft>
              <a:buSzPct val="100000"/>
              <a:buChar char="•"/>
            </a:pPr>
            <a:r>
              <a:rPr lang="en-US" sz="1600" b="1" dirty="0">
                <a:solidFill>
                  <a:schemeClr val="tx1"/>
                </a:solidFill>
              </a:rPr>
              <a:t>Risk:</a:t>
            </a:r>
            <a:r>
              <a:rPr lang="en-US" sz="1600" dirty="0">
                <a:solidFill>
                  <a:schemeClr val="tx1"/>
                </a:solidFill>
              </a:rPr>
              <a:t> a buffer at the median closure, $113m, passes with $19m to spare, but only by lowering the bar</a:t>
            </a:r>
            <a:endParaRPr lang="en-US" sz="1600" dirty="0"/>
          </a:p>
          <a:p>
            <a:pPr marL="228600" indent="-228600">
              <a:spcAft>
                <a:spcPts val="800"/>
              </a:spcAft>
              <a:buSzPct val="100000"/>
              <a:buChar char="•"/>
            </a:pPr>
            <a:r>
              <a:rPr lang="en-US" sz="1600" b="1" dirty="0">
                <a:solidFill>
                  <a:schemeClr val="tx1"/>
                </a:solidFill>
              </a:rPr>
              <a:t>Transformation:</a:t>
            </a:r>
            <a:r>
              <a:rPr lang="en-US" sz="1600" dirty="0">
                <a:solidFill>
                  <a:schemeClr val="tx1"/>
                </a:solidFill>
              </a:rPr>
              <a:t> the phased build cuts the draw to $89m, and alone still fails by $6m</a:t>
            </a:r>
            <a:endParaRPr lang="en-US" sz="1600" dirty="0"/>
          </a:p>
          <a:p>
            <a:pPr marL="228600" indent="-228600">
              <a:spcAft>
                <a:spcPts val="800"/>
              </a:spcAft>
              <a:buSzPct val="100000"/>
              <a:buChar char="•"/>
            </a:pPr>
            <a:r>
              <a:rPr lang="en-US" sz="1600" b="1" dirty="0">
                <a:solidFill>
                  <a:schemeClr val="tx1"/>
                </a:solidFill>
              </a:rPr>
              <a:t>Capital:</a:t>
            </a:r>
            <a:r>
              <a:rPr lang="en-US" sz="1600" dirty="0">
                <a:solidFill>
                  <a:schemeClr val="tx1"/>
                </a:solidFill>
              </a:rPr>
              <a:t> the standby line covers $100m of any closure, cuts the cash buffer to $87m, passes with $45m</a:t>
            </a:r>
            <a:endParaRPr lang="en-US" sz="1600" dirty="0"/>
          </a:p>
          <a:p>
            <a:pPr marL="228600" indent="-228600">
              <a:spcAft>
                <a:spcPts val="800"/>
              </a:spcAft>
              <a:buSzPct val="100000"/>
              <a:buChar char="•"/>
            </a:pPr>
            <a:r>
              <a:rPr lang="en-US" sz="1600" b="1" dirty="0">
                <a:solidFill>
                  <a:schemeClr val="tx1"/>
                </a:solidFill>
              </a:rPr>
              <a:t>Both levers</a:t>
            </a:r>
            <a:r>
              <a:rPr lang="en-US" sz="1600" dirty="0">
                <a:solidFill>
                  <a:schemeClr val="tx1"/>
                </a:solidFill>
              </a:rPr>
              <a:t> pass with $94m to spare</a:t>
            </a:r>
            <a:endParaRPr lang="en-US" sz="1600" dirty="0"/>
          </a:p>
        </p:txBody>
      </p:sp>
      <p:pic>
        <p:nvPicPr>
          <p:cNvPr id="6" name="Figure" descr="Figure 13.3: is the same cash promised twice?">    </p:cNvPr>
          <p:cNvPicPr>
            <a:picLocks noChangeAspect="1"/>
          </p:cNvPicPr>
          <p:nvPr/>
        </p:nvPicPr>
        <p:blipFill>
          <a:blip r:embed="rId1"/>
          <a:stretch>
            <a:fillRect/>
          </a:stretch>
        </p:blipFill>
        <p:spPr>
          <a:xfrm>
            <a:off x="5169286" y="1987867"/>
            <a:ext cx="6473769" cy="3321178"/>
          </a:xfrm>
          <a:prstGeom prst="rect">
            <a:avLst/>
          </a:prstGeom>
        </p:spPr>
      </p:pic>
      <p:sp>
        <p:nvSpPr>
          <p:cNvPr id="7" name="Caption"/>
          <p:cNvSpPr txBox="1"/>
          <p:nvPr/>
        </p:nvSpPr>
        <p:spPr>
          <a:xfrm>
            <a:off x="5169286" y="5382197"/>
            <a:ext cx="6473769" cy="502920"/>
          </a:xfrm>
          <a:prstGeom prst="rect">
            <a:avLst/>
          </a:prstGeom>
          <a:noFill/>
          <a:ln/>
        </p:spPr>
        <p:txBody>
          <a:bodyPr wrap="square" lIns="0" tIns="0" rIns="0" bIns="0" rtlCol="0" anchor="t"/>
          <a:lstStyle/>
          <a:p>
            <a:pPr indent="0" marL="0">
              <a:buNone/>
            </a:pPr>
            <a:r>
              <a:rPr lang="en-US" sz="1100" i="1" dirty="0">
                <a:solidFill>
                  <a:schemeClr val="tx2"/>
                </a:solidFill>
              </a:rPr>
              <a:t>Figure 13.3. Left: planned liquidity and the phased build against the $350m floor and the buffer line at $537m. Right: the joint check, draw plus cash buffer against the $270m above the floor.</a:t>
            </a:r>
            <a:endParaRPr lang="en-US" sz="11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TABLE 13.6</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The joint check, declaration by declaration</a:t>
            </a:r>
            <a:endParaRPr lang="en-US" sz="32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4546891"/>
                <a:gridCol w="1455005"/>
                <a:gridCol w="1727819"/>
                <a:gridCol w="1727819"/>
                <a:gridCol w="1636881"/>
              </a:tblGrid>
              <a:tr h="50292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Declaration</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Draw</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Cash buffer</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Total claims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c>
                  <a:txBody>
                    <a:bodyPr/>
                    <a:lstStyle/>
                    <a:p>
                      <a:pPr algn="r" indent="0" marL="0">
                        <a:buNone/>
                      </a:pPr>
                      <a:r>
                        <a:rPr lang="en-US" sz="1700" b="1" dirty="0">
                          <a:solidFill>
                            <a:srgbClr val="FFFFFF"/>
                          </a:solidFill>
                          <a:latin typeface="Calibri" pitchFamily="34" charset="0"/>
                          <a:ea typeface="Calibri" pitchFamily="34" charset="-122"/>
                          <a:cs typeface="Calibri" pitchFamily="34" charset="-120"/>
                        </a:rPr>
                        <a:t>Spare cash</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0F1E3D"/>
                    </a:solidFill>
                  </a:tcPr>
                </a:tc>
              </a:tr>
              <a:tr h="50292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As signed off</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138</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187</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325</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−55</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Buffer at the median closure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138</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113</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251</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+19</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0292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Phased build</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89</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187</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276</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−6</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FFFFF"/>
                    </a:solidFill>
                  </a:tcPr>
                </a:tc>
              </a:tr>
              <a:tr h="502920">
                <a:tc>
                  <a:txBody>
                    <a:bodyPr/>
                    <a:lstStyle/>
                    <a:p>
                      <a:pPr algn="l" indent="0" marL="0">
                        <a:buNone/>
                      </a:pPr>
                      <a:r>
                        <a:rPr lang="en-US" sz="1700" dirty="0">
                          <a:solidFill>
                            <a:srgbClr val="0F1E3D"/>
                          </a:solidFill>
                          <a:latin typeface="Calibri" pitchFamily="34" charset="0"/>
                          <a:ea typeface="Calibri" pitchFamily="34" charset="-122"/>
                          <a:cs typeface="Calibri" pitchFamily="34" charset="-120"/>
                        </a:rPr>
                        <a:t>Standby line</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138</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87</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225</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+45</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F7F4ED"/>
                    </a:solidFill>
                  </a:tcPr>
                </a:tc>
              </a:tr>
              <a:tr h="502920">
                <a:tc>
                  <a:txBody>
                    <a:bodyPr/>
                    <a:lstStyle/>
                    <a:p>
                      <a:pPr algn="l" indent="0" marL="0">
                        <a:buNone/>
                      </a:pPr>
                      <a:r>
                        <a:rPr lang="en-US" sz="1700" b="1" dirty="0">
                          <a:solidFill>
                            <a:srgbClr val="0F1E3D"/>
                          </a:solidFill>
                          <a:latin typeface="Calibri" pitchFamily="34" charset="0"/>
                          <a:ea typeface="Calibri" pitchFamily="34" charset="-122"/>
                          <a:cs typeface="Calibri" pitchFamily="34" charset="-120"/>
                        </a:rPr>
                        <a:t>Both levers</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89</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87</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176</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c>
                  <a:txBody>
                    <a:bodyPr/>
                    <a:lstStyle/>
                    <a:p>
                      <a:pPr algn="r" indent="0" marL="0">
                        <a:buNone/>
                      </a:pPr>
                      <a:r>
                        <a:rPr lang="en-US" sz="1700" dirty="0">
                          <a:solidFill>
                            <a:srgbClr val="0F1E3D"/>
                          </a:solidFill>
                          <a:latin typeface="Calibri" pitchFamily="34" charset="0"/>
                          <a:ea typeface="Calibri" pitchFamily="34" charset="-122"/>
                          <a:cs typeface="Calibri" pitchFamily="34" charset="-120"/>
                        </a:rPr>
                        <a:t>+94</a:t>
                      </a:r>
                      <a:endParaRPr lang="en-US" sz="1700" dirty="0">
                        <a:latin typeface="Calibri" charset="0"/>
                        <a:ea typeface="Calibri" charset="0"/>
                        <a:cs typeface="Calibri" charset="0"/>
                      </a:endParaRPr>
                    </a:p>
                  </a:txBody>
                  <a:tcPr marL="76200" marR="76200" marT="38100" marB="38100" anchor="ctr">
                    <a:lnL w="6350" cap="flat" cmpd="sng" algn="ctr">
                      <a:solidFill>
                        <a:srgbClr val="C4CBD8"/>
                      </a:solidFill>
                      <a:prstDash val="solid"/>
                      <a:round/>
                      <a:headEnd type="none" w="med" len="med"/>
                      <a:tailEnd type="none" w="med" len="med"/>
                    </a:lnL>
                    <a:lnR w="6350" cap="flat" cmpd="sng" algn="ctr">
                      <a:solidFill>
                        <a:srgbClr val="C4CBD8"/>
                      </a:solidFill>
                      <a:prstDash val="solid"/>
                      <a:round/>
                      <a:headEnd type="none" w="med" len="med"/>
                      <a:tailEnd type="none" w="med" len="med"/>
                    </a:lnR>
                    <a:lnT w="6350" cap="flat" cmpd="sng" algn="ctr">
                      <a:solidFill>
                        <a:srgbClr val="C4CBD8"/>
                      </a:solidFill>
                      <a:prstDash val="solid"/>
                      <a:round/>
                      <a:headEnd type="none" w="med" len="med"/>
                      <a:tailEnd type="none" w="med" len="med"/>
                    </a:lnT>
                    <a:lnB w="6350" cap="flat" cmpd="sng" algn="ctr">
                      <a:solidFill>
                        <a:srgbClr val="C4CBD8"/>
                      </a:solidFill>
                      <a:prstDash val="solid"/>
                      <a:round/>
                      <a:headEnd type="none" w="med" len="med"/>
                      <a:tailEnd type="none" w="med" len="med"/>
                    </a:lnB>
                    <a:solidFill>
                      <a:srgbClr val="EFE4D0"/>
                    </a:solidFill>
                  </a:tcPr>
                </a:tc>
              </a:tr>
            </a:tbl>
          </a:graphicData>
        </a:graphic>
      </p:graphicFrame>
      <p:sp>
        <p:nvSpPr>
          <p:cNvPr id="6" name="Table note"/>
          <p:cNvSpPr txBox="1"/>
          <p:nvPr/>
        </p:nvSpPr>
        <p:spPr>
          <a:xfrm>
            <a:off x="548640" y="4983480"/>
            <a:ext cx="11094415" cy="320040"/>
          </a:xfrm>
          <a:prstGeom prst="rect">
            <a:avLst/>
          </a:prstGeom>
          <a:noFill/>
          <a:ln/>
        </p:spPr>
        <p:txBody>
          <a:bodyPr wrap="square" lIns="0" tIns="0" rIns="0" bIns="0" rtlCol="0" anchor="ctr"/>
          <a:lstStyle/>
          <a:p>
            <a:pPr indent="0" marL="0">
              <a:buNone/>
            </a:pPr>
            <a:r>
              <a:rPr lang="en-US" sz="1100" i="1" dirty="0">
                <a:solidFill>
                  <a:schemeClr val="tx2"/>
                </a:solidFill>
              </a:rPr>
              <a:t>Table 13.6, $ million. The draw is the program's deepest cash draw; the cash buffer is the closure the risk office declares, less the standby line's cover.</a:t>
            </a:r>
            <a:endParaRPr lang="en-US" sz="1100" dirty="0"/>
          </a:p>
        </p:txBody>
      </p:sp>
      <p:sp>
        <p:nvSpPr>
          <p:cNvPr id="7" name="Lead"/>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600" dirty="0">
                <a:solidFill>
                  <a:schemeClr val="accent2"/>
                </a:solidFill>
              </a:rPr>
              <a:t>Claims on Meridian's $270m of cash above the floor: as signed off, the books are $55m short.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WORKED EXAMPLE 13.1 · STEP 5 · WHAT THE BOARD SHOULD TAKE AWAY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Only the unified choice passes every ledger</a:t>
            </a:r>
            <a:endParaRPr lang="en-US" sz="3200" dirty="0"/>
          </a:p>
        </p:txBody>
      </p:sp>
      <p:sp>
        <p:nvSpPr>
          <p:cNvPr id="5" name="Column card"/>
          <p:cNvSpPr/>
          <p:nvPr/>
        </p:nvSpPr>
        <p:spPr>
          <a:xfrm>
            <a:off x="548640" y="1691640"/>
            <a:ext cx="2567864" cy="2880360"/>
          </a:xfrm>
          <a:prstGeom prst="roundRect">
            <a:avLst>
              <a:gd name="adj" fmla="val 2849"/>
            </a:avLst>
          </a:prstGeom>
          <a:solidFill>
            <a:schemeClr val="bg2"/>
          </a:solidFill>
          <a:ln w="9525">
            <a:solidFill>
              <a:srgbClr val="C4CBD8"/>
            </a:solidFill>
            <a:prstDash val="solid"/>
          </a:ln>
        </p:spPr>
      </p:sp>
      <p:sp>
        <p:nvSpPr>
          <p:cNvPr id="6" name="Text 3"/>
          <p:cNvSpPr txBox="1"/>
          <p:nvPr/>
        </p:nvSpPr>
        <p:spPr>
          <a:xfrm>
            <a:off x="731520" y="1828800"/>
            <a:ext cx="2202104"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Risk ledger</a:t>
            </a:r>
            <a:endParaRPr lang="en-US" sz="1800" dirty="0"/>
          </a:p>
        </p:txBody>
      </p:sp>
      <p:sp>
        <p:nvSpPr>
          <p:cNvPr id="7" name="Text 4"/>
          <p:cNvSpPr txBox="1"/>
          <p:nvPr/>
        </p:nvSpPr>
        <p:spPr>
          <a:xfrm>
            <a:off x="731520" y="2377440"/>
            <a:ext cx="220210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+$19m</a:t>
            </a:r>
            <a:endParaRPr lang="en-US" sz="3200" dirty="0"/>
          </a:p>
        </p:txBody>
      </p:sp>
      <p:sp>
        <p:nvSpPr>
          <p:cNvPr id="8" name="Text 5"/>
          <p:cNvSpPr txBox="1"/>
          <p:nvPr/>
        </p:nvSpPr>
        <p:spPr>
          <a:xfrm>
            <a:off x="731520" y="2907792"/>
            <a:ext cx="2202104" cy="411480"/>
          </a:xfrm>
          <a:prstGeom prst="rect">
            <a:avLst/>
          </a:prstGeom>
          <a:noFill/>
          <a:ln/>
        </p:spPr>
        <p:txBody>
          <a:bodyPr wrap="square" lIns="0" tIns="0" rIns="0" bIns="0" rtlCol="0" anchor="t"/>
          <a:lstStyle/>
          <a:p>
            <a:pPr indent="0" marL="0">
              <a:buNone/>
            </a:pPr>
            <a:r>
              <a:rPr lang="en-US" sz="1300" dirty="0">
                <a:solidFill>
                  <a:schemeClr val="tx2"/>
                </a:solidFill>
              </a:rPr>
              <a:t>median buffer: passes the joint check</a:t>
            </a:r>
            <a:endParaRPr lang="en-US" sz="1300" dirty="0"/>
          </a:p>
        </p:txBody>
      </p:sp>
      <p:sp>
        <p:nvSpPr>
          <p:cNvPr id="9" name="Text 6"/>
          <p:cNvSpPr txBox="1"/>
          <p:nvPr/>
        </p:nvSpPr>
        <p:spPr>
          <a:xfrm>
            <a:off x="731520" y="3429000"/>
            <a:ext cx="220210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24.6%</a:t>
            </a:r>
            <a:endParaRPr lang="en-US" sz="3200" dirty="0"/>
          </a:p>
        </p:txBody>
      </p:sp>
      <p:sp>
        <p:nvSpPr>
          <p:cNvPr id="10" name="Text 7"/>
          <p:cNvSpPr txBox="1"/>
          <p:nvPr/>
        </p:nvSpPr>
        <p:spPr>
          <a:xfrm>
            <a:off x="731520" y="3959352"/>
            <a:ext cx="2202104" cy="411480"/>
          </a:xfrm>
          <a:prstGeom prst="rect">
            <a:avLst/>
          </a:prstGeom>
          <a:noFill/>
          <a:ln/>
        </p:spPr>
        <p:txBody>
          <a:bodyPr wrap="square" lIns="0" tIns="0" rIns="0" bIns="0" rtlCol="0" anchor="t"/>
          <a:lstStyle/>
          <a:p>
            <a:pPr indent="0" marL="0">
              <a:buNone/>
            </a:pPr>
            <a:r>
              <a:rPr lang="en-US" sz="1300" dirty="0">
                <a:solidFill>
                  <a:schemeClr val="tx2"/>
                </a:solidFill>
              </a:rPr>
              <a:t>breach odds: above the appetite</a:t>
            </a:r>
            <a:endParaRPr lang="en-US" sz="1300" dirty="0"/>
          </a:p>
        </p:txBody>
      </p:sp>
      <p:sp>
        <p:nvSpPr>
          <p:cNvPr id="11" name="Column card"/>
          <p:cNvSpPr/>
          <p:nvPr/>
        </p:nvSpPr>
        <p:spPr>
          <a:xfrm>
            <a:off x="3390824" y="1691640"/>
            <a:ext cx="2567864" cy="2880360"/>
          </a:xfrm>
          <a:prstGeom prst="roundRect">
            <a:avLst>
              <a:gd name="adj" fmla="val 2849"/>
            </a:avLst>
          </a:prstGeom>
          <a:solidFill>
            <a:schemeClr val="bg2"/>
          </a:solidFill>
          <a:ln w="9525">
            <a:solidFill>
              <a:srgbClr val="C4CBD8"/>
            </a:solidFill>
            <a:prstDash val="solid"/>
          </a:ln>
        </p:spPr>
      </p:sp>
      <p:sp>
        <p:nvSpPr>
          <p:cNvPr id="12" name="Text 9"/>
          <p:cNvSpPr txBox="1"/>
          <p:nvPr/>
        </p:nvSpPr>
        <p:spPr>
          <a:xfrm>
            <a:off x="3573704" y="1828800"/>
            <a:ext cx="2202104"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Transformation</a:t>
            </a:r>
            <a:endParaRPr lang="en-US" sz="1800" dirty="0"/>
          </a:p>
        </p:txBody>
      </p:sp>
      <p:sp>
        <p:nvSpPr>
          <p:cNvPr id="13" name="Text 10"/>
          <p:cNvSpPr txBox="1"/>
          <p:nvPr/>
        </p:nvSpPr>
        <p:spPr>
          <a:xfrm>
            <a:off x="3573704" y="2377440"/>
            <a:ext cx="220210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−$6m</a:t>
            </a:r>
            <a:endParaRPr lang="en-US" sz="3200" dirty="0"/>
          </a:p>
        </p:txBody>
      </p:sp>
      <p:sp>
        <p:nvSpPr>
          <p:cNvPr id="14" name="Text 11"/>
          <p:cNvSpPr txBox="1"/>
          <p:nvPr/>
        </p:nvSpPr>
        <p:spPr>
          <a:xfrm>
            <a:off x="3573704" y="2907792"/>
            <a:ext cx="2202104" cy="411480"/>
          </a:xfrm>
          <a:prstGeom prst="rect">
            <a:avLst/>
          </a:prstGeom>
          <a:noFill/>
          <a:ln/>
        </p:spPr>
        <p:txBody>
          <a:bodyPr wrap="square" lIns="0" tIns="0" rIns="0" bIns="0" rtlCol="0" anchor="t"/>
          <a:lstStyle/>
          <a:p>
            <a:pPr indent="0" marL="0">
              <a:buNone/>
            </a:pPr>
            <a:r>
              <a:rPr lang="en-US" sz="1300" dirty="0">
                <a:solidFill>
                  <a:schemeClr val="tx2"/>
                </a:solidFill>
              </a:rPr>
              <a:t>phased build: fails the joint check</a:t>
            </a:r>
            <a:endParaRPr lang="en-US" sz="1300" dirty="0"/>
          </a:p>
        </p:txBody>
      </p:sp>
      <p:sp>
        <p:nvSpPr>
          <p:cNvPr id="15" name="Text 12"/>
          <p:cNvSpPr txBox="1"/>
          <p:nvPr/>
        </p:nvSpPr>
        <p:spPr>
          <a:xfrm>
            <a:off x="3573704" y="3429000"/>
            <a:ext cx="220210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13.1%</a:t>
            </a:r>
            <a:endParaRPr lang="en-US" sz="3200" dirty="0"/>
          </a:p>
        </p:txBody>
      </p:sp>
      <p:sp>
        <p:nvSpPr>
          <p:cNvPr id="16" name="Text 13"/>
          <p:cNvSpPr txBox="1"/>
          <p:nvPr/>
        </p:nvSpPr>
        <p:spPr>
          <a:xfrm>
            <a:off x="3573704" y="3959352"/>
            <a:ext cx="2202104" cy="411480"/>
          </a:xfrm>
          <a:prstGeom prst="rect">
            <a:avLst/>
          </a:prstGeom>
          <a:noFill/>
          <a:ln/>
        </p:spPr>
        <p:txBody>
          <a:bodyPr wrap="square" lIns="0" tIns="0" rIns="0" bIns="0" rtlCol="0" anchor="t"/>
          <a:lstStyle/>
          <a:p>
            <a:pPr indent="0" marL="0">
              <a:buNone/>
            </a:pPr>
            <a:r>
              <a:rPr lang="en-US" sz="1300" dirty="0">
                <a:solidFill>
                  <a:schemeClr val="tx2"/>
                </a:solidFill>
              </a:rPr>
              <a:t>breach odds: above the appetite</a:t>
            </a:r>
            <a:endParaRPr lang="en-US" sz="1300" dirty="0"/>
          </a:p>
        </p:txBody>
      </p:sp>
      <p:sp>
        <p:nvSpPr>
          <p:cNvPr id="17" name="Column card"/>
          <p:cNvSpPr/>
          <p:nvPr/>
        </p:nvSpPr>
        <p:spPr>
          <a:xfrm>
            <a:off x="6233008" y="1691640"/>
            <a:ext cx="2567864" cy="2880360"/>
          </a:xfrm>
          <a:prstGeom prst="roundRect">
            <a:avLst>
              <a:gd name="adj" fmla="val 2849"/>
            </a:avLst>
          </a:prstGeom>
          <a:solidFill>
            <a:schemeClr val="bg2"/>
          </a:solidFill>
          <a:ln w="9525">
            <a:solidFill>
              <a:srgbClr val="C4CBD8"/>
            </a:solidFill>
            <a:prstDash val="solid"/>
          </a:ln>
        </p:spPr>
      </p:sp>
      <p:sp>
        <p:nvSpPr>
          <p:cNvPr id="18" name="Text 15"/>
          <p:cNvSpPr txBox="1"/>
          <p:nvPr/>
        </p:nvSpPr>
        <p:spPr>
          <a:xfrm>
            <a:off x="6415888" y="1828800"/>
            <a:ext cx="2202104" cy="457200"/>
          </a:xfrm>
          <a:prstGeom prst="rect">
            <a:avLst/>
          </a:prstGeom>
          <a:noFill/>
          <a:ln/>
        </p:spPr>
        <p:txBody>
          <a:bodyPr wrap="square" lIns="0" tIns="0" rIns="0" bIns="0" rtlCol="0" anchor="ctr"/>
          <a:lstStyle/>
          <a:p>
            <a:pPr indent="0" marL="0">
              <a:buNone/>
            </a:pPr>
            <a:r>
              <a:rPr lang="en-US" sz="1800" b="1" dirty="0">
                <a:solidFill>
                  <a:schemeClr val="tx1"/>
                </a:solidFill>
                <a:latin typeface="Cambria" pitchFamily="34" charset="0"/>
                <a:ea typeface="Cambria" pitchFamily="34" charset="-122"/>
                <a:cs typeface="Cambria" pitchFamily="34" charset="-120"/>
              </a:rPr>
              <a:t>Capital</a:t>
            </a:r>
            <a:endParaRPr lang="en-US" sz="1800" dirty="0"/>
          </a:p>
        </p:txBody>
      </p:sp>
      <p:sp>
        <p:nvSpPr>
          <p:cNvPr id="19" name="Text 16"/>
          <p:cNvSpPr txBox="1"/>
          <p:nvPr/>
        </p:nvSpPr>
        <p:spPr>
          <a:xfrm>
            <a:off x="6415888" y="2377440"/>
            <a:ext cx="220210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+$45m</a:t>
            </a:r>
            <a:endParaRPr lang="en-US" sz="3200" dirty="0"/>
          </a:p>
        </p:txBody>
      </p:sp>
      <p:sp>
        <p:nvSpPr>
          <p:cNvPr id="20" name="Text 17"/>
          <p:cNvSpPr txBox="1"/>
          <p:nvPr/>
        </p:nvSpPr>
        <p:spPr>
          <a:xfrm>
            <a:off x="6415888" y="2907792"/>
            <a:ext cx="2202104" cy="411480"/>
          </a:xfrm>
          <a:prstGeom prst="rect">
            <a:avLst/>
          </a:prstGeom>
          <a:noFill/>
          <a:ln/>
        </p:spPr>
        <p:txBody>
          <a:bodyPr wrap="square" lIns="0" tIns="0" rIns="0" bIns="0" rtlCol="0" anchor="t"/>
          <a:lstStyle/>
          <a:p>
            <a:pPr indent="0" marL="0">
              <a:buNone/>
            </a:pPr>
            <a:r>
              <a:rPr lang="en-US" sz="1300" dirty="0">
                <a:solidFill>
                  <a:schemeClr val="tx2"/>
                </a:solidFill>
              </a:rPr>
              <a:t>standby line: passes the joint check</a:t>
            </a:r>
            <a:endParaRPr lang="en-US" sz="1300" dirty="0"/>
          </a:p>
        </p:txBody>
      </p:sp>
      <p:sp>
        <p:nvSpPr>
          <p:cNvPr id="21" name="Text 18"/>
          <p:cNvSpPr txBox="1"/>
          <p:nvPr/>
        </p:nvSpPr>
        <p:spPr>
          <a:xfrm>
            <a:off x="6415888" y="3429000"/>
            <a:ext cx="2202104" cy="548640"/>
          </a:xfrm>
          <a:prstGeom prst="rect">
            <a:avLst/>
          </a:prstGeom>
          <a:noFill/>
          <a:ln/>
        </p:spPr>
        <p:txBody>
          <a:bodyPr wrap="square" lIns="0" tIns="0" rIns="0" bIns="0" rtlCol="0" anchor="ctr"/>
          <a:lstStyle/>
          <a:p>
            <a:pPr indent="0" marL="0">
              <a:buNone/>
            </a:pPr>
            <a:r>
              <a:rPr lang="en-US" sz="3200" b="1" dirty="0">
                <a:solidFill>
                  <a:schemeClr val="tx1"/>
                </a:solidFill>
                <a:latin typeface="Cambria" pitchFamily="34" charset="0"/>
                <a:ea typeface="Cambria" pitchFamily="34" charset="-122"/>
                <a:cs typeface="Cambria" pitchFamily="34" charset="-120"/>
              </a:rPr>
              <a:t>12.4%</a:t>
            </a:r>
            <a:endParaRPr lang="en-US" sz="3200" dirty="0"/>
          </a:p>
        </p:txBody>
      </p:sp>
      <p:sp>
        <p:nvSpPr>
          <p:cNvPr id="22" name="Text 19"/>
          <p:cNvSpPr txBox="1"/>
          <p:nvPr/>
        </p:nvSpPr>
        <p:spPr>
          <a:xfrm>
            <a:off x="6415888" y="3959352"/>
            <a:ext cx="2202104" cy="411480"/>
          </a:xfrm>
          <a:prstGeom prst="rect">
            <a:avLst/>
          </a:prstGeom>
          <a:noFill/>
          <a:ln/>
        </p:spPr>
        <p:txBody>
          <a:bodyPr wrap="square" lIns="0" tIns="0" rIns="0" bIns="0" rtlCol="0" anchor="t"/>
          <a:lstStyle/>
          <a:p>
            <a:pPr indent="0" marL="0">
              <a:buNone/>
            </a:pPr>
            <a:r>
              <a:rPr lang="en-US" sz="1300" dirty="0">
                <a:solidFill>
                  <a:schemeClr val="tx2"/>
                </a:solidFill>
              </a:rPr>
              <a:t>breach odds: above the appetite</a:t>
            </a:r>
            <a:endParaRPr lang="en-US" sz="1300" dirty="0"/>
          </a:p>
        </p:txBody>
      </p:sp>
      <p:sp>
        <p:nvSpPr>
          <p:cNvPr id="23" name="Column card"/>
          <p:cNvSpPr/>
          <p:nvPr/>
        </p:nvSpPr>
        <p:spPr>
          <a:xfrm>
            <a:off x="9075191" y="1691640"/>
            <a:ext cx="2567864" cy="2880360"/>
          </a:xfrm>
          <a:prstGeom prst="roundRect">
            <a:avLst>
              <a:gd name="adj" fmla="val 2849"/>
            </a:avLst>
          </a:prstGeom>
          <a:solidFill>
            <a:schemeClr val="tx1"/>
          </a:solidFill>
          <a:ln w="9525">
            <a:solidFill>
              <a:srgbClr val="0F1E3D"/>
            </a:solidFill>
            <a:prstDash val="solid"/>
          </a:ln>
        </p:spPr>
      </p:sp>
      <p:sp>
        <p:nvSpPr>
          <p:cNvPr id="24" name="Text 21"/>
          <p:cNvSpPr txBox="1"/>
          <p:nvPr/>
        </p:nvSpPr>
        <p:spPr>
          <a:xfrm>
            <a:off x="9258071" y="1828800"/>
            <a:ext cx="2202104" cy="457200"/>
          </a:xfrm>
          <a:prstGeom prst="rect">
            <a:avLst/>
          </a:prstGeom>
          <a:noFill/>
          <a:ln/>
        </p:spPr>
        <p:txBody>
          <a:bodyPr wrap="square" lIns="0" tIns="0" rIns="0" bIns="0" rtlCol="0" anchor="ctr"/>
          <a:lstStyle/>
          <a:p>
            <a:pPr indent="0" marL="0">
              <a:buNone/>
            </a:pPr>
            <a:r>
              <a:rPr lang="en-US" sz="1800" b="1" dirty="0">
                <a:solidFill>
                  <a:schemeClr val="bg1"/>
                </a:solidFill>
                <a:latin typeface="Cambria" pitchFamily="34" charset="0"/>
                <a:ea typeface="Cambria" pitchFamily="34" charset="-122"/>
                <a:cs typeface="Cambria" pitchFamily="34" charset="-120"/>
              </a:rPr>
              <a:t>Both, in one place</a:t>
            </a:r>
            <a:endParaRPr lang="en-US" sz="1800" dirty="0"/>
          </a:p>
        </p:txBody>
      </p:sp>
      <p:sp>
        <p:nvSpPr>
          <p:cNvPr id="25" name="Text 22"/>
          <p:cNvSpPr txBox="1"/>
          <p:nvPr/>
        </p:nvSpPr>
        <p:spPr>
          <a:xfrm>
            <a:off x="9258071" y="2377440"/>
            <a:ext cx="2202104"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+$94m</a:t>
            </a:r>
            <a:endParaRPr lang="en-US" sz="3200" dirty="0"/>
          </a:p>
        </p:txBody>
      </p:sp>
      <p:sp>
        <p:nvSpPr>
          <p:cNvPr id="26" name="Text 23"/>
          <p:cNvSpPr txBox="1"/>
          <p:nvPr/>
        </p:nvSpPr>
        <p:spPr>
          <a:xfrm>
            <a:off x="9258071" y="2907792"/>
            <a:ext cx="2202104" cy="411480"/>
          </a:xfrm>
          <a:prstGeom prst="rect">
            <a:avLst/>
          </a:prstGeom>
          <a:noFill/>
          <a:ln/>
        </p:spPr>
        <p:txBody>
          <a:bodyPr wrap="square" lIns="0" tIns="0" rIns="0" bIns="0" rtlCol="0" anchor="t"/>
          <a:lstStyle/>
          <a:p>
            <a:pPr indent="0" marL="0">
              <a:buNone/>
            </a:pPr>
            <a:r>
              <a:rPr lang="en-US" sz="1300" dirty="0">
                <a:solidFill>
                  <a:schemeClr val="bg2"/>
                </a:solidFill>
              </a:rPr>
              <a:t>both levers: pass the joint check</a:t>
            </a:r>
            <a:endParaRPr lang="en-US" sz="1300" dirty="0"/>
          </a:p>
        </p:txBody>
      </p:sp>
      <p:sp>
        <p:nvSpPr>
          <p:cNvPr id="27" name="Text 24"/>
          <p:cNvSpPr txBox="1"/>
          <p:nvPr/>
        </p:nvSpPr>
        <p:spPr>
          <a:xfrm>
            <a:off x="9258071" y="3429000"/>
            <a:ext cx="2202104" cy="548640"/>
          </a:xfrm>
          <a:prstGeom prst="rect">
            <a:avLst/>
          </a:prstGeom>
          <a:noFill/>
          <a:ln/>
        </p:spPr>
        <p:txBody>
          <a:bodyPr wrap="square" lIns="0" tIns="0" rIns="0" bIns="0" rtlCol="0" anchor="ctr"/>
          <a:lstStyle/>
          <a:p>
            <a:pPr indent="0" marL="0">
              <a:buNone/>
            </a:pPr>
            <a:r>
              <a:rPr lang="en-US" sz="3200" b="1" dirty="0">
                <a:solidFill>
                  <a:schemeClr val="accent1"/>
                </a:solidFill>
                <a:latin typeface="Cambria" pitchFamily="34" charset="0"/>
                <a:ea typeface="Cambria" pitchFamily="34" charset="-122"/>
                <a:cs typeface="Cambria" pitchFamily="34" charset="-120"/>
              </a:rPr>
              <a:t>3.0%</a:t>
            </a:r>
            <a:endParaRPr lang="en-US" sz="3200" dirty="0"/>
          </a:p>
        </p:txBody>
      </p:sp>
      <p:sp>
        <p:nvSpPr>
          <p:cNvPr id="28" name="Text 25"/>
          <p:cNvSpPr txBox="1"/>
          <p:nvPr/>
        </p:nvSpPr>
        <p:spPr>
          <a:xfrm>
            <a:off x="9258071" y="3959352"/>
            <a:ext cx="2202104" cy="411480"/>
          </a:xfrm>
          <a:prstGeom prst="rect">
            <a:avLst/>
          </a:prstGeom>
          <a:noFill/>
          <a:ln/>
        </p:spPr>
        <p:txBody>
          <a:bodyPr wrap="square" lIns="0" tIns="0" rIns="0" bIns="0" rtlCol="0" anchor="t"/>
          <a:lstStyle/>
          <a:p>
            <a:pPr indent="0" marL="0">
              <a:buNone/>
            </a:pPr>
            <a:r>
              <a:rPr lang="en-US" sz="1300" dirty="0">
                <a:solidFill>
                  <a:schemeClr val="bg2"/>
                </a:solidFill>
              </a:rPr>
              <a:t>breach odds: within the 5% appetite</a:t>
            </a:r>
            <a:endParaRPr lang="en-US" sz="1300" dirty="0"/>
          </a:p>
        </p:txBody>
      </p:sp>
      <p:sp>
        <p:nvSpPr>
          <p:cNvPr id="29" name="Bullets"/>
          <p:cNvSpPr txBox="1"/>
          <p:nvPr/>
        </p:nvSpPr>
        <p:spPr>
          <a:xfrm>
            <a:off x="548640" y="4892040"/>
            <a:ext cx="11094415" cy="128016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rPr>
              <a:t>“Fully funded” and “fully buffered” were both true, and jointly false: the error is in the architecture of the sign-offs, not in any office's arithmetic</a:t>
            </a:r>
            <a:endParaRPr lang="en-US" sz="1600" dirty="0"/>
          </a:p>
          <a:p>
            <a:pPr marL="228600" indent="-228600">
              <a:spcAft>
                <a:spcPts val="800"/>
              </a:spcAft>
              <a:buSzPct val="100000"/>
              <a:buChar char="•"/>
            </a:pPr>
            <a:r>
              <a:rPr lang="en-US" sz="1600" dirty="0">
                <a:solidFill>
                  <a:schemeClr val="tx1"/>
                </a:solidFill>
              </a:rPr>
              <a:t>For discussion: the line alone passes the joint check with $45m to spare, yet its breach odds are 12.4%. Which uncertainty does the joint check leave out?</a:t>
            </a:r>
            <a:endParaRPr lang="en-US" sz="16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AXIOM LAB 1.13 · MODULE AXIOM-13</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One company, five ledgers, in AXIOM</a:t>
            </a:r>
            <a:endParaRPr lang="en-US" sz="3200" dirty="0"/>
          </a:p>
        </p:txBody>
      </p:sp>
      <p:pic>
        <p:nvPicPr>
          <p:cNvPr id="5" name="AXIOM logo" descr="AXIOM">    </p:cNvPr>
          <p:cNvPicPr>
            <a:picLocks noChangeAspect="1"/>
          </p:cNvPicPr>
          <p:nvPr/>
        </p:nvPicPr>
        <p:blipFill>
          <a:blip r:embed="rId1"/>
          <a:stretch>
            <a:fillRect/>
          </a:stretch>
        </p:blipFill>
        <p:spPr>
          <a:xfrm>
            <a:off x="9539935" y="310896"/>
            <a:ext cx="2103120" cy="420624"/>
          </a:xfrm>
          <a:prstGeom prst="rect">
            <a:avLst/>
          </a:prstGeom>
        </p:spPr>
      </p:pic>
      <p:sp>
        <p:nvSpPr>
          <p:cNvPr id="6" name="Situation"/>
          <p:cNvSpPr txBox="1"/>
          <p:nvPr/>
        </p:nvSpPr>
        <p:spPr>
          <a:xfrm>
            <a:off x="548640" y="1645920"/>
            <a:ext cx="11094415" cy="777240"/>
          </a:xfrm>
          <a:prstGeom prst="rect">
            <a:avLst/>
          </a:prstGeom>
          <a:noFill/>
          <a:ln/>
        </p:spPr>
        <p:txBody>
          <a:bodyPr wrap="square" lIns="0" tIns="0" rIns="0" bIns="0" rtlCol="0" anchor="t"/>
          <a:lstStyle/>
          <a:p>
            <a:pPr indent="0" marL="0">
              <a:buNone/>
            </a:pPr>
            <a:r>
              <a:rPr lang="en-US" sz="1500" dirty="0">
                <a:solidFill>
                  <a:schemeClr val="tx1"/>
                </a:solidFill>
              </a:rPr>
              <a:t>Meridian's board wants one integrated view of the digital program before it approves the second phase. Treasury, the transformation office and the risk office each bring a model and a sign-off. Open AXIOM, choose Lab 1.13 and load the Meridian model.</a:t>
            </a:r>
            <a:endParaRPr lang="en-US" sz="1500" dirty="0"/>
          </a:p>
        </p:txBody>
      </p:sp>
      <p:sp>
        <p:nvSpPr>
          <p:cNvPr id="7" name="Flow line"/>
          <p:cNvSpPr/>
          <p:nvPr/>
        </p:nvSpPr>
        <p:spPr>
          <a:xfrm>
            <a:off x="1658082" y="2880360"/>
            <a:ext cx="8875532" cy="0"/>
          </a:xfrm>
          <a:prstGeom prst="line">
            <a:avLst/>
          </a:prstGeom>
          <a:noFill/>
          <a:ln w="25400">
            <a:solidFill>
              <a:srgbClr val="C4CBD8"/>
            </a:solidFill>
            <a:prstDash val="solid"/>
          </a:ln>
        </p:spPr>
      </p:sp>
      <p:sp>
        <p:nvSpPr>
          <p:cNvPr id="8" name="Number"/>
          <p:cNvSpPr/>
          <p:nvPr/>
        </p:nvSpPr>
        <p:spPr>
          <a:xfrm>
            <a:off x="1383762" y="2606040"/>
            <a:ext cx="548640" cy="548640"/>
          </a:xfrm>
          <a:prstGeom prst="ellipse">
            <a:avLst/>
          </a:prstGeom>
          <a:solidFill>
            <a:schemeClr val="accent1"/>
          </a:solidFill>
          <a:ln w="6350">
            <a:solidFill>
              <a:schemeClr val="accent1"/>
            </a:solidFill>
            <a:prstDash val="solid"/>
          </a:ln>
        </p:spPr>
      </p:sp>
      <p:sp>
        <p:nvSpPr>
          <p:cNvPr id="9" name="Text 5"/>
          <p:cNvSpPr txBox="1"/>
          <p:nvPr/>
        </p:nvSpPr>
        <p:spPr>
          <a:xfrm>
            <a:off x="1383762"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Flow head"/>
          <p:cNvSpPr txBox="1"/>
          <p:nvPr/>
        </p:nvSpPr>
        <p:spPr>
          <a:xfrm>
            <a:off x="621792"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Assemble</a:t>
            </a:r>
            <a:endParaRPr lang="en-US" sz="1600" dirty="0"/>
          </a:p>
        </p:txBody>
      </p:sp>
      <p:sp>
        <p:nvSpPr>
          <p:cNvPr id="11" name="Flow text"/>
          <p:cNvSpPr txBox="1"/>
          <p:nvPr/>
        </p:nvSpPr>
        <p:spPr>
          <a:xfrm>
            <a:off x="640080"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Attach the layers in two orders and confirm the result is the same; read (C1) to (C5) at each step.</a:t>
            </a:r>
            <a:endParaRPr lang="en-US" sz="1400" dirty="0"/>
          </a:p>
        </p:txBody>
      </p:sp>
      <p:sp>
        <p:nvSpPr>
          <p:cNvPr id="12" name="Number"/>
          <p:cNvSpPr/>
          <p:nvPr/>
        </p:nvSpPr>
        <p:spPr>
          <a:xfrm>
            <a:off x="3602645" y="2606040"/>
            <a:ext cx="548640" cy="548640"/>
          </a:xfrm>
          <a:prstGeom prst="ellipse">
            <a:avLst/>
          </a:prstGeom>
          <a:solidFill>
            <a:schemeClr val="accent1"/>
          </a:solidFill>
          <a:ln w="6350">
            <a:solidFill>
              <a:schemeClr val="accent1"/>
            </a:solidFill>
            <a:prstDash val="solid"/>
          </a:ln>
        </p:spPr>
      </p:sp>
      <p:sp>
        <p:nvSpPr>
          <p:cNvPr id="13" name="Text 9"/>
          <p:cNvSpPr txBox="1"/>
          <p:nvPr/>
        </p:nvSpPr>
        <p:spPr>
          <a:xfrm>
            <a:off x="3602645"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Flow head"/>
          <p:cNvSpPr txBox="1"/>
          <p:nvPr/>
        </p:nvSpPr>
        <p:spPr>
          <a:xfrm>
            <a:off x="2840675"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Wire the couplings</a:t>
            </a:r>
            <a:endParaRPr lang="en-US" sz="1600" dirty="0"/>
          </a:p>
        </p:txBody>
      </p:sp>
      <p:sp>
        <p:nvSpPr>
          <p:cNvPr id="15" name="Flow text"/>
          <p:cNvSpPr txBox="1"/>
          <p:nvPr/>
        </p:nvSpPr>
        <p:spPr>
          <a:xfrm>
            <a:off x="2858963"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Enter coupling gains, watch ρ(M) and each block's share; make every layer stable and the whole not.</a:t>
            </a:r>
            <a:endParaRPr lang="en-US" sz="1400" dirty="0"/>
          </a:p>
        </p:txBody>
      </p:sp>
      <p:sp>
        <p:nvSpPr>
          <p:cNvPr id="16" name="Number"/>
          <p:cNvSpPr/>
          <p:nvPr/>
        </p:nvSpPr>
        <p:spPr>
          <a:xfrm>
            <a:off x="5821528" y="2606040"/>
            <a:ext cx="548640" cy="548640"/>
          </a:xfrm>
          <a:prstGeom prst="ellipse">
            <a:avLst/>
          </a:prstGeom>
          <a:solidFill>
            <a:schemeClr val="accent1"/>
          </a:solidFill>
          <a:ln w="6350">
            <a:solidFill>
              <a:schemeClr val="accent1"/>
            </a:solidFill>
            <a:prstDash val="solid"/>
          </a:ln>
        </p:spPr>
      </p:sp>
      <p:sp>
        <p:nvSpPr>
          <p:cNvPr id="17" name="Text 13"/>
          <p:cNvSpPr txBox="1"/>
          <p:nvPr/>
        </p:nvSpPr>
        <p:spPr>
          <a:xfrm>
            <a:off x="5821528"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Flow head"/>
          <p:cNvSpPr txBox="1"/>
          <p:nvPr/>
        </p:nvSpPr>
        <p:spPr>
          <a:xfrm>
            <a:off x="5059558"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Follow the wavefront</a:t>
            </a:r>
            <a:endParaRPr lang="en-US" sz="1600" dirty="0"/>
          </a:p>
        </p:txBody>
      </p:sp>
      <p:sp>
        <p:nvSpPr>
          <p:cNvPr id="19" name="Flow text"/>
          <p:cNvSpPr txBox="1"/>
          <p:nvPr/>
        </p:nvSpPr>
        <p:spPr>
          <a:xfrm>
            <a:off x="5077846"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Seed the program at Digital and a demand shock at the market; record when each ledger can respond.</a:t>
            </a:r>
            <a:endParaRPr lang="en-US" sz="1400" dirty="0"/>
          </a:p>
        </p:txBody>
      </p:sp>
      <p:sp>
        <p:nvSpPr>
          <p:cNvPr id="20" name="Number"/>
          <p:cNvSpPr/>
          <p:nvPr/>
        </p:nvSpPr>
        <p:spPr>
          <a:xfrm>
            <a:off x="8040411" y="2606040"/>
            <a:ext cx="548640" cy="548640"/>
          </a:xfrm>
          <a:prstGeom prst="ellipse">
            <a:avLst/>
          </a:prstGeom>
          <a:solidFill>
            <a:schemeClr val="accent1"/>
          </a:solidFill>
          <a:ln w="6350">
            <a:solidFill>
              <a:schemeClr val="accent1"/>
            </a:solidFill>
            <a:prstDash val="solid"/>
          </a:ln>
        </p:spPr>
      </p:sp>
      <p:sp>
        <p:nvSpPr>
          <p:cNvPr id="21" name="Text 17"/>
          <p:cNvSpPr txBox="1"/>
          <p:nvPr/>
        </p:nvSpPr>
        <p:spPr>
          <a:xfrm>
            <a:off x="8040411"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4</a:t>
            </a:r>
            <a:endParaRPr lang="en-US" sz="1600" dirty="0"/>
          </a:p>
        </p:txBody>
      </p:sp>
      <p:sp>
        <p:nvSpPr>
          <p:cNvPr id="22" name="Flow head"/>
          <p:cNvSpPr txBox="1"/>
          <p:nvPr/>
        </p:nvSpPr>
        <p:spPr>
          <a:xfrm>
            <a:off x="7278441"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Audit the cycle</a:t>
            </a:r>
            <a:endParaRPr lang="en-US" sz="1600" dirty="0"/>
          </a:p>
        </p:txBody>
      </p:sp>
      <p:sp>
        <p:nvSpPr>
          <p:cNvPr id="23" name="Flow text"/>
          <p:cNvSpPr txBox="1"/>
          <p:nvPr/>
        </p:nvSpPr>
        <p:spPr>
          <a:xfrm>
            <a:off x="7296729"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Load the three sign-offs: each bilateral check passes, the joint check fails. Repair it three ways.</a:t>
            </a:r>
            <a:endParaRPr lang="en-US" sz="1400" dirty="0"/>
          </a:p>
        </p:txBody>
      </p:sp>
      <p:sp>
        <p:nvSpPr>
          <p:cNvPr id="24" name="Number"/>
          <p:cNvSpPr/>
          <p:nvPr/>
        </p:nvSpPr>
        <p:spPr>
          <a:xfrm>
            <a:off x="10259294" y="2606040"/>
            <a:ext cx="548640" cy="548640"/>
          </a:xfrm>
          <a:prstGeom prst="ellipse">
            <a:avLst/>
          </a:prstGeom>
          <a:solidFill>
            <a:schemeClr val="accent1"/>
          </a:solidFill>
          <a:ln w="6350">
            <a:solidFill>
              <a:schemeClr val="accent1"/>
            </a:solidFill>
            <a:prstDash val="solid"/>
          </a:ln>
        </p:spPr>
      </p:sp>
      <p:sp>
        <p:nvSpPr>
          <p:cNvPr id="25" name="Text 21"/>
          <p:cNvSpPr txBox="1"/>
          <p:nvPr/>
        </p:nvSpPr>
        <p:spPr>
          <a:xfrm>
            <a:off x="10259294" y="2606040"/>
            <a:ext cx="548640" cy="548640"/>
          </a:xfrm>
          <a:prstGeom prst="rect">
            <a:avLst/>
          </a:prstGeom>
          <a:noFill/>
          <a:ln/>
        </p:spPr>
        <p:txBody>
          <a:bodyPr wrap="square" lIns="0" tIns="0" rIns="0" bIns="0" rtlCol="0" anchor="ctr"/>
          <a:lstStyle/>
          <a:p>
            <a:pPr algn="ctr" indent="0" marL="0">
              <a:buNone/>
            </a:pPr>
            <a:r>
              <a:rPr lang="en-US" sz="1600" b="1" dirty="0">
                <a:solidFill>
                  <a:schemeClr val="bg1"/>
                </a:solidFill>
                <a:latin typeface="Calibri" pitchFamily="34" charset="0"/>
                <a:ea typeface="Calibri" pitchFamily="34" charset="-122"/>
                <a:cs typeface="Calibri" pitchFamily="34" charset="-120"/>
              </a:rPr>
              <a:t>5</a:t>
            </a:r>
            <a:endParaRPr lang="en-US" sz="1600" dirty="0"/>
          </a:p>
        </p:txBody>
      </p:sp>
      <p:sp>
        <p:nvSpPr>
          <p:cNvPr id="26" name="Flow head"/>
          <p:cNvSpPr txBox="1"/>
          <p:nvPr/>
        </p:nvSpPr>
        <p:spPr>
          <a:xfrm>
            <a:off x="9497324" y="3291840"/>
            <a:ext cx="2072579" cy="548640"/>
          </a:xfrm>
          <a:prstGeom prst="rect">
            <a:avLst/>
          </a:prstGeom>
          <a:noFill/>
          <a:ln/>
        </p:spPr>
        <p:txBody>
          <a:bodyPr wrap="square" lIns="0" tIns="0" rIns="0" bIns="0" rtlCol="0" anchor="t"/>
          <a:lstStyle/>
          <a:p>
            <a:pPr algn="ctr" indent="0" marL="0">
              <a:buNone/>
            </a:pPr>
            <a:r>
              <a:rPr lang="en-US" sz="1600" b="1" dirty="0">
                <a:solidFill>
                  <a:schemeClr val="tx1"/>
                </a:solidFill>
                <a:latin typeface="Cambria" pitchFamily="34" charset="0"/>
                <a:ea typeface="Cambria" pitchFamily="34" charset="-122"/>
                <a:cs typeface="Cambria" pitchFamily="34" charset="-120"/>
              </a:rPr>
              <a:t>Decide in one place</a:t>
            </a:r>
            <a:endParaRPr lang="en-US" sz="1600" dirty="0"/>
          </a:p>
        </p:txBody>
      </p:sp>
      <p:sp>
        <p:nvSpPr>
          <p:cNvPr id="27" name="Flow text"/>
          <p:cNvSpPr txBox="1"/>
          <p:nvPr/>
        </p:nvSpPr>
        <p:spPr>
          <a:xfrm>
            <a:off x="9515612" y="3867912"/>
            <a:ext cx="2036003" cy="1554480"/>
          </a:xfrm>
          <a:prstGeom prst="rect">
            <a:avLst/>
          </a:prstGeom>
          <a:noFill/>
          <a:ln/>
        </p:spPr>
        <p:txBody>
          <a:bodyPr wrap="square" lIns="0" tIns="0" rIns="0" bIns="0" rtlCol="0" anchor="t"/>
          <a:lstStyle/>
          <a:p>
            <a:pPr algn="ctr" indent="0" marL="0">
              <a:buNone/>
            </a:pPr>
            <a:r>
              <a:rPr lang="en-US" sz="1400" dirty="0">
                <a:solidFill>
                  <a:schemeClr val="tx2"/>
                </a:solidFill>
              </a:rPr>
              <a:t>Run the program through every ledger on one clock; compare the separated and unified verdicts.</a:t>
            </a:r>
            <a:endParaRPr lang="en-US" sz="1400" dirty="0"/>
          </a:p>
        </p:txBody>
      </p:sp>
      <p:sp>
        <p:nvSpPr>
          <p:cNvPr id="28" name="Deliverable card"/>
          <p:cNvSpPr/>
          <p:nvPr/>
        </p:nvSpPr>
        <p:spPr>
          <a:xfrm>
            <a:off x="548640" y="5486400"/>
            <a:ext cx="11094415" cy="685800"/>
          </a:xfrm>
          <a:prstGeom prst="roundRect">
            <a:avLst>
              <a:gd name="adj" fmla="val 10667"/>
            </a:avLst>
          </a:prstGeom>
          <a:solidFill>
            <a:schemeClr val="bg2"/>
          </a:solidFill>
          <a:ln w="9525">
            <a:solidFill>
              <a:srgbClr val="C4CBD8"/>
            </a:solidFill>
            <a:prstDash val="solid"/>
          </a:ln>
        </p:spPr>
      </p:sp>
      <p:sp>
        <p:nvSpPr>
          <p:cNvPr id="29" name="Deliverable"/>
          <p:cNvSpPr txBox="1"/>
          <p:nvPr/>
        </p:nvSpPr>
        <p:spPr>
          <a:xfrm>
            <a:off x="777240" y="5559552"/>
            <a:ext cx="10637215" cy="539496"/>
          </a:xfrm>
          <a:prstGeom prst="rect">
            <a:avLst/>
          </a:prstGeom>
          <a:noFill/>
          <a:ln/>
        </p:spPr>
        <p:txBody>
          <a:bodyPr wrap="square" lIns="0" tIns="0" rIns="0" bIns="0" rtlCol="0" anchor="ctr"/>
          <a:lstStyle/>
          <a:p>
            <a:pPr indent="0" marL="0">
              <a:buNone/>
            </a:pPr>
            <a:r>
              <a:rPr lang="en-US" sz="1400" b="1" dirty="0">
                <a:solidFill>
                  <a:schemeClr val="tx1"/>
                </a:solidFill>
              </a:rPr>
              <a:t>Deliverable:</a:t>
            </a:r>
            <a:r>
              <a:rPr lang="en-US" sz="1400" dirty="0">
                <a:solidFill>
                  <a:schemeClr val="tx1"/>
                </a:solidFill>
              </a:rPr>
              <a:t> a one-page unified declaration: the coupling register, the zero blocks and spectral report, the ledger-clock table, the audit with the cycle walked as one constraint, and the integrated recommendation with the cost of deciding separately. About 75–90 minutes.</a:t>
            </a:r>
            <a:endParaRPr lang="en-US" sz="14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KEY TAKEAWAYS</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What to carry forward</a:t>
            </a:r>
            <a:endParaRPr lang="en-US" sz="3200" dirty="0"/>
          </a:p>
        </p:txBody>
      </p:sp>
      <p:sp>
        <p:nvSpPr>
          <p:cNvPr id="5" name="Number"/>
          <p:cNvSpPr/>
          <p:nvPr/>
        </p:nvSpPr>
        <p:spPr>
          <a:xfrm>
            <a:off x="548640" y="1737360"/>
            <a:ext cx="566928" cy="566928"/>
          </a:xfrm>
          <a:prstGeom prst="ellipse">
            <a:avLst/>
          </a:prstGeom>
          <a:solidFill>
            <a:schemeClr val="accent1"/>
          </a:solidFill>
          <a:ln w="6350">
            <a:solidFill>
              <a:schemeClr val="accent1"/>
            </a:solidFill>
            <a:prstDash val="solid"/>
          </a:ln>
        </p:spPr>
      </p:sp>
      <p:sp>
        <p:nvSpPr>
          <p:cNvPr id="6" name="Text 3"/>
          <p:cNvSpPr txBox="1"/>
          <p:nvPr/>
        </p:nvSpPr>
        <p:spPr>
          <a:xfrm>
            <a:off x="548640" y="1737360"/>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1</a:t>
            </a:r>
            <a:endParaRPr lang="en-US" sz="1500" dirty="0"/>
          </a:p>
        </p:txBody>
      </p:sp>
      <p:sp>
        <p:nvSpPr>
          <p:cNvPr id="7" name="Row text"/>
          <p:cNvSpPr txBox="1"/>
          <p:nvPr/>
        </p:nvSpPr>
        <p:spPr>
          <a:xfrm>
            <a:off x="1325880" y="1691640"/>
            <a:ext cx="10317175" cy="841248"/>
          </a:xfrm>
          <a:prstGeom prst="rect">
            <a:avLst/>
          </a:prstGeom>
          <a:noFill/>
          <a:ln/>
        </p:spPr>
        <p:txBody>
          <a:bodyPr wrap="square" lIns="0" tIns="0" rIns="0" bIns="0" rtlCol="0" anchor="ctr"/>
          <a:lstStyle/>
          <a:p>
            <a:pPr indent="0" marL="0">
              <a:buNone/>
            </a:pPr>
            <a:r>
              <a:rPr lang="en-US" sz="1500" dirty="0">
                <a:solidFill>
                  <a:schemeClr val="tx1"/>
                </a:solidFill>
              </a:rPr>
              <a:t>Unification is declaration, not construction: five layers on one skeleton, reading one state; the only new object is the register of couplings.</a:t>
            </a:r>
            <a:endParaRPr lang="en-US" sz="1500" dirty="0"/>
          </a:p>
        </p:txBody>
      </p:sp>
      <p:sp>
        <p:nvSpPr>
          <p:cNvPr id="8" name="Number"/>
          <p:cNvSpPr/>
          <p:nvPr/>
        </p:nvSpPr>
        <p:spPr>
          <a:xfrm>
            <a:off x="548640" y="2633472"/>
            <a:ext cx="566928" cy="566928"/>
          </a:xfrm>
          <a:prstGeom prst="ellipse">
            <a:avLst/>
          </a:prstGeom>
          <a:solidFill>
            <a:schemeClr val="accent1"/>
          </a:solidFill>
          <a:ln w="6350">
            <a:solidFill>
              <a:schemeClr val="accent1"/>
            </a:solidFill>
            <a:prstDash val="solid"/>
          </a:ln>
        </p:spPr>
      </p:sp>
      <p:sp>
        <p:nvSpPr>
          <p:cNvPr id="9" name="Text 6"/>
          <p:cNvSpPr txBox="1"/>
          <p:nvPr/>
        </p:nvSpPr>
        <p:spPr>
          <a:xfrm>
            <a:off x="548640" y="2633472"/>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2</a:t>
            </a:r>
            <a:endParaRPr lang="en-US" sz="1500" dirty="0"/>
          </a:p>
        </p:txBody>
      </p:sp>
      <p:sp>
        <p:nvSpPr>
          <p:cNvPr id="10" name="Row text"/>
          <p:cNvSpPr txBox="1"/>
          <p:nvPr/>
        </p:nvSpPr>
        <p:spPr>
          <a:xfrm>
            <a:off x="1325880" y="2587752"/>
            <a:ext cx="10317175" cy="841248"/>
          </a:xfrm>
          <a:prstGeom prst="rect">
            <a:avLst/>
          </a:prstGeom>
          <a:noFill/>
          <a:ln/>
        </p:spPr>
        <p:txBody>
          <a:bodyPr wrap="square" lIns="0" tIns="0" rIns="0" bIns="0" rtlCol="0" anchor="ctr"/>
          <a:lstStyle/>
          <a:p>
            <a:pPr indent="0" marL="0">
              <a:buNone/>
            </a:pPr>
            <a:r>
              <a:rPr lang="en-US" sz="1500" dirty="0">
                <a:solidFill>
                  <a:schemeClr val="tx1"/>
                </a:solidFill>
              </a:rPr>
              <a:t>Unification costs the existing models nothing—each layer survives unchanged—and no layer can be dropped without losing questions only it answers.</a:t>
            </a:r>
            <a:endParaRPr lang="en-US" sz="1500" dirty="0"/>
          </a:p>
        </p:txBody>
      </p:sp>
      <p:sp>
        <p:nvSpPr>
          <p:cNvPr id="11" name="Number"/>
          <p:cNvSpPr/>
          <p:nvPr/>
        </p:nvSpPr>
        <p:spPr>
          <a:xfrm>
            <a:off x="548640" y="3529584"/>
            <a:ext cx="566928" cy="566928"/>
          </a:xfrm>
          <a:prstGeom prst="ellipse">
            <a:avLst/>
          </a:prstGeom>
          <a:solidFill>
            <a:schemeClr val="accent1"/>
          </a:solidFill>
          <a:ln w="6350">
            <a:solidFill>
              <a:schemeClr val="accent1"/>
            </a:solidFill>
            <a:prstDash val="solid"/>
          </a:ln>
        </p:spPr>
      </p:sp>
      <p:sp>
        <p:nvSpPr>
          <p:cNvPr id="12" name="Text 9"/>
          <p:cNvSpPr txBox="1"/>
          <p:nvPr/>
        </p:nvSpPr>
        <p:spPr>
          <a:xfrm>
            <a:off x="548640" y="3529584"/>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3</a:t>
            </a:r>
            <a:endParaRPr lang="en-US" sz="1500" dirty="0"/>
          </a:p>
        </p:txBody>
      </p:sp>
      <p:sp>
        <p:nvSpPr>
          <p:cNvPr id="13" name="Row text"/>
          <p:cNvSpPr txBox="1"/>
          <p:nvPr/>
        </p:nvSpPr>
        <p:spPr>
          <a:xfrm>
            <a:off x="1325880" y="3483864"/>
            <a:ext cx="10317175" cy="841248"/>
          </a:xfrm>
          <a:prstGeom prst="rect">
            <a:avLst/>
          </a:prstGeom>
          <a:noFill/>
          <a:ln/>
        </p:spPr>
        <p:txBody>
          <a:bodyPr wrap="square" lIns="0" tIns="0" rIns="0" bIns="0" rtlCol="0" anchor="ctr"/>
          <a:lstStyle/>
          <a:p>
            <a:pPr indent="0" marL="0">
              <a:buNone/>
            </a:pPr>
            <a:r>
              <a:rPr lang="en-US" sz="1500" dirty="0">
                <a:solidFill>
                  <a:schemeClr val="tx1"/>
                </a:solidFill>
              </a:rPr>
              <a:t>Cross-ledger questions are network questions: influence travels only along layered paths, no ledger responds before its distance allows, and every layer can pass its own stress test while the whole is unstable.</a:t>
            </a:r>
            <a:endParaRPr lang="en-US" sz="1500" dirty="0"/>
          </a:p>
        </p:txBody>
      </p:sp>
      <p:sp>
        <p:nvSpPr>
          <p:cNvPr id="14" name="Number"/>
          <p:cNvSpPr/>
          <p:nvPr/>
        </p:nvSpPr>
        <p:spPr>
          <a:xfrm>
            <a:off x="548640" y="4425696"/>
            <a:ext cx="566928" cy="566928"/>
          </a:xfrm>
          <a:prstGeom prst="ellipse">
            <a:avLst/>
          </a:prstGeom>
          <a:solidFill>
            <a:schemeClr val="accent1"/>
          </a:solidFill>
          <a:ln w="6350">
            <a:solidFill>
              <a:schemeClr val="accent1"/>
            </a:solidFill>
            <a:prstDash val="solid"/>
          </a:ln>
        </p:spPr>
      </p:sp>
      <p:sp>
        <p:nvSpPr>
          <p:cNvPr id="15" name="Text 12"/>
          <p:cNvSpPr txBox="1"/>
          <p:nvPr/>
        </p:nvSpPr>
        <p:spPr>
          <a:xfrm>
            <a:off x="548640" y="4425696"/>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4</a:t>
            </a:r>
            <a:endParaRPr lang="en-US" sz="1500" dirty="0"/>
          </a:p>
        </p:txBody>
      </p:sp>
      <p:sp>
        <p:nvSpPr>
          <p:cNvPr id="16" name="Row text"/>
          <p:cNvSpPr txBox="1"/>
          <p:nvPr/>
        </p:nvSpPr>
        <p:spPr>
          <a:xfrm>
            <a:off x="1325880" y="4379976"/>
            <a:ext cx="10317175" cy="841248"/>
          </a:xfrm>
          <a:prstGeom prst="rect">
            <a:avLst/>
          </a:prstGeom>
          <a:noFill/>
          <a:ln/>
        </p:spPr>
        <p:txBody>
          <a:bodyPr wrap="square" lIns="0" tIns="0" rIns="0" bIns="0" rtlCol="0" anchor="ctr"/>
          <a:lstStyle/>
          <a:p>
            <a:pPr indent="0" marL="0">
              <a:buNone/>
            </a:pPr>
            <a:r>
              <a:rPr lang="en-US" sz="1500" dirty="0">
                <a:solidFill>
                  <a:schemeClr val="tx1"/>
                </a:solidFill>
              </a:rPr>
              <a:t>Every funded program creates a capital–performance–risk cycle on which bilateral sign-offs can all pass while the books are jointly impossible; walk the cycle as one constraint, and read a failed invariant back to its ancestors.</a:t>
            </a:r>
            <a:endParaRPr lang="en-US" sz="1500" dirty="0"/>
          </a:p>
        </p:txBody>
      </p:sp>
      <p:sp>
        <p:nvSpPr>
          <p:cNvPr id="17" name="Number"/>
          <p:cNvSpPr/>
          <p:nvPr/>
        </p:nvSpPr>
        <p:spPr>
          <a:xfrm>
            <a:off x="548640" y="5321808"/>
            <a:ext cx="566928" cy="566928"/>
          </a:xfrm>
          <a:prstGeom prst="ellipse">
            <a:avLst/>
          </a:prstGeom>
          <a:solidFill>
            <a:schemeClr val="accent1"/>
          </a:solidFill>
          <a:ln w="6350">
            <a:solidFill>
              <a:schemeClr val="accent1"/>
            </a:solidFill>
            <a:prstDash val="solid"/>
          </a:ln>
        </p:spPr>
      </p:sp>
      <p:sp>
        <p:nvSpPr>
          <p:cNvPr id="18" name="Text 15"/>
          <p:cNvSpPr txBox="1"/>
          <p:nvPr/>
        </p:nvSpPr>
        <p:spPr>
          <a:xfrm>
            <a:off x="548640" y="5321808"/>
            <a:ext cx="566928" cy="566928"/>
          </a:xfrm>
          <a:prstGeom prst="rect">
            <a:avLst/>
          </a:prstGeom>
          <a:noFill/>
          <a:ln/>
        </p:spPr>
        <p:txBody>
          <a:bodyPr wrap="square" lIns="0" tIns="0" rIns="0" bIns="0" rtlCol="0" anchor="ctr"/>
          <a:lstStyle/>
          <a:p>
            <a:pPr algn="ctr" indent="0" marL="0">
              <a:buNone/>
            </a:pPr>
            <a:r>
              <a:rPr lang="en-US" sz="1500" b="1" dirty="0">
                <a:solidFill>
                  <a:schemeClr val="bg1"/>
                </a:solidFill>
                <a:latin typeface="Calibri" pitchFamily="34" charset="0"/>
                <a:ea typeface="Calibri" pitchFamily="34" charset="-122"/>
                <a:cs typeface="Calibri" pitchFamily="34" charset="-120"/>
              </a:rPr>
              <a:t>5</a:t>
            </a:r>
            <a:endParaRPr lang="en-US" sz="1500" dirty="0"/>
          </a:p>
        </p:txBody>
      </p:sp>
      <p:sp>
        <p:nvSpPr>
          <p:cNvPr id="19" name="Row text"/>
          <p:cNvSpPr txBox="1"/>
          <p:nvPr/>
        </p:nvSpPr>
        <p:spPr>
          <a:xfrm>
            <a:off x="1325880" y="5276088"/>
            <a:ext cx="10317175" cy="841248"/>
          </a:xfrm>
          <a:prstGeom prst="rect">
            <a:avLst/>
          </a:prstGeom>
          <a:noFill/>
          <a:ln/>
        </p:spPr>
        <p:txBody>
          <a:bodyPr wrap="square" lIns="0" tIns="0" rIns="0" bIns="0" rtlCol="0" anchor="ctr"/>
          <a:lstStyle/>
          <a:p>
            <a:pPr indent="0" marL="0">
              <a:buNone/>
            </a:pPr>
            <a:r>
              <a:rPr lang="en-US" sz="1500" dirty="0">
                <a:solidFill>
                  <a:schemeClr val="tx1"/>
                </a:solidFill>
              </a:rPr>
              <a:t>Integrated decisions dominate separated ones by exactly what the couplings carry: the formulation must be unified even where execution is delegated, the shape of Chapter 15's optimization problem.</a:t>
            </a:r>
            <a:endParaRPr lang="en-US" sz="15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THIS WEEK'S LABORATORY</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tx1"/>
                </a:solidFill>
                <a:latin typeface="Cambria" pitchFamily="34" charset="0"/>
                <a:ea typeface="Cambria" pitchFamily="34" charset="-122"/>
                <a:cs typeface="Cambria" pitchFamily="34" charset="-120"/>
              </a:rPr>
              <a:t>Notebook and workbook reproduce the book</a:t>
            </a:r>
            <a:endParaRPr lang="en-US" sz="3200" dirty="0"/>
          </a:p>
        </p:txBody>
      </p:sp>
      <p:sp>
        <p:nvSpPr>
          <p:cNvPr id="5" name="Stat card"/>
          <p:cNvSpPr/>
          <p:nvPr/>
        </p:nvSpPr>
        <p:spPr>
          <a:xfrm>
            <a:off x="548640" y="1691640"/>
            <a:ext cx="2567864" cy="1691640"/>
          </a:xfrm>
          <a:prstGeom prst="roundRect">
            <a:avLst>
              <a:gd name="adj" fmla="val 4324"/>
            </a:avLst>
          </a:prstGeom>
          <a:solidFill>
            <a:schemeClr val="tx1"/>
          </a:solidFill>
          <a:ln w="9525">
            <a:solidFill>
              <a:srgbClr val="0F1E3D"/>
            </a:solidFill>
            <a:prstDash val="solid"/>
          </a:ln>
        </p:spPr>
      </p:sp>
      <p:sp>
        <p:nvSpPr>
          <p:cNvPr id="6" name="Stat value"/>
          <p:cNvSpPr txBox="1"/>
          <p:nvPr/>
        </p:nvSpPr>
        <p:spPr>
          <a:xfrm>
            <a:off x="685800" y="1801368"/>
            <a:ext cx="2293544" cy="914400"/>
          </a:xfrm>
          <a:prstGeom prst="rect">
            <a:avLst/>
          </a:prstGeom>
          <a:noFill/>
          <a:ln/>
        </p:spPr>
        <p:txBody>
          <a:bodyPr wrap="square" lIns="0" tIns="0" rIns="0" bIns="0" rtlCol="0" anchor="ctr"/>
          <a:lstStyle/>
          <a:p>
            <a:pPr algn="ctr" indent="0" marL="0">
              <a:buNone/>
            </a:pPr>
            <a:r>
              <a:rPr lang="en-US" sz="4400" b="1" dirty="0">
                <a:solidFill>
                  <a:schemeClr val="accent1"/>
                </a:solidFill>
                <a:latin typeface="Cambria" pitchFamily="34" charset="0"/>
                <a:ea typeface="Cambria" pitchFamily="34" charset="-122"/>
                <a:cs typeface="Cambria" pitchFamily="34" charset="-120"/>
              </a:rPr>
              <a:t>64</a:t>
            </a:r>
            <a:endParaRPr lang="en-US" sz="4400" dirty="0"/>
          </a:p>
        </p:txBody>
      </p:sp>
      <p:sp>
        <p:nvSpPr>
          <p:cNvPr id="7" name="Stat label"/>
          <p:cNvSpPr txBox="1"/>
          <p:nvPr/>
        </p:nvSpPr>
        <p:spPr>
          <a:xfrm>
            <a:off x="685800" y="2697480"/>
            <a:ext cx="2293544" cy="612648"/>
          </a:xfrm>
          <a:prstGeom prst="rect">
            <a:avLst/>
          </a:prstGeom>
          <a:noFill/>
          <a:ln/>
        </p:spPr>
        <p:txBody>
          <a:bodyPr wrap="square" lIns="0" tIns="0" rIns="0" bIns="0" rtlCol="0" anchor="t"/>
          <a:lstStyle/>
          <a:p>
            <a:pPr algn="ctr" indent="0" marL="0">
              <a:buNone/>
            </a:pPr>
            <a:r>
              <a:rPr lang="en-US" sz="1400" dirty="0">
                <a:solidFill>
                  <a:schemeClr val="bg2"/>
                </a:solidFill>
              </a:rPr>
              <a:t>notebook checkpoints, every one PASS</a:t>
            </a:r>
            <a:endParaRPr lang="en-US" sz="1400" dirty="0"/>
          </a:p>
        </p:txBody>
      </p:sp>
      <p:sp>
        <p:nvSpPr>
          <p:cNvPr id="8" name="Stat card"/>
          <p:cNvSpPr/>
          <p:nvPr/>
        </p:nvSpPr>
        <p:spPr>
          <a:xfrm>
            <a:off x="3390824" y="1691640"/>
            <a:ext cx="2567864" cy="1691640"/>
          </a:xfrm>
          <a:prstGeom prst="roundRect">
            <a:avLst>
              <a:gd name="adj" fmla="val 4324"/>
            </a:avLst>
          </a:prstGeom>
          <a:solidFill>
            <a:schemeClr val="bg2"/>
          </a:solidFill>
          <a:ln w="9525">
            <a:solidFill>
              <a:srgbClr val="C4CBD8"/>
            </a:solidFill>
            <a:prstDash val="solid"/>
          </a:ln>
        </p:spPr>
      </p:sp>
      <p:sp>
        <p:nvSpPr>
          <p:cNvPr id="9" name="Stat value"/>
          <p:cNvSpPr txBox="1"/>
          <p:nvPr/>
        </p:nvSpPr>
        <p:spPr>
          <a:xfrm>
            <a:off x="3527984"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72</a:t>
            </a:r>
            <a:endParaRPr lang="en-US" sz="4400" dirty="0"/>
          </a:p>
        </p:txBody>
      </p:sp>
      <p:sp>
        <p:nvSpPr>
          <p:cNvPr id="10" name="Stat label"/>
          <p:cNvSpPr txBox="1"/>
          <p:nvPr/>
        </p:nvSpPr>
        <p:spPr>
          <a:xfrm>
            <a:off x="3527984"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workbook checks against the engine, ALL PASS</a:t>
            </a:r>
            <a:endParaRPr lang="en-US" sz="1400" dirty="0"/>
          </a:p>
        </p:txBody>
      </p:sp>
      <p:sp>
        <p:nvSpPr>
          <p:cNvPr id="11" name="Stat card"/>
          <p:cNvSpPr/>
          <p:nvPr/>
        </p:nvSpPr>
        <p:spPr>
          <a:xfrm>
            <a:off x="6233008" y="1691640"/>
            <a:ext cx="2567864" cy="1691640"/>
          </a:xfrm>
          <a:prstGeom prst="roundRect">
            <a:avLst>
              <a:gd name="adj" fmla="val 4324"/>
            </a:avLst>
          </a:prstGeom>
          <a:solidFill>
            <a:schemeClr val="bg2"/>
          </a:solidFill>
          <a:ln w="9525">
            <a:solidFill>
              <a:srgbClr val="C4CBD8"/>
            </a:solidFill>
            <a:prstDash val="solid"/>
          </a:ln>
        </p:spPr>
      </p:sp>
      <p:sp>
        <p:nvSpPr>
          <p:cNvPr id="12" name="Stat value"/>
          <p:cNvSpPr txBox="1"/>
          <p:nvPr/>
        </p:nvSpPr>
        <p:spPr>
          <a:xfrm>
            <a:off x="6370168" y="1801368"/>
            <a:ext cx="2293544" cy="914400"/>
          </a:xfrm>
          <a:prstGeom prst="rect">
            <a:avLst/>
          </a:prstGeom>
          <a:noFill/>
          <a:ln/>
        </p:spPr>
        <p:txBody>
          <a:bodyPr wrap="square" lIns="0" tIns="0" rIns="0" bIns="0" rtlCol="0" anchor="ctr"/>
          <a:lstStyle/>
          <a:p>
            <a:pPr algn="ctr" indent="0" marL="0">
              <a:buNone/>
            </a:pPr>
            <a:r>
              <a:rPr lang="en-US" sz="4400" b="1" dirty="0">
                <a:solidFill>
                  <a:schemeClr val="tx1"/>
                </a:solidFill>
                <a:latin typeface="Cambria" pitchFamily="34" charset="0"/>
                <a:ea typeface="Cambria" pitchFamily="34" charset="-122"/>
                <a:cs typeface="Cambria" pitchFamily="34" charset="-120"/>
              </a:rPr>
              <a:t>26113</a:t>
            </a:r>
            <a:endParaRPr lang="en-US" sz="4400" dirty="0"/>
          </a:p>
        </p:txBody>
      </p:sp>
      <p:sp>
        <p:nvSpPr>
          <p:cNvPr id="13" name="Stat label"/>
          <p:cNvSpPr txBox="1"/>
          <p:nvPr/>
        </p:nvSpPr>
        <p:spPr>
          <a:xfrm>
            <a:off x="6370168"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the lab's seed</a:t>
            </a:r>
            <a:endParaRPr lang="en-US" sz="1400" dirty="0"/>
          </a:p>
        </p:txBody>
      </p:sp>
      <p:sp>
        <p:nvSpPr>
          <p:cNvPr id="14" name="Stat card"/>
          <p:cNvSpPr/>
          <p:nvPr/>
        </p:nvSpPr>
        <p:spPr>
          <a:xfrm>
            <a:off x="9075191" y="1691640"/>
            <a:ext cx="2567864" cy="1691640"/>
          </a:xfrm>
          <a:prstGeom prst="roundRect">
            <a:avLst>
              <a:gd name="adj" fmla="val 4324"/>
            </a:avLst>
          </a:prstGeom>
          <a:solidFill>
            <a:schemeClr val="bg2"/>
          </a:solidFill>
          <a:ln w="9525">
            <a:solidFill>
              <a:srgbClr val="C4CBD8"/>
            </a:solidFill>
            <a:prstDash val="solid"/>
          </a:ln>
        </p:spPr>
      </p:sp>
      <p:sp>
        <p:nvSpPr>
          <p:cNvPr id="15" name="Stat value"/>
          <p:cNvSpPr txBox="1"/>
          <p:nvPr/>
        </p:nvSpPr>
        <p:spPr>
          <a:xfrm>
            <a:off x="9212351" y="1801368"/>
            <a:ext cx="2293544" cy="914400"/>
          </a:xfrm>
          <a:prstGeom prst="rect">
            <a:avLst/>
          </a:prstGeom>
          <a:noFill/>
          <a:ln/>
        </p:spPr>
        <p:txBody>
          <a:bodyPr wrap="square" lIns="0" tIns="0" rIns="0" bIns="0" rtlCol="0" anchor="ctr"/>
          <a:lstStyle/>
          <a:p>
            <a:pPr algn="ctr" indent="0" marL="0">
              <a:buNone/>
            </a:pPr>
            <a:r>
              <a:rPr lang="en-US" sz="3000" b="1" dirty="0">
                <a:solidFill>
                  <a:schemeClr val="tx1"/>
                </a:solidFill>
                <a:latin typeface="Cambria" pitchFamily="34" charset="0"/>
                <a:ea typeface="Cambria" pitchFamily="34" charset="-122"/>
                <a:cs typeface="Cambria" pitchFamily="34" charset="-120"/>
              </a:rPr>
              <a:t>AXIOM-13</a:t>
            </a:r>
            <a:endParaRPr lang="en-US" sz="3000" dirty="0"/>
          </a:p>
        </p:txBody>
      </p:sp>
      <p:sp>
        <p:nvSpPr>
          <p:cNvPr id="16" name="Stat label"/>
          <p:cNvSpPr txBox="1"/>
          <p:nvPr/>
        </p:nvSpPr>
        <p:spPr>
          <a:xfrm>
            <a:off x="9212351" y="2697480"/>
            <a:ext cx="2293544" cy="612648"/>
          </a:xfrm>
          <a:prstGeom prst="rect">
            <a:avLst/>
          </a:prstGeom>
          <a:noFill/>
          <a:ln/>
        </p:spPr>
        <p:txBody>
          <a:bodyPr wrap="square" lIns="0" tIns="0" rIns="0" bIns="0" rtlCol="0" anchor="t"/>
          <a:lstStyle/>
          <a:p>
            <a:pPr algn="ctr" indent="0" marL="0">
              <a:buNone/>
            </a:pPr>
            <a:r>
              <a:rPr lang="en-US" sz="1400" dirty="0">
                <a:solidFill>
                  <a:schemeClr val="tx2"/>
                </a:solidFill>
              </a:rPr>
              <a:t>AXIOM Lab 1.13</a:t>
            </a:r>
            <a:endParaRPr lang="en-US" sz="1400" dirty="0"/>
          </a:p>
        </p:txBody>
      </p:sp>
      <p:sp>
        <p:nvSpPr>
          <p:cNvPr id="17" name="Bullets"/>
          <p:cNvSpPr txBox="1"/>
          <p:nvPr/>
        </p:nvSpPr>
        <p:spPr>
          <a:xfrm>
            <a:off x="548640" y="3703320"/>
            <a:ext cx="11094415" cy="2468880"/>
          </a:xfrm>
          <a:prstGeom prst="rect">
            <a:avLst/>
          </a:prstGeom>
          <a:noFill/>
          <a:ln/>
        </p:spPr>
        <p:txBody>
          <a:bodyPr wrap="square" lIns="635" tIns="635" rIns="635" bIns="635" rtlCol="0" anchor="t"/>
          <a:lstStyle/>
          <a:p>
            <a:pPr marL="228600" indent="-228600">
              <a:spcAft>
                <a:spcPts val="800"/>
              </a:spcAft>
              <a:buSzPct val="100000"/>
              <a:buChar char="•"/>
            </a:pPr>
            <a:r>
              <a:rPr lang="en-US" sz="1700" b="1" dirty="0">
                <a:solidFill>
                  <a:schemeClr val="tx1"/>
                </a:solidFill>
              </a:rPr>
              <a:t>Notebook</a:t>
            </a:r>
            <a:r>
              <a:rPr lang="en-US" sz="1700" dirty="0">
                <a:solidFill>
                  <a:schemeClr val="tx1"/>
                </a:solidFill>
              </a:rPr>
              <a:t> DCT_V1_Ch13_Lab.ipynb: Worked Example 13.1 and the lab's five steps in eight panels, ready for Colab; its breach odds are the book's paths</a:t>
            </a:r>
            <a:endParaRPr lang="en-US" sz="1700" dirty="0"/>
          </a:p>
          <a:p>
            <a:pPr marL="228600" indent="-228600">
              <a:spcAft>
                <a:spcPts val="800"/>
              </a:spcAft>
              <a:buSzPct val="100000"/>
              <a:buChar char="•"/>
            </a:pPr>
            <a:r>
              <a:rPr lang="en-US" sz="1700" b="1" dirty="0">
                <a:solidFill>
                  <a:schemeClr val="tx1"/>
                </a:solidFill>
              </a:rPr>
              <a:t>Workbook</a:t>
            </a:r>
            <a:r>
              <a:rPr lang="en-US" sz="1700" dirty="0">
                <a:solidFill>
                  <a:schemeClr val="tx1"/>
                </a:solidFill>
              </a:rPr>
              <a:t> DCT_V1_Ch13_Lab.xlsx: the assembly checks, the cascade gap, the ledger clocks, the three ledgers, the joint check and Table 13.6, in formulas</a:t>
            </a:r>
            <a:endParaRPr lang="en-US" sz="1700" dirty="0"/>
          </a:p>
          <a:p>
            <a:pPr marL="228600" indent="-228600">
              <a:spcAft>
                <a:spcPts val="800"/>
              </a:spcAft>
              <a:buSzPct val="100000"/>
              <a:buChar char="•"/>
            </a:pPr>
            <a:r>
              <a:rPr lang="en-US" sz="1700" dirty="0">
                <a:solidFill>
                  <a:schemeClr val="tx1"/>
                </a:solidFill>
              </a:rPr>
              <a:t>Every number on these slides is the book's, and both companions check it</a:t>
            </a:r>
            <a:endParaRPr lang="en-US" sz="17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5A6B82"/>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1"/>
          <p:cNvSpPr/>
          <p:nvPr>
            <p:ph idx="102" type="body" hasCustomPrompt="1"/>
          </p:nvPr>
        </p:nvSpPr>
        <p:spPr>
          <a:xfrm>
            <a:off x="548640" y="347472"/>
            <a:ext cx="11094415" cy="292608"/>
          </a:xfrm>
          <a:prstGeom prst="rect">
            <a:avLst/>
          </a:prstGeom>
          <a:noFill/>
          <a:ln/>
        </p:spPr>
        <p:txBody>
          <a:bodyPr wrap="square" lIns="0" tIns="0" rIns="0" bIns="0" rtlCol="0"/>
          <a:lstStyle/>
          <a:p>
            <a:pPr indent="0" marL="0">
              <a:buNone/>
            </a:pPr>
            <a:r>
              <a:rPr lang="en-US" sz="1200" b="1" spc="200" kern="0" dirty="0">
                <a:solidFill>
                  <a:schemeClr val="accent1"/>
                </a:solidFill>
              </a:rPr>
              <a:t>NEXT · CHAPTER 14</a:t>
            </a:r>
            <a:endParaRPr lang="en-US" sz="1200" dirty="0"/>
          </a:p>
        </p:txBody>
      </p:sp>
      <p:sp>
        <p:nvSpPr>
          <p:cNvPr id="4" name="Text 1"/>
          <p:cNvSpPr/>
          <p:nvPr>
            <p:ph idx="103" type="title" hasCustomPrompt="1"/>
          </p:nvPr>
        </p:nvSpPr>
        <p:spPr>
          <a:xfrm>
            <a:off x="548640" y="658368"/>
            <a:ext cx="11094415" cy="86868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Chapter 14 asks what the object does</a:t>
            </a:r>
            <a:endParaRPr lang="en-US" sz="3200" dirty="0"/>
          </a:p>
        </p:txBody>
      </p:sp>
      <p:pic>
        <p:nvPicPr>
          <p:cNvPr id="5" name="Equation" descr="Equation: \mathbf{x}_{k+1} \;=\; f(\mathbf{x}_k, \mathbf{u}_k, \mathbf{w}_k;\, \theta), \qquad \mathbf{x}_0 \in \Omega">    </p:cNvPr>
          <p:cNvPicPr>
            <a:picLocks noChangeAspect="1"/>
          </p:cNvPicPr>
          <p:nvPr/>
        </p:nvPicPr>
        <p:blipFill>
          <a:blip r:embed="rId1"/>
          <a:stretch>
            <a:fillRect/>
          </a:stretch>
        </p:blipFill>
        <p:spPr>
          <a:xfrm>
            <a:off x="2122506" y="1691640"/>
            <a:ext cx="7946683" cy="731520"/>
          </a:xfrm>
          <a:prstGeom prst="rect">
            <a:avLst/>
          </a:prstGeom>
        </p:spPr>
      </p:pic>
      <p:sp>
        <p:nvSpPr>
          <p:cNvPr id="6" name="Bullets"/>
          <p:cNvSpPr txBox="1"/>
          <p:nvPr/>
        </p:nvSpPr>
        <p:spPr>
          <a:xfrm>
            <a:off x="548640" y="2743200"/>
            <a:ext cx="11094415" cy="3429000"/>
          </a:xfrm>
          <a:prstGeom prst="rect">
            <a:avLst/>
          </a:prstGeom>
          <a:noFill/>
          <a:ln/>
        </p:spPr>
        <p:txBody>
          <a:bodyPr wrap="square" lIns="635" tIns="635" rIns="635" bIns="635" rtlCol="0" anchor="t"/>
          <a:lstStyle/>
          <a:p>
            <a:pPr marL="228600" indent="-228600">
              <a:spcAft>
                <a:spcPts val="800"/>
              </a:spcAft>
              <a:buSzPct val="100000"/>
              <a:buChar char="•"/>
            </a:pPr>
            <a:r>
              <a:rPr lang="en-US" sz="1800" dirty="0">
                <a:solidFill>
                  <a:schemeClr val="bg1"/>
                </a:solidFill>
              </a:rPr>
              <a:t>Well-posedness, equilibria, stability (opening with the interaction matrix's spectral reading), sensitivity and viability</a:t>
            </a:r>
            <a:endParaRPr lang="en-US" sz="1800" dirty="0"/>
          </a:p>
          <a:p>
            <a:pPr marL="228600" indent="-228600">
              <a:spcAft>
                <a:spcPts val="800"/>
              </a:spcAft>
              <a:buSzPct val="100000"/>
              <a:buChar char="•"/>
            </a:pPr>
            <a:r>
              <a:rPr lang="en-US" sz="1800" dirty="0">
                <a:solidFill>
                  <a:schemeClr val="bg1"/>
                </a:solidFill>
              </a:rPr>
              <a:t>The coupling register becomes a stability budget: while every true gain stays within its declared ceiling, the company is certified to settle</a:t>
            </a:r>
            <a:endParaRPr lang="en-US" sz="1800" dirty="0"/>
          </a:p>
          <a:p>
            <a:pPr marL="228600" indent="-228600">
              <a:spcAft>
                <a:spcPts val="800"/>
              </a:spcAft>
              <a:buSzPct val="100000"/>
              <a:buChar char="•"/>
            </a:pPr>
            <a:r>
              <a:rPr lang="en-US" sz="1800" dirty="0">
                <a:solidFill>
                  <a:schemeClr val="bg1"/>
                </a:solidFill>
              </a:rPr>
              <a:t>Feasible this quarter and next can still mean doomed: only the viability kernel certifies the horizon</a:t>
            </a:r>
            <a:endParaRPr lang="en-US" sz="1800" dirty="0"/>
          </a:p>
          <a:p>
            <a:pPr marL="228600" indent="-228600">
              <a:spcAft>
                <a:spcPts val="800"/>
              </a:spcAft>
              <a:buSzPct val="100000"/>
              <a:buChar char="•"/>
            </a:pPr>
            <a:r>
              <a:rPr lang="en-US" sz="1800" dirty="0">
                <a:solidFill>
                  <a:schemeClr val="bg1"/>
                </a:solidFill>
              </a:rPr>
              <a:t>Chapter 15 then formulates the General Enterprise Optimization Problem on the analyzed object</a:t>
            </a:r>
            <a:endParaRPr lang="en-US" sz="1800" dirty="0"/>
          </a:p>
        </p:txBody>
      </p:sp>
      <p:sp>
        <p:nvSpPr>
          <p:cNvPr id="25" name="Slide Number Placeholder 0"/>
          <p:cNvSpPr>
            <a:spLocks noGrp="1"/>
          </p:cNvSpPr>
          <p:nvPr>
            <p:ph type="sldNum" sz="quarter" idx="4294967295"/>
          </p:nvPr>
        </p:nvSpPr>
        <p:spPr>
          <a:xfrm>
            <a:off x="11094415" y="6382512"/>
            <a:ext cx="548640" cy="237744"/>
          </a:xfrm>
          <a:prstGeom prst="rect">
            <a:avLst/>
          </a:prstGeom>
          <a:extLst>
            <a:ext uri="{C572A759-6A51-4108-AA02-DFA0A04FC94B}">
              <ma14:wrappingTextBoxFlag xmlns:ma14="http://schemas.microsoft.com/office/mac/drawingml/2011/main" val="0"/>
            </a:ext>
          </a:extLst>
        </p:spPr>
        <p:txBody>
          <a:bodyPr/>
          <a:lstStyle>
            <a:lvl1pPr>
              <a:defRPr sz="1000">
                <a:solidFill>
                  <a:srgbClr val="C4CBD8"/>
                </a:solidFill>
              </a:defRPr>
            </a:lvl1pPr>
          </a:lstStyle>
          <a:p>
            <a:pPr algn="r"/>
            <a:fld id="{F7021451-1387-4CA6-816F-3879F97B5CBC}" type="slidenum">
              <a:rPr b="0" lang="en-US"/>
              <a:t>24</a:t>
            </a:fld>
            <a:endParaRPr lang="en-US"/>
          </a:p>
        </p:txBody>
      </p:sp>
    </p:spTree>
  </p:cSld>
  <p:clrMapOvr>
    <a:masterClrMapping/>
  </p:clrMapOvr>
</p:sld>
</file>

<file path=ppt/theme/theme1.xml><?xml version="1.0" encoding="utf-8"?>
<a:theme xmlns:a="http://schemas.openxmlformats.org/drawingml/2006/main" name="Dynamic Corporate Transformation">
  <a:themeElements>
    <a:clrScheme name="Dynamic Corporate Transformation">
      <a:dk1>
        <a:srgbClr val="0F1E3D"/>
      </a:dk1>
      <a:lt1>
        <a:srgbClr val="FFFFFF"/>
      </a:lt1>
      <a:dk2>
        <a:srgbClr val="5A6B82"/>
      </a:dk2>
      <a:lt2>
        <a:srgbClr val="F7F4ED"/>
      </a:lt2>
      <a:accent1>
        <a:srgbClr val="B4884A"/>
      </a:accent1>
      <a:accent2>
        <a:srgbClr val="2F6F6B"/>
      </a:accent2>
      <a:accent3>
        <a:srgbClr val="8A6A33"/>
      </a:accent3>
      <a:accent4>
        <a:srgbClr val="C4CBD8"/>
      </a:accent4>
      <a:accent5>
        <a:srgbClr val="1F4FD8"/>
      </a:accent5>
      <a:accent6>
        <a:srgbClr val="16263F"/>
      </a:accent6>
      <a:hlink>
        <a:srgbClr val="1F4FD8"/>
      </a:hlink>
      <a:folHlink>
        <a:srgbClr val="5A6B82"/>
      </a:folHlink>
    </a:clrScheme>
    <a:fontScheme name="Dynamic Corporate Transformation">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24</Slides>
  <Notes>24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24</vt:i4>
      </vt:variant>
    </vt:vector>
  </HeadingPairs>
  <TitlesOfParts>
    <vt:vector size="2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vector>
  </TitlesOfParts>
  <Company>Dynamic Corporate Transformation</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Dynamic Corporate Transformation, Volume I, Chapter 13: Unified Enterprise Transformation Architecture</dc:title>
  <dc:subject>Slides for Volume I, Chapter 13 (V56)</dc:subject>
  <dc:creator>Samir Asaf</dc:creator>
  <cp:lastModifiedBy>Samir Asaf</cp:lastModifiedBy>
  <cp:revision>1</cp:revision>
  <dcterms:created xsi:type="dcterms:W3CDTF">2026-10-05T09:46:52Z</dcterms:created>
  <dcterms:modified xsi:type="dcterms:W3CDTF">2026-10-05T09:46:52Z</dcterms:modified>
</cp:coreProperties>
</file>