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64ace50-1941-fc86-8f68-0309722a959e}">
          <p14:sldIdLst>
            <p14:sldId id="256"/>
            <p14:sldId id="257"/>
            <p14:sldId id="258"/>
            <p14:sldId id="259"/>
          </p14:sldIdLst>
        </p14:section>
        <p14:section name="14.1 Why Analyze Before Optimizing" id="{611a5053-cbb8-985b-b5f4-873da8e36616}">
          <p14:sldIdLst>
            <p14:sldId id="260"/>
          </p14:sldIdLst>
        </p14:section>
        <p14:section name="14.2 The Analytical Setting" id="{abef1b84-9000-c237-3566-6324b215c504}">
          <p14:sldIdLst>
            <p14:sldId id="261"/>
          </p14:sldIdLst>
        </p14:section>
        <p14:section name="14.3 Existence and Uniqueness" id="{8e1857b5-18ab-e9a3-2b5b-4a05c3f19168}">
          <p14:sldIdLst>
            <p14:sldId id="262"/>
          </p14:sldIdLst>
        </p14:section>
        <p14:section name="14.4 Enterprise Stability" id="{d7021a19-8071-8cfa-3f7e-be20959b9852}">
          <p14:sldIdLst>
            <p14:sldId id="263"/>
            <p14:sldId id="264"/>
          </p14:sldIdLst>
        </p14:section>
        <p14:section name="14.5 Sensitivity and Perturbation" id="{f61a07ec-4ad8-7d54-7332-43f0fa46de60}">
          <p14:sldIdLst>
            <p14:sldId id="265"/>
            <p14:sldId id="266"/>
          </p14:sldIdLst>
        </p14:section>
        <p14:section name="14.6 Feasibility and Viability" id="{d1cd34f6-ad83-8f58-01be-f0548a8c6224}">
          <p14:sldIdLst>
            <p14:sldId id="267"/>
            <p14:sldId id="268"/>
          </p14:sldIdLst>
        </p14:section>
        <p14:section name="14.7 Structural Consistency and Invariants" id="{03c5f437-4bf1-70da-7fe6-6391716fdfbb}">
          <p14:sldIdLst>
            <p14:sldId id="269"/>
          </p14:sldIdLst>
        </p14:section>
        <p14:section name="14.8 Convergence" id="{d125a4e8-1313-7497-afd8-ea14058c60d3}">
          <p14:sldIdLst>
            <p14:sldId id="270"/>
          </p14:sldIdLst>
        </p14:section>
        <p14:section name="14.9 From Analysis to Optimization" id="{d3325748-efaa-ac36-4d0a-ce8c2119a669}">
          <p14:sldIdLst>
            <p14:sldId id="271"/>
          </p14:sldIdLst>
        </p14:section>
        <p14:section name="Worked Example 14.1" id="{dda1d388-3c54-bf7a-c98a-22e8254d44a1}">
          <p14:sldIdLst>
            <p14:sldId id="272"/>
            <p14:sldId id="273"/>
            <p14:sldId id="274"/>
            <p14:sldId id="275"/>
          </p14:sldIdLst>
        </p14:section>
        <p14:section name="AXIOM Lab 1.14" id="{43340a28-2f69-656c-b811-cfbef507cc96}">
          <p14:sldIdLst>
            <p14:sldId id="276"/>
          </p14:sldIdLst>
        </p14:section>
        <p14:section name="Close" id="{aa30229c-a53f-4064-f4a6-d5ac64d4bd0c}">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14. Chapter 13 built the unified object; this chapter asks what it does, and puts to it the questions an investment committee puts to any forecast (the chapter's abstract and Section 14.1).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Pauli's remark on a young physicist's paper, as recalled by Rudolf Peierls (1960). A model that is not well posed is not even wrong: before a company optimizes its transformation, it should know whether the model it optimizes can bear the weight (the chapter's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14.2: Definitions 14.1-14.3, Table 14.1 and Proposition 14.1. Section 14.3: Definition 14.4, Proposition 14.2 and Theorems 14.1-14.2. Section 14.4: Definition 14.5, Theorem 14.3 and Table 14.2. Section 14.5: Definitions 14.6-14.7, Propositions 14.3-14.4, Theorem 14.4 and Figure 14.1. Section 14.6: Definition 14.8, Theorem 14.5 and Figure 14.2. Section 14.7: Definitions 14.9-14.10, Theorem 14.6, Proposition 14.5 and Theorem 14.7. Section 14.8: Theorem 14.8. Section 14.9: Definitions 14.11-14.12 and Table 14.3. Worked Example 14.1: Table 14.4 and Figure 14.3. AXIOM Lab 1.14: module AXIOM-14, five steps. Proofs of Theorems 14.3-14.5 are in Appendix 14.A; the others in Online Appendix 14.B.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14.1. A declared dynamics can trap itself against its own constraints, a stable-looking company can be one coupling away from divergence, and a plan feasible in every period can be infeasible as a trajectory. The method is inheritance under declared assumptions; no result presupposes an objective function, which lets Chapter 15 and Volume II rest on one common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14.1-14.3, Table 14.1 and Proposition 14.1 (Online Appendix 14.B). The register's ceilings read as a bound on the true linearized dynamics, |A| &lt;= M: the declared-gain certificate (Equation 14.3). A6 is withheld from the default panel because it is the assumption companies most often make and least often have: that operating admissibly keeps them admissible.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Theorems 14.1 and 14.2; formal statements and proofs in Online Appendix 14.B. The ceiling degrades as L approaches 1, a first sighting of the conditioning theme of Section 14.5. Part (iv) is why Chapter 4's audit trail cannot be replaced by a snapshot, however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14.3; formal statement and proof in Appendix 14.A. Part (ii) closes a loop: the coupling register began as a governance document, became a propagation calculator in Chapter 13, and is now a stability guarantee, provided the ceilings are audited against the measured dynamics (Theorem 14.6(ii)). All parts but (ii) are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14.2 and Theorem 14.3(iii)-(iv). The notebook and workbook run all five tests on the five registers of Table 14.4: contraction fails for the trimmed register although its radius meets the board's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14.4 (proof in Appendix 14.A), Definitions 14.6-14.7 and Propositions 14.3-14.4. The multiplier of Theorems 12.5 and 13.3 returns as a derivative. Definition 14.7 classifies perturbations: state, parametric and structural propagate by different mathematics (dynamics, sensitivity, re-analysis).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14.1, Theorems 14.3(i) and 14.4(iii), and LOS Guidance 14.3. The gap that slows recovery amplifies every recalibration; treating the recovery clock and the amplification as two problems is the common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14.5; formal statement and proof in Appendix 14.A. V_j is the set of states that can stay admissible for j periods; a trajectory can stay admissible forever if and only if it starts in the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14.6, Figure 14.2 and Online Appendix 14.B.2. The kernel's edge with cuts of b is r(r + b)/(2b) where the burn r is a multiple of b; cuts of $12.5m would need $125m. The digital program of Chapters 12-13 has the same shape: the cash above the floor must cover the spending still to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Theorems 14.6 and 14.7, Definitions 14.9-14.10 and Proposition 14.5; formal statements and proofs in Online Appendix 14.B. Time scales: analyzing slow stocks against equilibrated fast flows is a cited license (singular perturbations), not a theorem of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14.8; formal statement and proof in Online Appendix 14.B. Mixed-sign couplings, such as competitive channels and risk feedbacks, break the bracketing license, so it is checked per declaration.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14.9, Definitions 14.11-14.12 and Table 14.3. A small, dense system near its edge resists every instrument at once; the analytically kind company chose its architecture with the analyst, and Chapter 15's optimizer,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14.1, the situation. The register is Chapter 12's (Section 12.7): no unit passes on more than 40 percent of a quarter's deviation to a linked unit in the next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14.1, Steps 1-2, and Online Appendix 14.B.3. Step 1's split: $19m at Digital, $11m each at engineering and treasury, $9m at Industrial Systems. Step 2 is Theorem 14.3(iii) at Meridian, the moving version of Chapter 13's cascade gap: the new loops run through engineering and through treasury.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14.1, Steps 3-5, and Online Appendix 14.B.1: rho &lt;= r* exactly when h r* + 2(e^2 + t^2) &lt;= r*^2. Exactly: 0.080, 0.159 and 0.304, a trim of 24 percent. Ring-fencing lets treasury absorb funding shocks with the standby line and the phased build of Chapter 8 rather than pass them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14.4 and what the board should take away: at full strength the synergy costs a quarter of every existing coupling, or most of treasury's. For discussion: which repair would you choose, and who should own it? Ring-fencing concentrates the cost in treasury and damps Digital's funding in good quarters; trimming spreads it. What would you monitor to know that the trims have actually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1.14. What to look for: a register with spectral radius below 1 certifies the core, and one new link can undo it (Theorem 14.3(ii)-(iii)); the multipliers grow like 1/(1 - rho) (Theorem 14.4(iii)); the corridor is feasible every quarter until it is not, and only the kernel sees it in advance (Theorem 14.5(iii)-(iv)); the guarantees stand or fall with the audit (Theorem 14.6(ii)). Discussion: which couplings would you audit first? A divisional head says her unit is stable, so the group is: what do you reply? How much runway does the digital program's committed spending need, and who should hold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 The chapter's numbers are computed exactly; the lab's seed 26114 is used only for fresh draws,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14.9's bridge, Chapter 15's opening and Proposition 15.9; the GEOP is Equation 15.1.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14</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14</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14 · WEEK 7</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Mathematical Analysis of the Unified Enterprise Transformation Architecture</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Certify the model before optimizing it: the register is a stability budget, one gap sets recovery and amplification, and only the viability kernel certifies the horizon</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26114 · AXIOM Lab 1.14 (AXIOM-14)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“It is not even wrong.”</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Wolfgang Pauli</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Physics 1945; on a young physicist's paper, as recalled by Rudolf Peierls (1960)</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14.1</a:t>
            </a:r>
            <a:endParaRPr lang="en-US" sz="13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makes a transformation model fit for analysis—a future that exists, is unique, and depends boundedly on its inputs—and who in the company owns each assumption behind it.</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14.2</a:t>
            </a:r>
            <a:endParaRPr lang="en-US" sz="13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Test whether a company settles after shocks, read the coupling register as a stability budget, and explain why stable units can compose an unstable company.</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14.3</a:t>
            </a:r>
            <a:endParaRPr lang="en-US" sz="13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Size how strongly a company responds to a change, direct and knock-on, and explain why the spectral gap governs both recovery speed and amplification.</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14.4</a:t>
            </a:r>
            <a:endParaRPr lang="en-US" sz="13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Distinguish feasible this quarter from viable over the horizon, using the runway trap and the viability kernel, and explain why margin is the price of robust feasibility.</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14.5</a:t>
            </a:r>
            <a:endParaRPr lang="en-US" sz="13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how gain audits, invariants, and convergence certificates turn analysis into governance, and what the optimization problem of Chapter 15 inherits from this chapter.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Nine sections, a worked example and a lab</a:t>
            </a:r>
            <a:endParaRPr lang="en-US" sz="3200" dirty="0"/>
          </a:p>
        </p:txBody>
      </p:sp>
      <p:sp>
        <p:nvSpPr>
          <p:cNvPr id="5" name="Card"/>
          <p:cNvSpPr/>
          <p:nvPr/>
        </p:nvSpPr>
        <p:spPr>
          <a:xfrm>
            <a:off x="548640" y="1691640"/>
            <a:ext cx="1999427" cy="1310640"/>
          </a:xfrm>
          <a:prstGeom prst="roundRect">
            <a:avLst>
              <a:gd name="adj" fmla="val 5581"/>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§14.1</a:t>
            </a:r>
            <a:endParaRPr lang="en-US" sz="1300" dirty="0"/>
          </a:p>
        </p:txBody>
      </p:sp>
      <p:sp>
        <p:nvSpPr>
          <p:cNvPr id="7" name="Card head"/>
          <p:cNvSpPr txBox="1"/>
          <p:nvPr/>
        </p:nvSpPr>
        <p:spPr>
          <a:xfrm>
            <a:off x="731520"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Why Analyze Before Optimizing</a:t>
            </a:r>
            <a:endParaRPr lang="en-US" sz="1300" dirty="0"/>
          </a:p>
        </p:txBody>
      </p:sp>
      <p:sp>
        <p:nvSpPr>
          <p:cNvPr id="8" name="Card"/>
          <p:cNvSpPr/>
          <p:nvPr/>
        </p:nvSpPr>
        <p:spPr>
          <a:xfrm>
            <a:off x="2822387" y="1691640"/>
            <a:ext cx="1999427" cy="1310640"/>
          </a:xfrm>
          <a:prstGeom prst="roundRect">
            <a:avLst>
              <a:gd name="adj" fmla="val 5581"/>
            </a:avLst>
          </a:prstGeom>
          <a:solidFill>
            <a:schemeClr val="bg2"/>
          </a:solidFill>
          <a:ln w="9525">
            <a:solidFill>
              <a:srgbClr val="C4CBD8"/>
            </a:solidFill>
            <a:prstDash val="solid"/>
          </a:ln>
        </p:spPr>
      </p:sp>
      <p:sp>
        <p:nvSpPr>
          <p:cNvPr id="9"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§14.2</a:t>
            </a:r>
            <a:endParaRPr lang="en-US" sz="1300" dirty="0"/>
          </a:p>
        </p:txBody>
      </p:sp>
      <p:sp>
        <p:nvSpPr>
          <p:cNvPr id="10" name="Card head"/>
          <p:cNvSpPr txBox="1"/>
          <p:nvPr/>
        </p:nvSpPr>
        <p:spPr>
          <a:xfrm>
            <a:off x="3005267"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The Analytical Setting</a:t>
            </a:r>
            <a:endParaRPr lang="en-US" sz="1300" dirty="0"/>
          </a:p>
        </p:txBody>
      </p:sp>
      <p:sp>
        <p:nvSpPr>
          <p:cNvPr id="11" name="Card"/>
          <p:cNvSpPr/>
          <p:nvPr/>
        </p:nvSpPr>
        <p:spPr>
          <a:xfrm>
            <a:off x="5096134" y="1691640"/>
            <a:ext cx="1999427" cy="1310640"/>
          </a:xfrm>
          <a:prstGeom prst="roundRect">
            <a:avLst>
              <a:gd name="adj" fmla="val 5581"/>
            </a:avLst>
          </a:prstGeom>
          <a:solidFill>
            <a:schemeClr val="bg2"/>
          </a:solidFill>
          <a:ln w="9525">
            <a:solidFill>
              <a:srgbClr val="C4CBD8"/>
            </a:solidFill>
            <a:prstDash val="solid"/>
          </a:ln>
        </p:spPr>
      </p:sp>
      <p:sp>
        <p:nvSpPr>
          <p:cNvPr id="12"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§14.3</a:t>
            </a:r>
            <a:endParaRPr lang="en-US" sz="1300" dirty="0"/>
          </a:p>
        </p:txBody>
      </p:sp>
      <p:sp>
        <p:nvSpPr>
          <p:cNvPr id="13" name="Card head"/>
          <p:cNvSpPr txBox="1"/>
          <p:nvPr/>
        </p:nvSpPr>
        <p:spPr>
          <a:xfrm>
            <a:off x="5279014"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Existence and Uniqueness</a:t>
            </a:r>
            <a:endParaRPr lang="en-US" sz="1300" dirty="0"/>
          </a:p>
        </p:txBody>
      </p:sp>
      <p:sp>
        <p:nvSpPr>
          <p:cNvPr id="14" name="Card"/>
          <p:cNvSpPr/>
          <p:nvPr/>
        </p:nvSpPr>
        <p:spPr>
          <a:xfrm>
            <a:off x="7369881" y="1691640"/>
            <a:ext cx="1999427" cy="1310640"/>
          </a:xfrm>
          <a:prstGeom prst="roundRect">
            <a:avLst>
              <a:gd name="adj" fmla="val 5581"/>
            </a:avLst>
          </a:prstGeom>
          <a:solidFill>
            <a:schemeClr val="bg2"/>
          </a:solidFill>
          <a:ln w="9525">
            <a:solidFill>
              <a:srgbClr val="C4CBD8"/>
            </a:solidFill>
            <a:prstDash val="solid"/>
          </a:ln>
        </p:spPr>
      </p:sp>
      <p:sp>
        <p:nvSpPr>
          <p:cNvPr id="15"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§14.4</a:t>
            </a:r>
            <a:endParaRPr lang="en-US" sz="1300" dirty="0"/>
          </a:p>
        </p:txBody>
      </p:sp>
      <p:sp>
        <p:nvSpPr>
          <p:cNvPr id="16" name="Card head"/>
          <p:cNvSpPr txBox="1"/>
          <p:nvPr/>
        </p:nvSpPr>
        <p:spPr>
          <a:xfrm>
            <a:off x="7552761"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Enterprise Stability</a:t>
            </a:r>
            <a:endParaRPr lang="en-US" sz="1300" dirty="0"/>
          </a:p>
        </p:txBody>
      </p:sp>
      <p:sp>
        <p:nvSpPr>
          <p:cNvPr id="17" name="Card"/>
          <p:cNvSpPr/>
          <p:nvPr/>
        </p:nvSpPr>
        <p:spPr>
          <a:xfrm>
            <a:off x="9643628" y="1691640"/>
            <a:ext cx="1999427" cy="1310640"/>
          </a:xfrm>
          <a:prstGeom prst="roundRect">
            <a:avLst>
              <a:gd name="adj" fmla="val 5581"/>
            </a:avLst>
          </a:prstGeom>
          <a:solidFill>
            <a:schemeClr val="bg2"/>
          </a:solidFill>
          <a:ln w="9525">
            <a:solidFill>
              <a:srgbClr val="C4CBD8"/>
            </a:solidFill>
            <a:prstDash val="solid"/>
          </a:ln>
        </p:spPr>
      </p:sp>
      <p:sp>
        <p:nvSpPr>
          <p:cNvPr id="18"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§14.5</a:t>
            </a:r>
            <a:endParaRPr lang="en-US" sz="1300" dirty="0"/>
          </a:p>
        </p:txBody>
      </p:sp>
      <p:sp>
        <p:nvSpPr>
          <p:cNvPr id="19" name="Card head"/>
          <p:cNvSpPr txBox="1"/>
          <p:nvPr/>
        </p:nvSpPr>
        <p:spPr>
          <a:xfrm>
            <a:off x="9826508" y="214884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Sensitivity and Perturbation</a:t>
            </a:r>
            <a:endParaRPr lang="en-US" sz="1300" dirty="0"/>
          </a:p>
        </p:txBody>
      </p:sp>
      <p:sp>
        <p:nvSpPr>
          <p:cNvPr id="20" name="Card"/>
          <p:cNvSpPr/>
          <p:nvPr/>
        </p:nvSpPr>
        <p:spPr>
          <a:xfrm>
            <a:off x="548640" y="3276600"/>
            <a:ext cx="1999427" cy="1310640"/>
          </a:xfrm>
          <a:prstGeom prst="roundRect">
            <a:avLst>
              <a:gd name="adj" fmla="val 5581"/>
            </a:avLst>
          </a:prstGeom>
          <a:solidFill>
            <a:schemeClr val="bg2"/>
          </a:solidFill>
          <a:ln w="9525">
            <a:solidFill>
              <a:srgbClr val="C4CBD8"/>
            </a:solidFill>
            <a:prstDash val="solid"/>
          </a:ln>
        </p:spPr>
      </p:sp>
      <p:sp>
        <p:nvSpPr>
          <p:cNvPr id="21" name="Card label"/>
          <p:cNvSpPr txBox="1"/>
          <p:nvPr/>
        </p:nvSpPr>
        <p:spPr>
          <a:xfrm>
            <a:off x="731520"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§14.6</a:t>
            </a:r>
            <a:endParaRPr lang="en-US" sz="1300" dirty="0"/>
          </a:p>
        </p:txBody>
      </p:sp>
      <p:sp>
        <p:nvSpPr>
          <p:cNvPr id="22" name="Card head"/>
          <p:cNvSpPr txBox="1"/>
          <p:nvPr/>
        </p:nvSpPr>
        <p:spPr>
          <a:xfrm>
            <a:off x="731520" y="373380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Feasibility and Viability</a:t>
            </a:r>
            <a:endParaRPr lang="en-US" sz="1300" dirty="0"/>
          </a:p>
        </p:txBody>
      </p:sp>
      <p:sp>
        <p:nvSpPr>
          <p:cNvPr id="23" name="Card"/>
          <p:cNvSpPr/>
          <p:nvPr/>
        </p:nvSpPr>
        <p:spPr>
          <a:xfrm>
            <a:off x="2822387" y="3276600"/>
            <a:ext cx="1999427" cy="1310640"/>
          </a:xfrm>
          <a:prstGeom prst="roundRect">
            <a:avLst>
              <a:gd name="adj" fmla="val 5581"/>
            </a:avLst>
          </a:prstGeom>
          <a:solidFill>
            <a:schemeClr val="bg2"/>
          </a:solidFill>
          <a:ln w="9525">
            <a:solidFill>
              <a:srgbClr val="C4CBD8"/>
            </a:solidFill>
            <a:prstDash val="solid"/>
          </a:ln>
        </p:spPr>
      </p:sp>
      <p:sp>
        <p:nvSpPr>
          <p:cNvPr id="24" name="Card label"/>
          <p:cNvSpPr txBox="1"/>
          <p:nvPr/>
        </p:nvSpPr>
        <p:spPr>
          <a:xfrm>
            <a:off x="3005267"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§14.7</a:t>
            </a:r>
            <a:endParaRPr lang="en-US" sz="1300" dirty="0"/>
          </a:p>
        </p:txBody>
      </p:sp>
      <p:sp>
        <p:nvSpPr>
          <p:cNvPr id="25" name="Card head"/>
          <p:cNvSpPr txBox="1"/>
          <p:nvPr/>
        </p:nvSpPr>
        <p:spPr>
          <a:xfrm>
            <a:off x="3005267" y="373380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Structural Consistency and Invariants</a:t>
            </a:r>
            <a:endParaRPr lang="en-US" sz="1300" dirty="0"/>
          </a:p>
        </p:txBody>
      </p:sp>
      <p:sp>
        <p:nvSpPr>
          <p:cNvPr id="26" name="Card"/>
          <p:cNvSpPr/>
          <p:nvPr/>
        </p:nvSpPr>
        <p:spPr>
          <a:xfrm>
            <a:off x="5096134" y="3276600"/>
            <a:ext cx="1999427" cy="1310640"/>
          </a:xfrm>
          <a:prstGeom prst="roundRect">
            <a:avLst>
              <a:gd name="adj" fmla="val 5581"/>
            </a:avLst>
          </a:prstGeom>
          <a:solidFill>
            <a:schemeClr val="bg2"/>
          </a:solidFill>
          <a:ln w="9525">
            <a:solidFill>
              <a:srgbClr val="C4CBD8"/>
            </a:solidFill>
            <a:prstDash val="solid"/>
          </a:ln>
        </p:spPr>
      </p:sp>
      <p:sp>
        <p:nvSpPr>
          <p:cNvPr id="27" name="Card label"/>
          <p:cNvSpPr txBox="1"/>
          <p:nvPr/>
        </p:nvSpPr>
        <p:spPr>
          <a:xfrm>
            <a:off x="5279014"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§14.8</a:t>
            </a:r>
            <a:endParaRPr lang="en-US" sz="1300" dirty="0"/>
          </a:p>
        </p:txBody>
      </p:sp>
      <p:sp>
        <p:nvSpPr>
          <p:cNvPr id="28" name="Card head"/>
          <p:cNvSpPr txBox="1"/>
          <p:nvPr/>
        </p:nvSpPr>
        <p:spPr>
          <a:xfrm>
            <a:off x="5279014" y="373380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Convergence</a:t>
            </a:r>
            <a:endParaRPr lang="en-US" sz="1300" dirty="0"/>
          </a:p>
        </p:txBody>
      </p:sp>
      <p:sp>
        <p:nvSpPr>
          <p:cNvPr id="29" name="Card"/>
          <p:cNvSpPr/>
          <p:nvPr/>
        </p:nvSpPr>
        <p:spPr>
          <a:xfrm>
            <a:off x="7369881" y="3276600"/>
            <a:ext cx="1999427" cy="1310640"/>
          </a:xfrm>
          <a:prstGeom prst="roundRect">
            <a:avLst>
              <a:gd name="adj" fmla="val 5581"/>
            </a:avLst>
          </a:prstGeom>
          <a:solidFill>
            <a:schemeClr val="bg2"/>
          </a:solidFill>
          <a:ln w="9525">
            <a:solidFill>
              <a:srgbClr val="C4CBD8"/>
            </a:solidFill>
            <a:prstDash val="solid"/>
          </a:ln>
        </p:spPr>
      </p:sp>
      <p:sp>
        <p:nvSpPr>
          <p:cNvPr id="30" name="Card label"/>
          <p:cNvSpPr txBox="1"/>
          <p:nvPr/>
        </p:nvSpPr>
        <p:spPr>
          <a:xfrm>
            <a:off x="7552761"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§14.9</a:t>
            </a:r>
            <a:endParaRPr lang="en-US" sz="1300" dirty="0"/>
          </a:p>
        </p:txBody>
      </p:sp>
      <p:sp>
        <p:nvSpPr>
          <p:cNvPr id="31" name="Card head"/>
          <p:cNvSpPr txBox="1"/>
          <p:nvPr/>
        </p:nvSpPr>
        <p:spPr>
          <a:xfrm>
            <a:off x="7552761" y="373380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From Analysis to Optimization</a:t>
            </a:r>
            <a:endParaRPr lang="en-US" sz="1300" dirty="0"/>
          </a:p>
        </p:txBody>
      </p:sp>
      <p:sp>
        <p:nvSpPr>
          <p:cNvPr id="32" name="Card"/>
          <p:cNvSpPr/>
          <p:nvPr/>
        </p:nvSpPr>
        <p:spPr>
          <a:xfrm>
            <a:off x="9643628" y="3276600"/>
            <a:ext cx="1999427" cy="1310640"/>
          </a:xfrm>
          <a:prstGeom prst="roundRect">
            <a:avLst>
              <a:gd name="adj" fmla="val 5581"/>
            </a:avLst>
          </a:prstGeom>
          <a:solidFill>
            <a:schemeClr val="tx1"/>
          </a:solidFill>
          <a:ln w="9525">
            <a:solidFill>
              <a:srgbClr val="0F1E3D"/>
            </a:solidFill>
            <a:prstDash val="solid"/>
          </a:ln>
        </p:spPr>
      </p:sp>
      <p:sp>
        <p:nvSpPr>
          <p:cNvPr id="33" name="Card label"/>
          <p:cNvSpPr txBox="1"/>
          <p:nvPr/>
        </p:nvSpPr>
        <p:spPr>
          <a:xfrm>
            <a:off x="9826508" y="340461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14.1</a:t>
            </a:r>
            <a:endParaRPr lang="en-US" sz="1300" dirty="0"/>
          </a:p>
        </p:txBody>
      </p:sp>
      <p:sp>
        <p:nvSpPr>
          <p:cNvPr id="34" name="Card head"/>
          <p:cNvSpPr txBox="1"/>
          <p:nvPr/>
        </p:nvSpPr>
        <p:spPr>
          <a:xfrm>
            <a:off x="9826508" y="3733800"/>
            <a:ext cx="1633667" cy="652272"/>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Can Meridian Afford the New Link?</a:t>
            </a:r>
            <a:endParaRPr lang="en-US" sz="1300" dirty="0"/>
          </a:p>
        </p:txBody>
      </p:sp>
      <p:sp>
        <p:nvSpPr>
          <p:cNvPr id="35" name="Card"/>
          <p:cNvSpPr/>
          <p:nvPr/>
        </p:nvSpPr>
        <p:spPr>
          <a:xfrm>
            <a:off x="548640" y="4861560"/>
            <a:ext cx="1999427" cy="1310640"/>
          </a:xfrm>
          <a:prstGeom prst="roundRect">
            <a:avLst>
              <a:gd name="adj" fmla="val 5581"/>
            </a:avLst>
          </a:prstGeom>
          <a:solidFill>
            <a:schemeClr val="bg2"/>
          </a:solidFill>
          <a:ln w="9525">
            <a:solidFill>
              <a:srgbClr val="C4CBD8"/>
            </a:solidFill>
            <a:prstDash val="solid"/>
          </a:ln>
        </p:spPr>
      </p:sp>
      <p:sp>
        <p:nvSpPr>
          <p:cNvPr id="36" name="Card label"/>
          <p:cNvSpPr txBox="1"/>
          <p:nvPr/>
        </p:nvSpPr>
        <p:spPr>
          <a:xfrm>
            <a:off x="731520" y="498957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1.14</a:t>
            </a:r>
            <a:endParaRPr lang="en-US" sz="1300" dirty="0"/>
          </a:p>
        </p:txBody>
      </p:sp>
      <p:sp>
        <p:nvSpPr>
          <p:cNvPr id="37" name="Card head"/>
          <p:cNvSpPr txBox="1"/>
          <p:nvPr/>
        </p:nvSpPr>
        <p:spPr>
          <a:xfrm>
            <a:off x="731520" y="5318760"/>
            <a:ext cx="1633667" cy="65227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How Close to the Edge Is Meridian?</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§14.1 · WHY ANALYZE BEFORE OPTIMIZING</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Eight questions, eight theorems</a:t>
            </a:r>
            <a:endParaRPr lang="en-US" sz="3200" dirty="0"/>
          </a:p>
        </p:txBody>
      </p:sp>
      <p:sp>
        <p:nvSpPr>
          <p:cNvPr id="5" name="Card"/>
          <p:cNvSpPr/>
          <p:nvPr/>
        </p:nvSpPr>
        <p:spPr>
          <a:xfrm>
            <a:off x="548640" y="1691640"/>
            <a:ext cx="2567864" cy="1783080"/>
          </a:xfrm>
          <a:prstGeom prst="roundRect">
            <a:avLst>
              <a:gd name="adj" fmla="val 4103"/>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Existence</a:t>
            </a:r>
            <a:endParaRPr lang="en-US" sz="1300" dirty="0"/>
          </a:p>
        </p:txBody>
      </p:sp>
      <p:sp>
        <p:nvSpPr>
          <p:cNvPr id="7" name="Card head"/>
          <p:cNvSpPr txBox="1"/>
          <p:nvPr/>
        </p:nvSpPr>
        <p:spPr>
          <a:xfrm>
            <a:off x="731520" y="2148840"/>
            <a:ext cx="2202104" cy="83210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Does the plan have a future in the model?</a:t>
            </a:r>
            <a:endParaRPr lang="en-US" sz="1600" dirty="0"/>
          </a:p>
        </p:txBody>
      </p:sp>
      <p:sp>
        <p:nvSpPr>
          <p:cNvPr id="8" name="Card text"/>
          <p:cNvSpPr txBox="1"/>
          <p:nvPr/>
        </p:nvSpPr>
        <p:spPr>
          <a:xfrm>
            <a:off x="731520" y="3054096"/>
            <a:ext cx="2202104" cy="292608"/>
          </a:xfrm>
          <a:prstGeom prst="rect">
            <a:avLst/>
          </a:prstGeom>
          <a:noFill/>
          <a:ln/>
        </p:spPr>
        <p:txBody>
          <a:bodyPr wrap="square" lIns="0" tIns="0" rIns="0" bIns="0" rtlCol="0" anchor="t"/>
          <a:lstStyle/>
          <a:p>
            <a:pPr indent="0" marL="0">
              <a:buNone/>
            </a:pPr>
            <a:r>
              <a:rPr lang="en-US" sz="1300" dirty="0">
                <a:solidFill>
                  <a:schemeClr val="tx2"/>
                </a:solidFill>
              </a:rPr>
              <a:t>Theorem 14.1</a:t>
            </a:r>
            <a:endParaRPr lang="en-US" sz="1300" dirty="0"/>
          </a:p>
        </p:txBody>
      </p:sp>
      <p:sp>
        <p:nvSpPr>
          <p:cNvPr id="9" name="Card"/>
          <p:cNvSpPr/>
          <p:nvPr/>
        </p:nvSpPr>
        <p:spPr>
          <a:xfrm>
            <a:off x="3390824" y="1691640"/>
            <a:ext cx="2567864" cy="1783080"/>
          </a:xfrm>
          <a:prstGeom prst="roundRect">
            <a:avLst>
              <a:gd name="adj" fmla="val 4103"/>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Uniqueness</a:t>
            </a:r>
            <a:endParaRPr lang="en-US" sz="1300" dirty="0"/>
          </a:p>
        </p:txBody>
      </p:sp>
      <p:sp>
        <p:nvSpPr>
          <p:cNvPr id="11" name="Card head"/>
          <p:cNvSpPr txBox="1"/>
          <p:nvPr/>
        </p:nvSpPr>
        <p:spPr>
          <a:xfrm>
            <a:off x="3573704" y="2148840"/>
            <a:ext cx="2202104" cy="83210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Only one?</a:t>
            </a:r>
            <a:endParaRPr lang="en-US" sz="1600" dirty="0"/>
          </a:p>
        </p:txBody>
      </p:sp>
      <p:sp>
        <p:nvSpPr>
          <p:cNvPr id="12" name="Card text"/>
          <p:cNvSpPr txBox="1"/>
          <p:nvPr/>
        </p:nvSpPr>
        <p:spPr>
          <a:xfrm>
            <a:off x="3573704" y="3054096"/>
            <a:ext cx="2202104" cy="292608"/>
          </a:xfrm>
          <a:prstGeom prst="rect">
            <a:avLst/>
          </a:prstGeom>
          <a:noFill/>
          <a:ln/>
        </p:spPr>
        <p:txBody>
          <a:bodyPr wrap="square" lIns="0" tIns="0" rIns="0" bIns="0" rtlCol="0" anchor="t"/>
          <a:lstStyle/>
          <a:p>
            <a:pPr indent="0" marL="0">
              <a:buNone/>
            </a:pPr>
            <a:r>
              <a:rPr lang="en-US" sz="1300" dirty="0">
                <a:solidFill>
                  <a:schemeClr val="tx2"/>
                </a:solidFill>
              </a:rPr>
              <a:t>Theorem 14.2</a:t>
            </a:r>
            <a:endParaRPr lang="en-US" sz="1300" dirty="0"/>
          </a:p>
        </p:txBody>
      </p:sp>
      <p:sp>
        <p:nvSpPr>
          <p:cNvPr id="13" name="Card"/>
          <p:cNvSpPr/>
          <p:nvPr/>
        </p:nvSpPr>
        <p:spPr>
          <a:xfrm>
            <a:off x="6233008" y="1691640"/>
            <a:ext cx="2567864" cy="1783080"/>
          </a:xfrm>
          <a:prstGeom prst="roundRect">
            <a:avLst>
              <a:gd name="adj" fmla="val 4103"/>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Stability</a:t>
            </a:r>
            <a:endParaRPr lang="en-US" sz="1300" dirty="0"/>
          </a:p>
        </p:txBody>
      </p:sp>
      <p:sp>
        <p:nvSpPr>
          <p:cNvPr id="15" name="Card head"/>
          <p:cNvSpPr txBox="1"/>
          <p:nvPr/>
        </p:nvSpPr>
        <p:spPr>
          <a:xfrm>
            <a:off x="6415888" y="2148840"/>
            <a:ext cx="2202104" cy="83210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Does the company settle after a shock, and how fast?</a:t>
            </a:r>
            <a:endParaRPr lang="en-US" sz="1600" dirty="0"/>
          </a:p>
        </p:txBody>
      </p:sp>
      <p:sp>
        <p:nvSpPr>
          <p:cNvPr id="16" name="Card text"/>
          <p:cNvSpPr txBox="1"/>
          <p:nvPr/>
        </p:nvSpPr>
        <p:spPr>
          <a:xfrm>
            <a:off x="6415888" y="3054096"/>
            <a:ext cx="2202104" cy="292608"/>
          </a:xfrm>
          <a:prstGeom prst="rect">
            <a:avLst/>
          </a:prstGeom>
          <a:noFill/>
          <a:ln/>
        </p:spPr>
        <p:txBody>
          <a:bodyPr wrap="square" lIns="0" tIns="0" rIns="0" bIns="0" rtlCol="0" anchor="t"/>
          <a:lstStyle/>
          <a:p>
            <a:pPr indent="0" marL="0">
              <a:buNone/>
            </a:pPr>
            <a:r>
              <a:rPr lang="en-US" sz="1300" dirty="0">
                <a:solidFill>
                  <a:schemeClr val="tx2"/>
                </a:solidFill>
              </a:rPr>
              <a:t>Theorem 14.3</a:t>
            </a:r>
            <a:endParaRPr lang="en-US" sz="1300" dirty="0"/>
          </a:p>
        </p:txBody>
      </p:sp>
      <p:sp>
        <p:nvSpPr>
          <p:cNvPr id="17" name="Card"/>
          <p:cNvSpPr/>
          <p:nvPr/>
        </p:nvSpPr>
        <p:spPr>
          <a:xfrm>
            <a:off x="9075191" y="1691640"/>
            <a:ext cx="2567864" cy="1783080"/>
          </a:xfrm>
          <a:prstGeom prst="roundRect">
            <a:avLst>
              <a:gd name="adj" fmla="val 4103"/>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Sensitivity</a:t>
            </a:r>
            <a:endParaRPr lang="en-US" sz="1300" dirty="0"/>
          </a:p>
        </p:txBody>
      </p:sp>
      <p:sp>
        <p:nvSpPr>
          <p:cNvPr id="19" name="Card head"/>
          <p:cNvSpPr txBox="1"/>
          <p:nvPr/>
        </p:nvSpPr>
        <p:spPr>
          <a:xfrm>
            <a:off x="9258071" y="2148840"/>
            <a:ext cx="2202104" cy="83210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How strongly does a change in one place move the whole?</a:t>
            </a:r>
            <a:endParaRPr lang="en-US" sz="1600" dirty="0"/>
          </a:p>
        </p:txBody>
      </p:sp>
      <p:sp>
        <p:nvSpPr>
          <p:cNvPr id="20" name="Card text"/>
          <p:cNvSpPr txBox="1"/>
          <p:nvPr/>
        </p:nvSpPr>
        <p:spPr>
          <a:xfrm>
            <a:off x="9258071" y="3054096"/>
            <a:ext cx="2202104" cy="292608"/>
          </a:xfrm>
          <a:prstGeom prst="rect">
            <a:avLst/>
          </a:prstGeom>
          <a:noFill/>
          <a:ln/>
        </p:spPr>
        <p:txBody>
          <a:bodyPr wrap="square" lIns="0" tIns="0" rIns="0" bIns="0" rtlCol="0" anchor="t"/>
          <a:lstStyle/>
          <a:p>
            <a:pPr indent="0" marL="0">
              <a:buNone/>
            </a:pPr>
            <a:r>
              <a:rPr lang="en-US" sz="1300" dirty="0">
                <a:solidFill>
                  <a:schemeClr val="tx2"/>
                </a:solidFill>
              </a:rPr>
              <a:t>Theorem 14.4</a:t>
            </a:r>
            <a:endParaRPr lang="en-US" sz="1300" dirty="0"/>
          </a:p>
        </p:txBody>
      </p:sp>
      <p:sp>
        <p:nvSpPr>
          <p:cNvPr id="21" name="Card"/>
          <p:cNvSpPr/>
          <p:nvPr/>
        </p:nvSpPr>
        <p:spPr>
          <a:xfrm>
            <a:off x="548640" y="3749040"/>
            <a:ext cx="2567864" cy="1783080"/>
          </a:xfrm>
          <a:prstGeom prst="roundRect">
            <a:avLst>
              <a:gd name="adj" fmla="val 4103"/>
            </a:avLst>
          </a:prstGeom>
          <a:solidFill>
            <a:schemeClr val="bg2"/>
          </a:solidFill>
          <a:ln w="9525">
            <a:solidFill>
              <a:srgbClr val="C4CBD8"/>
            </a:solidFill>
            <a:prstDash val="solid"/>
          </a:ln>
        </p:spPr>
      </p:sp>
      <p:sp>
        <p:nvSpPr>
          <p:cNvPr id="22" name="Card label"/>
          <p:cNvSpPr txBox="1"/>
          <p:nvPr/>
        </p:nvSpPr>
        <p:spPr>
          <a:xfrm>
            <a:off x="731520" y="38770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Feasibility and viability</a:t>
            </a:r>
            <a:endParaRPr lang="en-US" sz="1300" dirty="0"/>
          </a:p>
        </p:txBody>
      </p:sp>
      <p:sp>
        <p:nvSpPr>
          <p:cNvPr id="23" name="Card head"/>
          <p:cNvSpPr txBox="1"/>
          <p:nvPr/>
        </p:nvSpPr>
        <p:spPr>
          <a:xfrm>
            <a:off x="731520" y="4206240"/>
            <a:ext cx="2202104" cy="83210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Can it stay within its limits for the whole horizon?</a:t>
            </a:r>
            <a:endParaRPr lang="en-US" sz="1600" dirty="0"/>
          </a:p>
        </p:txBody>
      </p:sp>
      <p:sp>
        <p:nvSpPr>
          <p:cNvPr id="24" name="Card text"/>
          <p:cNvSpPr txBox="1"/>
          <p:nvPr/>
        </p:nvSpPr>
        <p:spPr>
          <a:xfrm>
            <a:off x="731520" y="5111496"/>
            <a:ext cx="2202104" cy="292608"/>
          </a:xfrm>
          <a:prstGeom prst="rect">
            <a:avLst/>
          </a:prstGeom>
          <a:noFill/>
          <a:ln/>
        </p:spPr>
        <p:txBody>
          <a:bodyPr wrap="square" lIns="0" tIns="0" rIns="0" bIns="0" rtlCol="0" anchor="t"/>
          <a:lstStyle/>
          <a:p>
            <a:pPr indent="0" marL="0">
              <a:buNone/>
            </a:pPr>
            <a:r>
              <a:rPr lang="en-US" sz="1300" dirty="0">
                <a:solidFill>
                  <a:schemeClr val="tx2"/>
                </a:solidFill>
              </a:rPr>
              <a:t>Theorem 14.5</a:t>
            </a:r>
            <a:endParaRPr lang="en-US" sz="1300" dirty="0"/>
          </a:p>
        </p:txBody>
      </p:sp>
      <p:sp>
        <p:nvSpPr>
          <p:cNvPr id="25" name="Card"/>
          <p:cNvSpPr/>
          <p:nvPr/>
        </p:nvSpPr>
        <p:spPr>
          <a:xfrm>
            <a:off x="3390824" y="3749040"/>
            <a:ext cx="2567864" cy="1783080"/>
          </a:xfrm>
          <a:prstGeom prst="roundRect">
            <a:avLst>
              <a:gd name="adj" fmla="val 4103"/>
            </a:avLst>
          </a:prstGeom>
          <a:solidFill>
            <a:schemeClr val="bg2"/>
          </a:solidFill>
          <a:ln w="9525">
            <a:solidFill>
              <a:srgbClr val="C4CBD8"/>
            </a:solidFill>
            <a:prstDash val="solid"/>
          </a:ln>
        </p:spPr>
      </p:sp>
      <p:sp>
        <p:nvSpPr>
          <p:cNvPr id="26" name="Card label"/>
          <p:cNvSpPr txBox="1"/>
          <p:nvPr/>
        </p:nvSpPr>
        <p:spPr>
          <a:xfrm>
            <a:off x="3573704" y="38770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Structural consistency</a:t>
            </a:r>
            <a:endParaRPr lang="en-US" sz="1300" dirty="0"/>
          </a:p>
        </p:txBody>
      </p:sp>
      <p:sp>
        <p:nvSpPr>
          <p:cNvPr id="27" name="Card head"/>
          <p:cNvSpPr txBox="1"/>
          <p:nvPr/>
        </p:nvSpPr>
        <p:spPr>
          <a:xfrm>
            <a:off x="3573704" y="4206240"/>
            <a:ext cx="2202104" cy="83210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Are the guarantees backed by audits?</a:t>
            </a:r>
            <a:endParaRPr lang="en-US" sz="1600" dirty="0"/>
          </a:p>
        </p:txBody>
      </p:sp>
      <p:sp>
        <p:nvSpPr>
          <p:cNvPr id="28" name="Card text"/>
          <p:cNvSpPr txBox="1"/>
          <p:nvPr/>
        </p:nvSpPr>
        <p:spPr>
          <a:xfrm>
            <a:off x="3573704" y="5111496"/>
            <a:ext cx="2202104" cy="292608"/>
          </a:xfrm>
          <a:prstGeom prst="rect">
            <a:avLst/>
          </a:prstGeom>
          <a:noFill/>
          <a:ln/>
        </p:spPr>
        <p:txBody>
          <a:bodyPr wrap="square" lIns="0" tIns="0" rIns="0" bIns="0" rtlCol="0" anchor="t"/>
          <a:lstStyle/>
          <a:p>
            <a:pPr indent="0" marL="0">
              <a:buNone/>
            </a:pPr>
            <a:r>
              <a:rPr lang="en-US" sz="1300" dirty="0">
                <a:solidFill>
                  <a:schemeClr val="tx2"/>
                </a:solidFill>
              </a:rPr>
              <a:t>Theorem 14.6</a:t>
            </a:r>
            <a:endParaRPr lang="en-US" sz="1300" dirty="0"/>
          </a:p>
        </p:txBody>
      </p:sp>
      <p:sp>
        <p:nvSpPr>
          <p:cNvPr id="29" name="Card"/>
          <p:cNvSpPr/>
          <p:nvPr/>
        </p:nvSpPr>
        <p:spPr>
          <a:xfrm>
            <a:off x="6233008" y="3749040"/>
            <a:ext cx="2567864" cy="1783080"/>
          </a:xfrm>
          <a:prstGeom prst="roundRect">
            <a:avLst>
              <a:gd name="adj" fmla="val 4103"/>
            </a:avLst>
          </a:prstGeom>
          <a:solidFill>
            <a:schemeClr val="bg2"/>
          </a:solidFill>
          <a:ln w="9525">
            <a:solidFill>
              <a:srgbClr val="C4CBD8"/>
            </a:solidFill>
            <a:prstDash val="solid"/>
          </a:ln>
        </p:spPr>
      </p:sp>
      <p:sp>
        <p:nvSpPr>
          <p:cNvPr id="30" name="Card label"/>
          <p:cNvSpPr txBox="1"/>
          <p:nvPr/>
        </p:nvSpPr>
        <p:spPr>
          <a:xfrm>
            <a:off x="6415888" y="38770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Invariants</a:t>
            </a:r>
            <a:endParaRPr lang="en-US" sz="1300" dirty="0"/>
          </a:p>
        </p:txBody>
      </p:sp>
      <p:sp>
        <p:nvSpPr>
          <p:cNvPr id="31" name="Card head"/>
          <p:cNvSpPr txBox="1"/>
          <p:nvPr/>
        </p:nvSpPr>
        <p:spPr>
          <a:xfrm>
            <a:off x="6415888" y="4206240"/>
            <a:ext cx="2202104" cy="832104"/>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What can never change?</a:t>
            </a:r>
            <a:endParaRPr lang="en-US" sz="1600" dirty="0"/>
          </a:p>
        </p:txBody>
      </p:sp>
      <p:sp>
        <p:nvSpPr>
          <p:cNvPr id="32" name="Card text"/>
          <p:cNvSpPr txBox="1"/>
          <p:nvPr/>
        </p:nvSpPr>
        <p:spPr>
          <a:xfrm>
            <a:off x="6415888" y="5111496"/>
            <a:ext cx="2202104" cy="292608"/>
          </a:xfrm>
          <a:prstGeom prst="rect">
            <a:avLst/>
          </a:prstGeom>
          <a:noFill/>
          <a:ln/>
        </p:spPr>
        <p:txBody>
          <a:bodyPr wrap="square" lIns="0" tIns="0" rIns="0" bIns="0" rtlCol="0" anchor="t"/>
          <a:lstStyle/>
          <a:p>
            <a:pPr indent="0" marL="0">
              <a:buNone/>
            </a:pPr>
            <a:r>
              <a:rPr lang="en-US" sz="1300" dirty="0">
                <a:solidFill>
                  <a:schemeClr val="tx2"/>
                </a:solidFill>
              </a:rPr>
              <a:t>Theorem 14.7</a:t>
            </a:r>
            <a:endParaRPr lang="en-US" sz="1300" dirty="0"/>
          </a:p>
        </p:txBody>
      </p:sp>
      <p:sp>
        <p:nvSpPr>
          <p:cNvPr id="33" name="Card"/>
          <p:cNvSpPr/>
          <p:nvPr/>
        </p:nvSpPr>
        <p:spPr>
          <a:xfrm>
            <a:off x="9075191" y="3749040"/>
            <a:ext cx="2567864" cy="1783080"/>
          </a:xfrm>
          <a:prstGeom prst="roundRect">
            <a:avLst>
              <a:gd name="adj" fmla="val 4103"/>
            </a:avLst>
          </a:prstGeom>
          <a:solidFill>
            <a:schemeClr val="tx1"/>
          </a:solidFill>
          <a:ln w="9525">
            <a:solidFill>
              <a:srgbClr val="0F1E3D"/>
            </a:solidFill>
            <a:prstDash val="solid"/>
          </a:ln>
        </p:spPr>
      </p:sp>
      <p:sp>
        <p:nvSpPr>
          <p:cNvPr id="34" name="Card label"/>
          <p:cNvSpPr txBox="1"/>
          <p:nvPr/>
        </p:nvSpPr>
        <p:spPr>
          <a:xfrm>
            <a:off x="9258071" y="38770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Convergence</a:t>
            </a:r>
            <a:endParaRPr lang="en-US" sz="1300" dirty="0"/>
          </a:p>
        </p:txBody>
      </p:sp>
      <p:sp>
        <p:nvSpPr>
          <p:cNvPr id="35" name="Card head"/>
          <p:cNvSpPr txBox="1"/>
          <p:nvPr/>
        </p:nvSpPr>
        <p:spPr>
          <a:xfrm>
            <a:off x="9258071" y="4206240"/>
            <a:ext cx="2202104" cy="832104"/>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Where does the company settle?</a:t>
            </a:r>
            <a:endParaRPr lang="en-US" sz="1600" dirty="0"/>
          </a:p>
        </p:txBody>
      </p:sp>
      <p:sp>
        <p:nvSpPr>
          <p:cNvPr id="36" name="Card text"/>
          <p:cNvSpPr txBox="1"/>
          <p:nvPr/>
        </p:nvSpPr>
        <p:spPr>
          <a:xfrm>
            <a:off x="9258071" y="5111496"/>
            <a:ext cx="2202104" cy="292608"/>
          </a:xfrm>
          <a:prstGeom prst="rect">
            <a:avLst/>
          </a:prstGeom>
          <a:noFill/>
          <a:ln/>
        </p:spPr>
        <p:txBody>
          <a:bodyPr wrap="square" lIns="0" tIns="0" rIns="0" bIns="0" rtlCol="0" anchor="t"/>
          <a:lstStyle/>
          <a:p>
            <a:pPr indent="0" marL="0">
              <a:buNone/>
            </a:pPr>
            <a:r>
              <a:rPr lang="en-US" sz="1300" dirty="0">
                <a:solidFill>
                  <a:schemeClr val="bg2"/>
                </a:solidFill>
              </a:rPr>
              <a:t>Theorem 14.8</a:t>
            </a:r>
            <a:endParaRPr lang="en-US" sz="1300" dirty="0"/>
          </a:p>
        </p:txBody>
      </p:sp>
      <p:sp>
        <p:nvSpPr>
          <p:cNvPr id="37" name="Lead"/>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Every analytical property can fail while the declarations are perfectly consistent.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§14.2 · TABLE 14.1 · PROPOSITION 14.1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assumption has an owner</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727503"/>
                <a:gridCol w="4274078"/>
                <a:gridCol w="2819073"/>
                <a:gridCol w="3273762"/>
              </a:tblGrid>
              <a:tr h="512064">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Tag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Requires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Owner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Buys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1206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feasible region nonempty, closed and bounded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consistency audit (Chapter 13)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trajectories and operating points exist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 Lipschitz on the region with constant L: no infinitely violent response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layer owners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one plan, one forecast; bounded drift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capital, performance and risk readouts Lipschitz on the region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ledger owners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ledgers inherit every state result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each constraint continuous; convex where declared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constraint owners (Chapter 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feasibility analysis; Chapter 15's optimality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 differentiable, true gains within the ceilings (Equation 14.3)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risk office's coupling register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stability certificates; sensitivities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standing dynamics keep the region in itself, or contract (L &lt; 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viability audit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equilibria exist; global convergence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2578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14.1, the analytical assumption panel. A6 is invoked only where stated.</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Proposition 14.1.</a:t>
            </a:r>
            <a:r>
              <a:rPr lang="en-US" sz="1600" dirty="0">
                <a:solidFill>
                  <a:schemeClr val="accent2"/>
                </a:solidFill>
              </a:rPr>
              <a:t> The constructions of Parts II–III deliver A1–A5; A6 is audited separately.</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§14.3 · THEOREMS 14.1–14.2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One policy, one future</a:t>
            </a:r>
            <a:endParaRPr lang="en-US" sz="3200" dirty="0"/>
          </a:p>
        </p:txBody>
      </p:sp>
      <p:sp>
        <p:nvSpPr>
          <p:cNvPr id="5" name="Result card"/>
          <p:cNvSpPr/>
          <p:nvPr/>
        </p:nvSpPr>
        <p:spPr>
          <a:xfrm>
            <a:off x="548640" y="1691640"/>
            <a:ext cx="64008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8521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THEOREMS 14.1 AND 14.2</a:t>
            </a:r>
            <a:endParaRPr lang="en-US" sz="1200" dirty="0"/>
          </a:p>
        </p:txBody>
      </p:sp>
      <p:sp>
        <p:nvSpPr>
          <p:cNvPr id="7" name="Text 4"/>
          <p:cNvSpPr txBox="1"/>
          <p:nvPr/>
        </p:nvSpPr>
        <p:spPr>
          <a:xfrm>
            <a:off x="822960" y="2194560"/>
            <a:ext cx="58521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Existence and Uniqueness</a:t>
            </a:r>
            <a:endParaRPr lang="en-US" sz="2100" dirty="0"/>
          </a:p>
        </p:txBody>
      </p:sp>
      <p:sp>
        <p:nvSpPr>
          <p:cNvPr id="8" name="Bullets"/>
          <p:cNvSpPr txBox="1"/>
          <p:nvPr/>
        </p:nvSpPr>
        <p:spPr>
          <a:xfrm>
            <a:off x="822960" y="2743200"/>
            <a:ext cx="58521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Trajectories exist</a:t>
            </a:r>
            <a:r>
              <a:rPr lang="en-US" sz="1500" dirty="0">
                <a:solidFill>
                  <a:schemeClr val="tx1"/>
                </a:solidFill>
              </a:rPr>
              <a:t> from every admissible start under every admissible policy, while each step's preconditions hold</a:t>
            </a:r>
            <a:endParaRPr lang="en-US" sz="1500" dirty="0"/>
          </a:p>
          <a:p>
            <a:pPr marL="228600" indent="-228600">
              <a:spcAft>
                <a:spcPts val="600"/>
              </a:spcAft>
              <a:buSzPct val="100000"/>
              <a:buChar char="•"/>
            </a:pPr>
            <a:r>
              <a:rPr lang="en-US" sz="1500" b="1" dirty="0">
                <a:solidFill>
                  <a:schemeClr val="tx1"/>
                </a:solidFill>
              </a:rPr>
              <a:t>One policy, one future:</a:t>
            </a:r>
            <a:r>
              <a:rPr lang="en-US" sz="1500" dirty="0">
                <a:solidFill>
                  <a:schemeClr val="tx1"/>
                </a:solidFill>
              </a:rPr>
              <a:t> two trajectories under the same decisions drift apart at most by the factor L</a:t>
            </a:r>
            <a:r>
              <a:rPr lang="en-US" sz="1500" baseline="30000" dirty="0">
                <a:solidFill>
                  <a:schemeClr val="tx1"/>
                </a:solidFill>
              </a:rPr>
              <a:t>k</a:t>
            </a:r>
            <a:r>
              <a:rPr lang="en-US" sz="1500" dirty="0">
                <a:solidFill>
                  <a:schemeClr val="tx1"/>
                </a:solidFill>
              </a:rPr>
              <a:t> after k periods</a:t>
            </a:r>
            <a:endParaRPr lang="en-US" sz="1500" dirty="0"/>
          </a:p>
          <a:p>
            <a:pPr marL="228600" indent="-228600">
              <a:spcAft>
                <a:spcPts val="600"/>
              </a:spcAft>
              <a:buSzPct val="100000"/>
              <a:buChar char="•"/>
            </a:pPr>
            <a:r>
              <a:rPr lang="en-US" sz="1500" b="1" dirty="0">
                <a:solidFill>
                  <a:schemeClr val="tx1"/>
                </a:solidFill>
              </a:rPr>
              <a:t>Recalibration is bounded:</a:t>
            </a:r>
            <a:r>
              <a:rPr lang="en-US" sz="1500" dirty="0">
                <a:solidFill>
                  <a:schemeClr val="tx1"/>
                </a:solidFill>
              </a:rPr>
              <a:t> under contraction, forecasts move at most 1/(1 − L) times a recalibration's one-period effect</a:t>
            </a:r>
            <a:endParaRPr lang="en-US" sz="1500" dirty="0"/>
          </a:p>
          <a:p>
            <a:pPr marL="228600" indent="-228600">
              <a:spcAft>
                <a:spcPts val="600"/>
              </a:spcAft>
              <a:buSzPct val="100000"/>
              <a:buChar char="•"/>
            </a:pPr>
            <a:r>
              <a:rPr lang="en-US" sz="1500" b="1" dirty="0">
                <a:solidFill>
                  <a:schemeClr val="tx1"/>
                </a:solidFill>
              </a:rPr>
              <a:t>Non-uniqueness needs infinite sensitivity:</a:t>
            </a:r>
            <a:r>
              <a:rPr lang="en-US" sz="1500" dirty="0">
                <a:solidFill>
                  <a:schemeClr val="tx1"/>
                </a:solidFill>
              </a:rPr>
              <a:t> ẋ = √|x| from zero has two solutions</a:t>
            </a:r>
            <a:endParaRPr lang="en-US" sz="1500" dirty="0"/>
          </a:p>
          <a:p>
            <a:pPr marL="228600" indent="-228600">
              <a:spcAft>
                <a:spcPts val="600"/>
              </a:spcAft>
              <a:buSzPct val="100000"/>
              <a:buChar char="•"/>
            </a:pPr>
            <a:r>
              <a:rPr lang="en-US" sz="1500" b="1" dirty="0">
                <a:solidFill>
                  <a:schemeClr val="tx1"/>
                </a:solidFill>
              </a:rPr>
              <a:t>Existence is not admissibility:</a:t>
            </a:r>
            <a:r>
              <a:rPr lang="en-US" sz="1500" dirty="0">
                <a:solidFill>
                  <a:schemeClr val="tx1"/>
                </a:solidFill>
              </a:rPr>
              <a:t> staying in the region is viability (Theorem 14.5)</a:t>
            </a:r>
            <a:endParaRPr lang="en-US" sz="1500" dirty="0"/>
          </a:p>
        </p:txBody>
      </p:sp>
      <p:sp>
        <p:nvSpPr>
          <p:cNvPr id="9" name="Text 6"/>
          <p:cNvSpPr txBox="1"/>
          <p:nvPr/>
        </p:nvSpPr>
        <p:spPr>
          <a:xfrm>
            <a:off x="7360920" y="1737360"/>
            <a:ext cx="42821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7360920" y="2194560"/>
            <a:ext cx="428213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The license for scenario planning: one start and one policy give one forecast</a:t>
            </a:r>
            <a:endParaRPr lang="en-US" sz="1500" dirty="0"/>
          </a:p>
          <a:p>
            <a:pPr marL="228600" indent="-228600">
              <a:spcAft>
                <a:spcPts val="800"/>
              </a:spcAft>
              <a:buSzPct val="100000"/>
              <a:buChar char="•"/>
            </a:pPr>
            <a:r>
              <a:rPr lang="en-US" sz="1500" dirty="0">
                <a:solidFill>
                  <a:schemeClr val="tx1"/>
                </a:solidFill>
              </a:rPr>
              <a:t>The license for declaration management: a recalibration moves forecasts by a stated ceiling</a:t>
            </a:r>
            <a:endParaRPr lang="en-US" sz="1500" dirty="0"/>
          </a:p>
          <a:p>
            <a:pPr marL="228600" indent="-228600">
              <a:spcAft>
                <a:spcPts val="800"/>
              </a:spcAft>
              <a:buSzPct val="100000"/>
              <a:buChar char="•"/>
            </a:pPr>
            <a:r>
              <a:rPr lang="en-US" sz="1500" dirty="0">
                <a:solidFill>
                  <a:schemeClr val="tx1"/>
                </a:solidFill>
              </a:rPr>
              <a:t>A response declared with infinite marginal sensitivity forfeits predictability</a:t>
            </a:r>
            <a:endParaRPr lang="en-US" sz="1500" dirty="0"/>
          </a:p>
          <a:p>
            <a:pPr marL="228600" indent="-228600">
              <a:spcAft>
                <a:spcPts val="800"/>
              </a:spcAft>
              <a:buSzPct val="100000"/>
              <a:buChar char="•"/>
            </a:pPr>
            <a:r>
              <a:rPr lang="en-US" sz="1500" dirty="0">
                <a:solidFill>
                  <a:schemeClr val="tx1"/>
                </a:solidFill>
              </a:rPr>
              <a:t>The state does not determine its history: provenance lives in the records</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§14.4 · THEOREM 14.3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coupling register is a stability budget</a:t>
            </a:r>
            <a:endParaRPr lang="en-US" sz="3200" dirty="0"/>
          </a:p>
        </p:txBody>
      </p:sp>
      <p:sp>
        <p:nvSpPr>
          <p:cNvPr id="5" name="Result card"/>
          <p:cNvSpPr/>
          <p:nvPr/>
        </p:nvSpPr>
        <p:spPr>
          <a:xfrm>
            <a:off x="548640" y="1691640"/>
            <a:ext cx="667512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1264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14.3</a:t>
            </a:r>
            <a:endParaRPr lang="en-US" sz="1200" dirty="0"/>
          </a:p>
        </p:txBody>
      </p:sp>
      <p:sp>
        <p:nvSpPr>
          <p:cNvPr id="7" name="Text 4"/>
          <p:cNvSpPr txBox="1"/>
          <p:nvPr/>
        </p:nvSpPr>
        <p:spPr>
          <a:xfrm>
            <a:off x="822960" y="2194560"/>
            <a:ext cx="61264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Architectural Stability Theorem</a:t>
            </a:r>
            <a:endParaRPr lang="en-US" sz="2100" dirty="0"/>
          </a:p>
        </p:txBody>
      </p:sp>
      <p:pic>
        <p:nvPicPr>
          <p:cNvPr id="8" name="Equation" descr="Equation: \rho(\mathbf{A}) \;\le\; \rho(\mathbf{M}) \qquad \text{whenever} \qquad |\mathbf{A}| \le \mathbf{M}">    </p:cNvPr>
          <p:cNvPicPr>
            <a:picLocks noChangeAspect="1"/>
          </p:cNvPicPr>
          <p:nvPr/>
        </p:nvPicPr>
        <p:blipFill>
          <a:blip r:embed="rId1"/>
          <a:stretch>
            <a:fillRect/>
          </a:stretch>
        </p:blipFill>
        <p:spPr>
          <a:xfrm>
            <a:off x="822960" y="2743200"/>
            <a:ext cx="4861326" cy="384048"/>
          </a:xfrm>
          <a:prstGeom prst="rect">
            <a:avLst/>
          </a:prstGeom>
        </p:spPr>
      </p:pic>
      <p:sp>
        <p:nvSpPr>
          <p:cNvPr id="9" name="Bullets"/>
          <p:cNvSpPr txBox="1"/>
          <p:nvPr/>
        </p:nvSpPr>
        <p:spPr>
          <a:xfrm>
            <a:off x="822960" y="3291840"/>
            <a:ext cx="6126480" cy="274320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Spectral test.</a:t>
            </a:r>
            <a:r>
              <a:rPr lang="en-US" sz="1500" dirty="0">
                <a:solidFill>
                  <a:schemeClr val="tx1"/>
                </a:solidFill>
              </a:rPr>
              <a:t> Deviations die out geometrically when ρ &lt; 1; above 1, the equilibrium is unstable</a:t>
            </a:r>
            <a:endParaRPr lang="en-US" sz="1500" dirty="0"/>
          </a:p>
          <a:p>
            <a:pPr marL="228600" indent="-228600">
              <a:spcAft>
                <a:spcPts val="600"/>
              </a:spcAft>
              <a:buSzPct val="100000"/>
              <a:buChar char="•"/>
            </a:pPr>
            <a:r>
              <a:rPr lang="en-US" sz="1500" b="1" dirty="0">
                <a:solidFill>
                  <a:schemeClr val="tx1"/>
                </a:solidFill>
              </a:rPr>
              <a:t>(ii) Certified budget.</a:t>
            </a:r>
            <a:r>
              <a:rPr lang="en-US" sz="1500" dirty="0">
                <a:solidFill>
                  <a:schemeClr val="tx1"/>
                </a:solidFill>
              </a:rPr>
              <a:t> A register audited to ρ(M) &lt; 1 certifies every equilibrium in the region</a:t>
            </a:r>
            <a:endParaRPr lang="en-US" sz="1500" dirty="0"/>
          </a:p>
          <a:p>
            <a:pPr marL="228600" indent="-228600">
              <a:spcAft>
                <a:spcPts val="600"/>
              </a:spcAft>
              <a:buSzPct val="100000"/>
              <a:buChar char="•"/>
            </a:pPr>
            <a:r>
              <a:rPr lang="en-US" sz="1500" b="1" dirty="0">
                <a:solidFill>
                  <a:schemeClr val="tx1"/>
                </a:solidFill>
              </a:rPr>
              <a:t>(iii) Coupling destabilization.</a:t>
            </a:r>
            <a:r>
              <a:rPr lang="en-US" sz="1500" dirty="0">
                <a:solidFill>
                  <a:schemeClr val="tx1"/>
                </a:solidFill>
              </a:rPr>
              <a:t> Stable, even inert, layers can compose an unstable company</a:t>
            </a:r>
            <a:endParaRPr lang="en-US" sz="1500" dirty="0"/>
          </a:p>
          <a:p>
            <a:pPr marL="228600" indent="-228600">
              <a:spcAft>
                <a:spcPts val="600"/>
              </a:spcAft>
              <a:buSzPct val="100000"/>
              <a:buChar char="•"/>
            </a:pPr>
            <a:r>
              <a:rPr lang="en-US" sz="1500" b="1" dirty="0">
                <a:solidFill>
                  <a:schemeClr val="tx1"/>
                </a:solidFill>
              </a:rPr>
              <a:t>(iv) One-number monitor.</a:t>
            </a:r>
            <a:r>
              <a:rPr lang="en-US" sz="1500" dirty="0">
                <a:solidFill>
                  <a:schemeClr val="tx1"/>
                </a:solidFill>
              </a:rPr>
              <a:t> A Lyapunov health index falls every period exactly when ρ &lt; 1</a:t>
            </a:r>
            <a:endParaRPr lang="en-US" sz="1500" dirty="0"/>
          </a:p>
          <a:p>
            <a:pPr marL="228600" indent="-228600">
              <a:spcAft>
                <a:spcPts val="600"/>
              </a:spcAft>
              <a:buSzPct val="100000"/>
              <a:buChar char="•"/>
            </a:pPr>
            <a:r>
              <a:rPr lang="en-US" sz="1500" b="1" dirty="0">
                <a:solidFill>
                  <a:schemeClr val="tx1"/>
                </a:solidFill>
              </a:rPr>
              <a:t>(v)</a:t>
            </a:r>
            <a:r>
              <a:rPr lang="en-US" sz="1500" dirty="0">
                <a:solidFill>
                  <a:schemeClr val="tx1"/>
                </a:solidFill>
              </a:rPr>
              <a:t> Ledgers can settle while the state drifts</a:t>
            </a:r>
            <a:endParaRPr lang="en-US" sz="1500" dirty="0"/>
          </a:p>
        </p:txBody>
      </p:sp>
      <p:sp>
        <p:nvSpPr>
          <p:cNvPr id="10" name="Text 6"/>
          <p:cNvSpPr txBox="1"/>
          <p:nvPr/>
        </p:nvSpPr>
        <p:spPr>
          <a:xfrm>
            <a:off x="7635240" y="1737360"/>
            <a:ext cx="400781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1" name="Bullets"/>
          <p:cNvSpPr txBox="1"/>
          <p:nvPr/>
        </p:nvSpPr>
        <p:spPr>
          <a:xfrm>
            <a:off x="7635240" y="2194560"/>
            <a:ext cx="400781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Every core link is capped at 0.40: each unit passes on at most 0.80 of a deviation</a:t>
            </a:r>
            <a:endParaRPr lang="en-US" sz="1500" dirty="0"/>
          </a:p>
          <a:p>
            <a:pPr marL="228600" indent="-228600">
              <a:spcAft>
                <a:spcPts val="800"/>
              </a:spcAft>
              <a:buSzPct val="100000"/>
              <a:buChar char="•"/>
            </a:pPr>
            <a:r>
              <a:rPr lang="en-US" sz="1500" dirty="0">
                <a:solidFill>
                  <a:schemeClr val="tx1"/>
                </a:solidFill>
              </a:rPr>
              <a:t>The register's radius is </a:t>
            </a:r>
            <a:r>
              <a:rPr lang="en-US" sz="1500" b="1" dirty="0">
                <a:solidFill>
                  <a:schemeClr val="tx1"/>
                </a:solidFill>
              </a:rPr>
              <a:t>0.80</a:t>
            </a:r>
            <a:r>
              <a:rPr lang="en-US" sz="1500" dirty="0">
                <a:solidFill>
                  <a:schemeClr val="tx1"/>
                </a:solidFill>
              </a:rPr>
              <a:t>: certified, a half-life of </a:t>
            </a:r>
            <a:r>
              <a:rPr lang="en-US" sz="1500" b="1" dirty="0">
                <a:solidFill>
                  <a:schemeClr val="tx1"/>
                </a:solidFill>
              </a:rPr>
              <a:t>3.1 quarters</a:t>
            </a:r>
            <a:endParaRPr lang="en-US" sz="1500" dirty="0"/>
          </a:p>
          <a:p>
            <a:pPr marL="228600" indent="-228600">
              <a:spcAft>
                <a:spcPts val="800"/>
              </a:spcAft>
              <a:buSzPct val="100000"/>
              <a:buChar char="•"/>
            </a:pPr>
            <a:r>
              <a:rPr lang="en-US" sz="1500" dirty="0">
                <a:solidFill>
                  <a:schemeClr val="tx1"/>
                </a:solidFill>
              </a:rPr>
              <a:t>Five stable functions, each certified by its owner, can compose an unstable company</a:t>
            </a:r>
            <a:endParaRPr lang="en-US" sz="1500" dirty="0"/>
          </a:p>
          <a:p>
            <a:pPr marL="228600" indent="-228600">
              <a:spcAft>
                <a:spcPts val="800"/>
              </a:spcAft>
              <a:buSzPct val="100000"/>
              <a:buChar char="•"/>
            </a:pPr>
            <a:r>
              <a:rPr lang="en-US" sz="1500" dirty="0">
                <a:solidFill>
                  <a:schemeClr val="tx1"/>
                </a:solidFill>
              </a:rPr>
              <a:t>Stability monitoring needs state-level telemetry, not stationary indicators</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§14.4 · TABLE 14.2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tests, from local to global</a:t>
            </a:r>
            <a:endParaRPr lang="en-US" sz="3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819073"/>
                <a:gridCol w="2910011"/>
                <a:gridCol w="2728135"/>
                <a:gridCol w="2637197"/>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Requires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Delivers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Reading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Spectral, ρ(A) &lt; 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Jacobian at the equilibrium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decay at about rate ρ</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company's return spring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Certified budget, ρ(M) &lt; 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audited register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stability of every equilibrium in the region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governance ceiling as a guarantee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Block small gain, ρ(M̂) &lt; 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layer and coupling block sizes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stability from layer-level data</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only legitimate layer-wise sign-off</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Lyapunov, P positive definite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solved Lyapunov equation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health index that falls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one number, provably decreasing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Contraction, L &lt; 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A2 with L &lt; 1 on an invariant region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global convergence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strongest, rarest, checkable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1206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14.2. All but the last are local to a declared operating point.</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Layer-by-layer attestations do not certify a company; the block small gain, which includes the couplings, does.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§14.5 · THEOREM 14.4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Every change lands direct plus knock-on</a:t>
            </a:r>
            <a:endParaRPr lang="en-US" sz="3200" dirty="0"/>
          </a:p>
        </p:txBody>
      </p:sp>
      <p:pic>
        <p:nvPicPr>
          <p:cNvPr id="5" name="Equation" descr="Equation: \frac{\partial \mathbf{x}^{*}}{\partial \theta} \;=\; (\mathbf{I} - \mathbf{A})^{-1}\mathbf{B} \;=\; \mathbf{B} \,+\, \mathbf{A}\mathbf{B} \,+\, \mathbf{A}^{2}\mathbf{B} \,+\, \cdots">    </p:cNvPr>
          <p:cNvPicPr>
            <a:picLocks noChangeAspect="1"/>
          </p:cNvPicPr>
          <p:nvPr/>
        </p:nvPicPr>
        <p:blipFill>
          <a:blip r:embed="rId1"/>
          <a:stretch>
            <a:fillRect/>
          </a:stretch>
        </p:blipFill>
        <p:spPr>
          <a:xfrm>
            <a:off x="2493112" y="1828800"/>
            <a:ext cx="7205472" cy="960120"/>
          </a:xfrm>
          <a:prstGeom prst="rect">
            <a:avLst/>
          </a:prstGeom>
        </p:spPr>
      </p:pic>
      <p:sp>
        <p:nvSpPr>
          <p:cNvPr id="6" name="Text 2"/>
          <p:cNvSpPr txBox="1"/>
          <p:nvPr/>
        </p:nvSpPr>
        <p:spPr>
          <a:xfrm>
            <a:off x="914400" y="292608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direct effect the parameter's owner sees, plus knock-on effects along layered walks</a:t>
            </a:r>
            <a:endParaRPr lang="en-US" sz="1600" dirty="0"/>
          </a:p>
        </p:txBody>
      </p:sp>
      <p:sp>
        <p:nvSpPr>
          <p:cNvPr id="7" name="Bullets"/>
          <p:cNvSpPr txBox="1"/>
          <p:nvPr/>
        </p:nvSpPr>
        <p:spPr>
          <a:xfrm>
            <a:off x="914400" y="3520440"/>
            <a:ext cx="10362895" cy="265176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(i)</a:t>
            </a:r>
            <a:r>
              <a:rPr lang="en-US" sz="1700" dirty="0">
                <a:solidFill>
                  <a:schemeClr val="bg1"/>
                </a:solidFill>
              </a:rPr>
              <a:t> The sensitivity S obeys a linear recursion of its own, S′ = AS + B from S = 0 (Equation 14.4)</a:t>
            </a:r>
            <a:endParaRPr lang="en-US" sz="1700" dirty="0"/>
          </a:p>
          <a:p>
            <a:pPr marL="228600" indent="-228600">
              <a:spcAft>
                <a:spcPts val="800"/>
              </a:spcAft>
              <a:buSzPct val="100000"/>
              <a:buChar char="•"/>
            </a:pPr>
            <a:r>
              <a:rPr lang="en-US" sz="1700" b="1" dirty="0">
                <a:solidFill>
                  <a:schemeClr val="bg1"/>
                </a:solidFill>
              </a:rPr>
              <a:t>(iii)</a:t>
            </a:r>
            <a:r>
              <a:rPr lang="en-US" sz="1700" dirty="0">
                <a:solidFill>
                  <a:schemeClr val="bg1"/>
                </a:solidFill>
              </a:rPr>
              <a:t> With nonnegative couplings the multiplier is at least 1/(1 − ρ): the spectral gap is the conditioning number</a:t>
            </a:r>
            <a:endParaRPr lang="en-US" sz="1700" dirty="0"/>
          </a:p>
          <a:p>
            <a:pPr marL="228600" indent="-228600">
              <a:spcAft>
                <a:spcPts val="800"/>
              </a:spcAft>
              <a:buSzPct val="100000"/>
              <a:buChar char="•"/>
            </a:pPr>
            <a:r>
              <a:rPr lang="en-US" sz="1700" dirty="0">
                <a:solidFill>
                  <a:schemeClr val="bg1"/>
                </a:solidFill>
              </a:rPr>
              <a:t>Meridian: 1/(1 − 0.80) = 5: $10m a quarter at Digital settles at </a:t>
            </a:r>
            <a:r>
              <a:rPr lang="en-US" sz="1700" b="1" dirty="0">
                <a:solidFill>
                  <a:schemeClr val="bg1"/>
                </a:solidFill>
              </a:rPr>
              <a:t>$50m</a:t>
            </a:r>
            <a:r>
              <a:rPr lang="en-US" sz="1700" dirty="0">
                <a:solidFill>
                  <a:schemeClr val="bg1"/>
                </a:solidFill>
              </a:rPr>
              <a:t>, $40m of it knock-on</a:t>
            </a:r>
            <a:endParaRPr lang="en-US" sz="1700" dirty="0"/>
          </a:p>
          <a:p>
            <a:pPr marL="228600" indent="-228600">
              <a:spcAft>
                <a:spcPts val="800"/>
              </a:spcAft>
              <a:buSzPct val="100000"/>
              <a:buChar char="•"/>
            </a:pPr>
            <a:r>
              <a:rPr lang="en-US" sz="1700" dirty="0">
                <a:solidFill>
                  <a:schemeClr val="bg1"/>
                </a:solidFill>
              </a:rPr>
              <a:t>Compare unit-free elasticities; a structural change has no derivative and needs re-analysis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§14.5 · FIGURE 14.1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Near the edge, slow and nervous at once</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Keep a share ρ of every deviation each quarter, and the half-life is ln 2 / ln(1/ρ) quarters</a:t>
            </a:r>
            <a:endParaRPr lang="en-US" sz="1600" dirty="0"/>
          </a:p>
          <a:p>
            <a:pPr marL="228600" indent="-228600">
              <a:spcAft>
                <a:spcPts val="800"/>
              </a:spcAft>
              <a:buSzPct val="100000"/>
              <a:buChar char="•"/>
            </a:pPr>
            <a:r>
              <a:rPr lang="en-US" sz="1600" dirty="0">
                <a:solidFill>
                  <a:schemeClr val="tx1"/>
                </a:solidFill>
              </a:rPr>
              <a:t>A permanent change is amplified 1/(1 − ρ) times: one gap sets both clocks</a:t>
            </a:r>
            <a:endParaRPr lang="en-US" sz="1600" dirty="0"/>
          </a:p>
          <a:p>
            <a:pPr marL="228600" indent="-228600">
              <a:spcAft>
                <a:spcPts val="800"/>
              </a:spcAft>
              <a:buSzPct val="100000"/>
              <a:buChar char="•"/>
            </a:pPr>
            <a:r>
              <a:rPr lang="en-US" sz="1600" dirty="0">
                <a:solidFill>
                  <a:schemeClr val="tx1"/>
                </a:solidFill>
              </a:rPr>
              <a:t>Meridian today: ρ = 0.80, </a:t>
            </a:r>
            <a:r>
              <a:rPr lang="en-US" sz="1600" b="1" dirty="0">
                <a:solidFill>
                  <a:schemeClr val="tx1"/>
                </a:solidFill>
              </a:rPr>
              <a:t>3.1 quarters and 5×</a:t>
            </a:r>
            <a:endParaRPr lang="en-US" sz="1600" dirty="0"/>
          </a:p>
          <a:p>
            <a:pPr marL="228600" indent="-228600">
              <a:spcAft>
                <a:spcPts val="800"/>
              </a:spcAft>
              <a:buSzPct val="100000"/>
              <a:buChar char="•"/>
            </a:pPr>
            <a:r>
              <a:rPr lang="en-US" sz="1600" dirty="0">
                <a:solidFill>
                  <a:schemeClr val="tx1"/>
                </a:solidFill>
              </a:rPr>
              <a:t>The board's limit: ρ = 0.84, </a:t>
            </a:r>
            <a:r>
              <a:rPr lang="en-US" sz="1600" b="1" dirty="0">
                <a:solidFill>
                  <a:schemeClr val="tx1"/>
                </a:solidFill>
              </a:rPr>
              <a:t>4 quarters and 6.3×</a:t>
            </a:r>
            <a:endParaRPr lang="en-US" sz="1600" dirty="0"/>
          </a:p>
          <a:p>
            <a:pPr marL="228600" indent="-228600">
              <a:spcAft>
                <a:spcPts val="800"/>
              </a:spcAft>
              <a:buSzPct val="100000"/>
              <a:buChar char="•"/>
            </a:pPr>
            <a:r>
              <a:rPr lang="en-US" sz="1600" dirty="0">
                <a:solidFill>
                  <a:schemeClr val="tx1"/>
                </a:solidFill>
              </a:rPr>
              <a:t>Near the edge: ρ = 0.95, </a:t>
            </a:r>
            <a:r>
              <a:rPr lang="en-US" sz="1600" b="1" dirty="0">
                <a:solidFill>
                  <a:schemeClr val="tx1"/>
                </a:solidFill>
              </a:rPr>
              <a:t>13.5 quarters and 20×</a:t>
            </a:r>
            <a:endParaRPr lang="en-US" sz="1600" dirty="0"/>
          </a:p>
        </p:txBody>
      </p:sp>
      <p:pic>
        <p:nvPicPr>
          <p:cNvPr id="6" name="Figure" descr="Figure 14.1: one gap, two clocks">    </p:cNvPr>
          <p:cNvPicPr>
            <a:picLocks noChangeAspect="1"/>
          </p:cNvPicPr>
          <p:nvPr/>
        </p:nvPicPr>
        <p:blipFill>
          <a:blip r:embed="rId1"/>
          <a:stretch>
            <a:fillRect/>
          </a:stretch>
        </p:blipFill>
        <p:spPr>
          <a:xfrm>
            <a:off x="5169286" y="2097449"/>
            <a:ext cx="6473769" cy="3102014"/>
          </a:xfrm>
          <a:prstGeom prst="rect">
            <a:avLst/>
          </a:prstGeom>
        </p:spPr>
      </p:pic>
      <p:sp>
        <p:nvSpPr>
          <p:cNvPr id="7" name="Caption"/>
          <p:cNvSpPr txBox="1"/>
          <p:nvPr/>
        </p:nvSpPr>
        <p:spPr>
          <a:xfrm>
            <a:off x="5169286" y="5272615"/>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14.1. One gap, two clocks: the recovery clock (left) and the amplification (right) against the share of a deviation left after a quarter.</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§14.6 · THEOREM 14.5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Feasible now is not viable over the horizon</a:t>
            </a:r>
            <a:endParaRPr lang="en-US" sz="3200" dirty="0"/>
          </a:p>
        </p:txBody>
      </p:sp>
      <p:sp>
        <p:nvSpPr>
          <p:cNvPr id="5" name="Result card"/>
          <p:cNvSpPr/>
          <p:nvPr/>
        </p:nvSpPr>
        <p:spPr>
          <a:xfrm>
            <a:off x="548640" y="1691640"/>
            <a:ext cx="667512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1264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14.5</a:t>
            </a:r>
            <a:endParaRPr lang="en-US" sz="1200" dirty="0"/>
          </a:p>
        </p:txBody>
      </p:sp>
      <p:sp>
        <p:nvSpPr>
          <p:cNvPr id="7" name="Text 4"/>
          <p:cNvSpPr txBox="1"/>
          <p:nvPr/>
        </p:nvSpPr>
        <p:spPr>
          <a:xfrm>
            <a:off x="822960" y="2194560"/>
            <a:ext cx="61264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Feasibility Theorem</a:t>
            </a:r>
            <a:endParaRPr lang="en-US" sz="2100" dirty="0"/>
          </a:p>
        </p:txBody>
      </p:sp>
      <p:pic>
        <p:nvPicPr>
          <p:cNvPr id="8" name="Equation" descr="Equation: V_{0} = \mathcal{F}, \qquad V_{j+1} = \bigl\{\mathbf{x} \in \mathcal{F} :\ f(\mathbf{x}, \mathbf{u}) \in V_{j} \ \text{for some } \mathbf{u}\bigr\}">    </p:cNvPr>
          <p:cNvPicPr>
            <a:picLocks noChangeAspect="1"/>
          </p:cNvPicPr>
          <p:nvPr/>
        </p:nvPicPr>
        <p:blipFill>
          <a:blip r:embed="rId1"/>
          <a:stretch>
            <a:fillRect/>
          </a:stretch>
        </p:blipFill>
        <p:spPr>
          <a:xfrm>
            <a:off x="822960" y="2743200"/>
            <a:ext cx="5958725" cy="411480"/>
          </a:xfrm>
          <a:prstGeom prst="rect">
            <a:avLst/>
          </a:prstGeom>
        </p:spPr>
      </p:pic>
      <p:sp>
        <p:nvSpPr>
          <p:cNvPr id="9" name="Bullets"/>
          <p:cNvSpPr txBox="1"/>
          <p:nvPr/>
        </p:nvSpPr>
        <p:spPr>
          <a:xfrm>
            <a:off x="822960" y="3319272"/>
            <a:ext cx="6126480" cy="271576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Structure.</a:t>
            </a:r>
            <a:r>
              <a:rPr lang="en-US" sz="1500" dirty="0">
                <a:solidFill>
                  <a:schemeClr val="tx1"/>
                </a:solidFill>
              </a:rPr>
              <a:t> The region is compact, convex when every constraint is; slack stays slack nearby</a:t>
            </a:r>
            <a:endParaRPr lang="en-US" sz="1500" dirty="0"/>
          </a:p>
          <a:p>
            <a:pPr marL="228600" indent="-228600">
              <a:spcAft>
                <a:spcPts val="600"/>
              </a:spcAft>
              <a:buSzPct val="100000"/>
              <a:buChar char="•"/>
            </a:pPr>
            <a:r>
              <a:rPr lang="en-US" sz="1500" b="1" dirty="0">
                <a:solidFill>
                  <a:schemeClr val="tx1"/>
                </a:solidFill>
              </a:rPr>
              <a:t>(ii)</a:t>
            </a:r>
            <a:r>
              <a:rPr lang="en-US" sz="1500" dirty="0">
                <a:solidFill>
                  <a:schemeClr val="tx1"/>
                </a:solidFill>
              </a:rPr>
              <a:t> A Slater point, every constraint met strictly, gives the region an interior</a:t>
            </a:r>
            <a:endParaRPr lang="en-US" sz="1500" dirty="0"/>
          </a:p>
          <a:p>
            <a:pPr marL="228600" indent="-228600">
              <a:spcAft>
                <a:spcPts val="600"/>
              </a:spcAft>
              <a:buSzPct val="100000"/>
              <a:buChar char="•"/>
            </a:pPr>
            <a:r>
              <a:rPr lang="en-US" sz="1500" b="1" dirty="0">
                <a:solidFill>
                  <a:schemeClr val="tx1"/>
                </a:solidFill>
              </a:rPr>
              <a:t>(iii) The viability kernel</a:t>
            </a:r>
            <a:r>
              <a:rPr lang="en-US" sz="1500" dirty="0">
                <a:solidFill>
                  <a:schemeClr val="tx1"/>
                </a:solidFill>
              </a:rPr>
              <a:t>, what the shrinking leaves, is the largest part that sustains itself</a:t>
            </a:r>
            <a:endParaRPr lang="en-US" sz="1500" dirty="0"/>
          </a:p>
          <a:p>
            <a:pPr marL="228600" indent="-228600">
              <a:spcAft>
                <a:spcPts val="600"/>
              </a:spcAft>
              <a:buSzPct val="100000"/>
              <a:buChar char="•"/>
            </a:pPr>
            <a:r>
              <a:rPr lang="en-US" sz="1500" b="1" dirty="0">
                <a:solidFill>
                  <a:schemeClr val="tx1"/>
                </a:solidFill>
              </a:rPr>
              <a:t>(iv)</a:t>
            </a:r>
            <a:r>
              <a:rPr lang="en-US" sz="1500" dirty="0">
                <a:solidFill>
                  <a:schemeClr val="tx1"/>
                </a:solidFill>
              </a:rPr>
              <a:t> Per-period feasibility is not viability: feasible this quarter and next can be doomed</a:t>
            </a:r>
            <a:endParaRPr lang="en-US" sz="1500" dirty="0"/>
          </a:p>
          <a:p>
            <a:pPr marL="228600" indent="-228600">
              <a:spcAft>
                <a:spcPts val="600"/>
              </a:spcAft>
              <a:buSzPct val="100000"/>
              <a:buChar char="•"/>
            </a:pPr>
            <a:r>
              <a:rPr lang="en-US" sz="1500" b="1" dirty="0">
                <a:solidFill>
                  <a:schemeClr val="tx1"/>
                </a:solidFill>
              </a:rPr>
              <a:t>(v) Margin.</a:t>
            </a:r>
            <a:r>
              <a:rPr lang="en-US" sz="1500" dirty="0">
                <a:solidFill>
                  <a:schemeClr val="tx1"/>
                </a:solidFill>
              </a:rPr>
              <a:t> The region survives small tightenings exactly when a Slater point exists</a:t>
            </a:r>
            <a:endParaRPr lang="en-US" sz="1500" dirty="0"/>
          </a:p>
        </p:txBody>
      </p:sp>
      <p:sp>
        <p:nvSpPr>
          <p:cNvPr id="10" name="Text 6"/>
          <p:cNvSpPr txBox="1"/>
          <p:nvPr/>
        </p:nvSpPr>
        <p:spPr>
          <a:xfrm>
            <a:off x="7635240" y="1737360"/>
            <a:ext cx="400781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1" name="Bullets"/>
          <p:cNvSpPr txBox="1"/>
          <p:nvPr/>
        </p:nvSpPr>
        <p:spPr>
          <a:xfrm>
            <a:off x="7635240" y="2194560"/>
            <a:ext cx="400781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Rolling plans: each plan feasible and approved, the company walking a corridor that ends</a:t>
            </a:r>
            <a:endParaRPr lang="en-US" sz="1500" dirty="0"/>
          </a:p>
          <a:p>
            <a:pPr marL="228600" indent="-228600">
              <a:spcAft>
                <a:spcPts val="800"/>
              </a:spcAft>
              <a:buSzPct val="100000"/>
              <a:buChar char="•"/>
            </a:pPr>
            <a:r>
              <a:rPr lang="en-US" sz="1500" dirty="0">
                <a:solidFill>
                  <a:schemeClr val="tx1"/>
                </a:solidFill>
              </a:rPr>
              <a:t>The kernel is the analytical content of “strategic room”</a:t>
            </a:r>
            <a:endParaRPr lang="en-US" sz="1500" dirty="0"/>
          </a:p>
          <a:p>
            <a:pPr marL="228600" indent="-228600">
              <a:spcAft>
                <a:spcPts val="800"/>
              </a:spcAft>
              <a:buSzPct val="100000"/>
              <a:buChar char="•"/>
            </a:pPr>
            <a:r>
              <a:rPr lang="en-US" sz="1500" dirty="0">
                <a:solidFill>
                  <a:schemeClr val="tx1"/>
                </a:solidFill>
              </a:rPr>
              <a:t>A Slater point is what holding buffers above floors means</a:t>
            </a:r>
            <a:endParaRPr lang="en-US" sz="1500" dirty="0"/>
          </a:p>
          <a:p>
            <a:pPr marL="228600" indent="-228600">
              <a:spcAft>
                <a:spcPts val="800"/>
              </a:spcAft>
              <a:buSzPct val="100000"/>
              <a:buChar char="•"/>
            </a:pPr>
            <a:r>
              <a:rPr lang="en-US" sz="1500" dirty="0">
                <a:solidFill>
                  <a:schemeClr val="tx1"/>
                </a:solidFill>
              </a:rPr>
              <a:t>Chapter 15 consumes the kernel as the honest planning set</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§14.6 · FIGURE 14.2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runway trap: feasible, and doomed</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$120m of cash above the floor, a $50m burn, cuts of at most $10m a quarter</a:t>
            </a:r>
            <a:endParaRPr lang="en-US" sz="1600" dirty="0"/>
          </a:p>
          <a:p>
            <a:pPr marL="228600" indent="-228600">
              <a:spcAft>
                <a:spcPts val="800"/>
              </a:spcAft>
              <a:buSzPct val="100000"/>
              <a:buChar char="•"/>
            </a:pPr>
            <a:r>
              <a:rPr lang="en-US" sz="1600" dirty="0">
                <a:solidFill>
                  <a:schemeClr val="tx1"/>
                </a:solidFill>
              </a:rPr>
              <a:t>Next quarter is feasible whatever the unit does: cash will be $70m</a:t>
            </a:r>
            <a:endParaRPr lang="en-US" sz="1600" dirty="0"/>
          </a:p>
          <a:p>
            <a:pPr marL="228600" indent="-228600">
              <a:spcAft>
                <a:spcPts val="800"/>
              </a:spcAft>
              <a:buSzPct val="100000"/>
              <a:buChar char="•"/>
            </a:pPr>
            <a:r>
              <a:rPr lang="en-US" sz="1600" dirty="0">
                <a:solidFill>
                  <a:schemeClr val="tx1"/>
                </a:solidFill>
              </a:rPr>
              <a:t>Stopping takes 50 + 40 + 30 + 20 + 10 = </a:t>
            </a:r>
            <a:r>
              <a:rPr lang="en-US" sz="1600" b="1" dirty="0">
                <a:solidFill>
                  <a:schemeClr val="tx1"/>
                </a:solidFill>
              </a:rPr>
              <a:t>$150m</a:t>
            </a:r>
            <a:r>
              <a:rPr lang="en-US" sz="1600" dirty="0">
                <a:solidFill>
                  <a:schemeClr val="tx1"/>
                </a:solidFill>
              </a:rPr>
              <a:t>: with the fastest cuts, cash runs out in quarter 4</a:t>
            </a:r>
            <a:endParaRPr lang="en-US" sz="1600" dirty="0"/>
          </a:p>
          <a:p>
            <a:pPr marL="228600" indent="-228600">
              <a:spcAft>
                <a:spcPts val="800"/>
              </a:spcAft>
              <a:buSzPct val="100000"/>
              <a:buChar char="•"/>
            </a:pPr>
            <a:r>
              <a:rPr lang="en-US" sz="1600" dirty="0">
                <a:solidFill>
                  <a:schemeClr val="tx1"/>
                </a:solidFill>
              </a:rPr>
              <a:t>Repairs: </a:t>
            </a:r>
            <a:r>
              <a:rPr lang="en-US" sz="1600" b="1" dirty="0">
                <a:solidFill>
                  <a:schemeClr val="tx1"/>
                </a:solidFill>
              </a:rPr>
              <a:t>$30m more cash</a:t>
            </a:r>
            <a:r>
              <a:rPr lang="en-US" sz="1600" dirty="0">
                <a:solidFill>
                  <a:schemeClr val="tx1"/>
                </a:solidFill>
              </a:rPr>
              <a:t>, or exit clauses that allow $15m cuts, which make </a:t>
            </a:r>
            <a:r>
              <a:rPr lang="en-US" sz="1600" b="1" dirty="0">
                <a:solidFill>
                  <a:schemeClr val="tx1"/>
                </a:solidFill>
              </a:rPr>
              <a:t>$110m</a:t>
            </a:r>
            <a:r>
              <a:rPr lang="en-US" sz="1600" dirty="0">
                <a:solidFill>
                  <a:schemeClr val="tx1"/>
                </a:solidFill>
              </a:rPr>
              <a:t> enough</a:t>
            </a:r>
            <a:endParaRPr lang="en-US" sz="1600" dirty="0"/>
          </a:p>
          <a:p>
            <a:pPr marL="228600" indent="-228600">
              <a:spcAft>
                <a:spcPts val="800"/>
              </a:spcAft>
              <a:buSzPct val="100000"/>
              <a:buChar char="•"/>
            </a:pPr>
            <a:r>
              <a:rPr lang="en-US" sz="1600" dirty="0">
                <a:solidFill>
                  <a:schemeClr val="tx1"/>
                </a:solidFill>
              </a:rPr>
              <a:t>The kernel's edge grows with the square of the burn</a:t>
            </a:r>
            <a:endParaRPr lang="en-US" sz="1600" dirty="0"/>
          </a:p>
        </p:txBody>
      </p:sp>
      <p:pic>
        <p:nvPicPr>
          <p:cNvPr id="6" name="Figure" descr="Figure 14.2: runway with the brakes on">    </p:cNvPr>
          <p:cNvPicPr>
            <a:picLocks noChangeAspect="1"/>
          </p:cNvPicPr>
          <p:nvPr/>
        </p:nvPicPr>
        <p:blipFill>
          <a:blip r:embed="rId1"/>
          <a:stretch>
            <a:fillRect/>
          </a:stretch>
        </p:blipFill>
        <p:spPr>
          <a:xfrm>
            <a:off x="5169286" y="1878285"/>
            <a:ext cx="6473769" cy="3540342"/>
          </a:xfrm>
          <a:prstGeom prst="rect">
            <a:avLst/>
          </a:prstGeom>
        </p:spPr>
      </p:pic>
      <p:sp>
        <p:nvSpPr>
          <p:cNvPr id="7" name="Caption"/>
          <p:cNvSpPr txBox="1"/>
          <p:nvPr/>
        </p:nvSpPr>
        <p:spPr>
          <a:xfrm>
            <a:off x="5169286" y="5491779"/>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14.2. Below the red line the unit is out of cash next quarter; between it and the solid green curve it is feasible now and next quarter but doomed; above the curve lies the viability kernel.</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§14.7 · THEOREMS 14.6–14.7</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gain audit makes the register falsifiable</a:t>
            </a:r>
            <a:endParaRPr lang="en-US" sz="3200" dirty="0"/>
          </a:p>
        </p:txBody>
      </p:sp>
      <p:sp>
        <p:nvSpPr>
          <p:cNvPr id="5" name="Result card"/>
          <p:cNvSpPr/>
          <p:nvPr/>
        </p:nvSpPr>
        <p:spPr>
          <a:xfrm>
            <a:off x="548640" y="1691640"/>
            <a:ext cx="667512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1264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THEOREMS 14.6 AND 14.7</a:t>
            </a:r>
            <a:endParaRPr lang="en-US" sz="1200" dirty="0"/>
          </a:p>
        </p:txBody>
      </p:sp>
      <p:sp>
        <p:nvSpPr>
          <p:cNvPr id="7" name="Text 4"/>
          <p:cNvSpPr txBox="1"/>
          <p:nvPr/>
        </p:nvSpPr>
        <p:spPr>
          <a:xfrm>
            <a:off x="822960" y="2194560"/>
            <a:ext cx="61264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Structural Consistency and Invariance</a:t>
            </a:r>
            <a:endParaRPr lang="en-US" sz="2100" dirty="0"/>
          </a:p>
        </p:txBody>
      </p:sp>
      <p:sp>
        <p:nvSpPr>
          <p:cNvPr id="8" name="Bullets"/>
          <p:cNvSpPr txBox="1"/>
          <p:nvPr/>
        </p:nvSpPr>
        <p:spPr>
          <a:xfrm>
            <a:off x="822960" y="2743200"/>
            <a:ext cx="612648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Closure.</a:t>
            </a:r>
            <a:r>
              <a:rPr lang="en-US" sz="1500" dirty="0">
                <a:solidFill>
                  <a:schemeClr val="tx1"/>
                </a:solidFill>
              </a:rPr>
              <a:t> The panel survives integration, assembly and projection</a:t>
            </a:r>
            <a:endParaRPr lang="en-US" sz="1500" dirty="0"/>
          </a:p>
          <a:p>
            <a:pPr marL="228600" indent="-228600">
              <a:spcAft>
                <a:spcPts val="600"/>
              </a:spcAft>
              <a:buSzPct val="100000"/>
              <a:buChar char="•"/>
            </a:pPr>
            <a:r>
              <a:rPr lang="en-US" sz="1500" b="1" dirty="0">
                <a:solidFill>
                  <a:schemeClr val="tx1"/>
                </a:solidFill>
              </a:rPr>
              <a:t>The certificate is checkable:</a:t>
            </a:r>
            <a:r>
              <a:rPr lang="en-US" sz="1500" dirty="0">
                <a:solidFill>
                  <a:schemeClr val="tx1"/>
                </a:solidFill>
              </a:rPr>
              <a:t> estimate the Jacobian blocks, compare entry by entry, attribute each violation to its channel</a:t>
            </a:r>
            <a:endParaRPr lang="en-US" sz="1500" dirty="0"/>
          </a:p>
          <a:p>
            <a:pPr marL="228600" indent="-228600">
              <a:spcAft>
                <a:spcPts val="600"/>
              </a:spcAft>
              <a:buSzPct val="100000"/>
              <a:buChar char="•"/>
            </a:pPr>
            <a:r>
              <a:rPr lang="en-US" sz="1500" b="1" dirty="0">
                <a:solidFill>
                  <a:schemeClr val="tx1"/>
                </a:solidFill>
              </a:rPr>
              <a:t>The weakest link:</a:t>
            </a:r>
            <a:r>
              <a:rPr lang="en-US" sz="1500" dirty="0">
                <a:solidFill>
                  <a:schemeClr val="tx1"/>
                </a:solidFill>
              </a:rPr>
              <a:t> one layer that is not Lipschitz voids every bound for the whole system</a:t>
            </a:r>
            <a:endParaRPr lang="en-US" sz="1500" dirty="0"/>
          </a:p>
          <a:p>
            <a:pPr marL="228600" indent="-228600">
              <a:spcAft>
                <a:spcPts val="600"/>
              </a:spcAft>
              <a:buSzPct val="100000"/>
              <a:buChar char="•"/>
            </a:pPr>
            <a:r>
              <a:rPr lang="en-US" sz="1500" b="1" dirty="0">
                <a:solidFill>
                  <a:schemeClr val="tx1"/>
                </a:solidFill>
              </a:rPr>
              <a:t>Invariance:</a:t>
            </a:r>
            <a:r>
              <a:rPr lang="en-US" sz="1500" dirty="0">
                <a:solidFill>
                  <a:schemeClr val="tx1"/>
                </a:solidFill>
              </a:rPr>
              <a:t> sets that trap and identities that hold restrict every reachable future</a:t>
            </a:r>
            <a:endParaRPr lang="en-US" sz="1500" dirty="0"/>
          </a:p>
          <a:p>
            <a:pPr marL="228600" indent="-228600">
              <a:spcAft>
                <a:spcPts val="600"/>
              </a:spcAft>
              <a:buSzPct val="100000"/>
              <a:buChar char="•"/>
            </a:pPr>
            <a:r>
              <a:rPr lang="en-US" sz="1500" b="1" dirty="0">
                <a:solidFill>
                  <a:schemeClr val="tx1"/>
                </a:solidFill>
              </a:rPr>
              <a:t>Tripwires:</a:t>
            </a:r>
            <a:r>
              <a:rPr lang="en-US" sz="1500" dirty="0">
                <a:solidFill>
                  <a:schemeClr val="tx1"/>
                </a:solidFill>
              </a:rPr>
              <a:t> along any admissible computed trajectory, declared identities hold exactly; a violation proves a fault</a:t>
            </a:r>
            <a:endParaRPr lang="en-US" sz="1500" dirty="0"/>
          </a:p>
        </p:txBody>
      </p:sp>
      <p:sp>
        <p:nvSpPr>
          <p:cNvPr id="9" name="Text 6"/>
          <p:cNvSpPr txBox="1"/>
          <p:nvPr/>
        </p:nvSpPr>
        <p:spPr>
          <a:xfrm>
            <a:off x="7635240" y="1737360"/>
            <a:ext cx="400781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7635240" y="2194560"/>
            <a:ext cx="4007815" cy="3977640"/>
          </a:xfrm>
          <a:prstGeom prst="rect">
            <a:avLst/>
          </a:prstGeom>
          <a:noFill/>
          <a:ln/>
        </p:spPr>
        <p:txBody>
          <a:bodyPr wrap="square" lIns="635" tIns="635" rIns="635" bIns="635" rtlCol="0" anchor="t"/>
          <a:lstStyle/>
          <a:p>
            <a:pPr marL="228600" indent="-228600">
              <a:spcAft>
                <a:spcPts val="800"/>
              </a:spcAft>
              <a:buSzPct val="100000"/>
              <a:buChar char="•"/>
            </a:pPr>
            <a:r>
              <a:rPr lang="en-US" sz="1400" dirty="0">
                <a:solidFill>
                  <a:schemeClr val="tx1"/>
                </a:solidFill>
              </a:rPr>
              <a:t>The gain audit, a recurring meeting, renews or suspends the stability and sensitivity guarantees</a:t>
            </a:r>
            <a:endParaRPr lang="en-US" sz="1400" dirty="0"/>
          </a:p>
          <a:p>
            <a:pPr marL="228600" indent="-228600">
              <a:spcAft>
                <a:spcPts val="800"/>
              </a:spcAft>
              <a:buSzPct val="100000"/>
              <a:buChar char="•"/>
            </a:pPr>
            <a:r>
              <a:rPr lang="en-US" sz="1400" dirty="0">
                <a:solidFill>
                  <a:schemeClr val="tx1"/>
                </a:solidFill>
              </a:rPr>
              <a:t>Warranties compose like a chain: signed per layer, audited centrally</a:t>
            </a:r>
            <a:endParaRPr lang="en-US" sz="1400" dirty="0"/>
          </a:p>
          <a:p>
            <a:pPr marL="228600" indent="-228600">
              <a:spcAft>
                <a:spcPts val="800"/>
              </a:spcAft>
              <a:buSzPct val="100000"/>
              <a:buChar char="•"/>
            </a:pPr>
            <a:r>
              <a:rPr lang="en-US" sz="1400" dirty="0">
                <a:solidFill>
                  <a:schemeClr val="tx1"/>
                </a:solidFill>
              </a:rPr>
              <a:t>A jump flags an implementation error, a drift a mis-declared map, a breach an inadmissible state</a:t>
            </a:r>
            <a:endParaRPr lang="en-US" sz="1400" dirty="0"/>
          </a:p>
          <a:p>
            <a:pPr marL="228600" indent="-228600">
              <a:spcAft>
                <a:spcPts val="800"/>
              </a:spcAft>
              <a:buSzPct val="100000"/>
              <a:buChar char="•"/>
            </a:pPr>
            <a:r>
              <a:rPr lang="en-US" sz="1400" dirty="0">
                <a:solidFill>
                  <a:schemeClr val="tx1"/>
                </a:solidFill>
              </a:rPr>
              <a:t>Proposition 14.5: p independent identities leave at most n − p directions of movement</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§14.8 · THEOREM 14.8</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Convergence is certified, or not claimed</a:t>
            </a:r>
            <a:endParaRPr lang="en-US" sz="3200" dirty="0"/>
          </a:p>
        </p:txBody>
      </p:sp>
      <p:sp>
        <p:nvSpPr>
          <p:cNvPr id="5" name="Result card"/>
          <p:cNvSpPr/>
          <p:nvPr/>
        </p:nvSpPr>
        <p:spPr>
          <a:xfrm>
            <a:off x="548640" y="1691640"/>
            <a:ext cx="667512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1264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14.8</a:t>
            </a:r>
            <a:endParaRPr lang="en-US" sz="1200" dirty="0"/>
          </a:p>
        </p:txBody>
      </p:sp>
      <p:sp>
        <p:nvSpPr>
          <p:cNvPr id="7" name="Text 4"/>
          <p:cNvSpPr txBox="1"/>
          <p:nvPr/>
        </p:nvSpPr>
        <p:spPr>
          <a:xfrm>
            <a:off x="822960" y="2194560"/>
            <a:ext cx="61264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Unified Enterprise Convergence Theorem</a:t>
            </a:r>
            <a:endParaRPr lang="en-US" sz="2100" dirty="0"/>
          </a:p>
        </p:txBody>
      </p:sp>
      <p:pic>
        <p:nvPicPr>
          <p:cNvPr id="8" name="Equation" descr="Equation: \lVert \mathbf{x}_{k} - \mathbf{x}^{*} \rVert \;\le\; \frac{L}{1 - L}\, \lVert \mathbf{x}_{k} - \mathbf{x}_{k-1} \rVert">    </p:cNvPr>
          <p:cNvPicPr>
            <a:picLocks noChangeAspect="1"/>
          </p:cNvPicPr>
          <p:nvPr/>
        </p:nvPicPr>
        <p:blipFill>
          <a:blip r:embed="rId1"/>
          <a:stretch>
            <a:fillRect/>
          </a:stretch>
        </p:blipFill>
        <p:spPr>
          <a:xfrm>
            <a:off x="822960" y="2743200"/>
            <a:ext cx="2984549" cy="566928"/>
          </a:xfrm>
          <a:prstGeom prst="rect">
            <a:avLst/>
          </a:prstGeom>
        </p:spPr>
      </p:pic>
      <p:sp>
        <p:nvSpPr>
          <p:cNvPr id="9" name="Bullets"/>
          <p:cNvSpPr txBox="1"/>
          <p:nvPr/>
        </p:nvSpPr>
        <p:spPr>
          <a:xfrm>
            <a:off x="822960" y="3474720"/>
            <a:ext cx="6126480" cy="256032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Contraction:</a:t>
            </a:r>
            <a:r>
              <a:rPr lang="en-US" sz="1500" dirty="0">
                <a:solidFill>
                  <a:schemeClr val="tx1"/>
                </a:solidFill>
              </a:rPr>
              <a:t> geometric convergence, with a priori and a posteriori bounds</a:t>
            </a:r>
            <a:endParaRPr lang="en-US" sz="1500" dirty="0"/>
          </a:p>
          <a:p>
            <a:pPr marL="228600" indent="-228600">
              <a:spcAft>
                <a:spcPts val="600"/>
              </a:spcAft>
              <a:buSzPct val="100000"/>
              <a:buChar char="•"/>
            </a:pPr>
            <a:r>
              <a:rPr lang="en-US" sz="1500" b="1" dirty="0">
                <a:solidFill>
                  <a:schemeClr val="tx1"/>
                </a:solidFill>
              </a:rPr>
              <a:t>(ii) Lyapunov and invariance:</a:t>
            </a:r>
            <a:r>
              <a:rPr lang="en-US" sz="1500" dirty="0">
                <a:solidFill>
                  <a:schemeClr val="tx1"/>
                </a:solidFill>
              </a:rPr>
              <a:t> a health index that never rises (LaSalle)</a:t>
            </a:r>
            <a:endParaRPr lang="en-US" sz="1500" dirty="0"/>
          </a:p>
          <a:p>
            <a:pPr marL="228600" indent="-228600">
              <a:spcAft>
                <a:spcPts val="600"/>
              </a:spcAft>
              <a:buSzPct val="100000"/>
              <a:buChar char="•"/>
            </a:pPr>
            <a:r>
              <a:rPr lang="en-US" sz="1500" b="1" dirty="0">
                <a:solidFill>
                  <a:schemeClr val="tx1"/>
                </a:solidFill>
              </a:rPr>
              <a:t>(iii) Monotone brackets:</a:t>
            </a:r>
            <a:r>
              <a:rPr lang="en-US" sz="1500" dirty="0">
                <a:solidFill>
                  <a:schemeClr val="tx1"/>
                </a:solidFill>
              </a:rPr>
              <a:t> two books bracket every intermediate reality</a:t>
            </a:r>
            <a:endParaRPr lang="en-US" sz="1500" dirty="0"/>
          </a:p>
          <a:p>
            <a:pPr marL="228600" indent="-228600">
              <a:spcAft>
                <a:spcPts val="600"/>
              </a:spcAft>
              <a:buSzPct val="100000"/>
              <a:buChar char="•"/>
            </a:pPr>
            <a:r>
              <a:rPr lang="en-US" sz="1500" b="1" dirty="0">
                <a:solidFill>
                  <a:schemeClr val="tx1"/>
                </a:solidFill>
              </a:rPr>
              <a:t>(iv) Stochastic:</a:t>
            </a:r>
            <a:r>
              <a:rPr lang="en-US" sz="1500" dirty="0">
                <a:solidFill>
                  <a:schemeClr val="tx1"/>
                </a:solidFill>
              </a:rPr>
              <a:t> the company settles to a band, never to a point</a:t>
            </a:r>
            <a:endParaRPr lang="en-US" sz="1500" dirty="0"/>
          </a:p>
          <a:p>
            <a:pPr marL="228600" indent="-228600">
              <a:spcAft>
                <a:spcPts val="600"/>
              </a:spcAft>
              <a:buSzPct val="100000"/>
              <a:buChar char="•"/>
            </a:pPr>
            <a:r>
              <a:rPr lang="en-US" sz="1500" b="1" dirty="0">
                <a:solidFill>
                  <a:schemeClr val="tx1"/>
                </a:solidFill>
              </a:rPr>
              <a:t>(v) No certificate, no promise:</a:t>
            </a:r>
            <a:r>
              <a:rPr lang="en-US" sz="1500" dirty="0">
                <a:solidFill>
                  <a:schemeClr val="tx1"/>
                </a:solidFill>
              </a:rPr>
              <a:t> an eigenvalue on or outside the unit circle, and deviations persist, oscillate or diverge</a:t>
            </a:r>
            <a:endParaRPr lang="en-US" sz="1500" dirty="0"/>
          </a:p>
        </p:txBody>
      </p:sp>
      <p:sp>
        <p:nvSpPr>
          <p:cNvPr id="10" name="Text 6"/>
          <p:cNvSpPr txBox="1"/>
          <p:nvPr/>
        </p:nvSpPr>
        <p:spPr>
          <a:xfrm>
            <a:off x="7635240" y="1737360"/>
            <a:ext cx="400781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1" name="Bullets"/>
          <p:cNvSpPr txBox="1"/>
          <p:nvPr/>
        </p:nvSpPr>
        <p:spPr>
          <a:xfrm>
            <a:off x="7635240" y="2194560"/>
            <a:ext cx="400781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This quarter's movement and the audited L bound the distance to the settling point now</a:t>
            </a:r>
            <a:endParaRPr lang="en-US" sz="1500" dirty="0"/>
          </a:p>
          <a:p>
            <a:pPr marL="228600" indent="-228600">
              <a:spcAft>
                <a:spcPts val="800"/>
              </a:spcAft>
              <a:buSzPct val="100000"/>
              <a:buChar char="•"/>
            </a:pPr>
            <a:r>
              <a:rPr lang="en-US" sz="1500" dirty="0">
                <a:solidFill>
                  <a:schemeClr val="tx1"/>
                </a:solidFill>
              </a:rPr>
              <a:t>Twin books are licensed when the Jacobian's signs preserve order, checked in the gain audit</a:t>
            </a:r>
            <a:endParaRPr lang="en-US" sz="1500" dirty="0"/>
          </a:p>
          <a:p>
            <a:pPr marL="228600" indent="-228600">
              <a:spcAft>
                <a:spcPts val="800"/>
              </a:spcAft>
              <a:buSzPct val="100000"/>
              <a:buChar char="•"/>
            </a:pPr>
            <a:r>
              <a:rPr lang="en-US" sz="1500" dirty="0">
                <a:solidFill>
                  <a:schemeClr val="tx1"/>
                </a:solidFill>
              </a:rPr>
              <a:t>Nothing here says where the company should settle: that is Chapter 15's question</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§14.9 · TABLE 14.3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optimization inherits from analysis</a:t>
            </a:r>
            <a:endParaRPr lang="en-US" sz="32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273762"/>
                <a:gridCol w="4001264"/>
                <a:gridCol w="3819389"/>
              </a:tblGrid>
              <a:tr h="402336">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Delivers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The optimization uses it as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Theorem 14.1 (existence)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trajectories; operating points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decision-to-outcome map that exists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Theorem 14.2 (uniqueness)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one outcome per policy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well-defined objective values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Theorem 14.3 (stability)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spectral, budget and Lyapunov tests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holdability constraints on optima</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Theorem 14.4 (sensitivity)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multipliers; conditioning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gradients for first-order theory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Theorem 14.5 (feasibility)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compact region; margin; kernel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existence of optima; the honest planning set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Theorem 14.6 (consistency)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panel closure; gain audit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model-risk governance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Theorem 14.7 (invariance)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trapped sets; identities; tripwires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dimension reduction; conservation constraints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Theorem 14.8 (convergence)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rates; brackets; bands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implementable optima; certified horizons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413248"/>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14.3. Definition 14.11 measures analytical complexity; Definition 14.12 states the preliminary optimality condition, whose gradients are the layered sensitivities.</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Complexity is partly chosen: sparsity, the gap and the invariants are governance decisions.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14.1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Can Meridian afford the new link?</a:t>
            </a:r>
            <a:endParaRPr lang="en-US" sz="3200" dirty="0"/>
          </a:p>
        </p:txBody>
      </p:sp>
      <p:sp>
        <p:nvSpPr>
          <p:cNvPr id="5" name="Card"/>
          <p:cNvSpPr/>
          <p:nvPr/>
        </p:nvSpPr>
        <p:spPr>
          <a:xfrm>
            <a:off x="548640" y="1691640"/>
            <a:ext cx="3515258" cy="2743200"/>
          </a:xfrm>
          <a:prstGeom prst="roundRect">
            <a:avLst>
              <a:gd name="adj" fmla="val 2667"/>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strategy office</a:t>
            </a:r>
            <a:endParaRPr lang="en-US" sz="1300" dirty="0"/>
          </a:p>
        </p:txBody>
      </p:sp>
      <p:sp>
        <p:nvSpPr>
          <p:cNvPr id="7" name="Card head"/>
          <p:cNvSpPr txBox="1"/>
          <p:nvPr/>
        </p:nvSpPr>
        <p:spPr>
          <a:xfrm>
            <a:off x="731520" y="2148840"/>
            <a:ext cx="3149498" cy="94183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The digital program's largest synergy</a:t>
            </a:r>
            <a:endParaRPr lang="en-US" sz="1900" dirty="0"/>
          </a:p>
        </p:txBody>
      </p:sp>
      <p:sp>
        <p:nvSpPr>
          <p:cNvPr id="8" name="Card text"/>
          <p:cNvSpPr txBox="1"/>
          <p:nvPr/>
        </p:nvSpPr>
        <p:spPr>
          <a:xfrm>
            <a:off x="731520" y="3163824"/>
            <a:ext cx="3149498" cy="1143000"/>
          </a:xfrm>
          <a:prstGeom prst="rect">
            <a:avLst/>
          </a:prstGeom>
          <a:noFill/>
          <a:ln/>
        </p:spPr>
        <p:txBody>
          <a:bodyPr wrap="square" lIns="0" tIns="0" rIns="0" bIns="0" rtlCol="0" anchor="t"/>
          <a:lstStyle/>
          <a:p>
            <a:pPr indent="0" marL="0">
              <a:buNone/>
            </a:pPr>
            <a:r>
              <a:rPr lang="en-US" sz="1500" dirty="0">
                <a:solidFill>
                  <a:schemeClr val="tx2"/>
                </a:solidFill>
              </a:rPr>
              <a:t>Phase two links Digital and Industrial Systems directly: the platform into the installed base, the software through the service teams.</a:t>
            </a:r>
            <a:endParaRPr lang="en-US" sz="1500" dirty="0"/>
          </a:p>
        </p:txBody>
      </p:sp>
      <p:sp>
        <p:nvSpPr>
          <p:cNvPr id="9" name="Card"/>
          <p:cNvSpPr/>
          <p:nvPr/>
        </p:nvSpPr>
        <p:spPr>
          <a:xfrm>
            <a:off x="4338218" y="1691640"/>
            <a:ext cx="3515258" cy="2743200"/>
          </a:xfrm>
          <a:prstGeom prst="roundRect">
            <a:avLst>
              <a:gd name="adj" fmla="val 2667"/>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risk committee</a:t>
            </a:r>
            <a:endParaRPr lang="en-US" sz="1300" dirty="0"/>
          </a:p>
        </p:txBody>
      </p:sp>
      <p:sp>
        <p:nvSpPr>
          <p:cNvPr id="11" name="Card head"/>
          <p:cNvSpPr txBox="1"/>
          <p:nvPr/>
        </p:nvSpPr>
        <p:spPr>
          <a:xfrm>
            <a:off x="4521098" y="2148840"/>
            <a:ext cx="3149498" cy="94183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What does it do to Meridian's stability?</a:t>
            </a:r>
            <a:endParaRPr lang="en-US" sz="1900" dirty="0"/>
          </a:p>
        </p:txBody>
      </p:sp>
      <p:sp>
        <p:nvSpPr>
          <p:cNvPr id="12" name="Card text"/>
          <p:cNvSpPr txBox="1"/>
          <p:nvPr/>
        </p:nvSpPr>
        <p:spPr>
          <a:xfrm>
            <a:off x="4521098" y="3163824"/>
            <a:ext cx="3149498" cy="1143000"/>
          </a:xfrm>
          <a:prstGeom prst="rect">
            <a:avLst/>
          </a:prstGeom>
          <a:noFill/>
          <a:ln/>
        </p:spPr>
        <p:txBody>
          <a:bodyPr wrap="square" lIns="0" tIns="0" rIns="0" bIns="0" rtlCol="0" anchor="t"/>
          <a:lstStyle/>
          <a:p>
            <a:pPr indent="0" marL="0">
              <a:buNone/>
            </a:pPr>
            <a:r>
              <a:rPr lang="en-US" sz="1500" dirty="0">
                <a:solidFill>
                  <a:schemeClr val="tx2"/>
                </a:solidFill>
              </a:rPr>
              <a:t>Its register caps every link of the feedback core at 0.40 of a quarter's deviation.</a:t>
            </a:r>
            <a:endParaRPr lang="en-US" sz="1500" dirty="0"/>
          </a:p>
        </p:txBody>
      </p:sp>
      <p:sp>
        <p:nvSpPr>
          <p:cNvPr id="13" name="Card"/>
          <p:cNvSpPr/>
          <p:nvPr/>
        </p:nvSpPr>
        <p:spPr>
          <a:xfrm>
            <a:off x="8127797" y="1691640"/>
            <a:ext cx="3515258" cy="2743200"/>
          </a:xfrm>
          <a:prstGeom prst="roundRect">
            <a:avLst>
              <a:gd name="adj" fmla="val 2667"/>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board</a:t>
            </a:r>
            <a:endParaRPr lang="en-US" sz="1300" dirty="0"/>
          </a:p>
        </p:txBody>
      </p:sp>
      <p:sp>
        <p:nvSpPr>
          <p:cNvPr id="15" name="Card head"/>
          <p:cNvSpPr txBox="1"/>
          <p:nvPr/>
        </p:nvSpPr>
        <p:spPr>
          <a:xfrm>
            <a:off x="8310677" y="2148840"/>
            <a:ext cx="3149498" cy="941832"/>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Any deviation must halve within a year</a:t>
            </a:r>
            <a:endParaRPr lang="en-US" sz="1900" dirty="0"/>
          </a:p>
        </p:txBody>
      </p:sp>
      <p:sp>
        <p:nvSpPr>
          <p:cNvPr id="16" name="Card text"/>
          <p:cNvSpPr txBox="1"/>
          <p:nvPr/>
        </p:nvSpPr>
        <p:spPr>
          <a:xfrm>
            <a:off x="8310677" y="3163824"/>
            <a:ext cx="3149498" cy="1143000"/>
          </a:xfrm>
          <a:prstGeom prst="rect">
            <a:avLst/>
          </a:prstGeom>
          <a:noFill/>
          <a:ln/>
        </p:spPr>
        <p:txBody>
          <a:bodyPr wrap="square" lIns="0" tIns="0" rIns="0" bIns="0" rtlCol="0" anchor="t"/>
          <a:lstStyle/>
          <a:p>
            <a:pPr indent="0" marL="0">
              <a:buNone/>
            </a:pPr>
            <a:r>
              <a:rPr lang="en-US" sz="1500" dirty="0">
                <a:solidFill>
                  <a:schemeClr val="bg2"/>
                </a:solidFill>
              </a:rPr>
              <a:t>A half-life of at most four quarters: a spectral radius of at most 0.84.</a:t>
            </a:r>
            <a:endParaRPr lang="en-US" sz="1500" dirty="0"/>
          </a:p>
        </p:txBody>
      </p:sp>
      <p:sp>
        <p:nvSpPr>
          <p:cNvPr id="17" name="Lead"/>
          <p:cNvSpPr txBox="1"/>
          <p:nvPr/>
        </p:nvSpPr>
        <p:spPr>
          <a:xfrm>
            <a:off x="548640" y="470916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Industrial Systems and Digital are each wired both ways to engineering and treasury (Worked Example 9.1).</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14.1 · STEPS 1–2 · FIGURE 14.3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One well-meant link breaks the certificate</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Step 1:</a:t>
            </a:r>
            <a:r>
              <a:rPr lang="en-US" sz="1600" dirty="0">
                <a:solidFill>
                  <a:schemeClr val="tx1"/>
                </a:solidFill>
              </a:rPr>
              <a:t> two links a unit, 0.80 passed on: radius </a:t>
            </a:r>
            <a:r>
              <a:rPr lang="en-US" sz="1600" b="1" dirty="0">
                <a:solidFill>
                  <a:schemeClr val="tx1"/>
                </a:solidFill>
              </a:rPr>
              <a:t>0.80</a:t>
            </a:r>
            <a:r>
              <a:rPr lang="en-US" sz="1600" dirty="0">
                <a:solidFill>
                  <a:schemeClr val="tx1"/>
                </a:solidFill>
              </a:rPr>
              <a:t>, a half-life of 3.1 quarters</a:t>
            </a:r>
            <a:endParaRPr lang="en-US" sz="1600" dirty="0"/>
          </a:p>
          <a:p>
            <a:pPr marL="228600" indent="-228600">
              <a:spcAft>
                <a:spcPts val="800"/>
              </a:spcAft>
              <a:buSzPct val="100000"/>
              <a:buChar char="•"/>
            </a:pPr>
            <a:r>
              <a:rPr lang="en-US" sz="1600" dirty="0">
                <a:solidFill>
                  <a:schemeClr val="tx1"/>
                </a:solidFill>
              </a:rPr>
              <a:t>Amplification 5: $10m a quarter at Digital settles at $50m, $40m of it knock-on</a:t>
            </a:r>
            <a:endParaRPr lang="en-US" sz="1600" dirty="0"/>
          </a:p>
          <a:p>
            <a:pPr marL="228600" indent="-228600">
              <a:spcAft>
                <a:spcPts val="800"/>
              </a:spcAft>
              <a:buSzPct val="100000"/>
              <a:buChar char="•"/>
            </a:pPr>
            <a:r>
              <a:rPr lang="en-US" sz="1600" b="1" dirty="0">
                <a:solidFill>
                  <a:schemeClr val="tx1"/>
                </a:solidFill>
              </a:rPr>
              <a:t>Step 2:</a:t>
            </a:r>
            <a:r>
              <a:rPr lang="en-US" sz="1600" dirty="0">
                <a:solidFill>
                  <a:schemeClr val="tx1"/>
                </a:solidFill>
              </a:rPr>
              <a:t> with the new link at 0.40, Industrial Systems and Digital pass on 1.20: radius </a:t>
            </a:r>
            <a:r>
              <a:rPr lang="en-US" sz="1600" b="1" dirty="0">
                <a:solidFill>
                  <a:schemeClr val="tx1"/>
                </a:solidFill>
              </a:rPr>
              <a:t>1.02</a:t>
            </a:r>
            <a:endParaRPr lang="en-US" sz="1600" dirty="0"/>
          </a:p>
          <a:p>
            <a:pPr marL="228600" indent="-228600">
              <a:spcAft>
                <a:spcPts val="800"/>
              </a:spcAft>
              <a:buSzPct val="100000"/>
              <a:buChar char="•"/>
            </a:pPr>
            <a:r>
              <a:rPr lang="en-US" sz="1600" dirty="0">
                <a:solidFill>
                  <a:schemeClr val="tx1"/>
                </a:solidFill>
              </a:rPr>
              <a:t>A $10m shock echoes as $12m next quarter and $15m after three years</a:t>
            </a:r>
            <a:endParaRPr lang="en-US" sz="1600" dirty="0"/>
          </a:p>
          <a:p>
            <a:pPr marL="228600" indent="-228600">
              <a:spcAft>
                <a:spcPts val="800"/>
              </a:spcAft>
              <a:buSzPct val="100000"/>
              <a:buChar char="•"/>
            </a:pPr>
            <a:r>
              <a:rPr lang="en-US" sz="1600" dirty="0">
                <a:solidFill>
                  <a:schemeClr val="tx1"/>
                </a:solidFill>
              </a:rPr>
              <a:t>Every link passes its own review; the failure belongs to the two new loops</a:t>
            </a:r>
            <a:endParaRPr lang="en-US" sz="1600" dirty="0"/>
          </a:p>
        </p:txBody>
      </p:sp>
      <p:pic>
        <p:nvPicPr>
          <p:cNvPr id="6" name="Figure" descr="Figure 14.3: can Meridian afford the new link?">    </p:cNvPr>
          <p:cNvPicPr>
            <a:picLocks noChangeAspect="1"/>
          </p:cNvPicPr>
          <p:nvPr/>
        </p:nvPicPr>
        <p:blipFill>
          <a:blip r:embed="rId1"/>
          <a:stretch>
            <a:fillRect/>
          </a:stretch>
        </p:blipFill>
        <p:spPr>
          <a:xfrm>
            <a:off x="5391174" y="2044783"/>
            <a:ext cx="6251881" cy="3207345"/>
          </a:xfrm>
          <a:prstGeom prst="rect">
            <a:avLst/>
          </a:prstGeom>
        </p:spPr>
      </p:pic>
      <p:sp>
        <p:nvSpPr>
          <p:cNvPr id="7" name="Caption"/>
          <p:cNvSpPr txBox="1"/>
          <p:nvPr/>
        </p:nvSpPr>
        <p:spPr>
          <a:xfrm>
            <a:off x="5391174" y="5325281"/>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14.3. Left: the core, every link capped at 0.40, and the new link. Right: the echo of a $10m shock at Digital, summed over the core, with every link at its ceiling.</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14.1 · STEPS 3–5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Re-budget the core under the board's rule</a:t>
            </a:r>
            <a:endParaRPr lang="en-US" sz="3200" dirty="0"/>
          </a:p>
        </p:txBody>
      </p:sp>
      <p:pic>
        <p:nvPicPr>
          <p:cNvPr id="5" name="Equation" descr="Equation: \rho \;=\; \tfrac{1}{2}\Bigl(h + \sqrt{h^{2} + 8\,(e^{2} + t^{2})}\Bigr) \;\le\; 2^{-1/4} \;=\; 0.84">    </p:cNvPr>
          <p:cNvPicPr>
            <a:picLocks noChangeAspect="1"/>
          </p:cNvPicPr>
          <p:nvPr/>
        </p:nvPicPr>
        <p:blipFill>
          <a:blip r:embed="rId1"/>
          <a:stretch>
            <a:fillRect/>
          </a:stretch>
        </p:blipFill>
        <p:spPr>
          <a:xfrm>
            <a:off x="2119380" y="1828800"/>
            <a:ext cx="7952935" cy="914400"/>
          </a:xfrm>
          <a:prstGeom prst="rect">
            <a:avLst/>
          </a:prstGeom>
        </p:spPr>
      </p:pic>
      <p:sp>
        <p:nvSpPr>
          <p:cNvPr id="6" name="Text 2"/>
          <p:cNvSpPr txBox="1"/>
          <p:nvPr/>
        </p:nvSpPr>
        <p:spPr>
          <a:xfrm>
            <a:off x="914400" y="288036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engineering links e, treasury links t, the new link h: the register's radius in closed form</a:t>
            </a:r>
            <a:endParaRPr lang="en-US" sz="1600" dirty="0"/>
          </a:p>
        </p:txBody>
      </p:sp>
      <p:sp>
        <p:nvSpPr>
          <p:cNvPr id="7" name="Bullets"/>
          <p:cNvSpPr txBox="1"/>
          <p:nvPr/>
        </p:nvSpPr>
        <p:spPr>
          <a:xfrm>
            <a:off x="914400" y="3474720"/>
            <a:ext cx="10362895" cy="26974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3:</a:t>
            </a:r>
            <a:r>
              <a:rPr lang="en-US" sz="1700" dirty="0">
                <a:solidFill>
                  <a:schemeClr val="bg1"/>
                </a:solidFill>
              </a:rPr>
              <a:t> the new link at most at </a:t>
            </a:r>
            <a:r>
              <a:rPr lang="en-US" sz="1700" b="1" dirty="0">
                <a:solidFill>
                  <a:schemeClr val="bg1"/>
                </a:solidFill>
              </a:rPr>
              <a:t>0.08</a:t>
            </a:r>
            <a:r>
              <a:rPr lang="en-US" sz="1700" dirty="0">
                <a:solidFill>
                  <a:schemeClr val="bg1"/>
                </a:solidFill>
              </a:rPr>
              <a:t>; or treasury's links at </a:t>
            </a:r>
            <a:r>
              <a:rPr lang="en-US" sz="1700" b="1" dirty="0">
                <a:solidFill>
                  <a:schemeClr val="bg1"/>
                </a:solidFill>
              </a:rPr>
              <a:t>0.16</a:t>
            </a:r>
            <a:r>
              <a:rPr lang="en-US" sz="1700" dirty="0">
                <a:solidFill>
                  <a:schemeClr val="bg1"/>
                </a:solidFill>
              </a:rPr>
              <a:t>; or every existing link trimmed from 0.40 to </a:t>
            </a:r>
            <a:r>
              <a:rPr lang="en-US" sz="1700" b="1" dirty="0">
                <a:solidFill>
                  <a:schemeClr val="bg1"/>
                </a:solidFill>
              </a:rPr>
              <a:t>0.30</a:t>
            </a:r>
            <a:endParaRPr lang="en-US" sz="1700" dirty="0"/>
          </a:p>
          <a:p>
            <a:pPr marL="228600" indent="-228600">
              <a:spcAft>
                <a:spcPts val="800"/>
              </a:spcAft>
              <a:buSzPct val="100000"/>
              <a:buChar char="•"/>
            </a:pPr>
            <a:r>
              <a:rPr lang="en-US" sz="1700" b="1" dirty="0">
                <a:solidFill>
                  <a:schemeClr val="bg1"/>
                </a:solidFill>
              </a:rPr>
              <a:t>Step 4:</a:t>
            </a:r>
            <a:r>
              <a:rPr lang="en-US" sz="1700" dirty="0">
                <a:solidFill>
                  <a:schemeClr val="bg1"/>
                </a:solidFill>
              </a:rPr>
              <a:t> each repair sits on its edge: amplification from </a:t>
            </a:r>
            <a:r>
              <a:rPr lang="en-US" sz="1700" b="1" dirty="0">
                <a:solidFill>
                  <a:schemeClr val="bg1"/>
                </a:solidFill>
              </a:rPr>
              <a:t>5 to 6.3</a:t>
            </a:r>
            <a:r>
              <a:rPr lang="en-US" sz="1700" dirty="0">
                <a:solidFill>
                  <a:schemeClr val="bg1"/>
                </a:solidFill>
              </a:rPr>
              <a:t>; the same shortfall settles at $64–70m a quarter</a:t>
            </a:r>
            <a:endParaRPr lang="en-US" sz="1700" dirty="0"/>
          </a:p>
          <a:p>
            <a:pPr marL="228600" indent="-228600">
              <a:spcAft>
                <a:spcPts val="800"/>
              </a:spcAft>
              <a:buSzPct val="100000"/>
              <a:buChar char="•"/>
            </a:pPr>
            <a:r>
              <a:rPr lang="en-US" sz="1700" b="1" dirty="0">
                <a:solidFill>
                  <a:schemeClr val="bg1"/>
                </a:solidFill>
              </a:rPr>
              <a:t>Step 5:</a:t>
            </a:r>
            <a:r>
              <a:rPr lang="en-US" sz="1700" dirty="0">
                <a:solidFill>
                  <a:schemeClr val="bg1"/>
                </a:solidFill>
              </a:rPr>
              <a:t> the link is a structural change, priced by re-analysis; the integration plan becomes a gain-reduction schedule, checked in the gain audit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14.1 · TABLE 14.4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synergy costs a quarter of every coupling</a:t>
            </a:r>
            <a:endParaRPr lang="en-US" sz="320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461458"/>
                <a:gridCol w="1198197"/>
                <a:gridCol w="1286952"/>
                <a:gridCol w="1153819"/>
                <a:gridCol w="887553"/>
                <a:gridCol w="1686351"/>
                <a:gridCol w="1420085"/>
              </a:tblGrid>
              <a:tr h="475488">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Register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Eng. links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Treas. links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New link</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ρ</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Half-life (quarters)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Settled ($m)</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Today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0.80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New link at the ceiling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none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no limit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Run the new link light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0.08</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0.84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64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Ring-fence treasury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0.16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0.84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68</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75488">
                <a:tc>
                  <a:txBody>
                    <a:bodyPr/>
                    <a:lstStyle/>
                    <a:p>
                      <a:pPr algn="l" indent="0" marL="0">
                        <a:buNone/>
                      </a:pPr>
                      <a:r>
                        <a:rPr lang="en-US" sz="1600" b="1" dirty="0">
                          <a:solidFill>
                            <a:srgbClr val="0F1E3D"/>
                          </a:solidFill>
                          <a:latin typeface="Calibri" pitchFamily="34" charset="0"/>
                          <a:ea typeface="Calibri" pitchFamily="34" charset="-122"/>
                          <a:cs typeface="Calibri" pitchFamily="34" charset="-120"/>
                        </a:rPr>
                        <a:t>Trim every existing link</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0.30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0.30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0.84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70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484632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14.4. Gains: the share of a quarter's deviation passed on per link. Settled: the deviation across the core per quarter for a permanent $10 million a quarter shortfall at Digital.</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Real and affordable, but not free: no office's review would find the bill, because no single link is to blame.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1.14 · MODULE AXIOM-14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How close to the edge is Meridian,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Before Chapter 15's optimization is run on Meridian, the board wants an analysis certificate: is the model well posed, how stable is the company, how strongly does it respond to change, and can it stay within its limits for the whole horizon? Open AXIOM, choose Lab 1.14 and load the Meridian model.</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Stability bench</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Edit couplings; watch the radius, margin, half-life and Lyapunov bowl; add the new link and find trims that meet the rule.</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Sensitivity explorer</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Multipliers with the walk decomposition and the elasticity table; turn the blow-up dial toward 1.</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Perturbation simulator</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A state shock, a recalibration and an acquisition: why only the first two have derivatives.</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Feasible-region visualizer</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viability iteration on the restructuring corridor and apply its two repairs.</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Diagnostics dashboard</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Read the complexity panel, run the gain audit, trip an invariant and classify the violation.</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analysis certificate for the board: the register's spectral radius and its margin; the half-life and the amplification; the re-budget for the new link, with its cost; the viability check and its repairs; and the audit plan. About 75–90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Analysis runs on a declared panel—a bounded region, regular responses, and an audited coupling register—and every guarantee has an owner.</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One policy, one future, boundedly sensitive to recalibration; and no route back from the state to its history.</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coupling register is a stability budget: true dynamics within the ceilings settle whenever the register's spectral radius is below 1, and stable units do not certify a stable company.</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spectral gap is the company's temperament: near the edge, recovery is slow and every change is amplified.</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Feasible this quarter and next can still be doomed: only the viability kernel certifies the horizon, and margin is what makes feasibility robust.</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47</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71</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26114</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AXIOM-14</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1.14</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DCT_V1_Ch14_Lab.ipynb: Worked Example 14.1 and the lab's five steps in nine panels, ending with the analysis certificate,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DCT_V1_Ch14_Lab.xlsx: a live stability bench, Table 14.4 and its frontier, the clocks, the sensitivity explorer, the runway's viability sets and the dashboard,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15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15 chooses among admissible futures</a:t>
            </a:r>
            <a:endParaRPr lang="en-US" sz="3200" dirty="0"/>
          </a:p>
        </p:txBody>
      </p:sp>
      <p:pic>
        <p:nvPicPr>
          <p:cNvPr id="5" name="Equation" descr="Equation: \max_{\pi \in \Pi}\; J(\pi) \;=\; \mathrm{E}\Bigl[\,\sum_{k=0}^{K-1} L(\mathbf{x}_{k}, \mathbf{u}_{k}, k) \;+\; \Phi_{T}(\mathbf{x}_{K})\Bigr]">    </p:cNvPr>
          <p:cNvPicPr>
            <a:picLocks noChangeAspect="1"/>
          </p:cNvPicPr>
          <p:nvPr/>
        </p:nvPicPr>
        <p:blipFill>
          <a:blip r:embed="rId1"/>
          <a:stretch>
            <a:fillRect/>
          </a:stretch>
        </p:blipFill>
        <p:spPr>
          <a:xfrm>
            <a:off x="3624323" y="1691640"/>
            <a:ext cx="4943049" cy="868680"/>
          </a:xfrm>
          <a:prstGeom prst="rect">
            <a:avLst/>
          </a:prstGeom>
        </p:spPr>
      </p:pic>
      <p:sp>
        <p:nvSpPr>
          <p:cNvPr id="6" name="Bullets"/>
          <p:cNvSpPr txBox="1"/>
          <p:nvPr/>
        </p:nvSpPr>
        <p:spPr>
          <a:xfrm>
            <a:off x="548640" y="2880360"/>
            <a:ext cx="11094415" cy="329184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Of the futures the company can reach, which should it choose? One problem, the General Enterprise Optimization Problem, posed on this certified object</a:t>
            </a:r>
            <a:endParaRPr lang="en-US" sz="1800" dirty="0"/>
          </a:p>
          <a:p>
            <a:pPr marL="228600" indent="-228600">
              <a:spcAft>
                <a:spcPts val="800"/>
              </a:spcAft>
              <a:buSzPct val="100000"/>
              <a:buChar char="•"/>
            </a:pPr>
            <a:r>
              <a:rPr lang="en-US" sz="1800" dirty="0">
                <a:solidFill>
                  <a:schemeClr val="bg1"/>
                </a:solidFill>
              </a:rPr>
              <a:t>Its feasible set is the audited region with the viability kernel as its honest core; its gradients are this chapter's sensitivities</a:t>
            </a:r>
            <a:endParaRPr lang="en-US" sz="1800" dirty="0"/>
          </a:p>
          <a:p>
            <a:pPr marL="228600" indent="-228600">
              <a:spcAft>
                <a:spcPts val="800"/>
              </a:spcAft>
              <a:buSzPct val="100000"/>
              <a:buChar char="•"/>
            </a:pPr>
            <a:r>
              <a:rPr lang="en-US" sz="1800" dirty="0">
                <a:solidFill>
                  <a:schemeClr val="bg1"/>
                </a:solidFill>
              </a:rPr>
              <a:t>Under the board's half-life rule the stability budget binds and has a price: 0.01 trimmed from both engineering links frees 0.019 of the new link</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14: Mathematical Analysis of the Unified Enterprise Transformation Architecture</dc:title>
  <dc:subject>Slides for Volume I, Chapter 14 (V56)</dc:subject>
  <dc:creator>Samir Asaf</dc:creator>
  <cp:lastModifiedBy>Samir Asaf</cp:lastModifiedBy>
  <cp:revision>1</cp:revision>
  <dcterms:created xsi:type="dcterms:W3CDTF">2026-10-05T09:20:44Z</dcterms:created>
  <dcterms:modified xsi:type="dcterms:W3CDTF">2026-10-05T09:20:44Z</dcterms:modified>
</cp:coreProperties>
</file>