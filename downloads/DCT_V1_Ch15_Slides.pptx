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97fb2fd-0746-a5cb-c4cd-0e73f542f329}">
          <p14:sldIdLst>
            <p14:sldId id="256"/>
            <p14:sldId id="257"/>
            <p14:sldId id="258"/>
            <p14:sldId id="259"/>
          </p14:sldIdLst>
        </p14:section>
        <p14:section name="15.1 Why Enterprise Optimization?" id="{a42cc0f2-c305-880d-2d90-9b05b26654be}">
          <p14:sldIdLst>
            <p14:sldId id="260"/>
          </p14:sldIdLst>
        </p14:section>
        <p14:section name="15.2 The Problem, Stated" id="{7c2d8df0-7032-4425-ece7-2b8f6564225f}">
          <p14:sldIdLst>
            <p14:sldId id="261"/>
            <p14:sldId id="262"/>
          </p14:sldIdLst>
        </p14:section>
        <p14:section name="15.3 Decisions, Objectives, and Commitments" id="{2f4aa0f1-383a-5882-68c6-2f8b2a8b79b6}">
          <p14:sldIdLst>
            <p14:sldId id="263"/>
          </p14:sldIdLst>
        </p14:section>
        <p14:section name="15.4 Feasibility Before Optimality" id="{09fd0cd6-74f0-bc90-8300-a06f6cdda4da}">
          <p14:sldIdLst>
            <p14:sldId id="264"/>
          </p14:sldIdLst>
        </p14:section>
        <p14:section name="15.5 Optimality Conditions and Shadow Prices" id="{2516bc54-7d33-dcb2-12e5-bd86d22483f1}">
          <p14:sldIdLst>
            <p14:sldId id="265"/>
          </p14:sldIdLst>
        </p14:section>
        <p14:section name="15.6 Time, Uncertainty, and Rules" id="{173ce590-bcb5-232b-2e79-b56592ca84e1}">
          <p14:sldIdLst>
            <p14:sldId id="266"/>
            <p14:sldId id="267"/>
          </p14:sldIdLst>
        </p14:section>
        <p14:section name="15.7 Multiple Objectives and the Efficiency Frontier" id="{8f628921-7857-9b32-cf3d-c67303aef53a}">
          <p14:sldIdLst>
            <p14:sldId id="268"/>
          </p14:sldIdLst>
        </p14:section>
        <p14:section name="15.8 Architecture, Holdability, and the Unified Theorem" id="{890bfab1-57f7-78b1-8d5c-2ac0bbf74d80}">
          <p14:sldIdLst>
            <p14:sldId id="269"/>
            <p14:sldId id="270"/>
          </p14:sldIdLst>
        </p14:section>
        <p14:section name="Worked Example 15.1" id="{98e6c315-58f3-a897-f666-868b12c5baa3}">
          <p14:sldIdLst>
            <p14:sldId id="271"/>
            <p14:sldId id="272"/>
            <p14:sldId id="273"/>
            <p14:sldId id="274"/>
            <p14:sldId id="275"/>
          </p14:sldIdLst>
        </p14:section>
        <p14:section name="AXIOM Lab 1.15" id="{114496f3-c9ac-2c27-3dd4-ae64721a1fac}">
          <p14:sldIdLst>
            <p14:sldId id="276"/>
          </p14:sldIdLst>
        </p14:section>
        <p14:section name="Close" id="{cd6364ee-de43-81de-01c2-5152e6b1ed04}">
          <p14:sldIdLst>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Volume I, Chapter 15. Fourteen chapters described what a company is and how it moves; this chapter asks the question every board asks first: of the futures the company can reach, which should it choose? The answer is one problem, the General Enterprise Optimization Problem (the chapter's abstract).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Harry Markowitz on his own retirement savings (Money, 1998). The chapter's subject is formulation, not computation: enterprise optimization almost never fails in the algorithm; it fails in the problem statement (Section 15.1).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learning outcome statements; LOS Guidance at the end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15.2: Definition 15.1, Proposition 15.1, Theorem 15.1 and Table 15.1. Section 15.3: Definitions 15.2-15.5, Propositions 15.2-15.3 and Tables 15.2-15.3. Section 15.4: Definition 15.6, Proposition 15.4 and Theorem 15.2. Section 15.5: Theorem 15.3 and Proposition 15.5. Section 15.6: Theorem 15.4, Figure 15.1 and Propositions 15.6-15.7. Section 15.7: Proposition 15.8, Definitions 15.7-15.8 and Theorem 15.5. Section 15.8: Proposition 15.9, Theorem 15.6, Definition 15.9, Table 15.4 and Theorem 15.7. Worked Example 15.1: Figure 15.2 and Table 15.5. Proofs of Theorems 15.3, 15.5 and 15.6 are in Appendix 15.A; all other results in Online Appendix 15.B.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15.1. Optimizing a projection while the couplings move the whole is how companies maximize a KPI into a crisis. Volume I formulates and Volume II solves: a formulation owned by no algorithm can be audited by every office.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15.1 (Equations 15.1-15.3), Proposition 15.1 and Theorem 15.1; formal statements and proofs in Online Appendix 15.B. The commitments are capital floors, performance targets, risk ceilings, governance identities and sustainability floors, held on every path or in a declared probabilistic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15.1 (abridged: the symbols are left out) and Theorem 15.1(iii): every component is a declared object of Chapters 1-14, inherited with its warranty. The company's existing optimization estates, the portfolio model, the capacity plan, the business case, are not rivals to replace but instances to reconcile: each is the GEOP with blocks frozen (Section 15.2's enterprise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15.2-15.5, Table 15.2 and Proposition 15.3: tightening a commitment never raises the attainable value, relaxing one never lowers it. Most companies hold every row, in nine documents owned by nine offices, with the meetings between them undeclared (Section 15.3's enterprise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15.6, Proposition 15.4 and Theorem 15.2; formal statements and proofs in Online Appendix 15.B. Chance constraints are not path-wise and are checked by simulation (Example 15.B.4). With both levers capped, the best package is Chapter 8's, at 3.0 percent.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15.3 (proof in Appendix 15.A) and Proposition 15.5 with Example 15.B.1. The multiplier vector is the chapter's premier governance export: a priced list of the binding commitments. Worked Example 15.1 prices Meridian's risk appetite this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15.4 and Propositions 15.6-15.7; formal statements and proofs in Online Appendix 15.B. Part (ii): the sensitivity machinery Chapter 14 built for audit is the engine of dynamic optimization. Part (iii): the value of a better dashboard or a delegated authority is a difference of two GEOP values.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15.4(iv), Figure 15.1 and Example 15.B.2. Stopping a burn r needs N(r) = Σ max(r − 10i, 0) of cash, and N(50) = 150: the start is on the kernel's edge. With the terminal condition the path is 150/50, 100/40, 60/30, 30/20, 10/10, 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15.7-15.8, Proposition 15.8 and Theorem 15.5 (proof in Appendix 15.A). Weight sweeping, the default practice, cannot see frontier segments in a dent, often where lumpy transformation options live; the constrained form is the audit-grade method (Section 15.7's enterprise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15.6 (proof in Appendix 15.A), Proposition 15.9 and Example 15.B.3: with every existing link at 0.40, the new link can carry at most 0.080, and dh/de = −4e/r* = −1.903. Transfer prices are multipliers, not negotiations; boards that see the paper optimum and the holdable one side by side stop buying paper.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15.9, Table 15.4 and Theorem 15.7 (formal statement and proof in Online Appendix 15.B). AI assistance enters at three declared points and never dissolves the problem statement: the GEOP remains the contract between the company and every optimizer, human or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15.1, the situation. Chapter 8 left open how much of each lever; Chapter 13 noted that each office would resist the lever in its own ledger.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15.1, Steps 1-2. The horizon is the program's 12 quarters, and the environment is Chapter 8's: the same 100,000 simulated paths. The appetite is a chance constraint owned by the board; the covenant (net leverage at most 4.5×) and the capability floor of 55 complete the commitments.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15.1, Steps 3 and 5, Figure 15.2 and Example 15.B.4. The deepest draw is $16m smaller. The capability floor is slack too, so both it and the covenant carry zero multipliers (Theorem 15.3(i)). At the optimum a point of safety costs $1.80m by the line and $1.77m by the delay.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15.5 and Step 5 (Theorem 15.5(v)). The cheapest way to honor the appetite is a large line and a short delay, not the package that looked natural.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15.1, Step 4, what the board should take away, and the discussion questions (Theorem 15.3(iii); Theorem 15.4(iii)). If the directors believe a breach would cost more, they should tighten the appetite; if less, loosen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AXIOM Lab 1.15. What to look for: feasibility comes before optimality (Theorem 15.2); everything that binds has a price, and slack commitments have none (Theorem 15.3); the frontier's slope is the multiplier (Theorem 15.5(iv)); and the formulation's promise changes the answer (Proposition 15.7).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Takeaways, Chapter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 and workbook are on the course website, www.dynamiccorporatetransformation.com. The worked example's paths are Chapter 8's, drawn with random seed 8; the lab's seed is used only for fresh draws.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Chapter 16: Theorem 16.4 (Enterprise Optimization Readiness Theorem) and Worked Example 16.1, which runs the gates on the digital program's GEOP with the $170 million line and the two-month delay; Meridian passes all four after repairs earlier chapters priced. Section 15.8's handoff: Volume I ends holding one canonical problem on one certified object; Volume II begins holding the method families of Table 15.4.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CT Title">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logo-dark.png">    </p:cNvPr>
          <p:cNvPicPr>
            <a:picLocks noChangeAspect="1"/>
          </p:cNvPicPr>
          <p:nvPr/>
        </p:nvPicPr>
        <p:blipFill>
          <a:blip r:embed="rId1"/>
          <a:stretch>
            <a:fillRect/>
          </a:stretch>
        </p:blipFill>
        <p:spPr>
          <a:xfrm>
            <a:off x="731520" y="640080"/>
            <a:ext cx="4389120" cy="363931"/>
          </a:xfrm>
          <a:prstGeom prst="rect">
            <a:avLst/>
          </a:prstGeom>
        </p:spPr>
      </p:pic>
      <p:sp>
        <p:nvSpPr>
          <p:cNvPr id="3" name="Text 0"/>
          <p:cNvSpPr/>
          <p:nvPr>
            <p:ph idx="101" type="body" hasCustomPrompt="1"/>
          </p:nvPr>
        </p:nvSpPr>
        <p:spPr>
          <a:xfrm>
            <a:off x="731520" y="1874520"/>
            <a:ext cx="10607040" cy="411480"/>
          </a:xfrm>
          <a:prstGeom prst="rect">
            <a:avLst/>
          </a:prstGeom>
          <a:noFill/>
          <a:ln/>
        </p:spPr>
        <p:txBody>
          <a:bodyPr wrap="square" rtlCol="0"/>
          <a:lstStyle>
            <a:lvl1pPr indent="0" marL="0">
              <a:buNone/>
              <a:defRPr lang="en-US" sz="1500" b="1" spc="300" kern="0" dirty="0">
                <a:solidFill>
                  <a:schemeClr val="accent1"/>
                </a:solidFill>
              </a:defRPr>
            </a:lvl1pPr>
          </a:lstStyle>
          <a:p>
            <a:pPr indent="0" marL="0">
              <a:buNone/>
            </a:pP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rtlCol="0"/>
          <a:lstStyle>
            <a:lvl1pPr indent="0" marL="0">
              <a:buNone/>
              <a:defRPr lang="en-US" sz="1200" dirty="0">
                <a:solidFill>
                  <a:schemeClr val="accent4"/>
                </a:solidFill>
              </a:defRPr>
            </a:lvl1pPr>
          </a:lstStyle>
          <a:p>
            <a:pPr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CT Quote">
    <p:bg>
      <p:bgPr>
        <a:solidFill>
          <a:srgbClr val="0F1E3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1280160" y="1371600"/>
            <a:ext cx="9601200" cy="3017520"/>
          </a:xfrm>
          <a:prstGeom prst="rect">
            <a:avLst/>
          </a:prstGeom>
          <a:noFill/>
          <a:ln/>
        </p:spPr>
        <p:txBody>
          <a:bodyPr wrap="square" rtlCol="0"/>
          <a:lstStyle>
            <a:lvl1pPr indent="0" marL="0">
              <a:buNone/>
              <a:defRPr lang="en-US" sz="3000" i="1" dirty="0">
                <a:solidFill>
                  <a:schemeClr val="bg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ph idx="101" type="body" hasCustomPrompt="1"/>
          </p:nvPr>
        </p:nvSpPr>
        <p:spPr>
          <a:xfrm>
            <a:off x="1280160" y="4617720"/>
            <a:ext cx="9601200" cy="457200"/>
          </a:xfrm>
          <a:prstGeom prst="rect">
            <a:avLst/>
          </a:prstGeom>
          <a:noFill/>
          <a:ln/>
        </p:spPr>
        <p:txBody>
          <a:bodyPr wrap="square" rtlCol="0"/>
          <a:lstStyle>
            <a:lvl1pPr indent="0" marL="0">
              <a:buNone/>
              <a:defRPr lang="en-US" sz="1800" b="1" dirty="0">
                <a:solidFill>
                  <a:schemeClr val="accent1"/>
                </a:solidFill>
              </a:defRPr>
            </a:lvl1pPr>
          </a:lstStyle>
          <a:p>
            <a:pPr indent="0" marL="0">
              <a:buNone/>
            </a:pPr>
            <a:endParaRPr lang="en-US" sz="1800" dirty="0"/>
          </a:p>
        </p:txBody>
      </p:sp>
      <p:sp>
        <p:nvSpPr>
          <p:cNvPr id="4" name="Text 0"/>
          <p:cNvSpPr/>
          <p:nvPr>
            <p:ph idx="102" type="body" hasCustomPrompt="1"/>
          </p:nvPr>
        </p:nvSpPr>
        <p:spPr>
          <a:xfrm>
            <a:off x="1280160" y="5074920"/>
            <a:ext cx="9601200" cy="731520"/>
          </a:xfrm>
          <a:prstGeom prst="rect">
            <a:avLst/>
          </a:prstGeom>
          <a:noFill/>
          <a:ln/>
        </p:spPr>
        <p:txBody>
          <a:bodyPr wrap="square" rtlCol="0"/>
          <a:lstStyle>
            <a:lvl1pPr indent="0" marL="0">
              <a:buNone/>
              <a:defRPr lang="en-US" sz="1400" dirty="0">
                <a:solidFill>
                  <a:schemeClr val="accent4"/>
                </a:solidFill>
              </a:defRPr>
            </a:lvl1pPr>
          </a:lstStyle>
          <a:p>
            <a:pPr indent="0" marL="0">
              <a:buNone/>
            </a:pPr>
            <a:endParaRPr lang="en-US" sz="1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CT Content">
    <p:bg>
      <p:bgPr>
        <a:solidFill>
          <a:srgbClr val="FFFFFF"/>
        </a:solidFill>
      </p:bgPr>
    </p:bg>
    <p:spTree>
      <p:nvGrpSpPr>
        <p:cNvPr id="1" name=""/>
        <p:cNvGrpSpPr/>
        <p:nvPr/>
      </p:nvGrpSpPr>
      <p:grpSpPr>
        <a:xfrm>
          <a:off x="0" y="0"/>
          <a:ext cx="0" cy="0"/>
          <a:chOff x="0" y="0"/>
          <a:chExt cx="0" cy="0"/>
        </a:xfrm>
      </p:grpSpPr>
      <p:pic>
        <p:nvPicPr>
          <p:cNvPr id="2" name="Image 0" descr="/home/claude/pixel-perfect-show-8533/public/brand/dct-m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tx2"/>
                </a:solidFill>
              </a:rPr>
              <a:t>Dynamic Corporate Transformation · Volume I · Chapter 15</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CT Dark Content">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mark-d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accent4"/>
                </a:solidFill>
              </a:rPr>
              <a:t>Dynamic Corporate Transformation · Volume I · Chapter 15</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5.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5.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5.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5.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1" type="body" hasCustomPrompt="1"/>
          </p:nvPr>
        </p:nvSpPr>
        <p:spPr>
          <a:xfrm>
            <a:off x="731520" y="1874520"/>
            <a:ext cx="10607040" cy="411480"/>
          </a:xfrm>
          <a:prstGeom prst="rect">
            <a:avLst/>
          </a:prstGeom>
          <a:noFill/>
          <a:ln/>
        </p:spPr>
        <p:txBody>
          <a:bodyPr wrap="square" lIns="0" tIns="0" rIns="0" bIns="0" rtlCol="0"/>
          <a:lstStyle/>
          <a:p>
            <a:pPr indent="0" marL="0">
              <a:buNone/>
            </a:pPr>
            <a:r>
              <a:rPr lang="en-US" sz="1500" b="1" spc="300" kern="0" dirty="0">
                <a:solidFill>
                  <a:schemeClr val="accent1"/>
                </a:solidFill>
              </a:rPr>
              <a:t>VOLUME I · CHAPTER 15 · WEEK 7</a:t>
            </a: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Mathematical Formulation of Enterprise Optimization</a:t>
            </a: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lIns="0" tIns="0" rIns="0" bIns="0" rtlCol="0" anchor="t"/>
          <a:lstStyle/>
          <a:p>
            <a:pPr indent="0" marL="0">
              <a:buNone/>
            </a:pPr>
            <a:r>
              <a:rPr lang="en-US" sz="2000" dirty="0">
                <a:solidFill>
                  <a:schemeClr val="bg2"/>
                </a:solidFill>
              </a:rPr>
              <a:t>Pose the board's question once, as one problem it can audit: feasibility first, a price on everything that binds, and a frontier the board chooses from</a:t>
            </a: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lIns="0" tIns="0" rIns="0" bIns="0" rtlCol="0"/>
          <a:lstStyle/>
          <a:p>
            <a:pPr indent="0" marL="0">
              <a:buNone/>
            </a:pPr>
            <a:r>
              <a:rPr lang="en-US" sz="1200" dirty="0">
                <a:solidFill>
                  <a:schemeClr val="accent4"/>
                </a:solidFill>
              </a:rPr>
              <a:t>Graduate course companion · Lab seed 26115 · AXIOM Lab 1.15 (AXIOM-15)</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body" hasCustomPrompt="1"/>
          </p:nvPr>
        </p:nvSpPr>
        <p:spPr>
          <a:xfrm>
            <a:off x="1280160" y="1371600"/>
            <a:ext cx="9601200" cy="3017520"/>
          </a:xfrm>
          <a:prstGeom prst="rect">
            <a:avLst/>
          </a:prstGeom>
          <a:noFill/>
          <a:ln/>
        </p:spPr>
        <p:txBody>
          <a:bodyPr wrap="square" lIns="0" tIns="0" rIns="0" bIns="0" rtlCol="0" anchor="b"/>
          <a:lstStyle/>
          <a:p>
            <a:pPr indent="0" marL="0">
              <a:buNone/>
            </a:pPr>
            <a:r>
              <a:rPr lang="en-US" sz="3000" i="1" dirty="0">
                <a:solidFill>
                  <a:schemeClr val="bg1"/>
                </a:solidFill>
                <a:latin typeface="Cambria" pitchFamily="34" charset="0"/>
                <a:ea typeface="Cambria" pitchFamily="34" charset="-122"/>
                <a:cs typeface="Cambria" pitchFamily="34" charset="-120"/>
              </a:rPr>
              <a:t>“My intention was to minimize my future regret. So I split my contributions 50/50 between bonds and equities.”</a:t>
            </a:r>
            <a:endParaRPr lang="en-US" sz="3000" dirty="0"/>
          </a:p>
        </p:txBody>
      </p:sp>
      <p:sp>
        <p:nvSpPr>
          <p:cNvPr id="4" name="Text 0"/>
          <p:cNvSpPr/>
          <p:nvPr>
            <p:ph idx="101" type="body" hasCustomPrompt="1"/>
          </p:nvPr>
        </p:nvSpPr>
        <p:spPr>
          <a:xfrm>
            <a:off x="1280160" y="4617720"/>
            <a:ext cx="9601200" cy="457200"/>
          </a:xfrm>
          <a:prstGeom prst="rect">
            <a:avLst/>
          </a:prstGeom>
          <a:noFill/>
          <a:ln/>
        </p:spPr>
        <p:txBody>
          <a:bodyPr wrap="square" lIns="0" tIns="0" rIns="0" bIns="0" rtlCol="0"/>
          <a:lstStyle/>
          <a:p>
            <a:pPr indent="0" marL="0">
              <a:buNone/>
            </a:pPr>
            <a:r>
              <a:rPr lang="en-US" sz="1800" b="1" dirty="0">
                <a:solidFill>
                  <a:schemeClr val="accent1"/>
                </a:solidFill>
              </a:rPr>
              <a:t>Harry M. Markowitz</a:t>
            </a:r>
            <a:endParaRPr lang="en-US" sz="1800" dirty="0"/>
          </a:p>
        </p:txBody>
      </p:sp>
      <p:sp>
        <p:nvSpPr>
          <p:cNvPr id="5" name="Text 0"/>
          <p:cNvSpPr/>
          <p:nvPr>
            <p:ph idx="102" type="body" hasCustomPrompt="1"/>
          </p:nvPr>
        </p:nvSpPr>
        <p:spPr>
          <a:xfrm>
            <a:off x="1280160" y="5074920"/>
            <a:ext cx="9601200" cy="731520"/>
          </a:xfrm>
          <a:prstGeom prst="rect">
            <a:avLst/>
          </a:prstGeom>
          <a:noFill/>
          <a:ln/>
        </p:spPr>
        <p:txBody>
          <a:bodyPr wrap="square" lIns="0" tIns="0" rIns="0" bIns="0" rtlCol="0" anchor="t"/>
          <a:lstStyle/>
          <a:p>
            <a:pPr indent="0" marL="0">
              <a:buNone/>
            </a:pPr>
            <a:r>
              <a:rPr lang="en-US" sz="1400" dirty="0">
                <a:solidFill>
                  <a:schemeClr val="accent4"/>
                </a:solidFill>
              </a:rPr>
              <a:t>Nobel Memorial Prize in Economic Sciences 1990; the founder of portfolio theory, on his own retirement savings, Money (1998)</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LEARNING OUTCOME STATEMENTS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After this chapter, you can</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15.1</a:t>
            </a:r>
            <a:endParaRPr lang="en-US" sz="13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600" dirty="0">
                <a:solidFill>
                  <a:schemeClr val="tx1"/>
                </a:solidFill>
              </a:rPr>
              <a:t>Formulate a transformation decision as the General Enterprise Optimization Problem—decisions, objective, commitments, horizon, uncertainty, and the rules the company can implement, each with an owner—and explain why it must be posed on the unified company.</a:t>
            </a:r>
            <a:endParaRPr lang="en-US" sz="16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15.2</a:t>
            </a:r>
            <a:endParaRPr lang="en-US" sz="13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600" dirty="0">
                <a:solidFill>
                  <a:schemeClr val="tx1"/>
                </a:solidFill>
              </a:rPr>
              <a:t>Explain why feasibility comes before optimality, and read the binding commitments and their multipliers as the priced list of what the company has promised.</a:t>
            </a:r>
            <a:endParaRPr lang="en-US" sz="16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15.3</a:t>
            </a:r>
            <a:endParaRPr lang="en-US" sz="13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600" dirty="0">
                <a:solidFill>
                  <a:schemeClr val="tx1"/>
                </a:solidFill>
              </a:rPr>
              <a:t>Handle several objectives: recognize conflict, trace the efficiency frontier with constraint-based methods, and read its slopes as exchange rates that the board chooses.</a:t>
            </a:r>
            <a:endParaRPr lang="en-US" sz="16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15.4</a:t>
            </a:r>
            <a:endParaRPr lang="en-US" sz="13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600" dirty="0">
                <a:solidFill>
                  <a:schemeClr val="tx1"/>
                </a:solidFill>
              </a:rPr>
              <a:t>Choose among static, dynamic, stochastic, robust, and adaptive formulations, and explain rules versus plans, rolling plans and their terminal conditions, the flaw of averages, and the value of information.</a:t>
            </a:r>
            <a:endParaRPr lang="en-US" sz="16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15.5</a:t>
            </a:r>
            <a:endParaRPr lang="en-US" sz="13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600" dirty="0">
                <a:solidFill>
                  <a:schemeClr val="tx1"/>
                </a:solidFill>
              </a:rPr>
              <a:t>Explain how architecture shapes the optimum—decentralization with prices, the value of coordination, holdable optima—and what Volume II inherits: a solver-neutral problem with certificates.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ROADMAP</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Eight sections, a worked example and a lab</a:t>
            </a:r>
            <a:endParaRPr lang="en-US" sz="3200" dirty="0"/>
          </a:p>
        </p:txBody>
      </p:sp>
      <p:sp>
        <p:nvSpPr>
          <p:cNvPr id="5" name="Card"/>
          <p:cNvSpPr/>
          <p:nvPr/>
        </p:nvSpPr>
        <p:spPr>
          <a:xfrm>
            <a:off x="548640" y="1691640"/>
            <a:ext cx="1999427" cy="2103120"/>
          </a:xfrm>
          <a:prstGeom prst="roundRect">
            <a:avLst>
              <a:gd name="adj" fmla="val 3659"/>
            </a:avLst>
          </a:prstGeom>
          <a:solidFill>
            <a:schemeClr val="bg2"/>
          </a:solidFill>
          <a:ln w="9525">
            <a:solidFill>
              <a:srgbClr val="C4CBD8"/>
            </a:solidFill>
            <a:prstDash val="solid"/>
          </a:ln>
        </p:spPr>
      </p:sp>
      <p:sp>
        <p:nvSpPr>
          <p:cNvPr id="6" name="Card label"/>
          <p:cNvSpPr txBox="1"/>
          <p:nvPr/>
        </p:nvSpPr>
        <p:spPr>
          <a:xfrm>
            <a:off x="731520"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§15.1</a:t>
            </a:r>
            <a:endParaRPr lang="en-US" sz="1300" dirty="0"/>
          </a:p>
        </p:txBody>
      </p:sp>
      <p:sp>
        <p:nvSpPr>
          <p:cNvPr id="7" name="Card head"/>
          <p:cNvSpPr txBox="1"/>
          <p:nvPr/>
        </p:nvSpPr>
        <p:spPr>
          <a:xfrm>
            <a:off x="731520" y="214884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Why Enterprise Optimization?</a:t>
            </a:r>
            <a:endParaRPr lang="en-US" sz="1300" dirty="0"/>
          </a:p>
        </p:txBody>
      </p:sp>
      <p:sp>
        <p:nvSpPr>
          <p:cNvPr id="8" name="Card text"/>
          <p:cNvSpPr txBox="1"/>
          <p:nvPr/>
        </p:nvSpPr>
        <p:spPr>
          <a:xfrm>
            <a:off x="731520" y="3282696"/>
            <a:ext cx="1633667" cy="384048"/>
          </a:xfrm>
          <a:prstGeom prst="rect">
            <a:avLst/>
          </a:prstGeom>
          <a:noFill/>
          <a:ln/>
        </p:spPr>
        <p:txBody>
          <a:bodyPr wrap="square" lIns="0" tIns="0" rIns="0" bIns="0" rtlCol="0" anchor="t"/>
          <a:lstStyle/>
          <a:p>
            <a:pPr indent="0" marL="0">
              <a:buNone/>
            </a:pPr>
            <a:r>
              <a:rPr lang="en-US" sz="1200" dirty="0">
                <a:solidFill>
                  <a:schemeClr val="tx2"/>
                </a:solidFill>
              </a:rPr>
              <a:t>Three failures</a:t>
            </a:r>
            <a:endParaRPr lang="en-US" sz="1200" dirty="0"/>
          </a:p>
        </p:txBody>
      </p:sp>
      <p:sp>
        <p:nvSpPr>
          <p:cNvPr id="9" name="Card"/>
          <p:cNvSpPr/>
          <p:nvPr/>
        </p:nvSpPr>
        <p:spPr>
          <a:xfrm>
            <a:off x="2822387" y="1691640"/>
            <a:ext cx="1999427" cy="2103120"/>
          </a:xfrm>
          <a:prstGeom prst="roundRect">
            <a:avLst>
              <a:gd name="adj" fmla="val 3659"/>
            </a:avLst>
          </a:prstGeom>
          <a:solidFill>
            <a:schemeClr val="bg2"/>
          </a:solidFill>
          <a:ln w="9525">
            <a:solidFill>
              <a:srgbClr val="C4CBD8"/>
            </a:solidFill>
            <a:prstDash val="solid"/>
          </a:ln>
        </p:spPr>
      </p:sp>
      <p:sp>
        <p:nvSpPr>
          <p:cNvPr id="10" name="Card label"/>
          <p:cNvSpPr txBox="1"/>
          <p:nvPr/>
        </p:nvSpPr>
        <p:spPr>
          <a:xfrm>
            <a:off x="3005267"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§15.2</a:t>
            </a:r>
            <a:endParaRPr lang="en-US" sz="1300" dirty="0"/>
          </a:p>
        </p:txBody>
      </p:sp>
      <p:sp>
        <p:nvSpPr>
          <p:cNvPr id="11" name="Card head"/>
          <p:cNvSpPr txBox="1"/>
          <p:nvPr/>
        </p:nvSpPr>
        <p:spPr>
          <a:xfrm>
            <a:off x="3005267" y="214884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The Problem, Stated</a:t>
            </a:r>
            <a:endParaRPr lang="en-US" sz="1300" dirty="0"/>
          </a:p>
        </p:txBody>
      </p:sp>
      <p:sp>
        <p:nvSpPr>
          <p:cNvPr id="12" name="Card text"/>
          <p:cNvSpPr txBox="1"/>
          <p:nvPr/>
        </p:nvSpPr>
        <p:spPr>
          <a:xfrm>
            <a:off x="3005267" y="3282696"/>
            <a:ext cx="1633667" cy="384048"/>
          </a:xfrm>
          <a:prstGeom prst="rect">
            <a:avLst/>
          </a:prstGeom>
          <a:noFill/>
          <a:ln/>
        </p:spPr>
        <p:txBody>
          <a:bodyPr wrap="square" lIns="0" tIns="0" rIns="0" bIns="0" rtlCol="0" anchor="t"/>
          <a:lstStyle/>
          <a:p>
            <a:pPr indent="0" marL="0">
              <a:buNone/>
            </a:pPr>
            <a:r>
              <a:rPr lang="en-US" sz="1200" dirty="0">
                <a:solidFill>
                  <a:schemeClr val="tx2"/>
                </a:solidFill>
              </a:rPr>
              <a:t>Definition 15.1 · Theorem 15.1</a:t>
            </a:r>
            <a:endParaRPr lang="en-US" sz="1200" dirty="0"/>
          </a:p>
        </p:txBody>
      </p:sp>
      <p:sp>
        <p:nvSpPr>
          <p:cNvPr id="13" name="Card"/>
          <p:cNvSpPr/>
          <p:nvPr/>
        </p:nvSpPr>
        <p:spPr>
          <a:xfrm>
            <a:off x="5096134" y="1691640"/>
            <a:ext cx="1999427" cy="2103120"/>
          </a:xfrm>
          <a:prstGeom prst="roundRect">
            <a:avLst>
              <a:gd name="adj" fmla="val 3659"/>
            </a:avLst>
          </a:prstGeom>
          <a:solidFill>
            <a:schemeClr val="bg2"/>
          </a:solidFill>
          <a:ln w="9525">
            <a:solidFill>
              <a:srgbClr val="C4CBD8"/>
            </a:solidFill>
            <a:prstDash val="solid"/>
          </a:ln>
        </p:spPr>
      </p:sp>
      <p:sp>
        <p:nvSpPr>
          <p:cNvPr id="14" name="Card label"/>
          <p:cNvSpPr txBox="1"/>
          <p:nvPr/>
        </p:nvSpPr>
        <p:spPr>
          <a:xfrm>
            <a:off x="5279014"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§15.3</a:t>
            </a:r>
            <a:endParaRPr lang="en-US" sz="1300" dirty="0"/>
          </a:p>
        </p:txBody>
      </p:sp>
      <p:sp>
        <p:nvSpPr>
          <p:cNvPr id="15" name="Card head"/>
          <p:cNvSpPr txBox="1"/>
          <p:nvPr/>
        </p:nvSpPr>
        <p:spPr>
          <a:xfrm>
            <a:off x="5279014" y="214884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Decisions, Objectives, and Commitments</a:t>
            </a:r>
            <a:endParaRPr lang="en-US" sz="1300" dirty="0"/>
          </a:p>
        </p:txBody>
      </p:sp>
      <p:sp>
        <p:nvSpPr>
          <p:cNvPr id="16" name="Card text"/>
          <p:cNvSpPr txBox="1"/>
          <p:nvPr/>
        </p:nvSpPr>
        <p:spPr>
          <a:xfrm>
            <a:off x="5279014" y="3282696"/>
            <a:ext cx="1633667" cy="384048"/>
          </a:xfrm>
          <a:prstGeom prst="rect">
            <a:avLst/>
          </a:prstGeom>
          <a:noFill/>
          <a:ln/>
        </p:spPr>
        <p:txBody>
          <a:bodyPr wrap="square" lIns="0" tIns="0" rIns="0" bIns="0" rtlCol="0" anchor="t"/>
          <a:lstStyle/>
          <a:p>
            <a:pPr indent="0" marL="0">
              <a:buNone/>
            </a:pPr>
            <a:r>
              <a:rPr lang="en-US" sz="1200" dirty="0">
                <a:solidFill>
                  <a:schemeClr val="tx2"/>
                </a:solidFill>
              </a:rPr>
              <a:t>Table 15.2</a:t>
            </a:r>
            <a:endParaRPr lang="en-US" sz="1200" dirty="0"/>
          </a:p>
        </p:txBody>
      </p:sp>
      <p:sp>
        <p:nvSpPr>
          <p:cNvPr id="17" name="Card"/>
          <p:cNvSpPr/>
          <p:nvPr/>
        </p:nvSpPr>
        <p:spPr>
          <a:xfrm>
            <a:off x="7369881" y="1691640"/>
            <a:ext cx="1999427" cy="2103120"/>
          </a:xfrm>
          <a:prstGeom prst="roundRect">
            <a:avLst>
              <a:gd name="adj" fmla="val 3659"/>
            </a:avLst>
          </a:prstGeom>
          <a:solidFill>
            <a:schemeClr val="bg2"/>
          </a:solidFill>
          <a:ln w="9525">
            <a:solidFill>
              <a:srgbClr val="C4CBD8"/>
            </a:solidFill>
            <a:prstDash val="solid"/>
          </a:ln>
        </p:spPr>
      </p:sp>
      <p:sp>
        <p:nvSpPr>
          <p:cNvPr id="18" name="Card label"/>
          <p:cNvSpPr txBox="1"/>
          <p:nvPr/>
        </p:nvSpPr>
        <p:spPr>
          <a:xfrm>
            <a:off x="7552761"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§15.4</a:t>
            </a:r>
            <a:endParaRPr lang="en-US" sz="1300" dirty="0"/>
          </a:p>
        </p:txBody>
      </p:sp>
      <p:sp>
        <p:nvSpPr>
          <p:cNvPr id="19" name="Card head"/>
          <p:cNvSpPr txBox="1"/>
          <p:nvPr/>
        </p:nvSpPr>
        <p:spPr>
          <a:xfrm>
            <a:off x="7552761" y="214884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Feasibility Before Optimality</a:t>
            </a:r>
            <a:endParaRPr lang="en-US" sz="1300" dirty="0"/>
          </a:p>
        </p:txBody>
      </p:sp>
      <p:sp>
        <p:nvSpPr>
          <p:cNvPr id="20" name="Card text"/>
          <p:cNvSpPr txBox="1"/>
          <p:nvPr/>
        </p:nvSpPr>
        <p:spPr>
          <a:xfrm>
            <a:off x="7552761" y="3282696"/>
            <a:ext cx="1633667" cy="384048"/>
          </a:xfrm>
          <a:prstGeom prst="rect">
            <a:avLst/>
          </a:prstGeom>
          <a:noFill/>
          <a:ln/>
        </p:spPr>
        <p:txBody>
          <a:bodyPr wrap="square" lIns="0" tIns="0" rIns="0" bIns="0" rtlCol="0" anchor="t"/>
          <a:lstStyle/>
          <a:p>
            <a:pPr indent="0" marL="0">
              <a:buNone/>
            </a:pPr>
            <a:r>
              <a:rPr lang="en-US" sz="1200" dirty="0">
                <a:solidFill>
                  <a:schemeClr val="tx2"/>
                </a:solidFill>
              </a:rPr>
              <a:t>Theorem 15.2</a:t>
            </a:r>
            <a:endParaRPr lang="en-US" sz="1200" dirty="0"/>
          </a:p>
        </p:txBody>
      </p:sp>
      <p:sp>
        <p:nvSpPr>
          <p:cNvPr id="21" name="Card"/>
          <p:cNvSpPr/>
          <p:nvPr/>
        </p:nvSpPr>
        <p:spPr>
          <a:xfrm>
            <a:off x="9643628" y="1691640"/>
            <a:ext cx="1999427" cy="2103120"/>
          </a:xfrm>
          <a:prstGeom prst="roundRect">
            <a:avLst>
              <a:gd name="adj" fmla="val 3659"/>
            </a:avLst>
          </a:prstGeom>
          <a:solidFill>
            <a:schemeClr val="bg2"/>
          </a:solidFill>
          <a:ln w="9525">
            <a:solidFill>
              <a:srgbClr val="C4CBD8"/>
            </a:solidFill>
            <a:prstDash val="solid"/>
          </a:ln>
        </p:spPr>
      </p:sp>
      <p:sp>
        <p:nvSpPr>
          <p:cNvPr id="22" name="Card label"/>
          <p:cNvSpPr txBox="1"/>
          <p:nvPr/>
        </p:nvSpPr>
        <p:spPr>
          <a:xfrm>
            <a:off x="9826508"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§15.5</a:t>
            </a:r>
            <a:endParaRPr lang="en-US" sz="1300" dirty="0"/>
          </a:p>
        </p:txBody>
      </p:sp>
      <p:sp>
        <p:nvSpPr>
          <p:cNvPr id="23" name="Card head"/>
          <p:cNvSpPr txBox="1"/>
          <p:nvPr/>
        </p:nvSpPr>
        <p:spPr>
          <a:xfrm>
            <a:off x="9826508" y="214884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Optimality Conditions and Shadow Prices</a:t>
            </a:r>
            <a:endParaRPr lang="en-US" sz="1300" dirty="0"/>
          </a:p>
        </p:txBody>
      </p:sp>
      <p:sp>
        <p:nvSpPr>
          <p:cNvPr id="24" name="Card text"/>
          <p:cNvSpPr txBox="1"/>
          <p:nvPr/>
        </p:nvSpPr>
        <p:spPr>
          <a:xfrm>
            <a:off x="9826508" y="3282696"/>
            <a:ext cx="1633667" cy="384048"/>
          </a:xfrm>
          <a:prstGeom prst="rect">
            <a:avLst/>
          </a:prstGeom>
          <a:noFill/>
          <a:ln/>
        </p:spPr>
        <p:txBody>
          <a:bodyPr wrap="square" lIns="0" tIns="0" rIns="0" bIns="0" rtlCol="0" anchor="t"/>
          <a:lstStyle/>
          <a:p>
            <a:pPr indent="0" marL="0">
              <a:buNone/>
            </a:pPr>
            <a:r>
              <a:rPr lang="en-US" sz="1200" dirty="0">
                <a:solidFill>
                  <a:schemeClr val="tx2"/>
                </a:solidFill>
              </a:rPr>
              <a:t>Theorem 15.3</a:t>
            </a:r>
            <a:endParaRPr lang="en-US" sz="1200" dirty="0"/>
          </a:p>
        </p:txBody>
      </p:sp>
      <p:sp>
        <p:nvSpPr>
          <p:cNvPr id="25" name="Card"/>
          <p:cNvSpPr/>
          <p:nvPr/>
        </p:nvSpPr>
        <p:spPr>
          <a:xfrm>
            <a:off x="548640" y="4069080"/>
            <a:ext cx="1999427" cy="2103120"/>
          </a:xfrm>
          <a:prstGeom prst="roundRect">
            <a:avLst>
              <a:gd name="adj" fmla="val 3659"/>
            </a:avLst>
          </a:prstGeom>
          <a:solidFill>
            <a:schemeClr val="bg2"/>
          </a:solidFill>
          <a:ln w="9525">
            <a:solidFill>
              <a:srgbClr val="C4CBD8"/>
            </a:solidFill>
            <a:prstDash val="solid"/>
          </a:ln>
        </p:spPr>
      </p:sp>
      <p:sp>
        <p:nvSpPr>
          <p:cNvPr id="26" name="Card label"/>
          <p:cNvSpPr txBox="1"/>
          <p:nvPr/>
        </p:nvSpPr>
        <p:spPr>
          <a:xfrm>
            <a:off x="731520"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§15.6</a:t>
            </a:r>
            <a:endParaRPr lang="en-US" sz="1300" dirty="0"/>
          </a:p>
        </p:txBody>
      </p:sp>
      <p:sp>
        <p:nvSpPr>
          <p:cNvPr id="27" name="Card head"/>
          <p:cNvSpPr txBox="1"/>
          <p:nvPr/>
        </p:nvSpPr>
        <p:spPr>
          <a:xfrm>
            <a:off x="731520" y="452628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Time, Uncertainty, and Rules</a:t>
            </a:r>
            <a:endParaRPr lang="en-US" sz="1300" dirty="0"/>
          </a:p>
        </p:txBody>
      </p:sp>
      <p:sp>
        <p:nvSpPr>
          <p:cNvPr id="28" name="Card text"/>
          <p:cNvSpPr txBox="1"/>
          <p:nvPr/>
        </p:nvSpPr>
        <p:spPr>
          <a:xfrm>
            <a:off x="731520" y="5660136"/>
            <a:ext cx="1633667" cy="384048"/>
          </a:xfrm>
          <a:prstGeom prst="rect">
            <a:avLst/>
          </a:prstGeom>
          <a:noFill/>
          <a:ln/>
        </p:spPr>
        <p:txBody>
          <a:bodyPr wrap="square" lIns="0" tIns="0" rIns="0" bIns="0" rtlCol="0" anchor="t"/>
          <a:lstStyle/>
          <a:p>
            <a:pPr indent="0" marL="0">
              <a:buNone/>
            </a:pPr>
            <a:r>
              <a:rPr lang="en-US" sz="1200" dirty="0">
                <a:solidFill>
                  <a:schemeClr val="tx2"/>
                </a:solidFill>
              </a:rPr>
              <a:t>Theorem 15.4 · Figure 15.1</a:t>
            </a:r>
            <a:endParaRPr lang="en-US" sz="1200" dirty="0"/>
          </a:p>
        </p:txBody>
      </p:sp>
      <p:sp>
        <p:nvSpPr>
          <p:cNvPr id="29" name="Card"/>
          <p:cNvSpPr/>
          <p:nvPr/>
        </p:nvSpPr>
        <p:spPr>
          <a:xfrm>
            <a:off x="2822387" y="4069080"/>
            <a:ext cx="1999427" cy="2103120"/>
          </a:xfrm>
          <a:prstGeom prst="roundRect">
            <a:avLst>
              <a:gd name="adj" fmla="val 3659"/>
            </a:avLst>
          </a:prstGeom>
          <a:solidFill>
            <a:schemeClr val="bg2"/>
          </a:solidFill>
          <a:ln w="9525">
            <a:solidFill>
              <a:srgbClr val="C4CBD8"/>
            </a:solidFill>
            <a:prstDash val="solid"/>
          </a:ln>
        </p:spPr>
      </p:sp>
      <p:sp>
        <p:nvSpPr>
          <p:cNvPr id="30" name="Card label"/>
          <p:cNvSpPr txBox="1"/>
          <p:nvPr/>
        </p:nvSpPr>
        <p:spPr>
          <a:xfrm>
            <a:off x="3005267"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§15.7</a:t>
            </a:r>
            <a:endParaRPr lang="en-US" sz="1300" dirty="0"/>
          </a:p>
        </p:txBody>
      </p:sp>
      <p:sp>
        <p:nvSpPr>
          <p:cNvPr id="31" name="Card head"/>
          <p:cNvSpPr txBox="1"/>
          <p:nvPr/>
        </p:nvSpPr>
        <p:spPr>
          <a:xfrm>
            <a:off x="3005267" y="452628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Multiple Objectives and the Efficiency Frontier</a:t>
            </a:r>
            <a:endParaRPr lang="en-US" sz="1300" dirty="0"/>
          </a:p>
        </p:txBody>
      </p:sp>
      <p:sp>
        <p:nvSpPr>
          <p:cNvPr id="32" name="Card text"/>
          <p:cNvSpPr txBox="1"/>
          <p:nvPr/>
        </p:nvSpPr>
        <p:spPr>
          <a:xfrm>
            <a:off x="3005267" y="5660136"/>
            <a:ext cx="1633667" cy="384048"/>
          </a:xfrm>
          <a:prstGeom prst="rect">
            <a:avLst/>
          </a:prstGeom>
          <a:noFill/>
          <a:ln/>
        </p:spPr>
        <p:txBody>
          <a:bodyPr wrap="square" lIns="0" tIns="0" rIns="0" bIns="0" rtlCol="0" anchor="t"/>
          <a:lstStyle/>
          <a:p>
            <a:pPr indent="0" marL="0">
              <a:buNone/>
            </a:pPr>
            <a:r>
              <a:rPr lang="en-US" sz="1200" dirty="0">
                <a:solidFill>
                  <a:schemeClr val="tx2"/>
                </a:solidFill>
              </a:rPr>
              <a:t>Theorem 15.5</a:t>
            </a:r>
            <a:endParaRPr lang="en-US" sz="1200" dirty="0"/>
          </a:p>
        </p:txBody>
      </p:sp>
      <p:sp>
        <p:nvSpPr>
          <p:cNvPr id="33" name="Card"/>
          <p:cNvSpPr/>
          <p:nvPr/>
        </p:nvSpPr>
        <p:spPr>
          <a:xfrm>
            <a:off x="5096134" y="4069080"/>
            <a:ext cx="1999427" cy="2103120"/>
          </a:xfrm>
          <a:prstGeom prst="roundRect">
            <a:avLst>
              <a:gd name="adj" fmla="val 3659"/>
            </a:avLst>
          </a:prstGeom>
          <a:solidFill>
            <a:schemeClr val="bg2"/>
          </a:solidFill>
          <a:ln w="9525">
            <a:solidFill>
              <a:srgbClr val="C4CBD8"/>
            </a:solidFill>
            <a:prstDash val="solid"/>
          </a:ln>
        </p:spPr>
      </p:sp>
      <p:sp>
        <p:nvSpPr>
          <p:cNvPr id="34" name="Card label"/>
          <p:cNvSpPr txBox="1"/>
          <p:nvPr/>
        </p:nvSpPr>
        <p:spPr>
          <a:xfrm>
            <a:off x="5279014"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§15.8</a:t>
            </a:r>
            <a:endParaRPr lang="en-US" sz="1300" dirty="0"/>
          </a:p>
        </p:txBody>
      </p:sp>
      <p:sp>
        <p:nvSpPr>
          <p:cNvPr id="35" name="Card head"/>
          <p:cNvSpPr txBox="1"/>
          <p:nvPr/>
        </p:nvSpPr>
        <p:spPr>
          <a:xfrm>
            <a:off x="5279014" y="452628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Architecture, Holdability, and the Unified Theorem</a:t>
            </a:r>
            <a:endParaRPr lang="en-US" sz="1300" dirty="0"/>
          </a:p>
        </p:txBody>
      </p:sp>
      <p:sp>
        <p:nvSpPr>
          <p:cNvPr id="36" name="Card text"/>
          <p:cNvSpPr txBox="1"/>
          <p:nvPr/>
        </p:nvSpPr>
        <p:spPr>
          <a:xfrm>
            <a:off x="5279014" y="5660136"/>
            <a:ext cx="1633667" cy="384048"/>
          </a:xfrm>
          <a:prstGeom prst="rect">
            <a:avLst/>
          </a:prstGeom>
          <a:noFill/>
          <a:ln/>
        </p:spPr>
        <p:txBody>
          <a:bodyPr wrap="square" lIns="0" tIns="0" rIns="0" bIns="0" rtlCol="0" anchor="t"/>
          <a:lstStyle/>
          <a:p>
            <a:pPr indent="0" marL="0">
              <a:buNone/>
            </a:pPr>
            <a:r>
              <a:rPr lang="en-US" sz="1200" dirty="0">
                <a:solidFill>
                  <a:schemeClr val="tx2"/>
                </a:solidFill>
              </a:rPr>
              <a:t>Theorems 15.6–15.7</a:t>
            </a:r>
            <a:endParaRPr lang="en-US" sz="1200" dirty="0"/>
          </a:p>
        </p:txBody>
      </p:sp>
      <p:sp>
        <p:nvSpPr>
          <p:cNvPr id="37" name="Card"/>
          <p:cNvSpPr/>
          <p:nvPr/>
        </p:nvSpPr>
        <p:spPr>
          <a:xfrm>
            <a:off x="7369881" y="4069080"/>
            <a:ext cx="1999427" cy="2103120"/>
          </a:xfrm>
          <a:prstGeom prst="roundRect">
            <a:avLst>
              <a:gd name="adj" fmla="val 3659"/>
            </a:avLst>
          </a:prstGeom>
          <a:solidFill>
            <a:schemeClr val="tx1"/>
          </a:solidFill>
          <a:ln w="9525">
            <a:solidFill>
              <a:srgbClr val="0F1E3D"/>
            </a:solidFill>
            <a:prstDash val="solid"/>
          </a:ln>
        </p:spPr>
      </p:sp>
      <p:sp>
        <p:nvSpPr>
          <p:cNvPr id="38" name="Card label"/>
          <p:cNvSpPr txBox="1"/>
          <p:nvPr/>
        </p:nvSpPr>
        <p:spPr>
          <a:xfrm>
            <a:off x="7552761"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Worked Example 15.1</a:t>
            </a:r>
            <a:endParaRPr lang="en-US" sz="1300" dirty="0"/>
          </a:p>
        </p:txBody>
      </p:sp>
      <p:sp>
        <p:nvSpPr>
          <p:cNvPr id="39" name="Card head"/>
          <p:cNvSpPr txBox="1"/>
          <p:nvPr/>
        </p:nvSpPr>
        <p:spPr>
          <a:xfrm>
            <a:off x="7552761" y="4526280"/>
            <a:ext cx="1633667" cy="1060704"/>
          </a:xfrm>
          <a:prstGeom prst="rect">
            <a:avLst/>
          </a:prstGeom>
          <a:noFill/>
          <a:ln/>
        </p:spPr>
        <p:txBody>
          <a:bodyPr wrap="square" lIns="0" tIns="0" rIns="0" bIns="0" rtlCol="0" anchor="t"/>
          <a:lstStyle/>
          <a:p>
            <a:pPr indent="0" marL="0">
              <a:buNone/>
            </a:pPr>
            <a:r>
              <a:rPr lang="en-US" sz="1300" b="1" dirty="0">
                <a:solidFill>
                  <a:schemeClr val="bg1"/>
                </a:solidFill>
                <a:latin typeface="Cambria" pitchFamily="34" charset="0"/>
                <a:ea typeface="Cambria" pitchFamily="34" charset="-122"/>
                <a:cs typeface="Cambria" pitchFamily="34" charset="-120"/>
              </a:rPr>
              <a:t>What Does the Board's Appetite Cost?</a:t>
            </a:r>
            <a:endParaRPr lang="en-US" sz="1300" dirty="0"/>
          </a:p>
        </p:txBody>
      </p:sp>
      <p:sp>
        <p:nvSpPr>
          <p:cNvPr id="40" name="Card text"/>
          <p:cNvSpPr txBox="1"/>
          <p:nvPr/>
        </p:nvSpPr>
        <p:spPr>
          <a:xfrm>
            <a:off x="7552761" y="5660136"/>
            <a:ext cx="1633667" cy="384048"/>
          </a:xfrm>
          <a:prstGeom prst="rect">
            <a:avLst/>
          </a:prstGeom>
          <a:noFill/>
          <a:ln/>
        </p:spPr>
        <p:txBody>
          <a:bodyPr wrap="square" lIns="0" tIns="0" rIns="0" bIns="0" rtlCol="0" anchor="t"/>
          <a:lstStyle/>
          <a:p>
            <a:pPr indent="0" marL="0">
              <a:buNone/>
            </a:pPr>
            <a:r>
              <a:rPr lang="en-US" sz="1200" dirty="0">
                <a:solidFill>
                  <a:schemeClr val="bg2"/>
                </a:solidFill>
              </a:rPr>
              <a:t>Table 15.5 · Figure 15.2</a:t>
            </a:r>
            <a:endParaRPr lang="en-US" sz="1200" dirty="0"/>
          </a:p>
        </p:txBody>
      </p:sp>
      <p:sp>
        <p:nvSpPr>
          <p:cNvPr id="41" name="Card"/>
          <p:cNvSpPr/>
          <p:nvPr/>
        </p:nvSpPr>
        <p:spPr>
          <a:xfrm>
            <a:off x="9643628" y="4069080"/>
            <a:ext cx="1999427" cy="2103120"/>
          </a:xfrm>
          <a:prstGeom prst="roundRect">
            <a:avLst>
              <a:gd name="adj" fmla="val 3659"/>
            </a:avLst>
          </a:prstGeom>
          <a:solidFill>
            <a:schemeClr val="bg2"/>
          </a:solidFill>
          <a:ln w="9525">
            <a:solidFill>
              <a:srgbClr val="C4CBD8"/>
            </a:solidFill>
            <a:prstDash val="solid"/>
          </a:ln>
        </p:spPr>
      </p:sp>
      <p:sp>
        <p:nvSpPr>
          <p:cNvPr id="42" name="Card label"/>
          <p:cNvSpPr txBox="1"/>
          <p:nvPr/>
        </p:nvSpPr>
        <p:spPr>
          <a:xfrm>
            <a:off x="9826508"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AXIOM Lab 1.15</a:t>
            </a:r>
            <a:endParaRPr lang="en-US" sz="1300" dirty="0"/>
          </a:p>
        </p:txBody>
      </p:sp>
      <p:sp>
        <p:nvSpPr>
          <p:cNvPr id="43" name="Card head"/>
          <p:cNvSpPr txBox="1"/>
          <p:nvPr/>
        </p:nvSpPr>
        <p:spPr>
          <a:xfrm>
            <a:off x="9826508" y="452628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Pricing Meridian's Commitments</a:t>
            </a:r>
            <a:endParaRPr lang="en-US" sz="1300" dirty="0"/>
          </a:p>
        </p:txBody>
      </p:sp>
      <p:sp>
        <p:nvSpPr>
          <p:cNvPr id="44" name="Card text"/>
          <p:cNvSpPr txBox="1"/>
          <p:nvPr/>
        </p:nvSpPr>
        <p:spPr>
          <a:xfrm>
            <a:off x="9826508" y="5660136"/>
            <a:ext cx="1633667" cy="384048"/>
          </a:xfrm>
          <a:prstGeom prst="rect">
            <a:avLst/>
          </a:prstGeom>
          <a:noFill/>
          <a:ln/>
        </p:spPr>
        <p:txBody>
          <a:bodyPr wrap="square" lIns="0" tIns="0" rIns="0" bIns="0" rtlCol="0" anchor="t"/>
          <a:lstStyle/>
          <a:p>
            <a:pPr indent="0" marL="0">
              <a:buNone/>
            </a:pPr>
            <a:r>
              <a:rPr lang="en-US" sz="1200" dirty="0">
                <a:solidFill>
                  <a:schemeClr val="tx2"/>
                </a:solidFill>
              </a:rPr>
              <a:t>AXIOM-15 · five steps</a:t>
            </a:r>
            <a:endParaRPr lang="en-US" sz="1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§15.1 · WHY ENTERPRISE OPTIMIZATION?</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Optimization fails in the problem statement</a:t>
            </a:r>
            <a:endParaRPr lang="en-US" sz="3200" dirty="0"/>
          </a:p>
        </p:txBody>
      </p:sp>
      <p:sp>
        <p:nvSpPr>
          <p:cNvPr id="5" name="Card"/>
          <p:cNvSpPr/>
          <p:nvPr/>
        </p:nvSpPr>
        <p:spPr>
          <a:xfrm>
            <a:off x="548640" y="1691640"/>
            <a:ext cx="3515258" cy="1783080"/>
          </a:xfrm>
          <a:prstGeom prst="roundRect">
            <a:avLst>
              <a:gd name="adj" fmla="val 4103"/>
            </a:avLst>
          </a:prstGeom>
          <a:solidFill>
            <a:schemeClr val="bg2"/>
          </a:solidFill>
          <a:ln w="9525">
            <a:solidFill>
              <a:srgbClr val="C4CBD8"/>
            </a:solidFill>
            <a:prstDash val="solid"/>
          </a:ln>
        </p:spPr>
      </p:sp>
      <p:sp>
        <p:nvSpPr>
          <p:cNvPr id="6" name="Card label"/>
          <p:cNvSpPr txBox="1"/>
          <p:nvPr/>
        </p:nvSpPr>
        <p:spPr>
          <a:xfrm>
            <a:off x="731520"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Failure: fragmentation</a:t>
            </a:r>
            <a:endParaRPr lang="en-US" sz="1300" dirty="0"/>
          </a:p>
        </p:txBody>
      </p:sp>
      <p:sp>
        <p:nvSpPr>
          <p:cNvPr id="7" name="Card head"/>
          <p:cNvSpPr txBox="1"/>
          <p:nvPr/>
        </p:nvSpPr>
        <p:spPr>
          <a:xfrm>
            <a:off x="731520" y="2148840"/>
            <a:ext cx="3149498" cy="576072"/>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Each method optimizes a projection of the company</a:t>
            </a:r>
            <a:endParaRPr lang="en-US" sz="1700" dirty="0"/>
          </a:p>
        </p:txBody>
      </p:sp>
      <p:sp>
        <p:nvSpPr>
          <p:cNvPr id="8" name="Card text"/>
          <p:cNvSpPr txBox="1"/>
          <p:nvPr/>
        </p:nvSpPr>
        <p:spPr>
          <a:xfrm>
            <a:off x="731520" y="2798064"/>
            <a:ext cx="3149498" cy="548640"/>
          </a:xfrm>
          <a:prstGeom prst="rect">
            <a:avLst/>
          </a:prstGeom>
          <a:noFill/>
          <a:ln/>
        </p:spPr>
        <p:txBody>
          <a:bodyPr wrap="square" lIns="0" tIns="0" rIns="0" bIns="0" rtlCol="0" anchor="t"/>
          <a:lstStyle/>
          <a:p>
            <a:pPr indent="0" marL="0">
              <a:buNone/>
            </a:pPr>
            <a:r>
              <a:rPr lang="en-US" sz="1400" dirty="0">
                <a:solidFill>
                  <a:schemeClr val="tx2"/>
                </a:solidFill>
              </a:rPr>
              <a:t>Rigorous on its slice, silent on the couplings that carry the company's behavior.</a:t>
            </a:r>
            <a:endParaRPr lang="en-US" sz="1400" dirty="0"/>
          </a:p>
        </p:txBody>
      </p:sp>
      <p:sp>
        <p:nvSpPr>
          <p:cNvPr id="9" name="Card"/>
          <p:cNvSpPr/>
          <p:nvPr/>
        </p:nvSpPr>
        <p:spPr>
          <a:xfrm>
            <a:off x="4338218" y="1691640"/>
            <a:ext cx="3515258" cy="1783080"/>
          </a:xfrm>
          <a:prstGeom prst="roundRect">
            <a:avLst>
              <a:gd name="adj" fmla="val 4103"/>
            </a:avLst>
          </a:prstGeom>
          <a:solidFill>
            <a:schemeClr val="bg2"/>
          </a:solidFill>
          <a:ln w="9525">
            <a:solidFill>
              <a:srgbClr val="C4CBD8"/>
            </a:solidFill>
            <a:prstDash val="solid"/>
          </a:ln>
        </p:spPr>
      </p:sp>
      <p:sp>
        <p:nvSpPr>
          <p:cNvPr id="10" name="Card label"/>
          <p:cNvSpPr txBox="1"/>
          <p:nvPr/>
        </p:nvSpPr>
        <p:spPr>
          <a:xfrm>
            <a:off x="4521098"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Failure: feasibility naïveté</a:t>
            </a:r>
            <a:endParaRPr lang="en-US" sz="1300" dirty="0"/>
          </a:p>
        </p:txBody>
      </p:sp>
      <p:sp>
        <p:nvSpPr>
          <p:cNvPr id="11" name="Card head"/>
          <p:cNvSpPr txBox="1"/>
          <p:nvPr/>
        </p:nvSpPr>
        <p:spPr>
          <a:xfrm>
            <a:off x="4521098" y="2148840"/>
            <a:ext cx="3149498" cy="576072"/>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Constraints taken as given, and per period</a:t>
            </a:r>
            <a:endParaRPr lang="en-US" sz="1700" dirty="0"/>
          </a:p>
        </p:txBody>
      </p:sp>
      <p:sp>
        <p:nvSpPr>
          <p:cNvPr id="12" name="Card text"/>
          <p:cNvSpPr txBox="1"/>
          <p:nvPr/>
        </p:nvSpPr>
        <p:spPr>
          <a:xfrm>
            <a:off x="4521098" y="2798064"/>
            <a:ext cx="3149498" cy="548640"/>
          </a:xfrm>
          <a:prstGeom prst="rect">
            <a:avLst/>
          </a:prstGeom>
          <a:noFill/>
          <a:ln/>
        </p:spPr>
        <p:txBody>
          <a:bodyPr wrap="square" lIns="0" tIns="0" rIns="0" bIns="0" rtlCol="0" anchor="t"/>
          <a:lstStyle/>
          <a:p>
            <a:pPr indent="0" marL="0">
              <a:buNone/>
            </a:pPr>
            <a:r>
              <a:rPr lang="en-US" sz="1400" dirty="0">
                <a:solidFill>
                  <a:schemeClr val="tx2"/>
                </a:solidFill>
              </a:rPr>
              <a:t>Admissibility belongs to the whole path; per-period checks certify nothing.</a:t>
            </a:r>
            <a:endParaRPr lang="en-US" sz="1400" dirty="0"/>
          </a:p>
        </p:txBody>
      </p:sp>
      <p:sp>
        <p:nvSpPr>
          <p:cNvPr id="13" name="Card"/>
          <p:cNvSpPr/>
          <p:nvPr/>
        </p:nvSpPr>
        <p:spPr>
          <a:xfrm>
            <a:off x="8127797" y="1691640"/>
            <a:ext cx="3515258" cy="1783080"/>
          </a:xfrm>
          <a:prstGeom prst="roundRect">
            <a:avLst>
              <a:gd name="adj" fmla="val 4103"/>
            </a:avLst>
          </a:prstGeom>
          <a:solidFill>
            <a:schemeClr val="bg2"/>
          </a:solidFill>
          <a:ln w="9525">
            <a:solidFill>
              <a:srgbClr val="C4CBD8"/>
            </a:solidFill>
            <a:prstDash val="solid"/>
          </a:ln>
        </p:spPr>
      </p:sp>
      <p:sp>
        <p:nvSpPr>
          <p:cNvPr id="14" name="Card label"/>
          <p:cNvSpPr txBox="1"/>
          <p:nvPr/>
        </p:nvSpPr>
        <p:spPr>
          <a:xfrm>
            <a:off x="8310677"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Failure: objective monoculture</a:t>
            </a:r>
            <a:endParaRPr lang="en-US" sz="1300" dirty="0"/>
          </a:p>
        </p:txBody>
      </p:sp>
      <p:sp>
        <p:nvSpPr>
          <p:cNvPr id="15" name="Card head"/>
          <p:cNvSpPr txBox="1"/>
          <p:nvPr/>
        </p:nvSpPr>
        <p:spPr>
          <a:xfrm>
            <a:off x="8310677" y="2148840"/>
            <a:ext cx="3149498" cy="576072"/>
          </a:xfrm>
          <a:prstGeom prst="rect">
            <a:avLst/>
          </a:prstGeom>
          <a:noFill/>
          <a:ln/>
        </p:spPr>
        <p:txBody>
          <a:bodyPr wrap="square" lIns="0" tIns="0" rIns="0" bIns="0" rtlCol="0" anchor="t"/>
          <a:lstStyle/>
          <a:p>
            <a:pPr indent="0" marL="0">
              <a:buNone/>
            </a:pPr>
            <a:r>
              <a:rPr lang="en-US" sz="1700" b="1" dirty="0">
                <a:solidFill>
                  <a:schemeClr val="tx1"/>
                </a:solidFill>
                <a:latin typeface="Cambria" pitchFamily="34" charset="0"/>
                <a:ea typeface="Cambria" pitchFamily="34" charset="-122"/>
                <a:cs typeface="Cambria" pitchFamily="34" charset="-120"/>
              </a:rPr>
              <a:t>One scalar hides what companies pursue</a:t>
            </a:r>
            <a:endParaRPr lang="en-US" sz="1700" dirty="0"/>
          </a:p>
        </p:txBody>
      </p:sp>
      <p:sp>
        <p:nvSpPr>
          <p:cNvPr id="16" name="Card text"/>
          <p:cNvSpPr txBox="1"/>
          <p:nvPr/>
        </p:nvSpPr>
        <p:spPr>
          <a:xfrm>
            <a:off x="8310677" y="2798064"/>
            <a:ext cx="3149498" cy="548640"/>
          </a:xfrm>
          <a:prstGeom prst="rect">
            <a:avLst/>
          </a:prstGeom>
          <a:noFill/>
          <a:ln/>
        </p:spPr>
        <p:txBody>
          <a:bodyPr wrap="square" lIns="0" tIns="0" rIns="0" bIns="0" rtlCol="0" anchor="t"/>
          <a:lstStyle/>
          <a:p>
            <a:pPr indent="0" marL="0">
              <a:buNone/>
            </a:pPr>
            <a:r>
              <a:rPr lang="en-US" sz="1400" dirty="0">
                <a:solidFill>
                  <a:schemeClr val="tx2"/>
                </a:solidFill>
              </a:rPr>
              <a:t>Value, resilience, sustainability and adaptability conflict, structurally.</a:t>
            </a:r>
            <a:endParaRPr lang="en-US" sz="1400" dirty="0"/>
          </a:p>
        </p:txBody>
      </p:sp>
      <p:sp>
        <p:nvSpPr>
          <p:cNvPr id="17" name="Card"/>
          <p:cNvSpPr/>
          <p:nvPr/>
        </p:nvSpPr>
        <p:spPr>
          <a:xfrm>
            <a:off x="548640" y="3749040"/>
            <a:ext cx="3515258" cy="1783080"/>
          </a:xfrm>
          <a:prstGeom prst="roundRect">
            <a:avLst>
              <a:gd name="adj" fmla="val 4103"/>
            </a:avLst>
          </a:prstGeom>
          <a:solidFill>
            <a:schemeClr val="tx1"/>
          </a:solidFill>
          <a:ln w="9525">
            <a:solidFill>
              <a:srgbClr val="0F1E3D"/>
            </a:solidFill>
            <a:prstDash val="solid"/>
          </a:ln>
        </p:spPr>
      </p:sp>
      <p:sp>
        <p:nvSpPr>
          <p:cNvPr id="18" name="Card label"/>
          <p:cNvSpPr txBox="1"/>
          <p:nvPr/>
        </p:nvSpPr>
        <p:spPr>
          <a:xfrm>
            <a:off x="731520" y="38770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GEOP's answer</a:t>
            </a:r>
            <a:endParaRPr lang="en-US" sz="1300" dirty="0"/>
          </a:p>
        </p:txBody>
      </p:sp>
      <p:sp>
        <p:nvSpPr>
          <p:cNvPr id="19" name="Card head"/>
          <p:cNvSpPr txBox="1"/>
          <p:nvPr/>
        </p:nvSpPr>
        <p:spPr>
          <a:xfrm>
            <a:off x="731520" y="4206240"/>
            <a:ext cx="3149498" cy="576072"/>
          </a:xfrm>
          <a:prstGeom prst="rect">
            <a:avLst/>
          </a:prstGeom>
          <a:noFill/>
          <a:ln/>
        </p:spPr>
        <p:txBody>
          <a:bodyPr wrap="square" lIns="0" tIns="0" rIns="0" bIns="0" rtlCol="0" anchor="t"/>
          <a:lstStyle/>
          <a:p>
            <a:pPr indent="0" marL="0">
              <a:buNone/>
            </a:pPr>
            <a:r>
              <a:rPr lang="en-US" sz="1700" b="1" dirty="0">
                <a:solidFill>
                  <a:schemeClr val="bg1"/>
                </a:solidFill>
                <a:latin typeface="Cambria" pitchFamily="34" charset="0"/>
                <a:ea typeface="Cambria" pitchFamily="34" charset="-122"/>
                <a:cs typeface="Cambria" pitchFamily="34" charset="-120"/>
              </a:rPr>
              <a:t>Posed on the unified company</a:t>
            </a:r>
            <a:endParaRPr lang="en-US" sz="1700" dirty="0"/>
          </a:p>
        </p:txBody>
      </p:sp>
      <p:sp>
        <p:nvSpPr>
          <p:cNvPr id="20" name="Card text"/>
          <p:cNvSpPr txBox="1"/>
          <p:nvPr/>
        </p:nvSpPr>
        <p:spPr>
          <a:xfrm>
            <a:off x="731520" y="4855464"/>
            <a:ext cx="3149498" cy="548640"/>
          </a:xfrm>
          <a:prstGeom prst="rect">
            <a:avLst/>
          </a:prstGeom>
          <a:noFill/>
          <a:ln/>
        </p:spPr>
        <p:txBody>
          <a:bodyPr wrap="square" lIns="0" tIns="0" rIns="0" bIns="0" rtlCol="0" anchor="t"/>
          <a:lstStyle/>
          <a:p>
            <a:pPr indent="0" marL="0">
              <a:buNone/>
            </a:pPr>
            <a:r>
              <a:rPr lang="en-US" sz="1400" dirty="0">
                <a:solidFill>
                  <a:schemeClr val="bg2"/>
                </a:solidFill>
              </a:rPr>
              <a:t>Every objective and commitment reads the same state (Chapters 13–14).</a:t>
            </a:r>
            <a:endParaRPr lang="en-US" sz="1400" dirty="0"/>
          </a:p>
        </p:txBody>
      </p:sp>
      <p:sp>
        <p:nvSpPr>
          <p:cNvPr id="21" name="Card"/>
          <p:cNvSpPr/>
          <p:nvPr/>
        </p:nvSpPr>
        <p:spPr>
          <a:xfrm>
            <a:off x="4338218" y="3749040"/>
            <a:ext cx="3515258" cy="1783080"/>
          </a:xfrm>
          <a:prstGeom prst="roundRect">
            <a:avLst>
              <a:gd name="adj" fmla="val 4103"/>
            </a:avLst>
          </a:prstGeom>
          <a:solidFill>
            <a:schemeClr val="tx1"/>
          </a:solidFill>
          <a:ln w="9525">
            <a:solidFill>
              <a:srgbClr val="0F1E3D"/>
            </a:solidFill>
            <a:prstDash val="solid"/>
          </a:ln>
        </p:spPr>
      </p:sp>
      <p:sp>
        <p:nvSpPr>
          <p:cNvPr id="22" name="Card label"/>
          <p:cNvSpPr txBox="1"/>
          <p:nvPr/>
        </p:nvSpPr>
        <p:spPr>
          <a:xfrm>
            <a:off x="4521098" y="38770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GEOP's answer</a:t>
            </a:r>
            <a:endParaRPr lang="en-US" sz="1300" dirty="0"/>
          </a:p>
        </p:txBody>
      </p:sp>
      <p:sp>
        <p:nvSpPr>
          <p:cNvPr id="23" name="Card head"/>
          <p:cNvSpPr txBox="1"/>
          <p:nvPr/>
        </p:nvSpPr>
        <p:spPr>
          <a:xfrm>
            <a:off x="4521098" y="4206240"/>
            <a:ext cx="3149498" cy="576072"/>
          </a:xfrm>
          <a:prstGeom prst="rect">
            <a:avLst/>
          </a:prstGeom>
          <a:noFill/>
          <a:ln/>
        </p:spPr>
        <p:txBody>
          <a:bodyPr wrap="square" lIns="0" tIns="0" rIns="0" bIns="0" rtlCol="0" anchor="t"/>
          <a:lstStyle/>
          <a:p>
            <a:pPr indent="0" marL="0">
              <a:buNone/>
            </a:pPr>
            <a:r>
              <a:rPr lang="en-US" sz="1700" b="1" dirty="0">
                <a:solidFill>
                  <a:schemeClr val="bg1"/>
                </a:solidFill>
                <a:latin typeface="Cambria" pitchFamily="34" charset="0"/>
                <a:ea typeface="Cambria" pitchFamily="34" charset="-122"/>
                <a:cs typeface="Cambria" pitchFamily="34" charset="-120"/>
              </a:rPr>
              <a:t>Its feasible set is the audited region</a:t>
            </a:r>
            <a:endParaRPr lang="en-US" sz="1700" dirty="0"/>
          </a:p>
        </p:txBody>
      </p:sp>
      <p:sp>
        <p:nvSpPr>
          <p:cNvPr id="24" name="Card text"/>
          <p:cNvSpPr txBox="1"/>
          <p:nvPr/>
        </p:nvSpPr>
        <p:spPr>
          <a:xfrm>
            <a:off x="4521098" y="4855464"/>
            <a:ext cx="3149498" cy="548640"/>
          </a:xfrm>
          <a:prstGeom prst="rect">
            <a:avLst/>
          </a:prstGeom>
          <a:noFill/>
          <a:ln/>
        </p:spPr>
        <p:txBody>
          <a:bodyPr wrap="square" lIns="0" tIns="0" rIns="0" bIns="0" rtlCol="0" anchor="t"/>
          <a:lstStyle/>
          <a:p>
            <a:pPr indent="0" marL="0">
              <a:buNone/>
            </a:pPr>
            <a:r>
              <a:rPr lang="en-US" sz="1400" dirty="0">
                <a:solidFill>
                  <a:schemeClr val="bg2"/>
                </a:solidFill>
              </a:rPr>
              <a:t>With the viability kernel as its honest core (Theorem 14.5).</a:t>
            </a:r>
            <a:endParaRPr lang="en-US" sz="1400" dirty="0"/>
          </a:p>
        </p:txBody>
      </p:sp>
      <p:sp>
        <p:nvSpPr>
          <p:cNvPr id="25" name="Card"/>
          <p:cNvSpPr/>
          <p:nvPr/>
        </p:nvSpPr>
        <p:spPr>
          <a:xfrm>
            <a:off x="8127797" y="3749040"/>
            <a:ext cx="3515258" cy="1783080"/>
          </a:xfrm>
          <a:prstGeom prst="roundRect">
            <a:avLst>
              <a:gd name="adj" fmla="val 4103"/>
            </a:avLst>
          </a:prstGeom>
          <a:solidFill>
            <a:schemeClr val="tx1"/>
          </a:solidFill>
          <a:ln w="9525">
            <a:solidFill>
              <a:srgbClr val="0F1E3D"/>
            </a:solidFill>
            <a:prstDash val="solid"/>
          </a:ln>
        </p:spPr>
      </p:sp>
      <p:sp>
        <p:nvSpPr>
          <p:cNvPr id="26" name="Card label"/>
          <p:cNvSpPr txBox="1"/>
          <p:nvPr/>
        </p:nvSpPr>
        <p:spPr>
          <a:xfrm>
            <a:off x="8310677" y="38770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GEOP's answer</a:t>
            </a:r>
            <a:endParaRPr lang="en-US" sz="1300" dirty="0"/>
          </a:p>
        </p:txBody>
      </p:sp>
      <p:sp>
        <p:nvSpPr>
          <p:cNvPr id="27" name="Card head"/>
          <p:cNvSpPr txBox="1"/>
          <p:nvPr/>
        </p:nvSpPr>
        <p:spPr>
          <a:xfrm>
            <a:off x="8310677" y="4206240"/>
            <a:ext cx="3149498" cy="576072"/>
          </a:xfrm>
          <a:prstGeom prst="rect">
            <a:avLst/>
          </a:prstGeom>
          <a:noFill/>
          <a:ln/>
        </p:spPr>
        <p:txBody>
          <a:bodyPr wrap="square" lIns="0" tIns="0" rIns="0" bIns="0" rtlCol="0" anchor="t"/>
          <a:lstStyle/>
          <a:p>
            <a:pPr indent="0" marL="0">
              <a:buNone/>
            </a:pPr>
            <a:r>
              <a:rPr lang="en-US" sz="1700" b="1" dirty="0">
                <a:solidFill>
                  <a:schemeClr val="bg1"/>
                </a:solidFill>
                <a:latin typeface="Cambria" pitchFamily="34" charset="0"/>
                <a:ea typeface="Cambria" pitchFamily="34" charset="-122"/>
                <a:cs typeface="Cambria" pitchFamily="34" charset="-120"/>
              </a:rPr>
              <a:t>Its objective is declared, single or plural</a:t>
            </a:r>
            <a:endParaRPr lang="en-US" sz="1700" dirty="0"/>
          </a:p>
        </p:txBody>
      </p:sp>
      <p:sp>
        <p:nvSpPr>
          <p:cNvPr id="28" name="Card text"/>
          <p:cNvSpPr txBox="1"/>
          <p:nvPr/>
        </p:nvSpPr>
        <p:spPr>
          <a:xfrm>
            <a:off x="8310677" y="4855464"/>
            <a:ext cx="3149498" cy="548640"/>
          </a:xfrm>
          <a:prstGeom prst="rect">
            <a:avLst/>
          </a:prstGeom>
          <a:noFill/>
          <a:ln/>
        </p:spPr>
        <p:txBody>
          <a:bodyPr wrap="square" lIns="0" tIns="0" rIns="0" bIns="0" rtlCol="0" anchor="t"/>
          <a:lstStyle/>
          <a:p>
            <a:pPr indent="0" marL="0">
              <a:buNone/>
            </a:pPr>
            <a:r>
              <a:rPr lang="en-US" sz="1400" dirty="0">
                <a:solidFill>
                  <a:schemeClr val="bg2"/>
                </a:solidFill>
              </a:rPr>
              <a:t>A functional of the ledgers, with units, weights and owners.</a:t>
            </a:r>
            <a:endParaRPr lang="en-US" sz="1400" dirty="0"/>
          </a:p>
        </p:txBody>
      </p:sp>
      <p:sp>
        <p:nvSpPr>
          <p:cNvPr id="29" name="Lead"/>
          <p:cNvSpPr txBox="1"/>
          <p:nvPr/>
        </p:nvSpPr>
        <p:spPr>
          <a:xfrm>
            <a:off x="548640" y="5806440"/>
            <a:ext cx="11094415" cy="457200"/>
          </a:xfrm>
          <a:prstGeom prst="rect">
            <a:avLst/>
          </a:prstGeom>
          <a:noFill/>
          <a:ln/>
        </p:spPr>
        <p:txBody>
          <a:bodyPr wrap="square" lIns="0" tIns="0" rIns="0" bIns="0" rtlCol="0" anchor="ctr"/>
          <a:lstStyle/>
          <a:p>
            <a:pPr indent="0" marL="0">
              <a:buNone/>
            </a:pPr>
            <a:r>
              <a:rPr lang="en-US" sz="1600" i="1" dirty="0">
                <a:solidFill>
                  <a:schemeClr val="accent2"/>
                </a:solidFill>
              </a:rPr>
              <a:t>And it is free of any algorithm: Volume I formulates, Volume II solves.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§15.2 · DEFINITION 15.1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One problem, every component declared</a:t>
            </a:r>
            <a:endParaRPr lang="en-US" sz="3200" dirty="0"/>
          </a:p>
        </p:txBody>
      </p:sp>
      <p:pic>
        <p:nvPicPr>
          <p:cNvPr id="5" name="Equation" descr="Equation: \max_{\pi \in \Pi}\; J(\pi) \;=\; \mathrm{E}\Bigl[\,\sum_{k=0}^{K-1} L(\mathbf{x}_k, \mathbf{u}_k, k) \;+\; \Phi_{T}(\mathbf{x}_K)\Bigr]">    </p:cNvPr>
          <p:cNvPicPr>
            <a:picLocks noChangeAspect="1"/>
          </p:cNvPicPr>
          <p:nvPr/>
        </p:nvPicPr>
        <p:blipFill>
          <a:blip r:embed="rId1"/>
          <a:stretch>
            <a:fillRect/>
          </a:stretch>
        </p:blipFill>
        <p:spPr>
          <a:xfrm>
            <a:off x="3364163" y="1828800"/>
            <a:ext cx="5463369" cy="960120"/>
          </a:xfrm>
          <a:prstGeom prst="rect">
            <a:avLst/>
          </a:prstGeom>
        </p:spPr>
      </p:pic>
      <p:sp>
        <p:nvSpPr>
          <p:cNvPr id="6" name="Text 2"/>
          <p:cNvSpPr txBox="1"/>
          <p:nvPr/>
        </p:nvSpPr>
        <p:spPr>
          <a:xfrm>
            <a:off x="914400" y="2926080"/>
            <a:ext cx="10362895" cy="411480"/>
          </a:xfrm>
          <a:prstGeom prst="rect">
            <a:avLst/>
          </a:prstGeom>
          <a:noFill/>
          <a:ln/>
        </p:spPr>
        <p:txBody>
          <a:bodyPr wrap="square" lIns="0" tIns="0" rIns="0" bIns="0" rtlCol="0" anchor="ctr"/>
          <a:lstStyle/>
          <a:p>
            <a:pPr algn="ctr" indent="0" marL="0">
              <a:buNone/>
            </a:pPr>
            <a:r>
              <a:rPr lang="en-US" sz="1600" i="1" dirty="0">
                <a:solidFill>
                  <a:schemeClr val="accent4"/>
                </a:solidFill>
              </a:rPr>
              <a:t>subject to the unified dynamics, a rule the company can implement, and its declared commitments</a:t>
            </a:r>
            <a:endParaRPr lang="en-US" sz="1600" dirty="0"/>
          </a:p>
        </p:txBody>
      </p:sp>
      <p:sp>
        <p:nvSpPr>
          <p:cNvPr id="7" name="Bullets"/>
          <p:cNvSpPr txBox="1"/>
          <p:nvPr/>
        </p:nvSpPr>
        <p:spPr>
          <a:xfrm>
            <a:off x="914400" y="3520440"/>
            <a:ext cx="10362895" cy="265176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bg1"/>
                </a:solidFill>
              </a:rPr>
              <a:t>Six declarations</a:t>
            </a:r>
            <a:r>
              <a:rPr lang="en-US" sz="1700" dirty="0">
                <a:solidFill>
                  <a:schemeClr val="bg1"/>
                </a:solidFill>
              </a:rPr>
              <a:t>, each with an owner: horizon, decisions, policy class, environment, objective, commitments</a:t>
            </a:r>
            <a:endParaRPr lang="en-US" sz="1700" dirty="0"/>
          </a:p>
          <a:p>
            <a:pPr marL="228600" indent="-228600">
              <a:spcAft>
                <a:spcPts val="800"/>
              </a:spcAft>
              <a:buSzPct val="100000"/>
              <a:buChar char="•"/>
            </a:pPr>
            <a:r>
              <a:rPr lang="en-US" sz="1700" b="1" dirty="0">
                <a:solidFill>
                  <a:schemeClr val="bg1"/>
                </a:solidFill>
              </a:rPr>
              <a:t>Proposition 15.1.</a:t>
            </a:r>
            <a:r>
              <a:rPr lang="en-US" sz="1700" dirty="0">
                <a:solidFill>
                  <a:schemeClr val="bg1"/>
                </a:solidFill>
              </a:rPr>
              <a:t> It reads several ledgers of one state: posed on separate layers, it can count the same cash twice</a:t>
            </a:r>
            <a:endParaRPr lang="en-US" sz="1700" dirty="0"/>
          </a:p>
          <a:p>
            <a:pPr marL="228600" indent="-228600">
              <a:spcAft>
                <a:spcPts val="800"/>
              </a:spcAft>
              <a:buSzPct val="100000"/>
              <a:buChar char="•"/>
            </a:pPr>
            <a:r>
              <a:rPr lang="en-US" sz="1700" b="1" dirty="0">
                <a:solidFill>
                  <a:schemeClr val="bg1"/>
                </a:solidFill>
              </a:rPr>
              <a:t>Theorem 15.1.</a:t>
            </a:r>
            <a:r>
              <a:rPr lang="en-US" sz="1700" dirty="0">
                <a:solidFill>
                  <a:schemeClr val="bg1"/>
                </a:solidFill>
              </a:rPr>
              <a:t> Well-posed data; the familiar optimization families are instances with blocks frozen; nothing hidden</a:t>
            </a:r>
            <a:endParaRPr lang="en-US" sz="1700" dirty="0"/>
          </a:p>
          <a:p>
            <a:pPr marL="228600" indent="-228600">
              <a:spcAft>
                <a:spcPts val="800"/>
              </a:spcAft>
              <a:buSzPct val="100000"/>
              <a:buChar char="•"/>
            </a:pPr>
            <a:r>
              <a:rPr lang="en-US" sz="1700" dirty="0">
                <a:solidFill>
                  <a:schemeClr val="bg1"/>
                </a:solidFill>
              </a:rPr>
              <a:t>Under uncertainty each commitment holds on every path or in a declared probabilistic form; with several objectives, max means Pareto optimal</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§15.2 · THEOREM 15.1 · TABLE 15.1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Every component is supplied by a chapter</a:t>
            </a:r>
            <a:endParaRPr lang="en-US" sz="32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3300818"/>
                <a:gridCol w="7793597"/>
              </a:tblGrid>
              <a:tr h="347472">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Component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Supplied by</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347472">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State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Chapters 3 and 5; the integrated state (Definition 13.7)</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347472">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Decisions; rules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operators and programs (Chapters 6–7); Definitions 15.2–15.3</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347472">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Dynamics; environment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Chapters 7, 8 and 13</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347472">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Objective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the capital, performance and risk ledgers (Chapters 10–12)</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347472">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Commitments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Chapters 9–13; Table 13.3</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347472">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Honest planning set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the viability kernel: Theorems 13.5 and 14.5</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347472">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Regularity</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the analytical panel A1–A5 (Table 14.1)</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347472">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Derivatives; prices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sensitivities and multipliers: Theorems 14.4 and 15.3</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347472">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Holdability</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stability certificates: Theorem 14.3</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347472">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Honesty clauses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Goodhart, the flaw of averages, viability: Theorems 11.1, 8.5 and 14.5</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bl>
          </a:graphicData>
        </a:graphic>
      </p:graphicFrame>
      <p:sp>
        <p:nvSpPr>
          <p:cNvPr id="6"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The problem adds only the frame: every objection lands on a declared component and its owner.</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§15.3 · DEFINITION 15.5 · TABLE 15.2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Nine classes of commitment, each with an owner</a:t>
            </a:r>
            <a:endParaRPr lang="en-US" sz="32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3025750"/>
                <a:gridCol w="6051499"/>
                <a:gridCol w="2017166"/>
              </a:tblGrid>
              <a:tr h="36576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Class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Meridian instance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Owner</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365760">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Structural, architectural</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every core link at most 0.40; the board's half-life rule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risk office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365760">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Financial, budget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liquidity floor $350 million; covenant at most 4.5×</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CFO</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365760">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Operational, resource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plant capacity in Industrial Systems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COO</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365760">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Performance, strategic</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scorecard and service floors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division heads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365760">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Risk</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strategic-risk ceiling 75; breach odds at most 5 percent</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CRO, board</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365760">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Governance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the buffer's funding identity (C3)</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board</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365760">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Legal, regulatory</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licenses; disclosure duties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general counsel</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365760">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Sustainability, ESG</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emissions ceilings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sustainability office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365760">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Human capital, technology</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capability at least 55 for the digital build</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HR, CTO</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bl>
          </a:graphicData>
        </a:graphic>
      </p:graphicFrame>
      <p:sp>
        <p:nvSpPr>
          <p:cNvPr id="6" name="Table note"/>
          <p:cNvSpPr txBox="1"/>
          <p:nvPr/>
        </p:nvSpPr>
        <p:spPr>
          <a:xfrm>
            <a:off x="548640" y="5422392"/>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Table 15.2, without its canonical forms. A commitment carries a scope, a predicate, an owner and a consequence of violation.</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A commitment is never free: if it binds, it costs its multiplier; if it never binds, it was decoration.</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§15.4 · THEOREM 15.2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Feasibility comes before optimality</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15.2</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Feasible Enterprise Solution Theorem</a:t>
            </a:r>
            <a:endParaRPr lang="en-US" sz="2100" dirty="0"/>
          </a:p>
        </p:txBody>
      </p:sp>
      <p:sp>
        <p:nvSpPr>
          <p:cNvPr id="8" name="Bullets"/>
          <p:cNvSpPr txBox="1"/>
          <p:nvPr/>
        </p:nvSpPr>
        <p:spPr>
          <a:xfrm>
            <a:off x="822960" y="2743200"/>
            <a:ext cx="5394960" cy="3291840"/>
          </a:xfrm>
          <a:prstGeom prst="rect">
            <a:avLst/>
          </a:prstGeom>
          <a:noFill/>
          <a:ln/>
        </p:spPr>
        <p:txBody>
          <a:bodyPr wrap="square" lIns="635" tIns="635" rIns="635" bIns="635" rtlCol="0" anchor="t"/>
          <a:lstStyle/>
          <a:p>
            <a:pPr marL="228600" indent="-228600">
              <a:spcAft>
                <a:spcPts val="600"/>
              </a:spcAft>
              <a:buSzPct val="100000"/>
              <a:buChar char="•"/>
            </a:pPr>
            <a:r>
              <a:rPr lang="en-US" sz="1500" b="1" dirty="0">
                <a:solidFill>
                  <a:schemeClr val="tx1"/>
                </a:solidFill>
              </a:rPr>
              <a:t>(i) Feasible plans.</a:t>
            </a:r>
            <a:r>
              <a:rPr lang="en-US" sz="1500" dirty="0">
                <a:solidFill>
                  <a:schemeClr val="tx1"/>
                </a:solidFill>
              </a:rPr>
              <a:t> A plan exists exactly when the start lies in the viability set; the construction builds one or proves there is none</a:t>
            </a:r>
            <a:endParaRPr lang="en-US" sz="1500" dirty="0"/>
          </a:p>
          <a:p>
            <a:pPr marL="228600" indent="-228600">
              <a:spcAft>
                <a:spcPts val="600"/>
              </a:spcAft>
              <a:buSzPct val="100000"/>
              <a:buChar char="•"/>
            </a:pPr>
            <a:r>
              <a:rPr lang="en-US" sz="1500" b="1" dirty="0">
                <a:solidFill>
                  <a:schemeClr val="tx1"/>
                </a:solidFill>
              </a:rPr>
              <a:t>(ii) Optima exist.</a:t>
            </a:r>
            <a:r>
              <a:rPr lang="en-US" sz="1500" dirty="0">
                <a:solidFill>
                  <a:schemeClr val="tx1"/>
                </a:solidFill>
              </a:rPr>
              <a:t> If a feasible plan exists, a best one is attained</a:t>
            </a:r>
            <a:endParaRPr lang="en-US" sz="1500" dirty="0"/>
          </a:p>
          <a:p>
            <a:pPr marL="228600" indent="-228600">
              <a:spcAft>
                <a:spcPts val="600"/>
              </a:spcAft>
              <a:buSzPct val="100000"/>
              <a:buChar char="•"/>
            </a:pPr>
            <a:r>
              <a:rPr lang="en-US" sz="1500" b="1" dirty="0">
                <a:solidFill>
                  <a:schemeClr val="tx1"/>
                </a:solidFill>
              </a:rPr>
              <a:t>(iii) Failures are named:</a:t>
            </a:r>
            <a:r>
              <a:rPr lang="en-US" sz="1500" dirty="0">
                <a:solidFill>
                  <a:schemeClr val="tx1"/>
                </a:solidFill>
              </a:rPr>
              <a:t> a minimal set of commitments that cannot hold together, or an emptying date</a:t>
            </a:r>
            <a:endParaRPr lang="en-US" sz="1500" dirty="0"/>
          </a:p>
          <a:p>
            <a:pPr marL="228600" indent="-228600">
              <a:spcAft>
                <a:spcPts val="600"/>
              </a:spcAft>
              <a:buSzPct val="100000"/>
              <a:buChar char="•"/>
            </a:pPr>
            <a:r>
              <a:rPr lang="en-US" sz="1500" b="1" dirty="0">
                <a:solidFill>
                  <a:schemeClr val="tx1"/>
                </a:solidFill>
              </a:rPr>
              <a:t>(iv) Proposed commitments are priced before adoption</a:t>
            </a:r>
            <a:r>
              <a:rPr lang="en-US" sz="1500" dirty="0">
                <a:solidFill>
                  <a:schemeClr val="tx1"/>
                </a:solidFill>
              </a:rPr>
              <a:t> by rerunning the two audits</a:t>
            </a:r>
            <a:endParaRPr lang="en-US" sz="1500" dirty="0"/>
          </a:p>
          <a:p>
            <a:pPr marL="228600" indent="-228600">
              <a:spcAft>
                <a:spcPts val="600"/>
              </a:spcAft>
              <a:buSzPct val="100000"/>
              <a:buChar char="•"/>
            </a:pPr>
            <a:r>
              <a:rPr lang="en-US" sz="1500" b="1" dirty="0">
                <a:solidFill>
                  <a:schemeClr val="tx1"/>
                </a:solidFill>
              </a:rPr>
              <a:t>(v) Room to spare.</a:t>
            </a:r>
            <a:r>
              <a:rPr lang="en-US" sz="1500" dirty="0">
                <a:solidFill>
                  <a:schemeClr val="tx1"/>
                </a:solidFill>
              </a:rPr>
              <a:t> A Slater plan, which the multiplier theory needs</a:t>
            </a:r>
            <a:endParaRPr lang="en-US" sz="1500" dirty="0"/>
          </a:p>
        </p:txBody>
      </p:sp>
      <p:sp>
        <p:nvSpPr>
          <p:cNvPr id="9"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What it means</a:t>
            </a:r>
            <a:endParaRPr lang="en-US" sz="1600" dirty="0"/>
          </a:p>
        </p:txBody>
      </p:sp>
      <p:sp>
        <p:nvSpPr>
          <p:cNvPr id="10"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500" dirty="0">
                <a:solidFill>
                  <a:schemeClr val="tx1"/>
                </a:solidFill>
              </a:rPr>
              <a:t>Proposition 15.4 fixes the order: joint consistency, then viability, then optimization</a:t>
            </a:r>
            <a:endParaRPr lang="en-US" sz="1500" dirty="0"/>
          </a:p>
          <a:p>
            <a:pPr marL="228600" indent="-228600">
              <a:spcAft>
                <a:spcPts val="800"/>
              </a:spcAft>
              <a:buSzPct val="100000"/>
              <a:buChar char="•"/>
            </a:pPr>
            <a:r>
              <a:rPr lang="en-US" sz="1500" dirty="0">
                <a:solidFill>
                  <a:schemeClr val="tx1"/>
                </a:solidFill>
              </a:rPr>
              <a:t>A minimal infeasible set is the next meeting's agenda: Worked Example 13.1's sign-offs were one</a:t>
            </a:r>
            <a:endParaRPr lang="en-US" sz="1500" dirty="0"/>
          </a:p>
          <a:p>
            <a:pPr marL="228600" indent="-228600">
              <a:spcAft>
                <a:spcPts val="800"/>
              </a:spcAft>
              <a:buSzPct val="100000"/>
              <a:buChar char="•"/>
            </a:pPr>
            <a:r>
              <a:rPr lang="en-US" sz="1500" dirty="0">
                <a:solidFill>
                  <a:schemeClr val="tx1"/>
                </a:solidFill>
              </a:rPr>
              <a:t>“The plan feels tight” becomes “these commitments exhaust each other in so many quarters”</a:t>
            </a:r>
            <a:endParaRPr lang="en-US" sz="1500" dirty="0"/>
          </a:p>
          <a:p>
            <a:pPr marL="228600" indent="-228600">
              <a:spcAft>
                <a:spcPts val="800"/>
              </a:spcAft>
              <a:buSzPct val="100000"/>
              <a:buChar char="•"/>
            </a:pPr>
            <a:r>
              <a:rPr lang="en-US" sz="1500" dirty="0">
                <a:solidFill>
                  <a:schemeClr val="tx1"/>
                </a:solidFill>
              </a:rPr>
              <a:t>Lab 1.15: cap the line at $100m and the delay at two quarters, then ask for under 3 percent</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§15.5 · THEOREM 15.3 · EQUATION 15.4</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Everything that binds has a price</a:t>
            </a:r>
            <a:endParaRPr lang="en-US" sz="3200" dirty="0"/>
          </a:p>
        </p:txBody>
      </p:sp>
      <p:pic>
        <p:nvPicPr>
          <p:cNvPr id="5" name="Equation" descr="Equation: \nabla J(\mathbf{z}^{*}) \;=\; \sum_{i=1}^{m}\lambda_i\,\nabla g_i(\mathbf{z}^{*}) \;+\; \sum_{j=1}^{r}\mu_j\,\nabla h_j(\mathbf{z}^{*}), \qquad \lambda_i\, g_i(\mathbf{z}^{*}) = 0">    </p:cNvPr>
          <p:cNvPicPr>
            <a:picLocks noChangeAspect="1"/>
          </p:cNvPicPr>
          <p:nvPr/>
        </p:nvPicPr>
        <p:blipFill>
          <a:blip r:embed="rId1"/>
          <a:stretch>
            <a:fillRect/>
          </a:stretch>
        </p:blipFill>
        <p:spPr>
          <a:xfrm>
            <a:off x="2523107" y="1828800"/>
            <a:ext cx="7145482" cy="914400"/>
          </a:xfrm>
          <a:prstGeom prst="rect">
            <a:avLst/>
          </a:prstGeom>
        </p:spPr>
      </p:pic>
      <p:sp>
        <p:nvSpPr>
          <p:cNvPr id="6" name="Text 2"/>
          <p:cNvSpPr txBox="1"/>
          <p:nvPr/>
        </p:nvSpPr>
        <p:spPr>
          <a:xfrm>
            <a:off x="914400" y="2880360"/>
            <a:ext cx="10362895" cy="411480"/>
          </a:xfrm>
          <a:prstGeom prst="rect">
            <a:avLst/>
          </a:prstGeom>
          <a:noFill/>
          <a:ln/>
        </p:spPr>
        <p:txBody>
          <a:bodyPr wrap="square" lIns="0" tIns="0" rIns="0" bIns="0" rtlCol="0" anchor="ctr"/>
          <a:lstStyle/>
          <a:p>
            <a:pPr algn="ctr" indent="0" marL="0">
              <a:buNone/>
            </a:pPr>
            <a:r>
              <a:rPr lang="en-US" sz="1600" i="1" dirty="0">
                <a:solidFill>
                  <a:schemeClr val="accent4"/>
                </a:solidFill>
              </a:rPr>
              <a:t>at the optimum you are held only by what binds; slack commitments carry zero multipliers</a:t>
            </a:r>
            <a:endParaRPr lang="en-US" sz="1600" dirty="0"/>
          </a:p>
        </p:txBody>
      </p:sp>
      <p:sp>
        <p:nvSpPr>
          <p:cNvPr id="7" name="Bullets"/>
          <p:cNvSpPr txBox="1"/>
          <p:nvPr/>
        </p:nvSpPr>
        <p:spPr>
          <a:xfrm>
            <a:off x="914400" y="3474720"/>
            <a:ext cx="10362895" cy="269748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bg1"/>
                </a:solidFill>
              </a:rPr>
              <a:t>(ii)</a:t>
            </a:r>
            <a:r>
              <a:rPr lang="en-US" sz="1700" dirty="0">
                <a:solidFill>
                  <a:schemeClr val="bg1"/>
                </a:solidFill>
              </a:rPr>
              <a:t> Sufficient under declared convexity: concave objective, convex commitments, affine identities</a:t>
            </a:r>
            <a:endParaRPr lang="en-US" sz="1700" dirty="0"/>
          </a:p>
          <a:p>
            <a:pPr marL="228600" indent="-228600">
              <a:spcAft>
                <a:spcPts val="800"/>
              </a:spcAft>
              <a:buSzPct val="100000"/>
              <a:buChar char="•"/>
            </a:pPr>
            <a:r>
              <a:rPr lang="en-US" sz="1700" b="1" dirty="0">
                <a:solidFill>
                  <a:schemeClr val="bg1"/>
                </a:solidFill>
              </a:rPr>
              <a:t>(iii) Multipliers are prices:</a:t>
            </a:r>
            <a:r>
              <a:rPr lang="en-US" sz="1700" dirty="0">
                <a:solidFill>
                  <a:schemeClr val="bg1"/>
                </a:solidFill>
              </a:rPr>
              <a:t> loosening a commitment by b gains at most λb; tightening it loses at least λb</a:t>
            </a:r>
            <a:endParaRPr lang="en-US" sz="1700" dirty="0"/>
          </a:p>
          <a:p>
            <a:pPr marL="228600" indent="-228600">
              <a:spcAft>
                <a:spcPts val="800"/>
              </a:spcAft>
              <a:buSzPct val="100000"/>
              <a:buChar char="•"/>
            </a:pPr>
            <a:r>
              <a:rPr lang="en-US" sz="1700" b="1" dirty="0">
                <a:solidFill>
                  <a:schemeClr val="bg1"/>
                </a:solidFill>
              </a:rPr>
              <a:t>(iv)</a:t>
            </a:r>
            <a:r>
              <a:rPr lang="en-US" sz="1700" dirty="0">
                <a:solidFill>
                  <a:schemeClr val="bg1"/>
                </a:solidFill>
              </a:rPr>
              <a:t> Without convexity a point that meets it is a candidate, not a verdict: say which certificate it carries</a:t>
            </a:r>
            <a:endParaRPr lang="en-US" sz="1700" dirty="0"/>
          </a:p>
          <a:p>
            <a:pPr marL="228600" indent="-228600">
              <a:spcAft>
                <a:spcPts val="800"/>
              </a:spcAft>
              <a:buSzPct val="100000"/>
              <a:buChar char="•"/>
            </a:pPr>
            <a:r>
              <a:rPr lang="en-US" sz="1700" b="1" dirty="0">
                <a:solidFill>
                  <a:schemeClr val="bg1"/>
                </a:solidFill>
              </a:rPr>
              <a:t>Proposition 15.5:</a:t>
            </a:r>
            <a:r>
              <a:rPr lang="en-US" sz="1700" dirty="0">
                <a:solidFill>
                  <a:schemeClr val="bg1"/>
                </a:solidFill>
              </a:rPr>
              <a:t> values are stable, decisions twitchy: near the stability edge, at ρ = 0.95, a 1% recalibration moves the best decision 19%</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§15.6 · THEOREM 15.4</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One rule book from every state</a:t>
            </a:r>
            <a:endParaRPr lang="en-US" sz="3200" dirty="0"/>
          </a:p>
        </p:txBody>
      </p:sp>
      <p:sp>
        <p:nvSpPr>
          <p:cNvPr id="5" name="Result card"/>
          <p:cNvSpPr/>
          <p:nvPr/>
        </p:nvSpPr>
        <p:spPr>
          <a:xfrm>
            <a:off x="548640" y="1691640"/>
            <a:ext cx="64008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8521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15.4</a:t>
            </a:r>
            <a:endParaRPr lang="en-US" sz="1200" dirty="0"/>
          </a:p>
        </p:txBody>
      </p:sp>
      <p:sp>
        <p:nvSpPr>
          <p:cNvPr id="7" name="Text 4"/>
          <p:cNvSpPr txBox="1"/>
          <p:nvPr/>
        </p:nvSpPr>
        <p:spPr>
          <a:xfrm>
            <a:off x="822960" y="2194560"/>
            <a:ext cx="58521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Dynamic Enterprise Optimization Theorem</a:t>
            </a:r>
            <a:endParaRPr lang="en-US" sz="2100" dirty="0"/>
          </a:p>
        </p:txBody>
      </p:sp>
      <p:sp>
        <p:nvSpPr>
          <p:cNvPr id="8" name="Bullets"/>
          <p:cNvSpPr txBox="1"/>
          <p:nvPr/>
        </p:nvSpPr>
        <p:spPr>
          <a:xfrm>
            <a:off x="822960" y="2743200"/>
            <a:ext cx="5852160" cy="3291840"/>
          </a:xfrm>
          <a:prstGeom prst="rect">
            <a:avLst/>
          </a:prstGeom>
          <a:noFill/>
          <a:ln/>
        </p:spPr>
        <p:txBody>
          <a:bodyPr wrap="square" lIns="635" tIns="635" rIns="635" bIns="635" rtlCol="0" anchor="t"/>
          <a:lstStyle/>
          <a:p>
            <a:pPr marL="228600" indent="-228600">
              <a:spcAft>
                <a:spcPts val="600"/>
              </a:spcAft>
              <a:buSzPct val="100000"/>
              <a:buChar char="•"/>
            </a:pPr>
            <a:r>
              <a:rPr lang="en-US" sz="1500" b="1" dirty="0">
                <a:solidFill>
                  <a:schemeClr val="tx1"/>
                </a:solidFill>
              </a:rPr>
              <a:t>(i) One rule book.</a:t>
            </a:r>
            <a:r>
              <a:rPr lang="en-US" sz="1500" dirty="0">
                <a:solidFill>
                  <a:schemeClr val="tx1"/>
                </a:solidFill>
              </a:rPr>
              <a:t> The backward recursion gives one rule, optimal from every feasible start</a:t>
            </a:r>
            <a:endParaRPr lang="en-US" sz="1500" dirty="0"/>
          </a:p>
          <a:p>
            <a:pPr marL="228600" indent="-228600">
              <a:spcAft>
                <a:spcPts val="600"/>
              </a:spcAft>
              <a:buSzPct val="100000"/>
              <a:buChar char="•"/>
            </a:pPr>
            <a:r>
              <a:rPr lang="en-US" sz="1500" b="1" dirty="0">
                <a:solidFill>
                  <a:schemeClr val="tx1"/>
                </a:solidFill>
              </a:rPr>
              <a:t>(ii) Costates are sensitivities:</a:t>
            </a:r>
            <a:r>
              <a:rPr lang="en-US" sz="1500" dirty="0">
                <a:solidFill>
                  <a:schemeClr val="tx1"/>
                </a:solidFill>
              </a:rPr>
              <a:t> the price of every stock at every date</a:t>
            </a:r>
            <a:endParaRPr lang="en-US" sz="1500" dirty="0"/>
          </a:p>
          <a:p>
            <a:pPr marL="228600" indent="-228600">
              <a:spcAft>
                <a:spcPts val="600"/>
              </a:spcAft>
              <a:buSzPct val="100000"/>
              <a:buChar char="•"/>
            </a:pPr>
            <a:r>
              <a:rPr lang="en-US" sz="1500" b="1" dirty="0">
                <a:solidFill>
                  <a:schemeClr val="tx1"/>
                </a:solidFill>
              </a:rPr>
              <a:t>(iii) Information and authority have a computable value:</a:t>
            </a:r>
            <a:r>
              <a:rPr lang="en-US" sz="1500" dirty="0">
                <a:solidFill>
                  <a:schemeClr val="tx1"/>
                </a:solidFill>
              </a:rPr>
              <a:t> a larger policy class never lowers the optimum</a:t>
            </a:r>
            <a:endParaRPr lang="en-US" sz="1500" dirty="0"/>
          </a:p>
          <a:p>
            <a:pPr marL="228600" indent="-228600">
              <a:spcAft>
                <a:spcPts val="600"/>
              </a:spcAft>
              <a:buSzPct val="100000"/>
              <a:buChar char="•"/>
            </a:pPr>
            <a:r>
              <a:rPr lang="en-US" sz="1500" b="1" dirty="0">
                <a:solidFill>
                  <a:schemeClr val="tx1"/>
                </a:solidFill>
              </a:rPr>
              <a:t>(iv) Rolling plans need a terminal condition:</a:t>
            </a:r>
            <a:r>
              <a:rPr lang="en-US" sz="1500" dirty="0">
                <a:solidFill>
                  <a:schemeClr val="tx1"/>
                </a:solidFill>
              </a:rPr>
              <a:t> every window must end inside the viability kernel</a:t>
            </a:r>
            <a:endParaRPr lang="en-US" sz="1500" dirty="0"/>
          </a:p>
          <a:p>
            <a:pPr marL="228600" indent="-228600">
              <a:spcAft>
                <a:spcPts val="600"/>
              </a:spcAft>
              <a:buSzPct val="100000"/>
              <a:buChar char="•"/>
            </a:pPr>
            <a:r>
              <a:rPr lang="en-US" sz="1500" b="1" dirty="0">
                <a:solidFill>
                  <a:schemeClr val="tx1"/>
                </a:solidFill>
              </a:rPr>
              <a:t>(v) Long horizons.</a:t>
            </a:r>
            <a:r>
              <a:rPr lang="en-US" sz="1500" dirty="0">
                <a:solidFill>
                  <a:schemeClr val="tx1"/>
                </a:solidFill>
              </a:rPr>
              <a:t> With a discount, a contraction and one time-invariant rule</a:t>
            </a:r>
            <a:endParaRPr lang="en-US" sz="1500" dirty="0"/>
          </a:p>
        </p:txBody>
      </p:sp>
      <p:sp>
        <p:nvSpPr>
          <p:cNvPr id="9" name="Text 6"/>
          <p:cNvSpPr txBox="1"/>
          <p:nvPr/>
        </p:nvSpPr>
        <p:spPr>
          <a:xfrm>
            <a:off x="7360920" y="1737360"/>
            <a:ext cx="4282135" cy="365760"/>
          </a:xfrm>
          <a:prstGeom prst="rect">
            <a:avLst/>
          </a:prstGeom>
          <a:noFill/>
          <a:ln/>
        </p:spPr>
        <p:txBody>
          <a:bodyPr wrap="square" lIns="0" tIns="0" rIns="0" bIns="0" rtlCol="0" anchor="ctr"/>
          <a:lstStyle/>
          <a:p>
            <a:pPr indent="0" marL="0">
              <a:buNone/>
            </a:pPr>
            <a:r>
              <a:rPr lang="en-US" sz="1600" b="1" dirty="0">
                <a:solidFill>
                  <a:schemeClr val="accent2"/>
                </a:solidFill>
              </a:rPr>
              <a:t>Three declarations, three promises</a:t>
            </a:r>
            <a:endParaRPr lang="en-US" sz="1600" dirty="0"/>
          </a:p>
        </p:txBody>
      </p:sp>
      <p:sp>
        <p:nvSpPr>
          <p:cNvPr id="10" name="Bullets"/>
          <p:cNvSpPr txBox="1"/>
          <p:nvPr/>
        </p:nvSpPr>
        <p:spPr>
          <a:xfrm>
            <a:off x="7360920" y="2194560"/>
            <a:ext cx="4282135" cy="3977640"/>
          </a:xfrm>
          <a:prstGeom prst="rect">
            <a:avLst/>
          </a:prstGeom>
          <a:noFill/>
          <a:ln/>
        </p:spPr>
        <p:txBody>
          <a:bodyPr wrap="square" lIns="635" tIns="635" rIns="635" bIns="635" rtlCol="0" anchor="t"/>
          <a:lstStyle/>
          <a:p>
            <a:pPr marL="228600" indent="-228600">
              <a:spcAft>
                <a:spcPts val="800"/>
              </a:spcAft>
              <a:buSzPct val="100000"/>
              <a:buChar char="•"/>
            </a:pPr>
            <a:r>
              <a:rPr lang="en-US" sz="1500" b="1" dirty="0">
                <a:solidFill>
                  <a:schemeClr val="tx1"/>
                </a:solidFill>
              </a:rPr>
              <a:t>Stochastic:</a:t>
            </a:r>
            <a:r>
              <a:rPr lang="en-US" sz="1500" dirty="0">
                <a:solidFill>
                  <a:schemeClr val="tx1"/>
                </a:solidFill>
              </a:rPr>
              <a:t> commitments on every path, or as a chance constraint: on average</a:t>
            </a:r>
            <a:endParaRPr lang="en-US" sz="1500" dirty="0"/>
          </a:p>
          <a:p>
            <a:pPr marL="228600" indent="-228600">
              <a:spcAft>
                <a:spcPts val="800"/>
              </a:spcAft>
              <a:buSzPct val="100000"/>
              <a:buChar char="•"/>
            </a:pPr>
            <a:r>
              <a:rPr lang="en-US" sz="1500" b="1" dirty="0">
                <a:solidFill>
                  <a:schemeClr val="tx1"/>
                </a:solidFill>
              </a:rPr>
              <a:t>Robust:</a:t>
            </a:r>
            <a:r>
              <a:rPr lang="en-US" sz="1500" dirty="0">
                <a:solidFill>
                  <a:schemeClr val="tx1"/>
                </a:solidFill>
              </a:rPr>
              <a:t> the guaranteed floor over a declared set: whatever happens within it</a:t>
            </a:r>
            <a:endParaRPr lang="en-US" sz="1500" dirty="0"/>
          </a:p>
          <a:p>
            <a:pPr marL="228600" indent="-228600">
              <a:spcAft>
                <a:spcPts val="800"/>
              </a:spcAft>
              <a:buSzPct val="100000"/>
              <a:buChar char="•"/>
            </a:pPr>
            <a:r>
              <a:rPr lang="en-US" sz="1500" b="1" dirty="0">
                <a:solidFill>
                  <a:schemeClr val="tx1"/>
                </a:solidFill>
              </a:rPr>
              <a:t>Adaptive:</a:t>
            </a:r>
            <a:r>
              <a:rPr lang="en-US" sz="1500" dirty="0">
                <a:solidFill>
                  <a:schemeClr val="tx1"/>
                </a:solidFill>
              </a:rPr>
              <a:t> decisions that respond to what is learned: as we learn</a:t>
            </a:r>
            <a:endParaRPr lang="en-US" sz="1500" dirty="0"/>
          </a:p>
          <a:p>
            <a:pPr marL="228600" indent="-228600">
              <a:spcAft>
                <a:spcPts val="800"/>
              </a:spcAft>
              <a:buSzPct val="100000"/>
              <a:buChar char="•"/>
            </a:pPr>
            <a:r>
              <a:rPr lang="en-US" sz="1500" dirty="0">
                <a:solidFill>
                  <a:schemeClr val="tx1"/>
                </a:solidFill>
              </a:rPr>
              <a:t>Proposition 15.7: certainty equivalence is the exception, and Meridian's digital program is not one</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§15.6 · THEOREM 15.4(IV) · FIGURE 15.1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Rolling plans need a terminal condition</a:t>
            </a:r>
            <a:endParaRPr lang="en-US" sz="3200" dirty="0"/>
          </a:p>
        </p:txBody>
      </p:sp>
      <p:sp>
        <p:nvSpPr>
          <p:cNvPr id="5" name="Bullets"/>
          <p:cNvSpPr txBox="1"/>
          <p:nvPr/>
        </p:nvSpPr>
        <p:spPr>
          <a:xfrm>
            <a:off x="548640" y="1691640"/>
            <a:ext cx="4254886"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b="1" dirty="0">
                <a:solidFill>
                  <a:schemeClr val="tx1"/>
                </a:solidFill>
              </a:rPr>
              <a:t>$150m</a:t>
            </a:r>
            <a:r>
              <a:rPr lang="en-US" sz="1600" dirty="0">
                <a:solidFill>
                  <a:schemeClr val="tx1"/>
                </a:solidFill>
              </a:rPr>
              <a:t> above the floor, a burn of </a:t>
            </a:r>
            <a:r>
              <a:rPr lang="en-US" sz="1600" b="1" dirty="0">
                <a:solidFill>
                  <a:schemeClr val="tx1"/>
                </a:solidFill>
              </a:rPr>
              <a:t>$50m</a:t>
            </a:r>
            <a:r>
              <a:rPr lang="en-US" sz="1600" dirty="0">
                <a:solidFill>
                  <a:schemeClr val="tx1"/>
                </a:solidFill>
              </a:rPr>
              <a:t> a quarter, cuts of at most $10m a quarter</a:t>
            </a:r>
            <a:endParaRPr lang="en-US" sz="1600" dirty="0"/>
          </a:p>
          <a:p>
            <a:pPr marL="228600" indent="-228600">
              <a:spcAft>
                <a:spcPts val="800"/>
              </a:spcAft>
              <a:buSzPct val="100000"/>
              <a:buChar char="•"/>
            </a:pPr>
            <a:r>
              <a:rPr lang="en-US" sz="1600" dirty="0">
                <a:solidFill>
                  <a:schemeClr val="tx1"/>
                </a:solidFill>
              </a:rPr>
              <a:t>Re-plan each quarter to maximize spending: the burn is never cut, and cash runs out in </a:t>
            </a:r>
            <a:r>
              <a:rPr lang="en-US" sz="1600" b="1" dirty="0">
                <a:solidFill>
                  <a:schemeClr val="tx1"/>
                </a:solidFill>
              </a:rPr>
              <a:t>quarter 4</a:t>
            </a:r>
            <a:endParaRPr lang="en-US" sz="1600" dirty="0"/>
          </a:p>
          <a:p>
            <a:pPr marL="228600" indent="-228600">
              <a:spcAft>
                <a:spcPts val="800"/>
              </a:spcAft>
              <a:buSzPct val="100000"/>
              <a:buChar char="•"/>
            </a:pPr>
            <a:r>
              <a:rPr lang="en-US" sz="1600" dirty="0">
                <a:solidFill>
                  <a:schemeClr val="tx1"/>
                </a:solidFill>
              </a:rPr>
              <a:t>End each window where the burn can still be stopped: the cuts start in the first quarter</a:t>
            </a:r>
            <a:endParaRPr lang="en-US" sz="1600" dirty="0"/>
          </a:p>
          <a:p>
            <a:pPr marL="228600" indent="-228600">
              <a:spcAft>
                <a:spcPts val="800"/>
              </a:spcAft>
              <a:buSzPct val="100000"/>
              <a:buChar char="•"/>
            </a:pPr>
            <a:r>
              <a:rPr lang="en-US" sz="1600" dirty="0">
                <a:solidFill>
                  <a:schemeClr val="tx1"/>
                </a:solidFill>
              </a:rPr>
              <a:t>Every window was feasible and optimal; the sequence was doomed once it left the kernel</a:t>
            </a:r>
            <a:endParaRPr lang="en-US" sz="1600" dirty="0"/>
          </a:p>
          <a:p>
            <a:pPr marL="228600" indent="-228600">
              <a:spcAft>
                <a:spcPts val="800"/>
              </a:spcAft>
              <a:buSzPct val="100000"/>
              <a:buChar char="•"/>
            </a:pPr>
            <a:r>
              <a:rPr lang="en-US" sz="1600" dirty="0">
                <a:solidFill>
                  <a:schemeClr val="tx1"/>
                </a:solidFill>
              </a:rPr>
              <a:t>Annual plans re-solved annually are only as good as their terminal condition</a:t>
            </a:r>
            <a:endParaRPr lang="en-US" sz="1600" dirty="0"/>
          </a:p>
        </p:txBody>
      </p:sp>
      <p:pic>
        <p:nvPicPr>
          <p:cNvPr id="6" name="Figure" descr="Figure 15.1: rolling plans need a terminal condition">    </p:cNvPr>
          <p:cNvPicPr>
            <a:picLocks noChangeAspect="1"/>
          </p:cNvPicPr>
          <p:nvPr/>
        </p:nvPicPr>
        <p:blipFill>
          <a:blip r:embed="rId1"/>
          <a:stretch>
            <a:fillRect/>
          </a:stretch>
        </p:blipFill>
        <p:spPr>
          <a:xfrm>
            <a:off x="5169286" y="1987867"/>
            <a:ext cx="6473769" cy="3321178"/>
          </a:xfrm>
          <a:prstGeom prst="rect">
            <a:avLst/>
          </a:prstGeom>
        </p:spPr>
      </p:pic>
      <p:sp>
        <p:nvSpPr>
          <p:cNvPr id="7" name="Caption"/>
          <p:cNvSpPr txBox="1"/>
          <p:nvPr/>
        </p:nvSpPr>
        <p:spPr>
          <a:xfrm>
            <a:off x="5169286" y="5382197"/>
            <a:ext cx="6473769" cy="502920"/>
          </a:xfrm>
          <a:prstGeom prst="rect">
            <a:avLst/>
          </a:prstGeom>
          <a:noFill/>
          <a:ln/>
        </p:spPr>
        <p:txBody>
          <a:bodyPr wrap="square" lIns="0" tIns="0" rIns="0" bIns="0" rtlCol="0" anchor="t"/>
          <a:lstStyle/>
          <a:p>
            <a:pPr indent="0" marL="0">
              <a:buNone/>
            </a:pPr>
            <a:r>
              <a:rPr lang="en-US" sz="1100" i="1" dirty="0">
                <a:solidFill>
                  <a:schemeClr val="tx2"/>
                </a:solidFill>
              </a:rPr>
              <a:t>Figure 15.1. Chapter 14's runway after its $30m repair, re-planned each quarter without and with a terminal condition.</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§15.7 · THEOREM 15.5</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board chooses on the frontier</a:t>
            </a:r>
            <a:endParaRPr lang="en-US" sz="3200" dirty="0"/>
          </a:p>
        </p:txBody>
      </p:sp>
      <p:sp>
        <p:nvSpPr>
          <p:cNvPr id="5" name="Result card"/>
          <p:cNvSpPr/>
          <p:nvPr/>
        </p:nvSpPr>
        <p:spPr>
          <a:xfrm>
            <a:off x="548640" y="1691640"/>
            <a:ext cx="64008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8521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15.5</a:t>
            </a:r>
            <a:endParaRPr lang="en-US" sz="1200" dirty="0"/>
          </a:p>
        </p:txBody>
      </p:sp>
      <p:sp>
        <p:nvSpPr>
          <p:cNvPr id="7" name="Text 4"/>
          <p:cNvSpPr txBox="1"/>
          <p:nvPr/>
        </p:nvSpPr>
        <p:spPr>
          <a:xfrm>
            <a:off x="822960" y="2194560"/>
            <a:ext cx="58521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Enterprise Pareto Frontier Theorem</a:t>
            </a:r>
            <a:endParaRPr lang="en-US" sz="2100" dirty="0"/>
          </a:p>
        </p:txBody>
      </p:sp>
      <p:sp>
        <p:nvSpPr>
          <p:cNvPr id="8" name="Bullets"/>
          <p:cNvSpPr txBox="1"/>
          <p:nvPr/>
        </p:nvSpPr>
        <p:spPr>
          <a:xfrm>
            <a:off x="822960" y="2743200"/>
            <a:ext cx="5852160" cy="3291840"/>
          </a:xfrm>
          <a:prstGeom prst="rect">
            <a:avLst/>
          </a:prstGeom>
          <a:noFill/>
          <a:ln/>
        </p:spPr>
        <p:txBody>
          <a:bodyPr wrap="square" lIns="635" tIns="635" rIns="635" bIns="635" rtlCol="0" anchor="t"/>
          <a:lstStyle/>
          <a:p>
            <a:pPr marL="228600" indent="-228600">
              <a:spcAft>
                <a:spcPts val="600"/>
              </a:spcAft>
              <a:buSzPct val="100000"/>
              <a:buChar char="•"/>
            </a:pPr>
            <a:r>
              <a:rPr lang="en-US" sz="1500" b="1" dirty="0">
                <a:solidFill>
                  <a:schemeClr val="tx1"/>
                </a:solidFill>
              </a:rPr>
              <a:t>(i) Existence.</a:t>
            </a:r>
            <a:r>
              <a:rPr lang="en-US" sz="1500" dirty="0">
                <a:solidFill>
                  <a:schemeClr val="tx1"/>
                </a:solidFill>
              </a:rPr>
              <a:t> The frontier is not empty, and it matches or beats every attainable combination</a:t>
            </a:r>
            <a:endParaRPr lang="en-US" sz="1500" dirty="0"/>
          </a:p>
          <a:p>
            <a:pPr marL="228600" indent="-228600">
              <a:spcAft>
                <a:spcPts val="600"/>
              </a:spcAft>
              <a:buSzPct val="100000"/>
              <a:buChar char="•"/>
            </a:pPr>
            <a:r>
              <a:rPr lang="en-US" sz="1500" b="1" dirty="0">
                <a:solidFill>
                  <a:schemeClr val="tx1"/>
                </a:solidFill>
              </a:rPr>
              <a:t>(ii) Weighted sums</a:t>
            </a:r>
            <a:r>
              <a:rPr lang="en-US" sz="1500" dirty="0">
                <a:solidFill>
                  <a:schemeClr val="tx1"/>
                </a:solidFill>
              </a:rPr>
              <a:t> land on the frontier, but cannot see the points in a dent</a:t>
            </a:r>
            <a:endParaRPr lang="en-US" sz="1500" dirty="0"/>
          </a:p>
          <a:p>
            <a:pPr marL="228600" indent="-228600">
              <a:spcAft>
                <a:spcPts val="600"/>
              </a:spcAft>
              <a:buSzPct val="100000"/>
              <a:buChar char="•"/>
            </a:pPr>
            <a:r>
              <a:rPr lang="en-US" sz="1500" b="1" dirty="0">
                <a:solidFill>
                  <a:schemeClr val="tx1"/>
                </a:solidFill>
              </a:rPr>
              <a:t>(iii) The constraint method is complete:</a:t>
            </a:r>
            <a:r>
              <a:rPr lang="en-US" sz="1500" dirty="0">
                <a:solidFill>
                  <a:schemeClr val="tx1"/>
                </a:solidFill>
              </a:rPr>
              <a:t> every frontier point maximizes one objective subject to floors</a:t>
            </a:r>
            <a:endParaRPr lang="en-US" sz="1500" dirty="0"/>
          </a:p>
          <a:p>
            <a:pPr marL="228600" indent="-228600">
              <a:spcAft>
                <a:spcPts val="600"/>
              </a:spcAft>
              <a:buSzPct val="100000"/>
              <a:buChar char="•"/>
            </a:pPr>
            <a:r>
              <a:rPr lang="en-US" sz="1500" b="1" dirty="0">
                <a:solidFill>
                  <a:schemeClr val="tx1"/>
                </a:solidFill>
              </a:rPr>
              <a:t>(iv) Frontier slopes are multipliers:</a:t>
            </a:r>
            <a:r>
              <a:rPr lang="en-US" sz="1500" dirty="0">
                <a:solidFill>
                  <a:schemeClr val="tx1"/>
                </a:solidFill>
              </a:rPr>
              <a:t> the floors' prices are its exchange rates</a:t>
            </a:r>
            <a:endParaRPr lang="en-US" sz="1500" dirty="0"/>
          </a:p>
          <a:p>
            <a:pPr marL="228600" indent="-228600">
              <a:spcAft>
                <a:spcPts val="600"/>
              </a:spcAft>
              <a:buSzPct val="100000"/>
              <a:buChar char="•"/>
            </a:pPr>
            <a:r>
              <a:rPr lang="en-US" sz="1500" b="1" dirty="0">
                <a:solidFill>
                  <a:schemeClr val="tx1"/>
                </a:solidFill>
              </a:rPr>
              <a:t>(v) The inefficiency gauge:</a:t>
            </a:r>
            <a:r>
              <a:rPr lang="en-US" sz="1500" dirty="0">
                <a:solidFill>
                  <a:schemeClr val="tx1"/>
                </a:solidFill>
              </a:rPr>
              <a:t> how far every objective can rise together</a:t>
            </a:r>
            <a:endParaRPr lang="en-US" sz="1500" dirty="0"/>
          </a:p>
        </p:txBody>
      </p:sp>
      <p:sp>
        <p:nvSpPr>
          <p:cNvPr id="9" name="Text 6"/>
          <p:cNvSpPr txBox="1"/>
          <p:nvPr/>
        </p:nvSpPr>
        <p:spPr>
          <a:xfrm>
            <a:off x="7360920" y="1737360"/>
            <a:ext cx="4282135" cy="365760"/>
          </a:xfrm>
          <a:prstGeom prst="rect">
            <a:avLst/>
          </a:prstGeom>
          <a:noFill/>
          <a:ln/>
        </p:spPr>
        <p:txBody>
          <a:bodyPr wrap="square" lIns="0" tIns="0" rIns="0" bIns="0" rtlCol="0" anchor="ctr"/>
          <a:lstStyle/>
          <a:p>
            <a:pPr indent="0" marL="0">
              <a:buNone/>
            </a:pPr>
            <a:r>
              <a:rPr lang="en-US" sz="1600" b="1" dirty="0">
                <a:solidFill>
                  <a:schemeClr val="accent2"/>
                </a:solidFill>
              </a:rPr>
              <a:t>For Meridian</a:t>
            </a:r>
            <a:endParaRPr lang="en-US" sz="1600" dirty="0"/>
          </a:p>
        </p:txBody>
      </p:sp>
      <p:sp>
        <p:nvSpPr>
          <p:cNvPr id="10" name="Bullets"/>
          <p:cNvSpPr txBox="1"/>
          <p:nvPr/>
        </p:nvSpPr>
        <p:spPr>
          <a:xfrm>
            <a:off x="7360920" y="2194560"/>
            <a:ext cx="4282135" cy="3977640"/>
          </a:xfrm>
          <a:prstGeom prst="rect">
            <a:avLst/>
          </a:prstGeom>
          <a:noFill/>
          <a:ln/>
        </p:spPr>
        <p:txBody>
          <a:bodyPr wrap="square" lIns="635" tIns="635" rIns="635" bIns="635" rtlCol="0" anchor="t"/>
          <a:lstStyle/>
          <a:p>
            <a:pPr marL="228600" indent="-228600">
              <a:spcAft>
                <a:spcPts val="800"/>
              </a:spcAft>
              <a:buSzPct val="100000"/>
              <a:buChar char="•"/>
            </a:pPr>
            <a:r>
              <a:rPr lang="en-US" sz="1500" dirty="0">
                <a:solidFill>
                  <a:schemeClr val="tx1"/>
                </a:solidFill>
              </a:rPr>
              <a:t>Proposition 15.8: the levers' cost and the breach odds conflict</a:t>
            </a:r>
            <a:endParaRPr lang="en-US" sz="1500" dirty="0"/>
          </a:p>
          <a:p>
            <a:pPr marL="228600" indent="-228600">
              <a:spcAft>
                <a:spcPts val="800"/>
              </a:spcAft>
              <a:buSzPct val="100000"/>
              <a:buChar char="•"/>
            </a:pPr>
            <a:r>
              <a:rPr lang="en-US" sz="1500" dirty="0">
                <a:solidFill>
                  <a:schemeClr val="tx1"/>
                </a:solidFill>
              </a:rPr>
              <a:t>At the board's 5 percent the frontier's slope is </a:t>
            </a:r>
            <a:r>
              <a:rPr lang="en-US" sz="1500" b="1" dirty="0">
                <a:solidFill>
                  <a:schemeClr val="tx1"/>
                </a:solidFill>
              </a:rPr>
              <a:t>$1.8m per percentage point</a:t>
            </a:r>
            <a:endParaRPr lang="en-US" sz="1500" dirty="0"/>
          </a:p>
          <a:p>
            <a:pPr marL="228600" indent="-228600">
              <a:spcAft>
                <a:spcPts val="800"/>
              </a:spcAft>
              <a:buSzPct val="100000"/>
              <a:buChar char="•"/>
            </a:pPr>
            <a:r>
              <a:rPr lang="en-US" sz="1500" dirty="0">
                <a:solidFill>
                  <a:schemeClr val="tx1"/>
                </a:solidFill>
              </a:rPr>
              <a:t>Chapter 8's package is inside it: its 3.0 percent costs $14.7m on the frontier, not $19.0m</a:t>
            </a:r>
            <a:endParaRPr lang="en-US" sz="1500" dirty="0"/>
          </a:p>
          <a:p>
            <a:pPr marL="228600" indent="-228600">
              <a:spcAft>
                <a:spcPts val="800"/>
              </a:spcAft>
              <a:buSzPct val="100000"/>
              <a:buChar char="•"/>
            </a:pPr>
            <a:r>
              <a:rPr lang="en-US" sz="1500" dirty="0">
                <a:solidFill>
                  <a:schemeClr val="tx1"/>
                </a:solidFill>
              </a:rPr>
              <a:t>Nothing here chooses the point: that choice is the board's, among efficient points with prices attached</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§15.8 · THEOREM 15.6 · PROPOSITION 15.9</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Prices coordinate; silos have a cost</a:t>
            </a:r>
            <a:endParaRPr lang="en-US" sz="3200" dirty="0"/>
          </a:p>
        </p:txBody>
      </p:sp>
      <p:sp>
        <p:nvSpPr>
          <p:cNvPr id="5" name="Result card"/>
          <p:cNvSpPr/>
          <p:nvPr/>
        </p:nvSpPr>
        <p:spPr>
          <a:xfrm>
            <a:off x="548640" y="1691640"/>
            <a:ext cx="64008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8521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15.6</a:t>
            </a:r>
            <a:endParaRPr lang="en-US" sz="1200" dirty="0"/>
          </a:p>
        </p:txBody>
      </p:sp>
      <p:sp>
        <p:nvSpPr>
          <p:cNvPr id="7" name="Text 4"/>
          <p:cNvSpPr txBox="1"/>
          <p:nvPr/>
        </p:nvSpPr>
        <p:spPr>
          <a:xfrm>
            <a:off x="822960" y="2194560"/>
            <a:ext cx="58521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Enterprise Architecture Optimality Theorem</a:t>
            </a:r>
            <a:endParaRPr lang="en-US" sz="2100" dirty="0"/>
          </a:p>
        </p:txBody>
      </p:sp>
      <p:sp>
        <p:nvSpPr>
          <p:cNvPr id="8" name="Bullets"/>
          <p:cNvSpPr txBox="1"/>
          <p:nvPr/>
        </p:nvSpPr>
        <p:spPr>
          <a:xfrm>
            <a:off x="822960" y="2743200"/>
            <a:ext cx="5852160" cy="3291840"/>
          </a:xfrm>
          <a:prstGeom prst="rect">
            <a:avLst/>
          </a:prstGeom>
          <a:noFill/>
          <a:ln/>
        </p:spPr>
        <p:txBody>
          <a:bodyPr wrap="square" lIns="635" tIns="635" rIns="635" bIns="635" rtlCol="0" anchor="t"/>
          <a:lstStyle/>
          <a:p>
            <a:pPr marL="228600" indent="-228600">
              <a:spcAft>
                <a:spcPts val="600"/>
              </a:spcAft>
              <a:buSzPct val="100000"/>
              <a:buChar char="•"/>
            </a:pPr>
            <a:r>
              <a:rPr lang="en-US" sz="1500" b="1" dirty="0">
                <a:solidFill>
                  <a:schemeClr val="tx1"/>
                </a:solidFill>
              </a:rPr>
              <a:t>(i) No couplings, no center:</a:t>
            </a:r>
            <a:r>
              <a:rPr lang="en-US" sz="1500" dirty="0">
                <a:solidFill>
                  <a:schemeClr val="tx1"/>
                </a:solidFill>
              </a:rPr>
              <a:t> with no shared commitments, decentralization is exact</a:t>
            </a:r>
            <a:endParaRPr lang="en-US" sz="1500" dirty="0"/>
          </a:p>
          <a:p>
            <a:pPr marL="228600" indent="-228600">
              <a:spcAft>
                <a:spcPts val="600"/>
              </a:spcAft>
              <a:buSzPct val="100000"/>
              <a:buChar char="•"/>
            </a:pPr>
            <a:r>
              <a:rPr lang="en-US" sz="1500" b="1" dirty="0">
                <a:solidFill>
                  <a:schemeClr val="tx1"/>
                </a:solidFill>
              </a:rPr>
              <a:t>(ii) Prices coordinate:</a:t>
            </a:r>
            <a:r>
              <a:rPr lang="en-US" sz="1500" dirty="0">
                <a:solidFill>
                  <a:schemeClr val="tx1"/>
                </a:solidFill>
              </a:rPr>
              <a:t> under convexity, each block maximizes its objective less the prices of what it uses</a:t>
            </a:r>
            <a:endParaRPr lang="en-US" sz="1500" dirty="0"/>
          </a:p>
          <a:p>
            <a:pPr marL="228600" indent="-228600">
              <a:spcAft>
                <a:spcPts val="600"/>
              </a:spcAft>
              <a:buSzPct val="100000"/>
              <a:buChar char="•"/>
            </a:pPr>
            <a:r>
              <a:rPr lang="en-US" sz="1500" b="1" dirty="0">
                <a:solidFill>
                  <a:schemeClr val="tx1"/>
                </a:solidFill>
              </a:rPr>
              <a:t>(iii) The value of coordination:</a:t>
            </a:r>
            <a:r>
              <a:rPr lang="en-US" sz="1500" dirty="0">
                <a:solidFill>
                  <a:schemeClr val="tx1"/>
                </a:solidFill>
              </a:rPr>
              <a:t> fixed shares never do better than prices</a:t>
            </a:r>
            <a:endParaRPr lang="en-US" sz="1500" dirty="0"/>
          </a:p>
          <a:p>
            <a:pPr marL="228600" indent="-228600">
              <a:spcAft>
                <a:spcPts val="600"/>
              </a:spcAft>
              <a:buSzPct val="100000"/>
              <a:buChar char="•"/>
            </a:pPr>
            <a:r>
              <a:rPr lang="en-US" sz="1500" b="1" dirty="0">
                <a:solidFill>
                  <a:schemeClr val="tx1"/>
                </a:solidFill>
              </a:rPr>
              <a:t>(iv) Holdability:</a:t>
            </a:r>
            <a:r>
              <a:rPr lang="en-US" sz="1500" dirty="0">
                <a:solidFill>
                  <a:schemeClr val="tx1"/>
                </a:solidFill>
              </a:rPr>
              <a:t> a stability certificate turns the paper optimum into one the company can keep</a:t>
            </a:r>
            <a:endParaRPr lang="en-US" sz="1500" dirty="0"/>
          </a:p>
        </p:txBody>
      </p:sp>
      <p:sp>
        <p:nvSpPr>
          <p:cNvPr id="9" name="Text 6"/>
          <p:cNvSpPr txBox="1"/>
          <p:nvPr/>
        </p:nvSpPr>
        <p:spPr>
          <a:xfrm>
            <a:off x="7360920" y="1737360"/>
            <a:ext cx="4282135" cy="365760"/>
          </a:xfrm>
          <a:prstGeom prst="rect">
            <a:avLst/>
          </a:prstGeom>
          <a:noFill/>
          <a:ln/>
        </p:spPr>
        <p:txBody>
          <a:bodyPr wrap="square" lIns="0" tIns="0" rIns="0" bIns="0" rtlCol="0" anchor="ctr"/>
          <a:lstStyle/>
          <a:p>
            <a:pPr indent="0" marL="0">
              <a:buNone/>
            </a:pPr>
            <a:r>
              <a:rPr lang="en-US" sz="1600" b="1" dirty="0">
                <a:solidFill>
                  <a:schemeClr val="accent2"/>
                </a:solidFill>
              </a:rPr>
              <a:t>For Meridian</a:t>
            </a:r>
            <a:endParaRPr lang="en-US" sz="1600" dirty="0"/>
          </a:p>
        </p:txBody>
      </p:sp>
      <p:sp>
        <p:nvSpPr>
          <p:cNvPr id="10" name="Bullets"/>
          <p:cNvSpPr txBox="1"/>
          <p:nvPr/>
        </p:nvSpPr>
        <p:spPr>
          <a:xfrm>
            <a:off x="7360920" y="2194560"/>
            <a:ext cx="4282135" cy="3977640"/>
          </a:xfrm>
          <a:prstGeom prst="rect">
            <a:avLst/>
          </a:prstGeom>
          <a:noFill/>
          <a:ln/>
        </p:spPr>
        <p:txBody>
          <a:bodyPr wrap="square" lIns="635" tIns="635" rIns="635" bIns="635" rtlCol="0" anchor="t"/>
          <a:lstStyle/>
          <a:p>
            <a:pPr marL="228600" indent="-228600">
              <a:spcAft>
                <a:spcPts val="800"/>
              </a:spcAft>
              <a:buSzPct val="100000"/>
              <a:buChar char="•"/>
            </a:pPr>
            <a:r>
              <a:rPr lang="en-US" sz="1500" dirty="0">
                <a:solidFill>
                  <a:schemeClr val="tx1"/>
                </a:solidFill>
              </a:rPr>
              <a:t>Under the half-life rule, every 0.01 trimmed from both engineering links frees </a:t>
            </a:r>
            <a:r>
              <a:rPr lang="en-US" sz="1500" b="1" dirty="0">
                <a:solidFill>
                  <a:schemeClr val="tx1"/>
                </a:solidFill>
              </a:rPr>
              <a:t>0.019</a:t>
            </a:r>
            <a:r>
              <a:rPr lang="en-US" sz="1500" dirty="0">
                <a:solidFill>
                  <a:schemeClr val="tx1"/>
                </a:solidFill>
              </a:rPr>
              <a:t> of the new link</a:t>
            </a:r>
            <a:endParaRPr lang="en-US" sz="1500" dirty="0"/>
          </a:p>
          <a:p>
            <a:pPr marL="228600" indent="-228600">
              <a:spcAft>
                <a:spcPts val="800"/>
              </a:spcAft>
              <a:buSzPct val="100000"/>
              <a:buChar char="•"/>
            </a:pPr>
            <a:r>
              <a:rPr lang="en-US" sz="1500" dirty="0">
                <a:solidFill>
                  <a:schemeClr val="tx1"/>
                </a:solidFill>
              </a:rPr>
              <a:t>Its multiplier is the price at which each office buys down its own couplings</a:t>
            </a:r>
            <a:endParaRPr lang="en-US" sz="1500" dirty="0"/>
          </a:p>
          <a:p>
            <a:pPr marL="228600" indent="-228600">
              <a:spcAft>
                <a:spcPts val="800"/>
              </a:spcAft>
              <a:buSzPct val="100000"/>
              <a:buChar char="•"/>
            </a:pPr>
            <a:r>
              <a:rPr lang="en-US" sz="1500" dirty="0">
                <a:solidFill>
                  <a:schemeClr val="tx1"/>
                </a:solidFill>
              </a:rPr>
              <a:t>Charged λ = α/r* for the budget it uses, each office chooses what the company would</a:t>
            </a:r>
            <a:endParaRPr lang="en-US" sz="1500" dirty="0"/>
          </a:p>
          <a:p>
            <a:pPr marL="228600" indent="-228600">
              <a:spcAft>
                <a:spcPts val="800"/>
              </a:spcAft>
              <a:buSzPct val="100000"/>
              <a:buChar char="•"/>
            </a:pPr>
            <a:r>
              <a:rPr lang="en-US" sz="1500" dirty="0">
                <a:solidFill>
                  <a:schemeClr val="tx1"/>
                </a:solidFill>
              </a:rPr>
              <a:t>Priced together, the two levers of Worked Example 15.1 save </a:t>
            </a:r>
            <a:r>
              <a:rPr lang="en-US" sz="1500" b="1" dirty="0">
                <a:solidFill>
                  <a:schemeClr val="tx1"/>
                </a:solidFill>
              </a:rPr>
              <a:t>$30m</a:t>
            </a:r>
            <a:r>
              <a:rPr lang="en-US" sz="1500" dirty="0">
                <a:solidFill>
                  <a:schemeClr val="tx1"/>
                </a:solidFill>
              </a:rPr>
              <a:t>: the value of coordination</a:t>
            </a:r>
            <a:endParaRPr lang="en-US" sz="1500" dirty="0"/>
          </a:p>
          <a:p>
            <a:pPr marL="228600" indent="-228600">
              <a:spcAft>
                <a:spcPts val="800"/>
              </a:spcAft>
              <a:buSzPct val="100000"/>
              <a:buChar char="•"/>
            </a:pPr>
            <a:r>
              <a:rPr lang="en-US" sz="1500" dirty="0">
                <a:solidFill>
                  <a:schemeClr val="tx1"/>
                </a:solidFill>
              </a:rPr>
              <a:t>Boards that read the paper optimum beside the holdable one stop buying paper</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§15.8 · TABLE 15.4 · THEOREM 15.7</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Solver-neutral, certificate-strict</a:t>
            </a:r>
            <a:endParaRPr lang="en-US" sz="320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3942643"/>
                <a:gridCol w="3575886"/>
                <a:gridCol w="3575886"/>
              </a:tblGrid>
              <a:tr h="38404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Method family (Volume II)</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Natural regime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Certificate returned</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38404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Linear and convex programming</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convexity declared</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global optimum; exact multipliers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38404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Nonlinear programming</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smooth, nonconvex</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a point meeting Equation 15.4; local grade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38404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Dynamic programming, optimal control</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the recursion of Equation 15.5</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value function; policy</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38404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Stochastic programming</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scenarios or kernel</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expected optimum; bounds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38404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Robust optimization</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a declared set of environments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guaranteed floor</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38404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Multi-objective methods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plural mandates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frontier points; exchange rates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38404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Integer and combinatorial</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lumpy or sequencing decisions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bounds and gaps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38404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Learning-based, approximate DP</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rich policy classes; scale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statistical guarantees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bl>
          </a:graphicData>
        </a:graphic>
      </p:graphicFrame>
      <p:sp>
        <p:nvSpPr>
          <p:cNvPr id="6" name="Table note"/>
          <p:cNvSpPr txBox="1"/>
          <p:nvPr/>
        </p:nvSpPr>
        <p:spPr>
          <a:xfrm>
            <a:off x="548640" y="521208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Admission contract: the instance consumed as declared; a feasibility report; an optimality certificate; prices; sensitivity handles; seeds, tolerances and versions logged; a holdability check.</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Theorem 15.7: the problem is posed, on one certified object; what remains is to solve it well.</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15.1 · THE SITUATION</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What does the board's appetite cost?</a:t>
            </a:r>
            <a:endParaRPr lang="en-US" sz="3200" dirty="0"/>
          </a:p>
        </p:txBody>
      </p:sp>
      <p:sp>
        <p:nvSpPr>
          <p:cNvPr id="5" name="Card"/>
          <p:cNvSpPr/>
          <p:nvPr/>
        </p:nvSpPr>
        <p:spPr>
          <a:xfrm>
            <a:off x="548640" y="1691640"/>
            <a:ext cx="3515258" cy="3108960"/>
          </a:xfrm>
          <a:prstGeom prst="roundRect">
            <a:avLst>
              <a:gd name="adj" fmla="val 2353"/>
            </a:avLst>
          </a:prstGeom>
          <a:solidFill>
            <a:schemeClr val="bg2"/>
          </a:solidFill>
          <a:ln w="9525">
            <a:solidFill>
              <a:srgbClr val="C4CBD8"/>
            </a:solidFill>
            <a:prstDash val="solid"/>
          </a:ln>
        </p:spPr>
      </p:sp>
      <p:sp>
        <p:nvSpPr>
          <p:cNvPr id="6" name="Card label"/>
          <p:cNvSpPr txBox="1"/>
          <p:nvPr/>
        </p:nvSpPr>
        <p:spPr>
          <a:xfrm>
            <a:off x="731520"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Chief financial officer</a:t>
            </a:r>
            <a:endParaRPr lang="en-US" sz="1300" dirty="0"/>
          </a:p>
        </p:txBody>
      </p:sp>
      <p:sp>
        <p:nvSpPr>
          <p:cNvPr id="7" name="Card head"/>
          <p:cNvSpPr txBox="1"/>
          <p:nvPr/>
        </p:nvSpPr>
        <p:spPr>
          <a:xfrm>
            <a:off x="731520" y="2148840"/>
            <a:ext cx="3149498" cy="1124712"/>
          </a:xfrm>
          <a:prstGeom prst="rect">
            <a:avLst/>
          </a:prstGeom>
          <a:noFill/>
          <a:ln/>
        </p:spPr>
        <p:txBody>
          <a:bodyPr wrap="square" lIns="0" tIns="0" rIns="0" bIns="0" rtlCol="0" anchor="t"/>
          <a:lstStyle/>
          <a:p>
            <a:pPr indent="0" marL="0">
              <a:buNone/>
            </a:pPr>
            <a:r>
              <a:rPr lang="en-US" sz="2100" b="1" dirty="0">
                <a:solidFill>
                  <a:schemeClr val="tx1"/>
                </a:solidFill>
                <a:latin typeface="Cambria" pitchFamily="34" charset="0"/>
                <a:ea typeface="Cambria" pitchFamily="34" charset="-122"/>
                <a:cs typeface="Cambria" pitchFamily="34" charset="-120"/>
              </a:rPr>
              <a:t>The standby line costs its fees</a:t>
            </a:r>
            <a:endParaRPr lang="en-US" sz="2100" dirty="0"/>
          </a:p>
        </p:txBody>
      </p:sp>
      <p:sp>
        <p:nvSpPr>
          <p:cNvPr id="8" name="Card text"/>
          <p:cNvSpPr txBox="1"/>
          <p:nvPr/>
        </p:nvSpPr>
        <p:spPr>
          <a:xfrm>
            <a:off x="731520" y="3346704"/>
            <a:ext cx="3149498" cy="1325880"/>
          </a:xfrm>
          <a:prstGeom prst="rect">
            <a:avLst/>
          </a:prstGeom>
          <a:noFill/>
          <a:ln/>
        </p:spPr>
        <p:txBody>
          <a:bodyPr wrap="square" lIns="0" tIns="0" rIns="0" bIns="0" rtlCol="0" anchor="t"/>
          <a:lstStyle/>
          <a:p>
            <a:pPr indent="0" marL="0">
              <a:buNone/>
            </a:pPr>
            <a:r>
              <a:rPr lang="en-US" sz="1700" dirty="0">
                <a:solidFill>
                  <a:schemeClr val="tx2"/>
                </a:solidFill>
              </a:rPr>
              <a:t>About 1 percent of the line a year: $3m per $100m over the three-year program.</a:t>
            </a:r>
            <a:endParaRPr lang="en-US" sz="1700" dirty="0"/>
          </a:p>
        </p:txBody>
      </p:sp>
      <p:sp>
        <p:nvSpPr>
          <p:cNvPr id="9" name="Card"/>
          <p:cNvSpPr/>
          <p:nvPr/>
        </p:nvSpPr>
        <p:spPr>
          <a:xfrm>
            <a:off x="4338218" y="1691640"/>
            <a:ext cx="3515258" cy="3108960"/>
          </a:xfrm>
          <a:prstGeom prst="roundRect">
            <a:avLst>
              <a:gd name="adj" fmla="val 2353"/>
            </a:avLst>
          </a:prstGeom>
          <a:solidFill>
            <a:schemeClr val="bg2"/>
          </a:solidFill>
          <a:ln w="9525">
            <a:solidFill>
              <a:srgbClr val="C4CBD8"/>
            </a:solidFill>
            <a:prstDash val="solid"/>
          </a:ln>
        </p:spPr>
      </p:sp>
      <p:sp>
        <p:nvSpPr>
          <p:cNvPr id="10" name="Card label"/>
          <p:cNvSpPr txBox="1"/>
          <p:nvPr/>
        </p:nvSpPr>
        <p:spPr>
          <a:xfrm>
            <a:off x="4521098"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Transformation office</a:t>
            </a:r>
            <a:endParaRPr lang="en-US" sz="1300" dirty="0"/>
          </a:p>
        </p:txBody>
      </p:sp>
      <p:sp>
        <p:nvSpPr>
          <p:cNvPr id="11" name="Card head"/>
          <p:cNvSpPr txBox="1"/>
          <p:nvPr/>
        </p:nvSpPr>
        <p:spPr>
          <a:xfrm>
            <a:off x="4521098" y="2148840"/>
            <a:ext cx="3149498" cy="1124712"/>
          </a:xfrm>
          <a:prstGeom prst="rect">
            <a:avLst/>
          </a:prstGeom>
          <a:noFill/>
          <a:ln/>
        </p:spPr>
        <p:txBody>
          <a:bodyPr wrap="square" lIns="0" tIns="0" rIns="0" bIns="0" rtlCol="0" anchor="t"/>
          <a:lstStyle/>
          <a:p>
            <a:pPr indent="0" marL="0">
              <a:buNone/>
            </a:pPr>
            <a:r>
              <a:rPr lang="en-US" sz="2100" b="1" dirty="0">
                <a:solidFill>
                  <a:schemeClr val="tx1"/>
                </a:solidFill>
                <a:latin typeface="Cambria" pitchFamily="34" charset="0"/>
                <a:ea typeface="Cambria" pitchFamily="34" charset="-122"/>
                <a:cs typeface="Cambria" pitchFamily="34" charset="-120"/>
              </a:rPr>
              <a:t>Phasing costs its delay</a:t>
            </a:r>
            <a:endParaRPr lang="en-US" sz="2100" dirty="0"/>
          </a:p>
        </p:txBody>
      </p:sp>
      <p:sp>
        <p:nvSpPr>
          <p:cNvPr id="12" name="Card text"/>
          <p:cNvSpPr txBox="1"/>
          <p:nvPr/>
        </p:nvSpPr>
        <p:spPr>
          <a:xfrm>
            <a:off x="4521098" y="3346704"/>
            <a:ext cx="3149498" cy="1325880"/>
          </a:xfrm>
          <a:prstGeom prst="rect">
            <a:avLst/>
          </a:prstGeom>
          <a:noFill/>
          <a:ln/>
        </p:spPr>
        <p:txBody>
          <a:bodyPr wrap="square" lIns="0" tIns="0" rIns="0" bIns="0" rtlCol="0" anchor="t"/>
          <a:lstStyle/>
          <a:p>
            <a:pPr indent="0" marL="0">
              <a:buNone/>
            </a:pPr>
            <a:r>
              <a:rPr lang="en-US" sz="1700" dirty="0">
                <a:solidFill>
                  <a:schemeClr val="tx2"/>
                </a:solidFill>
              </a:rPr>
              <a:t>Chapter 8's phasing cuts the deepest draw by $49m and delays the platform two quarters, at $8m each.</a:t>
            </a:r>
            <a:endParaRPr lang="en-US" sz="1700" dirty="0"/>
          </a:p>
        </p:txBody>
      </p:sp>
      <p:sp>
        <p:nvSpPr>
          <p:cNvPr id="13" name="Card"/>
          <p:cNvSpPr/>
          <p:nvPr/>
        </p:nvSpPr>
        <p:spPr>
          <a:xfrm>
            <a:off x="8127797" y="1691640"/>
            <a:ext cx="3515258" cy="3108960"/>
          </a:xfrm>
          <a:prstGeom prst="roundRect">
            <a:avLst>
              <a:gd name="adj" fmla="val 2353"/>
            </a:avLst>
          </a:prstGeom>
          <a:solidFill>
            <a:schemeClr val="tx1"/>
          </a:solidFill>
          <a:ln w="9525">
            <a:solidFill>
              <a:srgbClr val="0F1E3D"/>
            </a:solidFill>
            <a:prstDash val="solid"/>
          </a:ln>
        </p:spPr>
      </p:sp>
      <p:sp>
        <p:nvSpPr>
          <p:cNvPr id="14" name="Card label"/>
          <p:cNvSpPr txBox="1"/>
          <p:nvPr/>
        </p:nvSpPr>
        <p:spPr>
          <a:xfrm>
            <a:off x="8310677"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The chair</a:t>
            </a:r>
            <a:endParaRPr lang="en-US" sz="1300" dirty="0"/>
          </a:p>
        </p:txBody>
      </p:sp>
      <p:sp>
        <p:nvSpPr>
          <p:cNvPr id="15" name="Card head"/>
          <p:cNvSpPr txBox="1"/>
          <p:nvPr/>
        </p:nvSpPr>
        <p:spPr>
          <a:xfrm>
            <a:off x="8310677" y="2148840"/>
            <a:ext cx="3149498" cy="2450592"/>
          </a:xfrm>
          <a:prstGeom prst="rect">
            <a:avLst/>
          </a:prstGeom>
          <a:noFill/>
          <a:ln/>
        </p:spPr>
        <p:txBody>
          <a:bodyPr wrap="square" lIns="0" tIns="0" rIns="0" bIns="0" rtlCol="0" anchor="t"/>
          <a:lstStyle/>
          <a:p>
            <a:pPr indent="0" marL="0">
              <a:buNone/>
            </a:pPr>
            <a:r>
              <a:rPr lang="en-US" sz="2100" b="1" dirty="0">
                <a:solidFill>
                  <a:schemeClr val="bg1"/>
                </a:solidFill>
                <a:latin typeface="Cambria" pitchFamily="34" charset="0"/>
                <a:ea typeface="Cambria" pitchFamily="34" charset="-122"/>
                <a:cs typeface="Cambria" pitchFamily="34" charset="-120"/>
              </a:rPr>
              <a:t>The cheapest package that meets the appetite, and what the appetite costs</a:t>
            </a:r>
            <a:endParaRPr lang="en-US" sz="2100" dirty="0"/>
          </a:p>
        </p:txBody>
      </p:sp>
      <p:sp>
        <p:nvSpPr>
          <p:cNvPr id="16" name="Lead"/>
          <p:cNvSpPr txBox="1"/>
          <p:nvPr/>
        </p:nvSpPr>
        <p:spPr>
          <a:xfrm>
            <a:off x="548640" y="5074920"/>
            <a:ext cx="11094415" cy="457200"/>
          </a:xfrm>
          <a:prstGeom prst="rect">
            <a:avLst/>
          </a:prstGeom>
          <a:noFill/>
          <a:ln/>
        </p:spPr>
        <p:txBody>
          <a:bodyPr wrap="square" lIns="0" tIns="0" rIns="0" bIns="0" rtlCol="0" anchor="ctr"/>
          <a:lstStyle/>
          <a:p>
            <a:pPr indent="0" marL="0">
              <a:buNone/>
            </a:pPr>
            <a:r>
              <a:rPr lang="en-US" sz="1600" i="1" dirty="0">
                <a:solidFill>
                  <a:schemeClr val="accent2"/>
                </a:solidFill>
              </a:rPr>
              <a:t>Together the two levers bring the odds of breaching the $350m floor within 5 percent; alone, neither does.</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15.1 · STEPS 1–2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Write it down, then compare the promises</a:t>
            </a:r>
            <a:endParaRPr lang="en-US" sz="3200" dirty="0"/>
          </a:p>
        </p:txBody>
      </p:sp>
      <p:pic>
        <p:nvPicPr>
          <p:cNvPr id="5" name="Equation" descr="Equation: \min_{\ell,\;\phi}\; 0.03\,\ell \;+\; 8\,\phi \quad\text{subject to}\quad \Pr\bigl(\text{liquidity} &lt; 350 \text{ in some quarter}\bigr) \le 5\%">    </p:cNvPr>
          <p:cNvPicPr>
            <a:picLocks noChangeAspect="1"/>
          </p:cNvPicPr>
          <p:nvPr/>
        </p:nvPicPr>
        <p:blipFill>
          <a:blip r:embed="rId1"/>
          <a:stretch>
            <a:fillRect/>
          </a:stretch>
        </p:blipFill>
        <p:spPr>
          <a:xfrm>
            <a:off x="914400" y="1885670"/>
            <a:ext cx="10362895" cy="754940"/>
          </a:xfrm>
          <a:prstGeom prst="rect">
            <a:avLst/>
          </a:prstGeom>
        </p:spPr>
      </p:pic>
      <p:sp>
        <p:nvSpPr>
          <p:cNvPr id="6" name="Text 2"/>
          <p:cNvSpPr txBox="1"/>
          <p:nvPr/>
        </p:nvSpPr>
        <p:spPr>
          <a:xfrm>
            <a:off x="914400" y="2777770"/>
            <a:ext cx="10362895" cy="411480"/>
          </a:xfrm>
          <a:prstGeom prst="rect">
            <a:avLst/>
          </a:prstGeom>
          <a:noFill/>
          <a:ln/>
        </p:spPr>
        <p:txBody>
          <a:bodyPr wrap="square" lIns="0" tIns="0" rIns="0" bIns="0" rtlCol="0" anchor="ctr"/>
          <a:lstStyle/>
          <a:p>
            <a:pPr algn="ctr" indent="0" marL="0">
              <a:buNone/>
            </a:pPr>
            <a:r>
              <a:rPr lang="en-US" sz="1600" i="1" dirty="0">
                <a:solidFill>
                  <a:schemeClr val="accent4"/>
                </a:solidFill>
              </a:rPr>
              <a:t>the line ℓ (CFO) and the delay φ in quarters (transformation office); the covenant and capability floor too</a:t>
            </a:r>
            <a:endParaRPr lang="en-US" sz="1600" dirty="0"/>
          </a:p>
        </p:txBody>
      </p:sp>
      <p:sp>
        <p:nvSpPr>
          <p:cNvPr id="7" name="Bullets"/>
          <p:cNvSpPr txBox="1"/>
          <p:nvPr/>
        </p:nvSpPr>
        <p:spPr>
          <a:xfrm>
            <a:off x="914400" y="3372130"/>
            <a:ext cx="10362895" cy="280007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bg1"/>
                </a:solidFill>
              </a:rPr>
              <a:t>Certainty equivalent:</a:t>
            </a:r>
            <a:r>
              <a:rPr lang="en-US" sz="1700" dirty="0">
                <a:solidFill>
                  <a:schemeClr val="bg1"/>
                </a:solidFill>
              </a:rPr>
              <a:t> the average path bottoms out at $460m: it buys nothing; the true odds are 24.6 percent</a:t>
            </a:r>
            <a:endParaRPr lang="en-US" sz="1700" dirty="0"/>
          </a:p>
          <a:p>
            <a:pPr marL="228600" indent="-228600">
              <a:spcAft>
                <a:spcPts val="800"/>
              </a:spcAft>
              <a:buSzPct val="100000"/>
              <a:buChar char="•"/>
            </a:pPr>
            <a:r>
              <a:rPr lang="en-US" sz="1700" b="1" dirty="0">
                <a:solidFill>
                  <a:schemeClr val="bg1"/>
                </a:solidFill>
              </a:rPr>
              <a:t>Robust, Chapter 13's joint check:</a:t>
            </a:r>
            <a:r>
              <a:rPr lang="en-US" sz="1700" dirty="0">
                <a:solidFill>
                  <a:schemeClr val="bg1"/>
                </a:solidFill>
              </a:rPr>
              <a:t> a $55m line passes it for $1.6m, but the odds stay at 17.4 percent</a:t>
            </a:r>
            <a:endParaRPr lang="en-US" sz="1700" dirty="0"/>
          </a:p>
          <a:p>
            <a:pPr marL="228600" indent="-228600">
              <a:spcAft>
                <a:spcPts val="800"/>
              </a:spcAft>
              <a:buSzPct val="100000"/>
              <a:buChar char="•"/>
            </a:pPr>
            <a:r>
              <a:rPr lang="en-US" sz="1700" dirty="0">
                <a:solidFill>
                  <a:schemeClr val="bg1"/>
                </a:solidFill>
              </a:rPr>
              <a:t>That set leaves out the execution and market deviation, which alone breaches the floor on 8.4 percent of paths</a:t>
            </a:r>
            <a:endParaRPr lang="en-US" sz="1700" dirty="0"/>
          </a:p>
          <a:p>
            <a:pPr marL="228600" indent="-228600">
              <a:spcAft>
                <a:spcPts val="800"/>
              </a:spcAft>
              <a:buSzPct val="100000"/>
              <a:buChar char="•"/>
            </a:pPr>
            <a:r>
              <a:rPr lang="en-US" sz="1700" dirty="0">
                <a:solidFill>
                  <a:schemeClr val="bg1"/>
                </a:solidFill>
              </a:rPr>
              <a:t>Only the </a:t>
            </a:r>
            <a:r>
              <a:rPr lang="en-US" sz="1700" b="1" dirty="0">
                <a:solidFill>
                  <a:schemeClr val="bg1"/>
                </a:solidFill>
              </a:rPr>
              <a:t>stochastic</a:t>
            </a:r>
            <a:r>
              <a:rPr lang="en-US" sz="1700" dirty="0">
                <a:solidFill>
                  <a:schemeClr val="bg1"/>
                </a:solidFill>
              </a:rPr>
              <a:t> formulation states the board's actual promise (Proposition 15.7)</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15.1 · STEPS 3 AND 5</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 large line and a short delay</a:t>
            </a:r>
            <a:endParaRPr lang="en-US" sz="3200" dirty="0"/>
          </a:p>
        </p:txBody>
      </p:sp>
      <p:sp>
        <p:nvSpPr>
          <p:cNvPr id="5" name="Bullets"/>
          <p:cNvSpPr txBox="1"/>
          <p:nvPr/>
        </p:nvSpPr>
        <p:spPr>
          <a:xfrm>
            <a:off x="548640" y="1691640"/>
            <a:ext cx="4476774"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b="1" dirty="0">
                <a:solidFill>
                  <a:schemeClr val="tx1"/>
                </a:solidFill>
              </a:rPr>
              <a:t>Step 3:</a:t>
            </a:r>
            <a:r>
              <a:rPr lang="en-US" sz="1600" dirty="0">
                <a:solidFill>
                  <a:schemeClr val="tx1"/>
                </a:solidFill>
              </a:rPr>
              <a:t> a line of about </a:t>
            </a:r>
            <a:r>
              <a:rPr lang="en-US" sz="1600" b="1" dirty="0">
                <a:solidFill>
                  <a:schemeClr val="tx1"/>
                </a:solidFill>
              </a:rPr>
              <a:t>$170m</a:t>
            </a:r>
            <a:r>
              <a:rPr lang="en-US" sz="1600" dirty="0">
                <a:solidFill>
                  <a:schemeClr val="tx1"/>
                </a:solidFill>
              </a:rPr>
              <a:t> and a two-month delay, for </a:t>
            </a:r>
            <a:r>
              <a:rPr lang="en-US" sz="1600" b="1" dirty="0">
                <a:solidFill>
                  <a:schemeClr val="tx1"/>
                </a:solidFill>
              </a:rPr>
              <a:t>$10.4m</a:t>
            </a:r>
            <a:endParaRPr lang="en-US" sz="1600" dirty="0"/>
          </a:p>
          <a:p>
            <a:pPr marL="228600" indent="-228600">
              <a:spcAft>
                <a:spcPts val="800"/>
              </a:spcAft>
              <a:buSzPct val="100000"/>
              <a:buChar char="•"/>
            </a:pPr>
            <a:r>
              <a:rPr lang="en-US" sz="1600" dirty="0">
                <a:solidFill>
                  <a:schemeClr val="tx1"/>
                </a:solidFill>
              </a:rPr>
              <a:t>$5.1m of fees and $5.3m of delay; any line from $140m to $205m is within $0.5m</a:t>
            </a:r>
            <a:endParaRPr lang="en-US" sz="1600" dirty="0"/>
          </a:p>
          <a:p>
            <a:pPr marL="228600" indent="-228600">
              <a:spcAft>
                <a:spcPts val="800"/>
              </a:spcAft>
              <a:buSzPct val="100000"/>
              <a:buChar char="•"/>
            </a:pPr>
            <a:r>
              <a:rPr lang="en-US" sz="1600" dirty="0">
                <a:solidFill>
                  <a:schemeClr val="tx1"/>
                </a:solidFill>
              </a:rPr>
              <a:t>The appetite binds, the covenant does not; the last $1m on either lever buys half a point</a:t>
            </a:r>
            <a:endParaRPr lang="en-US" sz="1600" dirty="0"/>
          </a:p>
          <a:p>
            <a:pPr marL="228600" indent="-228600">
              <a:spcAft>
                <a:spcPts val="800"/>
              </a:spcAft>
              <a:buSzPct val="100000"/>
              <a:buChar char="•"/>
            </a:pPr>
            <a:r>
              <a:rPr lang="en-US" sz="1600" b="1" dirty="0">
                <a:solidFill>
                  <a:schemeClr val="tx1"/>
                </a:solidFill>
              </a:rPr>
              <a:t>Step 5:</a:t>
            </a:r>
            <a:r>
              <a:rPr lang="en-US" sz="1600" dirty="0">
                <a:solidFill>
                  <a:schemeClr val="tx1"/>
                </a:solidFill>
              </a:rPr>
              <a:t> a line alone stops at 8.4 percent; phasing alone costs $40.8m</a:t>
            </a:r>
            <a:endParaRPr lang="en-US" sz="1600" dirty="0"/>
          </a:p>
          <a:p>
            <a:pPr marL="228600" indent="-228600">
              <a:spcAft>
                <a:spcPts val="800"/>
              </a:spcAft>
              <a:buSzPct val="100000"/>
              <a:buChar char="•"/>
            </a:pPr>
            <a:r>
              <a:rPr lang="en-US" sz="1600" dirty="0">
                <a:solidFill>
                  <a:schemeClr val="tx1"/>
                </a:solidFill>
              </a:rPr>
              <a:t>Priced together, the two levers save </a:t>
            </a:r>
            <a:r>
              <a:rPr lang="en-US" sz="1600" b="1" dirty="0">
                <a:solidFill>
                  <a:schemeClr val="tx1"/>
                </a:solidFill>
              </a:rPr>
              <a:t>$30m</a:t>
            </a:r>
            <a:r>
              <a:rPr lang="en-US" sz="1600" dirty="0">
                <a:solidFill>
                  <a:schemeClr val="tx1"/>
                </a:solidFill>
              </a:rPr>
              <a:t>: the value of coordination</a:t>
            </a:r>
            <a:endParaRPr lang="en-US" sz="1600" dirty="0"/>
          </a:p>
        </p:txBody>
      </p:sp>
      <p:pic>
        <p:nvPicPr>
          <p:cNvPr id="6" name="Figure" descr="Figure 15.2: what does the board's appetite cost?">    </p:cNvPr>
          <p:cNvPicPr>
            <a:picLocks noChangeAspect="1"/>
          </p:cNvPicPr>
          <p:nvPr/>
        </p:nvPicPr>
        <p:blipFill>
          <a:blip r:embed="rId1"/>
          <a:stretch>
            <a:fillRect/>
          </a:stretch>
        </p:blipFill>
        <p:spPr>
          <a:xfrm>
            <a:off x="5391174" y="1884688"/>
            <a:ext cx="6251881" cy="3527537"/>
          </a:xfrm>
          <a:prstGeom prst="rect">
            <a:avLst/>
          </a:prstGeom>
        </p:spPr>
      </p:pic>
      <p:sp>
        <p:nvSpPr>
          <p:cNvPr id="7" name="Caption"/>
          <p:cNvSpPr txBox="1"/>
          <p:nvPr/>
        </p:nvSpPr>
        <p:spPr>
          <a:xfrm>
            <a:off x="5391174" y="5485376"/>
            <a:ext cx="6251881" cy="502920"/>
          </a:xfrm>
          <a:prstGeom prst="rect">
            <a:avLst/>
          </a:prstGeom>
          <a:noFill/>
          <a:ln/>
        </p:spPr>
        <p:txBody>
          <a:bodyPr wrap="square" lIns="0" tIns="0" rIns="0" bIns="0" rtlCol="0" anchor="t"/>
          <a:lstStyle/>
          <a:p>
            <a:pPr indent="0" marL="0">
              <a:buNone/>
            </a:pPr>
            <a:r>
              <a:rPr lang="en-US" sz="1100" i="1" dirty="0">
                <a:solidFill>
                  <a:schemeClr val="tx2"/>
                </a:solidFill>
              </a:rPr>
              <a:t>Figure 15.2. Left: the decisions and the 5 percent contour. Right: the least cost of each appetite; the slope at 5 percent is $1.8m a point.</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15.1 · TABLE 15.5</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natural package is not the cheapest</a:t>
            </a:r>
            <a:endParaRPr lang="en-US" sz="3200" dirty="0"/>
          </a:p>
        </p:txBody>
      </p:sp>
      <p:graphicFrame>
        <p:nvGraphicFramePr>
          <p:cNvPr id="20"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4859537"/>
                <a:gridCol w="1467030"/>
                <a:gridCol w="1833788"/>
                <a:gridCol w="1467030"/>
                <a:gridCol w="1467030"/>
              </a:tblGrid>
              <a:tr h="36576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Package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Line ($m)</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Delay (quarters)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Cost ($m)</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500" b="1" dirty="0">
                          <a:solidFill>
                            <a:srgbClr val="FFFFFF"/>
                          </a:solidFill>
                          <a:latin typeface="Calibri" pitchFamily="34" charset="0"/>
                          <a:ea typeface="Calibri" pitchFamily="34" charset="-122"/>
                          <a:cs typeface="Calibri" pitchFamily="34" charset="-120"/>
                        </a:rPr>
                        <a:t>Odds (%)</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36576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Average path (certainty equivalent)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24.6</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36576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Joint check of Chapter 13 (robust)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55</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1.6</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17.4</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36576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Line alone, any size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any</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 8.4</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36576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Phasing alone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5.1</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40.8</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5.0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36576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Chapter 8 package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100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2.0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19.0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3.0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36576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Cheapest at 6 percent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160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0.50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8.8</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6.0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365760">
                <a:tc>
                  <a:txBody>
                    <a:bodyPr/>
                    <a:lstStyle/>
                    <a:p>
                      <a:pPr algn="l" indent="0" marL="0">
                        <a:buNone/>
                      </a:pPr>
                      <a:r>
                        <a:rPr lang="en-US" sz="1500" b="1" dirty="0">
                          <a:solidFill>
                            <a:srgbClr val="0F1E3D"/>
                          </a:solidFill>
                          <a:latin typeface="Calibri" pitchFamily="34" charset="0"/>
                          <a:ea typeface="Calibri" pitchFamily="34" charset="-122"/>
                          <a:cs typeface="Calibri" pitchFamily="34" charset="-120"/>
                        </a:rPr>
                        <a:t>Cheapest at the board's 5 percent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170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0.67</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10.4</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5.0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r>
              <a:tr h="36576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Cheapest at 4 percent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165</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0.93</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12.4</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4.0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36576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Cheapest at 3 percent</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180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1.16</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14.7</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500" dirty="0">
                          <a:solidFill>
                            <a:srgbClr val="0F1E3D"/>
                          </a:solidFill>
                          <a:latin typeface="Calibri" pitchFamily="34" charset="0"/>
                          <a:ea typeface="Calibri" pitchFamily="34" charset="-122"/>
                          <a:cs typeface="Calibri" pitchFamily="34" charset="-120"/>
                        </a:rPr>
                        <a:t>3.0</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bl>
          </a:graphicData>
        </a:graphic>
      </p:graphicFrame>
      <p:sp>
        <p:nvSpPr>
          <p:cNvPr id="6" name="Table note"/>
          <p:cNvSpPr txBox="1"/>
          <p:nvPr/>
        </p:nvSpPr>
        <p:spPr>
          <a:xfrm>
            <a:off x="548640" y="5422392"/>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Fees at 3 percent of the line over the program, $8 million a quarter of delay; odds that liquidity falls below the floor in some quarter (100,000 paths, as in Chapter 8).</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Chapter 8's package is safe but inefficient: the frontier buys its 3.0 percent for $14.7m, not $19.0m.</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15.1 · WHAT THE BOARD SHOULD TAKE AWAY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appetite is a price in disguise</a:t>
            </a:r>
            <a:endParaRPr lang="en-US" sz="3200" dirty="0"/>
          </a:p>
        </p:txBody>
      </p:sp>
      <p:sp>
        <p:nvSpPr>
          <p:cNvPr id="5" name="Stat card"/>
          <p:cNvSpPr/>
          <p:nvPr/>
        </p:nvSpPr>
        <p:spPr>
          <a:xfrm>
            <a:off x="548640" y="1691640"/>
            <a:ext cx="3515258" cy="1828800"/>
          </a:xfrm>
          <a:prstGeom prst="roundRect">
            <a:avLst>
              <a:gd name="adj" fmla="val 4000"/>
            </a:avLst>
          </a:prstGeom>
          <a:solidFill>
            <a:schemeClr val="bg2"/>
          </a:solidFill>
          <a:ln w="9525">
            <a:solidFill>
              <a:srgbClr val="C4CBD8"/>
            </a:solidFill>
            <a:prstDash val="solid"/>
          </a:ln>
        </p:spPr>
      </p:sp>
      <p:sp>
        <p:nvSpPr>
          <p:cNvPr id="6" name="Stat value"/>
          <p:cNvSpPr txBox="1"/>
          <p:nvPr/>
        </p:nvSpPr>
        <p:spPr>
          <a:xfrm>
            <a:off x="685800"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$10.4m</a:t>
            </a:r>
            <a:endParaRPr lang="en-US" sz="4400" dirty="0"/>
          </a:p>
        </p:txBody>
      </p:sp>
      <p:sp>
        <p:nvSpPr>
          <p:cNvPr id="7" name="Stat label"/>
          <p:cNvSpPr txBox="1"/>
          <p:nvPr/>
        </p:nvSpPr>
        <p:spPr>
          <a:xfrm>
            <a:off x="685800" y="2697480"/>
            <a:ext cx="3240938" cy="749808"/>
          </a:xfrm>
          <a:prstGeom prst="rect">
            <a:avLst/>
          </a:prstGeom>
          <a:noFill/>
          <a:ln/>
        </p:spPr>
        <p:txBody>
          <a:bodyPr wrap="square" lIns="0" tIns="0" rIns="0" bIns="0" rtlCol="0" anchor="t"/>
          <a:lstStyle/>
          <a:p>
            <a:pPr algn="ctr" indent="0" marL="0">
              <a:buNone/>
            </a:pPr>
            <a:r>
              <a:rPr lang="en-US" sz="1400" dirty="0">
                <a:solidFill>
                  <a:schemeClr val="tx2"/>
                </a:solidFill>
              </a:rPr>
              <a:t>the cheapest way to honor the 5 percent appetite</a:t>
            </a:r>
            <a:endParaRPr lang="en-US" sz="1400" dirty="0"/>
          </a:p>
        </p:txBody>
      </p:sp>
      <p:sp>
        <p:nvSpPr>
          <p:cNvPr id="8" name="Stat card"/>
          <p:cNvSpPr/>
          <p:nvPr/>
        </p:nvSpPr>
        <p:spPr>
          <a:xfrm>
            <a:off x="4338218" y="1691640"/>
            <a:ext cx="3515258" cy="1828800"/>
          </a:xfrm>
          <a:prstGeom prst="roundRect">
            <a:avLst>
              <a:gd name="adj" fmla="val 4000"/>
            </a:avLst>
          </a:prstGeom>
          <a:solidFill>
            <a:schemeClr val="tx1"/>
          </a:solidFill>
          <a:ln w="9525">
            <a:solidFill>
              <a:srgbClr val="0F1E3D"/>
            </a:solidFill>
            <a:prstDash val="solid"/>
          </a:ln>
        </p:spPr>
      </p:sp>
      <p:sp>
        <p:nvSpPr>
          <p:cNvPr id="9" name="Stat value"/>
          <p:cNvSpPr txBox="1"/>
          <p:nvPr/>
        </p:nvSpPr>
        <p:spPr>
          <a:xfrm>
            <a:off x="4475378" y="1801368"/>
            <a:ext cx="3240938"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$1.8m</a:t>
            </a:r>
            <a:endParaRPr lang="en-US" sz="4400" dirty="0"/>
          </a:p>
        </p:txBody>
      </p:sp>
      <p:sp>
        <p:nvSpPr>
          <p:cNvPr id="10" name="Stat label"/>
          <p:cNvSpPr txBox="1"/>
          <p:nvPr/>
        </p:nvSpPr>
        <p:spPr>
          <a:xfrm>
            <a:off x="4475378" y="2697480"/>
            <a:ext cx="3240938" cy="749808"/>
          </a:xfrm>
          <a:prstGeom prst="rect">
            <a:avLst/>
          </a:prstGeom>
          <a:noFill/>
          <a:ln/>
        </p:spPr>
        <p:txBody>
          <a:bodyPr wrap="square" lIns="0" tIns="0" rIns="0" bIns="0" rtlCol="0" anchor="t"/>
          <a:lstStyle/>
          <a:p>
            <a:pPr algn="ctr" indent="0" marL="0">
              <a:buNone/>
            </a:pPr>
            <a:r>
              <a:rPr lang="en-US" sz="1400" dirty="0">
                <a:solidFill>
                  <a:schemeClr val="bg2"/>
                </a:solidFill>
              </a:rPr>
              <a:t>per percentage point: the appetite's multiplier</a:t>
            </a:r>
            <a:endParaRPr lang="en-US" sz="1400" dirty="0"/>
          </a:p>
        </p:txBody>
      </p:sp>
      <p:sp>
        <p:nvSpPr>
          <p:cNvPr id="11" name="Stat card"/>
          <p:cNvSpPr/>
          <p:nvPr/>
        </p:nvSpPr>
        <p:spPr>
          <a:xfrm>
            <a:off x="8127797" y="1691640"/>
            <a:ext cx="3515258" cy="1828800"/>
          </a:xfrm>
          <a:prstGeom prst="roundRect">
            <a:avLst>
              <a:gd name="adj" fmla="val 4000"/>
            </a:avLst>
          </a:prstGeom>
          <a:solidFill>
            <a:schemeClr val="bg2"/>
          </a:solidFill>
          <a:ln w="9525">
            <a:solidFill>
              <a:srgbClr val="C4CBD8"/>
            </a:solidFill>
            <a:prstDash val="solid"/>
          </a:ln>
        </p:spPr>
      </p:sp>
      <p:sp>
        <p:nvSpPr>
          <p:cNvPr id="12" name="Stat value"/>
          <p:cNvSpPr txBox="1"/>
          <p:nvPr/>
        </p:nvSpPr>
        <p:spPr>
          <a:xfrm>
            <a:off x="8264957" y="1801368"/>
            <a:ext cx="3240938"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$180m</a:t>
            </a:r>
            <a:endParaRPr lang="en-US" sz="4400" dirty="0"/>
          </a:p>
        </p:txBody>
      </p:sp>
      <p:sp>
        <p:nvSpPr>
          <p:cNvPr id="13" name="Stat label"/>
          <p:cNvSpPr txBox="1"/>
          <p:nvPr/>
        </p:nvSpPr>
        <p:spPr>
          <a:xfrm>
            <a:off x="8264957" y="2697480"/>
            <a:ext cx="3240938" cy="749808"/>
          </a:xfrm>
          <a:prstGeom prst="rect">
            <a:avLst/>
          </a:prstGeom>
          <a:noFill/>
          <a:ln/>
        </p:spPr>
        <p:txBody>
          <a:bodyPr wrap="square" lIns="0" tIns="0" rIns="0" bIns="0" rtlCol="0" anchor="t"/>
          <a:lstStyle/>
          <a:p>
            <a:pPr algn="ctr" indent="0" marL="0">
              <a:buNone/>
            </a:pPr>
            <a:r>
              <a:rPr lang="en-US" sz="1400" dirty="0">
                <a:solidFill>
                  <a:schemeClr val="tx2"/>
                </a:solidFill>
              </a:rPr>
              <a:t>the cost of a breach that a 5 percent appetite implies: a third of a year's EBITDA</a:t>
            </a:r>
            <a:endParaRPr lang="en-US" sz="1400" dirty="0"/>
          </a:p>
        </p:txBody>
      </p:sp>
      <p:sp>
        <p:nvSpPr>
          <p:cNvPr id="14" name="Bullets"/>
          <p:cNvSpPr txBox="1"/>
          <p:nvPr/>
        </p:nvSpPr>
        <p:spPr>
          <a:xfrm>
            <a:off x="548640" y="3840480"/>
            <a:ext cx="11094415" cy="233172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tx1"/>
                </a:solidFill>
              </a:rPr>
              <a:t>Step 4:</a:t>
            </a:r>
            <a:r>
              <a:rPr lang="en-US" sz="1700" dirty="0">
                <a:solidFill>
                  <a:schemeClr val="tx1"/>
                </a:solidFill>
              </a:rPr>
              <a:t> 4 percent costs $12.4m, 6 percent $8.8m. At $4m or $16m a quarter of delay the price is $0.9m or $3.4m; the line hardly moves</a:t>
            </a:r>
            <a:endParaRPr lang="en-US" sz="1700" dirty="0"/>
          </a:p>
          <a:p>
            <a:pPr marL="228600" indent="-228600">
              <a:spcAft>
                <a:spcPts val="800"/>
              </a:spcAft>
              <a:buSzPct val="100000"/>
              <a:buChar char="•"/>
            </a:pPr>
            <a:r>
              <a:rPr lang="en-US" sz="1700" dirty="0">
                <a:solidFill>
                  <a:schemeClr val="tx1"/>
                </a:solidFill>
              </a:rPr>
              <a:t>The board should set the value of avoiding a breach deliberately, not leave it implicit in a round number</a:t>
            </a:r>
            <a:endParaRPr lang="en-US" sz="1700" dirty="0"/>
          </a:p>
          <a:p>
            <a:pPr marL="228600" indent="-228600">
              <a:spcAft>
                <a:spcPts val="800"/>
              </a:spcAft>
              <a:buSzPct val="100000"/>
              <a:buChar char="•"/>
            </a:pPr>
            <a:r>
              <a:rPr lang="en-US" sz="1700" dirty="0">
                <a:solidFill>
                  <a:schemeClr val="tx1"/>
                </a:solidFill>
              </a:rPr>
              <a:t>For discussion: the bank's $100m cap adds $2.9m. Could a rule that slows the build when cash runs low do better?</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AXIOM LAB 1.15 · MODULE AXIOM-15</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Pricing Meridian's commitments, in AXIOM</a:t>
            </a:r>
            <a:endParaRPr lang="en-US" sz="3200" dirty="0"/>
          </a:p>
        </p:txBody>
      </p:sp>
      <p:pic>
        <p:nvPicPr>
          <p:cNvPr id="5" name="AXIOM logo" descr="AXIOM">    </p:cNvPr>
          <p:cNvPicPr>
            <a:picLocks noChangeAspect="1"/>
          </p:cNvPicPr>
          <p:nvPr/>
        </p:nvPicPr>
        <p:blipFill>
          <a:blip r:embed="rId1"/>
          <a:stretch>
            <a:fillRect/>
          </a:stretch>
        </p:blipFill>
        <p:spPr>
          <a:xfrm>
            <a:off x="9539935" y="310896"/>
            <a:ext cx="2103120" cy="420624"/>
          </a:xfrm>
          <a:prstGeom prst="rect">
            <a:avLst/>
          </a:prstGeom>
        </p:spPr>
      </p:pic>
      <p:sp>
        <p:nvSpPr>
          <p:cNvPr id="6" name="Situation"/>
          <p:cNvSpPr txBox="1"/>
          <p:nvPr/>
        </p:nvSpPr>
        <p:spPr>
          <a:xfrm>
            <a:off x="548640" y="1645920"/>
            <a:ext cx="11094415" cy="777240"/>
          </a:xfrm>
          <a:prstGeom prst="rect">
            <a:avLst/>
          </a:prstGeom>
          <a:noFill/>
          <a:ln/>
        </p:spPr>
        <p:txBody>
          <a:bodyPr wrap="square" lIns="0" tIns="0" rIns="0" bIns="0" rtlCol="0" anchor="t"/>
          <a:lstStyle/>
          <a:p>
            <a:pPr indent="0" marL="0">
              <a:buNone/>
            </a:pPr>
            <a:r>
              <a:rPr lang="en-US" sz="1500" dirty="0">
                <a:solidFill>
                  <a:schemeClr val="tx1"/>
                </a:solidFill>
              </a:rPr>
              <a:t>Meridian's board wants every major transformation decision brought to it as a problem it can audit: decisions with owners, objectives with declared weights, commitments with prices. You prepare the first such pack, on the digital program's risk levers. Open AXIOM, choose Lab 1.15 and load the Meridian model.</a:t>
            </a:r>
            <a:endParaRPr lang="en-US" sz="1500" dirty="0"/>
          </a:p>
        </p:txBody>
      </p:sp>
      <p:sp>
        <p:nvSpPr>
          <p:cNvPr id="7" name="Flow line"/>
          <p:cNvSpPr/>
          <p:nvPr/>
        </p:nvSpPr>
        <p:spPr>
          <a:xfrm>
            <a:off x="1658082" y="2880360"/>
            <a:ext cx="8875532" cy="0"/>
          </a:xfrm>
          <a:prstGeom prst="line">
            <a:avLst/>
          </a:prstGeom>
          <a:noFill/>
          <a:ln w="25400">
            <a:solidFill>
              <a:srgbClr val="C4CBD8"/>
            </a:solidFill>
            <a:prstDash val="solid"/>
          </a:ln>
        </p:spPr>
      </p:sp>
      <p:sp>
        <p:nvSpPr>
          <p:cNvPr id="8" name="Number"/>
          <p:cNvSpPr/>
          <p:nvPr/>
        </p:nvSpPr>
        <p:spPr>
          <a:xfrm>
            <a:off x="1383762" y="2606040"/>
            <a:ext cx="548640" cy="548640"/>
          </a:xfrm>
          <a:prstGeom prst="ellipse">
            <a:avLst/>
          </a:prstGeom>
          <a:solidFill>
            <a:schemeClr val="accent1"/>
          </a:solidFill>
          <a:ln w="6350">
            <a:solidFill>
              <a:schemeClr val="accent1"/>
            </a:solidFill>
            <a:prstDash val="solid"/>
          </a:ln>
        </p:spPr>
      </p:sp>
      <p:sp>
        <p:nvSpPr>
          <p:cNvPr id="9" name="Text 5"/>
          <p:cNvSpPr txBox="1"/>
          <p:nvPr/>
        </p:nvSpPr>
        <p:spPr>
          <a:xfrm>
            <a:off x="1383762"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10" name="Flow head"/>
          <p:cNvSpPr txBox="1"/>
          <p:nvPr/>
        </p:nvSpPr>
        <p:spPr>
          <a:xfrm>
            <a:off x="621792"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GEOP builder</a:t>
            </a:r>
            <a:endParaRPr lang="en-US" sz="1600" dirty="0"/>
          </a:p>
        </p:txBody>
      </p:sp>
      <p:sp>
        <p:nvSpPr>
          <p:cNvPr id="11" name="Flow text"/>
          <p:cNvSpPr txBox="1"/>
          <p:nvPr/>
        </p:nvSpPr>
        <p:spPr>
          <a:xfrm>
            <a:off x="640080"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Assemble the instance from the declared inventories; run the well-posedness checks.</a:t>
            </a:r>
            <a:endParaRPr lang="en-US" sz="1400" dirty="0"/>
          </a:p>
        </p:txBody>
      </p:sp>
      <p:sp>
        <p:nvSpPr>
          <p:cNvPr id="12" name="Number"/>
          <p:cNvSpPr/>
          <p:nvPr/>
        </p:nvSpPr>
        <p:spPr>
          <a:xfrm>
            <a:off x="3602645" y="2606040"/>
            <a:ext cx="548640" cy="548640"/>
          </a:xfrm>
          <a:prstGeom prst="ellipse">
            <a:avLst/>
          </a:prstGeom>
          <a:solidFill>
            <a:schemeClr val="accent1"/>
          </a:solidFill>
          <a:ln w="6350">
            <a:solidFill>
              <a:schemeClr val="accent1"/>
            </a:solidFill>
            <a:prstDash val="solid"/>
          </a:ln>
        </p:spPr>
      </p:sp>
      <p:sp>
        <p:nvSpPr>
          <p:cNvPr id="13" name="Text 9"/>
          <p:cNvSpPr txBox="1"/>
          <p:nvPr/>
        </p:nvSpPr>
        <p:spPr>
          <a:xfrm>
            <a:off x="3602645"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4" name="Flow head"/>
          <p:cNvSpPr txBox="1"/>
          <p:nvPr/>
        </p:nvSpPr>
        <p:spPr>
          <a:xfrm>
            <a:off x="2840675"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Constraint manager</a:t>
            </a:r>
            <a:endParaRPr lang="en-US" sz="1600" dirty="0"/>
          </a:p>
        </p:txBody>
      </p:sp>
      <p:sp>
        <p:nvSpPr>
          <p:cNvPr id="15" name="Flow text"/>
          <p:cNvSpPr txBox="1"/>
          <p:nvPr/>
        </p:nvSpPr>
        <p:spPr>
          <a:xfrm>
            <a:off x="2858963"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Audit consistency and viability; cap both levers, ask for less than 3 percent, read the infeasible set.</a:t>
            </a:r>
            <a:endParaRPr lang="en-US" sz="1400" dirty="0"/>
          </a:p>
        </p:txBody>
      </p:sp>
      <p:sp>
        <p:nvSpPr>
          <p:cNvPr id="16" name="Number"/>
          <p:cNvSpPr/>
          <p:nvPr/>
        </p:nvSpPr>
        <p:spPr>
          <a:xfrm>
            <a:off x="5821528" y="2606040"/>
            <a:ext cx="548640" cy="548640"/>
          </a:xfrm>
          <a:prstGeom prst="ellipse">
            <a:avLst/>
          </a:prstGeom>
          <a:solidFill>
            <a:schemeClr val="accent1"/>
          </a:solidFill>
          <a:ln w="6350">
            <a:solidFill>
              <a:schemeClr val="accent1"/>
            </a:solidFill>
            <a:prstDash val="solid"/>
          </a:ln>
        </p:spPr>
      </p:sp>
      <p:sp>
        <p:nvSpPr>
          <p:cNvPr id="17" name="Text 13"/>
          <p:cNvSpPr txBox="1"/>
          <p:nvPr/>
        </p:nvSpPr>
        <p:spPr>
          <a:xfrm>
            <a:off x="5821528"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8" name="Flow head"/>
          <p:cNvSpPr txBox="1"/>
          <p:nvPr/>
        </p:nvSpPr>
        <p:spPr>
          <a:xfrm>
            <a:off x="5059558"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A small allocation</a:t>
            </a:r>
            <a:endParaRPr lang="en-US" sz="1600" dirty="0"/>
          </a:p>
        </p:txBody>
      </p:sp>
      <p:sp>
        <p:nvSpPr>
          <p:cNvPr id="19" name="Flow text"/>
          <p:cNvSpPr txBox="1"/>
          <p:nvPr/>
        </p:nvSpPr>
        <p:spPr>
          <a:xfrm>
            <a:off x="5077846"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Watch the first-order point demand a negative investment; read the corner's multipliers.</a:t>
            </a:r>
            <a:endParaRPr lang="en-US" sz="1400" dirty="0"/>
          </a:p>
        </p:txBody>
      </p:sp>
      <p:sp>
        <p:nvSpPr>
          <p:cNvPr id="20" name="Number"/>
          <p:cNvSpPr/>
          <p:nvPr/>
        </p:nvSpPr>
        <p:spPr>
          <a:xfrm>
            <a:off x="8040411" y="2606040"/>
            <a:ext cx="548640" cy="548640"/>
          </a:xfrm>
          <a:prstGeom prst="ellipse">
            <a:avLst/>
          </a:prstGeom>
          <a:solidFill>
            <a:schemeClr val="accent1"/>
          </a:solidFill>
          <a:ln w="6350">
            <a:solidFill>
              <a:schemeClr val="accent1"/>
            </a:solidFill>
            <a:prstDash val="solid"/>
          </a:ln>
        </p:spPr>
      </p:sp>
      <p:sp>
        <p:nvSpPr>
          <p:cNvPr id="21" name="Text 17"/>
          <p:cNvSpPr txBox="1"/>
          <p:nvPr/>
        </p:nvSpPr>
        <p:spPr>
          <a:xfrm>
            <a:off x="8040411"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22" name="Flow head"/>
          <p:cNvSpPr txBox="1"/>
          <p:nvPr/>
        </p:nvSpPr>
        <p:spPr>
          <a:xfrm>
            <a:off x="7278441"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Multi-objective explorer</a:t>
            </a:r>
            <a:endParaRPr lang="en-US" sz="1600" dirty="0"/>
          </a:p>
        </p:txBody>
      </p:sp>
      <p:sp>
        <p:nvSpPr>
          <p:cNvPr id="23" name="Flow text"/>
          <p:cNvSpPr txBox="1"/>
          <p:nvPr/>
        </p:nvSpPr>
        <p:spPr>
          <a:xfrm>
            <a:off x="7296729"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Trace the frontier by floors and by weight sweeps; read the exchange rate at 5 percent.</a:t>
            </a:r>
            <a:endParaRPr lang="en-US" sz="1400" dirty="0"/>
          </a:p>
        </p:txBody>
      </p:sp>
      <p:sp>
        <p:nvSpPr>
          <p:cNvPr id="24" name="Number"/>
          <p:cNvSpPr/>
          <p:nvPr/>
        </p:nvSpPr>
        <p:spPr>
          <a:xfrm>
            <a:off x="10259294" y="2606040"/>
            <a:ext cx="548640" cy="548640"/>
          </a:xfrm>
          <a:prstGeom prst="ellipse">
            <a:avLst/>
          </a:prstGeom>
          <a:solidFill>
            <a:schemeClr val="accent1"/>
          </a:solidFill>
          <a:ln w="6350">
            <a:solidFill>
              <a:schemeClr val="accent1"/>
            </a:solidFill>
            <a:prstDash val="solid"/>
          </a:ln>
        </p:spPr>
      </p:sp>
      <p:sp>
        <p:nvSpPr>
          <p:cNvPr id="25" name="Text 21"/>
          <p:cNvSpPr txBox="1"/>
          <p:nvPr/>
        </p:nvSpPr>
        <p:spPr>
          <a:xfrm>
            <a:off x="10259294"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5</a:t>
            </a:r>
            <a:endParaRPr lang="en-US" sz="1600" dirty="0"/>
          </a:p>
        </p:txBody>
      </p:sp>
      <p:sp>
        <p:nvSpPr>
          <p:cNvPr id="26" name="Flow head"/>
          <p:cNvSpPr txBox="1"/>
          <p:nvPr/>
        </p:nvSpPr>
        <p:spPr>
          <a:xfrm>
            <a:off x="9497324"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Scenario generator</a:t>
            </a:r>
            <a:endParaRPr lang="en-US" sz="1600" dirty="0"/>
          </a:p>
        </p:txBody>
      </p:sp>
      <p:sp>
        <p:nvSpPr>
          <p:cNvPr id="27" name="Flow text"/>
          <p:cNvSpPr txBox="1"/>
          <p:nvPr/>
        </p:nvSpPr>
        <p:spPr>
          <a:xfrm>
            <a:off x="9515612"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Run the three formulations side by side; test a cash rule against the committed delay.</a:t>
            </a:r>
            <a:endParaRPr lang="en-US" sz="1400" dirty="0"/>
          </a:p>
        </p:txBody>
      </p:sp>
      <p:sp>
        <p:nvSpPr>
          <p:cNvPr id="28" name="Deliverable card"/>
          <p:cNvSpPr/>
          <p:nvPr/>
        </p:nvSpPr>
        <p:spPr>
          <a:xfrm>
            <a:off x="548640" y="5486400"/>
            <a:ext cx="11094415" cy="685800"/>
          </a:xfrm>
          <a:prstGeom prst="roundRect">
            <a:avLst>
              <a:gd name="adj" fmla="val 10667"/>
            </a:avLst>
          </a:prstGeom>
          <a:solidFill>
            <a:schemeClr val="bg2"/>
          </a:solidFill>
          <a:ln w="9525">
            <a:solidFill>
              <a:srgbClr val="C4CBD8"/>
            </a:solidFill>
            <a:prstDash val="solid"/>
          </a:ln>
        </p:spPr>
      </p:sp>
      <p:sp>
        <p:nvSpPr>
          <p:cNvPr id="29" name="Deliverable"/>
          <p:cNvSpPr txBox="1"/>
          <p:nvPr/>
        </p:nvSpPr>
        <p:spPr>
          <a:xfrm>
            <a:off x="777240" y="5559552"/>
            <a:ext cx="10637215" cy="539496"/>
          </a:xfrm>
          <a:prstGeom prst="rect">
            <a:avLst/>
          </a:prstGeom>
          <a:noFill/>
          <a:ln/>
        </p:spPr>
        <p:txBody>
          <a:bodyPr wrap="square" lIns="0" tIns="0" rIns="0" bIns="0" rtlCol="0" anchor="ctr"/>
          <a:lstStyle/>
          <a:p>
            <a:pPr indent="0" marL="0">
              <a:buNone/>
            </a:pPr>
            <a:r>
              <a:rPr lang="en-US" sz="1400" b="1" dirty="0">
                <a:solidFill>
                  <a:schemeClr val="tx1"/>
                </a:solidFill>
              </a:rPr>
              <a:t>Deliverable:</a:t>
            </a:r>
            <a:r>
              <a:rPr lang="en-US" sz="1400" dirty="0">
                <a:solidFill>
                  <a:schemeClr val="tx1"/>
                </a:solidFill>
              </a:rPr>
              <a:t> a one-page priced-commitments exhibit: the declared instance with its owners, the binding commitments and their prices, the frontier with the chosen point and its exchange rate, the formulation's promise, and the numbers' certificate. About 90 minutes.</a:t>
            </a:r>
            <a:endParaRPr lang="en-US" sz="14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KEY TAKEAWAYS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What to carry forward</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500" dirty="0">
                <a:solidFill>
                  <a:schemeClr val="tx1"/>
                </a:solidFill>
              </a:rPr>
              <a:t>The GEOP is the volume in one problem: every chapter supplies a component, the problem adds only the frame, and every objection lands on a declared owner.</a:t>
            </a:r>
            <a:endParaRPr lang="en-US" sz="15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500" dirty="0">
                <a:solidFill>
                  <a:schemeClr val="tx1"/>
                </a:solidFill>
              </a:rPr>
              <a:t>Feasibility precedes optimality, and the audits name what fails: a minimal set of incompatible commitments, or the date on which the room runs out.</a:t>
            </a:r>
            <a:endParaRPr lang="en-US" sz="15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500" dirty="0">
                <a:solidFill>
                  <a:schemeClr val="tx1"/>
                </a:solidFill>
              </a:rPr>
              <a:t>At the optimum, everything that binds has a price: a multiplier caps what relaxing a commitment can gain and floors what tightening it will cost.</a:t>
            </a:r>
            <a:endParaRPr lang="en-US" sz="15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500" dirty="0">
                <a:solidFill>
                  <a:schemeClr val="tx1"/>
                </a:solidFill>
              </a:rPr>
              <a:t>Time, uncertainty, and conflict change what “optimal” means: one rule book from every state, rolling plans that are honest only with a terminal condition, formulations that make different promises, and a frontier whose slopes are exchange rates the board chooses.</a:t>
            </a:r>
            <a:endParaRPr lang="en-US" sz="15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500" dirty="0">
                <a:solidFill>
                  <a:schemeClr val="tx1"/>
                </a:solidFill>
              </a:rPr>
              <a:t>Decentralization is exact with prices, silos have a computable cost, optima must be holdable, and the problem is solver-neutral and certificate-strict.</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THIS WEEK'S LABORATORY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Notebook and workbook reproduce the book</a:t>
            </a:r>
            <a:endParaRPr lang="en-US" sz="3200" dirty="0"/>
          </a:p>
        </p:txBody>
      </p:sp>
      <p:sp>
        <p:nvSpPr>
          <p:cNvPr id="5" name="Stat card"/>
          <p:cNvSpPr/>
          <p:nvPr/>
        </p:nvSpPr>
        <p:spPr>
          <a:xfrm>
            <a:off x="548640" y="1691640"/>
            <a:ext cx="2567864" cy="1691640"/>
          </a:xfrm>
          <a:prstGeom prst="roundRect">
            <a:avLst>
              <a:gd name="adj" fmla="val 4324"/>
            </a:avLst>
          </a:prstGeom>
          <a:solidFill>
            <a:schemeClr val="tx1"/>
          </a:solidFill>
          <a:ln w="9525">
            <a:solidFill>
              <a:srgbClr val="0F1E3D"/>
            </a:solidFill>
            <a:prstDash val="solid"/>
          </a:ln>
        </p:spPr>
      </p:sp>
      <p:sp>
        <p:nvSpPr>
          <p:cNvPr id="6" name="Stat value"/>
          <p:cNvSpPr txBox="1"/>
          <p:nvPr/>
        </p:nvSpPr>
        <p:spPr>
          <a:xfrm>
            <a:off x="685800" y="1801368"/>
            <a:ext cx="2293544"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84</a:t>
            </a:r>
            <a:endParaRPr lang="en-US" sz="4400" dirty="0"/>
          </a:p>
        </p:txBody>
      </p:sp>
      <p:sp>
        <p:nvSpPr>
          <p:cNvPr id="7" name="Stat label"/>
          <p:cNvSpPr txBox="1"/>
          <p:nvPr/>
        </p:nvSpPr>
        <p:spPr>
          <a:xfrm>
            <a:off x="685800" y="2697480"/>
            <a:ext cx="2293544" cy="612648"/>
          </a:xfrm>
          <a:prstGeom prst="rect">
            <a:avLst/>
          </a:prstGeom>
          <a:noFill/>
          <a:ln/>
        </p:spPr>
        <p:txBody>
          <a:bodyPr wrap="square" lIns="0" tIns="0" rIns="0" bIns="0" rtlCol="0" anchor="t"/>
          <a:lstStyle/>
          <a:p>
            <a:pPr algn="ctr" indent="0" marL="0">
              <a:buNone/>
            </a:pPr>
            <a:r>
              <a:rPr lang="en-US" sz="1400" dirty="0">
                <a:solidFill>
                  <a:schemeClr val="bg2"/>
                </a:solidFill>
              </a:rPr>
              <a:t>notebook checkpoints, every one PASS</a:t>
            </a:r>
            <a:endParaRPr lang="en-US" sz="1400" dirty="0"/>
          </a:p>
        </p:txBody>
      </p:sp>
      <p:sp>
        <p:nvSpPr>
          <p:cNvPr id="8" name="Stat card"/>
          <p:cNvSpPr/>
          <p:nvPr/>
        </p:nvSpPr>
        <p:spPr>
          <a:xfrm>
            <a:off x="3390824" y="1691640"/>
            <a:ext cx="2567864" cy="1691640"/>
          </a:xfrm>
          <a:prstGeom prst="roundRect">
            <a:avLst>
              <a:gd name="adj" fmla="val 4324"/>
            </a:avLst>
          </a:prstGeom>
          <a:solidFill>
            <a:schemeClr val="bg2"/>
          </a:solidFill>
          <a:ln w="9525">
            <a:solidFill>
              <a:srgbClr val="C4CBD8"/>
            </a:solidFill>
            <a:prstDash val="solid"/>
          </a:ln>
        </p:spPr>
      </p:sp>
      <p:sp>
        <p:nvSpPr>
          <p:cNvPr id="9" name="Stat value"/>
          <p:cNvSpPr txBox="1"/>
          <p:nvPr/>
        </p:nvSpPr>
        <p:spPr>
          <a:xfrm>
            <a:off x="3527984"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92</a:t>
            </a:r>
            <a:endParaRPr lang="en-US" sz="4400" dirty="0"/>
          </a:p>
        </p:txBody>
      </p:sp>
      <p:sp>
        <p:nvSpPr>
          <p:cNvPr id="10" name="Stat label"/>
          <p:cNvSpPr txBox="1"/>
          <p:nvPr/>
        </p:nvSpPr>
        <p:spPr>
          <a:xfrm>
            <a:off x="3527984"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workbook checks against the engine, ALL PASS</a:t>
            </a:r>
            <a:endParaRPr lang="en-US" sz="1400" dirty="0"/>
          </a:p>
        </p:txBody>
      </p:sp>
      <p:sp>
        <p:nvSpPr>
          <p:cNvPr id="11" name="Stat card"/>
          <p:cNvSpPr/>
          <p:nvPr/>
        </p:nvSpPr>
        <p:spPr>
          <a:xfrm>
            <a:off x="6233008" y="1691640"/>
            <a:ext cx="2567864" cy="1691640"/>
          </a:xfrm>
          <a:prstGeom prst="roundRect">
            <a:avLst>
              <a:gd name="adj" fmla="val 4324"/>
            </a:avLst>
          </a:prstGeom>
          <a:solidFill>
            <a:schemeClr val="bg2"/>
          </a:solidFill>
          <a:ln w="9525">
            <a:solidFill>
              <a:srgbClr val="C4CBD8"/>
            </a:solidFill>
            <a:prstDash val="solid"/>
          </a:ln>
        </p:spPr>
      </p:sp>
      <p:sp>
        <p:nvSpPr>
          <p:cNvPr id="12" name="Stat value"/>
          <p:cNvSpPr txBox="1"/>
          <p:nvPr/>
        </p:nvSpPr>
        <p:spPr>
          <a:xfrm>
            <a:off x="6370168"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26115</a:t>
            </a:r>
            <a:endParaRPr lang="en-US" sz="4400" dirty="0"/>
          </a:p>
        </p:txBody>
      </p:sp>
      <p:sp>
        <p:nvSpPr>
          <p:cNvPr id="13" name="Stat label"/>
          <p:cNvSpPr txBox="1"/>
          <p:nvPr/>
        </p:nvSpPr>
        <p:spPr>
          <a:xfrm>
            <a:off x="6370168"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the lab's seed</a:t>
            </a:r>
            <a:endParaRPr lang="en-US" sz="1400" dirty="0"/>
          </a:p>
        </p:txBody>
      </p:sp>
      <p:sp>
        <p:nvSpPr>
          <p:cNvPr id="14" name="Stat card"/>
          <p:cNvSpPr/>
          <p:nvPr/>
        </p:nvSpPr>
        <p:spPr>
          <a:xfrm>
            <a:off x="9075191" y="1691640"/>
            <a:ext cx="2567864" cy="1691640"/>
          </a:xfrm>
          <a:prstGeom prst="roundRect">
            <a:avLst>
              <a:gd name="adj" fmla="val 4324"/>
            </a:avLst>
          </a:prstGeom>
          <a:solidFill>
            <a:schemeClr val="bg2"/>
          </a:solidFill>
          <a:ln w="9525">
            <a:solidFill>
              <a:srgbClr val="C4CBD8"/>
            </a:solidFill>
            <a:prstDash val="solid"/>
          </a:ln>
        </p:spPr>
      </p:sp>
      <p:sp>
        <p:nvSpPr>
          <p:cNvPr id="15" name="Stat value"/>
          <p:cNvSpPr txBox="1"/>
          <p:nvPr/>
        </p:nvSpPr>
        <p:spPr>
          <a:xfrm>
            <a:off x="9212351" y="1801368"/>
            <a:ext cx="2293544" cy="91440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AXIOM-15</a:t>
            </a:r>
            <a:endParaRPr lang="en-US" sz="3000" dirty="0"/>
          </a:p>
        </p:txBody>
      </p:sp>
      <p:sp>
        <p:nvSpPr>
          <p:cNvPr id="16" name="Stat label"/>
          <p:cNvSpPr txBox="1"/>
          <p:nvPr/>
        </p:nvSpPr>
        <p:spPr>
          <a:xfrm>
            <a:off x="9212351"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AXIOM Lab 1.15</a:t>
            </a:r>
            <a:endParaRPr lang="en-US" sz="1400" dirty="0"/>
          </a:p>
        </p:txBody>
      </p:sp>
      <p:sp>
        <p:nvSpPr>
          <p:cNvPr id="17" name="Bullets"/>
          <p:cNvSpPr txBox="1"/>
          <p:nvPr/>
        </p:nvSpPr>
        <p:spPr>
          <a:xfrm>
            <a:off x="548640" y="3703320"/>
            <a:ext cx="11094415" cy="246888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tx1"/>
                </a:solidFill>
              </a:rPr>
              <a:t>Notebook</a:t>
            </a:r>
            <a:r>
              <a:rPr lang="en-US" sz="1700" dirty="0">
                <a:solidFill>
                  <a:schemeClr val="tx1"/>
                </a:solidFill>
              </a:rPr>
              <a:t> DCT_V1_Ch15_Lab.ipynb: Worked Example 15.1 and the lab's five steps in ten panels, ready for Colab</a:t>
            </a:r>
            <a:endParaRPr lang="en-US" sz="1700" dirty="0"/>
          </a:p>
          <a:p>
            <a:pPr marL="228600" indent="-228600">
              <a:spcAft>
                <a:spcPts val="800"/>
              </a:spcAft>
              <a:buSzPct val="100000"/>
              <a:buChar char="•"/>
            </a:pPr>
            <a:r>
              <a:rPr lang="en-US" sz="1700" b="1" dirty="0">
                <a:solidFill>
                  <a:schemeClr val="tx1"/>
                </a:solidFill>
              </a:rPr>
              <a:t>Workbook</a:t>
            </a:r>
            <a:r>
              <a:rPr lang="en-US" sz="1700" dirty="0">
                <a:solidFill>
                  <a:schemeClr val="tx1"/>
                </a:solidFill>
              </a:rPr>
              <a:t> DCT_V1_Ch15_Lab.xlsx: the cheapest package, the price of the appetite, the frontier by floors and by weights, and the audit, in formulas</a:t>
            </a:r>
            <a:endParaRPr lang="en-US" sz="1700" dirty="0"/>
          </a:p>
          <a:p>
            <a:pPr marL="228600" indent="-228600">
              <a:spcAft>
                <a:spcPts val="800"/>
              </a:spcAft>
              <a:buSzPct val="100000"/>
              <a:buChar char="•"/>
            </a:pPr>
            <a:r>
              <a:rPr lang="en-US" sz="1700" dirty="0">
                <a:solidFill>
                  <a:schemeClr val="tx1"/>
                </a:solidFill>
              </a:rPr>
              <a:t>Every number on these slides is the book's, and both companions check it</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NEXT · CHAPTER 16</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Chapter 16 asks: is Meridian ready?</a:t>
            </a:r>
            <a:endParaRPr lang="en-US" sz="3200" dirty="0"/>
          </a:p>
        </p:txBody>
      </p:sp>
      <p:pic>
        <p:nvPicPr>
          <p:cNvPr id="5" name="Equation" descr="Equation: \text{GEOP-ready} \;\iff\; \text{(R1)} \;\wedge\; \text{(R2)} \;\wedge\; \text{(R3)} \;\wedge\; \text{(R4)}">    </p:cNvPr>
          <p:cNvPicPr>
            <a:picLocks noChangeAspect="1"/>
          </p:cNvPicPr>
          <p:nvPr/>
        </p:nvPicPr>
        <p:blipFill>
          <a:blip r:embed="rId1"/>
          <a:stretch>
            <a:fillRect/>
          </a:stretch>
        </p:blipFill>
        <p:spPr>
          <a:xfrm>
            <a:off x="1117448" y="1691640"/>
            <a:ext cx="9956800" cy="640080"/>
          </a:xfrm>
          <a:prstGeom prst="rect">
            <a:avLst/>
          </a:prstGeom>
        </p:spPr>
      </p:pic>
      <p:sp>
        <p:nvSpPr>
          <p:cNvPr id="6" name="Bullets"/>
          <p:cNvSpPr txBox="1"/>
          <p:nvPr/>
        </p:nvSpPr>
        <p:spPr>
          <a:xfrm>
            <a:off x="548640" y="2651760"/>
            <a:ext cx="11094415" cy="352044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bg1"/>
                </a:solidFill>
              </a:rPr>
              <a:t>Theorem 16.4 turns this chapter's hypotheses into four gates, checked in order, each failure a work order:</a:t>
            </a:r>
            <a:endParaRPr lang="en-US" sz="1800" dirty="0"/>
          </a:p>
          <a:p>
            <a:pPr marL="228600" indent="-228600">
              <a:spcAft>
                <a:spcPts val="800"/>
              </a:spcAft>
              <a:buSzPct val="100000"/>
              <a:buChar char="•"/>
            </a:pPr>
            <a:r>
              <a:rPr lang="en-US" sz="1800" b="1" dirty="0">
                <a:solidFill>
                  <a:schemeClr val="bg1"/>
                </a:solidFill>
              </a:rPr>
              <a:t>(R1) Declaration completeness:</a:t>
            </a:r>
            <a:r>
              <a:rPr lang="en-US" sz="1800" dirty="0">
                <a:solidFill>
                  <a:schemeClr val="bg1"/>
                </a:solidFill>
              </a:rPr>
              <a:t> every element of the GEOP declared, with an owner</a:t>
            </a:r>
            <a:endParaRPr lang="en-US" sz="1800" dirty="0"/>
          </a:p>
          <a:p>
            <a:pPr marL="228600" indent="-228600">
              <a:spcAft>
                <a:spcPts val="800"/>
              </a:spcAft>
              <a:buSzPct val="100000"/>
              <a:buChar char="•"/>
            </a:pPr>
            <a:r>
              <a:rPr lang="en-US" sz="1800" b="1" dirty="0">
                <a:solidFill>
                  <a:schemeClr val="bg1"/>
                </a:solidFill>
              </a:rPr>
              <a:t>(R2) Unified consistency:</a:t>
            </a:r>
            <a:r>
              <a:rPr lang="en-US" sz="1800" dirty="0">
                <a:solidFill>
                  <a:schemeClr val="bg1"/>
                </a:solidFill>
              </a:rPr>
              <a:t> the ledgers agree, and the commitments can hold together</a:t>
            </a:r>
            <a:endParaRPr lang="en-US" sz="1800" dirty="0"/>
          </a:p>
          <a:p>
            <a:pPr marL="228600" indent="-228600">
              <a:spcAft>
                <a:spcPts val="800"/>
              </a:spcAft>
              <a:buSzPct val="100000"/>
              <a:buChar char="•"/>
            </a:pPr>
            <a:r>
              <a:rPr lang="en-US" sz="1800" b="1" dirty="0">
                <a:solidFill>
                  <a:schemeClr val="bg1"/>
                </a:solidFill>
              </a:rPr>
              <a:t>(R3) Analytical panel:</a:t>
            </a:r>
            <a:r>
              <a:rPr lang="en-US" sz="1800" dirty="0">
                <a:solidFill>
                  <a:schemeClr val="bg1"/>
                </a:solidFill>
              </a:rPr>
              <a:t> A1–A5 hold, decision sets compact, commitments continuous</a:t>
            </a:r>
            <a:endParaRPr lang="en-US" sz="1800" dirty="0"/>
          </a:p>
          <a:p>
            <a:pPr marL="228600" indent="-228600">
              <a:spcAft>
                <a:spcPts val="800"/>
              </a:spcAft>
              <a:buSzPct val="100000"/>
              <a:buChar char="•"/>
            </a:pPr>
            <a:r>
              <a:rPr lang="en-US" sz="1800" b="1" dirty="0">
                <a:solidFill>
                  <a:schemeClr val="bg1"/>
                </a:solidFill>
              </a:rPr>
              <a:t>(R4) Feasibility with horizon honesty:</a:t>
            </a:r>
            <a:r>
              <a:rPr lang="en-US" sz="1800" dirty="0">
                <a:solidFill>
                  <a:schemeClr val="bg1"/>
                </a:solidFill>
              </a:rPr>
              <a:t> some policy keeps every commitment over the whole horizon</a:t>
            </a:r>
            <a:endParaRPr lang="en-US" sz="1800" dirty="0"/>
          </a:p>
          <a:p>
            <a:pPr marL="228600" indent="-228600">
              <a:spcAft>
                <a:spcPts val="800"/>
              </a:spcAft>
              <a:buSzPct val="100000"/>
              <a:buChar char="•"/>
            </a:pPr>
            <a:r>
              <a:rPr lang="en-US" sz="1800" dirty="0">
                <a:solidFill>
                  <a:schemeClr val="bg1"/>
                </a:solidFill>
              </a:rPr>
              <a:t>Worked Example 16.1 runs them on this chapter's GEOP; then Volume II solves it, method by method</a:t>
            </a:r>
            <a:endParaRPr lang="en-US" sz="18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Dynamic Corporate Transformation">
  <a:themeElements>
    <a:clrScheme name="Dynamic Corporate Transformation">
      <a:dk1>
        <a:srgbClr val="0F1E3D"/>
      </a:dk1>
      <a:lt1>
        <a:srgbClr val="FFFFFF"/>
      </a:lt1>
      <a:dk2>
        <a:srgbClr val="5A6B82"/>
      </a:dk2>
      <a:lt2>
        <a:srgbClr val="F7F4ED"/>
      </a:lt2>
      <a:accent1>
        <a:srgbClr val="B4884A"/>
      </a:accent1>
      <a:accent2>
        <a:srgbClr val="2F6F6B"/>
      </a:accent2>
      <a:accent3>
        <a:srgbClr val="8A6A33"/>
      </a:accent3>
      <a:accent4>
        <a:srgbClr val="C4CBD8"/>
      </a:accent4>
      <a:accent5>
        <a:srgbClr val="1F4FD8"/>
      </a:accent5>
      <a:accent6>
        <a:srgbClr val="16263F"/>
      </a:accent6>
      <a:hlink>
        <a:srgbClr val="1F4FD8"/>
      </a:hlink>
      <a:folHlink>
        <a:srgbClr val="5A6B82"/>
      </a:folHlink>
    </a:clrScheme>
    <a:fontScheme name="Dynamic Corporate Transforma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Dynamic Corporate Transformation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Corporate Transformation, Volume I, Chapter 15: Mathematical Formulation of Enterprise Optimization</dc:title>
  <dc:subject>Slides for Volume I, Chapter 15 (V56)</dc:subject>
  <dc:creator>Samir Asaf</dc:creator>
  <cp:lastModifiedBy>Samir Asaf</cp:lastModifiedBy>
  <cp:revision>1</cp:revision>
  <dcterms:created xsi:type="dcterms:W3CDTF">2026-10-05T08:39:15Z</dcterms:created>
  <dcterms:modified xsi:type="dcterms:W3CDTF">2026-10-05T08:39:15Z</dcterms:modified>
</cp:coreProperties>
</file>