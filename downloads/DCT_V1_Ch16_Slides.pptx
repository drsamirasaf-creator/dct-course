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bdc4fe-192b-9553-f9fa-c535744aa5fb}">
          <p14:sldIdLst>
            <p14:sldId id="256"/>
            <p14:sldId id="257"/>
            <p14:sldId id="258"/>
            <p14:sldId id="259"/>
          </p14:sldIdLst>
        </p14:section>
        <p14:section name="16.1 The Arc of Volume I" id="{dc7a1525-ee7e-e813-1af3-4b1938b168e1}">
          <p14:sldIdLst>
            <p14:sldId id="260"/>
          </p14:sldIdLst>
        </p14:section>
        <p14:section name="16.2 What the Framework Guarantees" id="{6d89218e-0693-0bb0-ac4b-f32588806a47}">
          <p14:sldIdLst>
            <p14:sldId id="261"/>
          </p14:sldIdLst>
        </p14:section>
        <p14:section name="16.3 Transformation, Stated Once" id="{db162180-a5a2-03c5-4b93-a54f00949c24}">
          <p14:sldIdLst>
            <p14:sldId id="262"/>
          </p14:sldIdLst>
        </p14:section>
        <p14:section name="16.4 Are We Ready to Optimize?" id="{4246d9d2-3860-1e9d-6d5f-fd5364f0d544}">
          <p14:sldIdLst>
            <p14:sldId id="263"/>
            <p14:sldId id="264"/>
          </p14:sldIdLst>
        </p14:section>
        <p14:section name="16.5 Modularity: How the Framework Grows" id="{4906c428-d8cd-66a2-3c06-2d4e19def00a}">
          <p14:sldIdLst>
            <p14:sldId id="265"/>
            <p14:sldId id="266"/>
          </p14:sldIdLst>
        </p14:section>
        <p14:section name="16.6 Computation, AI, Twins, and Autonomy" id="{e21fc1c6-44c4-7005-a1b4-6a598debe0c4}">
          <p14:sldIdLst>
            <p14:sldId id="267"/>
          </p14:sldIdLst>
        </p14:section>
        <p14:section name="16.7 Open Problems and the Road to Volume II" id="{e7d4a723-4102-e9fc-7f99-2757a54b59ce}">
          <p14:sldIdLst>
            <p14:sldId id="268"/>
            <p14:sldId id="269"/>
          </p14:sldIdLst>
        </p14:section>
        <p14:section name="Worked Example 16.1" id="{acde8ac1-e2b5-5f4a-7b63-904d778f4415}">
          <p14:sldIdLst>
            <p14:sldId id="270"/>
            <p14:sldId id="271"/>
            <p14:sldId id="272"/>
            <p14:sldId id="273"/>
            <p14:sldId id="274"/>
          </p14:sldIdLst>
        </p14:section>
        <p14:section name="AXIOM Lab 1.16" id="{d4c3b31d-6704-19cd-1be7-ebf27a22b1bf}">
          <p14:sldIdLst>
            <p14:sldId id="275"/>
          </p14:sldIdLst>
        </p14:section>
        <p14:section name="Close" id="{47e319e8-b5a3-3f69-87ed-4fd0bbf16dd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16. Fifteen chapters have built one object: a company declared as a state, moved by programs, resourced by capital, read by performance measures, exposed to risk, and unified into a single system on which the board's question becomes the General Enterprise Optimization Problem. This closing chapter looks back, then forward (the chapter's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16.7 closes the volume with the epigraph: in the words at the head of this chapter, this is not the end, nor even the beginning of the end; it is the end of the beginning. What has been established, and what has not, are both on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16.2: Definition 16.1, Theorems 16.1-16.2. Section 16.3: Theorem 16.3. Section 16.4: Theorem 16.4, Definition 16.2, Figure 16.1. Section 16.5: Theorem 16.5, Figure 16.2. Section 16.6: Definitions 16.3-16.5, Proposition 16.1. Section 16.7: Definition 16.6, Tables 16.2-16.3. Proofs of Theorems 16.4 and 16.5 are in Appendix 16.A; Theorems 16.1-16.3 and Proposition 16.1 in Online Appendix 16.B.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16.1, abridged in its first column: the gain audit is the check behind the first row's honesty clause. Removing a limitation does not remove every danger. Three structural facts follow from the two disciplines: one skeleton, declared coupling, and symmetric honesty (Section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16.1 and Theorems 16.1-16.2; formal statements and proofs in Online Appendix 16.B. Consistency is shown the way a practitioner should read it, by running one company through every demand. The instance of Theorem 16.2 is Worked Example 4.1: the units reach 392 and 404 engineers by year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16.3 (General Enterprise Transformation Theorem); formal statement and proof in Online Appendix 16.B. A ledger-by-ledger optimization solves the GEOP with extra constraints, so it can never do better (Proposition 15.1; Theorem 15.6(iii)). The translation is only as good as the declaration: the gate between ambition and optimization is a test of the declaration, the readiness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16.4; formal statement and proof in Appendix 16.A, with counterexamples for each gate: a floor of 350 beside a payout cap of 300 fails (R2); a strict inequality fails (R3); Chapter 14's runway fails (R4), cash four quarters on at most 120 - (50 + 40 + 30 + 20) = -20. The theorem converts 'should we bring in optimization?' from a procurement question into an audit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16.2 and Figure 16.1. For the analyst, the lifecycle sequences the volume's mathematics into an operating cadence; for the executive, it replaces the transformation program as a one-time event with transformation as a governed capability (Section 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16.5; formal statement and proof in Appendix 16.A. Example 16.B.2 draws 10,000 models within the ceilings: every spectral radius is below 0.80, and no echo exceeds the register's; the register is the worst case among the models it certifies. Clause (ii) answers 'your model is not mine': correct, and immaterial, provided the substitute honors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16.5(i), Figure 16.2 and Example 16.B.1. Sixty-two results cite no other result of the volume; there are eight chains of 15 citations, starting at Theorem 16.1 or Example 16.B.2 and ending at Theorem 3.3 or Proposition 5.1. Part IV leans on all of Parts II and III; Chapter 1's results cite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16.1 (formal statement and proof in Online Appendix 16.B) and Definitions 16.3-16.5: enterprise intelligence is any capability, however implemented, that improves the lifecycle using information. The governance version fits in one line: AI proposes within contracts; certificates dispose. Automated re-declaration of objectives and commitments is where autonomy meets governance itself, and it remains an open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16.6 and Table 16.2. Evolution is governed procedurally, through re-declaration and the readiness gates, but not yet optimized, because the space of declarations lacks the structure the GEOP requires of its feasible sets. The boundary between the two is the framework's current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16.3 and Section 16.7's four habits for the reader crossing into Volume II. Volume II will not re-pose the problem, re-derive the theory, or renegotiate the honesty clauses; it will solve, at scale and under contract, what this volume has 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the situation. The transformation office runs the gates of Theorem 16.4 on the declaration for the digital program's GEOP, Worked Example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Steps 1-3. Step 1: eight readings, seven components and fourteen arrows, five standing commitments, the register, the six elements of the GEOP. On a best-to-worst scale restructuring leads digital 52.3 to 41.4; on percentage improvement digital leads 24.0 to 10.6. Step 2: $55 million more than there is. Step 3: the undeclared link has a ceiling of zero, so the gain audit would flag it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16.4, top. Meridian's first failures were at (R1), not for lack of data but for lack of owned declarations. As first declared, the plan had no levers among its decisions, so no policy in the declared class kept the 5 percent appetite: (R4)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Step 4, and Table 16.4, bottom: each margin against the error band of the reading behind it (Table 5.2). The appetite's certificate is statistical, and its price says what more safety would cost. The capability floor holds by 3 points against a survey error of 5; strategic risk is 1.4 points under its ceiling against a band of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Step 5, what the board should take away, and the discussion questions. The repaired declaration is the company of Theorem 16.1(iv): one company that meets all of the volume's requirements at once (Example 16.B.3).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1.16. What to look for: readiness is won mostly by declarations (Theorem 16.4); the register's certificates hold for every model within its ceilings (Theorem 16.5(ii)); and a pass is only as strong as its margin against the error of the reading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worked example's paths are Chapter 8's, drawn with random seed 8; the lab's seed is used only for fresh 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 Equation 1.1, and its Worked Example 1.1. The Meridian Group enters with the answers Volume I gave it, certified by the gates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16 · WEEK 7</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Synthesis, Future Directions, and Transition to Volume II</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One structure, consistent and complete relative to its declarations: four gates tell a board whether it is ready to optimize, and Volume II solves what Volume I has posed</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26116 · AXIOM Lab 1.16 (AXIOM-16)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“Now this is not the end. It is not even the beginning of the end. But it is, perhaps, the end of the beginning.”</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Winston S. Churchill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1953; Mansion House, London (1942)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the DCT framework as one structure—how the volume removed the five limitations of Chapter 1 and what holds its architectures together—and what it guarantees: consistency, shown on one company, and completeness relative to what is declared.</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Run the four readiness gates on a company—declaration completeness, unified consistency, the analytical panel, and feasibility with horizon honesty—and read every failure as a work order with an owner.</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the transformation lifecycle as the seven moves run as a loop, and explain why declared contracts let models, layers, and solution methods change without redoing the theory.</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Assess artificial intelligence, digital twins, and autonomous optimization from the framework's position, and distinguish adaptation within a declaration from evolution of the declaration itself.</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the division of labor between Volumes I and II, route a question to the right volume, and state the framework's open problems.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Arc of Volume I</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16.1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What the Framework Guarantees</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Theorems 16.1–16.2</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Transformation, Stated Once</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16.3</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Are We Ready to Optimize?</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16.4 · Figure 16.1</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Modularity: How the Framework Grows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16.5 · Figure 16.2</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Computation, Artificial Intelligence, Twins, and Autonomy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16.1</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Open Problems and the Road to Volume II</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Tables 16.2–16.3</a:t>
            </a:r>
            <a:endParaRPr lang="en-US" sz="1200" dirty="0"/>
          </a:p>
        </p:txBody>
      </p:sp>
      <p:sp>
        <p:nvSpPr>
          <p:cNvPr id="33" name="Card"/>
          <p:cNvSpPr/>
          <p:nvPr/>
        </p:nvSpPr>
        <p:spPr>
          <a:xfrm>
            <a:off x="5096134" y="4069080"/>
            <a:ext cx="1999427" cy="2103120"/>
          </a:xfrm>
          <a:prstGeom prst="roundRect">
            <a:avLst>
              <a:gd name="adj" fmla="val 3659"/>
            </a:avLst>
          </a:prstGeom>
          <a:solidFill>
            <a:schemeClr val="tx1"/>
          </a:solidFill>
          <a:ln w="9525">
            <a:solidFill>
              <a:srgbClr val="0F1E3D"/>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16.1</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Is Meridian Ready to Optimize?</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16.4</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1.16</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Certifying Meridian for Volume II</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AXIOM-16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§16.1 · TABLE 16.1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limitations, removed on Meridian's evidence</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33788"/>
                <a:gridCol w="2934060"/>
                <a:gridCol w="4034333"/>
                <a:gridCol w="2292235"/>
              </a:tblGrid>
              <a:tr h="65836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Removed by</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Meridian's evidence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remains true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58368">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L1 Fragmentation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five architectures on one skeleton, one coupling register (Chs. 9–13)</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the same cash promised twice: a $138 million draw and a $187 million buffer on $270 million (Ch. 13)</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couplings are only as good as their ceilings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L2 Snapshots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paths: operators, dynamics, uncertainty (Chs. 5–8)</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the floor breached on 24.6% of paths, though the average path never breaches it (Ch. 8)</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the flaw of averages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L3 One-number summaries</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warranted readouts; the scorecard audit (Ch. 11)</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digital and restructuring tie 1.6 weight points away; the scale flips the ranking (Ch. 11)</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measure targeted hard stops measuring</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L4 No state</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an eight-reading state with equilibria and stability (Chs. 3, 5, 7, 14)</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a shock in the core halves in 3.1 quarters; one more link would make it grow (Ch. 14)</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every reading has an error band</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L5 No well-posed problem</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the GEOP, with audits, prices, and a frontier (Ch. 15)</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the 5% appetite met for $10.4 million; it prices a breach at $180 million (Ch. 15)</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E3D"/>
                          </a:solidFill>
                          <a:latin typeface="Calibri" pitchFamily="34" charset="0"/>
                          <a:ea typeface="Calibri" pitchFamily="34" charset="-122"/>
                          <a:cs typeface="Calibri" pitchFamily="34" charset="-120"/>
                        </a:rPr>
                        <a:t>feasible this quarter is not viable for the horizon</a:t>
                      </a:r>
                      <a:endParaRPr lang="en-US" sz="12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Two disciplines held the ascent together: declaration, and inheritance through stated contracts.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§16.2 · DEFINITION 16.1 · THEOREMS 16.1–16.2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Consistent, and complete relative to declarations</a:t>
            </a:r>
            <a:endParaRPr lang="en-US" sz="3200" dirty="0"/>
          </a:p>
        </p:txBody>
      </p:sp>
      <p:sp>
        <p:nvSpPr>
          <p:cNvPr id="5" name="Result card"/>
          <p:cNvSpPr/>
          <p:nvPr/>
        </p:nvSpPr>
        <p:spPr>
          <a:xfrm>
            <a:off x="548640" y="1691640"/>
            <a:ext cx="60350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4864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16.1</a:t>
            </a:r>
            <a:endParaRPr lang="en-US" sz="1200" dirty="0"/>
          </a:p>
        </p:txBody>
      </p:sp>
      <p:sp>
        <p:nvSpPr>
          <p:cNvPr id="7" name="Text 4"/>
          <p:cNvSpPr txBox="1"/>
          <p:nvPr/>
        </p:nvSpPr>
        <p:spPr>
          <a:xfrm>
            <a:off x="822960" y="2194560"/>
            <a:ext cx="54864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Unified DCT Consistency Theorem</a:t>
            </a:r>
            <a:endParaRPr lang="en-US" sz="2100" dirty="0"/>
          </a:p>
        </p:txBody>
      </p:sp>
      <p:sp>
        <p:nvSpPr>
          <p:cNvPr id="8" name="Bullets"/>
          <p:cNvSpPr txBox="1"/>
          <p:nvPr/>
        </p:nvSpPr>
        <p:spPr>
          <a:xfrm>
            <a:off x="822960" y="2743200"/>
            <a:ext cx="548640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 Declarations.</a:t>
            </a:r>
            <a:r>
              <a:rPr lang="en-US" sz="1700" dirty="0">
                <a:solidFill>
                  <a:schemeClr val="tx1"/>
                </a:solidFill>
              </a:rPr>
              <a:t> Commitments can hold together exactly when the consistency audit passes; if not, it names a minimal set</a:t>
            </a:r>
            <a:endParaRPr lang="en-US" sz="1700" dirty="0"/>
          </a:p>
          <a:p>
            <a:pPr marL="228600" indent="-228600">
              <a:spcAft>
                <a:spcPts val="600"/>
              </a:spcAft>
              <a:buSzPct val="100000"/>
              <a:buChar char="•"/>
            </a:pPr>
            <a:r>
              <a:rPr lang="en-US" sz="1700" b="1" dirty="0">
                <a:solidFill>
                  <a:schemeClr val="tx1"/>
                </a:solidFill>
              </a:rPr>
              <a:t>(ii) Analysis.</a:t>
            </a:r>
            <a:r>
              <a:rPr lang="en-US" sz="1700" dirty="0">
                <a:solidFill>
                  <a:schemeClr val="tx1"/>
                </a:solidFill>
              </a:rPr>
              <a:t> Honest layer contracts satisfy the panel A1–A5, which survives assembly and projection</a:t>
            </a:r>
            <a:endParaRPr lang="en-US" sz="1700" dirty="0"/>
          </a:p>
          <a:p>
            <a:pPr marL="228600" indent="-228600">
              <a:spcAft>
                <a:spcPts val="600"/>
              </a:spcAft>
              <a:buSzPct val="100000"/>
              <a:buChar char="•"/>
            </a:pPr>
            <a:r>
              <a:rPr lang="en-US" sz="1700" b="1" dirty="0">
                <a:solidFill>
                  <a:schemeClr val="tx1"/>
                </a:solidFill>
              </a:rPr>
              <a:t>(iii) Optimization.</a:t>
            </a:r>
            <a:r>
              <a:rPr lang="en-US" sz="1700" dirty="0">
                <a:solidFill>
                  <a:schemeClr val="tx1"/>
                </a:solidFill>
              </a:rPr>
              <a:t> Every ingredient of the GEOP is a certified output of an earlier chapter</a:t>
            </a:r>
            <a:endParaRPr lang="en-US" sz="1700" dirty="0"/>
          </a:p>
          <a:p>
            <a:pPr marL="228600" indent="-228600">
              <a:spcAft>
                <a:spcPts val="600"/>
              </a:spcAft>
              <a:buSzPct val="100000"/>
              <a:buChar char="•"/>
            </a:pPr>
            <a:r>
              <a:rPr lang="en-US" sz="1700" b="1" dirty="0">
                <a:solidFill>
                  <a:schemeClr val="tx1"/>
                </a:solidFill>
              </a:rPr>
              <a:t>(iv) All at once.</a:t>
            </a:r>
            <a:r>
              <a:rPr lang="en-US" sz="1700" dirty="0">
                <a:solidFill>
                  <a:schemeClr val="tx1"/>
                </a:solidFill>
              </a:rPr>
              <a:t> One declared company meets every requirement: Meridian, with the repairs of Chapters 13–15</a:t>
            </a:r>
            <a:endParaRPr lang="en-US" sz="1700" dirty="0"/>
          </a:p>
        </p:txBody>
      </p:sp>
      <p:sp>
        <p:nvSpPr>
          <p:cNvPr id="9" name="Text 6"/>
          <p:cNvSpPr txBox="1"/>
          <p:nvPr/>
        </p:nvSpPr>
        <p:spPr>
          <a:xfrm>
            <a:off x="6995160" y="1737360"/>
            <a:ext cx="4647895" cy="365760"/>
          </a:xfrm>
          <a:prstGeom prst="rect">
            <a:avLst/>
          </a:prstGeom>
          <a:noFill/>
          <a:ln/>
        </p:spPr>
        <p:txBody>
          <a:bodyPr wrap="square" lIns="0" tIns="0" rIns="0" bIns="0" rtlCol="0" anchor="ctr"/>
          <a:lstStyle/>
          <a:p>
            <a:pPr indent="0" marL="0">
              <a:buNone/>
            </a:pPr>
            <a:r>
              <a:rPr lang="en-US" sz="1600" b="1" dirty="0">
                <a:solidFill>
                  <a:schemeClr val="accent2"/>
                </a:solidFill>
              </a:rPr>
              <a:t>Theorem 16.2: Relative Completeness</a:t>
            </a:r>
            <a:endParaRPr lang="en-US" sz="1600" dirty="0"/>
          </a:p>
        </p:txBody>
      </p:sp>
      <p:sp>
        <p:nvSpPr>
          <p:cNvPr id="10" name="Bullets"/>
          <p:cNvSpPr txBox="1"/>
          <p:nvPr/>
        </p:nvSpPr>
        <p:spPr>
          <a:xfrm>
            <a:off x="6995160" y="2194560"/>
            <a:ext cx="464789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question the declaration determines can be posed: on one architecture, on the unified system, or as a GEOP</a:t>
            </a:r>
            <a:endParaRPr lang="en-US" sz="1600" dirty="0"/>
          </a:p>
          <a:p>
            <a:pPr marL="228600" indent="-228600">
              <a:spcAft>
                <a:spcPts val="800"/>
              </a:spcAft>
              <a:buSzPct val="100000"/>
              <a:buChar char="•"/>
            </a:pPr>
            <a:r>
              <a:rPr lang="en-US" sz="1600" dirty="0">
                <a:solidFill>
                  <a:schemeClr val="tx1"/>
                </a:solidFill>
              </a:rPr>
              <a:t>A question it does not determine cannot be answered by any analysis of it, human or machine</a:t>
            </a:r>
            <a:endParaRPr lang="en-US" sz="1600" dirty="0"/>
          </a:p>
          <a:p>
            <a:pPr marL="228600" indent="-228600">
              <a:spcAft>
                <a:spcPts val="800"/>
              </a:spcAft>
              <a:buSzPct val="100000"/>
              <a:buChar char="•"/>
            </a:pPr>
            <a:r>
              <a:rPr lang="en-US" sz="1600" dirty="0">
                <a:solidFill>
                  <a:schemeClr val="tx1"/>
                </a:solidFill>
              </a:rPr>
              <a:t>Two units of 500 engineers with different skill mixes end five years later </a:t>
            </a:r>
            <a:r>
              <a:rPr lang="en-US" sz="1600" b="1" dirty="0">
                <a:solidFill>
                  <a:schemeClr val="tx1"/>
                </a:solidFill>
              </a:rPr>
              <a:t>12 apart</a:t>
            </a:r>
            <a:r>
              <a:rPr lang="en-US" sz="1600" dirty="0">
                <a:solidFill>
                  <a:schemeClr val="tx1"/>
                </a:solidFill>
              </a:rPr>
              <a:t>; a model of totals predicts </a:t>
            </a:r>
            <a:r>
              <a:rPr lang="en-US" sz="1600" b="1" dirty="0">
                <a:solidFill>
                  <a:schemeClr val="tx1"/>
                </a:solidFill>
              </a:rPr>
              <a:t>391</a:t>
            </a:r>
            <a:r>
              <a:rPr lang="en-US" sz="1600" dirty="0">
                <a:solidFill>
                  <a:schemeClr val="tx1"/>
                </a:solidFill>
              </a:rPr>
              <a:t> for both</a:t>
            </a:r>
            <a:endParaRPr lang="en-US" sz="1600" dirty="0"/>
          </a:p>
          <a:p>
            <a:pPr marL="228600" indent="-228600">
              <a:spcAft>
                <a:spcPts val="800"/>
              </a:spcAft>
              <a:buSzPct val="100000"/>
              <a:buChar char="•"/>
            </a:pPr>
            <a:r>
              <a:rPr lang="en-US" sz="1600" dirty="0">
                <a:solidFill>
                  <a:schemeClr val="tx1"/>
                </a:solidFill>
              </a:rPr>
              <a:t>The remedy is a richer declaration, or the admission that none can be made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§16.3 · THEOREM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“Should we transform?” now has a meaning</a:t>
            </a:r>
            <a:endParaRPr lang="en-US" sz="3200" dirty="0"/>
          </a:p>
        </p:txBody>
      </p:sp>
      <p:sp>
        <p:nvSpPr>
          <p:cNvPr id="5" name="Card"/>
          <p:cNvSpPr/>
          <p:nvPr/>
        </p:nvSpPr>
        <p:spPr>
          <a:xfrm>
            <a:off x="548640" y="1691640"/>
            <a:ext cx="2567864" cy="338328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 Realizable</a:t>
            </a:r>
            <a:endParaRPr lang="en-US" sz="1300" dirty="0"/>
          </a:p>
        </p:txBody>
      </p:sp>
      <p:sp>
        <p:nvSpPr>
          <p:cNvPr id="7" name="Card head"/>
          <p:cNvSpPr txBox="1"/>
          <p:nvPr/>
        </p:nvSpPr>
        <p:spPr>
          <a:xfrm>
            <a:off x="731520" y="2148840"/>
            <a:ext cx="2202104" cy="11247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policy of the declared class</a:t>
            </a:r>
            <a:endParaRPr lang="en-US" sz="2000" dirty="0"/>
          </a:p>
        </p:txBody>
      </p:sp>
      <p:sp>
        <p:nvSpPr>
          <p:cNvPr id="8" name="Card text"/>
          <p:cNvSpPr txBox="1"/>
          <p:nvPr/>
        </p:nvSpPr>
        <p:spPr>
          <a:xfrm>
            <a:off x="731520" y="3346704"/>
            <a:ext cx="2202104" cy="1600200"/>
          </a:xfrm>
          <a:prstGeom prst="rect">
            <a:avLst/>
          </a:prstGeom>
          <a:noFill/>
          <a:ln/>
        </p:spPr>
        <p:txBody>
          <a:bodyPr wrap="square" lIns="0" tIns="0" rIns="0" bIns="0" rtlCol="0" anchor="t"/>
          <a:lstStyle/>
          <a:p>
            <a:pPr indent="0" marL="0">
              <a:buNone/>
            </a:pPr>
            <a:r>
              <a:rPr lang="en-US" sz="1600" dirty="0">
                <a:solidFill>
                  <a:schemeClr val="tx2"/>
                </a:solidFill>
              </a:rPr>
              <a:t>Its decisions stay in their admissible sets, its trajectory in the feasible region.</a:t>
            </a:r>
            <a:endParaRPr lang="en-US" sz="1600" dirty="0"/>
          </a:p>
        </p:txBody>
      </p:sp>
      <p:sp>
        <p:nvSpPr>
          <p:cNvPr id="9" name="Card"/>
          <p:cNvSpPr/>
          <p:nvPr/>
        </p:nvSpPr>
        <p:spPr>
          <a:xfrm>
            <a:off x="3390824" y="1691640"/>
            <a:ext cx="2567864" cy="338328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 Effect</a:t>
            </a:r>
            <a:endParaRPr lang="en-US" sz="1300" dirty="0"/>
          </a:p>
        </p:txBody>
      </p:sp>
      <p:sp>
        <p:nvSpPr>
          <p:cNvPr id="11" name="Card head"/>
          <p:cNvSpPr txBox="1"/>
          <p:nvPr/>
        </p:nvSpPr>
        <p:spPr>
          <a:xfrm>
            <a:off x="3573704" y="2148840"/>
            <a:ext cx="2202104" cy="11247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trajectory and its ledgers</a:t>
            </a:r>
            <a:endParaRPr lang="en-US" sz="2000" dirty="0"/>
          </a:p>
        </p:txBody>
      </p:sp>
      <p:sp>
        <p:nvSpPr>
          <p:cNvPr id="12" name="Card text"/>
          <p:cNvSpPr txBox="1"/>
          <p:nvPr/>
        </p:nvSpPr>
        <p:spPr>
          <a:xfrm>
            <a:off x="3573704" y="3346704"/>
            <a:ext cx="2202104" cy="1600200"/>
          </a:xfrm>
          <a:prstGeom prst="rect">
            <a:avLst/>
          </a:prstGeom>
          <a:noFill/>
          <a:ln/>
        </p:spPr>
        <p:txBody>
          <a:bodyPr wrap="square" lIns="0" tIns="0" rIns="0" bIns="0" rtlCol="0" anchor="t"/>
          <a:lstStyle/>
          <a:p>
            <a:pPr indent="0" marL="0">
              <a:buNone/>
            </a:pPr>
            <a:r>
              <a:rPr lang="en-US" sz="1600" dirty="0">
                <a:solidFill>
                  <a:schemeClr val="tx2"/>
                </a:solidFill>
              </a:rPr>
              <a:t>Unique for each policy and each path of the environment; uncertainty as declared laws.</a:t>
            </a:r>
            <a:endParaRPr lang="en-US" sz="1600" dirty="0"/>
          </a:p>
        </p:txBody>
      </p:sp>
      <p:sp>
        <p:nvSpPr>
          <p:cNvPr id="13" name="Card"/>
          <p:cNvSpPr/>
          <p:nvPr/>
        </p:nvSpPr>
        <p:spPr>
          <a:xfrm>
            <a:off x="6233008" y="1691640"/>
            <a:ext cx="2567864" cy="338328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(iii) Worth</a:t>
            </a:r>
            <a:endParaRPr lang="en-US" sz="1300" dirty="0"/>
          </a:p>
        </p:txBody>
      </p:sp>
      <p:sp>
        <p:nvSpPr>
          <p:cNvPr id="15" name="Card head"/>
          <p:cNvSpPr txBox="1"/>
          <p:nvPr/>
        </p:nvSpPr>
        <p:spPr>
          <a:xfrm>
            <a:off x="6415888" y="2148840"/>
            <a:ext cx="2202104" cy="11247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declared value functional</a:t>
            </a:r>
            <a:endParaRPr lang="en-US" sz="2000" dirty="0"/>
          </a:p>
        </p:txBody>
      </p:sp>
      <p:sp>
        <p:nvSpPr>
          <p:cNvPr id="16" name="Card text"/>
          <p:cNvSpPr txBox="1"/>
          <p:nvPr/>
        </p:nvSpPr>
        <p:spPr>
          <a:xfrm>
            <a:off x="6415888" y="3346704"/>
            <a:ext cx="2202104" cy="1600200"/>
          </a:xfrm>
          <a:prstGeom prst="rect">
            <a:avLst/>
          </a:prstGeom>
          <a:noFill/>
          <a:ln/>
        </p:spPr>
        <p:txBody>
          <a:bodyPr wrap="square" lIns="0" tIns="0" rIns="0" bIns="0" rtlCol="0" anchor="t"/>
          <a:lstStyle/>
          <a:p>
            <a:pPr indent="0" marL="0">
              <a:buNone/>
            </a:pPr>
            <a:r>
              <a:rPr lang="en-US" sz="1600" dirty="0">
                <a:solidFill>
                  <a:schemeClr val="tx2"/>
                </a:solidFill>
              </a:rPr>
              <a:t>Conflicts among worths are frontier structure, not paradox (Theorem 15.5).</a:t>
            </a:r>
            <a:endParaRPr lang="en-US" sz="1600" dirty="0"/>
          </a:p>
        </p:txBody>
      </p:sp>
      <p:sp>
        <p:nvSpPr>
          <p:cNvPr id="17" name="Card"/>
          <p:cNvSpPr/>
          <p:nvPr/>
        </p:nvSpPr>
        <p:spPr>
          <a:xfrm>
            <a:off x="9075191" y="1691640"/>
            <a:ext cx="2567864" cy="338328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(iv) Choice</a:t>
            </a:r>
            <a:endParaRPr lang="en-US" sz="1300" dirty="0"/>
          </a:p>
        </p:txBody>
      </p:sp>
      <p:sp>
        <p:nvSpPr>
          <p:cNvPr id="19" name="Card head"/>
          <p:cNvSpPr txBox="1"/>
          <p:nvPr/>
        </p:nvSpPr>
        <p:spPr>
          <a:xfrm>
            <a:off x="9258071" y="2148840"/>
            <a:ext cx="2202104" cy="112471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The GEOP of the declaration</a:t>
            </a:r>
            <a:endParaRPr lang="en-US" sz="2000" dirty="0"/>
          </a:p>
        </p:txBody>
      </p:sp>
      <p:sp>
        <p:nvSpPr>
          <p:cNvPr id="20" name="Card text"/>
          <p:cNvSpPr txBox="1"/>
          <p:nvPr/>
        </p:nvSpPr>
        <p:spPr>
          <a:xfrm>
            <a:off x="9258071" y="3346704"/>
            <a:ext cx="2202104" cy="1600200"/>
          </a:xfrm>
          <a:prstGeom prst="rect">
            <a:avLst/>
          </a:prstGeom>
          <a:noFill/>
          <a:ln/>
        </p:spPr>
        <p:txBody>
          <a:bodyPr wrap="square" lIns="0" tIns="0" rIns="0" bIns="0" rtlCol="0" anchor="t"/>
          <a:lstStyle/>
          <a:p>
            <a:pPr indent="0" marL="0">
              <a:buNone/>
            </a:pPr>
            <a:r>
              <a:rPr lang="en-US" sz="1600" dirty="0">
                <a:solidFill>
                  <a:schemeClr val="bg2"/>
                </a:solidFill>
              </a:rPr>
              <a:t>With existence, characterization, prices and stability as Theorem 15.7 certifies.</a:t>
            </a:r>
            <a:endParaRPr lang="en-US" sz="1600" dirty="0"/>
          </a:p>
        </p:txBody>
      </p:sp>
      <p:sp>
        <p:nvSpPr>
          <p:cNvPr id="21" name="Lead"/>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Optimization depends on unification: until the books close, there is no problem to solve.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§16.4 · THEOREM 16.4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gates stand between ambition and optimizer</a:t>
            </a:r>
            <a:endParaRPr lang="en-US" sz="3200" dirty="0"/>
          </a:p>
        </p:txBody>
      </p:sp>
      <p:sp>
        <p:nvSpPr>
          <p:cNvPr id="5" name="Result card"/>
          <p:cNvSpPr/>
          <p:nvPr/>
        </p:nvSpPr>
        <p:spPr>
          <a:xfrm>
            <a:off x="548640" y="1691640"/>
            <a:ext cx="63093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7607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16.4</a:t>
            </a:r>
            <a:endParaRPr lang="en-US" sz="1200" dirty="0"/>
          </a:p>
        </p:txBody>
      </p:sp>
      <p:sp>
        <p:nvSpPr>
          <p:cNvPr id="7" name="Text 4"/>
          <p:cNvSpPr txBox="1"/>
          <p:nvPr/>
        </p:nvSpPr>
        <p:spPr>
          <a:xfrm>
            <a:off x="822960" y="2194560"/>
            <a:ext cx="57607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Optimization Readiness Theorem</a:t>
            </a:r>
            <a:endParaRPr lang="en-US" sz="2100" dirty="0"/>
          </a:p>
        </p:txBody>
      </p:sp>
      <p:sp>
        <p:nvSpPr>
          <p:cNvPr id="8" name="Bullets"/>
          <p:cNvSpPr txBox="1"/>
          <p:nvPr/>
        </p:nvSpPr>
        <p:spPr>
          <a:xfrm>
            <a:off x="822960" y="2743200"/>
            <a:ext cx="576072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(R1) Declaration completeness:</a:t>
            </a:r>
            <a:r>
              <a:rPr lang="en-US" sz="1700" dirty="0">
                <a:solidFill>
                  <a:schemeClr val="tx1"/>
                </a:solidFill>
              </a:rPr>
              <a:t> every element of the GEOP declared, with an owner. Artifact: the inventory</a:t>
            </a:r>
            <a:endParaRPr lang="en-US" sz="1700" dirty="0"/>
          </a:p>
          <a:p>
            <a:pPr marL="228600" indent="-228600">
              <a:spcAft>
                <a:spcPts val="600"/>
              </a:spcAft>
              <a:buSzPct val="100000"/>
              <a:buChar char="•"/>
            </a:pPr>
            <a:r>
              <a:rPr lang="en-US" sz="1700" b="1" dirty="0">
                <a:solidFill>
                  <a:schemeClr val="tx1"/>
                </a:solidFill>
              </a:rPr>
              <a:t>(R2) Unified consistency:</a:t>
            </a:r>
            <a:r>
              <a:rPr lang="en-US" sz="1700" dirty="0">
                <a:solidFill>
                  <a:schemeClr val="tx1"/>
                </a:solidFill>
              </a:rPr>
              <a:t> the commitments can hold together. Artifact: the certificate, or a minimal set</a:t>
            </a:r>
            <a:endParaRPr lang="en-US" sz="1700" dirty="0"/>
          </a:p>
          <a:p>
            <a:pPr marL="228600" indent="-228600">
              <a:spcAft>
                <a:spcPts val="600"/>
              </a:spcAft>
              <a:buSzPct val="100000"/>
              <a:buChar char="•"/>
            </a:pPr>
            <a:r>
              <a:rPr lang="en-US" sz="1700" b="1" dirty="0">
                <a:solidFill>
                  <a:schemeClr val="tx1"/>
                </a:solidFill>
              </a:rPr>
              <a:t>(R3) Analytical panel:</a:t>
            </a:r>
            <a:r>
              <a:rPr lang="en-US" sz="1700" dirty="0">
                <a:solidFill>
                  <a:schemeClr val="tx1"/>
                </a:solidFill>
              </a:rPr>
              <a:t> A1–A5 with the gain audit current; compact decisions, continuous data</a:t>
            </a:r>
            <a:endParaRPr lang="en-US" sz="1700" dirty="0"/>
          </a:p>
          <a:p>
            <a:pPr marL="228600" indent="-228600">
              <a:spcAft>
                <a:spcPts val="600"/>
              </a:spcAft>
              <a:buSzPct val="100000"/>
              <a:buChar char="•"/>
            </a:pPr>
            <a:r>
              <a:rPr lang="en-US" sz="1700" b="1" dirty="0">
                <a:solidFill>
                  <a:schemeClr val="tx1"/>
                </a:solidFill>
              </a:rPr>
              <a:t>(R4) Feasibility with horizon honesty:</a:t>
            </a:r>
            <a:r>
              <a:rPr lang="en-US" sz="1700" dirty="0">
                <a:solidFill>
                  <a:schemeClr val="tx1"/>
                </a:solidFill>
              </a:rPr>
              <a:t> some policy keeps every commitment over the whole horizon</a:t>
            </a:r>
            <a:endParaRPr lang="en-US" sz="1700" dirty="0"/>
          </a:p>
        </p:txBody>
      </p:sp>
      <p:sp>
        <p:nvSpPr>
          <p:cNvPr id="9" name="Text 6"/>
          <p:cNvSpPr txBox="1"/>
          <p:nvPr/>
        </p:nvSpPr>
        <p:spPr>
          <a:xfrm>
            <a:off x="7269480" y="1737360"/>
            <a:ext cx="437357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7269480" y="2194560"/>
            <a:ext cx="437357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Readiness is equivalent to passing the four gates, in order; a ready company's GEOP has an optimal policy</a:t>
            </a:r>
            <a:endParaRPr lang="en-US" sz="1600" dirty="0"/>
          </a:p>
          <a:p>
            <a:pPr marL="228600" indent="-228600">
              <a:spcAft>
                <a:spcPts val="800"/>
              </a:spcAft>
              <a:buSzPct val="100000"/>
              <a:buChar char="•"/>
            </a:pPr>
            <a:r>
              <a:rPr lang="en-US" sz="1600" dirty="0">
                <a:solidFill>
                  <a:schemeClr val="tx1"/>
                </a:solidFill>
              </a:rPr>
              <a:t>No gate implies the next, and none can be dropped: without (R3) there can be feasible plans but no best one</a:t>
            </a:r>
            <a:endParaRPr lang="en-US" sz="1600" dirty="0"/>
          </a:p>
          <a:p>
            <a:pPr marL="228600" indent="-228600">
              <a:spcAft>
                <a:spcPts val="800"/>
              </a:spcAft>
              <a:buSzPct val="100000"/>
              <a:buChar char="•"/>
            </a:pPr>
            <a:r>
              <a:rPr lang="en-US" sz="1600" dirty="0">
                <a:solidFill>
                  <a:schemeClr val="tx1"/>
                </a:solidFill>
              </a:rPr>
              <a:t>Every failure returns its artifact, which names the owners who must act: a work order, not a verdict</a:t>
            </a:r>
            <a:endParaRPr lang="en-US" sz="1600" dirty="0"/>
          </a:p>
          <a:p>
            <a:pPr marL="228600" indent="-228600">
              <a:spcAft>
                <a:spcPts val="800"/>
              </a:spcAft>
              <a:buSzPct val="100000"/>
              <a:buChar char="•"/>
            </a:pPr>
            <a:r>
              <a:rPr lang="en-US" sz="1600" dirty="0">
                <a:solidFill>
                  <a:schemeClr val="tx1"/>
                </a:solidFill>
              </a:rPr>
              <a:t>Readiness, not tooling, is the adoption milestone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§16.4 · DEFINITION 16.2 · FIGURE 16.1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Readiness runs as a loop, not an examination</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16.2.</a:t>
            </a:r>
            <a:r>
              <a:rPr lang="en-US" sz="1600" dirty="0">
                <a:solidFill>
                  <a:schemeClr val="tx1"/>
                </a:solidFill>
              </a:rPr>
              <a:t> The seven moves of the DCT Map run as a loop: represent, analyze, certify, optimize, execute, monitor, adapt</a:t>
            </a:r>
            <a:endParaRPr lang="en-US" sz="1600" dirty="0"/>
          </a:p>
          <a:p>
            <a:pPr marL="228600" indent="-228600">
              <a:spcAft>
                <a:spcPts val="800"/>
              </a:spcAft>
              <a:buSzPct val="100000"/>
              <a:buChar char="•"/>
            </a:pPr>
            <a:r>
              <a:rPr lang="en-US" sz="1600" dirty="0">
                <a:solidFill>
                  <a:schemeClr val="tx1"/>
                </a:solidFill>
              </a:rPr>
              <a:t>The gates sit where representation is handed to analysis (R1), the unified system to certification (R2), and before anything is optimized (R3, R4)</a:t>
            </a:r>
            <a:endParaRPr lang="en-US" sz="1600" dirty="0"/>
          </a:p>
          <a:p>
            <a:pPr marL="228600" indent="-228600">
              <a:spcAft>
                <a:spcPts val="800"/>
              </a:spcAft>
              <a:buSzPct val="100000"/>
              <a:buChar char="•"/>
            </a:pPr>
            <a:r>
              <a:rPr lang="en-US" sz="1600" dirty="0">
                <a:solidFill>
                  <a:schemeClr val="tx1"/>
                </a:solidFill>
              </a:rPr>
              <a:t>One pass is a planning cycle; a certificate earned last year need not hold this year</a:t>
            </a:r>
            <a:endParaRPr lang="en-US" sz="1600" dirty="0"/>
          </a:p>
          <a:p>
            <a:pPr marL="228600" indent="-228600">
              <a:spcAft>
                <a:spcPts val="800"/>
              </a:spcAft>
              <a:buSzPct val="100000"/>
              <a:buChar char="•"/>
            </a:pPr>
            <a:r>
              <a:rPr lang="en-US" sz="1600" dirty="0">
                <a:solidFill>
                  <a:schemeClr val="tx1"/>
                </a:solidFill>
              </a:rPr>
              <a:t>Volume I builds the upper half and poses the optimization; Volume II solves it</a:t>
            </a:r>
            <a:endParaRPr lang="en-US" sz="1600" dirty="0"/>
          </a:p>
        </p:txBody>
      </p:sp>
      <p:pic>
        <p:nvPicPr>
          <p:cNvPr id="6" name="Figure" descr="Figure 16.1: the transformation lifecycle and the readiness gates">    </p:cNvPr>
          <p:cNvPicPr>
            <a:picLocks noChangeAspect="1"/>
          </p:cNvPicPr>
          <p:nvPr/>
        </p:nvPicPr>
        <p:blipFill>
          <a:blip r:embed="rId1"/>
          <a:stretch>
            <a:fillRect/>
          </a:stretch>
        </p:blipFill>
        <p:spPr>
          <a:xfrm>
            <a:off x="5680352" y="1691640"/>
            <a:ext cx="5451637" cy="3913632"/>
          </a:xfrm>
          <a:prstGeom prst="rect">
            <a:avLst/>
          </a:prstGeom>
        </p:spPr>
      </p:pic>
      <p:sp>
        <p:nvSpPr>
          <p:cNvPr id="7" name="Caption"/>
          <p:cNvSpPr txBox="1"/>
          <p:nvPr/>
        </p:nvSpPr>
        <p:spPr>
          <a:xfrm>
            <a:off x="5169286" y="5678424"/>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16.1. The transformation lifecycle and the readiness gates.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§16.5 · THEOREM 16.5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Results depend on models only through contracts</a:t>
            </a:r>
            <a:endParaRPr lang="en-US" sz="3200" dirty="0"/>
          </a:p>
        </p:txBody>
      </p:sp>
      <p:sp>
        <p:nvSpPr>
          <p:cNvPr id="5" name="Result card"/>
          <p:cNvSpPr/>
          <p:nvPr/>
        </p:nvSpPr>
        <p:spPr>
          <a:xfrm>
            <a:off x="548640" y="1691640"/>
            <a:ext cx="612648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5778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16.5</a:t>
            </a:r>
            <a:endParaRPr lang="en-US" sz="1200" dirty="0"/>
          </a:p>
        </p:txBody>
      </p:sp>
      <p:sp>
        <p:nvSpPr>
          <p:cNvPr id="7" name="Text 4"/>
          <p:cNvSpPr txBox="1"/>
          <p:nvPr/>
        </p:nvSpPr>
        <p:spPr>
          <a:xfrm>
            <a:off x="822960" y="2194560"/>
            <a:ext cx="557784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Disciplinary Integration Theorem</a:t>
            </a:r>
            <a:endParaRPr lang="en-US" sz="2100" dirty="0"/>
          </a:p>
        </p:txBody>
      </p:sp>
      <p:sp>
        <p:nvSpPr>
          <p:cNvPr id="8" name="Bullets"/>
          <p:cNvSpPr txBox="1"/>
          <p:nvPr/>
        </p:nvSpPr>
        <p:spPr>
          <a:xfrm>
            <a:off x="822960" y="2743200"/>
            <a:ext cx="557784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 Well founded.</a:t>
            </a:r>
            <a:r>
              <a:rPr lang="en-US" sz="1700" dirty="0">
                <a:solidFill>
                  <a:schemeClr val="tx1"/>
                </a:solidFill>
              </a:rPr>
              <a:t> No result rests on a later chapter's, and the citations contain no loop</a:t>
            </a:r>
            <a:endParaRPr lang="en-US" sz="1700" dirty="0"/>
          </a:p>
          <a:p>
            <a:pPr marL="228600" indent="-228600">
              <a:spcAft>
                <a:spcPts val="600"/>
              </a:spcAft>
              <a:buSzPct val="100000"/>
              <a:buChar char="•"/>
            </a:pPr>
            <a:r>
              <a:rPr lang="en-US" sz="1700" b="1" dirty="0">
                <a:solidFill>
                  <a:schemeClr val="tx1"/>
                </a:solidFill>
              </a:rPr>
              <a:t>(ii) Modular at its contracts.</a:t>
            </a:r>
            <a:r>
              <a:rPr lang="en-US" sz="1700" dirty="0">
                <a:solidFill>
                  <a:schemeClr val="tx1"/>
                </a:solidFill>
              </a:rPr>
              <a:t> A model that honors a layer's contract keeps every result that refers to the layer only through it</a:t>
            </a:r>
            <a:endParaRPr lang="en-US" sz="1700" dirty="0"/>
          </a:p>
          <a:p>
            <a:pPr marL="228600" indent="-228600">
              <a:spcAft>
                <a:spcPts val="600"/>
              </a:spcAft>
              <a:buSzPct val="100000"/>
              <a:buChar char="•"/>
            </a:pPr>
            <a:r>
              <a:rPr lang="en-US" sz="1700" dirty="0">
                <a:solidFill>
                  <a:schemeClr val="tx1"/>
                </a:solidFill>
              </a:rPr>
              <a:t>Within the register's ceilings the true dynamics are at least as stable as the register: ρ(A) ≤ ρ(M)</a:t>
            </a:r>
            <a:endParaRPr lang="en-US" sz="1700" dirty="0"/>
          </a:p>
          <a:p>
            <a:pPr marL="228600" indent="-228600">
              <a:spcAft>
                <a:spcPts val="600"/>
              </a:spcAft>
              <a:buSzPct val="100000"/>
              <a:buChar char="•"/>
            </a:pPr>
            <a:r>
              <a:rPr lang="en-US" sz="1700" b="1" dirty="0">
                <a:solidFill>
                  <a:schemeClr val="tx1"/>
                </a:solidFill>
              </a:rPr>
              <a:t>(iii) Extensible</a:t>
            </a:r>
            <a:r>
              <a:rPr lang="en-US" sz="1700" dirty="0">
                <a:solidFill>
                  <a:schemeClr val="tx1"/>
                </a:solidFill>
              </a:rPr>
              <a:t> at three points: models behind contracts, new layers, new solution methods</a:t>
            </a:r>
            <a:endParaRPr lang="en-US" sz="1700" dirty="0"/>
          </a:p>
        </p:txBody>
      </p:sp>
      <p:sp>
        <p:nvSpPr>
          <p:cNvPr id="9" name="Text 6"/>
          <p:cNvSpPr txBox="1"/>
          <p:nvPr/>
        </p:nvSpPr>
        <p:spPr>
          <a:xfrm>
            <a:off x="7086600" y="1737360"/>
            <a:ext cx="455645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7086600" y="2194560"/>
            <a:ext cx="455645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Four core links at ceilings of 0.40 certify a spectral radius of </a:t>
            </a:r>
            <a:r>
              <a:rPr lang="en-US" sz="1600" b="1" dirty="0">
                <a:solidFill>
                  <a:schemeClr val="tx1"/>
                </a:solidFill>
              </a:rPr>
              <a:t>0.80</a:t>
            </a:r>
            <a:r>
              <a:rPr lang="en-US" sz="1600" dirty="0">
                <a:solidFill>
                  <a:schemeClr val="tx1"/>
                </a:solidFill>
              </a:rPr>
              <a:t>, a half-life of 3.1 quarters and a multiplier of 5</a:t>
            </a:r>
            <a:endParaRPr lang="en-US" sz="1600" dirty="0"/>
          </a:p>
          <a:p>
            <a:pPr marL="228600" indent="-228600">
              <a:spcAft>
                <a:spcPts val="800"/>
              </a:spcAft>
              <a:buSzPct val="100000"/>
              <a:buChar char="•"/>
            </a:pPr>
            <a:r>
              <a:rPr lang="en-US" sz="1600" dirty="0">
                <a:solidFill>
                  <a:schemeClr val="tx1"/>
                </a:solidFill>
              </a:rPr>
              <a:t>A $10m shock at Digital echoes by at most </a:t>
            </a:r>
            <a:r>
              <a:rPr lang="en-US" sz="1600" b="1" dirty="0">
                <a:solidFill>
                  <a:schemeClr val="tx1"/>
                </a:solidFill>
              </a:rPr>
              <a:t>$8m</a:t>
            </a:r>
            <a:r>
              <a:rPr lang="en-US" sz="1600" dirty="0">
                <a:solidFill>
                  <a:schemeClr val="tx1"/>
                </a:solidFill>
              </a:rPr>
              <a:t> next quarter, $6.4m the quarter after, </a:t>
            </a:r>
            <a:r>
              <a:rPr lang="en-US" sz="1600" b="1" dirty="0">
                <a:solidFill>
                  <a:schemeClr val="tx1"/>
                </a:solidFill>
              </a:rPr>
              <a:t>$50m</a:t>
            </a:r>
            <a:r>
              <a:rPr lang="en-US" sz="1600" dirty="0">
                <a:solidFill>
                  <a:schemeClr val="tx1"/>
                </a:solidFill>
              </a:rPr>
              <a:t> in all</a:t>
            </a:r>
            <a:endParaRPr lang="en-US" sz="1600" dirty="0"/>
          </a:p>
          <a:p>
            <a:pPr marL="228600" indent="-228600">
              <a:spcAft>
                <a:spcPts val="800"/>
              </a:spcAft>
              <a:buSzPct val="100000"/>
              <a:buChar char="•"/>
            </a:pPr>
            <a:r>
              <a:rPr lang="en-US" sz="1600" dirty="0">
                <a:solidFill>
                  <a:schemeClr val="tx1"/>
                </a:solidFill>
              </a:rPr>
              <a:t>Whatever the true model is: the risk office needs the ceilings to hold, and the gain audit checks exactly that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§16.5 · THEOREM 16.5(I) · FIGURE 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result rests on a later chapter's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Checked mechanically on the volume's source: </a:t>
            </a:r>
            <a:r>
              <a:rPr lang="en-US" sz="1600" b="1" dirty="0">
                <a:solidFill>
                  <a:schemeClr val="tx1"/>
                </a:solidFill>
              </a:rPr>
              <a:t>211</a:t>
            </a:r>
            <a:r>
              <a:rPr lang="en-US" sz="1600" dirty="0">
                <a:solidFill>
                  <a:schemeClr val="tx1"/>
                </a:solidFill>
              </a:rPr>
              <a:t> numbered results and </a:t>
            </a:r>
            <a:r>
              <a:rPr lang="en-US" sz="1600" b="1" dirty="0">
                <a:solidFill>
                  <a:schemeClr val="tx1"/>
                </a:solidFill>
              </a:rPr>
              <a:t>302</a:t>
            </a:r>
            <a:r>
              <a:rPr lang="en-US" sz="1600" dirty="0">
                <a:solidFill>
                  <a:schemeClr val="tx1"/>
                </a:solidFill>
              </a:rPr>
              <a:t> citations among them</a:t>
            </a:r>
            <a:endParaRPr lang="en-US" sz="1600" dirty="0"/>
          </a:p>
          <a:p>
            <a:pPr marL="228600" indent="-228600">
              <a:spcAft>
                <a:spcPts val="800"/>
              </a:spcAft>
              <a:buSzPct val="100000"/>
              <a:buChar char="•"/>
            </a:pPr>
            <a:r>
              <a:rPr lang="en-US" sz="1600" b="1" dirty="0">
                <a:solidFill>
                  <a:schemeClr val="tx1"/>
                </a:solidFill>
              </a:rPr>
              <a:t>138</a:t>
            </a:r>
            <a:r>
              <a:rPr lang="en-US" sz="1600" dirty="0">
                <a:solidFill>
                  <a:schemeClr val="tx1"/>
                </a:solidFill>
              </a:rPr>
              <a:t> within a chapter, </a:t>
            </a:r>
            <a:r>
              <a:rPr lang="en-US" sz="1600" b="1" dirty="0">
                <a:solidFill>
                  <a:schemeClr val="tx1"/>
                </a:solidFill>
              </a:rPr>
              <a:t>164</a:t>
            </a:r>
            <a:r>
              <a:rPr lang="en-US" sz="1600" dirty="0">
                <a:solidFill>
                  <a:schemeClr val="tx1"/>
                </a:solidFill>
              </a:rPr>
              <a:t> to earlier chapters, </a:t>
            </a:r>
            <a:r>
              <a:rPr lang="en-US" sz="1600" b="1" dirty="0">
                <a:solidFill>
                  <a:schemeClr val="tx1"/>
                </a:solidFill>
              </a:rPr>
              <a:t>none</a:t>
            </a:r>
            <a:r>
              <a:rPr lang="en-US" sz="1600" dirty="0">
                <a:solidFill>
                  <a:schemeClr val="tx1"/>
                </a:solidFill>
              </a:rPr>
              <a:t> to a later one</a:t>
            </a:r>
            <a:endParaRPr lang="en-US" sz="1600" dirty="0"/>
          </a:p>
          <a:p>
            <a:pPr marL="228600" indent="-228600">
              <a:spcAft>
                <a:spcPts val="800"/>
              </a:spcAft>
              <a:buSzPct val="100000"/>
              <a:buChar char="•"/>
            </a:pPr>
            <a:r>
              <a:rPr lang="en-US" sz="1600" dirty="0">
                <a:solidFill>
                  <a:schemeClr val="tx1"/>
                </a:solidFill>
              </a:rPr>
              <a:t>Nine pointers to illustrations the citing proofs do not use are set aside; then there is no loop</a:t>
            </a:r>
            <a:endParaRPr lang="en-US" sz="1600" dirty="0"/>
          </a:p>
          <a:p>
            <a:pPr marL="228600" indent="-228600">
              <a:spcAft>
                <a:spcPts val="800"/>
              </a:spcAft>
              <a:buSzPct val="100000"/>
              <a:buChar char="•"/>
            </a:pPr>
            <a:r>
              <a:rPr lang="en-US" sz="1600" dirty="0">
                <a:solidFill>
                  <a:schemeClr val="tx1"/>
                </a:solidFill>
              </a:rPr>
              <a:t>The longest chains run </a:t>
            </a:r>
            <a:r>
              <a:rPr lang="en-US" sz="1600" b="1" dirty="0">
                <a:solidFill>
                  <a:schemeClr val="tx1"/>
                </a:solidFill>
              </a:rPr>
              <a:t>15 steps</a:t>
            </a:r>
            <a:r>
              <a:rPr lang="en-US" sz="1600" dirty="0">
                <a:solidFill>
                  <a:schemeClr val="tx1"/>
                </a:solidFill>
              </a:rPr>
              <a:t>, from Theorem 16.1 down to the embedding theorem, Theorem 3.3</a:t>
            </a:r>
            <a:endParaRPr lang="en-US" sz="1600" dirty="0"/>
          </a:p>
        </p:txBody>
      </p:sp>
      <p:pic>
        <p:nvPicPr>
          <p:cNvPr id="6" name="Figure" descr="Figure 16.2: who cites whom, chapter by chapter">    </p:cNvPr>
          <p:cNvPicPr>
            <a:picLocks noChangeAspect="1"/>
          </p:cNvPicPr>
          <p:nvPr/>
        </p:nvPicPr>
        <p:blipFill>
          <a:blip r:embed="rId1"/>
          <a:stretch>
            <a:fillRect/>
          </a:stretch>
        </p:blipFill>
        <p:spPr>
          <a:xfrm>
            <a:off x="5169286" y="1712507"/>
            <a:ext cx="6473769" cy="3871898"/>
          </a:xfrm>
          <a:prstGeom prst="rect">
            <a:avLst/>
          </a:prstGeom>
        </p:spPr>
      </p:pic>
      <p:sp>
        <p:nvSpPr>
          <p:cNvPr id="7" name="Caption"/>
          <p:cNvSpPr txBox="1"/>
          <p:nvPr/>
        </p:nvSpPr>
        <p:spPr>
          <a:xfrm>
            <a:off x="5169286" y="565755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16.2. Who cites whom: every count lies on or below the diagonal.</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§16.6 · PROPOSITION 16.1 · DEFINITIONS 16.3–16.5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AI proposes; certificates dispose</a:t>
            </a:r>
            <a:endParaRPr lang="en-US" sz="3200" dirty="0"/>
          </a:p>
        </p:txBody>
      </p:sp>
      <p:sp>
        <p:nvSpPr>
          <p:cNvPr id="5" name="Result card"/>
          <p:cNvSpPr/>
          <p:nvPr/>
        </p:nvSpPr>
        <p:spPr>
          <a:xfrm>
            <a:off x="548640" y="1691640"/>
            <a:ext cx="612648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5778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16.1</a:t>
            </a:r>
            <a:endParaRPr lang="en-US" sz="1200" dirty="0"/>
          </a:p>
        </p:txBody>
      </p:sp>
      <p:sp>
        <p:nvSpPr>
          <p:cNvPr id="7" name="Text 4"/>
          <p:cNvSpPr txBox="1"/>
          <p:nvPr/>
        </p:nvSpPr>
        <p:spPr>
          <a:xfrm>
            <a:off x="822960" y="2194560"/>
            <a:ext cx="557784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AI Complements Optimization Theory</a:t>
            </a:r>
            <a:endParaRPr lang="en-US" sz="2100" dirty="0"/>
          </a:p>
        </p:txBody>
      </p:sp>
      <p:sp>
        <p:nvSpPr>
          <p:cNvPr id="8" name="Bullets"/>
          <p:cNvSpPr txBox="1"/>
          <p:nvPr/>
        </p:nvSpPr>
        <p:spPr>
          <a:xfrm>
            <a:off x="822960" y="2743200"/>
            <a:ext cx="557784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 A target needs a declaration:</a:t>
            </a:r>
            <a:r>
              <a:rPr lang="en-US" sz="1700" dirty="0">
                <a:solidFill>
                  <a:schemeClr val="tx1"/>
                </a:solidFill>
              </a:rPr>
              <a:t> with an undeclared normalization, the same scorecard ranks Meridian's options in opposite orders</a:t>
            </a:r>
            <a:endParaRPr lang="en-US" sz="1700" dirty="0"/>
          </a:p>
          <a:p>
            <a:pPr marL="228600" indent="-228600">
              <a:spcAft>
                <a:spcPts val="600"/>
              </a:spcAft>
              <a:buSzPct val="100000"/>
              <a:buChar char="•"/>
            </a:pPr>
            <a:r>
              <a:rPr lang="en-US" sz="1700" b="1" dirty="0">
                <a:solidFill>
                  <a:schemeClr val="tx1"/>
                </a:solidFill>
              </a:rPr>
              <a:t>(ii) Tests are not certificates:</a:t>
            </a:r>
            <a:r>
              <a:rPr lang="en-US" sz="1700" dirty="0">
                <a:solidFill>
                  <a:schemeClr val="tx1"/>
                </a:solidFill>
              </a:rPr>
              <a:t> a model that passes every test can fail on an untested case</a:t>
            </a:r>
            <a:endParaRPr lang="en-US" sz="1700" dirty="0"/>
          </a:p>
          <a:p>
            <a:pPr marL="228600" indent="-228600">
              <a:spcAft>
                <a:spcPts val="600"/>
              </a:spcAft>
              <a:buSzPct val="100000"/>
              <a:buChar char="•"/>
            </a:pPr>
            <a:r>
              <a:rPr lang="en-US" sz="1700" b="1" dirty="0">
                <a:solidFill>
                  <a:schemeClr val="tx1"/>
                </a:solidFill>
              </a:rPr>
              <a:t>(iii) Learning searches; it does not redefine:</a:t>
            </a:r>
            <a:r>
              <a:rPr lang="en-US" sz="1700" dirty="0">
                <a:solidFill>
                  <a:schemeClr val="tx1"/>
                </a:solidFill>
              </a:rPr>
              <a:t> no policy beats its class's optimum</a:t>
            </a:r>
            <a:endParaRPr lang="en-US" sz="1700" dirty="0"/>
          </a:p>
        </p:txBody>
      </p:sp>
      <p:sp>
        <p:nvSpPr>
          <p:cNvPr id="9" name="Text 6"/>
          <p:cNvSpPr txBox="1"/>
          <p:nvPr/>
        </p:nvSpPr>
        <p:spPr>
          <a:xfrm>
            <a:off x="7086600" y="1737360"/>
            <a:ext cx="4556455" cy="365760"/>
          </a:xfrm>
          <a:prstGeom prst="rect">
            <a:avLst/>
          </a:prstGeom>
          <a:noFill/>
          <a:ln/>
        </p:spPr>
        <p:txBody>
          <a:bodyPr wrap="square" lIns="0" tIns="0" rIns="0" bIns="0" rtlCol="0" anchor="ctr"/>
          <a:lstStyle/>
          <a:p>
            <a:pPr indent="0" marL="0">
              <a:buNone/>
            </a:pPr>
            <a:r>
              <a:rPr lang="en-US" sz="1600" b="1" dirty="0">
                <a:solidFill>
                  <a:schemeClr val="accent2"/>
                </a:solidFill>
              </a:rPr>
              <a:t>The framework's position</a:t>
            </a:r>
            <a:endParaRPr lang="en-US" sz="1600" dirty="0"/>
          </a:p>
        </p:txBody>
      </p:sp>
      <p:sp>
        <p:nvSpPr>
          <p:cNvPr id="10" name="Bullets"/>
          <p:cNvSpPr txBox="1"/>
          <p:nvPr/>
        </p:nvSpPr>
        <p:spPr>
          <a:xfrm>
            <a:off x="7086600" y="2194560"/>
            <a:ext cx="455645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To the enthusiast:</a:t>
            </a:r>
            <a:r>
              <a:rPr lang="en-US" sz="1600" dirty="0">
                <a:solidFill>
                  <a:schemeClr val="tx1"/>
                </a:solidFill>
              </a:rPr>
              <a:t> a learned system that cannot say which GEOP it solves, under which audits, is an unaccountable recommender</a:t>
            </a:r>
            <a:endParaRPr lang="en-US" sz="1600" dirty="0"/>
          </a:p>
          <a:p>
            <a:pPr marL="228600" indent="-228600">
              <a:spcAft>
                <a:spcPts val="800"/>
              </a:spcAft>
              <a:buSzPct val="100000"/>
              <a:buChar char="•"/>
            </a:pPr>
            <a:r>
              <a:rPr lang="en-US" sz="1600" b="1" dirty="0">
                <a:solidFill>
                  <a:schemeClr val="tx1"/>
                </a:solidFill>
              </a:rPr>
              <a:t>To the skeptic:</a:t>
            </a:r>
            <a:r>
              <a:rPr lang="en-US" sz="1600" dirty="0">
                <a:solidFill>
                  <a:schemeClr val="tx1"/>
                </a:solidFill>
              </a:rPr>
              <a:t> rules that read rich, fast data are in practice searchable only by learning</a:t>
            </a:r>
            <a:endParaRPr lang="en-US" sz="1600" dirty="0"/>
          </a:p>
          <a:p>
            <a:pPr marL="228600" indent="-228600">
              <a:spcAft>
                <a:spcPts val="800"/>
              </a:spcAft>
              <a:buSzPct val="100000"/>
              <a:buChar char="•"/>
            </a:pPr>
            <a:r>
              <a:rPr lang="en-US" sz="1600" b="1" dirty="0">
                <a:solidFill>
                  <a:schemeClr val="tx1"/>
                </a:solidFill>
              </a:rPr>
              <a:t>A digital twin</a:t>
            </a:r>
            <a:r>
              <a:rPr lang="en-US" sz="1600" dirty="0">
                <a:solidFill>
                  <a:schemeClr val="tx1"/>
                </a:solidFill>
              </a:rPr>
              <a:t> is a live declaration under continuous audit (Definition 16.4)</a:t>
            </a:r>
            <a:endParaRPr lang="en-US" sz="1600" dirty="0"/>
          </a:p>
          <a:p>
            <a:pPr marL="228600" indent="-228600">
              <a:spcAft>
                <a:spcPts val="800"/>
              </a:spcAft>
              <a:buSzPct val="100000"/>
              <a:buChar char="•"/>
            </a:pPr>
            <a:r>
              <a:rPr lang="en-US" sz="1600" b="1" dirty="0">
                <a:solidFill>
                  <a:schemeClr val="tx1"/>
                </a:solidFill>
              </a:rPr>
              <a:t>Autonomy</a:t>
            </a:r>
            <a:r>
              <a:rPr lang="en-US" sz="1600" dirty="0">
                <a:solidFill>
                  <a:schemeClr val="tx1"/>
                </a:solidFill>
              </a:rPr>
              <a:t> is an envelope of commitments, with owners and a price (Definition 16.5)</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§16.7 · DEFINITION 16.6 · TABLE 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open problems, each at a declared point</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50136"/>
                <a:gridCol w="5501363"/>
                <a:gridCol w="5042916"/>
              </a:tblGrid>
              <a:tr h="402336">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Open problem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Extension point; what it inherits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richer capital: intangibles, data, networks, assets valued by model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model behind the capital contract; every downstream result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performance for many stakeholders under the Goodhart limit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model behind the performance contract; the GEOP's objectives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dependent, heavy-tailed, and regime-switching uncertainty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model behind the uncertainty contract; the risk calculus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ecosystems: several companies' declarations coupled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new layer; compatibility, the register calculus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b="1" dirty="0">
                          <a:solidFill>
                            <a:srgbClr val="0F1E3D"/>
                          </a:solidFill>
                          <a:latin typeface="Calibri" pitchFamily="34" charset="0"/>
                          <a:ea typeface="Calibri" pitchFamily="34" charset="-122"/>
                          <a:cs typeface="Calibri" pitchFamily="34" charset="-120"/>
                        </a:rPr>
                        <a:t>O5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safe evolution: optimizing over declarations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new structure; the lifecycle and the readiness gates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estimating registers, gains, and laws with audit-grade guarantees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new structure; the gain audit and the certificates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methods at enterprise scale for nonconvex, mixed, dynamic GEOPs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method for the canonical form; Volume II</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certificates for learned components and policies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method for the canonical form; the admission contract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3492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16.2, abridged. O1–O3 replace models behind existing contracts, O4–O6 add structure, O7–O8 are methods; O5 is the summit.</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Adaptation changes within the declaration; evolution changes the declaration itself (Definition 16.6).</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§16.7 · TABLE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Volume I poses the problem; Volume II solves it</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547208"/>
                <a:gridCol w="5547208"/>
              </a:tblGrid>
              <a:tr h="47548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Volume I delivers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Volume II develops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unified system and its certificates (Chs. 13–14)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methods that consume the certificates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GEOP and its audits (Ch. 15)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algorithms for each method family (Table 15.4)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multipliers, costates, and frontiers, with their meaning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their computation at enterprise scale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policy classes with priced information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policy search and learning under certificates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decomposition with coordination prices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distributed and hierarchical computation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honesty clauses and the readiness gates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same clauses and gates, enforced in every application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578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Travel light: the canonical form from memory; no computed claim without its grade; consistency, then viability, then optimization; the honesty clauses as standing objections.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Volume I: what the company is, and whether its declarations hold together. Volume II: how to compute.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Is Meridian ready to optimize?</a:t>
            </a:r>
            <a:endParaRPr lang="en-US" sz="3200" dirty="0"/>
          </a:p>
        </p:txBody>
      </p:sp>
      <p:sp>
        <p:nvSpPr>
          <p:cNvPr id="5" name="Card"/>
          <p:cNvSpPr/>
          <p:nvPr/>
        </p:nvSpPr>
        <p:spPr>
          <a:xfrm>
            <a:off x="548640" y="1691640"/>
            <a:ext cx="3515258" cy="3429000"/>
          </a:xfrm>
          <a:prstGeom prst="roundRect">
            <a:avLst>
              <a:gd name="adj" fmla="val 213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7" name="Card head"/>
          <p:cNvSpPr txBox="1"/>
          <p:nvPr/>
        </p:nvSpPr>
        <p:spPr>
          <a:xfrm>
            <a:off x="731520" y="2148840"/>
            <a:ext cx="3149498" cy="1216152"/>
          </a:xfrm>
          <a:prstGeom prst="rect">
            <a:avLst/>
          </a:prstGeom>
          <a:noFill/>
          <a:ln/>
        </p:spPr>
        <p:txBody>
          <a:bodyPr wrap="square" lIns="0" tIns="0" rIns="0" bIns="0" rtlCol="0" anchor="t"/>
          <a:lstStyle/>
          <a:p>
            <a:pPr indent="0" marL="0">
              <a:buNone/>
            </a:pPr>
            <a:r>
              <a:rPr lang="en-US" sz="2300" b="1" dirty="0">
                <a:solidFill>
                  <a:schemeClr val="tx1"/>
                </a:solidFill>
                <a:latin typeface="Cambria" pitchFamily="34" charset="0"/>
                <a:ea typeface="Cambria" pitchFamily="34" charset="-122"/>
                <a:cs typeface="Cambria" pitchFamily="34" charset="-120"/>
              </a:rPr>
              <a:t>The digital program is approved</a:t>
            </a:r>
            <a:endParaRPr lang="en-US" sz="2300" dirty="0"/>
          </a:p>
        </p:txBody>
      </p:sp>
      <p:sp>
        <p:nvSpPr>
          <p:cNvPr id="8" name="Card text"/>
          <p:cNvSpPr txBox="1"/>
          <p:nvPr/>
        </p:nvSpPr>
        <p:spPr>
          <a:xfrm>
            <a:off x="731520" y="3438144"/>
            <a:ext cx="3149498" cy="1554480"/>
          </a:xfrm>
          <a:prstGeom prst="rect">
            <a:avLst/>
          </a:prstGeom>
          <a:noFill/>
          <a:ln/>
        </p:spPr>
        <p:txBody>
          <a:bodyPr wrap="square" lIns="0" tIns="0" rIns="0" bIns="0" rtlCol="0" anchor="t"/>
          <a:lstStyle/>
          <a:p>
            <a:pPr indent="0" marL="0">
              <a:buNone/>
            </a:pPr>
            <a:r>
              <a:rPr lang="en-US" sz="1800" dirty="0">
                <a:solidFill>
                  <a:schemeClr val="tx2"/>
                </a:solidFill>
              </a:rPr>
              <a:t>With the risk package of Chapter 15: a $170m standby line and a delay of two months.</a:t>
            </a:r>
            <a:endParaRPr lang="en-US" sz="1800" dirty="0"/>
          </a:p>
        </p:txBody>
      </p:sp>
      <p:sp>
        <p:nvSpPr>
          <p:cNvPr id="9" name="Card"/>
          <p:cNvSpPr/>
          <p:nvPr/>
        </p:nvSpPr>
        <p:spPr>
          <a:xfrm>
            <a:off x="4338218" y="1691640"/>
            <a:ext cx="3515258" cy="3429000"/>
          </a:xfrm>
          <a:prstGeom prst="roundRect">
            <a:avLst>
              <a:gd name="adj" fmla="val 213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next step</a:t>
            </a:r>
            <a:endParaRPr lang="en-US" sz="1300" dirty="0"/>
          </a:p>
        </p:txBody>
      </p:sp>
      <p:sp>
        <p:nvSpPr>
          <p:cNvPr id="11" name="Card head"/>
          <p:cNvSpPr txBox="1"/>
          <p:nvPr/>
        </p:nvSpPr>
        <p:spPr>
          <a:xfrm>
            <a:off x="4521098" y="2148840"/>
            <a:ext cx="3149498" cy="1216152"/>
          </a:xfrm>
          <a:prstGeom prst="rect">
            <a:avLst/>
          </a:prstGeom>
          <a:noFill/>
          <a:ln/>
        </p:spPr>
        <p:txBody>
          <a:bodyPr wrap="square" lIns="0" tIns="0" rIns="0" bIns="0" rtlCol="0" anchor="t"/>
          <a:lstStyle/>
          <a:p>
            <a:pPr indent="0" marL="0">
              <a:buNone/>
            </a:pPr>
            <a:r>
              <a:rPr lang="en-US" sz="2300" b="1" dirty="0">
                <a:solidFill>
                  <a:schemeClr val="tx1"/>
                </a:solidFill>
                <a:latin typeface="Cambria" pitchFamily="34" charset="0"/>
                <a:ea typeface="Cambria" pitchFamily="34" charset="-122"/>
                <a:cs typeface="Cambria" pitchFamily="34" charset="-120"/>
              </a:rPr>
              <a:t>An optimization platform, and learning tools</a:t>
            </a:r>
            <a:endParaRPr lang="en-US" sz="2300" dirty="0"/>
          </a:p>
        </p:txBody>
      </p:sp>
      <p:sp>
        <p:nvSpPr>
          <p:cNvPr id="12" name="Card text"/>
          <p:cNvSpPr txBox="1"/>
          <p:nvPr/>
        </p:nvSpPr>
        <p:spPr>
          <a:xfrm>
            <a:off x="4521098" y="3438144"/>
            <a:ext cx="3149498" cy="1554480"/>
          </a:xfrm>
          <a:prstGeom prst="rect">
            <a:avLst/>
          </a:prstGeom>
          <a:noFill/>
          <a:ln/>
        </p:spPr>
        <p:txBody>
          <a:bodyPr wrap="square" lIns="0" tIns="0" rIns="0" bIns="0" rtlCol="0" anchor="t"/>
          <a:lstStyle/>
          <a:p>
            <a:pPr indent="0" marL="0">
              <a:buNone/>
            </a:pPr>
            <a:r>
              <a:rPr lang="en-US" sz="1800" dirty="0">
                <a:solidFill>
                  <a:schemeClr val="tx2"/>
                </a:solidFill>
              </a:rPr>
              <a:t>For the whole transformation, and to monitor it.</a:t>
            </a:r>
            <a:endParaRPr lang="en-US" sz="1800" dirty="0"/>
          </a:p>
        </p:txBody>
      </p:sp>
      <p:sp>
        <p:nvSpPr>
          <p:cNvPr id="13" name="Card"/>
          <p:cNvSpPr/>
          <p:nvPr/>
        </p:nvSpPr>
        <p:spPr>
          <a:xfrm>
            <a:off x="8127797" y="1691640"/>
            <a:ext cx="3515258" cy="3429000"/>
          </a:xfrm>
          <a:prstGeom prst="roundRect">
            <a:avLst>
              <a:gd name="adj" fmla="val 213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chair</a:t>
            </a:r>
            <a:endParaRPr lang="en-US" sz="1300" dirty="0"/>
          </a:p>
        </p:txBody>
      </p:sp>
      <p:sp>
        <p:nvSpPr>
          <p:cNvPr id="15" name="Card head"/>
          <p:cNvSpPr txBox="1"/>
          <p:nvPr/>
        </p:nvSpPr>
        <p:spPr>
          <a:xfrm>
            <a:off x="8310677" y="2148840"/>
            <a:ext cx="3149498" cy="1216152"/>
          </a:xfrm>
          <a:prstGeom prst="rect">
            <a:avLst/>
          </a:prstGeom>
          <a:noFill/>
          <a:ln/>
        </p:spPr>
        <p:txBody>
          <a:bodyPr wrap="square" lIns="0" tIns="0" rIns="0" bIns="0" rtlCol="0" anchor="t"/>
          <a:lstStyle/>
          <a:p>
            <a:pPr indent="0" marL="0">
              <a:buNone/>
            </a:pPr>
            <a:r>
              <a:rPr lang="en-US" sz="2300" b="1" dirty="0">
                <a:solidFill>
                  <a:schemeClr val="bg1"/>
                </a:solidFill>
                <a:latin typeface="Cambria" pitchFamily="34" charset="0"/>
                <a:ea typeface="Cambria" pitchFamily="34" charset="-122"/>
                <a:cs typeface="Cambria" pitchFamily="34" charset="-120"/>
              </a:rPr>
              <a:t>First, a readiness certificate</a:t>
            </a:r>
            <a:endParaRPr lang="en-US" sz="2300" dirty="0"/>
          </a:p>
        </p:txBody>
      </p:sp>
      <p:sp>
        <p:nvSpPr>
          <p:cNvPr id="16" name="Card text"/>
          <p:cNvSpPr txBox="1"/>
          <p:nvPr/>
        </p:nvSpPr>
        <p:spPr>
          <a:xfrm>
            <a:off x="8310677" y="3438144"/>
            <a:ext cx="3149498" cy="1554480"/>
          </a:xfrm>
          <a:prstGeom prst="rect">
            <a:avLst/>
          </a:prstGeom>
          <a:noFill/>
          <a:ln/>
        </p:spPr>
        <p:txBody>
          <a:bodyPr wrap="square" lIns="0" tIns="0" rIns="0" bIns="0" rtlCol="0" anchor="t"/>
          <a:lstStyle/>
          <a:p>
            <a:pPr indent="0" marL="0">
              <a:buNone/>
            </a:pPr>
            <a:r>
              <a:rPr lang="en-US" sz="1800" dirty="0">
                <a:solidFill>
                  <a:schemeClr val="bg2"/>
                </a:solidFill>
              </a:rPr>
              <a:t>Run the four gates as the declaration stood after Chapter 8, and as it stands now.</a:t>
            </a:r>
            <a:endParaRPr lang="en-US" sz="1800" dirty="0"/>
          </a:p>
        </p:txBody>
      </p:sp>
      <p:sp>
        <p:nvSpPr>
          <p:cNvPr id="17" name="Lead"/>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Report what failed, what was repaired, at what cost, and what is still weak.</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gaps, a double claim, and a link</a:t>
            </a:r>
            <a:endParaRPr lang="en-US" sz="3200" dirty="0"/>
          </a:p>
        </p:txBody>
      </p:sp>
      <p:sp>
        <p:nvSpPr>
          <p:cNvPr id="5" name="Column card"/>
          <p:cNvSpPr/>
          <p:nvPr/>
        </p:nvSpPr>
        <p:spPr>
          <a:xfrm>
            <a:off x="548640" y="1691640"/>
            <a:ext cx="3515258" cy="2880360"/>
          </a:xfrm>
          <a:prstGeom prst="roundRect">
            <a:avLst>
              <a:gd name="adj" fmla="val 2540"/>
            </a:avLst>
          </a:prstGeom>
          <a:solidFill>
            <a:schemeClr val="bg2"/>
          </a:solidFill>
          <a:ln w="9525">
            <a:solidFill>
              <a:srgbClr val="C4CBD8"/>
            </a:solidFill>
            <a:prstDash val="solid"/>
          </a:ln>
        </p:spPr>
      </p:sp>
      <p:sp>
        <p:nvSpPr>
          <p:cNvPr id="6" name="Text 3"/>
          <p:cNvSpPr txBox="1"/>
          <p:nvPr/>
        </p:nvSpPr>
        <p:spPr>
          <a:xfrm>
            <a:off x="731520"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(R1) Declaration completeness</a:t>
            </a:r>
            <a:endParaRPr lang="en-US" sz="1800" dirty="0"/>
          </a:p>
        </p:txBody>
      </p:sp>
      <p:sp>
        <p:nvSpPr>
          <p:cNvPr id="7" name="Text 4"/>
          <p:cNvSpPr txBox="1"/>
          <p:nvPr/>
        </p:nvSpPr>
        <p:spPr>
          <a:xfrm>
            <a:off x="731520"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$19.0m</a:t>
            </a:r>
            <a:endParaRPr lang="en-US" sz="3200" dirty="0"/>
          </a:p>
        </p:txBody>
      </p:sp>
      <p:sp>
        <p:nvSpPr>
          <p:cNvPr id="8" name="Text 5"/>
          <p:cNvSpPr txBox="1"/>
          <p:nvPr/>
        </p:nvSpPr>
        <p:spPr>
          <a:xfrm>
            <a:off x="731520"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Chapter 8's package, chosen on safety alone; $14.7m buys the same 3.0 percent odds</a:t>
            </a:r>
            <a:endParaRPr lang="en-US" sz="1300" dirty="0"/>
          </a:p>
        </p:txBody>
      </p:sp>
      <p:sp>
        <p:nvSpPr>
          <p:cNvPr id="9" name="Text 6"/>
          <p:cNvSpPr txBox="1"/>
          <p:nvPr/>
        </p:nvSpPr>
        <p:spPr>
          <a:xfrm>
            <a:off x="731520"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52.3 · 24.0</a:t>
            </a:r>
            <a:endParaRPr lang="en-US" sz="3200" dirty="0"/>
          </a:p>
        </p:txBody>
      </p:sp>
      <p:sp>
        <p:nvSpPr>
          <p:cNvPr id="10" name="Text 7"/>
          <p:cNvSpPr txBox="1"/>
          <p:nvPr/>
        </p:nvSpPr>
        <p:spPr>
          <a:xfrm>
            <a:off x="731520"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scale decides who leads: restructuring, or digital</a:t>
            </a:r>
            <a:endParaRPr lang="en-US" sz="1300" dirty="0"/>
          </a:p>
        </p:txBody>
      </p:sp>
      <p:sp>
        <p:nvSpPr>
          <p:cNvPr id="11" name="Column card"/>
          <p:cNvSpPr/>
          <p:nvPr/>
        </p:nvSpPr>
        <p:spPr>
          <a:xfrm>
            <a:off x="4338218" y="1691640"/>
            <a:ext cx="3515258" cy="2880360"/>
          </a:xfrm>
          <a:prstGeom prst="roundRect">
            <a:avLst>
              <a:gd name="adj" fmla="val 2540"/>
            </a:avLst>
          </a:prstGeom>
          <a:solidFill>
            <a:schemeClr val="bg2"/>
          </a:solidFill>
          <a:ln w="9525">
            <a:solidFill>
              <a:srgbClr val="C4CBD8"/>
            </a:solidFill>
            <a:prstDash val="solid"/>
          </a:ln>
        </p:spPr>
      </p:sp>
      <p:sp>
        <p:nvSpPr>
          <p:cNvPr id="12" name="Text 9"/>
          <p:cNvSpPr txBox="1"/>
          <p:nvPr/>
        </p:nvSpPr>
        <p:spPr>
          <a:xfrm>
            <a:off x="4521098"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(R2) Unified consistency</a:t>
            </a:r>
            <a:endParaRPr lang="en-US" sz="1800" dirty="0"/>
          </a:p>
        </p:txBody>
      </p:sp>
      <p:sp>
        <p:nvSpPr>
          <p:cNvPr id="13" name="Text 10"/>
          <p:cNvSpPr txBox="1"/>
          <p:nvPr/>
        </p:nvSpPr>
        <p:spPr>
          <a:xfrm>
            <a:off x="4521098"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$325m</a:t>
            </a:r>
            <a:endParaRPr lang="en-US" sz="3200" dirty="0"/>
          </a:p>
        </p:txBody>
      </p:sp>
      <p:sp>
        <p:nvSpPr>
          <p:cNvPr id="14" name="Text 11"/>
          <p:cNvSpPr txBox="1"/>
          <p:nvPr/>
        </p:nvSpPr>
        <p:spPr>
          <a:xfrm>
            <a:off x="4521098"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draw 138 and buffer 187 claimed on $270m of cash: the same cash twice</a:t>
            </a:r>
            <a:endParaRPr lang="en-US" sz="1300" dirty="0"/>
          </a:p>
        </p:txBody>
      </p:sp>
      <p:sp>
        <p:nvSpPr>
          <p:cNvPr id="15" name="Text 12"/>
          <p:cNvSpPr txBox="1"/>
          <p:nvPr/>
        </p:nvSpPr>
        <p:spPr>
          <a:xfrm>
            <a:off x="4521098"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$131m</a:t>
            </a:r>
            <a:endParaRPr lang="en-US" sz="3200" dirty="0"/>
          </a:p>
        </p:txBody>
      </p:sp>
      <p:sp>
        <p:nvSpPr>
          <p:cNvPr id="16" name="Text 13"/>
          <p:cNvSpPr txBox="1"/>
          <p:nvPr/>
        </p:nvSpPr>
        <p:spPr>
          <a:xfrm>
            <a:off x="4521098"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unclaimed after the repair: 122 + 17 = 139</a:t>
            </a:r>
            <a:endParaRPr lang="en-US" sz="1300" dirty="0"/>
          </a:p>
        </p:txBody>
      </p:sp>
      <p:sp>
        <p:nvSpPr>
          <p:cNvPr id="17" name="Column card"/>
          <p:cNvSpPr/>
          <p:nvPr/>
        </p:nvSpPr>
        <p:spPr>
          <a:xfrm>
            <a:off x="8127797" y="1691640"/>
            <a:ext cx="3515258" cy="2880360"/>
          </a:xfrm>
          <a:prstGeom prst="roundRect">
            <a:avLst>
              <a:gd name="adj" fmla="val 2540"/>
            </a:avLst>
          </a:prstGeom>
          <a:solidFill>
            <a:schemeClr val="bg2"/>
          </a:solidFill>
          <a:ln w="9525">
            <a:solidFill>
              <a:srgbClr val="C4CBD8"/>
            </a:solidFill>
            <a:prstDash val="solid"/>
          </a:ln>
        </p:spPr>
      </p:sp>
      <p:sp>
        <p:nvSpPr>
          <p:cNvPr id="18" name="Text 15"/>
          <p:cNvSpPr txBox="1"/>
          <p:nvPr/>
        </p:nvSpPr>
        <p:spPr>
          <a:xfrm>
            <a:off x="8310677"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(R3) Analytical panel</a:t>
            </a:r>
            <a:endParaRPr lang="en-US" sz="1800" dirty="0"/>
          </a:p>
        </p:txBody>
      </p:sp>
      <p:sp>
        <p:nvSpPr>
          <p:cNvPr id="19" name="Text 16"/>
          <p:cNvSpPr txBox="1"/>
          <p:nvPr/>
        </p:nvSpPr>
        <p:spPr>
          <a:xfrm>
            <a:off x="8310677"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0.80</a:t>
            </a:r>
            <a:endParaRPr lang="en-US" sz="3200" dirty="0"/>
          </a:p>
        </p:txBody>
      </p:sp>
      <p:sp>
        <p:nvSpPr>
          <p:cNvPr id="20" name="Text 17"/>
          <p:cNvSpPr txBox="1"/>
          <p:nvPr/>
        </p:nvSpPr>
        <p:spPr>
          <a:xfrm>
            <a:off x="8310677"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core certified: a half-life of 3.1 quarters, a multiplier of 5</a:t>
            </a:r>
            <a:endParaRPr lang="en-US" sz="1300" dirty="0"/>
          </a:p>
        </p:txBody>
      </p:sp>
      <p:sp>
        <p:nvSpPr>
          <p:cNvPr id="21" name="Text 18"/>
          <p:cNvSpPr txBox="1"/>
          <p:nvPr/>
        </p:nvSpPr>
        <p:spPr>
          <a:xfrm>
            <a:off x="8310677"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1.02</a:t>
            </a:r>
            <a:endParaRPr lang="en-US" sz="3200" dirty="0"/>
          </a:p>
        </p:txBody>
      </p:sp>
      <p:sp>
        <p:nvSpPr>
          <p:cNvPr id="22" name="Text 19"/>
          <p:cNvSpPr txBox="1"/>
          <p:nvPr/>
        </p:nvSpPr>
        <p:spPr>
          <a:xfrm>
            <a:off x="8310677"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phase-two link at 0.40: past the board's rule</a:t>
            </a:r>
            <a:endParaRPr lang="en-US" sz="1300" dirty="0"/>
          </a:p>
        </p:txBody>
      </p:sp>
      <p:sp>
        <p:nvSpPr>
          <p:cNvPr id="23" name="Bullets"/>
          <p:cNvSpPr txBox="1"/>
          <p:nvPr/>
        </p:nvSpPr>
        <p:spPr>
          <a:xfrm>
            <a:off x="548640" y="4892040"/>
            <a:ext cx="11094415"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(R1)</a:t>
            </a:r>
            <a:r>
              <a:rPr lang="en-US" sz="1600" dirty="0">
                <a:solidFill>
                  <a:schemeClr val="tx1"/>
                </a:solidFill>
              </a:rPr>
              <a:t> The levers' prices are now declared; the scorecard's scale is the board's to declare before any optimizer ranks the options</a:t>
            </a:r>
            <a:endParaRPr lang="en-US" sz="1600" dirty="0"/>
          </a:p>
          <a:p>
            <a:pPr marL="228600" indent="-228600">
              <a:spcAft>
                <a:spcPts val="800"/>
              </a:spcAft>
              <a:buSzPct val="100000"/>
              <a:buChar char="•"/>
            </a:pPr>
            <a:r>
              <a:rPr lang="en-US" sz="1600" b="1" dirty="0">
                <a:solidFill>
                  <a:schemeClr val="tx1"/>
                </a:solidFill>
              </a:rPr>
              <a:t>(R2)</a:t>
            </a:r>
            <a:r>
              <a:rPr lang="en-US" sz="1600" dirty="0">
                <a:solidFill>
                  <a:schemeClr val="tx1"/>
                </a:solidFill>
              </a:rPr>
              <a:t> A minimal set of three commitments with three owners, the draw, the buffer and the floor; any two can hold</a:t>
            </a:r>
            <a:endParaRPr lang="en-US" sz="1600" dirty="0"/>
          </a:p>
          <a:p>
            <a:pPr marL="228600" indent="-228600">
              <a:spcAft>
                <a:spcPts val="800"/>
              </a:spcAft>
              <a:buSzPct val="100000"/>
              <a:buChar char="•"/>
            </a:pPr>
            <a:r>
              <a:rPr lang="en-US" sz="1600" b="1" dirty="0">
                <a:solidFill>
                  <a:schemeClr val="tx1"/>
                </a:solidFill>
              </a:rPr>
              <a:t>(R3)</a:t>
            </a:r>
            <a:r>
              <a:rPr lang="en-US" sz="1600" dirty="0">
                <a:solidFill>
                  <a:schemeClr val="tx1"/>
                </a:solidFill>
              </a:rPr>
              <a:t> For phase two: run the new link below 0.08, ring-fence treasury below 0.16, or trim all four links to 0.30</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TABLE 16.4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gate passes now, after priced repairs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33788"/>
                <a:gridCol w="3300818"/>
                <a:gridCol w="3300818"/>
                <a:gridCol w="2658992"/>
              </a:tblGrid>
              <a:tr h="713232">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Gate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After Chapter 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Now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Owners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(R1) declaration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lever prices and the scorecard's scale undeclared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prices declared; the scale is the board's to declare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CFO, transformation office, board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(R2) consistency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draw 138 + buffer 187 = 325 on 270 of cash</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122 + 17 = 139; 131 unclaimed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transformation office, treasury, board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(R3) panel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fails with (R2), though the core alone is certified (0.80)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passes; a phase-two link at 0.40 would fail (1.02)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risk office, Digital, Industrial Systems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(R4) horizon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breach odds 24.6% against 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5.0% with the $10.4 million package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board, CFO, transformation office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578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16.4, top ($ million). The repairs were priced in Chapters 13–15.</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Readiness is a property of declarations: Meridian won it by declaring prices, a scale, a link.</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STEP 4 · TABLE 16.4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passes are thinner than their readings</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50681"/>
                <a:gridCol w="2017166"/>
                <a:gridCol w="3117439"/>
                <a:gridCol w="3209128"/>
              </a:tblGrid>
              <a:tr h="658368">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Commitment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Margin</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Error of the reading</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Grade</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58368">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leverage ≤ 4.5×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0.76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 0.075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strong</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breach odds ≤ 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 (binds)</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 0.07 points (simulation)</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statistical; $1.8 million a point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800" b="1" dirty="0">
                          <a:solidFill>
                            <a:srgbClr val="0F1E3D"/>
                          </a:solidFill>
                          <a:latin typeface="Calibri" pitchFamily="34" charset="0"/>
                          <a:ea typeface="Calibri" pitchFamily="34" charset="-122"/>
                          <a:cs typeface="Calibri" pitchFamily="34" charset="-120"/>
                        </a:rPr>
                        <a:t>capability ≥ 55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 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weaker than the reading</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658368">
                <a:tc>
                  <a:txBody>
                    <a:bodyPr/>
                    <a:lstStyle/>
                    <a:p>
                      <a:pPr algn="l" indent="0" marL="0">
                        <a:buNone/>
                      </a:pPr>
                      <a:r>
                        <a:rPr lang="en-US" sz="1800" b="1" dirty="0">
                          <a:solidFill>
                            <a:srgbClr val="0F1E3D"/>
                          </a:solidFill>
                          <a:latin typeface="Calibri" pitchFamily="34" charset="0"/>
                          <a:ea typeface="Calibri" pitchFamily="34" charset="-122"/>
                          <a:cs typeface="Calibri" pitchFamily="34" charset="-120"/>
                        </a:rPr>
                        <a:t>strategic risk ≤ 75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 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weaker than the reading</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16.4, bottom. With the line fully drawn leverage reaches only 3.74×; strategic risk peaks at 73.6 in month 11.</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covenant passes with ten times its band; the appetite binds, as a binding commitment must.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Readiness is won by declaring things</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 of 4</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gates pass for the program as approved, after repairs earlier chapters priced</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passes thinner than the errors in the readings behind them, and the board knows which two</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(R3)</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where phase two must return before it is optimized</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Work orders: tighten the capability survey or protect five points of margin; narrow the risk reading's band, or buy margin at the month-11 peak</a:t>
            </a:r>
            <a:endParaRPr lang="en-US" sz="1700" dirty="0"/>
          </a:p>
          <a:p>
            <a:pPr marL="228600" indent="-228600">
              <a:spcAft>
                <a:spcPts val="800"/>
              </a:spcAft>
              <a:buSzPct val="100000"/>
              <a:buChar char="•"/>
            </a:pPr>
            <a:r>
              <a:rPr lang="en-US" sz="1700" dirty="0">
                <a:solidFill>
                  <a:schemeClr val="tx1"/>
                </a:solidFill>
              </a:rPr>
              <a:t>For discussion: repair which thin pass first? Is precision in the reading cheaper than margin in the plan?</a:t>
            </a:r>
            <a:endParaRPr lang="en-US" sz="1700" dirty="0"/>
          </a:p>
          <a:p>
            <a:pPr marL="228600" indent="-228600">
              <a:spcAft>
                <a:spcPts val="800"/>
              </a:spcAft>
              <a:buSzPct val="100000"/>
              <a:buChar char="•"/>
            </a:pPr>
            <a:r>
              <a:rPr lang="en-US" sz="1700" dirty="0">
                <a:solidFill>
                  <a:schemeClr val="tx1"/>
                </a:solidFill>
              </a:rPr>
              <a:t>Phase two will fail (R3) as designed: against which of the three repairs should the board price the new link?</a:t>
            </a:r>
            <a:endParaRPr lang="en-US" sz="1700" dirty="0"/>
          </a:p>
          <a:p>
            <a:pPr marL="228600" indent="-228600">
              <a:spcAft>
                <a:spcPts val="800"/>
              </a:spcAft>
              <a:buSzPct val="100000"/>
              <a:buChar char="•"/>
            </a:pPr>
            <a:r>
              <a:rPr lang="en-US" sz="1700" dirty="0">
                <a:solidFill>
                  <a:schemeClr val="tx1"/>
                </a:solidFill>
              </a:rPr>
              <a:t>The repaired declaration is Theorem 16.1(iv)'s company, meeting all of the volume's requirements at once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1.16 · MODULE AXIOM-16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Certifying Meridian for Volume II,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will decide whether to commission an optimization platform and learning tools for its transformation. You prepare the readiness pack: the four gates, their artifacts, and the work orders. Open AXIOM, choose Lab 1.16 and load the Meridian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Framework visualizer</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Walk the map and the five ledgers' contracts; open the register and the commitments.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GEOP formulation assistant</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(R1)–(R4): reproduce the gaps and the joint check; apply the package.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Digital-twin demonstration</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Inject a drift into one gain; then declare the phase-two link at 0.40.</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Dependency navigator</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Trace Theorem 16.4 to its foundations; find the longest chain.</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Volume II transition</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Export the certified instance in the canonical form.</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two-page readiness pack for the board: the four gates with their artifacts and grades; the work orders with their owners; the certified instance; and the conditions under which the certificate lapses. About 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Volume I is one structure: it removed the five limitations of Chapter 1, and it is built from the ground up—no result rests on a later chapter's, and its citations contain no loop.</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framework's demands are consistent, because one company meets all of them at once, and its completeness is relative: no analysis, human or machine, answers a question that the declaration does not determine.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Readiness is checkable: four gates in order, each with an artifact; none implies the next, none can be dropped, and every failure is a work order with an owner.</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Contracts are the framework's interfaces: models behind them can be replaced, layers added, and solvers attached, and the register's certificates hold for every model within its ceilings.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AI is admitted, not enthroned: it proposes within contracts and certificates dispose; a twin is a live declaration under audit; autonomy is a priced envelope; and the evolution of declarations is the named frontier.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73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77</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26116</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AXIOM-16</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1.16</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DCT_V1_Ch16_Lab.ipynb: Worked Example 16.1 and the lab's five steps in ten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DCT_V1_Ch16_Lab.xlsx: the four gates, Table 16.4, the twin's gain audit and Volume I's citation graph,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VOLUME II, CHAPTER 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Volume II begins with this instance</a:t>
            </a:r>
            <a:endParaRPr lang="en-US" sz="3200" dirty="0"/>
          </a:p>
        </p:txBody>
      </p:sp>
      <p:pic>
        <p:nvPicPr>
          <p:cNvPr id="5" name="Equation" descr="Equation: \begin{aligned} \max_{\mathbf{u} \in \mathcal{D}} \quad &amp; J(\mathbf{x}, \mathbf{u}) \\ \text{subject to} \quad &amp; \mathbf{x} = f(\mathbf{u}), \quad g_i(\mathbf{x}, \mathbf{u}) \le 0 \;\, (i \le m), \quad h_j(\mathbf{x}, \mathbf{u}) = 0 \;\, (j \le p) \end{aligned}">    </p:cNvPr>
          <p:cNvPicPr>
            <a:picLocks noChangeAspect="1"/>
          </p:cNvPicPr>
          <p:nvPr/>
        </p:nvPicPr>
        <p:blipFill>
          <a:blip r:embed="rId1"/>
          <a:stretch>
            <a:fillRect/>
          </a:stretch>
        </p:blipFill>
        <p:spPr>
          <a:xfrm>
            <a:off x="2105091" y="1691640"/>
            <a:ext cx="7981513" cy="1051560"/>
          </a:xfrm>
          <a:prstGeom prst="rect">
            <a:avLst/>
          </a:prstGeom>
        </p:spPr>
      </p:pic>
      <p:sp>
        <p:nvSpPr>
          <p:cNvPr id="6" name="Bullets"/>
          <p:cNvSpPr txBox="1"/>
          <p:nvPr/>
        </p:nvSpPr>
        <p:spPr>
          <a:xfrm>
            <a:off x="548640" y="3063240"/>
            <a:ext cx="11094415" cy="31089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Introduction to Enterprise Optimization: every well-posed transformation decision in one canonical form</a:t>
            </a:r>
            <a:endParaRPr lang="en-US" sz="1800" dirty="0"/>
          </a:p>
          <a:p>
            <a:pPr marL="228600" indent="-228600">
              <a:spcAft>
                <a:spcPts val="800"/>
              </a:spcAft>
              <a:buSzPct val="100000"/>
              <a:buChar char="•"/>
            </a:pPr>
            <a:r>
              <a:rPr lang="en-US" sz="1800" dirty="0">
                <a:solidFill>
                  <a:schemeClr val="bg1"/>
                </a:solidFill>
              </a:rPr>
              <a:t>Analysis runs forward from a plan; optimization runs backward, from what the company wants and must respect</a:t>
            </a:r>
            <a:endParaRPr lang="en-US" sz="1800" dirty="0"/>
          </a:p>
          <a:p>
            <a:pPr marL="228600" indent="-228600">
              <a:spcAft>
                <a:spcPts val="800"/>
              </a:spcAft>
              <a:buSzPct val="100000"/>
              <a:buChar char="•"/>
            </a:pPr>
            <a:r>
              <a:rPr lang="en-US" sz="1800" dirty="0">
                <a:solidFill>
                  <a:schemeClr val="bg1"/>
                </a:solidFill>
              </a:rPr>
              <a:t>Worked Example 1.1, “Can Meridian Sign Volume I's Answer?”, tests whether the cheapest way to meet the appetite survives lines in tranches and delays in whole quarters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16: Synthesis, Future Directions, and Transition to Volume II</dc:title>
  <dc:subject>Slides for Volume I, Chapter 16 (V56)</dc:subject>
  <dc:creator>Samir Asaf</dc:creator>
  <cp:lastModifiedBy>Samir Asaf</cp:lastModifiedBy>
  <cp:revision>1</cp:revision>
  <dcterms:created xsi:type="dcterms:W3CDTF">2026-10-05T09:46:54Z</dcterms:created>
  <dcterms:modified xsi:type="dcterms:W3CDTF">2026-10-05T09:46:54Z</dcterms:modified>
</cp:coreProperties>
</file>