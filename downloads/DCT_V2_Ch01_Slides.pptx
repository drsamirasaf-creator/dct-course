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5dbdbc5-b5f3-67c2-7cfb-7be04d8c29fa}">
          <p14:sldIdLst>
            <p14:sldId id="256"/>
            <p14:sldId id="257"/>
            <p14:sldId id="258"/>
            <p14:sldId id="259"/>
          </p14:sldIdLst>
        </p14:section>
        <p14:section name="1.1 Why Optimize?" id="{0d6287bd-9f40-1f1d-7848-12b39f8cfd13}">
          <p14:sldIdLst>
            <p14:sldId id="260"/>
          </p14:sldIdLst>
        </p14:section>
        <p14:section name="1.2 A Short History" id="{0b3b7fb0-fff9-3349-7e94-6c3d5a65b87e}">
          <p14:sldIdLst>
            <p14:sldId id="261"/>
          </p14:sldIdLst>
        </p14:section>
        <p14:section name="1.3 The Canonical Form" id="{b12d708a-25b4-e899-a19c-fe4bc515f417}">
          <p14:sldIdLst>
            <p14:sldId id="262"/>
            <p14:sldId id="263"/>
          </p14:sldIdLst>
        </p14:section>
        <p14:section name="1.4 Decision Spaces" id="{393ad873-dc8e-8837-11a2-2e66bb4a4338}">
          <p14:sldIdLst>
            <p14:sldId id="264"/>
            <p14:sldId id="265"/>
          </p14:sldIdLst>
        </p14:section>
        <p14:section name="1.5 What the Objective Decides" id="{766a4d82-e3b2-be14-7fca-61265a15fdf8}">
          <p14:sldIdLst>
            <p14:sldId id="266"/>
            <p14:sldId id="267"/>
          </p14:sldIdLst>
        </p14:section>
        <p14:section name="1.6 A Map of Volume II" id="{8e90dc1d-4679-0d32-0c9f-ef217fb6bdc9}">
          <p14:sldIdLst>
            <p14:sldId id="268"/>
          </p14:sldIdLst>
        </p14:section>
        <p14:section name="1.7 Ready to Optimize" id="{ffda9011-d710-77f7-9e6a-d9c8a17d632d}">
          <p14:sldIdLst>
            <p14:sldId id="269"/>
          </p14:sldIdLst>
        </p14:section>
        <p14:section name="1.8 Learning with This Book" id="{a7835f1b-5de5-d695-a483-6fc1812990ee}">
          <p14:sldIdLst>
            <p14:sldId id="270"/>
          </p14:sldIdLst>
        </p14:section>
        <p14:section name="Worked Example 1.1" id="{1d898cef-267b-6439-acfb-072e4609641a}">
          <p14:sldIdLst>
            <p14:sldId id="271"/>
            <p14:sldId id="272"/>
            <p14:sldId id="273"/>
            <p14:sldId id="274"/>
            <p14:sldId id="275"/>
          </p14:sldIdLst>
        </p14:section>
        <p14:section name="AXIOM Lab 2.1" id="{95daf9f1-0599-96ef-e08a-18127ebae409}">
          <p14:sldIdLst>
            <p14:sldId id="276"/>
          </p14:sldIdLst>
        </p14:section>
        <p14:section name="Close" id="{346b1ce9-53cc-1fab-71e9-de2854584c31}">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1. Volume I ended with a question stated so precisely that it can be solved: of the futures a company can reach, which should it choose, and at what price? This chapter turns that question into a problem that methods can take apart (chapter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Sargent's point is the chapter's first discipline: commitments carve the region of decisions a company can take, and many desirable decisions lie outside it (Section 1.3, Proposition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1.1: Definition 1.1, Proposition 1.1, Figure 1.1. Section 1.3: Theorem 1.1, Proposition 1.2, Table 1.1. Section 1.4: Theorems 1.2 and 1.3, Table 1.2. Section 1.5: Theorem 1.4, Proposition 1.3, Definition 1.7. Section 1.6: Proposition 1.4, Figure 1.2. Section 1.7: Theorem 1.5. Section 1.8: Figure 1.3. Worked Example 1.1: Table 1.3, Figure 1.4. Proofs of Theorems 1.1 and 1.3 to 1.5 are in Appendix 1.A; Propositions 1.1 to 1.4 and Theorem 1.2 in Online Appendix 1.B.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1.1 and Proposition 1.1. Analysis computes where a given plan takes the company; optimization searches the plans for the best one that keeps every commitment. Meridian's state, five architectures on seven components, a feedback core with spectral radius 0.80, and the board's appetite priced at a $170 million line and two months of delay (Section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1.2. The obstacles to optimizing the company itself were never algorithmic but representational. Part I of this volume is organized along the line between convex and nonconvex.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1.1 and Equation 1.1; proof in Appendix 1.A. One form, many methods: a strategy review can ask for the canonical form as a deliverable, objective named, commitments listed with owners, decisions typed, before anyone discusses a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1.1 and Proposition 1.2. A decision that breaks one commitment is infeasible however well it meets the others. Whether a requirement belongs in the objective, where it trades at a price, or among the commitments, where it holds absolutely, is among the most consequential declarations a company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1.2 and Theorem 1.2 (formal statement and proof in Online Appendix 1.B). No property of the objective can create feasibility; a closed, bounded decision space and a continuous objective guarantee a best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1.3; proof in Appendix 1.A. Part (iii) says the difficulty of lumpy strategic choices is arithmetic, not software. Part (v) is the practical compromise: solve the continuous problem first, because its answer bounds every lumpy package, then search rather than round (Worked Example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1.4, parts (iii) and (iv); proof in Appendix 1.A. Packages are (line in $ million, delay in quarters), from Worked Example 1.1, Step 5. An optimizer does not launder the weights; it turns them into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1.7 and Proposition 1.3 (proof in Online Appendix 1.B); the scope-and-limits box of Section 1.5. 'The optimal transformation', spoken without its objective, is an incomplete phrase. An uncertified optimum is, for governance purposes, an opinion with a decimal point (Section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1.6, Figure 1.2 and Proposition 1.4 (proof in Online Appendix 1.B). Volume I owns what the problem is and whether it is well posed; Volume II owns how it is solved. The same cash promised twice, to the program and to the closure buffer, showed the cost of separated procedures for Meridian (Volume I, Worked Example 13.1).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1.5; proof in Appendix 1.A. Meridian passed the gates in Volume I, Worked Example 16.1, after two repairs: declaring its levers' prices and the scale of its scorecard. The optimization lifecycle: represent, analyze, certify, optimize, execute, monitor, adapt (Volume I, Figure 16.1).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1.8 and Figure 1.3. The book's website, www.dynamiccorporatetransformation.com, hosts the Online Appendix of both volumes and leads to the course website and the AXIOM laboratory.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 the situation. The board's appetite: at most a 5 percent chance that liquidity falls below the $350 million floor during the three-year digital program (Volume I, Worked Example 15.1).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 Steps 1 to 3. Fees of about 1 percent a year for three years give 0.03 l; a quarter of delay costs $8 million of Digital Solutions' contribution. By Theorem 1.5(ii), what a solver certifies about this instance it certifies about Meridian.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1.3. The continuous answer is a floor that no lumpy package can beat (Theorem 1.3(v)). The best package for every number of quarters is in Online Appendix 1.B.4.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 Steps 4 and 5, and Figure 1.4. No lumpy package meets the appetite without a quarter of delay, and none with one quarter needs less than $150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 what the board should take away, and the question for discussion. Step 6 routes the problem: static, under uncertainty and lumpy, so Chapter 9's chance constraints with Chapter 4's integer methods; a rule would make it a problem of policies (Part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2.1. What to look for: the refusal when a term is not declared (Proposition 1.1; gate R1); feasible packages that can only shrink as commitments are added (Proposition 1.2); the continuous answer as a floor no lumpy package beats (Theorem 1.3(v)); a rescaling that moves no decision and a reweighting that can (Theorem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reached from the book's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The General Enterprise Optimization Problem Revisited: the quantifier of a commitment (Chapter 2, Table 2.4, on the same two levers).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1</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1</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1 · WEEK 8</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Introduction to Enterprise Optimization</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Optimization runs backward, from what the company wants and must respect to a plan, and an answer is worth the certificates that come with it</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26201 · AXIOM Lab 2.1 (AXIOM-01)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“I will economize on words. […] Many things that are desirable are not feasible.”</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Thomas J. Sargent</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Memorial Prize in Economic Sciences 2011; commencement address, UC Berkeley (2007)</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optimization adds to the analysis of Volume I, and why an optimizer's answer is only as good as the declaration it was given and the certificates it returns.</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Write a transformation decision in the canonical form—its decisions, objective, commitments, and dynamics—and say what each element must declare and who owns it.</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Describe the structure of a decision space—continuous, lumpy, or a rule—and explain how that structure decides whether a guaranteed best decision can be found and at what cost.</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Distinguish changes to an objective that leave the best decision unchanged from changes that alter it, and explain why “the optimal strategy” is incomplete until its objective is named.</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Place a decision problem on the map of Volume II, and use the readiness gates and the optimization lifecycle to decide what must happen before any solver is run.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Eight sections, a worked example and a lab</a:t>
            </a:r>
            <a:endParaRPr lang="en-US" sz="3200" dirty="0"/>
          </a:p>
        </p:txBody>
      </p:sp>
      <p:sp>
        <p:nvSpPr>
          <p:cNvPr id="5" name="Card"/>
          <p:cNvSpPr/>
          <p:nvPr/>
        </p:nvSpPr>
        <p:spPr>
          <a:xfrm>
            <a:off x="548640" y="1691640"/>
            <a:ext cx="1999427" cy="2103120"/>
          </a:xfrm>
          <a:prstGeom prst="roundRect">
            <a:avLst>
              <a:gd name="adj" fmla="val 3659"/>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§1.1</a:t>
            </a:r>
            <a:endParaRPr lang="en-US" sz="1300" dirty="0"/>
          </a:p>
        </p:txBody>
      </p:sp>
      <p:sp>
        <p:nvSpPr>
          <p:cNvPr id="7" name="Card head"/>
          <p:cNvSpPr txBox="1"/>
          <p:nvPr/>
        </p:nvSpPr>
        <p:spPr>
          <a:xfrm>
            <a:off x="731520" y="214884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Why Optimize?</a:t>
            </a:r>
            <a:endParaRPr lang="en-US" sz="1300" dirty="0"/>
          </a:p>
        </p:txBody>
      </p:sp>
      <p:sp>
        <p:nvSpPr>
          <p:cNvPr id="8" name="Card"/>
          <p:cNvSpPr/>
          <p:nvPr/>
        </p:nvSpPr>
        <p:spPr>
          <a:xfrm>
            <a:off x="2822387" y="1691640"/>
            <a:ext cx="1999427" cy="2103120"/>
          </a:xfrm>
          <a:prstGeom prst="roundRect">
            <a:avLst>
              <a:gd name="adj" fmla="val 3659"/>
            </a:avLst>
          </a:prstGeom>
          <a:solidFill>
            <a:schemeClr val="bg2"/>
          </a:solidFill>
          <a:ln w="9525">
            <a:solidFill>
              <a:srgbClr val="C4CBD8"/>
            </a:solidFill>
            <a:prstDash val="solid"/>
          </a:ln>
        </p:spPr>
      </p:sp>
      <p:sp>
        <p:nvSpPr>
          <p:cNvPr id="9"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§1.2</a:t>
            </a:r>
            <a:endParaRPr lang="en-US" sz="1300" dirty="0"/>
          </a:p>
        </p:txBody>
      </p:sp>
      <p:sp>
        <p:nvSpPr>
          <p:cNvPr id="10" name="Card head"/>
          <p:cNvSpPr txBox="1"/>
          <p:nvPr/>
        </p:nvSpPr>
        <p:spPr>
          <a:xfrm>
            <a:off x="3005267" y="214884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Optimization and the Company: A Short History</a:t>
            </a:r>
            <a:endParaRPr lang="en-US" sz="1300" dirty="0"/>
          </a:p>
        </p:txBody>
      </p:sp>
      <p:sp>
        <p:nvSpPr>
          <p:cNvPr id="11" name="Card"/>
          <p:cNvSpPr/>
          <p:nvPr/>
        </p:nvSpPr>
        <p:spPr>
          <a:xfrm>
            <a:off x="5096134" y="1691640"/>
            <a:ext cx="1999427" cy="2103120"/>
          </a:xfrm>
          <a:prstGeom prst="roundRect">
            <a:avLst>
              <a:gd name="adj" fmla="val 3659"/>
            </a:avLst>
          </a:prstGeom>
          <a:solidFill>
            <a:schemeClr val="bg2"/>
          </a:solidFill>
          <a:ln w="9525">
            <a:solidFill>
              <a:srgbClr val="C4CBD8"/>
            </a:solidFill>
            <a:prstDash val="solid"/>
          </a:ln>
        </p:spPr>
      </p:sp>
      <p:sp>
        <p:nvSpPr>
          <p:cNvPr id="12"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§1.3</a:t>
            </a:r>
            <a:endParaRPr lang="en-US" sz="1300" dirty="0"/>
          </a:p>
        </p:txBody>
      </p:sp>
      <p:sp>
        <p:nvSpPr>
          <p:cNvPr id="13" name="Card head"/>
          <p:cNvSpPr txBox="1"/>
          <p:nvPr/>
        </p:nvSpPr>
        <p:spPr>
          <a:xfrm>
            <a:off x="5279014" y="214884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The Canonical Form</a:t>
            </a:r>
            <a:endParaRPr lang="en-US" sz="1300" dirty="0"/>
          </a:p>
        </p:txBody>
      </p:sp>
      <p:sp>
        <p:nvSpPr>
          <p:cNvPr id="14" name="Card"/>
          <p:cNvSpPr/>
          <p:nvPr/>
        </p:nvSpPr>
        <p:spPr>
          <a:xfrm>
            <a:off x="7369881" y="1691640"/>
            <a:ext cx="1999427" cy="2103120"/>
          </a:xfrm>
          <a:prstGeom prst="roundRect">
            <a:avLst>
              <a:gd name="adj" fmla="val 3659"/>
            </a:avLst>
          </a:prstGeom>
          <a:solidFill>
            <a:schemeClr val="bg2"/>
          </a:solidFill>
          <a:ln w="9525">
            <a:solidFill>
              <a:srgbClr val="C4CBD8"/>
            </a:solidFill>
            <a:prstDash val="solid"/>
          </a:ln>
        </p:spPr>
      </p:sp>
      <p:sp>
        <p:nvSpPr>
          <p:cNvPr id="15"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§1.4</a:t>
            </a:r>
            <a:endParaRPr lang="en-US" sz="1300" dirty="0"/>
          </a:p>
        </p:txBody>
      </p:sp>
      <p:sp>
        <p:nvSpPr>
          <p:cNvPr id="16" name="Card head"/>
          <p:cNvSpPr txBox="1"/>
          <p:nvPr/>
        </p:nvSpPr>
        <p:spPr>
          <a:xfrm>
            <a:off x="7552761" y="214884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Decision Spaces: Where the Difficulty Lives</a:t>
            </a:r>
            <a:endParaRPr lang="en-US" sz="1300" dirty="0"/>
          </a:p>
        </p:txBody>
      </p:sp>
      <p:sp>
        <p:nvSpPr>
          <p:cNvPr id="17" name="Card"/>
          <p:cNvSpPr/>
          <p:nvPr/>
        </p:nvSpPr>
        <p:spPr>
          <a:xfrm>
            <a:off x="9643628" y="1691640"/>
            <a:ext cx="1999427" cy="2103120"/>
          </a:xfrm>
          <a:prstGeom prst="roundRect">
            <a:avLst>
              <a:gd name="adj" fmla="val 3659"/>
            </a:avLst>
          </a:prstGeom>
          <a:solidFill>
            <a:schemeClr val="bg2"/>
          </a:solidFill>
          <a:ln w="9525">
            <a:solidFill>
              <a:srgbClr val="C4CBD8"/>
            </a:solidFill>
            <a:prstDash val="solid"/>
          </a:ln>
        </p:spPr>
      </p:sp>
      <p:sp>
        <p:nvSpPr>
          <p:cNvPr id="18"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§1.5</a:t>
            </a:r>
            <a:endParaRPr lang="en-US" sz="1300" dirty="0"/>
          </a:p>
        </p:txBody>
      </p:sp>
      <p:sp>
        <p:nvSpPr>
          <p:cNvPr id="19" name="Card head"/>
          <p:cNvSpPr txBox="1"/>
          <p:nvPr/>
        </p:nvSpPr>
        <p:spPr>
          <a:xfrm>
            <a:off x="9826508" y="214884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What the Objective Decides</a:t>
            </a:r>
            <a:endParaRPr lang="en-US" sz="1300" dirty="0"/>
          </a:p>
        </p:txBody>
      </p:sp>
      <p:sp>
        <p:nvSpPr>
          <p:cNvPr id="20" name="Card"/>
          <p:cNvSpPr/>
          <p:nvPr/>
        </p:nvSpPr>
        <p:spPr>
          <a:xfrm>
            <a:off x="548640" y="4069080"/>
            <a:ext cx="1999427" cy="2103120"/>
          </a:xfrm>
          <a:prstGeom prst="roundRect">
            <a:avLst>
              <a:gd name="adj" fmla="val 3659"/>
            </a:avLst>
          </a:prstGeom>
          <a:solidFill>
            <a:schemeClr val="bg2"/>
          </a:solidFill>
          <a:ln w="9525">
            <a:solidFill>
              <a:srgbClr val="C4CBD8"/>
            </a:solidFill>
            <a:prstDash val="solid"/>
          </a:ln>
        </p:spPr>
      </p:sp>
      <p:sp>
        <p:nvSpPr>
          <p:cNvPr id="21" name="Card label"/>
          <p:cNvSpPr txBox="1"/>
          <p:nvPr/>
        </p:nvSpPr>
        <p:spPr>
          <a:xfrm>
            <a:off x="731520"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§1.6</a:t>
            </a:r>
            <a:endParaRPr lang="en-US" sz="1300" dirty="0"/>
          </a:p>
        </p:txBody>
      </p:sp>
      <p:sp>
        <p:nvSpPr>
          <p:cNvPr id="22" name="Card head"/>
          <p:cNvSpPr txBox="1"/>
          <p:nvPr/>
        </p:nvSpPr>
        <p:spPr>
          <a:xfrm>
            <a:off x="731520" y="452628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A Map of Volume II</a:t>
            </a:r>
            <a:endParaRPr lang="en-US" sz="1300" dirty="0"/>
          </a:p>
        </p:txBody>
      </p:sp>
      <p:sp>
        <p:nvSpPr>
          <p:cNvPr id="23" name="Card"/>
          <p:cNvSpPr/>
          <p:nvPr/>
        </p:nvSpPr>
        <p:spPr>
          <a:xfrm>
            <a:off x="2822387" y="4069080"/>
            <a:ext cx="1999427" cy="2103120"/>
          </a:xfrm>
          <a:prstGeom prst="roundRect">
            <a:avLst>
              <a:gd name="adj" fmla="val 3659"/>
            </a:avLst>
          </a:prstGeom>
          <a:solidFill>
            <a:schemeClr val="bg2"/>
          </a:solidFill>
          <a:ln w="9525">
            <a:solidFill>
              <a:srgbClr val="C4CBD8"/>
            </a:solidFill>
            <a:prstDash val="solid"/>
          </a:ln>
        </p:spPr>
      </p:sp>
      <p:sp>
        <p:nvSpPr>
          <p:cNvPr id="24" name="Card label"/>
          <p:cNvSpPr txBox="1"/>
          <p:nvPr/>
        </p:nvSpPr>
        <p:spPr>
          <a:xfrm>
            <a:off x="3005267"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§1.7</a:t>
            </a:r>
            <a:endParaRPr lang="en-US" sz="1300" dirty="0"/>
          </a:p>
        </p:txBody>
      </p:sp>
      <p:sp>
        <p:nvSpPr>
          <p:cNvPr id="25" name="Card head"/>
          <p:cNvSpPr txBox="1"/>
          <p:nvPr/>
        </p:nvSpPr>
        <p:spPr>
          <a:xfrm>
            <a:off x="3005267" y="452628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Ready to Optimize: The Gates and the Lifecycle</a:t>
            </a:r>
            <a:endParaRPr lang="en-US" sz="1300" dirty="0"/>
          </a:p>
        </p:txBody>
      </p:sp>
      <p:sp>
        <p:nvSpPr>
          <p:cNvPr id="26" name="Card"/>
          <p:cNvSpPr/>
          <p:nvPr/>
        </p:nvSpPr>
        <p:spPr>
          <a:xfrm>
            <a:off x="5096134" y="4069080"/>
            <a:ext cx="1999427" cy="2103120"/>
          </a:xfrm>
          <a:prstGeom prst="roundRect">
            <a:avLst>
              <a:gd name="adj" fmla="val 3659"/>
            </a:avLst>
          </a:prstGeom>
          <a:solidFill>
            <a:schemeClr val="bg2"/>
          </a:solidFill>
          <a:ln w="9525">
            <a:solidFill>
              <a:srgbClr val="C4CBD8"/>
            </a:solidFill>
            <a:prstDash val="solid"/>
          </a:ln>
        </p:spPr>
      </p:sp>
      <p:sp>
        <p:nvSpPr>
          <p:cNvPr id="27" name="Card label"/>
          <p:cNvSpPr txBox="1"/>
          <p:nvPr/>
        </p:nvSpPr>
        <p:spPr>
          <a:xfrm>
            <a:off x="5279014"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§1.8</a:t>
            </a:r>
            <a:endParaRPr lang="en-US" sz="1300" dirty="0"/>
          </a:p>
        </p:txBody>
      </p:sp>
      <p:sp>
        <p:nvSpPr>
          <p:cNvPr id="28" name="Card head"/>
          <p:cNvSpPr txBox="1"/>
          <p:nvPr/>
        </p:nvSpPr>
        <p:spPr>
          <a:xfrm>
            <a:off x="5279014" y="452628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Learning with This Book</a:t>
            </a:r>
            <a:endParaRPr lang="en-US" sz="1300" dirty="0"/>
          </a:p>
        </p:txBody>
      </p:sp>
      <p:sp>
        <p:nvSpPr>
          <p:cNvPr id="29" name="Card"/>
          <p:cNvSpPr/>
          <p:nvPr/>
        </p:nvSpPr>
        <p:spPr>
          <a:xfrm>
            <a:off x="7369881" y="4069080"/>
            <a:ext cx="1999427" cy="2103120"/>
          </a:xfrm>
          <a:prstGeom prst="roundRect">
            <a:avLst>
              <a:gd name="adj" fmla="val 3659"/>
            </a:avLst>
          </a:prstGeom>
          <a:solidFill>
            <a:schemeClr val="tx1"/>
          </a:solidFill>
          <a:ln w="9525">
            <a:solidFill>
              <a:srgbClr val="0F1E3D"/>
            </a:solidFill>
            <a:prstDash val="solid"/>
          </a:ln>
        </p:spPr>
      </p:sp>
      <p:sp>
        <p:nvSpPr>
          <p:cNvPr id="30" name="Card label"/>
          <p:cNvSpPr txBox="1"/>
          <p:nvPr/>
        </p:nvSpPr>
        <p:spPr>
          <a:xfrm>
            <a:off x="7552761"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1.1</a:t>
            </a:r>
            <a:endParaRPr lang="en-US" sz="1300" dirty="0"/>
          </a:p>
        </p:txBody>
      </p:sp>
      <p:sp>
        <p:nvSpPr>
          <p:cNvPr id="31" name="Card head"/>
          <p:cNvSpPr txBox="1"/>
          <p:nvPr/>
        </p:nvSpPr>
        <p:spPr>
          <a:xfrm>
            <a:off x="7552761" y="4526280"/>
            <a:ext cx="1633667" cy="1444752"/>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Can Meridian Sign Volume I's Answer?</a:t>
            </a:r>
            <a:endParaRPr lang="en-US" sz="1300" dirty="0"/>
          </a:p>
        </p:txBody>
      </p:sp>
      <p:sp>
        <p:nvSpPr>
          <p:cNvPr id="32" name="Card"/>
          <p:cNvSpPr/>
          <p:nvPr/>
        </p:nvSpPr>
        <p:spPr>
          <a:xfrm>
            <a:off x="9643628" y="4069080"/>
            <a:ext cx="1999427" cy="2103120"/>
          </a:xfrm>
          <a:prstGeom prst="roundRect">
            <a:avLst>
              <a:gd name="adj" fmla="val 3659"/>
            </a:avLst>
          </a:prstGeom>
          <a:solidFill>
            <a:schemeClr val="bg2"/>
          </a:solidFill>
          <a:ln w="9525">
            <a:solidFill>
              <a:srgbClr val="C4CBD8"/>
            </a:solidFill>
            <a:prstDash val="solid"/>
          </a:ln>
        </p:spPr>
      </p:sp>
      <p:sp>
        <p:nvSpPr>
          <p:cNvPr id="33" name="Card label"/>
          <p:cNvSpPr txBox="1"/>
          <p:nvPr/>
        </p:nvSpPr>
        <p:spPr>
          <a:xfrm>
            <a:off x="9826508"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2.1</a:t>
            </a:r>
            <a:endParaRPr lang="en-US" sz="1300" dirty="0"/>
          </a:p>
        </p:txBody>
      </p:sp>
      <p:sp>
        <p:nvSpPr>
          <p:cNvPr id="34" name="Card head"/>
          <p:cNvSpPr txBox="1"/>
          <p:nvPr/>
        </p:nvSpPr>
        <p:spPr>
          <a:xfrm>
            <a:off x="9826508" y="452628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From Question to Solvable Problem</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 · DEFINITION 1.1 · PROPOSITION 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Analysis runs forward; optimization runs backward</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DEFINITION 1.1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Optimization</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dirty="0">
                <a:solidFill>
                  <a:schemeClr val="tx1"/>
                </a:solidFill>
              </a:rPr>
              <a:t>The </a:t>
            </a:r>
            <a:r>
              <a:rPr lang="en-US" sz="1500" b="1" dirty="0">
                <a:solidFill>
                  <a:schemeClr val="tx1"/>
                </a:solidFill>
              </a:rPr>
              <a:t>selection</a:t>
            </a:r>
            <a:r>
              <a:rPr lang="en-US" sz="1500" dirty="0">
                <a:solidFill>
                  <a:schemeClr val="tx1"/>
                </a:solidFill>
              </a:rPr>
              <a:t>, by methods with </a:t>
            </a:r>
            <a:r>
              <a:rPr lang="en-US" sz="1500" b="1" dirty="0">
                <a:solidFill>
                  <a:schemeClr val="tx1"/>
                </a:solidFill>
              </a:rPr>
              <a:t>stated guarantees</a:t>
            </a:r>
            <a:r>
              <a:rPr lang="en-US" sz="1500" dirty="0">
                <a:solidFill>
                  <a:schemeClr val="tx1"/>
                </a:solidFill>
              </a:rPr>
              <a:t>, of a company's decisions: its programs, allocations and rules</a:t>
            </a:r>
            <a:endParaRPr lang="en-US" sz="1500" dirty="0"/>
          </a:p>
          <a:p>
            <a:pPr marL="228600" indent="-228600">
              <a:spcAft>
                <a:spcPts val="600"/>
              </a:spcAft>
              <a:buSzPct val="100000"/>
              <a:buChar char="•"/>
            </a:pPr>
            <a:r>
              <a:rPr lang="en-US" sz="1500" dirty="0">
                <a:solidFill>
                  <a:schemeClr val="tx1"/>
                </a:solidFill>
              </a:rPr>
              <a:t>that maximize a </a:t>
            </a:r>
            <a:r>
              <a:rPr lang="en-US" sz="1500" b="1" dirty="0">
                <a:solidFill>
                  <a:schemeClr val="tx1"/>
                </a:solidFill>
              </a:rPr>
              <a:t>declared</a:t>
            </a:r>
            <a:r>
              <a:rPr lang="en-US" sz="1500" dirty="0">
                <a:solidFill>
                  <a:schemeClr val="tx1"/>
                </a:solidFill>
              </a:rPr>
              <a:t> objective of the company's path</a:t>
            </a:r>
            <a:endParaRPr lang="en-US" sz="1500" dirty="0"/>
          </a:p>
          <a:p>
            <a:pPr marL="228600" indent="-228600">
              <a:spcAft>
                <a:spcPts val="600"/>
              </a:spcAft>
              <a:buSzPct val="100000"/>
              <a:buChar char="•"/>
            </a:pPr>
            <a:r>
              <a:rPr lang="en-US" sz="1500" dirty="0">
                <a:solidFill>
                  <a:schemeClr val="tx1"/>
                </a:solidFill>
              </a:rPr>
              <a:t>subject to the commitments of </a:t>
            </a:r>
            <a:r>
              <a:rPr lang="en-US" sz="1500" b="1" dirty="0">
                <a:solidFill>
                  <a:schemeClr val="tx1"/>
                </a:solidFill>
              </a:rPr>
              <a:t>all its architectures</a:t>
            </a:r>
            <a:r>
              <a:rPr lang="en-US" sz="1500" dirty="0">
                <a:solidFill>
                  <a:schemeClr val="tx1"/>
                </a:solidFill>
              </a:rPr>
              <a:t> and the declared description of its uncertainty</a:t>
            </a:r>
            <a:endParaRPr lang="en-US" sz="1500" dirty="0"/>
          </a:p>
          <a:p>
            <a:pPr marL="228600" indent="-228600">
              <a:spcAft>
                <a:spcPts val="600"/>
              </a:spcAft>
              <a:buSzPct val="100000"/>
              <a:buChar char="•"/>
            </a:pPr>
            <a:r>
              <a:rPr lang="en-US" sz="1500" dirty="0">
                <a:solidFill>
                  <a:schemeClr val="tx1"/>
                </a:solidFill>
              </a:rPr>
              <a:t>The backward search is large, partly lumpy and coupled: strong analysis does not by itself make strong optimization</a:t>
            </a:r>
            <a:endParaRPr lang="en-US" sz="1500" dirty="0"/>
          </a:p>
          <a:p>
            <a:pPr marL="228600" indent="-228600">
              <a:spcAft>
                <a:spcPts val="600"/>
              </a:spcAft>
              <a:buSzPct val="100000"/>
              <a:buChar char="•"/>
            </a:pPr>
            <a:r>
              <a:rPr lang="en-US" sz="1500" b="1" dirty="0">
                <a:solidFill>
                  <a:schemeClr val="tx1"/>
                </a:solidFill>
              </a:rPr>
              <a:t>Proposition 1.1.</a:t>
            </a:r>
            <a:r>
              <a:rPr lang="en-US" sz="1500" dirty="0">
                <a:solidFill>
                  <a:schemeClr val="tx1"/>
                </a:solidFill>
              </a:rPr>
              <a:t> No declared state, no optimization: a solver that answers an undeclared problem has solved one of its own</a:t>
            </a:r>
            <a:endParaRPr lang="en-US" sz="1500" dirty="0"/>
          </a:p>
        </p:txBody>
      </p:sp>
      <p:pic>
        <p:nvPicPr>
          <p:cNvPr id="9" name="Figure" descr="Figure 1.1: analysis runs forward, optimization runs backward">    </p:cNvPr>
          <p:cNvPicPr>
            <a:picLocks noChangeAspect="1"/>
          </p:cNvPicPr>
          <p:nvPr/>
        </p:nvPicPr>
        <p:blipFill>
          <a:blip r:embed="rId1"/>
          <a:stretch>
            <a:fillRect/>
          </a:stretch>
        </p:blipFill>
        <p:spPr>
          <a:xfrm>
            <a:off x="6903720" y="1868330"/>
            <a:ext cx="4739335" cy="2188651"/>
          </a:xfrm>
          <a:prstGeom prst="rect">
            <a:avLst/>
          </a:prstGeom>
        </p:spPr>
      </p:pic>
      <p:sp>
        <p:nvSpPr>
          <p:cNvPr id="10" name="Caption"/>
          <p:cNvSpPr txBox="1"/>
          <p:nvPr/>
        </p:nvSpPr>
        <p:spPr>
          <a:xfrm>
            <a:off x="6903720" y="4130134"/>
            <a:ext cx="4739335" cy="502920"/>
          </a:xfrm>
          <a:prstGeom prst="rect">
            <a:avLst/>
          </a:prstGeom>
          <a:noFill/>
          <a:ln/>
        </p:spPr>
        <p:txBody>
          <a:bodyPr wrap="square" lIns="0" tIns="0" rIns="0" bIns="0" rtlCol="0" anchor="t"/>
          <a:lstStyle/>
          <a:p>
            <a:pPr indent="0" marL="0">
              <a:buNone/>
            </a:pPr>
            <a:r>
              <a:rPr lang="en-US" sz="1100" i="1" dirty="0">
                <a:solidFill>
                  <a:schemeClr val="tx2"/>
                </a:solidFill>
              </a:rPr>
              <a:t>Figure 1.1. Both directions use the same declared model of the company; the readiness gates of Volume I stand in front of it.</a:t>
            </a:r>
            <a:endParaRPr lang="en-US" sz="1100" dirty="0"/>
          </a:p>
        </p:txBody>
      </p:sp>
      <p:sp>
        <p:nvSpPr>
          <p:cNvPr id="11" name="Bullets"/>
          <p:cNvSpPr txBox="1"/>
          <p:nvPr/>
        </p:nvSpPr>
        <p:spPr>
          <a:xfrm>
            <a:off x="6903720" y="4846320"/>
            <a:ext cx="4739335" cy="132588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Meridian arrives with Volume I's answers: eight readings, a core certified at 0.80, an appetite priced at $10.4m</a:t>
            </a:r>
            <a:endParaRPr lang="en-US" sz="1500" dirty="0"/>
          </a:p>
          <a:p>
            <a:pPr marL="228600" indent="-228600">
              <a:spcAft>
                <a:spcPts val="800"/>
              </a:spcAft>
              <a:buSzPct val="100000"/>
              <a:buChar char="•"/>
            </a:pPr>
            <a:r>
              <a:rPr lang="en-US" sz="1500" dirty="0">
                <a:solidFill>
                  <a:schemeClr val="tx1"/>
                </a:solidFill>
              </a:rPr>
              <a:t>The first step on any problem is a declaration audit, not a model build</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§1.2 · OPTIMIZATION AND THE COMPANY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Old mathematics that became young computation</a:t>
            </a:r>
            <a:endParaRPr lang="en-US" sz="3200" dirty="0"/>
          </a:p>
        </p:txBody>
      </p:sp>
      <p:sp>
        <p:nvSpPr>
          <p:cNvPr id="5" name="Step 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Number"/>
          <p:cNvSpPr/>
          <p:nvPr/>
        </p:nvSpPr>
        <p:spPr>
          <a:xfrm>
            <a:off x="731520" y="1874520"/>
            <a:ext cx="457200" cy="457200"/>
          </a:xfrm>
          <a:prstGeom prst="ellipse">
            <a:avLst/>
          </a:prstGeom>
          <a:solidFill>
            <a:schemeClr val="accent1"/>
          </a:solidFill>
          <a:ln w="6350">
            <a:solidFill>
              <a:schemeClr val="accent1"/>
            </a:solidFill>
            <a:prstDash val="solid"/>
          </a:ln>
        </p:spPr>
      </p:sp>
      <p:sp>
        <p:nvSpPr>
          <p:cNvPr id="7" name="Text 4"/>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8" name="Step head"/>
          <p:cNvSpPr txBox="1"/>
          <p:nvPr/>
        </p:nvSpPr>
        <p:spPr>
          <a:xfrm>
            <a:off x="1325880"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1940s: linear programs</a:t>
            </a:r>
            <a:endParaRPr lang="en-US" sz="1700" dirty="0"/>
          </a:p>
        </p:txBody>
      </p:sp>
      <p:sp>
        <p:nvSpPr>
          <p:cNvPr id="9" name="Step text"/>
          <p:cNvSpPr txBox="1"/>
          <p:nvPr/>
        </p:nvSpPr>
        <p:spPr>
          <a:xfrm>
            <a:off x="731520"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Kantorovich's production planning, Dantzig's simplex method and Koopmans's activity analysis made allocation under linear limits a solved industrial problem.</a:t>
            </a:r>
            <a:endParaRPr lang="en-US" sz="1400" dirty="0"/>
          </a:p>
        </p:txBody>
      </p:sp>
      <p:sp>
        <p:nvSpPr>
          <p:cNvPr id="10" name="Step 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1" name="Number"/>
          <p:cNvSpPr/>
          <p:nvPr/>
        </p:nvSpPr>
        <p:spPr>
          <a:xfrm>
            <a:off x="4521098" y="1874520"/>
            <a:ext cx="457200" cy="457200"/>
          </a:xfrm>
          <a:prstGeom prst="ellipse">
            <a:avLst/>
          </a:prstGeom>
          <a:solidFill>
            <a:schemeClr val="accent1"/>
          </a:solidFill>
          <a:ln w="6350">
            <a:solidFill>
              <a:schemeClr val="accent1"/>
            </a:solidFill>
            <a:prstDash val="solid"/>
          </a:ln>
        </p:spPr>
      </p:sp>
      <p:sp>
        <p:nvSpPr>
          <p:cNvPr id="12" name="Text 9"/>
          <p:cNvSpPr txBox="1"/>
          <p:nvPr/>
        </p:nvSpPr>
        <p:spPr>
          <a:xfrm>
            <a:off x="4521098"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3" name="Step head"/>
          <p:cNvSpPr txBox="1"/>
          <p:nvPr/>
        </p:nvSpPr>
        <p:spPr>
          <a:xfrm>
            <a:off x="5115458"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1950s: structure, time</a:t>
            </a:r>
            <a:endParaRPr lang="en-US" sz="1700" dirty="0"/>
          </a:p>
        </p:txBody>
      </p:sp>
      <p:sp>
        <p:nvSpPr>
          <p:cNvPr id="14" name="Step text"/>
          <p:cNvSpPr txBox="1"/>
          <p:nvPr/>
        </p:nvSpPr>
        <p:spPr>
          <a:xfrm>
            <a:off x="4521098"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Karush, Kuhn and Tucker extended the multipliers to inequalities; Markowitz made portfolio choice a quadratic program; Bellman and Pontryagin optimized over time.</a:t>
            </a:r>
            <a:endParaRPr lang="en-US" sz="1400" dirty="0"/>
          </a:p>
        </p:txBody>
      </p:sp>
      <p:sp>
        <p:nvSpPr>
          <p:cNvPr id="15" name="Step card"/>
          <p:cNvSpPr/>
          <p:nvPr/>
        </p:nvSpPr>
        <p:spPr>
          <a:xfrm>
            <a:off x="8127797" y="1691640"/>
            <a:ext cx="3515258" cy="2103120"/>
          </a:xfrm>
          <a:prstGeom prst="roundRect">
            <a:avLst>
              <a:gd name="adj" fmla="val 3478"/>
            </a:avLst>
          </a:prstGeom>
          <a:solidFill>
            <a:schemeClr val="bg2"/>
          </a:solidFill>
          <a:ln w="9525">
            <a:solidFill>
              <a:srgbClr val="C4CBD8"/>
            </a:solidFill>
            <a:prstDash val="solid"/>
          </a:ln>
        </p:spPr>
      </p:sp>
      <p:sp>
        <p:nvSpPr>
          <p:cNvPr id="16" name="Number"/>
          <p:cNvSpPr/>
          <p:nvPr/>
        </p:nvSpPr>
        <p:spPr>
          <a:xfrm>
            <a:off x="8310677" y="1874520"/>
            <a:ext cx="457200" cy="457200"/>
          </a:xfrm>
          <a:prstGeom prst="ellipse">
            <a:avLst/>
          </a:prstGeom>
          <a:solidFill>
            <a:schemeClr val="accent1"/>
          </a:solidFill>
          <a:ln w="6350">
            <a:solidFill>
              <a:schemeClr val="accent1"/>
            </a:solidFill>
            <a:prstDash val="solid"/>
          </a:ln>
        </p:spPr>
      </p:sp>
      <p:sp>
        <p:nvSpPr>
          <p:cNvPr id="17" name="Text 14"/>
          <p:cNvSpPr txBox="1"/>
          <p:nvPr/>
        </p:nvSpPr>
        <p:spPr>
          <a:xfrm>
            <a:off x="8310677"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8" name="Step head"/>
          <p:cNvSpPr txBox="1"/>
          <p:nvPr/>
        </p:nvSpPr>
        <p:spPr>
          <a:xfrm>
            <a:off x="8905037"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1980s–90s: convexity</a:t>
            </a:r>
            <a:endParaRPr lang="en-US" sz="1700" dirty="0"/>
          </a:p>
        </p:txBody>
      </p:sp>
      <p:sp>
        <p:nvSpPr>
          <p:cNvPr id="19" name="Step text"/>
          <p:cNvSpPr txBox="1"/>
          <p:nvPr/>
        </p:nvSpPr>
        <p:spPr>
          <a:xfrm>
            <a:off x="8310677"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Linear programming proved solvable in polynomial time; the convex synthesis moved the line between easy and hard to convex versus nonconvex.</a:t>
            </a:r>
            <a:endParaRPr lang="en-US" sz="1400" dirty="0"/>
          </a:p>
        </p:txBody>
      </p:sp>
      <p:sp>
        <p:nvSpPr>
          <p:cNvPr id="20" name="Step 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21" name="Number"/>
          <p:cNvSpPr/>
          <p:nvPr/>
        </p:nvSpPr>
        <p:spPr>
          <a:xfrm>
            <a:off x="731520" y="4251960"/>
            <a:ext cx="457200" cy="457200"/>
          </a:xfrm>
          <a:prstGeom prst="ellipse">
            <a:avLst/>
          </a:prstGeom>
          <a:solidFill>
            <a:schemeClr val="accent1"/>
          </a:solidFill>
          <a:ln w="6350">
            <a:solidFill>
              <a:schemeClr val="accent1"/>
            </a:solidFill>
            <a:prstDash val="solid"/>
          </a:ln>
        </p:spPr>
      </p:sp>
      <p:sp>
        <p:nvSpPr>
          <p:cNvPr id="22" name="Text 19"/>
          <p:cNvSpPr txBox="1"/>
          <p:nvPr/>
        </p:nvSpPr>
        <p:spPr>
          <a:xfrm>
            <a:off x="731520"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3" name="Step head"/>
          <p:cNvSpPr txBox="1"/>
          <p:nvPr/>
        </p:nvSpPr>
        <p:spPr>
          <a:xfrm>
            <a:off x="1325880"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Business at a distance</a:t>
            </a:r>
            <a:endParaRPr lang="en-US" sz="1700" dirty="0"/>
          </a:p>
        </p:txBody>
      </p:sp>
      <p:sp>
        <p:nvSpPr>
          <p:cNvPr id="24" name="Step text"/>
          <p:cNvSpPr txBox="1"/>
          <p:nvPr/>
        </p:nvSpPr>
        <p:spPr>
          <a:xfrm>
            <a:off x="731520" y="4846320"/>
            <a:ext cx="3149498" cy="1234440"/>
          </a:xfrm>
          <a:prstGeom prst="rect">
            <a:avLst/>
          </a:prstGeom>
          <a:noFill/>
          <a:ln/>
        </p:spPr>
        <p:txBody>
          <a:bodyPr wrap="square" lIns="0" tIns="0" rIns="0" bIns="0" rtlCol="0" anchor="t"/>
          <a:lstStyle/>
          <a:p>
            <a:pPr indent="0" marL="0">
              <a:buNone/>
            </a:pPr>
            <a:r>
              <a:rPr lang="en-US" sz="1400" dirty="0">
                <a:solidFill>
                  <a:schemeClr val="tx1"/>
                </a:solidFill>
              </a:rPr>
              <a:t>Management science optimized production, blending, scheduling and logistics; finance optimized portfolios and capital structures.</a:t>
            </a:r>
            <a:endParaRPr lang="en-US" sz="1400" dirty="0"/>
          </a:p>
        </p:txBody>
      </p:sp>
      <p:sp>
        <p:nvSpPr>
          <p:cNvPr id="25" name="Step 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6" name="Number"/>
          <p:cNvSpPr/>
          <p:nvPr/>
        </p:nvSpPr>
        <p:spPr>
          <a:xfrm>
            <a:off x="4521098" y="4251960"/>
            <a:ext cx="457200" cy="457200"/>
          </a:xfrm>
          <a:prstGeom prst="ellipse">
            <a:avLst/>
          </a:prstGeom>
          <a:solidFill>
            <a:schemeClr val="accent1"/>
          </a:solidFill>
          <a:ln w="6350">
            <a:solidFill>
              <a:schemeClr val="accent1"/>
            </a:solidFill>
            <a:prstDash val="solid"/>
          </a:ln>
        </p:spPr>
      </p:sp>
      <p:sp>
        <p:nvSpPr>
          <p:cNvPr id="27" name="Text 24"/>
          <p:cNvSpPr txBox="1"/>
          <p:nvPr/>
        </p:nvSpPr>
        <p:spPr>
          <a:xfrm>
            <a:off x="4521098"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8" name="Step head"/>
          <p:cNvSpPr txBox="1"/>
          <p:nvPr/>
        </p:nvSpPr>
        <p:spPr>
          <a:xfrm>
            <a:off x="5115458"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The company itself</a:t>
            </a:r>
            <a:endParaRPr lang="en-US" sz="1700" dirty="0"/>
          </a:p>
        </p:txBody>
      </p:sp>
      <p:sp>
        <p:nvSpPr>
          <p:cNvPr id="29" name="Step text"/>
          <p:cNvSpPr txBox="1"/>
          <p:nvPr/>
        </p:nvSpPr>
        <p:spPr>
          <a:xfrm>
            <a:off x="4521098" y="4846320"/>
            <a:ext cx="3149498" cy="1234440"/>
          </a:xfrm>
          <a:prstGeom prst="rect">
            <a:avLst/>
          </a:prstGeom>
          <a:noFill/>
          <a:ln/>
        </p:spPr>
        <p:txBody>
          <a:bodyPr wrap="square" lIns="0" tIns="0" rIns="0" bIns="0" rtlCol="0" anchor="t"/>
          <a:lstStyle/>
          <a:p>
            <a:pPr indent="0" marL="0">
              <a:buNone/>
            </a:pPr>
            <a:r>
              <a:rPr lang="en-US" sz="1400" dirty="0">
                <a:solidFill>
                  <a:schemeClr val="tx1"/>
                </a:solidFill>
              </a:rPr>
              <a:t>Transformation stayed unoptimized: no shared state, no declared objective, no audited commitments. Decision makers satisficed (Simon).</a:t>
            </a:r>
            <a:endParaRPr lang="en-US" sz="1400" dirty="0"/>
          </a:p>
        </p:txBody>
      </p:sp>
      <p:sp>
        <p:nvSpPr>
          <p:cNvPr id="30" name="Step card"/>
          <p:cNvSpPr/>
          <p:nvPr/>
        </p:nvSpPr>
        <p:spPr>
          <a:xfrm>
            <a:off x="8127797" y="4069080"/>
            <a:ext cx="3515258" cy="2103120"/>
          </a:xfrm>
          <a:prstGeom prst="roundRect">
            <a:avLst>
              <a:gd name="adj" fmla="val 3478"/>
            </a:avLst>
          </a:prstGeom>
          <a:solidFill>
            <a:schemeClr val="bg2"/>
          </a:solidFill>
          <a:ln w="9525">
            <a:solidFill>
              <a:srgbClr val="C4CBD8"/>
            </a:solidFill>
            <a:prstDash val="solid"/>
          </a:ln>
        </p:spPr>
      </p:sp>
      <p:sp>
        <p:nvSpPr>
          <p:cNvPr id="31" name="Number"/>
          <p:cNvSpPr/>
          <p:nvPr/>
        </p:nvSpPr>
        <p:spPr>
          <a:xfrm>
            <a:off x="8310677" y="4251960"/>
            <a:ext cx="457200" cy="457200"/>
          </a:xfrm>
          <a:prstGeom prst="ellipse">
            <a:avLst/>
          </a:prstGeom>
          <a:solidFill>
            <a:schemeClr val="accent1"/>
          </a:solidFill>
          <a:ln w="6350">
            <a:solidFill>
              <a:schemeClr val="accent1"/>
            </a:solidFill>
            <a:prstDash val="solid"/>
          </a:ln>
        </p:spPr>
      </p:sp>
      <p:sp>
        <p:nvSpPr>
          <p:cNvPr id="32" name="Text 29"/>
          <p:cNvSpPr txBox="1"/>
          <p:nvPr/>
        </p:nvSpPr>
        <p:spPr>
          <a:xfrm>
            <a:off x="8310677"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33" name="Step head"/>
          <p:cNvSpPr txBox="1"/>
          <p:nvPr/>
        </p:nvSpPr>
        <p:spPr>
          <a:xfrm>
            <a:off x="8905037"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This volume joins them</a:t>
            </a:r>
            <a:endParaRPr lang="en-US" sz="1700" dirty="0"/>
          </a:p>
        </p:txBody>
      </p:sp>
      <p:sp>
        <p:nvSpPr>
          <p:cNvPr id="34" name="Step text"/>
          <p:cNvSpPr txBox="1"/>
          <p:nvPr/>
        </p:nvSpPr>
        <p:spPr>
          <a:xfrm>
            <a:off x="8310677" y="4846320"/>
            <a:ext cx="3149498" cy="1234440"/>
          </a:xfrm>
          <a:prstGeom prst="rect">
            <a:avLst/>
          </a:prstGeom>
          <a:noFill/>
          <a:ln/>
        </p:spPr>
        <p:txBody>
          <a:bodyPr wrap="square" lIns="0" tIns="0" rIns="0" bIns="0" rtlCol="0" anchor="t"/>
          <a:lstStyle/>
          <a:p>
            <a:pPr indent="0" marL="0">
              <a:buNone/>
            </a:pPr>
            <a:r>
              <a:rPr lang="en-US" sz="1400" dirty="0">
                <a:solidFill>
                  <a:schemeClr val="tx1"/>
                </a:solidFill>
              </a:rPr>
              <a:t>The last two decades supplied stochastic and robust programming at scale and learned policies; Volume I supplied the representation.</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 · THEOREM 1.1 · EQUATION 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One canonical form for every well-posed decision</a:t>
            </a:r>
            <a:endParaRPr lang="en-US" sz="3200" dirty="0"/>
          </a:p>
        </p:txBody>
      </p:sp>
      <p:pic>
        <p:nvPicPr>
          <p:cNvPr id="5" name="Equation" descr="Equation: \begin{aligned} \max_{\mathbf{u} \in \mathcal{D}} \quad &amp; J(\mathbf{x}, \mathbf{u}) \\ \text{subject to} \quad &amp; \mathbf{x} = f(\mathbf{u}), \quad g_i(\mathbf{x}, \mathbf{u}) \le 0 \;\, (i \le m), \quad h_j(\mathbf{x}, \mathbf{u}) = 0 \;\, (j \le p) \end{aligned}">    </p:cNvPr>
          <p:cNvPicPr>
            <a:picLocks noChangeAspect="1"/>
          </p:cNvPicPr>
          <p:nvPr/>
        </p:nvPicPr>
        <p:blipFill>
          <a:blip r:embed="rId1"/>
          <a:stretch>
            <a:fillRect/>
          </a:stretch>
        </p:blipFill>
        <p:spPr>
          <a:xfrm>
            <a:off x="1758069" y="1828800"/>
            <a:ext cx="8675557" cy="1143000"/>
          </a:xfrm>
          <a:prstGeom prst="rect">
            <a:avLst/>
          </a:prstGeom>
        </p:spPr>
      </p:pic>
      <p:sp>
        <p:nvSpPr>
          <p:cNvPr id="6" name="Text 2"/>
          <p:cNvSpPr txBox="1"/>
          <p:nvPr/>
        </p:nvSpPr>
        <p:spPr>
          <a:xfrm>
            <a:off x="914400" y="310896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decisions the company can take, its declared objective, the path they induce, and every declared commitment</a:t>
            </a:r>
            <a:endParaRPr lang="en-US" sz="1600" dirty="0"/>
          </a:p>
        </p:txBody>
      </p:sp>
      <p:sp>
        <p:nvSpPr>
          <p:cNvPr id="7" name="Bullets"/>
          <p:cNvSpPr txBox="1"/>
          <p:nvPr/>
        </p:nvSpPr>
        <p:spPr>
          <a:xfrm>
            <a:off x="914400" y="3703320"/>
            <a:ext cx="1036289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Decisions</a:t>
            </a:r>
            <a:r>
              <a:rPr lang="en-US" sz="1700" dirty="0">
                <a:solidFill>
                  <a:schemeClr val="bg1"/>
                </a:solidFill>
              </a:rPr>
              <a:t> carry a domain, a type, a unit and an address: the owner who sets them (Definition 1.2); </a:t>
            </a:r>
            <a:r>
              <a:rPr lang="en-US" sz="1700" b="1" dirty="0">
                <a:solidFill>
                  <a:schemeClr val="bg1"/>
                </a:solidFill>
              </a:rPr>
              <a:t>rules</a:t>
            </a:r>
            <a:r>
              <a:rPr lang="en-US" sz="1700" dirty="0">
                <a:solidFill>
                  <a:schemeClr val="bg1"/>
                </a:solidFill>
              </a:rPr>
              <a:t> set them from what the company knows (Definition 1.3)</a:t>
            </a:r>
            <a:endParaRPr lang="en-US" sz="1700" dirty="0"/>
          </a:p>
          <a:p>
            <a:pPr marL="228600" indent="-228600">
              <a:spcAft>
                <a:spcPts val="800"/>
              </a:spcAft>
              <a:buSzPct val="100000"/>
              <a:buChar char="•"/>
            </a:pPr>
            <a:r>
              <a:rPr lang="en-US" sz="1700" b="1" dirty="0">
                <a:solidFill>
                  <a:schemeClr val="bg1"/>
                </a:solidFill>
              </a:rPr>
              <a:t>Objectives</a:t>
            </a:r>
            <a:r>
              <a:rPr lang="en-US" sz="1700" dirty="0">
                <a:solidFill>
                  <a:schemeClr val="bg1"/>
                </a:solidFill>
              </a:rPr>
              <a:t> are measurements promoted to criteria, so weights are policy (Definition 1.4); </a:t>
            </a:r>
            <a:r>
              <a:rPr lang="en-US" sz="1700" b="1" dirty="0">
                <a:solidFill>
                  <a:schemeClr val="bg1"/>
                </a:solidFill>
              </a:rPr>
              <a:t>constraints</a:t>
            </a:r>
            <a:r>
              <a:rPr lang="en-US" sz="1700" dirty="0">
                <a:solidFill>
                  <a:schemeClr val="bg1"/>
                </a:solidFill>
              </a:rPr>
              <a:t> are commitments with an owner (Definition 1.5)</a:t>
            </a:r>
            <a:endParaRPr lang="en-US" sz="1700" dirty="0"/>
          </a:p>
          <a:p>
            <a:pPr marL="228600" indent="-228600">
              <a:spcAft>
                <a:spcPts val="800"/>
              </a:spcAft>
              <a:buSzPct val="100000"/>
              <a:buChar char="•"/>
            </a:pPr>
            <a:r>
              <a:rPr lang="en-US" sz="1700" b="1" dirty="0">
                <a:solidFill>
                  <a:schemeClr val="bg1"/>
                </a:solidFill>
              </a:rPr>
              <a:t>Theorem 1.1.</a:t>
            </a:r>
            <a:r>
              <a:rPr lang="en-US" sz="1700" dirty="0">
                <a:solidFill>
                  <a:schemeClr val="bg1"/>
                </a:solidFill>
              </a:rPr>
              <a:t> Nothing is lost, and nothing is left to taste: two modelers obtain the same instance up to the order and sign of the constraints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 · TABLE 1.1 · PROPOSITION 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Where Volume I's architectures enter a problem</a:t>
            </a:r>
            <a:endParaRPr lang="en-US" sz="3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200545"/>
                <a:gridCol w="4034333"/>
                <a:gridCol w="4859537"/>
              </a:tblGrid>
              <a:tr h="512064">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Architecture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What it supplies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How it enters the problem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State (ESA)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readings, their components and the dependency graph</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state x; bounds on readings; which decisions can reach which readings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Transformation (ETA)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programs, operators, rules and their domains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decisions u and the policy class; execution limits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Capital (ECA)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stocks, conversions, rents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budgets and balances; capital floors; costs in the objective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Performance (EPA)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ledgers with declared weights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objective terms; targets and service floors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Risk (ERRA)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risk measures, stress sets, appetite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risk ceilings; probability and worst-case constraints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Unified (UETA)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one state and the coupling register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only object on which problems that mix ledgers are well posed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Proposition 1.2.</a:t>
            </a:r>
            <a:r>
              <a:rPr lang="en-US" sz="1600" dirty="0">
                <a:solidFill>
                  <a:schemeClr val="accent2"/>
                </a:solidFill>
              </a:rPr>
              <a:t> Feasibility is conjunction: objectives compensate; constraints do not.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 · TABLE 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Kinds of decision, and what each does</a:t>
            </a:r>
            <a:endParaRPr lang="en-US" sz="32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467030"/>
                <a:gridCol w="1925477"/>
                <a:gridCol w="4217712"/>
                <a:gridCol w="3484197"/>
              </a:tblGrid>
              <a:tr h="603504">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Kind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Form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Meridian instance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Effect on the problem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Continuous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an interval [a, b]</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size of the standby line; months of delay; capability spending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benign: convex boxes, smooth search</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Integer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{0, 1, 2, …}</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line written in $50 million tranches; whole quarters of delay; plants converted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region breaks into separate pieces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Binary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{0, 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sell part of Industrial Systems or not; keep the engineering team or not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every choice doubles the number of pieces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Sequencing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orders, start dates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digital build before or after the sale (Volume I, Worked Example 3.1)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feasibility can depend on the order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policy in a declared class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draw the line only after a funding window closes; slow the build when cash falls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search is over functions, not numbers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Theorem 1.2.</a:t>
            </a:r>
            <a:r>
              <a:rPr lang="en-US" sz="1600" dirty="0">
                <a:solidFill>
                  <a:schemeClr val="accent2"/>
                </a:solidFill>
              </a:rPr>
              <a:t> Feasibility, boundedness and continuity are the whole existence bill.</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 · THEOREM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Where the difficulty of a problem lives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Decision Space Characterization</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Structure.</a:t>
            </a:r>
            <a:r>
              <a:rPr lang="en-US" sz="1600" dirty="0">
                <a:solidFill>
                  <a:schemeClr val="tx1"/>
                </a:solidFill>
              </a:rPr>
              <a:t> Closed and bounded when rules have finitely many parameters in closed ranges</a:t>
            </a:r>
            <a:endParaRPr lang="en-US" sz="1600" dirty="0"/>
          </a:p>
          <a:p>
            <a:pPr marL="228600" indent="-228600">
              <a:spcAft>
                <a:spcPts val="600"/>
              </a:spcAft>
              <a:buSzPct val="100000"/>
              <a:buChar char="•"/>
            </a:pPr>
            <a:r>
              <a:rPr lang="en-US" sz="1600" b="1" dirty="0">
                <a:solidFill>
                  <a:schemeClr val="tx1"/>
                </a:solidFill>
              </a:rPr>
              <a:t>(ii) Convexity</a:t>
            </a:r>
            <a:r>
              <a:rPr lang="en-US" sz="1600" dirty="0">
                <a:solidFill>
                  <a:schemeClr val="tx1"/>
                </a:solidFill>
              </a:rPr>
              <a:t> lives and dies with the lumpy choices: one piece of the region per combination</a:t>
            </a:r>
            <a:endParaRPr lang="en-US" sz="1600" dirty="0"/>
          </a:p>
          <a:p>
            <a:pPr marL="228600" indent="-228600">
              <a:spcAft>
                <a:spcPts val="600"/>
              </a:spcAft>
              <a:buSzPct val="100000"/>
              <a:buChar char="•"/>
            </a:pPr>
            <a:r>
              <a:rPr lang="en-US" sz="1600" b="1" dirty="0">
                <a:solidFill>
                  <a:schemeClr val="tx1"/>
                </a:solidFill>
              </a:rPr>
              <a:t>(iii) Scale.</a:t>
            </a:r>
            <a:r>
              <a:rPr lang="en-US" sz="1600" dirty="0">
                <a:solidFill>
                  <a:schemeClr val="tx1"/>
                </a:solidFill>
              </a:rPr>
              <a:t> q free yes-or-no choices make at least 2</a:t>
            </a:r>
            <a:r>
              <a:rPr lang="en-US" sz="1600" baseline="30000" dirty="0">
                <a:solidFill>
                  <a:schemeClr val="tx1"/>
                </a:solidFill>
              </a:rPr>
              <a:t>q</a:t>
            </a:r>
            <a:r>
              <a:rPr lang="en-US" sz="1600" dirty="0">
                <a:solidFill>
                  <a:schemeClr val="tx1"/>
                </a:solidFill>
              </a:rPr>
              <a:t> pieces</a:t>
            </a:r>
            <a:endParaRPr lang="en-US" sz="1600" dirty="0"/>
          </a:p>
          <a:p>
            <a:pPr marL="228600" indent="-228600">
              <a:spcAft>
                <a:spcPts val="600"/>
              </a:spcAft>
              <a:buSzPct val="100000"/>
              <a:buChar char="•"/>
            </a:pPr>
            <a:r>
              <a:rPr lang="en-US" sz="1600" b="1" dirty="0">
                <a:solidFill>
                  <a:schemeClr val="tx1"/>
                </a:solidFill>
              </a:rPr>
              <a:t>(iv) Rules.</a:t>
            </a:r>
            <a:r>
              <a:rPr lang="en-US" sz="1600" dirty="0">
                <a:solidFill>
                  <a:schemeClr val="tx1"/>
                </a:solidFill>
              </a:rPr>
              <a:t> The search is over functions; a larger class of rules can only raise the best value</a:t>
            </a:r>
            <a:endParaRPr lang="en-US" sz="1600" dirty="0"/>
          </a:p>
          <a:p>
            <a:pPr marL="228600" indent="-228600">
              <a:spcAft>
                <a:spcPts val="600"/>
              </a:spcAft>
              <a:buSzPct val="100000"/>
              <a:buChar char="•"/>
            </a:pPr>
            <a:r>
              <a:rPr lang="en-US" sz="1600" b="1" dirty="0">
                <a:solidFill>
                  <a:schemeClr val="tx1"/>
                </a:solidFill>
              </a:rPr>
              <a:t>(v)</a:t>
            </a:r>
            <a:r>
              <a:rPr lang="en-US" sz="1600" dirty="0">
                <a:solidFill>
                  <a:schemeClr val="tx1"/>
                </a:solidFill>
              </a:rPr>
              <a:t> A relaxation bounds every lumpy decision; rounding its optimum can be infeasible or dearer</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The routing switch</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Continuous allocations go to Chapter 3: local answers are global, certificates cheap</a:t>
            </a:r>
            <a:endParaRPr lang="en-US" sz="1700" dirty="0"/>
          </a:p>
          <a:p>
            <a:pPr marL="228600" indent="-228600">
              <a:spcAft>
                <a:spcPts val="800"/>
              </a:spcAft>
              <a:buSzPct val="100000"/>
              <a:buChar char="•"/>
            </a:pPr>
            <a:r>
              <a:rPr lang="en-US" sz="1700" dirty="0">
                <a:solidFill>
                  <a:schemeClr val="tx1"/>
                </a:solidFill>
              </a:rPr>
              <a:t>Lumpy choices go to Chapter 4: forty yes-or-no choices make 2</a:t>
            </a:r>
            <a:r>
              <a:rPr lang="en-US" sz="1700" baseline="30000" dirty="0">
                <a:solidFill>
                  <a:schemeClr val="tx1"/>
                </a:solidFill>
              </a:rPr>
              <a:t>40</a:t>
            </a:r>
            <a:r>
              <a:rPr lang="en-US" sz="1700" dirty="0">
                <a:solidFill>
                  <a:schemeClr val="tx1"/>
                </a:solidFill>
              </a:rPr>
              <a:t> ≈ 1.1 × 10</a:t>
            </a:r>
            <a:r>
              <a:rPr lang="en-US" sz="1700" baseline="30000" dirty="0">
                <a:solidFill>
                  <a:schemeClr val="tx1"/>
                </a:solidFill>
              </a:rPr>
              <a:t>12</a:t>
            </a:r>
            <a:r>
              <a:rPr lang="en-US" sz="1700" dirty="0">
                <a:solidFill>
                  <a:schemeClr val="tx1"/>
                </a:solidFill>
              </a:rPr>
              <a:t> combinations</a:t>
            </a:r>
            <a:endParaRPr lang="en-US" sz="1700" dirty="0"/>
          </a:p>
          <a:p>
            <a:pPr marL="228600" indent="-228600">
              <a:spcAft>
                <a:spcPts val="800"/>
              </a:spcAft>
              <a:buSzPct val="100000"/>
              <a:buChar char="•"/>
            </a:pPr>
            <a:r>
              <a:rPr lang="en-US" sz="1700" dirty="0">
                <a:solidFill>
                  <a:schemeClr val="tx1"/>
                </a:solidFill>
              </a:rPr>
              <a:t>Rules go to the dynamic methods of Part II and the learned policies of Part IV</a:t>
            </a:r>
            <a:endParaRPr lang="en-US" sz="1700" dirty="0"/>
          </a:p>
          <a:p>
            <a:pPr marL="228600" indent="-228600">
              <a:spcAft>
                <a:spcPts val="800"/>
              </a:spcAft>
              <a:buSzPct val="100000"/>
              <a:buChar char="•"/>
            </a:pPr>
            <a:r>
              <a:rPr lang="en-US" sz="1700" dirty="0">
                <a:solidFill>
                  <a:schemeClr val="tx1"/>
                </a:solidFill>
              </a:rPr>
              <a:t>Fixed plans are not neutral: they forgo the value of responding to events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 · THEOREM 1.4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Rescaling changes no decision; reweighting can</a:t>
            </a:r>
            <a:endParaRPr lang="en-US" sz="3200" dirty="0"/>
          </a:p>
        </p:txBody>
      </p:sp>
      <p:sp>
        <p:nvSpPr>
          <p:cNvPr id="5" name="Column card"/>
          <p:cNvSpPr/>
          <p:nvPr/>
        </p:nvSpPr>
        <p:spPr>
          <a:xfrm>
            <a:off x="548640" y="1691640"/>
            <a:ext cx="3515258" cy="2880360"/>
          </a:xfrm>
          <a:prstGeom prst="roundRect">
            <a:avLst>
              <a:gd name="adj" fmla="val 2540"/>
            </a:avLst>
          </a:prstGeom>
          <a:solidFill>
            <a:schemeClr val="bg2"/>
          </a:solidFill>
          <a:ln w="9525">
            <a:solidFill>
              <a:srgbClr val="C4CBD8"/>
            </a:solidFill>
            <a:prstDash val="solid"/>
          </a:ln>
        </p:spPr>
      </p:sp>
      <p:sp>
        <p:nvSpPr>
          <p:cNvPr id="6" name="Text 3"/>
          <p:cNvSpPr txBox="1"/>
          <p:nvPr/>
        </p:nvSpPr>
        <p:spPr>
          <a:xfrm>
            <a:off x="731520" y="1828800"/>
            <a:ext cx="314949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Rescale: after tax</a:t>
            </a:r>
            <a:endParaRPr lang="en-US" sz="1800" dirty="0"/>
          </a:p>
        </p:txBody>
      </p:sp>
      <p:sp>
        <p:nvSpPr>
          <p:cNvPr id="7" name="Text 4"/>
          <p:cNvSpPr txBox="1"/>
          <p:nvPr/>
        </p:nvSpPr>
        <p:spPr>
          <a:xfrm>
            <a:off x="731520" y="237744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(150, 1)</a:t>
            </a:r>
            <a:endParaRPr lang="en-US" sz="3200" dirty="0"/>
          </a:p>
        </p:txBody>
      </p:sp>
      <p:sp>
        <p:nvSpPr>
          <p:cNvPr id="8" name="Text 5"/>
          <p:cNvSpPr txBox="1"/>
          <p:nvPr/>
        </p:nvSpPr>
        <p:spPr>
          <a:xfrm>
            <a:off x="731520" y="2907792"/>
            <a:ext cx="3149498" cy="411480"/>
          </a:xfrm>
          <a:prstGeom prst="rect">
            <a:avLst/>
          </a:prstGeom>
          <a:noFill/>
          <a:ln/>
        </p:spPr>
        <p:txBody>
          <a:bodyPr wrap="square" lIns="0" tIns="0" rIns="0" bIns="0" rtlCol="0" anchor="t"/>
          <a:lstStyle/>
          <a:p>
            <a:pPr indent="0" marL="0">
              <a:buNone/>
            </a:pPr>
            <a:r>
              <a:rPr lang="en-US" sz="1300" dirty="0">
                <a:solidFill>
                  <a:schemeClr val="tx2"/>
                </a:solidFill>
              </a:rPr>
              <a:t>the signed package: unchanged</a:t>
            </a:r>
            <a:endParaRPr lang="en-US" sz="1300" dirty="0"/>
          </a:p>
        </p:txBody>
      </p:sp>
      <p:sp>
        <p:nvSpPr>
          <p:cNvPr id="9" name="Text 6"/>
          <p:cNvSpPr txBox="1"/>
          <p:nvPr/>
        </p:nvSpPr>
        <p:spPr>
          <a:xfrm>
            <a:off x="731520" y="342900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(170, 0.67)</a:t>
            </a:r>
            <a:endParaRPr lang="en-US" sz="3200" dirty="0"/>
          </a:p>
        </p:txBody>
      </p:sp>
      <p:sp>
        <p:nvSpPr>
          <p:cNvPr id="10" name="Text 7"/>
          <p:cNvSpPr txBox="1"/>
          <p:nvPr/>
        </p:nvSpPr>
        <p:spPr>
          <a:xfrm>
            <a:off x="731520" y="3959352"/>
            <a:ext cx="3149498" cy="411480"/>
          </a:xfrm>
          <a:prstGeom prst="rect">
            <a:avLst/>
          </a:prstGeom>
          <a:noFill/>
          <a:ln/>
        </p:spPr>
        <p:txBody>
          <a:bodyPr wrap="square" lIns="0" tIns="0" rIns="0" bIns="0" rtlCol="0" anchor="t"/>
          <a:lstStyle/>
          <a:p>
            <a:pPr indent="0" marL="0">
              <a:buNone/>
            </a:pPr>
            <a:r>
              <a:rPr lang="en-US" sz="1300" dirty="0">
                <a:solidFill>
                  <a:schemeClr val="tx2"/>
                </a:solidFill>
              </a:rPr>
              <a:t>the continuous best: unchanged</a:t>
            </a:r>
            <a:endParaRPr lang="en-US" sz="1300" dirty="0"/>
          </a:p>
        </p:txBody>
      </p:sp>
      <p:sp>
        <p:nvSpPr>
          <p:cNvPr id="11" name="Column card"/>
          <p:cNvSpPr/>
          <p:nvPr/>
        </p:nvSpPr>
        <p:spPr>
          <a:xfrm>
            <a:off x="4338218" y="1691640"/>
            <a:ext cx="3515258" cy="2880360"/>
          </a:xfrm>
          <a:prstGeom prst="roundRect">
            <a:avLst>
              <a:gd name="adj" fmla="val 2540"/>
            </a:avLst>
          </a:prstGeom>
          <a:solidFill>
            <a:schemeClr val="bg2"/>
          </a:solidFill>
          <a:ln w="9525">
            <a:solidFill>
              <a:srgbClr val="C4CBD8"/>
            </a:solidFill>
            <a:prstDash val="solid"/>
          </a:ln>
        </p:spPr>
      </p:sp>
      <p:sp>
        <p:nvSpPr>
          <p:cNvPr id="12" name="Text 9"/>
          <p:cNvSpPr txBox="1"/>
          <p:nvPr/>
        </p:nvSpPr>
        <p:spPr>
          <a:xfrm>
            <a:off x="4521098" y="1828800"/>
            <a:ext cx="314949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Delay at $4m a quarter</a:t>
            </a:r>
            <a:endParaRPr lang="en-US" sz="1800" dirty="0"/>
          </a:p>
        </p:txBody>
      </p:sp>
      <p:sp>
        <p:nvSpPr>
          <p:cNvPr id="13" name="Text 10"/>
          <p:cNvSpPr txBox="1"/>
          <p:nvPr/>
        </p:nvSpPr>
        <p:spPr>
          <a:xfrm>
            <a:off x="4521098" y="237744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$140m</a:t>
            </a:r>
            <a:endParaRPr lang="en-US" sz="3200" dirty="0"/>
          </a:p>
        </p:txBody>
      </p:sp>
      <p:sp>
        <p:nvSpPr>
          <p:cNvPr id="14" name="Text 11"/>
          <p:cNvSpPr txBox="1"/>
          <p:nvPr/>
        </p:nvSpPr>
        <p:spPr>
          <a:xfrm>
            <a:off x="4521098" y="2907792"/>
            <a:ext cx="3149498" cy="411480"/>
          </a:xfrm>
          <a:prstGeom prst="rect">
            <a:avLst/>
          </a:prstGeom>
          <a:noFill/>
          <a:ln/>
        </p:spPr>
        <p:txBody>
          <a:bodyPr wrap="square" lIns="0" tIns="0" rIns="0" bIns="0" rtlCol="0" anchor="t"/>
          <a:lstStyle/>
          <a:p>
            <a:pPr indent="0" marL="0">
              <a:buNone/>
            </a:pPr>
            <a:r>
              <a:rPr lang="en-US" sz="1300" dirty="0">
                <a:solidFill>
                  <a:schemeClr val="tx2"/>
                </a:solidFill>
              </a:rPr>
              <a:t>continuous line, 0.83 quarters: $7.52m</a:t>
            </a:r>
            <a:endParaRPr lang="en-US" sz="1300" dirty="0"/>
          </a:p>
        </p:txBody>
      </p:sp>
      <p:sp>
        <p:nvSpPr>
          <p:cNvPr id="15" name="Text 12"/>
          <p:cNvSpPr txBox="1"/>
          <p:nvPr/>
        </p:nvSpPr>
        <p:spPr>
          <a:xfrm>
            <a:off x="4521098" y="342900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(150, 1)</a:t>
            </a:r>
            <a:endParaRPr lang="en-US" sz="3200" dirty="0"/>
          </a:p>
        </p:txBody>
      </p:sp>
      <p:sp>
        <p:nvSpPr>
          <p:cNvPr id="16" name="Text 13"/>
          <p:cNvSpPr txBox="1"/>
          <p:nvPr/>
        </p:nvSpPr>
        <p:spPr>
          <a:xfrm>
            <a:off x="4521098" y="3959352"/>
            <a:ext cx="3149498" cy="411480"/>
          </a:xfrm>
          <a:prstGeom prst="rect">
            <a:avLst/>
          </a:prstGeom>
          <a:noFill/>
          <a:ln/>
        </p:spPr>
        <p:txBody>
          <a:bodyPr wrap="square" lIns="0" tIns="0" rIns="0" bIns="0" rtlCol="0" anchor="t"/>
          <a:lstStyle/>
          <a:p>
            <a:pPr indent="0" marL="0">
              <a:buNone/>
            </a:pPr>
            <a:r>
              <a:rPr lang="en-US" sz="1300" dirty="0">
                <a:solidFill>
                  <a:schemeClr val="tx2"/>
                </a:solidFill>
              </a:rPr>
              <a:t>the lumpy answer stays: $8.50m</a:t>
            </a:r>
            <a:endParaRPr lang="en-US" sz="1300" dirty="0"/>
          </a:p>
        </p:txBody>
      </p:sp>
      <p:sp>
        <p:nvSpPr>
          <p:cNvPr id="17" name="Column card"/>
          <p:cNvSpPr/>
          <p:nvPr/>
        </p:nvSpPr>
        <p:spPr>
          <a:xfrm>
            <a:off x="8127797" y="1691640"/>
            <a:ext cx="3515258" cy="2880360"/>
          </a:xfrm>
          <a:prstGeom prst="roundRect">
            <a:avLst>
              <a:gd name="adj" fmla="val 2540"/>
            </a:avLst>
          </a:prstGeom>
          <a:solidFill>
            <a:schemeClr val="tx1"/>
          </a:solidFill>
          <a:ln w="9525">
            <a:solidFill>
              <a:srgbClr val="0F1E3D"/>
            </a:solidFill>
            <a:prstDash val="solid"/>
          </a:ln>
        </p:spPr>
      </p:sp>
      <p:sp>
        <p:nvSpPr>
          <p:cNvPr id="18" name="Text 15"/>
          <p:cNvSpPr txBox="1"/>
          <p:nvPr/>
        </p:nvSpPr>
        <p:spPr>
          <a:xfrm>
            <a:off x="8310677" y="1828800"/>
            <a:ext cx="3149498" cy="45720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Delay at $16m a quarter</a:t>
            </a:r>
            <a:endParaRPr lang="en-US" sz="1800" dirty="0"/>
          </a:p>
        </p:txBody>
      </p:sp>
      <p:sp>
        <p:nvSpPr>
          <p:cNvPr id="19" name="Text 16"/>
          <p:cNvSpPr txBox="1"/>
          <p:nvPr/>
        </p:nvSpPr>
        <p:spPr>
          <a:xfrm>
            <a:off x="8310677" y="2377440"/>
            <a:ext cx="3149498"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$195m</a:t>
            </a:r>
            <a:endParaRPr lang="en-US" sz="3200" dirty="0"/>
          </a:p>
        </p:txBody>
      </p:sp>
      <p:sp>
        <p:nvSpPr>
          <p:cNvPr id="20" name="Text 17"/>
          <p:cNvSpPr txBox="1"/>
          <p:nvPr/>
        </p:nvSpPr>
        <p:spPr>
          <a:xfrm>
            <a:off x="8310677" y="2907792"/>
            <a:ext cx="3149498" cy="411480"/>
          </a:xfrm>
          <a:prstGeom prst="rect">
            <a:avLst/>
          </a:prstGeom>
          <a:noFill/>
          <a:ln/>
        </p:spPr>
        <p:txBody>
          <a:bodyPr wrap="square" lIns="0" tIns="0" rIns="0" bIns="0" rtlCol="0" anchor="t"/>
          <a:lstStyle/>
          <a:p>
            <a:pPr indent="0" marL="0">
              <a:buNone/>
            </a:pPr>
            <a:r>
              <a:rPr lang="en-US" sz="1300" dirty="0">
                <a:solidFill>
                  <a:schemeClr val="bg2"/>
                </a:solidFill>
              </a:rPr>
              <a:t>continuous line, 0.60 quarters: $15.51m</a:t>
            </a:r>
            <a:endParaRPr lang="en-US" sz="1300" dirty="0"/>
          </a:p>
        </p:txBody>
      </p:sp>
      <p:sp>
        <p:nvSpPr>
          <p:cNvPr id="21" name="Text 18"/>
          <p:cNvSpPr txBox="1"/>
          <p:nvPr/>
        </p:nvSpPr>
        <p:spPr>
          <a:xfrm>
            <a:off x="8310677" y="3429000"/>
            <a:ext cx="3149498"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(150, 1)</a:t>
            </a:r>
            <a:endParaRPr lang="en-US" sz="3200" dirty="0"/>
          </a:p>
        </p:txBody>
      </p:sp>
      <p:sp>
        <p:nvSpPr>
          <p:cNvPr id="22" name="Text 19"/>
          <p:cNvSpPr txBox="1"/>
          <p:nvPr/>
        </p:nvSpPr>
        <p:spPr>
          <a:xfrm>
            <a:off x="8310677" y="3959352"/>
            <a:ext cx="3149498" cy="411480"/>
          </a:xfrm>
          <a:prstGeom prst="rect">
            <a:avLst/>
          </a:prstGeom>
          <a:noFill/>
          <a:ln/>
        </p:spPr>
        <p:txBody>
          <a:bodyPr wrap="square" lIns="0" tIns="0" rIns="0" bIns="0" rtlCol="0" anchor="t"/>
          <a:lstStyle/>
          <a:p>
            <a:pPr indent="0" marL="0">
              <a:buNone/>
            </a:pPr>
            <a:r>
              <a:rPr lang="en-US" sz="1300" dirty="0">
                <a:solidFill>
                  <a:schemeClr val="bg2"/>
                </a:solidFill>
              </a:rPr>
              <a:t>the lumpy answer stays: $20.50m</a:t>
            </a:r>
            <a:endParaRPr lang="en-US" sz="1300" dirty="0"/>
          </a:p>
        </p:txBody>
      </p:sp>
      <p:sp>
        <p:nvSpPr>
          <p:cNvPr id="23" name="Bullets"/>
          <p:cNvSpPr txBox="1"/>
          <p:nvPr/>
        </p:nvSpPr>
        <p:spPr>
          <a:xfrm>
            <a:off x="548640" y="4892040"/>
            <a:ext cx="11094415" cy="12801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Theorem 1.4.</a:t>
            </a:r>
            <a:r>
              <a:rPr lang="en-US" sz="1600" dirty="0">
                <a:solidFill>
                  <a:schemeClr val="tx1"/>
                </a:solidFill>
              </a:rPr>
              <a:t> A strictly increasing transformation (a change of currency, an after-tax view, a monotone utility) leaves the best decisions unchanged; new weights make a new objective</a:t>
            </a:r>
            <a:endParaRPr lang="en-US" sz="1600" dirty="0"/>
          </a:p>
          <a:p>
            <a:pPr marL="228600" indent="-228600">
              <a:spcAft>
                <a:spcPts val="800"/>
              </a:spcAft>
              <a:buSzPct val="100000"/>
              <a:buChar char="•"/>
            </a:pPr>
            <a:r>
              <a:rPr lang="en-US" sz="1600" dirty="0">
                <a:solidFill>
                  <a:schemeClr val="tx1"/>
                </a:solidFill>
              </a:rPr>
              <a:t>Argue about weights first and in the open: the board's value of delay moves the continuous line by $55m</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 · DEFINITION 1.7 · PROPOSITION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An answer is worth its certificates</a:t>
            </a:r>
            <a:endParaRPr lang="en-US" sz="3200" dirty="0"/>
          </a:p>
        </p:txBody>
      </p:sp>
      <p:sp>
        <p:nvSpPr>
          <p:cNvPr id="5" name="Result card"/>
          <p:cNvSpPr/>
          <p:nvPr/>
        </p:nvSpPr>
        <p:spPr>
          <a:xfrm>
            <a:off x="548640" y="1691640"/>
            <a:ext cx="676656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21792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DEFINITION 1.7</a:t>
            </a:r>
            <a:endParaRPr lang="en-US" sz="1200" dirty="0"/>
          </a:p>
        </p:txBody>
      </p:sp>
      <p:sp>
        <p:nvSpPr>
          <p:cNvPr id="7" name="Text 4"/>
          <p:cNvSpPr txBox="1"/>
          <p:nvPr/>
        </p:nvSpPr>
        <p:spPr>
          <a:xfrm>
            <a:off x="822960" y="2194560"/>
            <a:ext cx="621792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Optimal Enterprise Policy and Certificate</a:t>
            </a:r>
            <a:endParaRPr lang="en-US" sz="2100" dirty="0"/>
          </a:p>
        </p:txBody>
      </p:sp>
      <p:sp>
        <p:nvSpPr>
          <p:cNvPr id="8" name="Bullets"/>
          <p:cNvSpPr txBox="1"/>
          <p:nvPr/>
        </p:nvSpPr>
        <p:spPr>
          <a:xfrm>
            <a:off x="822960" y="2743200"/>
            <a:ext cx="621792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Optimal</a:t>
            </a:r>
            <a:r>
              <a:rPr lang="en-US" sz="1600" dirty="0">
                <a:solidFill>
                  <a:schemeClr val="tx1"/>
                </a:solidFill>
              </a:rPr>
              <a:t> relative to the declared class, objective, commitments and uncertainty: change any of them and the title must be earned again</a:t>
            </a:r>
            <a:endParaRPr lang="en-US" sz="1600" dirty="0"/>
          </a:p>
          <a:p>
            <a:pPr marL="228600" indent="-228600">
              <a:spcAft>
                <a:spcPts val="600"/>
              </a:spcAft>
              <a:buSzPct val="100000"/>
              <a:buChar char="•"/>
            </a:pPr>
            <a:r>
              <a:rPr lang="en-US" sz="1600" dirty="0">
                <a:solidFill>
                  <a:schemeClr val="tx1"/>
                </a:solidFill>
              </a:rPr>
              <a:t>A </a:t>
            </a:r>
            <a:r>
              <a:rPr lang="en-US" sz="1600" b="1" dirty="0">
                <a:solidFill>
                  <a:schemeClr val="tx1"/>
                </a:solidFill>
              </a:rPr>
              <a:t>certificate</a:t>
            </a:r>
            <a:r>
              <a:rPr lang="en-US" sz="1600" dirty="0">
                <a:solidFill>
                  <a:schemeClr val="tx1"/>
                </a:solidFill>
              </a:rPr>
              <a:t> is evidence computed from the declared instance, checkable by someone who did not compute it</a:t>
            </a:r>
            <a:endParaRPr lang="en-US" sz="1600" dirty="0"/>
          </a:p>
          <a:p>
            <a:pPr marL="228600" indent="-228600">
              <a:spcAft>
                <a:spcPts val="600"/>
              </a:spcAft>
              <a:buSzPct val="100000"/>
              <a:buChar char="•"/>
            </a:pPr>
            <a:r>
              <a:rPr lang="en-US" sz="1600" b="1" dirty="0">
                <a:solidFill>
                  <a:schemeClr val="tx1"/>
                </a:solidFill>
              </a:rPr>
              <a:t>Feasible:</a:t>
            </a:r>
            <a:r>
              <a:rPr lang="en-US" sz="1600" dirty="0">
                <a:solidFill>
                  <a:schemeClr val="tx1"/>
                </a:solidFill>
              </a:rPr>
              <a:t> the residual of every commitment</a:t>
            </a:r>
            <a:endParaRPr lang="en-US" sz="1600" dirty="0"/>
          </a:p>
          <a:p>
            <a:pPr marL="228600" indent="-228600">
              <a:spcAft>
                <a:spcPts val="600"/>
              </a:spcAft>
              <a:buSzPct val="100000"/>
              <a:buChar char="•"/>
            </a:pPr>
            <a:r>
              <a:rPr lang="en-US" sz="1600" b="1" dirty="0">
                <a:solidFill>
                  <a:schemeClr val="tx1"/>
                </a:solidFill>
              </a:rPr>
              <a:t>Within ε of the best:</a:t>
            </a:r>
            <a:r>
              <a:rPr lang="en-US" sz="1600" dirty="0">
                <a:solidFill>
                  <a:schemeClr val="tx1"/>
                </a:solidFill>
              </a:rPr>
              <a:t> a bound from a relaxation, a dual problem, or optimality conditions with their multipliers</a:t>
            </a:r>
            <a:endParaRPr lang="en-US" sz="1600" dirty="0"/>
          </a:p>
          <a:p>
            <a:pPr marL="228600" indent="-228600">
              <a:spcAft>
                <a:spcPts val="600"/>
              </a:spcAft>
              <a:buSzPct val="100000"/>
              <a:buChar char="•"/>
            </a:pPr>
            <a:r>
              <a:rPr lang="en-US" sz="1600" b="1" dirty="0">
                <a:solidFill>
                  <a:schemeClr val="tx1"/>
                </a:solidFill>
              </a:rPr>
              <a:t>Robust:</a:t>
            </a:r>
            <a:r>
              <a:rPr lang="en-US" sz="1600" dirty="0">
                <a:solidFill>
                  <a:schemeClr val="tx1"/>
                </a:solidFill>
              </a:rPr>
              <a:t> the size of the declared perturbations the claim survives</a:t>
            </a:r>
            <a:endParaRPr lang="en-US" sz="1600" dirty="0"/>
          </a:p>
        </p:txBody>
      </p:sp>
      <p:sp>
        <p:nvSpPr>
          <p:cNvPr id="9" name="Text 6"/>
          <p:cNvSpPr txBox="1"/>
          <p:nvPr/>
        </p:nvSpPr>
        <p:spPr>
          <a:xfrm>
            <a:off x="7726680" y="1737360"/>
            <a:ext cx="3916375" cy="365760"/>
          </a:xfrm>
          <a:prstGeom prst="rect">
            <a:avLst/>
          </a:prstGeom>
          <a:noFill/>
          <a:ln/>
        </p:spPr>
        <p:txBody>
          <a:bodyPr wrap="square" lIns="0" tIns="0" rIns="0" bIns="0" rtlCol="0" anchor="ctr"/>
          <a:lstStyle/>
          <a:p>
            <a:pPr indent="0" marL="0">
              <a:buNone/>
            </a:pPr>
            <a:r>
              <a:rPr lang="en-US" sz="1600" b="1" dirty="0">
                <a:solidFill>
                  <a:schemeClr val="accent2"/>
                </a:solidFill>
              </a:rPr>
              <a:t>Scope and limits</a:t>
            </a:r>
            <a:endParaRPr lang="en-US" sz="1600" dirty="0"/>
          </a:p>
        </p:txBody>
      </p:sp>
      <p:sp>
        <p:nvSpPr>
          <p:cNvPr id="10" name="Bullets"/>
          <p:cNvSpPr txBox="1"/>
          <p:nvPr/>
        </p:nvSpPr>
        <p:spPr>
          <a:xfrm>
            <a:off x="7726680" y="2194560"/>
            <a:ext cx="391637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Proposition 1.3.</a:t>
            </a:r>
            <a:r>
              <a:rPr lang="en-US" sz="1500" dirty="0">
                <a:solidFill>
                  <a:schemeClr val="tx1"/>
                </a:solidFill>
              </a:rPr>
              <a:t> Unless one option wins on every reading, the best depends on the weights</a:t>
            </a:r>
            <a:endParaRPr lang="en-US" sz="1500" dirty="0"/>
          </a:p>
          <a:p>
            <a:pPr marL="228600" indent="-228600">
              <a:spcAft>
                <a:spcPts val="800"/>
              </a:spcAft>
              <a:buSzPct val="100000"/>
              <a:buChar char="•"/>
            </a:pPr>
            <a:r>
              <a:rPr lang="en-US" sz="1500" dirty="0">
                <a:solidFill>
                  <a:schemeClr val="tx1"/>
                </a:solidFill>
              </a:rPr>
              <a:t>A certificate is about the instance; that the instance is the company's problem is the declaration's job</a:t>
            </a:r>
            <a:endParaRPr lang="en-US" sz="1500" dirty="0"/>
          </a:p>
          <a:p>
            <a:pPr marL="228600" indent="-228600">
              <a:spcAft>
                <a:spcPts val="800"/>
              </a:spcAft>
              <a:buSzPct val="100000"/>
              <a:buChar char="•"/>
            </a:pPr>
            <a:r>
              <a:rPr lang="en-US" sz="1500" dirty="0">
                <a:solidFill>
                  <a:schemeClr val="tx1"/>
                </a:solidFill>
              </a:rPr>
              <a:t>A certificate computed on a sample carries the sample's error, reported with it</a:t>
            </a:r>
            <a:endParaRPr lang="en-US" sz="1500" dirty="0"/>
          </a:p>
          <a:p>
            <a:pPr marL="228600" indent="-228600">
              <a:spcAft>
                <a:spcPts val="800"/>
              </a:spcAft>
              <a:buSzPct val="100000"/>
              <a:buChar char="•"/>
            </a:pPr>
            <a:r>
              <a:rPr lang="en-US" sz="1500" dirty="0">
                <a:solidFill>
                  <a:schemeClr val="tx1"/>
                </a:solidFill>
              </a:rPr>
              <a:t>An uncertified optimum is, for governance purposes, an opinion with a decimal point</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 · FIGURE 1.2 · PROPOSITION 1.4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Four questions route a problem to its methods</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Once or over time?</a:t>
            </a:r>
            <a:r>
              <a:rPr lang="en-US" sz="1600" dirty="0">
                <a:solidFill>
                  <a:schemeClr val="tx1"/>
                </a:solidFill>
              </a:rPr>
              <a:t> One act, or a sequence that reshapes later options</a:t>
            </a:r>
            <a:endParaRPr lang="en-US" sz="1600" dirty="0"/>
          </a:p>
          <a:p>
            <a:pPr marL="228600" indent="-228600">
              <a:spcAft>
                <a:spcPts val="800"/>
              </a:spcAft>
              <a:buSzPct val="100000"/>
              <a:buChar char="•"/>
            </a:pPr>
            <a:r>
              <a:rPr lang="en-US" sz="1600" b="1" dirty="0">
                <a:solidFill>
                  <a:schemeClr val="tx1"/>
                </a:solidFill>
              </a:rPr>
              <a:t>Known or uncertain?</a:t>
            </a:r>
            <a:r>
              <a:rPr lang="en-US" sz="1600" dirty="0">
                <a:solidFill>
                  <a:schemeClr val="tx1"/>
                </a:solidFill>
              </a:rPr>
              <a:t> Data taken as known, or commitments on distributions or sets</a:t>
            </a:r>
            <a:endParaRPr lang="en-US" sz="1600" dirty="0"/>
          </a:p>
          <a:p>
            <a:pPr marL="228600" indent="-228600">
              <a:spcAft>
                <a:spcPts val="800"/>
              </a:spcAft>
              <a:buSzPct val="100000"/>
              <a:buChar char="•"/>
            </a:pPr>
            <a:r>
              <a:rPr lang="en-US" sz="1600" b="1" dirty="0">
                <a:solidFill>
                  <a:schemeClr val="tx1"/>
                </a:solidFill>
              </a:rPr>
              <a:t>One objective or several?</a:t>
            </a:r>
            <a:r>
              <a:rPr lang="en-US" sz="1600" dirty="0">
                <a:solidFill>
                  <a:schemeClr val="tx1"/>
                </a:solidFill>
              </a:rPr>
              <a:t> A best point, or a frontier</a:t>
            </a:r>
            <a:endParaRPr lang="en-US" sz="1600" dirty="0"/>
          </a:p>
          <a:p>
            <a:pPr marL="228600" indent="-228600">
              <a:spcAft>
                <a:spcPts val="800"/>
              </a:spcAft>
              <a:buSzPct val="100000"/>
              <a:buChar char="•"/>
            </a:pPr>
            <a:r>
              <a:rPr lang="en-US" sz="1600" b="1" dirty="0">
                <a:solidFill>
                  <a:schemeClr val="tx1"/>
                </a:solidFill>
              </a:rPr>
              <a:t>Benign or hard?</a:t>
            </a:r>
            <a:r>
              <a:rPr lang="en-US" sz="1600" dirty="0">
                <a:solidFill>
                  <a:schemeClr val="tx1"/>
                </a:solidFill>
              </a:rPr>
              <a:t> Local answers global, or lumps and couplings</a:t>
            </a:r>
            <a:endParaRPr lang="en-US" sz="1600" dirty="0"/>
          </a:p>
          <a:p>
            <a:pPr marL="228600" indent="-228600">
              <a:spcAft>
                <a:spcPts val="800"/>
              </a:spcAft>
              <a:buSzPct val="100000"/>
              <a:buChar char="•"/>
            </a:pPr>
            <a:r>
              <a:rPr lang="en-US" sz="1600" b="1" dirty="0">
                <a:solidFill>
                  <a:schemeClr val="tx1"/>
                </a:solidFill>
              </a:rPr>
              <a:t>Proposition 1.4.</a:t>
            </a:r>
            <a:r>
              <a:rPr lang="en-US" sz="1600" dirty="0">
                <a:solidFill>
                  <a:schemeClr val="tx1"/>
                </a:solidFill>
              </a:rPr>
              <a:t> Optimizing one ledger alone never beats the unified problem</a:t>
            </a:r>
            <a:endParaRPr lang="en-US" sz="1600" dirty="0"/>
          </a:p>
        </p:txBody>
      </p:sp>
      <p:pic>
        <p:nvPicPr>
          <p:cNvPr id="6" name="Figure" descr="Figure 1.2: Volume II at a glance">    </p:cNvPr>
          <p:cNvPicPr>
            <a:picLocks noChangeAspect="1"/>
          </p:cNvPicPr>
          <p:nvPr/>
        </p:nvPicPr>
        <p:blipFill>
          <a:blip r:embed="rId1"/>
          <a:stretch>
            <a:fillRect/>
          </a:stretch>
        </p:blipFill>
        <p:spPr>
          <a:xfrm>
            <a:off x="5890264" y="1691640"/>
            <a:ext cx="5031813" cy="3913632"/>
          </a:xfrm>
          <a:prstGeom prst="rect">
            <a:avLst/>
          </a:prstGeom>
        </p:spPr>
      </p:pic>
      <p:sp>
        <p:nvSpPr>
          <p:cNvPr id="7" name="Caption"/>
          <p:cNvSpPr txBox="1"/>
          <p:nvPr/>
        </p:nvSpPr>
        <p:spPr>
          <a:xfrm>
            <a:off x="5169286" y="5678424"/>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1.2. The features of a problem decide where it is solved and what evidence the solution can carry.</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§1.7 · THEOREM 1.5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Four gates before any solver runs</a:t>
            </a:r>
            <a:endParaRPr lang="en-US" sz="3200" dirty="0"/>
          </a:p>
        </p:txBody>
      </p:sp>
      <p:sp>
        <p:nvSpPr>
          <p:cNvPr id="5" name="Lead"/>
          <p:cNvSpPr txBox="1"/>
          <p:nvPr/>
        </p:nvSpPr>
        <p:spPr>
          <a:xfrm>
            <a:off x="548640" y="1645920"/>
            <a:ext cx="11094415" cy="457200"/>
          </a:xfrm>
          <a:prstGeom prst="rect">
            <a:avLst/>
          </a:prstGeom>
          <a:noFill/>
          <a:ln/>
        </p:spPr>
        <p:txBody>
          <a:bodyPr wrap="square" lIns="0" tIns="0" rIns="0" bIns="0" rtlCol="0" anchor="ctr"/>
          <a:lstStyle/>
          <a:p>
            <a:pPr indent="0" marL="0">
              <a:buNone/>
            </a:pPr>
            <a:r>
              <a:rPr lang="en-US" sz="1600" dirty="0">
                <a:solidFill>
                  <a:schemeClr val="tx1"/>
                </a:solidFill>
              </a:rPr>
              <a:t>Readiness, not tooling, is the adoption milestone: once the gates pass, a solver's certificate is a certificate about the company.</a:t>
            </a:r>
            <a:endParaRPr lang="en-US" sz="1600" dirty="0"/>
          </a:p>
        </p:txBody>
      </p:sp>
      <p:sp>
        <p:nvSpPr>
          <p:cNvPr id="6" name="Step card"/>
          <p:cNvSpPr/>
          <p:nvPr/>
        </p:nvSpPr>
        <p:spPr>
          <a:xfrm>
            <a:off x="548640" y="2240280"/>
            <a:ext cx="5410048" cy="1828800"/>
          </a:xfrm>
          <a:prstGeom prst="roundRect">
            <a:avLst>
              <a:gd name="adj" fmla="val 4000"/>
            </a:avLst>
          </a:prstGeom>
          <a:solidFill>
            <a:schemeClr val="bg2"/>
          </a:solidFill>
          <a:ln w="9525">
            <a:solidFill>
              <a:srgbClr val="C4CBD8"/>
            </a:solidFill>
            <a:prstDash val="solid"/>
          </a:ln>
        </p:spPr>
      </p:sp>
      <p:sp>
        <p:nvSpPr>
          <p:cNvPr id="7" name="Number"/>
          <p:cNvSpPr/>
          <p:nvPr/>
        </p:nvSpPr>
        <p:spPr>
          <a:xfrm>
            <a:off x="731520" y="2423160"/>
            <a:ext cx="457200" cy="457200"/>
          </a:xfrm>
          <a:prstGeom prst="ellipse">
            <a:avLst/>
          </a:prstGeom>
          <a:solidFill>
            <a:schemeClr val="accent1"/>
          </a:solidFill>
          <a:ln w="6350">
            <a:solidFill>
              <a:schemeClr val="accent1"/>
            </a:solidFill>
            <a:prstDash val="solid"/>
          </a:ln>
        </p:spPr>
      </p:sp>
      <p:sp>
        <p:nvSpPr>
          <p:cNvPr id="8" name="Text 5"/>
          <p:cNvSpPr txBox="1"/>
          <p:nvPr/>
        </p:nvSpPr>
        <p:spPr>
          <a:xfrm>
            <a:off x="731520" y="24231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R1</a:t>
            </a:r>
            <a:endParaRPr lang="en-US" sz="1500" dirty="0"/>
          </a:p>
        </p:txBody>
      </p:sp>
      <p:sp>
        <p:nvSpPr>
          <p:cNvPr id="9" name="Step head"/>
          <p:cNvSpPr txBox="1"/>
          <p:nvPr/>
        </p:nvSpPr>
        <p:spPr>
          <a:xfrm>
            <a:off x="1325880" y="2404872"/>
            <a:ext cx="449564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Declaration completeness</a:t>
            </a:r>
            <a:endParaRPr lang="en-US" sz="1700" dirty="0"/>
          </a:p>
        </p:txBody>
      </p:sp>
      <p:sp>
        <p:nvSpPr>
          <p:cNvPr id="10" name="Step text"/>
          <p:cNvSpPr txBox="1"/>
          <p:nvPr/>
        </p:nvSpPr>
        <p:spPr>
          <a:xfrm>
            <a:off x="731520" y="3017520"/>
            <a:ext cx="5044288" cy="960120"/>
          </a:xfrm>
          <a:prstGeom prst="rect">
            <a:avLst/>
          </a:prstGeom>
          <a:noFill/>
          <a:ln/>
        </p:spPr>
        <p:txBody>
          <a:bodyPr wrap="square" lIns="0" tIns="0" rIns="0" bIns="0" rtlCol="0" anchor="t"/>
          <a:lstStyle/>
          <a:p>
            <a:pPr indent="0" marL="0">
              <a:buNone/>
            </a:pPr>
            <a:r>
              <a:rPr lang="en-US" sz="1400" dirty="0">
                <a:solidFill>
                  <a:schemeClr val="tx1"/>
                </a:solidFill>
              </a:rPr>
              <a:t>Every term of the instance is a declared quantity with an owner. </a:t>
            </a:r>
            <a:r>
              <a:rPr lang="en-US" sz="1400" b="1" dirty="0">
                <a:solidFill>
                  <a:schemeClr val="tx1"/>
                </a:solidFill>
              </a:rPr>
              <a:t>Without it</a:t>
            </a:r>
            <a:r>
              <a:rPr lang="en-US" sz="1400" dirty="0">
                <a:solidFill>
                  <a:schemeClr val="tx1"/>
                </a:solidFill>
              </a:rPr>
              <a:t> the instance is not defined, and a solver optimizes a substituted problem.</a:t>
            </a:r>
            <a:endParaRPr lang="en-US" sz="1400" dirty="0"/>
          </a:p>
        </p:txBody>
      </p:sp>
      <p:sp>
        <p:nvSpPr>
          <p:cNvPr id="11" name="Step card"/>
          <p:cNvSpPr/>
          <p:nvPr/>
        </p:nvSpPr>
        <p:spPr>
          <a:xfrm>
            <a:off x="6233008" y="2240280"/>
            <a:ext cx="5410048" cy="1828800"/>
          </a:xfrm>
          <a:prstGeom prst="roundRect">
            <a:avLst>
              <a:gd name="adj" fmla="val 4000"/>
            </a:avLst>
          </a:prstGeom>
          <a:solidFill>
            <a:schemeClr val="bg2"/>
          </a:solidFill>
          <a:ln w="9525">
            <a:solidFill>
              <a:srgbClr val="C4CBD8"/>
            </a:solidFill>
            <a:prstDash val="solid"/>
          </a:ln>
        </p:spPr>
      </p:sp>
      <p:sp>
        <p:nvSpPr>
          <p:cNvPr id="12" name="Number"/>
          <p:cNvSpPr/>
          <p:nvPr/>
        </p:nvSpPr>
        <p:spPr>
          <a:xfrm>
            <a:off x="6415888" y="2423160"/>
            <a:ext cx="457200" cy="457200"/>
          </a:xfrm>
          <a:prstGeom prst="ellipse">
            <a:avLst/>
          </a:prstGeom>
          <a:solidFill>
            <a:schemeClr val="accent1"/>
          </a:solidFill>
          <a:ln w="6350">
            <a:solidFill>
              <a:schemeClr val="accent1"/>
            </a:solidFill>
            <a:prstDash val="solid"/>
          </a:ln>
        </p:spPr>
      </p:sp>
      <p:sp>
        <p:nvSpPr>
          <p:cNvPr id="13" name="Text 10"/>
          <p:cNvSpPr txBox="1"/>
          <p:nvPr/>
        </p:nvSpPr>
        <p:spPr>
          <a:xfrm>
            <a:off x="6415888" y="24231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R2</a:t>
            </a:r>
            <a:endParaRPr lang="en-US" sz="1500" dirty="0"/>
          </a:p>
        </p:txBody>
      </p:sp>
      <p:sp>
        <p:nvSpPr>
          <p:cNvPr id="14" name="Step head"/>
          <p:cNvSpPr txBox="1"/>
          <p:nvPr/>
        </p:nvSpPr>
        <p:spPr>
          <a:xfrm>
            <a:off x="7010248" y="2404872"/>
            <a:ext cx="449564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Unified consistency</a:t>
            </a:r>
            <a:endParaRPr lang="en-US" sz="1700" dirty="0"/>
          </a:p>
        </p:txBody>
      </p:sp>
      <p:sp>
        <p:nvSpPr>
          <p:cNvPr id="15" name="Step text"/>
          <p:cNvSpPr txBox="1"/>
          <p:nvPr/>
        </p:nvSpPr>
        <p:spPr>
          <a:xfrm>
            <a:off x="6415888" y="3017520"/>
            <a:ext cx="5044288" cy="960120"/>
          </a:xfrm>
          <a:prstGeom prst="rect">
            <a:avLst/>
          </a:prstGeom>
          <a:noFill/>
          <a:ln/>
        </p:spPr>
        <p:txBody>
          <a:bodyPr wrap="square" lIns="0" tIns="0" rIns="0" bIns="0" rtlCol="0" anchor="t"/>
          <a:lstStyle/>
          <a:p>
            <a:pPr indent="0" marL="0">
              <a:buNone/>
            </a:pPr>
            <a:r>
              <a:rPr lang="en-US" sz="1400" dirty="0">
                <a:solidFill>
                  <a:schemeClr val="tx1"/>
                </a:solidFill>
              </a:rPr>
              <a:t>The commitments can hold together. </a:t>
            </a:r>
            <a:r>
              <a:rPr lang="en-US" sz="1400" b="1" dirty="0">
                <a:solidFill>
                  <a:schemeClr val="tx1"/>
                </a:solidFill>
              </a:rPr>
              <a:t>Without it</a:t>
            </a:r>
            <a:r>
              <a:rPr lang="en-US" sz="1400" dirty="0">
                <a:solidFill>
                  <a:schemeClr val="tx1"/>
                </a:solidFill>
              </a:rPr>
              <a:t> no decision is feasible: the right output is a certificate naming the commitments that cannot hold.</a:t>
            </a:r>
            <a:endParaRPr lang="en-US" sz="1400" dirty="0"/>
          </a:p>
        </p:txBody>
      </p:sp>
      <p:sp>
        <p:nvSpPr>
          <p:cNvPr id="16" name="Step card"/>
          <p:cNvSpPr/>
          <p:nvPr/>
        </p:nvSpPr>
        <p:spPr>
          <a:xfrm>
            <a:off x="548640" y="4343400"/>
            <a:ext cx="5410048" cy="1828800"/>
          </a:xfrm>
          <a:prstGeom prst="roundRect">
            <a:avLst>
              <a:gd name="adj" fmla="val 4000"/>
            </a:avLst>
          </a:prstGeom>
          <a:solidFill>
            <a:schemeClr val="bg2"/>
          </a:solidFill>
          <a:ln w="9525">
            <a:solidFill>
              <a:srgbClr val="C4CBD8"/>
            </a:solidFill>
            <a:prstDash val="solid"/>
          </a:ln>
        </p:spPr>
      </p:sp>
      <p:sp>
        <p:nvSpPr>
          <p:cNvPr id="17" name="Number"/>
          <p:cNvSpPr/>
          <p:nvPr/>
        </p:nvSpPr>
        <p:spPr>
          <a:xfrm>
            <a:off x="731520" y="4526280"/>
            <a:ext cx="457200" cy="457200"/>
          </a:xfrm>
          <a:prstGeom prst="ellipse">
            <a:avLst/>
          </a:prstGeom>
          <a:solidFill>
            <a:schemeClr val="accent1"/>
          </a:solidFill>
          <a:ln w="6350">
            <a:solidFill>
              <a:schemeClr val="accent1"/>
            </a:solidFill>
            <a:prstDash val="solid"/>
          </a:ln>
        </p:spPr>
      </p:sp>
      <p:sp>
        <p:nvSpPr>
          <p:cNvPr id="18" name="Text 15"/>
          <p:cNvSpPr txBox="1"/>
          <p:nvPr/>
        </p:nvSpPr>
        <p:spPr>
          <a:xfrm>
            <a:off x="731520" y="4526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R3</a:t>
            </a:r>
            <a:endParaRPr lang="en-US" sz="1500" dirty="0"/>
          </a:p>
        </p:txBody>
      </p:sp>
      <p:sp>
        <p:nvSpPr>
          <p:cNvPr id="19" name="Step head"/>
          <p:cNvSpPr txBox="1"/>
          <p:nvPr/>
        </p:nvSpPr>
        <p:spPr>
          <a:xfrm>
            <a:off x="1325880" y="4507992"/>
            <a:ext cx="449564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The analytical panel</a:t>
            </a:r>
            <a:endParaRPr lang="en-US" sz="1700" dirty="0"/>
          </a:p>
        </p:txBody>
      </p:sp>
      <p:sp>
        <p:nvSpPr>
          <p:cNvPr id="20" name="Step text"/>
          <p:cNvSpPr txBox="1"/>
          <p:nvPr/>
        </p:nvSpPr>
        <p:spPr>
          <a:xfrm>
            <a:off x="731520" y="5120640"/>
            <a:ext cx="5044288" cy="960120"/>
          </a:xfrm>
          <a:prstGeom prst="rect">
            <a:avLst/>
          </a:prstGeom>
          <a:noFill/>
          <a:ln/>
        </p:spPr>
        <p:txBody>
          <a:bodyPr wrap="square" lIns="0" tIns="0" rIns="0" bIns="0" rtlCol="0" anchor="t"/>
          <a:lstStyle/>
          <a:p>
            <a:pPr indent="0" marL="0">
              <a:buNone/>
            </a:pPr>
            <a:r>
              <a:rPr lang="en-US" sz="1400" dirty="0">
                <a:solidFill>
                  <a:schemeClr val="tx1"/>
                </a:solidFill>
              </a:rPr>
              <a:t>The regularity the guarantees need: compact decision sets, continuous data. </a:t>
            </a:r>
            <a:r>
              <a:rPr lang="en-US" sz="1400" b="1" dirty="0">
                <a:solidFill>
                  <a:schemeClr val="tx1"/>
                </a:solidFill>
              </a:rPr>
              <a:t>Without it</a:t>
            </a:r>
            <a:r>
              <a:rPr lang="en-US" sz="1400" dirty="0">
                <a:solidFill>
                  <a:schemeClr val="tx1"/>
                </a:solidFill>
              </a:rPr>
              <a:t> feasible decisions can exist with no best one among them.</a:t>
            </a:r>
            <a:endParaRPr lang="en-US" sz="1400" dirty="0"/>
          </a:p>
        </p:txBody>
      </p:sp>
      <p:sp>
        <p:nvSpPr>
          <p:cNvPr id="21" name="Step card"/>
          <p:cNvSpPr/>
          <p:nvPr/>
        </p:nvSpPr>
        <p:spPr>
          <a:xfrm>
            <a:off x="6233008" y="4343400"/>
            <a:ext cx="5410048" cy="1828800"/>
          </a:xfrm>
          <a:prstGeom prst="roundRect">
            <a:avLst>
              <a:gd name="adj" fmla="val 4000"/>
            </a:avLst>
          </a:prstGeom>
          <a:solidFill>
            <a:schemeClr val="bg2"/>
          </a:solidFill>
          <a:ln w="9525">
            <a:solidFill>
              <a:srgbClr val="C4CBD8"/>
            </a:solidFill>
            <a:prstDash val="solid"/>
          </a:ln>
        </p:spPr>
      </p:sp>
      <p:sp>
        <p:nvSpPr>
          <p:cNvPr id="22" name="Number"/>
          <p:cNvSpPr/>
          <p:nvPr/>
        </p:nvSpPr>
        <p:spPr>
          <a:xfrm>
            <a:off x="6415888" y="4526280"/>
            <a:ext cx="457200" cy="457200"/>
          </a:xfrm>
          <a:prstGeom prst="ellipse">
            <a:avLst/>
          </a:prstGeom>
          <a:solidFill>
            <a:schemeClr val="accent1"/>
          </a:solidFill>
          <a:ln w="6350">
            <a:solidFill>
              <a:schemeClr val="accent1"/>
            </a:solidFill>
            <a:prstDash val="solid"/>
          </a:ln>
        </p:spPr>
      </p:sp>
      <p:sp>
        <p:nvSpPr>
          <p:cNvPr id="23" name="Text 20"/>
          <p:cNvSpPr txBox="1"/>
          <p:nvPr/>
        </p:nvSpPr>
        <p:spPr>
          <a:xfrm>
            <a:off x="6415888" y="4526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R4</a:t>
            </a:r>
            <a:endParaRPr lang="en-US" sz="1500" dirty="0"/>
          </a:p>
        </p:txBody>
      </p:sp>
      <p:sp>
        <p:nvSpPr>
          <p:cNvPr id="24" name="Step head"/>
          <p:cNvSpPr txBox="1"/>
          <p:nvPr/>
        </p:nvSpPr>
        <p:spPr>
          <a:xfrm>
            <a:off x="7010248" y="4507992"/>
            <a:ext cx="449564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Feasibility with horizon honesty</a:t>
            </a:r>
            <a:endParaRPr lang="en-US" sz="1700" dirty="0"/>
          </a:p>
        </p:txBody>
      </p:sp>
      <p:sp>
        <p:nvSpPr>
          <p:cNvPr id="25" name="Step text"/>
          <p:cNvSpPr txBox="1"/>
          <p:nvPr/>
        </p:nvSpPr>
        <p:spPr>
          <a:xfrm>
            <a:off x="6415888" y="5120640"/>
            <a:ext cx="5044288" cy="960120"/>
          </a:xfrm>
          <a:prstGeom prst="rect">
            <a:avLst/>
          </a:prstGeom>
          <a:noFill/>
          <a:ln/>
        </p:spPr>
        <p:txBody>
          <a:bodyPr wrap="square" lIns="0" tIns="0" rIns="0" bIns="0" rtlCol="0" anchor="t"/>
          <a:lstStyle/>
          <a:p>
            <a:pPr indent="0" marL="0">
              <a:buNone/>
            </a:pPr>
            <a:r>
              <a:rPr lang="en-US" sz="1400" dirty="0">
                <a:solidFill>
                  <a:schemeClr val="tx1"/>
                </a:solidFill>
              </a:rPr>
              <a:t>Some admissible decision keeps every commitment over the whole horizon. </a:t>
            </a:r>
            <a:r>
              <a:rPr lang="en-US" sz="1400" b="1" dirty="0">
                <a:solidFill>
                  <a:schemeClr val="tx1"/>
                </a:solidFill>
              </a:rPr>
              <a:t>Without it</a:t>
            </a:r>
            <a:r>
              <a:rPr lang="en-US" sz="1400" dirty="0">
                <a:solidFill>
                  <a:schemeClr val="tx1"/>
                </a:solidFill>
              </a:rPr>
              <a:t> no decision is feasible. The gates are ordered, and none implies the next.</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§1.8 · FIGURE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book, the website and AXIOM work together</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The textbook:</a:t>
            </a:r>
            <a:r>
              <a:rPr lang="en-US" sz="1600" dirty="0">
                <a:solidFill>
                  <a:schemeClr val="tx1"/>
                </a:solidFill>
              </a:rPr>
              <a:t> five LOS, one Worked Example on Meridian and one AXIOM Lab in every chapter</a:t>
            </a:r>
            <a:endParaRPr lang="en-US" sz="1600" dirty="0"/>
          </a:p>
          <a:p>
            <a:pPr marL="228600" indent="-228600">
              <a:spcAft>
                <a:spcPts val="800"/>
              </a:spcAft>
              <a:buSzPct val="100000"/>
              <a:buChar char="•"/>
            </a:pPr>
            <a:r>
              <a:rPr lang="en-US" sz="1600" b="1" dirty="0">
                <a:solidFill>
                  <a:schemeClr val="tx1"/>
                </a:solidFill>
              </a:rPr>
              <a:t>Two layers of rigor:</a:t>
            </a:r>
            <a:r>
              <a:rPr lang="en-US" sz="1600" dirty="0">
                <a:solidFill>
                  <a:schemeClr val="tx1"/>
                </a:solidFill>
              </a:rPr>
              <a:t> key proofs in Appendix 1.A, the rest in the Online Appendix</a:t>
            </a:r>
            <a:endParaRPr lang="en-US" sz="1600" dirty="0"/>
          </a:p>
          <a:p>
            <a:pPr marL="228600" indent="-228600">
              <a:spcAft>
                <a:spcPts val="800"/>
              </a:spcAft>
              <a:buSzPct val="100000"/>
              <a:buChar char="•"/>
            </a:pPr>
            <a:r>
              <a:rPr lang="en-US" sz="1600" b="1" dirty="0">
                <a:solidFill>
                  <a:schemeClr val="tx1"/>
                </a:solidFill>
              </a:rPr>
              <a:t>The course website:</a:t>
            </a:r>
            <a:r>
              <a:rPr lang="en-US" sz="1600" dirty="0">
                <a:solidFill>
                  <a:schemeClr val="tx1"/>
                </a:solidFill>
              </a:rPr>
              <a:t> slides, an Excel workbook and a Python notebook for every chapter</a:t>
            </a:r>
            <a:endParaRPr lang="en-US" sz="1600" dirty="0"/>
          </a:p>
          <a:p>
            <a:pPr marL="228600" indent="-228600">
              <a:spcAft>
                <a:spcPts val="800"/>
              </a:spcAft>
              <a:buSzPct val="100000"/>
              <a:buChar char="•"/>
            </a:pPr>
            <a:r>
              <a:rPr lang="en-US" sz="1600" b="1" dirty="0">
                <a:solidFill>
                  <a:schemeClr val="tx1"/>
                </a:solidFill>
              </a:rPr>
              <a:t>AXIOM:</a:t>
            </a:r>
            <a:r>
              <a:rPr lang="en-US" sz="1600" dirty="0">
                <a:solidFill>
                  <a:schemeClr val="tx1"/>
                </a:solidFill>
              </a:rPr>
              <a:t> formulation assistants, solvers and certificate checkers; Lab 2.n runs AXIOM-n</a:t>
            </a:r>
            <a:endParaRPr lang="en-US" sz="1600" dirty="0"/>
          </a:p>
          <a:p>
            <a:pPr marL="228600" indent="-228600">
              <a:spcAft>
                <a:spcPts val="800"/>
              </a:spcAft>
              <a:buSzPct val="100000"/>
              <a:buChar char="•"/>
            </a:pPr>
            <a:r>
              <a:rPr lang="en-US" sz="1600" b="1" dirty="0">
                <a:solidFill>
                  <a:schemeClr val="tx1"/>
                </a:solidFill>
              </a:rPr>
              <a:t>The book's website</a:t>
            </a:r>
            <a:r>
              <a:rPr lang="en-US" sz="1600" dirty="0">
                <a:solidFill>
                  <a:schemeClr val="tx1"/>
                </a:solidFill>
              </a:rPr>
              <a:t> is the entry point, with the Online Appendix of both volumes</a:t>
            </a:r>
            <a:endParaRPr lang="en-US" sz="1600" dirty="0"/>
          </a:p>
        </p:txBody>
      </p:sp>
      <p:pic>
        <p:nvPicPr>
          <p:cNvPr id="6" name="Figure" descr="Figure 1.3: the textbook, the course website and AXIOM">    </p:cNvPr>
          <p:cNvPicPr>
            <a:picLocks noChangeAspect="1"/>
          </p:cNvPicPr>
          <p:nvPr/>
        </p:nvPicPr>
        <p:blipFill>
          <a:blip r:embed="rId1"/>
          <a:stretch>
            <a:fillRect/>
          </a:stretch>
        </p:blipFill>
        <p:spPr>
          <a:xfrm>
            <a:off x="5391174" y="2310705"/>
            <a:ext cx="6251881" cy="2675501"/>
          </a:xfrm>
          <a:prstGeom prst="rect">
            <a:avLst/>
          </a:prstGeom>
        </p:spPr>
      </p:pic>
      <p:sp>
        <p:nvSpPr>
          <p:cNvPr id="7" name="Caption"/>
          <p:cNvSpPr txBox="1"/>
          <p:nvPr/>
        </p:nvSpPr>
        <p:spPr>
          <a:xfrm>
            <a:off x="5391174" y="5059359"/>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1.3. One numbering scheme across all three: a chapter, a learning outcome, a figure or a lab carries the same number everywhere.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Can Meridian sign Volume I's answer?</a:t>
            </a:r>
            <a:endParaRPr lang="en-US" sz="3200" dirty="0"/>
          </a:p>
        </p:txBody>
      </p:sp>
      <p:sp>
        <p:nvSpPr>
          <p:cNvPr id="5" name="Card"/>
          <p:cNvSpPr/>
          <p:nvPr/>
        </p:nvSpPr>
        <p:spPr>
          <a:xfrm>
            <a:off x="548640" y="1691640"/>
            <a:ext cx="2567864" cy="3108960"/>
          </a:xfrm>
          <a:prstGeom prst="roundRect">
            <a:avLst>
              <a:gd name="adj" fmla="val 2849"/>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Volume I's answer</a:t>
            </a:r>
            <a:endParaRPr lang="en-US" sz="1300" dirty="0"/>
          </a:p>
        </p:txBody>
      </p:sp>
      <p:sp>
        <p:nvSpPr>
          <p:cNvPr id="7" name="Card head"/>
          <p:cNvSpPr txBox="1"/>
          <p:nvPr/>
        </p:nvSpPr>
        <p:spPr>
          <a:xfrm>
            <a:off x="731520" y="2148840"/>
            <a:ext cx="2202104" cy="103327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 $170m line and two months' delay</a:t>
            </a:r>
            <a:endParaRPr lang="en-US" sz="2000" dirty="0"/>
          </a:p>
        </p:txBody>
      </p:sp>
      <p:sp>
        <p:nvSpPr>
          <p:cNvPr id="8" name="Card text"/>
          <p:cNvSpPr txBox="1"/>
          <p:nvPr/>
        </p:nvSpPr>
        <p:spPr>
          <a:xfrm>
            <a:off x="731520" y="3255264"/>
            <a:ext cx="2202104" cy="1417320"/>
          </a:xfrm>
          <a:prstGeom prst="rect">
            <a:avLst/>
          </a:prstGeom>
          <a:noFill/>
          <a:ln/>
        </p:spPr>
        <p:txBody>
          <a:bodyPr wrap="square" lIns="0" tIns="0" rIns="0" bIns="0" rtlCol="0" anchor="t"/>
          <a:lstStyle/>
          <a:p>
            <a:pPr indent="0" marL="0">
              <a:buNone/>
            </a:pPr>
            <a:r>
              <a:rPr lang="en-US" sz="1600" dirty="0">
                <a:solidFill>
                  <a:schemeClr val="tx2"/>
                </a:solidFill>
              </a:rPr>
              <a:t>The cheapest way to hold the chance of breaching the $350m floor at 5 percent: $10.4m.</a:t>
            </a:r>
            <a:endParaRPr lang="en-US" sz="1600" dirty="0"/>
          </a:p>
        </p:txBody>
      </p:sp>
      <p:sp>
        <p:nvSpPr>
          <p:cNvPr id="9" name="Card"/>
          <p:cNvSpPr/>
          <p:nvPr/>
        </p:nvSpPr>
        <p:spPr>
          <a:xfrm>
            <a:off x="3390824" y="1691640"/>
            <a:ext cx="2567864" cy="3108960"/>
          </a:xfrm>
          <a:prstGeom prst="roundRect">
            <a:avLst>
              <a:gd name="adj" fmla="val 2849"/>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The bank</a:t>
            </a:r>
            <a:endParaRPr lang="en-US" sz="1300" dirty="0"/>
          </a:p>
        </p:txBody>
      </p:sp>
      <p:sp>
        <p:nvSpPr>
          <p:cNvPr id="11" name="Card head"/>
          <p:cNvSpPr txBox="1"/>
          <p:nvPr/>
        </p:nvSpPr>
        <p:spPr>
          <a:xfrm>
            <a:off x="3573704" y="2148840"/>
            <a:ext cx="2202104" cy="103327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Lines come in $50m tranches</a:t>
            </a:r>
            <a:endParaRPr lang="en-US" sz="2000" dirty="0"/>
          </a:p>
        </p:txBody>
      </p:sp>
      <p:sp>
        <p:nvSpPr>
          <p:cNvPr id="12" name="Card text"/>
          <p:cNvSpPr txBox="1"/>
          <p:nvPr/>
        </p:nvSpPr>
        <p:spPr>
          <a:xfrm>
            <a:off x="3573704" y="3255264"/>
            <a:ext cx="2202104" cy="1417320"/>
          </a:xfrm>
          <a:prstGeom prst="rect">
            <a:avLst/>
          </a:prstGeom>
          <a:noFill/>
          <a:ln/>
        </p:spPr>
        <p:txBody>
          <a:bodyPr wrap="square" lIns="0" tIns="0" rIns="0" bIns="0" rtlCol="0" anchor="t"/>
          <a:lstStyle/>
          <a:p>
            <a:pPr indent="0" marL="0">
              <a:buNone/>
            </a:pPr>
            <a:r>
              <a:rPr lang="en-US" sz="1600" dirty="0">
                <a:solidFill>
                  <a:schemeClr val="tx2"/>
                </a:solidFill>
              </a:rPr>
              <a:t>Committed standby lines are written in tranches of $50 million; treasury owns the line.</a:t>
            </a:r>
            <a:endParaRPr lang="en-US" sz="1600" dirty="0"/>
          </a:p>
        </p:txBody>
      </p:sp>
      <p:sp>
        <p:nvSpPr>
          <p:cNvPr id="13" name="Card"/>
          <p:cNvSpPr/>
          <p:nvPr/>
        </p:nvSpPr>
        <p:spPr>
          <a:xfrm>
            <a:off x="6233008" y="1691640"/>
            <a:ext cx="2567864" cy="3108960"/>
          </a:xfrm>
          <a:prstGeom prst="roundRect">
            <a:avLst>
              <a:gd name="adj" fmla="val 2849"/>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The program office</a:t>
            </a:r>
            <a:endParaRPr lang="en-US" sz="1300" dirty="0"/>
          </a:p>
        </p:txBody>
      </p:sp>
      <p:sp>
        <p:nvSpPr>
          <p:cNvPr id="15" name="Card head"/>
          <p:cNvSpPr txBox="1"/>
          <p:nvPr/>
        </p:nvSpPr>
        <p:spPr>
          <a:xfrm>
            <a:off x="6415888" y="2148840"/>
            <a:ext cx="2202104" cy="103327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The build moves in whole quarters</a:t>
            </a:r>
            <a:endParaRPr lang="en-US" sz="2000" dirty="0"/>
          </a:p>
        </p:txBody>
      </p:sp>
      <p:sp>
        <p:nvSpPr>
          <p:cNvPr id="16" name="Card text"/>
          <p:cNvSpPr txBox="1"/>
          <p:nvPr/>
        </p:nvSpPr>
        <p:spPr>
          <a:xfrm>
            <a:off x="6415888" y="3255264"/>
            <a:ext cx="2202104" cy="1417320"/>
          </a:xfrm>
          <a:prstGeom prst="rect">
            <a:avLst/>
          </a:prstGeom>
          <a:noFill/>
          <a:ln/>
        </p:spPr>
        <p:txBody>
          <a:bodyPr wrap="square" lIns="0" tIns="0" rIns="0" bIns="0" rtlCol="0" anchor="t"/>
          <a:lstStyle/>
          <a:p>
            <a:pPr indent="0" marL="0">
              <a:buNone/>
            </a:pPr>
            <a:r>
              <a:rPr lang="en-US" sz="1600" dirty="0">
                <a:solidFill>
                  <a:schemeClr val="tx2"/>
                </a:solidFill>
              </a:rPr>
              <a:t>The delay is planned in whole quarters, each worth $8m of Digital Solutions' contribution.</a:t>
            </a:r>
            <a:endParaRPr lang="en-US" sz="1600" dirty="0"/>
          </a:p>
        </p:txBody>
      </p:sp>
      <p:sp>
        <p:nvSpPr>
          <p:cNvPr id="17" name="Card"/>
          <p:cNvSpPr/>
          <p:nvPr/>
        </p:nvSpPr>
        <p:spPr>
          <a:xfrm>
            <a:off x="9075191" y="1691640"/>
            <a:ext cx="2567864" cy="3108960"/>
          </a:xfrm>
          <a:prstGeom prst="roundRect">
            <a:avLst>
              <a:gd name="adj" fmla="val 2849"/>
            </a:avLst>
          </a:prstGeom>
          <a:solidFill>
            <a:schemeClr val="tx1"/>
          </a:solidFill>
          <a:ln w="9525">
            <a:solidFill>
              <a:srgbClr val="0F1E3D"/>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The board</a:t>
            </a:r>
            <a:endParaRPr lang="en-US" sz="1300" dirty="0"/>
          </a:p>
        </p:txBody>
      </p:sp>
      <p:sp>
        <p:nvSpPr>
          <p:cNvPr id="19" name="Card head"/>
          <p:cNvSpPr txBox="1"/>
          <p:nvPr/>
        </p:nvSpPr>
        <p:spPr>
          <a:xfrm>
            <a:off x="9258071" y="2148840"/>
            <a:ext cx="2202104" cy="1033272"/>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What should it sign?</a:t>
            </a:r>
            <a:endParaRPr lang="en-US" sz="2000" dirty="0"/>
          </a:p>
        </p:txBody>
      </p:sp>
      <p:sp>
        <p:nvSpPr>
          <p:cNvPr id="20" name="Card text"/>
          <p:cNvSpPr txBox="1"/>
          <p:nvPr/>
        </p:nvSpPr>
        <p:spPr>
          <a:xfrm>
            <a:off x="9258071" y="3255264"/>
            <a:ext cx="2202104" cy="1417320"/>
          </a:xfrm>
          <a:prstGeom prst="rect">
            <a:avLst/>
          </a:prstGeom>
          <a:noFill/>
          <a:ln/>
        </p:spPr>
        <p:txBody>
          <a:bodyPr wrap="square" lIns="0" tIns="0" rIns="0" bIns="0" rtlCol="0" anchor="t"/>
          <a:lstStyle/>
          <a:p>
            <a:pPr indent="0" marL="0">
              <a:buNone/>
            </a:pPr>
            <a:r>
              <a:rPr lang="en-US" sz="1600" dirty="0">
                <a:solidFill>
                  <a:schemeClr val="bg2"/>
                </a:solidFill>
              </a:rPr>
              <a:t>What do the lumps cost, and which number in the problem moves the answer most?</a:t>
            </a:r>
            <a:endParaRPr lang="en-US" sz="1600" dirty="0"/>
          </a:p>
        </p:txBody>
      </p:sp>
      <p:sp>
        <p:nvSpPr>
          <p:cNvPr id="21" name="Lead"/>
          <p:cNvSpPr txBox="1"/>
          <p:nvPr/>
        </p:nvSpPr>
        <p:spPr>
          <a:xfrm>
            <a:off x="548640" y="507492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chief financial officer takes Volume I's answer to the bank and the program office, and comes back with two facts.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 · STEPS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Write the problem, check the gates, solve</a:t>
            </a:r>
            <a:endParaRPr lang="en-US" sz="3200" dirty="0"/>
          </a:p>
        </p:txBody>
      </p:sp>
      <p:pic>
        <p:nvPicPr>
          <p:cNvPr id="5" name="Equation" descr="Equation: \begin{aligned} \min_{l,\,\phi} \quad &amp; 0.03\,l + 8\,\phi \\ \text{subject to} \quad &amp; \Pr\bigl(\text{liquidity} &lt; 350 \text{ in some quarter}\bigr) \le 0.05, \quad 0 \le l \le 400, \quad 0 \le \phi \le 6 \end{aligned}">    </p:cNvPr>
          <p:cNvPicPr>
            <a:picLocks noChangeAspect="1"/>
          </p:cNvPicPr>
          <p:nvPr/>
        </p:nvPicPr>
        <p:blipFill>
          <a:blip r:embed="rId1"/>
          <a:stretch>
            <a:fillRect/>
          </a:stretch>
        </p:blipFill>
        <p:spPr>
          <a:xfrm>
            <a:off x="916062" y="1828800"/>
            <a:ext cx="10359571" cy="1143000"/>
          </a:xfrm>
          <a:prstGeom prst="rect">
            <a:avLst/>
          </a:prstGeom>
        </p:spPr>
      </p:pic>
      <p:sp>
        <p:nvSpPr>
          <p:cNvPr id="6" name="Text 2"/>
          <p:cNvSpPr txBox="1"/>
          <p:nvPr/>
        </p:nvSpPr>
        <p:spPr>
          <a:xfrm>
            <a:off x="914400" y="310896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line l ($ million, treasury) and the delay φ (quarters, transformation office), on Volume I's Chapter 8 model</a:t>
            </a:r>
            <a:endParaRPr lang="en-US" sz="1600" dirty="0"/>
          </a:p>
        </p:txBody>
      </p:sp>
      <p:sp>
        <p:nvSpPr>
          <p:cNvPr id="7" name="Bullets"/>
          <p:cNvSpPr txBox="1"/>
          <p:nvPr/>
        </p:nvSpPr>
        <p:spPr>
          <a:xfrm>
            <a:off x="914400" y="3703320"/>
            <a:ext cx="1036289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2:</a:t>
            </a:r>
            <a:r>
              <a:rPr lang="en-US" sz="1700" dirty="0">
                <a:solidFill>
                  <a:schemeClr val="bg1"/>
                </a:solidFill>
              </a:rPr>
              <a:t> the gates pass after Volume I's repairs; with the package, the deepest draw and the closure buffer use $138.5m of the $270m above the floor</a:t>
            </a:r>
            <a:endParaRPr lang="en-US" sz="1700" dirty="0"/>
          </a:p>
          <a:p>
            <a:pPr marL="228600" indent="-228600">
              <a:spcAft>
                <a:spcPts val="800"/>
              </a:spcAft>
              <a:buSzPct val="100000"/>
              <a:buChar char="•"/>
            </a:pPr>
            <a:r>
              <a:rPr lang="en-US" sz="1700" b="1" dirty="0">
                <a:solidFill>
                  <a:schemeClr val="bg1"/>
                </a:solidFill>
              </a:rPr>
              <a:t>Step 3:</a:t>
            </a:r>
            <a:r>
              <a:rPr lang="en-US" sz="1700" dirty="0">
                <a:solidFill>
                  <a:schemeClr val="bg1"/>
                </a:solidFill>
              </a:rPr>
              <a:t> with continuous levers the box is closed, bounded and convex, so a best package exists: $170m and 0.67 quarters, $10.44m, with the appetite met exactly</a:t>
            </a:r>
            <a:endParaRPr lang="en-US" sz="1700" dirty="0"/>
          </a:p>
          <a:p>
            <a:pPr marL="228600" indent="-228600">
              <a:spcAft>
                <a:spcPts val="800"/>
              </a:spcAft>
              <a:buSzPct val="100000"/>
              <a:buChar char="•"/>
            </a:pPr>
            <a:r>
              <a:rPr lang="en-US" sz="1700" dirty="0">
                <a:solidFill>
                  <a:schemeClr val="bg1"/>
                </a:solidFill>
              </a:rPr>
              <a:t>Neither lever works alone: the best line on its own leaves the odds at 8.4 percent, and delay on its own needs more than five quarters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 · TABLE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Packages for the board's 5 percent appetite</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767848"/>
                <a:gridCol w="1558719"/>
                <a:gridCol w="1558719"/>
                <a:gridCol w="1650409"/>
                <a:gridCol w="1558719"/>
              </a:tblGrid>
              <a:tr h="475488">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Package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Line ($m)</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Delay (q)</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Breach odds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Cost ($m)</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Continuous levers (Volume I)</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170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0.67</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10.44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Whole quarters, line to the $1 million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121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11.63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Whole quarters, $10 million tranches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130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11.90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600" b="1" dirty="0">
                          <a:solidFill>
                            <a:srgbClr val="0F1E3D"/>
                          </a:solidFill>
                          <a:latin typeface="Calibri" pitchFamily="34" charset="0"/>
                          <a:ea typeface="Calibri" pitchFamily="34" charset="-122"/>
                          <a:cs typeface="Calibri" pitchFamily="34" charset="-120"/>
                        </a:rPr>
                        <a:t>Whole quarters, $50 million tranches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150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12.50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Rounded down (fails the appetite)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150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9.6%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4.50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Rounded up</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14.00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2578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Volume I's Chapter 8 model, 100,000 paths. Cost is line fees plus $8 million per quarter of delay.</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lumps cost $2.06m, about 20 percent: $1.19m for whole quarters and $0.87m more for $50m tranches.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 · STEPS 4–5 · FIGURE 1.4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lumps cost $2.06m; rounding is no method</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63 packages</a:t>
            </a:r>
            <a:r>
              <a:rPr lang="en-US" sz="1600" dirty="0">
                <a:solidFill>
                  <a:schemeClr val="tx1"/>
                </a:solidFill>
              </a:rPr>
              <a:t>, 46 meet the appetite; the cheapest: </a:t>
            </a:r>
            <a:r>
              <a:rPr lang="en-US" sz="1600" b="1" dirty="0">
                <a:solidFill>
                  <a:schemeClr val="tx1"/>
                </a:solidFill>
              </a:rPr>
              <a:t>$150m and one quarter</a:t>
            </a:r>
            <a:r>
              <a:rPr lang="en-US" sz="1600" dirty="0">
                <a:solidFill>
                  <a:schemeClr val="tx1"/>
                </a:solidFill>
              </a:rPr>
              <a:t>, $12.50m</a:t>
            </a:r>
            <a:endParaRPr lang="en-US" sz="1600" dirty="0"/>
          </a:p>
          <a:p>
            <a:pPr marL="228600" indent="-228600">
              <a:spcAft>
                <a:spcPts val="800"/>
              </a:spcAft>
              <a:buSzPct val="100000"/>
              <a:buChar char="•"/>
            </a:pPr>
            <a:r>
              <a:rPr lang="en-US" sz="1600" b="1" dirty="0">
                <a:solidFill>
                  <a:schemeClr val="tx1"/>
                </a:solidFill>
              </a:rPr>
              <a:t>Rounded down,</a:t>
            </a:r>
            <a:r>
              <a:rPr lang="en-US" sz="1600" dirty="0">
                <a:solidFill>
                  <a:schemeClr val="tx1"/>
                </a:solidFill>
              </a:rPr>
              <a:t> (150, 0) breaches at 9.6%; </a:t>
            </a:r>
            <a:r>
              <a:rPr lang="en-US" sz="1600" b="1" dirty="0">
                <a:solidFill>
                  <a:schemeClr val="tx1"/>
                </a:solidFill>
              </a:rPr>
              <a:t>rounded up,</a:t>
            </a:r>
            <a:r>
              <a:rPr lang="en-US" sz="1600" dirty="0">
                <a:solidFill>
                  <a:schemeClr val="tx1"/>
                </a:solidFill>
              </a:rPr>
              <a:t> (200, 1) costs $14.00m</a:t>
            </a:r>
            <a:endParaRPr lang="en-US" sz="1600" dirty="0"/>
          </a:p>
          <a:p>
            <a:pPr marL="228600" indent="-228600">
              <a:spcAft>
                <a:spcPts val="800"/>
              </a:spcAft>
              <a:buSzPct val="100000"/>
              <a:buChar char="•"/>
            </a:pPr>
            <a:r>
              <a:rPr lang="en-US" sz="1600" dirty="0">
                <a:solidFill>
                  <a:schemeClr val="tx1"/>
                </a:solidFill>
              </a:rPr>
              <a:t>The continuous answer is a floor no lumpy package beats (Theorem 1.3(v))</a:t>
            </a:r>
            <a:endParaRPr lang="en-US" sz="1600" dirty="0"/>
          </a:p>
          <a:p>
            <a:pPr marL="228600" indent="-228600">
              <a:spcAft>
                <a:spcPts val="800"/>
              </a:spcAft>
              <a:buSzPct val="100000"/>
              <a:buChar char="•"/>
            </a:pPr>
            <a:r>
              <a:rPr lang="en-US" sz="1600" b="1" dirty="0">
                <a:solidFill>
                  <a:schemeClr val="tx1"/>
                </a:solidFill>
              </a:rPr>
              <a:t>Rescaling</a:t>
            </a:r>
            <a:r>
              <a:rPr lang="en-US" sz="1600" dirty="0">
                <a:solidFill>
                  <a:schemeClr val="tx1"/>
                </a:solidFill>
              </a:rPr>
              <a:t> (after tax, in thousands) moves no package (Theorem 1.4(iii))</a:t>
            </a:r>
            <a:endParaRPr lang="en-US" sz="1600" dirty="0"/>
          </a:p>
          <a:p>
            <a:pPr marL="228600" indent="-228600">
              <a:spcAft>
                <a:spcPts val="800"/>
              </a:spcAft>
              <a:buSzPct val="100000"/>
              <a:buChar char="•"/>
            </a:pPr>
            <a:r>
              <a:rPr lang="en-US" sz="1600" b="1" dirty="0">
                <a:solidFill>
                  <a:schemeClr val="tx1"/>
                </a:solidFill>
              </a:rPr>
              <a:t>Reweighting:</a:t>
            </a:r>
            <a:r>
              <a:rPr lang="en-US" sz="1600" dirty="0">
                <a:solidFill>
                  <a:schemeClr val="tx1"/>
                </a:solidFill>
              </a:rPr>
              <a:t> at $4m or $16m a quarter, the continuous line moves from $140m to $195m</a:t>
            </a:r>
            <a:endParaRPr lang="en-US" sz="1600" dirty="0"/>
          </a:p>
          <a:p>
            <a:pPr marL="228600" indent="-228600">
              <a:spcAft>
                <a:spcPts val="800"/>
              </a:spcAft>
              <a:buSzPct val="100000"/>
              <a:buChar char="•"/>
            </a:pPr>
            <a:r>
              <a:rPr lang="en-US" sz="1600" dirty="0">
                <a:solidFill>
                  <a:schemeClr val="tx1"/>
                </a:solidFill>
              </a:rPr>
              <a:t>The lumpy answer stays (150, 1) for any value above $1.5m a quarter</a:t>
            </a:r>
            <a:endParaRPr lang="en-US" sz="1600" dirty="0"/>
          </a:p>
        </p:txBody>
      </p:sp>
      <p:pic>
        <p:nvPicPr>
          <p:cNvPr id="6" name="Figure" descr="Figure 1.4: the plane of packages">    </p:cNvPr>
          <p:cNvPicPr>
            <a:picLocks noChangeAspect="1"/>
          </p:cNvPicPr>
          <p:nvPr/>
        </p:nvPicPr>
        <p:blipFill>
          <a:blip r:embed="rId1"/>
          <a:stretch>
            <a:fillRect/>
          </a:stretch>
        </p:blipFill>
        <p:spPr>
          <a:xfrm>
            <a:off x="5791296" y="1691640"/>
            <a:ext cx="5451637" cy="3913632"/>
          </a:xfrm>
          <a:prstGeom prst="rect">
            <a:avLst/>
          </a:prstGeom>
        </p:spPr>
      </p:pic>
      <p:sp>
        <p:nvSpPr>
          <p:cNvPr id="7" name="Caption"/>
          <p:cNvSpPr txBox="1"/>
          <p:nvPr/>
        </p:nvSpPr>
        <p:spPr>
          <a:xfrm>
            <a:off x="5391174" y="5678424"/>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1.4. Above the 5 percent curve the appetite is met; dashed lines are packages of equal cost; open diamonds: the continuous answer at $4m or $16m a quarter.</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Sign $150m with one quarter of delay</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$12.50m</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a $150m line and one quarter of delay: breach odds 4.0 percent</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$2.06m</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what the lumps cost; a bank writing $10m pieces would save $0.60m of it</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$55m</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of line moved by the board's value of delay; the signed package stays</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The joint check of Volume I still passes, with $120m of cash above the floor unclaimed</a:t>
            </a:r>
            <a:endParaRPr lang="en-US" sz="1700" dirty="0"/>
          </a:p>
          <a:p>
            <a:pPr marL="228600" indent="-228600">
              <a:spcAft>
                <a:spcPts val="800"/>
              </a:spcAft>
              <a:buSzPct val="100000"/>
              <a:buChar char="•"/>
            </a:pPr>
            <a:r>
              <a:rPr lang="en-US" sz="1700" dirty="0">
                <a:solidFill>
                  <a:schemeClr val="tx1"/>
                </a:solidFill>
              </a:rPr>
              <a:t>The number that moves the answer most is not the solver's but the board's: the value of a quarter of delay</a:t>
            </a:r>
            <a:endParaRPr lang="en-US" sz="1700" dirty="0"/>
          </a:p>
          <a:p>
            <a:pPr marL="228600" indent="-228600">
              <a:spcAft>
                <a:spcPts val="800"/>
              </a:spcAft>
              <a:buSzPct val="100000"/>
              <a:buChar char="•"/>
            </a:pPr>
            <a:r>
              <a:rPr lang="en-US" sz="1700" b="1" dirty="0">
                <a:solidFill>
                  <a:schemeClr val="tx1"/>
                </a:solidFill>
              </a:rPr>
              <a:t>Step 6:</a:t>
            </a:r>
            <a:r>
              <a:rPr lang="en-US" sz="1700" dirty="0">
                <a:solidFill>
                  <a:schemeClr val="tx1"/>
                </a:solidFill>
              </a:rPr>
              <a:t> set once and under uncertainty, with lumpy levers: Chapter 9's chance constraints with Chapter 4's integer methods</a:t>
            </a:r>
            <a:endParaRPr lang="en-US" sz="1700" dirty="0"/>
          </a:p>
          <a:p>
            <a:pPr marL="228600" indent="-228600">
              <a:spcAft>
                <a:spcPts val="800"/>
              </a:spcAft>
              <a:buSzPct val="100000"/>
              <a:buChar char="•"/>
            </a:pPr>
            <a:r>
              <a:rPr lang="en-US" sz="1700" dirty="0">
                <a:solidFill>
                  <a:schemeClr val="tx1"/>
                </a:solidFill>
              </a:rPr>
              <a:t>For discussion: the package overshoots the appetite, 4.0 rather than 5 percent. Is the extra safety worth $2.06m, and would you pay the bank for smaller pieces?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2.1 · MODULE AXIOM-01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From question to solvable problem,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board wants to know what an optimizer adds to the analysis it already has, and the chief financial officer must turn Volume I's answer into a package the bank and the program office can sign. Open AXIOM, choose Lab 2.1 and load the Meridian digital program.</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Formulate</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Enter the levers with owners and prices; delete the delay's declaration and watch the assistant refuse.</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Run the gates</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(R1)–(R4); remove the standby line and rerun (R2): which commitments does the minimal infeasible set name?</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Explore the decision space</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Switch to $50m tranches and whole quarters; count the packages and compare the cheapest with the roundings.</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Rescale, then reweight</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State the costs after tax; value a quarter of delay at $4m and $16m.</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Add a commitment</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Add the capability floor and the covenant with the line fully drawn: the feasible packages can only shrink.</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the package to sign, its odds and cost, what the lumps cost, which declaration moves the answer most, and the certificates that support each number. About 60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Analysis runs forward from a plan to its consequences; optimization runs backward from what the company wants and must respect to a plan. Both use the same declared model, and optimization needs every term of its problem declared.</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Every well-posed transformation decision fits one canonical form: decisions, an objective, commitments, and the company's dynamics, with nothing lost and nothing left to taste.</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decision space says how hard the problem is: continuous choices are benign, every lumpy choice doubles the pieces to search, and rules make the search one over functions. A relaxed answer bounds every lumpy one, but rounding it is not a method.</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Rescaling an objective changes no decision; reweighting it can change every decision, so the weights are the board's to declare.</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An answer is worth its certificates, and certificates are about the company only when the readiness gates have passed.</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45</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53</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26201</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AXIOM-01</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2.1</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DCT_V2_Ch01_Lab.ipynb: Worked Example 1.1 and the lab's five steps in eight panels, on the book's 100,000 paths,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DCT_V2_Ch01_Lab.xlsx: the formulation assistant, the gates, the 63 packages, Table 1.3, reweighting and the two-channel budget,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2 turns the form into an instance</a:t>
            </a:r>
            <a:endParaRPr lang="en-US" sz="3200" dirty="0"/>
          </a:p>
        </p:txBody>
      </p:sp>
      <p:pic>
        <p:nvPicPr>
          <p:cNvPr id="5" name="Equation" descr="Equation: \Pr\bigl(g(\mathbf{x}, \mathbf{u}) \le 0\bigr) \;\ge\; 1 - \alpha">    </p:cNvPr>
          <p:cNvPicPr>
            <a:picLocks noChangeAspect="1"/>
          </p:cNvPicPr>
          <p:nvPr/>
        </p:nvPicPr>
        <p:blipFill>
          <a:blip r:embed="rId1"/>
          <a:stretch>
            <a:fillRect/>
          </a:stretch>
        </p:blipFill>
        <p:spPr>
          <a:xfrm>
            <a:off x="3829614" y="1691640"/>
            <a:ext cx="4532468" cy="685800"/>
          </a:xfrm>
          <a:prstGeom prst="rect">
            <a:avLst/>
          </a:prstGeom>
        </p:spPr>
      </p:pic>
      <p:sp>
        <p:nvSpPr>
          <p:cNvPr id="6" name="Bullets"/>
          <p:cNvSpPr txBox="1"/>
          <p:nvPr/>
        </p:nvSpPr>
        <p:spPr>
          <a:xfrm>
            <a:off x="548640" y="2697480"/>
            <a:ext cx="11094415" cy="34747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Every instance is written in five blocks: dynamics, admissible decisions, path commitments, start and end conditions, and uncertainty, with empty blocks declared empty</a:t>
            </a:r>
            <a:endParaRPr lang="en-US" sz="1800" dirty="0"/>
          </a:p>
          <a:p>
            <a:pPr marL="228600" indent="-228600">
              <a:spcAft>
                <a:spcPts val="800"/>
              </a:spcAft>
              <a:buSzPct val="100000"/>
              <a:buChar char="•"/>
            </a:pPr>
            <a:r>
              <a:rPr lang="en-US" sz="1800" dirty="0">
                <a:solidFill>
                  <a:schemeClr val="bg1"/>
                </a:solidFill>
              </a:rPr>
              <a:t>One sentence, liquidity above $350m, costs nothing on the average path (odds 24.6%), $1.65m in Volume I's stress set (17.4%), $10.44m at 95 percent, and cannot be bought on every path</a:t>
            </a:r>
            <a:endParaRPr lang="en-US" sz="1800" dirty="0"/>
          </a:p>
          <a:p>
            <a:pPr marL="228600" indent="-228600">
              <a:spcAft>
                <a:spcPts val="800"/>
              </a:spcAft>
              <a:buSzPct val="100000"/>
              <a:buChar char="•"/>
            </a:pPr>
            <a:r>
              <a:rPr lang="en-US" sz="1800" dirty="0">
                <a:solidFill>
                  <a:schemeClr val="bg1"/>
                </a:solidFill>
              </a:rPr>
              <a:t>How a commitment holds under uncertainty is a declaration with a price, and the board owns it</a:t>
            </a:r>
            <a:endParaRPr lang="en-US" sz="1800" dirty="0"/>
          </a:p>
          <a:p>
            <a:pPr marL="228600" indent="-228600">
              <a:spcAft>
                <a:spcPts val="800"/>
              </a:spcAft>
              <a:buSzPct val="100000"/>
              <a:buChar char="•"/>
            </a:pPr>
            <a:r>
              <a:rPr lang="en-US" sz="1800" dirty="0">
                <a:solidFill>
                  <a:schemeClr val="bg1"/>
                </a:solidFill>
              </a:rPr>
              <a:t>Its Worked Example asks whether two pledges on Meridian's automation program can both be kept</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1: Introduction to Enterprise Optimization</dc:title>
  <dc:subject>Slides for Volume II, Chapter 1 (V56)</dc:subject>
  <dc:creator>Samir Asaf</dc:creator>
  <cp:lastModifiedBy>Samir Asaf</cp:lastModifiedBy>
  <cp:revision>1</cp:revision>
  <dcterms:created xsi:type="dcterms:W3CDTF">2026-10-05T09:20:47Z</dcterms:created>
  <dcterms:modified xsi:type="dcterms:W3CDTF">2026-10-05T09:20:47Z</dcterms:modified>
</cp:coreProperties>
</file>