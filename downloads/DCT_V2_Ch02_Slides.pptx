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Lst>
  <p:notesMasterIdLst>
    <p:notesMasterId r:id="rId2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8fe12fea-7d90-975e-8d5e-1ae5c229c927}">
          <p14:sldIdLst>
            <p14:sldId id="256"/>
            <p14:sldId id="257"/>
            <p14:sldId id="258"/>
            <p14:sldId id="259"/>
          </p14:sldIdLst>
        </p14:section>
        <p14:section name="2.1 From Problem to Instance" id="{c73b1323-b51d-1c98-79a6-dae0da033f02}">
          <p14:sldIdLst>
            <p14:sldId id="260"/>
            <p14:sldId id="261"/>
          </p14:sldIdLst>
        </p14:section>
        <p14:section name="2.2 What Is Chosen and What Is Induced" id="{47eb3686-573b-09c2-fa31-f8d5df47f031}">
          <p14:sldIdLst>
            <p14:sldId id="262"/>
          </p14:sldIdLst>
        </p14:section>
        <p14:section name="2.3 Objectives: Form Is Free, Content Is Governance" id="{4d4fb9a7-63fd-ef16-e98c-03ddf5452764}">
          <p14:sldIdLst>
            <p14:sldId id="263"/>
            <p14:sldId id="264"/>
          </p14:sldIdLst>
        </p14:section>
        <p14:section name="2.4 Commitments and How They Hold" id="{aa181548-dbd3-67c8-13bd-88b8f712fa05}">
          <p14:sldIdLst>
            <p14:sldId id="265"/>
          </p14:sldIdLst>
        </p14:section>
        <p14:section name="2.5 Feasibility, Computed" id="{be108d25-a603-f405-88be-664533a216bf}">
          <p14:sldIdLst>
            <p14:sldId id="266"/>
            <p14:sldId id="267"/>
          </p14:sldIdLst>
        </p14:section>
        <p14:section name="2.6 Classes, Architecture, and the Warranty" id="{0ef79b2a-096e-f006-e99e-905911055d25}">
          <p14:sldIdLst>
            <p14:sldId id="268"/>
            <p14:sldId id="269"/>
          </p14:sldIdLst>
        </p14:section>
        <p14:section name="2.7 Preparing an Instance for a Solver" id="{39531af1-85fe-de5a-2b60-9f4bf0a8ebdd}">
          <p14:sldIdLst>
            <p14:sldId id="270"/>
          </p14:sldIdLst>
        </p14:section>
        <p14:section name="Worked Example 2.1" id="{32abd377-3ece-0a1b-5639-d65840a1151f}">
          <p14:sldIdLst>
            <p14:sldId id="271"/>
            <p14:sldId id="272"/>
            <p14:sldId id="273"/>
            <p14:sldId id="274"/>
            <p14:sldId id="275"/>
          </p14:sldIdLst>
        </p14:section>
        <p14:section name="In Practice" id="{2fd518f6-06ba-10d7-5473-65c1a4f17aab}">
          <p14:sldIdLst>
            <p14:sldId id="276"/>
          </p14:sldIdLst>
        </p14:section>
        <p14:section name="AXIOM Lab 2.2" id="{ba28219a-4cb1-bc3f-84c9-bef62724f105}">
          <p14:sldIdLst>
            <p14:sldId id="277"/>
          </p14:sldIdLst>
        </p14:section>
        <p14:section name="Close" id="{c4a2bde6-5506-ca57-bfbc-d7086a4b98ee}">
          <p14:sldIdLst>
            <p14:sldId id="278"/>
            <p14:sldId id="279"/>
            <p14:sldId id="28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notesMaster" Target="notesMasters/notesMaster1.xml"/><Relationship Id="rId28" Type="http://schemas.openxmlformats.org/officeDocument/2006/relationships/presProps" Target="presProps.xml"/><Relationship Id="rId29" Type="http://schemas.openxmlformats.org/officeDocument/2006/relationships/viewProps" Target="viewProps.xml"/><Relationship Id="rId30" Type="http://schemas.openxmlformats.org/officeDocument/2006/relationships/theme" Target="theme/theme1.xml"/><Relationship Id="rId3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Volume II, Chapter 2. Volume I posed the General Enterprise Optimization Problem and proved what its answers mean; this chapter turns the problem into an instance, something a solver can take and an auditor can check (chapter abstract).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Rutherford's line is the chapter's situation: Meridian's two pledges compete for the same cash, and the answer is not more money but a better-posed problem. Worked Example 2.1 thinks it through: write the instance, check the plan, name the clash, price the way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five learning outcome statements; LOS Guidance at the end of the chapter.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Formal statements and proofs of Theorems 2.1-2.3 are in Appendix 2.A; Propositions 2.1-2.5 and Theorem 2.4 in Online Appendix 2.B, with the numbers behind Worked Example 2.1 (Example 2.B.4).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Definition 2.1 (equations 2.1-2.6) and Proposition 2.1, formal statement and proof in Online Appendix 2.B. Volume I's capital floors, performance targets, risk ceilings and governance identities become path commitments; the admissible decisions and the end set are named blocks because solvers treat them differently. Writing 'none' in a block is how a formulation review sees the choice.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Table 2.1 and Figure 2.1. Volume I supplies each block: dynamics from Chapters 7, 8 and 13; admissible decisions from Chapter 6 and Definitions 15.2-15.3; path commitments from Chapters 9-13 and Table 15.2; start and end from Chapter 5 and the viability of Chapter 14; uncertainty from Chapters 8 and 12; the objective from Chapters 10-12 and Definition 15.4.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Definitions 2.2 and 2.3, Table 2.2 (levels of decision: strategic, tactical, operational, policy) and Proposition 2.2, proof in Online Appendix 2.B. The boundary between chosen and induced is the formulation error a review most often catches. Worked Example 2.1, Step 1, and LOS Guidance 2.2: the spreadsheet overstates the three-round plan's savings by $55 million.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Theorem 2.1; formal statement and proof in Appendix 2.A. An objective is a measure promoted to the criterion the optimizer pushes against every commitment; promotion amplifies its virtues and its defects alike, which is why Volume I paired every objective with tripwires (Volume I, Theorem 11.1(iii)). Worked Example 2.1, Step 5, shows the terminal credit deciding the program's size.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Table 2.3. Form is free, content is governance. The witness for a curve inside the expectation is the proof of Theorem 2.1(iv) in Appendix 2.A: E[u] is ln 2, about 0.693, for the sure 1 and half of ln 3.2, about 0.582, for the gamble, so the utility reverses the choice.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Table 2.4 and Proposition 2.3 (proof in Online Appendix 2.B). On every path implies 95 percent; the average path, or a stress set narrower than the uncertainty, implies neither. The cheap versions are not conservative: the average path never breaches while a quarter of the paths do. Chapters 9-11 solve each version.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Theorem 2.2; formal statement and proof in Appendix 2.A, whose witness for part (iii)(d) is the reinvestment rule x₂ = (1 + θ₀)(1 + θ₁). Part (iv) is the volume's standing reassurance: a bounded class of rules, a certified feasible instance, and continuity. AXIOM's formulation assistant keeps the ledger.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Theorem 2.3; formal statement and proof in Appendix 2.A. The proofs are algorithms: part (i) is the deletion filter that solvers use to report an irreducible infeasible set, part (ii) turns the choice of repair into a covering problem, part (iii) is the forward reachability pass of AXIOM's feasibility bench. Worked Example 2.1, Steps 2 and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Table 2.5 and Proposition 2.5 (proof in Online Appendix 2.B). Classifying an instance is a checklist, not a judgment call. Downward, everything known about each class applies; upward, every packaged optimization solution solves some row of the table, and the dropped blocks are where silo optima hide their losses (Volume I, Proposition 13.5).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Definition 2.7, Figure 2.2 and Theorem 2.4 (proof in Online Appendix 2.B). Before any vendor is owed anything by contract, a certified instance is owed by mathematics an optimum that exists, conditions that recognize it, prices for what binds, and stability under small drifts. The price of the appetite is Volume I, Worked Example 15.1: stable values, twitchy decisions (Volume I, Proposition 15.5).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2.7 and Online Appendix Example 2.B.1: the price of a liquidity floor written in billions of dollars is 1,000 times its price written in millions, so a price must be read in the units of the commitment as written. Enterprise instances mix basis points with billions and are badly conditioned from birth.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Worked Example 2.1, the situation. A round also raises workforce capability by one point and needs capability of at least 55. Five commitments, each with an owner: the floor (the board), capability (HR), six rounds (the COO), half payout (the CFO), the end condition (the 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Table 2.6, the instance card, and Steps 1 and 2. Liquidity is q(k) = q(k-1) - 120 z(k) + S(k) - p(k) with savings S(k) = 10(e(k) - 71). Year 1: 620 - 120 + 70 - 35 = 535; year 2: 535 - 120 + 105 - 52.5 = 467.5 (Figure 2.3(a)). The objective waits for Step 5; feasibility comes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Table 2.7. Theorem 2.3(ii): dropping the floor alone repairs nothing. Repair (c) rewrites the board's appetite rather than repairing the plan. The optimizer's rows drop both pledges and keep the floor, the capability condition and the end condition.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Worked Example 2.1, Steps 4 to 6, and Figure 2.3. Rounds 3 to 6 would cost $480 million and return only $107 million of savings inside the window. Theorem 2.1(iv): the content of the terminal term decides; writing the payout as a year-6 accumulator, in Mayer form, changes none of these plans. Online Appendix Example 2.B.4 gives the paths year by year and the arithmetic of the thresholds.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Worked Example 2.1, what the board should take away, and its two discussion questions. On discounting, Online Appendix Example 2.B.3: it lowers the value of each round's later savings relative to its cost, and so tends to move the optimizer toward fewer rounds.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Practice, Chapter 2: Kellogg Declares Its Cereal Network. A real organization's decision of this chapter's kind, told from its published record; every figure is cited in the book. The lesson for Meridian: Priced violations turn infeasibility into information: they show which commitments clash, and by how much. Sources: Brown, Keegan, Vigus and Wood (2001), Interfaces.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AXIOM Lab 2.2. What to look for: the refusal of an induced quantity as a decision (Proposition 2.2); two clashes and a repair that must break both, and the year the joint plan dies (Theorem 2.3); a terminal credit that changes the program's size while the Mayer rewrite changes nothing (Theorem 2.1).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Takeaways, Chapter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notebook and workbook are on the course website, reached from the book's website, www.dynamiccorporatetransformation.com.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3, Convex Enterprise Optimization (chapter abstract). The inequality is weak duality: for any nonnegative prices on the commitments, the Lagrangian's maximum bounds the best value.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image-1004-1.png"/><Relationship Id="rId2"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image" Target="../media/image-1005-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CT Title">
    <p:bg>
      <p:bgPr>
        <a:solidFill>
          <a:srgbClr val="0F1E3D"/>
        </a:solidFill>
      </p:bgPr>
    </p:bg>
    <p:spTree>
      <p:nvGrpSpPr>
        <p:cNvPr id="1" name=""/>
        <p:cNvGrpSpPr/>
        <p:nvPr/>
      </p:nvGrpSpPr>
      <p:grpSpPr>
        <a:xfrm>
          <a:off x="0" y="0"/>
          <a:ext cx="0" cy="0"/>
          <a:chOff x="0" y="0"/>
          <a:chExt cx="0" cy="0"/>
        </a:xfrm>
      </p:grpSpPr>
      <p:pic>
        <p:nvPicPr>
          <p:cNvPr id="2" name="Image 0" descr="/home/claude/pixel-perfect-show-8533/public/brand/dct-logo-dark.png">    </p:cNvPr>
          <p:cNvPicPr>
            <a:picLocks noChangeAspect="1"/>
          </p:cNvPicPr>
          <p:nvPr/>
        </p:nvPicPr>
        <p:blipFill>
          <a:blip r:embed="rId1"/>
          <a:stretch>
            <a:fillRect/>
          </a:stretch>
        </p:blipFill>
        <p:spPr>
          <a:xfrm>
            <a:off x="731520" y="640080"/>
            <a:ext cx="4389120" cy="363931"/>
          </a:xfrm>
          <a:prstGeom prst="rect">
            <a:avLst/>
          </a:prstGeom>
        </p:spPr>
      </p:pic>
      <p:sp>
        <p:nvSpPr>
          <p:cNvPr id="3" name="Text 0"/>
          <p:cNvSpPr/>
          <p:nvPr>
            <p:ph idx="101" type="body" hasCustomPrompt="1"/>
          </p:nvPr>
        </p:nvSpPr>
        <p:spPr>
          <a:xfrm>
            <a:off x="731520" y="1874520"/>
            <a:ext cx="10607040" cy="411480"/>
          </a:xfrm>
          <a:prstGeom prst="rect">
            <a:avLst/>
          </a:prstGeom>
          <a:noFill/>
          <a:ln/>
        </p:spPr>
        <p:txBody>
          <a:bodyPr wrap="square" rtlCol="0"/>
          <a:lstStyle>
            <a:lvl1pPr indent="0" marL="0">
              <a:buNone/>
              <a:defRPr lang="en-US" sz="1500" b="1" spc="300" kern="0" dirty="0">
                <a:solidFill>
                  <a:schemeClr val="accent1"/>
                </a:solidFill>
              </a:defRPr>
            </a:lvl1pPr>
          </a:lstStyle>
          <a:p>
            <a:pPr indent="0" marL="0">
              <a:buNone/>
            </a:pPr>
            <a:endParaRPr lang="en-US" sz="1500" dirty="0"/>
          </a:p>
        </p:txBody>
      </p:sp>
      <p:sp>
        <p:nvSpPr>
          <p:cNvPr id="4" name="Text 0"/>
          <p:cNvSpPr/>
          <p:nvPr>
            <p:ph idx="102" type="title" hasCustomPrompt="1"/>
          </p:nvPr>
        </p:nvSpPr>
        <p:spPr>
          <a:xfrm>
            <a:off x="731520" y="2331720"/>
            <a:ext cx="10607040" cy="1737360"/>
          </a:xfrm>
          <a:prstGeom prst="rect">
            <a:avLst/>
          </a:prstGeom>
          <a:noFill/>
          <a:ln/>
        </p:spPr>
        <p:txBody>
          <a:bodyPr wrap="square" rtlCol="0"/>
          <a:lstStyle>
            <a:lvl1pPr algn="l" indent="0" marL="0">
              <a:buNone/>
              <a:defRPr lang="en-US" sz="44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4400" dirty="0"/>
          </a:p>
        </p:txBody>
      </p:sp>
      <p:sp>
        <p:nvSpPr>
          <p:cNvPr id="5" name="Text 0"/>
          <p:cNvSpPr/>
          <p:nvPr>
            <p:ph idx="103" type="body" hasCustomPrompt="1"/>
          </p:nvPr>
        </p:nvSpPr>
        <p:spPr>
          <a:xfrm>
            <a:off x="731520" y="4160520"/>
            <a:ext cx="10241280" cy="914400"/>
          </a:xfrm>
          <a:prstGeom prst="rect">
            <a:avLst/>
          </a:prstGeom>
          <a:noFill/>
          <a:ln/>
        </p:spPr>
        <p:txBody>
          <a:bodyPr wrap="square" rtlCol="0"/>
          <a:lstStyle>
            <a:lvl1pPr indent="0" marL="0">
              <a:buNone/>
              <a:defRPr lang="en-US" sz="2000" dirty="0">
                <a:solidFill>
                  <a:schemeClr val="bg2"/>
                </a:solidFill>
              </a:defRPr>
            </a:lvl1pPr>
          </a:lstStyle>
          <a:p>
            <a:pPr indent="0" marL="0">
              <a:buNone/>
            </a:pPr>
            <a:endParaRPr lang="en-US" sz="2000" dirty="0"/>
          </a:p>
        </p:txBody>
      </p:sp>
      <p:sp>
        <p:nvSpPr>
          <p:cNvPr id="6" name="Text 0"/>
          <p:cNvSpPr/>
          <p:nvPr>
            <p:ph idx="104" type="body" hasCustomPrompt="1"/>
          </p:nvPr>
        </p:nvSpPr>
        <p:spPr>
          <a:xfrm>
            <a:off x="731520" y="5897880"/>
            <a:ext cx="10607040" cy="365760"/>
          </a:xfrm>
          <a:prstGeom prst="rect">
            <a:avLst/>
          </a:prstGeom>
          <a:noFill/>
          <a:ln/>
        </p:spPr>
        <p:txBody>
          <a:bodyPr wrap="square" rtlCol="0"/>
          <a:lstStyle>
            <a:lvl1pPr indent="0" marL="0">
              <a:buNone/>
              <a:defRPr lang="en-US" sz="1200" dirty="0">
                <a:solidFill>
                  <a:schemeClr val="accent4"/>
                </a:solidFill>
              </a:defRPr>
            </a:lvl1pPr>
          </a:lstStyle>
          <a:p>
            <a:pPr indent="0" marL="0">
              <a:buNone/>
            </a:pPr>
            <a:endParaRPr lang="en-US" sz="1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CT Quote">
    <p:bg>
      <p:bgPr>
        <a:solidFill>
          <a:srgbClr val="0F1E3D"/>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1280160" y="1371600"/>
            <a:ext cx="9601200" cy="3017520"/>
          </a:xfrm>
          <a:prstGeom prst="rect">
            <a:avLst/>
          </a:prstGeom>
          <a:noFill/>
          <a:ln/>
        </p:spPr>
        <p:txBody>
          <a:bodyPr wrap="square" rtlCol="0"/>
          <a:lstStyle>
            <a:lvl1pPr indent="0" marL="0">
              <a:buNone/>
              <a:defRPr lang="en-US" sz="3000" i="1" dirty="0">
                <a:solidFill>
                  <a:schemeClr val="bg1"/>
                </a:solidFill>
                <a:latin typeface="Cambria" pitchFamily="34" charset="0"/>
                <a:ea typeface="Cambria" pitchFamily="34" charset="-122"/>
                <a:cs typeface="Cambria" pitchFamily="34" charset="-120"/>
              </a:defRPr>
            </a:lvl1pPr>
          </a:lstStyle>
          <a:p>
            <a:pPr indent="0" marL="0">
              <a:buNone/>
            </a:pPr>
            <a:endParaRPr lang="en-US" sz="3000" dirty="0"/>
          </a:p>
        </p:txBody>
      </p:sp>
      <p:sp>
        <p:nvSpPr>
          <p:cNvPr id="3" name="Text 0"/>
          <p:cNvSpPr/>
          <p:nvPr>
            <p:ph idx="101" type="body" hasCustomPrompt="1"/>
          </p:nvPr>
        </p:nvSpPr>
        <p:spPr>
          <a:xfrm>
            <a:off x="1280160" y="4617720"/>
            <a:ext cx="9601200" cy="457200"/>
          </a:xfrm>
          <a:prstGeom prst="rect">
            <a:avLst/>
          </a:prstGeom>
          <a:noFill/>
          <a:ln/>
        </p:spPr>
        <p:txBody>
          <a:bodyPr wrap="square" rtlCol="0"/>
          <a:lstStyle>
            <a:lvl1pPr indent="0" marL="0">
              <a:buNone/>
              <a:defRPr lang="en-US" sz="1800" b="1" dirty="0">
                <a:solidFill>
                  <a:schemeClr val="accent1"/>
                </a:solidFill>
              </a:defRPr>
            </a:lvl1pPr>
          </a:lstStyle>
          <a:p>
            <a:pPr indent="0" marL="0">
              <a:buNone/>
            </a:pPr>
            <a:endParaRPr lang="en-US" sz="1800" dirty="0"/>
          </a:p>
        </p:txBody>
      </p:sp>
      <p:sp>
        <p:nvSpPr>
          <p:cNvPr id="4" name="Text 0"/>
          <p:cNvSpPr/>
          <p:nvPr>
            <p:ph idx="102" type="body" hasCustomPrompt="1"/>
          </p:nvPr>
        </p:nvSpPr>
        <p:spPr>
          <a:xfrm>
            <a:off x="1280160" y="5074920"/>
            <a:ext cx="9601200" cy="731520"/>
          </a:xfrm>
          <a:prstGeom prst="rect">
            <a:avLst/>
          </a:prstGeom>
          <a:noFill/>
          <a:ln/>
        </p:spPr>
        <p:txBody>
          <a:bodyPr wrap="square" rtlCol="0"/>
          <a:lstStyle>
            <a:lvl1pPr indent="0" marL="0">
              <a:buNone/>
              <a:defRPr lang="en-US" sz="1400" dirty="0">
                <a:solidFill>
                  <a:schemeClr val="accent4"/>
                </a:solidFill>
              </a:defRPr>
            </a:lvl1pPr>
          </a:lstStyle>
          <a:p>
            <a:pPr indent="0" marL="0">
              <a:buNone/>
            </a:pPr>
            <a:endParaRPr lang="en-US" sz="14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DCT Content">
    <p:bg>
      <p:bgPr>
        <a:solidFill>
          <a:srgbClr val="FFFFFF"/>
        </a:solidFill>
      </p:bgPr>
    </p:bg>
    <p:spTree>
      <p:nvGrpSpPr>
        <p:cNvPr id="1" name=""/>
        <p:cNvGrpSpPr/>
        <p:nvPr/>
      </p:nvGrpSpPr>
      <p:grpSpPr>
        <a:xfrm>
          <a:off x="0" y="0"/>
          <a:ext cx="0" cy="0"/>
          <a:chOff x="0" y="0"/>
          <a:chExt cx="0" cy="0"/>
        </a:xfrm>
      </p:grpSpPr>
      <p:pic>
        <p:nvPicPr>
          <p:cNvPr id="2" name="Image 0" descr="/home/claude/pixel-perfect-show-8533/public/brand/dct-mark.png">    </p:cNvPr>
          <p:cNvPicPr>
            <a:picLocks noChangeAspect="1"/>
          </p:cNvPicPr>
          <p:nvPr/>
        </p:nvPicPr>
        <p:blipFill>
          <a:blip r:embed="rId1"/>
          <a:stretch>
            <a:fillRect/>
          </a:stretch>
        </p:blipFill>
        <p:spPr>
          <a:xfrm>
            <a:off x="548640" y="6391656"/>
            <a:ext cx="155448" cy="188390"/>
          </a:xfrm>
          <a:prstGeom prst="rect">
            <a:avLst/>
          </a:prstGeom>
        </p:spPr>
      </p:pic>
      <p:sp>
        <p:nvSpPr>
          <p:cNvPr id="3" name="Text 0"/>
          <p:cNvSpPr/>
          <p:nvPr/>
        </p:nvSpPr>
        <p:spPr>
          <a:xfrm>
            <a:off x="822960" y="6382512"/>
            <a:ext cx="8686800" cy="237744"/>
          </a:xfrm>
          <a:prstGeom prst="rect">
            <a:avLst/>
          </a:prstGeom>
          <a:noFill/>
          <a:ln/>
        </p:spPr>
        <p:txBody>
          <a:bodyPr wrap="square" lIns="0" tIns="0" rIns="0" bIns="0" rtlCol="0" anchor="ctr"/>
          <a:lstStyle/>
          <a:p>
            <a:pPr indent="0" marL="0">
              <a:buNone/>
            </a:pPr>
            <a:r>
              <a:rPr lang="en-US" sz="1000" dirty="0">
                <a:solidFill>
                  <a:schemeClr val="tx2"/>
                </a:solidFill>
              </a:rPr>
              <a:t>Dynamic Corporate Transformation · Volume II · Chapter 2</a:t>
            </a:r>
            <a:endParaRPr lang="en-US" sz="1000" dirty="0"/>
          </a:p>
        </p:txBody>
      </p:sp>
      <p:sp>
        <p:nvSpPr>
          <p:cNvPr id="4" name="Text 1"/>
          <p:cNvSpPr/>
          <p:nvPr>
            <p:ph idx="102" type="body" hasCustomPrompt="1"/>
          </p:nvPr>
        </p:nvSpPr>
        <p:spPr>
          <a:xfrm>
            <a:off x="548640" y="347472"/>
            <a:ext cx="11094415" cy="292608"/>
          </a:xfrm>
          <a:prstGeom prst="rect">
            <a:avLst/>
          </a:prstGeom>
          <a:noFill/>
          <a:ln/>
        </p:spPr>
        <p:txBody>
          <a:bodyPr wrap="square" rtlCol="0"/>
          <a:lstStyle>
            <a:lvl1pPr indent="0" marL="0">
              <a:buNone/>
              <a:defRPr lang="en-US" sz="1200" b="1" spc="200" kern="0" dirty="0">
                <a:solidFill>
                  <a:schemeClr val="accent1"/>
                </a:solidFill>
              </a:defRPr>
            </a:lvl1pPr>
          </a:lstStyle>
          <a:p>
            <a:pPr indent="0" marL="0">
              <a:buNone/>
            </a:pPr>
            <a:endParaRPr lang="en-US" sz="1200" dirty="0"/>
          </a:p>
        </p:txBody>
      </p:sp>
      <p:sp>
        <p:nvSpPr>
          <p:cNvPr id="5" name="Text 1"/>
          <p:cNvSpPr/>
          <p:nvPr>
            <p:ph idx="103" type="title" hasCustomPrompt="1"/>
          </p:nvPr>
        </p:nvSpPr>
        <p:spPr>
          <a:xfrm>
            <a:off x="548640" y="658368"/>
            <a:ext cx="11094415" cy="868680"/>
          </a:xfrm>
          <a:prstGeom prst="rect">
            <a:avLst/>
          </a:prstGeom>
          <a:noFill/>
          <a:ln/>
        </p:spPr>
        <p:txBody>
          <a:bodyPr wrap="square" rtlCol="0"/>
          <a:lstStyle>
            <a:lvl1pPr algn="l" indent="0" marL="0">
              <a:buNone/>
              <a:defRPr lang="en-US" sz="3200" b="1" dirty="0">
                <a:solidFill>
                  <a:schemeClr val="tx1"/>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DCT Dark Content">
    <p:bg>
      <p:bgPr>
        <a:solidFill>
          <a:srgbClr val="0F1E3D"/>
        </a:solidFill>
      </p:bgPr>
    </p:bg>
    <p:spTree>
      <p:nvGrpSpPr>
        <p:cNvPr id="1" name=""/>
        <p:cNvGrpSpPr/>
        <p:nvPr/>
      </p:nvGrpSpPr>
      <p:grpSpPr>
        <a:xfrm>
          <a:off x="0" y="0"/>
          <a:ext cx="0" cy="0"/>
          <a:chOff x="0" y="0"/>
          <a:chExt cx="0" cy="0"/>
        </a:xfrm>
      </p:grpSpPr>
      <p:pic>
        <p:nvPicPr>
          <p:cNvPr id="2" name="Image 0" descr="/home/claude/pixel-perfect-show-8533/public/brand/dct-mark-dark.png">    </p:cNvPr>
          <p:cNvPicPr>
            <a:picLocks noChangeAspect="1"/>
          </p:cNvPicPr>
          <p:nvPr/>
        </p:nvPicPr>
        <p:blipFill>
          <a:blip r:embed="rId1"/>
          <a:stretch>
            <a:fillRect/>
          </a:stretch>
        </p:blipFill>
        <p:spPr>
          <a:xfrm>
            <a:off x="548640" y="6391656"/>
            <a:ext cx="155448" cy="188390"/>
          </a:xfrm>
          <a:prstGeom prst="rect">
            <a:avLst/>
          </a:prstGeom>
        </p:spPr>
      </p:pic>
      <p:sp>
        <p:nvSpPr>
          <p:cNvPr id="3" name="Text 0"/>
          <p:cNvSpPr/>
          <p:nvPr/>
        </p:nvSpPr>
        <p:spPr>
          <a:xfrm>
            <a:off x="822960" y="6382512"/>
            <a:ext cx="8686800" cy="237744"/>
          </a:xfrm>
          <a:prstGeom prst="rect">
            <a:avLst/>
          </a:prstGeom>
          <a:noFill/>
          <a:ln/>
        </p:spPr>
        <p:txBody>
          <a:bodyPr wrap="square" lIns="0" tIns="0" rIns="0" bIns="0" rtlCol="0" anchor="ctr"/>
          <a:lstStyle/>
          <a:p>
            <a:pPr indent="0" marL="0">
              <a:buNone/>
            </a:pPr>
            <a:r>
              <a:rPr lang="en-US" sz="1000" dirty="0">
                <a:solidFill>
                  <a:schemeClr val="accent4"/>
                </a:solidFill>
              </a:rPr>
              <a:t>Dynamic Corporate Transformation · Volume II · Chapter 2</a:t>
            </a:r>
            <a:endParaRPr lang="en-US" sz="1000" dirty="0"/>
          </a:p>
        </p:txBody>
      </p:sp>
      <p:sp>
        <p:nvSpPr>
          <p:cNvPr id="4" name="Text 1"/>
          <p:cNvSpPr/>
          <p:nvPr>
            <p:ph idx="102" type="body" hasCustomPrompt="1"/>
          </p:nvPr>
        </p:nvSpPr>
        <p:spPr>
          <a:xfrm>
            <a:off x="548640" y="347472"/>
            <a:ext cx="11094415" cy="292608"/>
          </a:xfrm>
          <a:prstGeom prst="rect">
            <a:avLst/>
          </a:prstGeom>
          <a:noFill/>
          <a:ln/>
        </p:spPr>
        <p:txBody>
          <a:bodyPr wrap="square" rtlCol="0"/>
          <a:lstStyle>
            <a:lvl1pPr indent="0" marL="0">
              <a:buNone/>
              <a:defRPr lang="en-US" sz="1200" b="1" spc="200" kern="0" dirty="0">
                <a:solidFill>
                  <a:schemeClr val="accent1"/>
                </a:solidFill>
              </a:defRPr>
            </a:lvl1pPr>
          </a:lstStyle>
          <a:p>
            <a:pPr indent="0" marL="0">
              <a:buNone/>
            </a:pPr>
            <a:endParaRPr lang="en-US" sz="1200" dirty="0"/>
          </a:p>
        </p:txBody>
      </p:sp>
      <p:sp>
        <p:nvSpPr>
          <p:cNvPr id="5" name="Text 1"/>
          <p:cNvSpPr/>
          <p:nvPr>
            <p:ph idx="103" type="title" hasCustomPrompt="1"/>
          </p:nvPr>
        </p:nvSpPr>
        <p:spPr>
          <a:xfrm>
            <a:off x="548640" y="658368"/>
            <a:ext cx="11094415" cy="868680"/>
          </a:xfrm>
          <a:prstGeom prst="rect">
            <a:avLst/>
          </a:prstGeom>
          <a:noFill/>
          <a:ln/>
        </p:spPr>
        <p:txBody>
          <a:bodyPr wrap="square" rtlCol="0"/>
          <a:lstStyle>
            <a:lvl1pPr algn="l" indent="0" marL="0">
              <a:buNone/>
              <a:defRPr lang="en-US" sz="32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C4CBD8"/>
                </a:solidFill>
              </a:defRPr>
            </a:lvl1pPr>
          </a:lstStyle>
          <a:p>
            <a:pPr algn="r"/>
            <a:fld id="{F7021451-1387-4CA6-816F-3879F97B5CBC}" type="slidenum">
              <a:rPr b="0" lang="en-US"/>
              <a:t>1005</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5.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4.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4.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4.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4.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4.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4.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5.xml"/><Relationship Id="rId3" Type="http://schemas.openxmlformats.org/officeDocument/2006/relationships/notesSlide" Target="../notesSlides/notesSlide2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Text 0"/>
          <p:cNvSpPr/>
          <p:nvPr>
            <p:ph idx="101" type="body" hasCustomPrompt="1"/>
          </p:nvPr>
        </p:nvSpPr>
        <p:spPr>
          <a:xfrm>
            <a:off x="731520" y="1874520"/>
            <a:ext cx="10607040" cy="411480"/>
          </a:xfrm>
          <a:prstGeom prst="rect">
            <a:avLst/>
          </a:prstGeom>
          <a:noFill/>
          <a:ln/>
        </p:spPr>
        <p:txBody>
          <a:bodyPr wrap="square" lIns="0" tIns="0" rIns="0" bIns="0" rtlCol="0"/>
          <a:lstStyle/>
          <a:p>
            <a:pPr indent="0" marL="0">
              <a:buNone/>
            </a:pPr>
            <a:r>
              <a:rPr lang="en-US" sz="1500" b="1" spc="300" kern="0" dirty="0">
                <a:solidFill>
                  <a:schemeClr val="accent1"/>
                </a:solidFill>
              </a:rPr>
              <a:t>VOLUME II · CHAPTER 2 · WEEK 8</a:t>
            </a:r>
            <a:endParaRPr lang="en-US" sz="1500" dirty="0"/>
          </a:p>
        </p:txBody>
      </p:sp>
      <p:sp>
        <p:nvSpPr>
          <p:cNvPr id="4" name="Text 0"/>
          <p:cNvSpPr/>
          <p:nvPr>
            <p:ph idx="102" type="title" hasCustomPrompt="1"/>
          </p:nvPr>
        </p:nvSpPr>
        <p:spPr>
          <a:xfrm>
            <a:off x="731520" y="2331720"/>
            <a:ext cx="10607040" cy="1737360"/>
          </a:xfrm>
          <a:prstGeom prst="rect">
            <a:avLst/>
          </a:prstGeom>
          <a:noFill/>
          <a:ln/>
        </p:spPr>
        <p:txBody>
          <a:bodyPr wrap="square" lIns="0" tIns="0" rIns="0" bIns="0" rtlCol="0" anchor="t"/>
          <a:lstStyle/>
          <a:p>
            <a:pPr algn="l" indent="0" marL="0">
              <a:buNone/>
            </a:pPr>
            <a:r>
              <a:rPr lang="en-US" sz="4400" b="1" dirty="0">
                <a:solidFill>
                  <a:schemeClr val="bg1"/>
                </a:solidFill>
                <a:latin typeface="Cambria" pitchFamily="34" charset="0"/>
                <a:ea typeface="Cambria" pitchFamily="34" charset="-122"/>
                <a:cs typeface="Cambria" pitchFamily="34" charset="-120"/>
              </a:rPr>
              <a:t>The General Enterprise Optimization Problem Revisited</a:t>
            </a:r>
            <a:endParaRPr lang="en-US" sz="4400" dirty="0"/>
          </a:p>
        </p:txBody>
      </p:sp>
      <p:sp>
        <p:nvSpPr>
          <p:cNvPr id="5" name="Text 0"/>
          <p:cNvSpPr/>
          <p:nvPr>
            <p:ph idx="103" type="body" hasCustomPrompt="1"/>
          </p:nvPr>
        </p:nvSpPr>
        <p:spPr>
          <a:xfrm>
            <a:off x="731520" y="4160520"/>
            <a:ext cx="10241280" cy="914400"/>
          </a:xfrm>
          <a:prstGeom prst="rect">
            <a:avLst/>
          </a:prstGeom>
          <a:noFill/>
          <a:ln/>
        </p:spPr>
        <p:txBody>
          <a:bodyPr wrap="square" lIns="0" tIns="0" rIns="0" bIns="0" rtlCol="0" anchor="t"/>
          <a:lstStyle/>
          <a:p>
            <a:pPr indent="0" marL="0">
              <a:buNone/>
            </a:pPr>
            <a:r>
              <a:rPr lang="en-US" sz="2000" dirty="0">
                <a:solidFill>
                  <a:schemeClr val="bg2"/>
                </a:solidFill>
              </a:rPr>
              <a:t>Write every decision as an instance in five blocks, check each claim by simulation, and when commitments clash, name the clash and price the repairs</a:t>
            </a:r>
            <a:endParaRPr lang="en-US" sz="2000" dirty="0"/>
          </a:p>
        </p:txBody>
      </p:sp>
      <p:sp>
        <p:nvSpPr>
          <p:cNvPr id="6" name="Text 0"/>
          <p:cNvSpPr/>
          <p:nvPr>
            <p:ph idx="104" type="body" hasCustomPrompt="1"/>
          </p:nvPr>
        </p:nvSpPr>
        <p:spPr>
          <a:xfrm>
            <a:off x="731520" y="5897880"/>
            <a:ext cx="10607040" cy="365760"/>
          </a:xfrm>
          <a:prstGeom prst="rect">
            <a:avLst/>
          </a:prstGeom>
          <a:noFill/>
          <a:ln/>
        </p:spPr>
        <p:txBody>
          <a:bodyPr wrap="square" lIns="0" tIns="0" rIns="0" bIns="0" rtlCol="0"/>
          <a:lstStyle/>
          <a:p>
            <a:pPr indent="0" marL="0">
              <a:buNone/>
            </a:pPr>
            <a:r>
              <a:rPr lang="en-US" sz="1200" dirty="0">
                <a:solidFill>
                  <a:schemeClr val="accent4"/>
                </a:solidFill>
              </a:rPr>
              <a:t>Graduate course companion · Lab seed 26202 · AXIOM Lab 2.2 (AXIOM-02)</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ext 0"/>
          <p:cNvSpPr/>
          <p:nvPr>
            <p:ph idx="100" type="body" hasCustomPrompt="1"/>
          </p:nvPr>
        </p:nvSpPr>
        <p:spPr>
          <a:xfrm>
            <a:off x="1280160" y="1371600"/>
            <a:ext cx="9601200" cy="3017520"/>
          </a:xfrm>
          <a:prstGeom prst="rect">
            <a:avLst/>
          </a:prstGeom>
          <a:noFill/>
          <a:ln/>
        </p:spPr>
        <p:txBody>
          <a:bodyPr wrap="square" lIns="0" tIns="0" rIns="0" bIns="0" rtlCol="0" anchor="b"/>
          <a:lstStyle/>
          <a:p>
            <a:pPr indent="0" marL="0">
              <a:buNone/>
            </a:pPr>
            <a:r>
              <a:rPr lang="en-US" sz="3000" i="1" dirty="0">
                <a:solidFill>
                  <a:schemeClr val="bg1"/>
                </a:solidFill>
                <a:latin typeface="Cambria" pitchFamily="34" charset="0"/>
                <a:ea typeface="Cambria" pitchFamily="34" charset="-122"/>
                <a:cs typeface="Cambria" pitchFamily="34" charset="-120"/>
              </a:rPr>
              <a:t>“We have not got any money, so we have got to think.”</a:t>
            </a:r>
            <a:endParaRPr lang="en-US" sz="3000" dirty="0"/>
          </a:p>
        </p:txBody>
      </p:sp>
      <p:sp>
        <p:nvSpPr>
          <p:cNvPr id="4" name="Text 0"/>
          <p:cNvSpPr/>
          <p:nvPr>
            <p:ph idx="101" type="body" hasCustomPrompt="1"/>
          </p:nvPr>
        </p:nvSpPr>
        <p:spPr>
          <a:xfrm>
            <a:off x="1280160" y="4617720"/>
            <a:ext cx="9601200" cy="457200"/>
          </a:xfrm>
          <a:prstGeom prst="rect">
            <a:avLst/>
          </a:prstGeom>
          <a:noFill/>
          <a:ln/>
        </p:spPr>
        <p:txBody>
          <a:bodyPr wrap="square" lIns="0" tIns="0" rIns="0" bIns="0" rtlCol="0"/>
          <a:lstStyle/>
          <a:p>
            <a:pPr indent="0" marL="0">
              <a:buNone/>
            </a:pPr>
            <a:r>
              <a:rPr lang="en-US" sz="1800" b="1" dirty="0">
                <a:solidFill>
                  <a:schemeClr val="accent1"/>
                </a:solidFill>
              </a:rPr>
              <a:t>Ernest Rutherford</a:t>
            </a:r>
            <a:endParaRPr lang="en-US" sz="1800" dirty="0"/>
          </a:p>
        </p:txBody>
      </p:sp>
      <p:sp>
        <p:nvSpPr>
          <p:cNvPr id="5" name="Text 0"/>
          <p:cNvSpPr/>
          <p:nvPr>
            <p:ph idx="102" type="body" hasCustomPrompt="1"/>
          </p:nvPr>
        </p:nvSpPr>
        <p:spPr>
          <a:xfrm>
            <a:off x="1280160" y="5074920"/>
            <a:ext cx="9601200" cy="731520"/>
          </a:xfrm>
          <a:prstGeom prst="rect">
            <a:avLst/>
          </a:prstGeom>
          <a:noFill/>
          <a:ln/>
        </p:spPr>
        <p:txBody>
          <a:bodyPr wrap="square" lIns="0" tIns="0" rIns="0" bIns="0" rtlCol="0" anchor="t"/>
          <a:lstStyle/>
          <a:p>
            <a:pPr indent="0" marL="0">
              <a:buNone/>
            </a:pPr>
            <a:r>
              <a:rPr lang="en-US" sz="1400" dirty="0">
                <a:solidFill>
                  <a:schemeClr val="accent4"/>
                </a:solidFill>
              </a:rPr>
              <a:t>Nobel Prize in Chemistry 1908; as recalled by Henry Tizard, The Chemical Age (1952)</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LEARNING OUTCOME STATEMENTS</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After this chapter, you can</a:t>
            </a:r>
            <a:endParaRPr lang="en-US" sz="3200" dirty="0"/>
          </a:p>
        </p:txBody>
      </p:sp>
      <p:sp>
        <p:nvSpPr>
          <p:cNvPr id="5" name="Number"/>
          <p:cNvSpPr/>
          <p:nvPr/>
        </p:nvSpPr>
        <p:spPr>
          <a:xfrm>
            <a:off x="548640" y="1737360"/>
            <a:ext cx="566928" cy="566928"/>
          </a:xfrm>
          <a:prstGeom prst="ellipse">
            <a:avLst/>
          </a:prstGeom>
          <a:solidFill>
            <a:schemeClr val="accent1"/>
          </a:solidFill>
          <a:ln w="6350">
            <a:solidFill>
              <a:schemeClr val="accent1"/>
            </a:solidFill>
            <a:prstDash val="solid"/>
          </a:ln>
        </p:spPr>
      </p:sp>
      <p:sp>
        <p:nvSpPr>
          <p:cNvPr id="6" name="Text 3"/>
          <p:cNvSpPr txBox="1"/>
          <p:nvPr/>
        </p:nvSpPr>
        <p:spPr>
          <a:xfrm>
            <a:off x="548640" y="1737360"/>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2.1</a:t>
            </a:r>
            <a:endParaRPr lang="en-US" sz="1500" dirty="0"/>
          </a:p>
        </p:txBody>
      </p:sp>
      <p:sp>
        <p:nvSpPr>
          <p:cNvPr id="7" name="Row text"/>
          <p:cNvSpPr txBox="1"/>
          <p:nvPr/>
        </p:nvSpPr>
        <p:spPr>
          <a:xfrm>
            <a:off x="1325880" y="1691640"/>
            <a:ext cx="10317175" cy="841248"/>
          </a:xfrm>
          <a:prstGeom prst="rect">
            <a:avLst/>
          </a:prstGeom>
          <a:noFill/>
          <a:ln/>
        </p:spPr>
        <p:txBody>
          <a:bodyPr wrap="square" lIns="0" tIns="0" rIns="0" bIns="0" rtlCol="0" anchor="ctr"/>
          <a:lstStyle/>
          <a:p>
            <a:pPr indent="0" marL="0">
              <a:buNone/>
            </a:pPr>
            <a:r>
              <a:rPr lang="en-US" sz="1600" dirty="0">
                <a:solidFill>
                  <a:schemeClr val="tx1"/>
                </a:solidFill>
              </a:rPr>
              <a:t>Write a transformation decision as a GEOP instance in five blocks—dynamics, admissible decisions, path commitments, start and end conditions, and uncertainty—with every empty block declared empty.</a:t>
            </a:r>
            <a:endParaRPr lang="en-US" sz="1600" dirty="0"/>
          </a:p>
        </p:txBody>
      </p:sp>
      <p:sp>
        <p:nvSpPr>
          <p:cNvPr id="8" name="Number"/>
          <p:cNvSpPr/>
          <p:nvPr/>
        </p:nvSpPr>
        <p:spPr>
          <a:xfrm>
            <a:off x="548640" y="2633472"/>
            <a:ext cx="566928" cy="566928"/>
          </a:xfrm>
          <a:prstGeom prst="ellipse">
            <a:avLst/>
          </a:prstGeom>
          <a:solidFill>
            <a:schemeClr val="accent1"/>
          </a:solidFill>
          <a:ln w="6350">
            <a:solidFill>
              <a:schemeClr val="accent1"/>
            </a:solidFill>
            <a:prstDash val="solid"/>
          </a:ln>
        </p:spPr>
      </p:sp>
      <p:sp>
        <p:nvSpPr>
          <p:cNvPr id="9" name="Text 6"/>
          <p:cNvSpPr txBox="1"/>
          <p:nvPr/>
        </p:nvSpPr>
        <p:spPr>
          <a:xfrm>
            <a:off x="548640" y="2633472"/>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2.2</a:t>
            </a:r>
            <a:endParaRPr lang="en-US" sz="1500" dirty="0"/>
          </a:p>
        </p:txBody>
      </p:sp>
      <p:sp>
        <p:nvSpPr>
          <p:cNvPr id="10" name="Row text"/>
          <p:cNvSpPr txBox="1"/>
          <p:nvPr/>
        </p:nvSpPr>
        <p:spPr>
          <a:xfrm>
            <a:off x="1325880" y="2587752"/>
            <a:ext cx="10317175" cy="841248"/>
          </a:xfrm>
          <a:prstGeom prst="rect">
            <a:avLst/>
          </a:prstGeom>
          <a:noFill/>
          <a:ln/>
        </p:spPr>
        <p:txBody>
          <a:bodyPr wrap="square" lIns="0" tIns="0" rIns="0" bIns="0" rtlCol="0" anchor="ctr"/>
          <a:lstStyle/>
          <a:p>
            <a:pPr indent="0" marL="0">
              <a:buNone/>
            </a:pPr>
            <a:r>
              <a:rPr lang="en-US" sz="1600" dirty="0">
                <a:solidFill>
                  <a:schemeClr val="tx1"/>
                </a:solidFill>
              </a:rPr>
              <a:t>Separate what the company chooses from what its dynamics induce, and explain why any claim about a plan's value or feasibility can be checked by simulating the plan forward.</a:t>
            </a:r>
            <a:endParaRPr lang="en-US" sz="1600" dirty="0"/>
          </a:p>
        </p:txBody>
      </p:sp>
      <p:sp>
        <p:nvSpPr>
          <p:cNvPr id="11" name="Number"/>
          <p:cNvSpPr/>
          <p:nvPr/>
        </p:nvSpPr>
        <p:spPr>
          <a:xfrm>
            <a:off x="548640" y="3529584"/>
            <a:ext cx="566928" cy="566928"/>
          </a:xfrm>
          <a:prstGeom prst="ellipse">
            <a:avLst/>
          </a:prstGeom>
          <a:solidFill>
            <a:schemeClr val="accent1"/>
          </a:solidFill>
          <a:ln w="6350">
            <a:solidFill>
              <a:schemeClr val="accent1"/>
            </a:solidFill>
            <a:prstDash val="solid"/>
          </a:ln>
        </p:spPr>
      </p:sp>
      <p:sp>
        <p:nvSpPr>
          <p:cNvPr id="12" name="Text 9"/>
          <p:cNvSpPr txBox="1"/>
          <p:nvPr/>
        </p:nvSpPr>
        <p:spPr>
          <a:xfrm>
            <a:off x="548640" y="3529584"/>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2.3</a:t>
            </a:r>
            <a:endParaRPr lang="en-US" sz="1500" dirty="0"/>
          </a:p>
        </p:txBody>
      </p:sp>
      <p:sp>
        <p:nvSpPr>
          <p:cNvPr id="13" name="Row text"/>
          <p:cNvSpPr txBox="1"/>
          <p:nvPr/>
        </p:nvSpPr>
        <p:spPr>
          <a:xfrm>
            <a:off x="1325880" y="3483864"/>
            <a:ext cx="10317175" cy="841248"/>
          </a:xfrm>
          <a:prstGeom prst="rect">
            <a:avLst/>
          </a:prstGeom>
          <a:noFill/>
          <a:ln/>
        </p:spPr>
        <p:txBody>
          <a:bodyPr wrap="square" lIns="0" tIns="0" rIns="0" bIns="0" rtlCol="0" anchor="ctr"/>
          <a:lstStyle/>
          <a:p>
            <a:pPr indent="0" marL="0">
              <a:buNone/>
            </a:pPr>
            <a:r>
              <a:rPr lang="en-US" sz="1600" dirty="0">
                <a:solidFill>
                  <a:schemeClr val="tx1"/>
                </a:solidFill>
              </a:rPr>
              <a:t>Distinguish choices that only change how an objective is written from choices that change the answer, and explain why the way a commitment holds under uncertainty is a declaration with a price.</a:t>
            </a:r>
            <a:endParaRPr lang="en-US" sz="1600" dirty="0"/>
          </a:p>
        </p:txBody>
      </p:sp>
      <p:sp>
        <p:nvSpPr>
          <p:cNvPr id="14" name="Number"/>
          <p:cNvSpPr/>
          <p:nvPr/>
        </p:nvSpPr>
        <p:spPr>
          <a:xfrm>
            <a:off x="548640" y="4425696"/>
            <a:ext cx="566928" cy="566928"/>
          </a:xfrm>
          <a:prstGeom prst="ellipse">
            <a:avLst/>
          </a:prstGeom>
          <a:solidFill>
            <a:schemeClr val="accent1"/>
          </a:solidFill>
          <a:ln w="6350">
            <a:solidFill>
              <a:schemeClr val="accent1"/>
            </a:solidFill>
            <a:prstDash val="solid"/>
          </a:ln>
        </p:spPr>
      </p:sp>
      <p:sp>
        <p:nvSpPr>
          <p:cNvPr id="15" name="Text 12"/>
          <p:cNvSpPr txBox="1"/>
          <p:nvPr/>
        </p:nvSpPr>
        <p:spPr>
          <a:xfrm>
            <a:off x="548640" y="4425696"/>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2.4</a:t>
            </a:r>
            <a:endParaRPr lang="en-US" sz="1500" dirty="0"/>
          </a:p>
        </p:txBody>
      </p:sp>
      <p:sp>
        <p:nvSpPr>
          <p:cNvPr id="16" name="Row text"/>
          <p:cNvSpPr txBox="1"/>
          <p:nvPr/>
        </p:nvSpPr>
        <p:spPr>
          <a:xfrm>
            <a:off x="1325880" y="4379976"/>
            <a:ext cx="10317175" cy="841248"/>
          </a:xfrm>
          <a:prstGeom prst="rect">
            <a:avLst/>
          </a:prstGeom>
          <a:noFill/>
          <a:ln/>
        </p:spPr>
        <p:txBody>
          <a:bodyPr wrap="square" lIns="0" tIns="0" rIns="0" bIns="0" rtlCol="0" anchor="ctr"/>
          <a:lstStyle/>
          <a:p>
            <a:pPr indent="0" marL="0">
              <a:buNone/>
            </a:pPr>
            <a:r>
              <a:rPr lang="en-US" sz="1600" dirty="0">
                <a:solidFill>
                  <a:schemeClr val="tx1"/>
                </a:solidFill>
              </a:rPr>
              <a:t>Read an instance's convexity block by block, certify feasibility before optimizing, and, when an instance is infeasible, name the commitments that clash and the period in which the plan dies, and price the repairs.</a:t>
            </a:r>
            <a:endParaRPr lang="en-US" sz="1600" dirty="0"/>
          </a:p>
        </p:txBody>
      </p:sp>
      <p:sp>
        <p:nvSpPr>
          <p:cNvPr id="17" name="Number"/>
          <p:cNvSpPr/>
          <p:nvPr/>
        </p:nvSpPr>
        <p:spPr>
          <a:xfrm>
            <a:off x="548640" y="5321808"/>
            <a:ext cx="566928" cy="566928"/>
          </a:xfrm>
          <a:prstGeom prst="ellipse">
            <a:avLst/>
          </a:prstGeom>
          <a:solidFill>
            <a:schemeClr val="accent1"/>
          </a:solidFill>
          <a:ln w="6350">
            <a:solidFill>
              <a:schemeClr val="accent1"/>
            </a:solidFill>
            <a:prstDash val="solid"/>
          </a:ln>
        </p:spPr>
      </p:sp>
      <p:sp>
        <p:nvSpPr>
          <p:cNvPr id="18" name="Text 15"/>
          <p:cNvSpPr txBox="1"/>
          <p:nvPr/>
        </p:nvSpPr>
        <p:spPr>
          <a:xfrm>
            <a:off x="548640" y="5321808"/>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2.5</a:t>
            </a:r>
            <a:endParaRPr lang="en-US" sz="1500" dirty="0"/>
          </a:p>
        </p:txBody>
      </p:sp>
      <p:sp>
        <p:nvSpPr>
          <p:cNvPr id="19" name="Row text"/>
          <p:cNvSpPr txBox="1"/>
          <p:nvPr/>
        </p:nvSpPr>
        <p:spPr>
          <a:xfrm>
            <a:off x="1325880" y="5276088"/>
            <a:ext cx="10317175" cy="841248"/>
          </a:xfrm>
          <a:prstGeom prst="rect">
            <a:avLst/>
          </a:prstGeom>
          <a:noFill/>
          <a:ln/>
        </p:spPr>
        <p:txBody>
          <a:bodyPr wrap="square" lIns="0" tIns="0" rIns="0" bIns="0" rtlCol="0" anchor="ctr"/>
          <a:lstStyle/>
          <a:p>
            <a:pPr indent="0" marL="0">
              <a:buNone/>
            </a:pPr>
            <a:r>
              <a:rPr lang="en-US" sz="1600" dirty="0">
                <a:solidFill>
                  <a:schemeClr val="tx1"/>
                </a:solidFill>
              </a:rPr>
              <a:t>Classify an instance, route it to the methods of this volume, prepare it for a solver, and state what a certified instance is owed whatever method solves it.</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ROADMAP</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Seven sections, a worked example, a case and a lab</a:t>
            </a:r>
            <a:endParaRPr lang="en-US" sz="3200" dirty="0"/>
          </a:p>
        </p:txBody>
      </p:sp>
      <p:sp>
        <p:nvSpPr>
          <p:cNvPr id="5" name="Card"/>
          <p:cNvSpPr/>
          <p:nvPr/>
        </p:nvSpPr>
        <p:spPr>
          <a:xfrm>
            <a:off x="548640" y="1691640"/>
            <a:ext cx="1999427" cy="2103120"/>
          </a:xfrm>
          <a:prstGeom prst="roundRect">
            <a:avLst>
              <a:gd name="adj" fmla="val 3659"/>
            </a:avLst>
          </a:prstGeom>
          <a:solidFill>
            <a:schemeClr val="bg2"/>
          </a:solidFill>
          <a:ln w="9525">
            <a:solidFill>
              <a:srgbClr val="C4CBD8"/>
            </a:solidFill>
            <a:prstDash val="solid"/>
          </a:ln>
        </p:spPr>
      </p:sp>
      <p:sp>
        <p:nvSpPr>
          <p:cNvPr id="6" name="Card label"/>
          <p:cNvSpPr txBox="1"/>
          <p:nvPr/>
        </p:nvSpPr>
        <p:spPr>
          <a:xfrm>
            <a:off x="731520" y="1819656"/>
            <a:ext cx="1633667" cy="310896"/>
          </a:xfrm>
          <a:prstGeom prst="rect">
            <a:avLst/>
          </a:prstGeom>
          <a:noFill/>
          <a:ln/>
        </p:spPr>
        <p:txBody>
          <a:bodyPr wrap="square" lIns="0" tIns="0" rIns="0" bIns="0" rtlCol="0" anchor="ctr"/>
          <a:lstStyle/>
          <a:p>
            <a:pPr indent="0" marL="0">
              <a:buNone/>
            </a:pPr>
            <a:r>
              <a:rPr lang="en-US" sz="1300" b="1" dirty="0">
                <a:solidFill>
                  <a:schemeClr val="accent1"/>
                </a:solidFill>
              </a:rPr>
              <a:t>§2.1</a:t>
            </a:r>
            <a:endParaRPr lang="en-US" sz="1300" dirty="0"/>
          </a:p>
        </p:txBody>
      </p:sp>
      <p:sp>
        <p:nvSpPr>
          <p:cNvPr id="7" name="Card head"/>
          <p:cNvSpPr txBox="1"/>
          <p:nvPr/>
        </p:nvSpPr>
        <p:spPr>
          <a:xfrm>
            <a:off x="731520" y="2148840"/>
            <a:ext cx="1633667" cy="1060704"/>
          </a:xfrm>
          <a:prstGeom prst="rect">
            <a:avLst/>
          </a:prstGeom>
          <a:noFill/>
          <a:ln/>
        </p:spPr>
        <p:txBody>
          <a:bodyPr wrap="square" lIns="0" tIns="0" rIns="0" bIns="0" rtlCol="0" anchor="t"/>
          <a:lstStyle/>
          <a:p>
            <a:pPr indent="0" marL="0">
              <a:buNone/>
            </a:pPr>
            <a:r>
              <a:rPr lang="en-US" sz="1300" b="1" dirty="0">
                <a:solidFill>
                  <a:schemeClr val="tx1"/>
                </a:solidFill>
                <a:latin typeface="Cambria" pitchFamily="34" charset="0"/>
                <a:ea typeface="Cambria" pitchFamily="34" charset="-122"/>
                <a:cs typeface="Cambria" pitchFamily="34" charset="-120"/>
              </a:rPr>
              <a:t>From Problem to Instance</a:t>
            </a:r>
            <a:endParaRPr lang="en-US" sz="1300" dirty="0"/>
          </a:p>
        </p:txBody>
      </p:sp>
      <p:sp>
        <p:nvSpPr>
          <p:cNvPr id="8" name="Card text"/>
          <p:cNvSpPr txBox="1"/>
          <p:nvPr/>
        </p:nvSpPr>
        <p:spPr>
          <a:xfrm>
            <a:off x="731520" y="3282696"/>
            <a:ext cx="1633667" cy="384048"/>
          </a:xfrm>
          <a:prstGeom prst="rect">
            <a:avLst/>
          </a:prstGeom>
          <a:noFill/>
          <a:ln/>
        </p:spPr>
        <p:txBody>
          <a:bodyPr wrap="square" lIns="0" tIns="0" rIns="0" bIns="0" rtlCol="0" anchor="t"/>
          <a:lstStyle/>
          <a:p>
            <a:pPr indent="0" marL="0">
              <a:buNone/>
            </a:pPr>
            <a:r>
              <a:rPr lang="en-US" sz="1200" dirty="0">
                <a:solidFill>
                  <a:schemeClr val="tx2"/>
                </a:solidFill>
              </a:rPr>
              <a:t>Definition 2.1 · Table 2.1</a:t>
            </a:r>
            <a:endParaRPr lang="en-US" sz="1200" dirty="0"/>
          </a:p>
        </p:txBody>
      </p:sp>
      <p:sp>
        <p:nvSpPr>
          <p:cNvPr id="9" name="Card"/>
          <p:cNvSpPr/>
          <p:nvPr/>
        </p:nvSpPr>
        <p:spPr>
          <a:xfrm>
            <a:off x="2822387" y="1691640"/>
            <a:ext cx="1999427" cy="2103120"/>
          </a:xfrm>
          <a:prstGeom prst="roundRect">
            <a:avLst>
              <a:gd name="adj" fmla="val 3659"/>
            </a:avLst>
          </a:prstGeom>
          <a:solidFill>
            <a:schemeClr val="bg2"/>
          </a:solidFill>
          <a:ln w="9525">
            <a:solidFill>
              <a:srgbClr val="C4CBD8"/>
            </a:solidFill>
            <a:prstDash val="solid"/>
          </a:ln>
        </p:spPr>
      </p:sp>
      <p:sp>
        <p:nvSpPr>
          <p:cNvPr id="10" name="Card label"/>
          <p:cNvSpPr txBox="1"/>
          <p:nvPr/>
        </p:nvSpPr>
        <p:spPr>
          <a:xfrm>
            <a:off x="3005267" y="1819656"/>
            <a:ext cx="1633667" cy="310896"/>
          </a:xfrm>
          <a:prstGeom prst="rect">
            <a:avLst/>
          </a:prstGeom>
          <a:noFill/>
          <a:ln/>
        </p:spPr>
        <p:txBody>
          <a:bodyPr wrap="square" lIns="0" tIns="0" rIns="0" bIns="0" rtlCol="0" anchor="ctr"/>
          <a:lstStyle/>
          <a:p>
            <a:pPr indent="0" marL="0">
              <a:buNone/>
            </a:pPr>
            <a:r>
              <a:rPr lang="en-US" sz="1300" b="1" dirty="0">
                <a:solidFill>
                  <a:schemeClr val="accent1"/>
                </a:solidFill>
              </a:rPr>
              <a:t>§2.2</a:t>
            </a:r>
            <a:endParaRPr lang="en-US" sz="1300" dirty="0"/>
          </a:p>
        </p:txBody>
      </p:sp>
      <p:sp>
        <p:nvSpPr>
          <p:cNvPr id="11" name="Card head"/>
          <p:cNvSpPr txBox="1"/>
          <p:nvPr/>
        </p:nvSpPr>
        <p:spPr>
          <a:xfrm>
            <a:off x="3005267" y="2148840"/>
            <a:ext cx="1633667" cy="1060704"/>
          </a:xfrm>
          <a:prstGeom prst="rect">
            <a:avLst/>
          </a:prstGeom>
          <a:noFill/>
          <a:ln/>
        </p:spPr>
        <p:txBody>
          <a:bodyPr wrap="square" lIns="0" tIns="0" rIns="0" bIns="0" rtlCol="0" anchor="t"/>
          <a:lstStyle/>
          <a:p>
            <a:pPr indent="0" marL="0">
              <a:buNone/>
            </a:pPr>
            <a:r>
              <a:rPr lang="en-US" sz="1300" b="1" dirty="0">
                <a:solidFill>
                  <a:schemeClr val="tx1"/>
                </a:solidFill>
                <a:latin typeface="Cambria" pitchFamily="34" charset="0"/>
                <a:ea typeface="Cambria" pitchFamily="34" charset="-122"/>
                <a:cs typeface="Cambria" pitchFamily="34" charset="-120"/>
              </a:rPr>
              <a:t>What Is Chosen and What Is Induced</a:t>
            </a:r>
            <a:endParaRPr lang="en-US" sz="1300" dirty="0"/>
          </a:p>
        </p:txBody>
      </p:sp>
      <p:sp>
        <p:nvSpPr>
          <p:cNvPr id="12" name="Card text"/>
          <p:cNvSpPr txBox="1"/>
          <p:nvPr/>
        </p:nvSpPr>
        <p:spPr>
          <a:xfrm>
            <a:off x="3005267" y="3282696"/>
            <a:ext cx="1633667" cy="384048"/>
          </a:xfrm>
          <a:prstGeom prst="rect">
            <a:avLst/>
          </a:prstGeom>
          <a:noFill/>
          <a:ln/>
        </p:spPr>
        <p:txBody>
          <a:bodyPr wrap="square" lIns="0" tIns="0" rIns="0" bIns="0" rtlCol="0" anchor="t"/>
          <a:lstStyle/>
          <a:p>
            <a:pPr indent="0" marL="0">
              <a:buNone/>
            </a:pPr>
            <a:r>
              <a:rPr lang="en-US" sz="1200" dirty="0">
                <a:solidFill>
                  <a:schemeClr val="tx2"/>
                </a:solidFill>
              </a:rPr>
              <a:t>Proposition 2.2 · Table 2.2</a:t>
            </a:r>
            <a:endParaRPr lang="en-US" sz="1200" dirty="0"/>
          </a:p>
        </p:txBody>
      </p:sp>
      <p:sp>
        <p:nvSpPr>
          <p:cNvPr id="13" name="Card"/>
          <p:cNvSpPr/>
          <p:nvPr/>
        </p:nvSpPr>
        <p:spPr>
          <a:xfrm>
            <a:off x="5096134" y="1691640"/>
            <a:ext cx="1999427" cy="2103120"/>
          </a:xfrm>
          <a:prstGeom prst="roundRect">
            <a:avLst>
              <a:gd name="adj" fmla="val 3659"/>
            </a:avLst>
          </a:prstGeom>
          <a:solidFill>
            <a:schemeClr val="bg2"/>
          </a:solidFill>
          <a:ln w="9525">
            <a:solidFill>
              <a:srgbClr val="C4CBD8"/>
            </a:solidFill>
            <a:prstDash val="solid"/>
          </a:ln>
        </p:spPr>
      </p:sp>
      <p:sp>
        <p:nvSpPr>
          <p:cNvPr id="14" name="Card label"/>
          <p:cNvSpPr txBox="1"/>
          <p:nvPr/>
        </p:nvSpPr>
        <p:spPr>
          <a:xfrm>
            <a:off x="5279014" y="1819656"/>
            <a:ext cx="1633667" cy="310896"/>
          </a:xfrm>
          <a:prstGeom prst="rect">
            <a:avLst/>
          </a:prstGeom>
          <a:noFill/>
          <a:ln/>
        </p:spPr>
        <p:txBody>
          <a:bodyPr wrap="square" lIns="0" tIns="0" rIns="0" bIns="0" rtlCol="0" anchor="ctr"/>
          <a:lstStyle/>
          <a:p>
            <a:pPr indent="0" marL="0">
              <a:buNone/>
            </a:pPr>
            <a:r>
              <a:rPr lang="en-US" sz="1300" b="1" dirty="0">
                <a:solidFill>
                  <a:schemeClr val="accent1"/>
                </a:solidFill>
              </a:rPr>
              <a:t>§2.3</a:t>
            </a:r>
            <a:endParaRPr lang="en-US" sz="1300" dirty="0"/>
          </a:p>
        </p:txBody>
      </p:sp>
      <p:sp>
        <p:nvSpPr>
          <p:cNvPr id="15" name="Card head"/>
          <p:cNvSpPr txBox="1"/>
          <p:nvPr/>
        </p:nvSpPr>
        <p:spPr>
          <a:xfrm>
            <a:off x="5279014" y="2148840"/>
            <a:ext cx="1633667" cy="1060704"/>
          </a:xfrm>
          <a:prstGeom prst="rect">
            <a:avLst/>
          </a:prstGeom>
          <a:noFill/>
          <a:ln/>
        </p:spPr>
        <p:txBody>
          <a:bodyPr wrap="square" lIns="0" tIns="0" rIns="0" bIns="0" rtlCol="0" anchor="t"/>
          <a:lstStyle/>
          <a:p>
            <a:pPr indent="0" marL="0">
              <a:buNone/>
            </a:pPr>
            <a:r>
              <a:rPr lang="en-US" sz="1300" b="1" dirty="0">
                <a:solidFill>
                  <a:schemeClr val="tx1"/>
                </a:solidFill>
                <a:latin typeface="Cambria" pitchFamily="34" charset="0"/>
                <a:ea typeface="Cambria" pitchFamily="34" charset="-122"/>
                <a:cs typeface="Cambria" pitchFamily="34" charset="-120"/>
              </a:rPr>
              <a:t>Objectives: Form Is Free, Content Is Governance</a:t>
            </a:r>
            <a:endParaRPr lang="en-US" sz="1300" dirty="0"/>
          </a:p>
        </p:txBody>
      </p:sp>
      <p:sp>
        <p:nvSpPr>
          <p:cNvPr id="16" name="Card text"/>
          <p:cNvSpPr txBox="1"/>
          <p:nvPr/>
        </p:nvSpPr>
        <p:spPr>
          <a:xfrm>
            <a:off x="5279014" y="3282696"/>
            <a:ext cx="1633667" cy="384048"/>
          </a:xfrm>
          <a:prstGeom prst="rect">
            <a:avLst/>
          </a:prstGeom>
          <a:noFill/>
          <a:ln/>
        </p:spPr>
        <p:txBody>
          <a:bodyPr wrap="square" lIns="0" tIns="0" rIns="0" bIns="0" rtlCol="0" anchor="t"/>
          <a:lstStyle/>
          <a:p>
            <a:pPr indent="0" marL="0">
              <a:buNone/>
            </a:pPr>
            <a:r>
              <a:rPr lang="en-US" sz="1200" dirty="0">
                <a:solidFill>
                  <a:schemeClr val="tx2"/>
                </a:solidFill>
              </a:rPr>
              <a:t>Theorem 2.1 · Table 2.3</a:t>
            </a:r>
            <a:endParaRPr lang="en-US" sz="1200" dirty="0"/>
          </a:p>
        </p:txBody>
      </p:sp>
      <p:sp>
        <p:nvSpPr>
          <p:cNvPr id="17" name="Card"/>
          <p:cNvSpPr/>
          <p:nvPr/>
        </p:nvSpPr>
        <p:spPr>
          <a:xfrm>
            <a:off x="7369881" y="1691640"/>
            <a:ext cx="1999427" cy="2103120"/>
          </a:xfrm>
          <a:prstGeom prst="roundRect">
            <a:avLst>
              <a:gd name="adj" fmla="val 3659"/>
            </a:avLst>
          </a:prstGeom>
          <a:solidFill>
            <a:schemeClr val="bg2"/>
          </a:solidFill>
          <a:ln w="9525">
            <a:solidFill>
              <a:srgbClr val="C4CBD8"/>
            </a:solidFill>
            <a:prstDash val="solid"/>
          </a:ln>
        </p:spPr>
      </p:sp>
      <p:sp>
        <p:nvSpPr>
          <p:cNvPr id="18" name="Card label"/>
          <p:cNvSpPr txBox="1"/>
          <p:nvPr/>
        </p:nvSpPr>
        <p:spPr>
          <a:xfrm>
            <a:off x="7552761" y="1819656"/>
            <a:ext cx="1633667" cy="310896"/>
          </a:xfrm>
          <a:prstGeom prst="rect">
            <a:avLst/>
          </a:prstGeom>
          <a:noFill/>
          <a:ln/>
        </p:spPr>
        <p:txBody>
          <a:bodyPr wrap="square" lIns="0" tIns="0" rIns="0" bIns="0" rtlCol="0" anchor="ctr"/>
          <a:lstStyle/>
          <a:p>
            <a:pPr indent="0" marL="0">
              <a:buNone/>
            </a:pPr>
            <a:r>
              <a:rPr lang="en-US" sz="1300" b="1" dirty="0">
                <a:solidFill>
                  <a:schemeClr val="accent1"/>
                </a:solidFill>
              </a:rPr>
              <a:t>§2.4</a:t>
            </a:r>
            <a:endParaRPr lang="en-US" sz="1300" dirty="0"/>
          </a:p>
        </p:txBody>
      </p:sp>
      <p:sp>
        <p:nvSpPr>
          <p:cNvPr id="19" name="Card head"/>
          <p:cNvSpPr txBox="1"/>
          <p:nvPr/>
        </p:nvSpPr>
        <p:spPr>
          <a:xfrm>
            <a:off x="7552761" y="2148840"/>
            <a:ext cx="1633667" cy="1060704"/>
          </a:xfrm>
          <a:prstGeom prst="rect">
            <a:avLst/>
          </a:prstGeom>
          <a:noFill/>
          <a:ln/>
        </p:spPr>
        <p:txBody>
          <a:bodyPr wrap="square" lIns="0" tIns="0" rIns="0" bIns="0" rtlCol="0" anchor="t"/>
          <a:lstStyle/>
          <a:p>
            <a:pPr indent="0" marL="0">
              <a:buNone/>
            </a:pPr>
            <a:r>
              <a:rPr lang="en-US" sz="1300" b="1" dirty="0">
                <a:solidFill>
                  <a:schemeClr val="tx1"/>
                </a:solidFill>
                <a:latin typeface="Cambria" pitchFamily="34" charset="0"/>
                <a:ea typeface="Cambria" pitchFamily="34" charset="-122"/>
                <a:cs typeface="Cambria" pitchFamily="34" charset="-120"/>
              </a:rPr>
              <a:t>Commitments and How They Hold</a:t>
            </a:r>
            <a:endParaRPr lang="en-US" sz="1300" dirty="0"/>
          </a:p>
        </p:txBody>
      </p:sp>
      <p:sp>
        <p:nvSpPr>
          <p:cNvPr id="20" name="Card text"/>
          <p:cNvSpPr txBox="1"/>
          <p:nvPr/>
        </p:nvSpPr>
        <p:spPr>
          <a:xfrm>
            <a:off x="7552761" y="3282696"/>
            <a:ext cx="1633667" cy="384048"/>
          </a:xfrm>
          <a:prstGeom prst="rect">
            <a:avLst/>
          </a:prstGeom>
          <a:noFill/>
          <a:ln/>
        </p:spPr>
        <p:txBody>
          <a:bodyPr wrap="square" lIns="0" tIns="0" rIns="0" bIns="0" rtlCol="0" anchor="t"/>
          <a:lstStyle/>
          <a:p>
            <a:pPr indent="0" marL="0">
              <a:buNone/>
            </a:pPr>
            <a:r>
              <a:rPr lang="en-US" sz="1200" dirty="0">
                <a:solidFill>
                  <a:schemeClr val="tx2"/>
                </a:solidFill>
              </a:rPr>
              <a:t>Proposition 2.3 · Table 2.4</a:t>
            </a:r>
            <a:endParaRPr lang="en-US" sz="1200" dirty="0"/>
          </a:p>
        </p:txBody>
      </p:sp>
      <p:sp>
        <p:nvSpPr>
          <p:cNvPr id="21" name="Card"/>
          <p:cNvSpPr/>
          <p:nvPr/>
        </p:nvSpPr>
        <p:spPr>
          <a:xfrm>
            <a:off x="9643628" y="1691640"/>
            <a:ext cx="1999427" cy="2103120"/>
          </a:xfrm>
          <a:prstGeom prst="roundRect">
            <a:avLst>
              <a:gd name="adj" fmla="val 3659"/>
            </a:avLst>
          </a:prstGeom>
          <a:solidFill>
            <a:schemeClr val="bg2"/>
          </a:solidFill>
          <a:ln w="9525">
            <a:solidFill>
              <a:srgbClr val="C4CBD8"/>
            </a:solidFill>
            <a:prstDash val="solid"/>
          </a:ln>
        </p:spPr>
      </p:sp>
      <p:sp>
        <p:nvSpPr>
          <p:cNvPr id="22" name="Card label"/>
          <p:cNvSpPr txBox="1"/>
          <p:nvPr/>
        </p:nvSpPr>
        <p:spPr>
          <a:xfrm>
            <a:off x="9826508" y="1819656"/>
            <a:ext cx="1633667" cy="310896"/>
          </a:xfrm>
          <a:prstGeom prst="rect">
            <a:avLst/>
          </a:prstGeom>
          <a:noFill/>
          <a:ln/>
        </p:spPr>
        <p:txBody>
          <a:bodyPr wrap="square" lIns="0" tIns="0" rIns="0" bIns="0" rtlCol="0" anchor="ctr"/>
          <a:lstStyle/>
          <a:p>
            <a:pPr indent="0" marL="0">
              <a:buNone/>
            </a:pPr>
            <a:r>
              <a:rPr lang="en-US" sz="1300" b="1" dirty="0">
                <a:solidFill>
                  <a:schemeClr val="accent1"/>
                </a:solidFill>
              </a:rPr>
              <a:t>§2.5</a:t>
            </a:r>
            <a:endParaRPr lang="en-US" sz="1300" dirty="0"/>
          </a:p>
        </p:txBody>
      </p:sp>
      <p:sp>
        <p:nvSpPr>
          <p:cNvPr id="23" name="Card head"/>
          <p:cNvSpPr txBox="1"/>
          <p:nvPr/>
        </p:nvSpPr>
        <p:spPr>
          <a:xfrm>
            <a:off x="9826508" y="2148840"/>
            <a:ext cx="1633667" cy="1060704"/>
          </a:xfrm>
          <a:prstGeom prst="rect">
            <a:avLst/>
          </a:prstGeom>
          <a:noFill/>
          <a:ln/>
        </p:spPr>
        <p:txBody>
          <a:bodyPr wrap="square" lIns="0" tIns="0" rIns="0" bIns="0" rtlCol="0" anchor="t"/>
          <a:lstStyle/>
          <a:p>
            <a:pPr indent="0" marL="0">
              <a:buNone/>
            </a:pPr>
            <a:r>
              <a:rPr lang="en-US" sz="1300" b="1" dirty="0">
                <a:solidFill>
                  <a:schemeClr val="tx1"/>
                </a:solidFill>
                <a:latin typeface="Cambria" pitchFamily="34" charset="0"/>
                <a:ea typeface="Cambria" pitchFamily="34" charset="-122"/>
                <a:cs typeface="Cambria" pitchFamily="34" charset="-120"/>
              </a:rPr>
              <a:t>Feasibility, Computed</a:t>
            </a:r>
            <a:endParaRPr lang="en-US" sz="1300" dirty="0"/>
          </a:p>
        </p:txBody>
      </p:sp>
      <p:sp>
        <p:nvSpPr>
          <p:cNvPr id="24" name="Card text"/>
          <p:cNvSpPr txBox="1"/>
          <p:nvPr/>
        </p:nvSpPr>
        <p:spPr>
          <a:xfrm>
            <a:off x="9826508" y="3282696"/>
            <a:ext cx="1633667" cy="384048"/>
          </a:xfrm>
          <a:prstGeom prst="rect">
            <a:avLst/>
          </a:prstGeom>
          <a:noFill/>
          <a:ln/>
        </p:spPr>
        <p:txBody>
          <a:bodyPr wrap="square" lIns="0" tIns="0" rIns="0" bIns="0" rtlCol="0" anchor="t"/>
          <a:lstStyle/>
          <a:p>
            <a:pPr indent="0" marL="0">
              <a:buNone/>
            </a:pPr>
            <a:r>
              <a:rPr lang="en-US" sz="1200" dirty="0">
                <a:solidFill>
                  <a:schemeClr val="tx2"/>
                </a:solidFill>
              </a:rPr>
              <a:t>Theorems 2.2–2.3</a:t>
            </a:r>
            <a:endParaRPr lang="en-US" sz="1200" dirty="0"/>
          </a:p>
        </p:txBody>
      </p:sp>
      <p:sp>
        <p:nvSpPr>
          <p:cNvPr id="25" name="Card"/>
          <p:cNvSpPr/>
          <p:nvPr/>
        </p:nvSpPr>
        <p:spPr>
          <a:xfrm>
            <a:off x="548640" y="4069080"/>
            <a:ext cx="1999427" cy="2103120"/>
          </a:xfrm>
          <a:prstGeom prst="roundRect">
            <a:avLst>
              <a:gd name="adj" fmla="val 3659"/>
            </a:avLst>
          </a:prstGeom>
          <a:solidFill>
            <a:schemeClr val="bg2"/>
          </a:solidFill>
          <a:ln w="9525">
            <a:solidFill>
              <a:srgbClr val="C4CBD8"/>
            </a:solidFill>
            <a:prstDash val="solid"/>
          </a:ln>
        </p:spPr>
      </p:sp>
      <p:sp>
        <p:nvSpPr>
          <p:cNvPr id="26" name="Card label"/>
          <p:cNvSpPr txBox="1"/>
          <p:nvPr/>
        </p:nvSpPr>
        <p:spPr>
          <a:xfrm>
            <a:off x="731520" y="4197096"/>
            <a:ext cx="1633667" cy="310896"/>
          </a:xfrm>
          <a:prstGeom prst="rect">
            <a:avLst/>
          </a:prstGeom>
          <a:noFill/>
          <a:ln/>
        </p:spPr>
        <p:txBody>
          <a:bodyPr wrap="square" lIns="0" tIns="0" rIns="0" bIns="0" rtlCol="0" anchor="ctr"/>
          <a:lstStyle/>
          <a:p>
            <a:pPr indent="0" marL="0">
              <a:buNone/>
            </a:pPr>
            <a:r>
              <a:rPr lang="en-US" sz="1300" b="1" dirty="0">
                <a:solidFill>
                  <a:schemeClr val="accent1"/>
                </a:solidFill>
              </a:rPr>
              <a:t>§2.6</a:t>
            </a:r>
            <a:endParaRPr lang="en-US" sz="1300" dirty="0"/>
          </a:p>
        </p:txBody>
      </p:sp>
      <p:sp>
        <p:nvSpPr>
          <p:cNvPr id="27" name="Card head"/>
          <p:cNvSpPr txBox="1"/>
          <p:nvPr/>
        </p:nvSpPr>
        <p:spPr>
          <a:xfrm>
            <a:off x="731520" y="4526280"/>
            <a:ext cx="1633667" cy="1060704"/>
          </a:xfrm>
          <a:prstGeom prst="rect">
            <a:avLst/>
          </a:prstGeom>
          <a:noFill/>
          <a:ln/>
        </p:spPr>
        <p:txBody>
          <a:bodyPr wrap="square" lIns="0" tIns="0" rIns="0" bIns="0" rtlCol="0" anchor="t"/>
          <a:lstStyle/>
          <a:p>
            <a:pPr indent="0" marL="0">
              <a:buNone/>
            </a:pPr>
            <a:r>
              <a:rPr lang="en-US" sz="1300" b="1" dirty="0">
                <a:solidFill>
                  <a:schemeClr val="tx1"/>
                </a:solidFill>
                <a:latin typeface="Cambria" pitchFamily="34" charset="0"/>
                <a:ea typeface="Cambria" pitchFamily="34" charset="-122"/>
                <a:cs typeface="Cambria" pitchFamily="34" charset="-120"/>
              </a:rPr>
              <a:t>Classes, Architecture, and the Warranty</a:t>
            </a:r>
            <a:endParaRPr lang="en-US" sz="1300" dirty="0"/>
          </a:p>
        </p:txBody>
      </p:sp>
      <p:sp>
        <p:nvSpPr>
          <p:cNvPr id="28" name="Card text"/>
          <p:cNvSpPr txBox="1"/>
          <p:nvPr/>
        </p:nvSpPr>
        <p:spPr>
          <a:xfrm>
            <a:off x="731520" y="5660136"/>
            <a:ext cx="1633667" cy="384048"/>
          </a:xfrm>
          <a:prstGeom prst="rect">
            <a:avLst/>
          </a:prstGeom>
          <a:noFill/>
          <a:ln/>
        </p:spPr>
        <p:txBody>
          <a:bodyPr wrap="square" lIns="0" tIns="0" rIns="0" bIns="0" rtlCol="0" anchor="t"/>
          <a:lstStyle/>
          <a:p>
            <a:pPr indent="0" marL="0">
              <a:buNone/>
            </a:pPr>
            <a:r>
              <a:rPr lang="en-US" sz="1200" dirty="0">
                <a:solidFill>
                  <a:schemeClr val="tx2"/>
                </a:solidFill>
              </a:rPr>
              <a:t>Theorem 2.4 · Table 2.5</a:t>
            </a:r>
            <a:endParaRPr lang="en-US" sz="1200" dirty="0"/>
          </a:p>
        </p:txBody>
      </p:sp>
      <p:sp>
        <p:nvSpPr>
          <p:cNvPr id="29" name="Card"/>
          <p:cNvSpPr/>
          <p:nvPr/>
        </p:nvSpPr>
        <p:spPr>
          <a:xfrm>
            <a:off x="2822387" y="4069080"/>
            <a:ext cx="1999427" cy="2103120"/>
          </a:xfrm>
          <a:prstGeom prst="roundRect">
            <a:avLst>
              <a:gd name="adj" fmla="val 3659"/>
            </a:avLst>
          </a:prstGeom>
          <a:solidFill>
            <a:schemeClr val="bg2"/>
          </a:solidFill>
          <a:ln w="9525">
            <a:solidFill>
              <a:srgbClr val="C4CBD8"/>
            </a:solidFill>
            <a:prstDash val="solid"/>
          </a:ln>
        </p:spPr>
      </p:sp>
      <p:sp>
        <p:nvSpPr>
          <p:cNvPr id="30" name="Card label"/>
          <p:cNvSpPr txBox="1"/>
          <p:nvPr/>
        </p:nvSpPr>
        <p:spPr>
          <a:xfrm>
            <a:off x="3005267" y="4197096"/>
            <a:ext cx="1633667" cy="310896"/>
          </a:xfrm>
          <a:prstGeom prst="rect">
            <a:avLst/>
          </a:prstGeom>
          <a:noFill/>
          <a:ln/>
        </p:spPr>
        <p:txBody>
          <a:bodyPr wrap="square" lIns="0" tIns="0" rIns="0" bIns="0" rtlCol="0" anchor="ctr"/>
          <a:lstStyle/>
          <a:p>
            <a:pPr indent="0" marL="0">
              <a:buNone/>
            </a:pPr>
            <a:r>
              <a:rPr lang="en-US" sz="1300" b="1" dirty="0">
                <a:solidFill>
                  <a:schemeClr val="accent1"/>
                </a:solidFill>
              </a:rPr>
              <a:t>§2.7</a:t>
            </a:r>
            <a:endParaRPr lang="en-US" sz="1300" dirty="0"/>
          </a:p>
        </p:txBody>
      </p:sp>
      <p:sp>
        <p:nvSpPr>
          <p:cNvPr id="31" name="Card head"/>
          <p:cNvSpPr txBox="1"/>
          <p:nvPr/>
        </p:nvSpPr>
        <p:spPr>
          <a:xfrm>
            <a:off x="3005267" y="4526280"/>
            <a:ext cx="1633667" cy="1060704"/>
          </a:xfrm>
          <a:prstGeom prst="rect">
            <a:avLst/>
          </a:prstGeom>
          <a:noFill/>
          <a:ln/>
        </p:spPr>
        <p:txBody>
          <a:bodyPr wrap="square" lIns="0" tIns="0" rIns="0" bIns="0" rtlCol="0" anchor="t"/>
          <a:lstStyle/>
          <a:p>
            <a:pPr indent="0" marL="0">
              <a:buNone/>
            </a:pPr>
            <a:r>
              <a:rPr lang="en-US" sz="1300" b="1" dirty="0">
                <a:solidFill>
                  <a:schemeClr val="tx1"/>
                </a:solidFill>
                <a:latin typeface="Cambria" pitchFamily="34" charset="0"/>
                <a:ea typeface="Cambria" pitchFamily="34" charset="-122"/>
                <a:cs typeface="Cambria" pitchFamily="34" charset="-120"/>
              </a:rPr>
              <a:t>Preparing an Instance for a Solver</a:t>
            </a:r>
            <a:endParaRPr lang="en-US" sz="1300" dirty="0"/>
          </a:p>
        </p:txBody>
      </p:sp>
      <p:sp>
        <p:nvSpPr>
          <p:cNvPr id="32" name="Card text"/>
          <p:cNvSpPr txBox="1"/>
          <p:nvPr/>
        </p:nvSpPr>
        <p:spPr>
          <a:xfrm>
            <a:off x="3005267" y="5660136"/>
            <a:ext cx="1633667" cy="384048"/>
          </a:xfrm>
          <a:prstGeom prst="rect">
            <a:avLst/>
          </a:prstGeom>
          <a:noFill/>
          <a:ln/>
        </p:spPr>
        <p:txBody>
          <a:bodyPr wrap="square" lIns="0" tIns="0" rIns="0" bIns="0" rtlCol="0" anchor="t"/>
          <a:lstStyle/>
          <a:p>
            <a:pPr indent="0" marL="0">
              <a:buNone/>
            </a:pPr>
            <a:r>
              <a:rPr lang="en-US" sz="1200" dirty="0">
                <a:solidFill>
                  <a:schemeClr val="tx2"/>
                </a:solidFill>
              </a:rPr>
              <a:t>Standard form · scaling</a:t>
            </a:r>
            <a:endParaRPr lang="en-US" sz="1200" dirty="0"/>
          </a:p>
        </p:txBody>
      </p:sp>
      <p:sp>
        <p:nvSpPr>
          <p:cNvPr id="33" name="Card"/>
          <p:cNvSpPr/>
          <p:nvPr/>
        </p:nvSpPr>
        <p:spPr>
          <a:xfrm>
            <a:off x="5096134" y="4069080"/>
            <a:ext cx="1999427" cy="2103120"/>
          </a:xfrm>
          <a:prstGeom prst="roundRect">
            <a:avLst>
              <a:gd name="adj" fmla="val 3659"/>
            </a:avLst>
          </a:prstGeom>
          <a:solidFill>
            <a:schemeClr val="tx1"/>
          </a:solidFill>
          <a:ln w="9525">
            <a:solidFill>
              <a:srgbClr val="0F1E3D"/>
            </a:solidFill>
            <a:prstDash val="solid"/>
          </a:ln>
        </p:spPr>
      </p:sp>
      <p:sp>
        <p:nvSpPr>
          <p:cNvPr id="34" name="Card label"/>
          <p:cNvSpPr txBox="1"/>
          <p:nvPr/>
        </p:nvSpPr>
        <p:spPr>
          <a:xfrm>
            <a:off x="5279014" y="4197096"/>
            <a:ext cx="1633667" cy="310896"/>
          </a:xfrm>
          <a:prstGeom prst="rect">
            <a:avLst/>
          </a:prstGeom>
          <a:noFill/>
          <a:ln/>
        </p:spPr>
        <p:txBody>
          <a:bodyPr wrap="square" lIns="0" tIns="0" rIns="0" bIns="0" rtlCol="0" anchor="ctr"/>
          <a:lstStyle/>
          <a:p>
            <a:pPr indent="0" marL="0">
              <a:buNone/>
            </a:pPr>
            <a:r>
              <a:rPr lang="en-US" sz="1300" b="1" dirty="0">
                <a:solidFill>
                  <a:schemeClr val="accent1"/>
                </a:solidFill>
              </a:rPr>
              <a:t>Worked Example 2.1</a:t>
            </a:r>
            <a:endParaRPr lang="en-US" sz="1300" dirty="0"/>
          </a:p>
        </p:txBody>
      </p:sp>
      <p:sp>
        <p:nvSpPr>
          <p:cNvPr id="35" name="Card head"/>
          <p:cNvSpPr txBox="1"/>
          <p:nvPr/>
        </p:nvSpPr>
        <p:spPr>
          <a:xfrm>
            <a:off x="5279014" y="4526280"/>
            <a:ext cx="1633667" cy="1060704"/>
          </a:xfrm>
          <a:prstGeom prst="rect">
            <a:avLst/>
          </a:prstGeom>
          <a:noFill/>
          <a:ln/>
        </p:spPr>
        <p:txBody>
          <a:bodyPr wrap="square" lIns="0" tIns="0" rIns="0" bIns="0" rtlCol="0" anchor="t"/>
          <a:lstStyle/>
          <a:p>
            <a:pPr indent="0" marL="0">
              <a:buNone/>
            </a:pPr>
            <a:r>
              <a:rPr lang="en-US" sz="1300" b="1" dirty="0">
                <a:solidFill>
                  <a:schemeClr val="bg1"/>
                </a:solidFill>
                <a:latin typeface="Cambria" pitchFamily="34" charset="0"/>
                <a:ea typeface="Cambria" pitchFamily="34" charset="-122"/>
                <a:cs typeface="Cambria" pitchFamily="34" charset="-120"/>
              </a:rPr>
              <a:t>Can Meridian Automate and Pay Out at Once?</a:t>
            </a:r>
            <a:endParaRPr lang="en-US" sz="1300" dirty="0"/>
          </a:p>
        </p:txBody>
      </p:sp>
      <p:sp>
        <p:nvSpPr>
          <p:cNvPr id="36" name="Card text"/>
          <p:cNvSpPr txBox="1"/>
          <p:nvPr/>
        </p:nvSpPr>
        <p:spPr>
          <a:xfrm>
            <a:off x="5279014" y="5660136"/>
            <a:ext cx="1633667" cy="384048"/>
          </a:xfrm>
          <a:prstGeom prst="rect">
            <a:avLst/>
          </a:prstGeom>
          <a:noFill/>
          <a:ln/>
        </p:spPr>
        <p:txBody>
          <a:bodyPr wrap="square" lIns="0" tIns="0" rIns="0" bIns="0" rtlCol="0" anchor="t"/>
          <a:lstStyle/>
          <a:p>
            <a:pPr indent="0" marL="0">
              <a:buNone/>
            </a:pPr>
            <a:r>
              <a:rPr lang="en-US" sz="1200" dirty="0">
                <a:solidFill>
                  <a:schemeClr val="bg2"/>
                </a:solidFill>
              </a:rPr>
              <a:t>Tables 2.6–2.7 · Figure 2.3</a:t>
            </a:r>
            <a:endParaRPr lang="en-US" sz="1200" dirty="0"/>
          </a:p>
        </p:txBody>
      </p:sp>
      <p:sp>
        <p:nvSpPr>
          <p:cNvPr id="37" name="Card"/>
          <p:cNvSpPr/>
          <p:nvPr/>
        </p:nvSpPr>
        <p:spPr>
          <a:xfrm>
            <a:off x="7369881" y="4069080"/>
            <a:ext cx="1999427" cy="2103120"/>
          </a:xfrm>
          <a:prstGeom prst="roundRect">
            <a:avLst>
              <a:gd name="adj" fmla="val 3659"/>
            </a:avLst>
          </a:prstGeom>
          <a:solidFill>
            <a:schemeClr val="bg2"/>
          </a:solidFill>
          <a:ln w="9525">
            <a:solidFill>
              <a:srgbClr val="C4CBD8"/>
            </a:solidFill>
            <a:prstDash val="solid"/>
          </a:ln>
        </p:spPr>
      </p:sp>
      <p:sp>
        <p:nvSpPr>
          <p:cNvPr id="38" name="Card label"/>
          <p:cNvSpPr txBox="1"/>
          <p:nvPr/>
        </p:nvSpPr>
        <p:spPr>
          <a:xfrm>
            <a:off x="7552761" y="4197096"/>
            <a:ext cx="1633667" cy="310896"/>
          </a:xfrm>
          <a:prstGeom prst="rect">
            <a:avLst/>
          </a:prstGeom>
          <a:noFill/>
          <a:ln/>
        </p:spPr>
        <p:txBody>
          <a:bodyPr wrap="square" lIns="0" tIns="0" rIns="0" bIns="0" rtlCol="0" anchor="ctr"/>
          <a:lstStyle/>
          <a:p>
            <a:pPr indent="0" marL="0">
              <a:buNone/>
            </a:pPr>
            <a:r>
              <a:rPr lang="en-US" sz="1300" b="1" dirty="0">
                <a:solidFill>
                  <a:schemeClr val="accent1"/>
                </a:solidFill>
              </a:rPr>
              <a:t>In Practice</a:t>
            </a:r>
            <a:endParaRPr lang="en-US" sz="1300" dirty="0"/>
          </a:p>
        </p:txBody>
      </p:sp>
      <p:sp>
        <p:nvSpPr>
          <p:cNvPr id="39" name="Card head"/>
          <p:cNvSpPr txBox="1"/>
          <p:nvPr/>
        </p:nvSpPr>
        <p:spPr>
          <a:xfrm>
            <a:off x="7552761" y="4526280"/>
            <a:ext cx="1633667" cy="1060704"/>
          </a:xfrm>
          <a:prstGeom prst="rect">
            <a:avLst/>
          </a:prstGeom>
          <a:noFill/>
          <a:ln/>
        </p:spPr>
        <p:txBody>
          <a:bodyPr wrap="square" lIns="0" tIns="0" rIns="0" bIns="0" rtlCol="0" anchor="t"/>
          <a:lstStyle/>
          <a:p>
            <a:pPr indent="0" marL="0">
              <a:buNone/>
            </a:pPr>
            <a:r>
              <a:rPr lang="en-US" sz="1300" b="1" dirty="0">
                <a:solidFill>
                  <a:schemeClr val="tx1"/>
                </a:solidFill>
                <a:latin typeface="Cambria" pitchFamily="34" charset="0"/>
                <a:ea typeface="Cambria" pitchFamily="34" charset="-122"/>
                <a:cs typeface="Cambria" pitchFamily="34" charset="-120"/>
              </a:rPr>
              <a:t>Kellogg Declares Its Cereal Network</a:t>
            </a:r>
            <a:endParaRPr lang="en-US" sz="1300" dirty="0"/>
          </a:p>
        </p:txBody>
      </p:sp>
      <p:sp>
        <p:nvSpPr>
          <p:cNvPr id="40" name="Card text"/>
          <p:cNvSpPr txBox="1"/>
          <p:nvPr/>
        </p:nvSpPr>
        <p:spPr>
          <a:xfrm>
            <a:off x="7552761" y="5660136"/>
            <a:ext cx="1633667" cy="384048"/>
          </a:xfrm>
          <a:prstGeom prst="rect">
            <a:avLst/>
          </a:prstGeom>
          <a:noFill/>
          <a:ln/>
        </p:spPr>
        <p:txBody>
          <a:bodyPr wrap="square" lIns="0" tIns="0" rIns="0" bIns="0" rtlCol="0" anchor="t"/>
          <a:lstStyle/>
          <a:p>
            <a:pPr indent="0" marL="0">
              <a:buNone/>
            </a:pPr>
            <a:r>
              <a:rPr lang="en-US" sz="1200" dirty="0">
                <a:solidFill>
                  <a:schemeClr val="tx2"/>
                </a:solidFill>
              </a:rPr>
              <a:t>At a Glance · board questions</a:t>
            </a:r>
            <a:endParaRPr lang="en-US" sz="1200" dirty="0"/>
          </a:p>
        </p:txBody>
      </p:sp>
      <p:sp>
        <p:nvSpPr>
          <p:cNvPr id="41" name="Card"/>
          <p:cNvSpPr/>
          <p:nvPr/>
        </p:nvSpPr>
        <p:spPr>
          <a:xfrm>
            <a:off x="9643628" y="4069080"/>
            <a:ext cx="1999427" cy="2103120"/>
          </a:xfrm>
          <a:prstGeom prst="roundRect">
            <a:avLst>
              <a:gd name="adj" fmla="val 3659"/>
            </a:avLst>
          </a:prstGeom>
          <a:solidFill>
            <a:schemeClr val="bg2"/>
          </a:solidFill>
          <a:ln w="9525">
            <a:solidFill>
              <a:srgbClr val="C4CBD8"/>
            </a:solidFill>
            <a:prstDash val="solid"/>
          </a:ln>
        </p:spPr>
      </p:sp>
      <p:sp>
        <p:nvSpPr>
          <p:cNvPr id="42" name="Card label"/>
          <p:cNvSpPr txBox="1"/>
          <p:nvPr/>
        </p:nvSpPr>
        <p:spPr>
          <a:xfrm>
            <a:off x="9826508" y="4197096"/>
            <a:ext cx="1633667" cy="310896"/>
          </a:xfrm>
          <a:prstGeom prst="rect">
            <a:avLst/>
          </a:prstGeom>
          <a:noFill/>
          <a:ln/>
        </p:spPr>
        <p:txBody>
          <a:bodyPr wrap="square" lIns="0" tIns="0" rIns="0" bIns="0" rtlCol="0" anchor="ctr"/>
          <a:lstStyle/>
          <a:p>
            <a:pPr indent="0" marL="0">
              <a:buNone/>
            </a:pPr>
            <a:r>
              <a:rPr lang="en-US" sz="1300" b="1" dirty="0">
                <a:solidFill>
                  <a:schemeClr val="accent1"/>
                </a:solidFill>
              </a:rPr>
              <a:t>AXIOM Lab 2.2</a:t>
            </a:r>
            <a:endParaRPr lang="en-US" sz="1300" dirty="0"/>
          </a:p>
        </p:txBody>
      </p:sp>
      <p:sp>
        <p:nvSpPr>
          <p:cNvPr id="43" name="Card head"/>
          <p:cNvSpPr txBox="1"/>
          <p:nvPr/>
        </p:nvSpPr>
        <p:spPr>
          <a:xfrm>
            <a:off x="9826508" y="4526280"/>
            <a:ext cx="1633667" cy="1060704"/>
          </a:xfrm>
          <a:prstGeom prst="rect">
            <a:avLst/>
          </a:prstGeom>
          <a:noFill/>
          <a:ln/>
        </p:spPr>
        <p:txBody>
          <a:bodyPr wrap="square" lIns="0" tIns="0" rIns="0" bIns="0" rtlCol="0" anchor="t"/>
          <a:lstStyle/>
          <a:p>
            <a:pPr indent="0" marL="0">
              <a:buNone/>
            </a:pPr>
            <a:r>
              <a:rPr lang="en-US" sz="1300" b="1" dirty="0">
                <a:solidFill>
                  <a:schemeClr val="tx1"/>
                </a:solidFill>
                <a:latin typeface="Cambria" pitchFamily="34" charset="0"/>
                <a:ea typeface="Cambria" pitchFamily="34" charset="-122"/>
                <a:cs typeface="Cambria" pitchFamily="34" charset="-120"/>
              </a:rPr>
              <a:t>Building and Diagnosing an Instance</a:t>
            </a:r>
            <a:endParaRPr lang="en-US" sz="1300" dirty="0"/>
          </a:p>
        </p:txBody>
      </p:sp>
      <p:sp>
        <p:nvSpPr>
          <p:cNvPr id="44" name="Card text"/>
          <p:cNvSpPr txBox="1"/>
          <p:nvPr/>
        </p:nvSpPr>
        <p:spPr>
          <a:xfrm>
            <a:off x="9826508" y="5660136"/>
            <a:ext cx="1633667" cy="384048"/>
          </a:xfrm>
          <a:prstGeom prst="rect">
            <a:avLst/>
          </a:prstGeom>
          <a:noFill/>
          <a:ln/>
        </p:spPr>
        <p:txBody>
          <a:bodyPr wrap="square" lIns="0" tIns="0" rIns="0" bIns="0" rtlCol="0" anchor="t"/>
          <a:lstStyle/>
          <a:p>
            <a:pPr indent="0" marL="0">
              <a:buNone/>
            </a:pPr>
            <a:r>
              <a:rPr lang="en-US" sz="1200" dirty="0">
                <a:solidFill>
                  <a:schemeClr val="tx2"/>
                </a:solidFill>
              </a:rPr>
              <a:t>AXIOM-02 · five steps</a:t>
            </a:r>
            <a:endParaRPr lang="en-US" sz="12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§2.1 · DEFINITION 2.1 · PROPOSITION 2.1</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bg1"/>
                </a:solidFill>
                <a:latin typeface="Cambria" pitchFamily="34" charset="0"/>
                <a:ea typeface="Cambria" pitchFamily="34" charset="-122"/>
                <a:cs typeface="Cambria" pitchFamily="34" charset="-120"/>
              </a:rPr>
              <a:t>A solver takes an instance, not a problem</a:t>
            </a:r>
            <a:endParaRPr lang="en-US" sz="3200" dirty="0"/>
          </a:p>
        </p:txBody>
      </p:sp>
      <p:pic>
        <p:nvPicPr>
          <p:cNvPr id="5" name="Equation" descr="Equation: \begin{aligned} \max_{\pi \in \Pi}\; &amp; \mathrm{E}\Bigl[\,\sum_{k=0}^{K-1} L(\mathbf{x}_k, \mathbf{u}_k, k) + \Phi_T(\mathbf{x}_K)\Bigr] \\ \text{subject to}\; &amp; \mathbf{x}_{k+1} = f(\mathbf{x}_k, \mathbf{u}_k, \mathbf{w}_k, k), \quad \mathbf{u}_k = \pi_k(\mathbf{x}_k) \in U(\mathbf{x}_k), \\ &amp; g_i \le 0, \;\; h_j = 0, \quad \mathbf{x}_0 \text{ given}, \;\; \mathbf{x}_K \in X_T, \quad \mathbf{w}_k \sim P_k \text{ or } \mathbf{w}_k \in W_k \end{aligned}">    </p:cNvPr>
          <p:cNvPicPr>
            <a:picLocks noChangeAspect="1"/>
          </p:cNvPicPr>
          <p:nvPr/>
        </p:nvPicPr>
        <p:blipFill>
          <a:blip r:embed="rId1"/>
          <a:stretch>
            <a:fillRect/>
          </a:stretch>
        </p:blipFill>
        <p:spPr>
          <a:xfrm>
            <a:off x="2787984" y="1828800"/>
            <a:ext cx="6615728" cy="1463040"/>
          </a:xfrm>
          <a:prstGeom prst="rect">
            <a:avLst/>
          </a:prstGeom>
        </p:spPr>
      </p:pic>
      <p:sp>
        <p:nvSpPr>
          <p:cNvPr id="6" name="Text 2"/>
          <p:cNvSpPr txBox="1"/>
          <p:nvPr/>
        </p:nvSpPr>
        <p:spPr>
          <a:xfrm>
            <a:off x="914400" y="3429000"/>
            <a:ext cx="10362895" cy="411480"/>
          </a:xfrm>
          <a:prstGeom prst="rect">
            <a:avLst/>
          </a:prstGeom>
          <a:noFill/>
          <a:ln/>
        </p:spPr>
        <p:txBody>
          <a:bodyPr wrap="square" lIns="0" tIns="0" rIns="0" bIns="0" rtlCol="0" anchor="ctr"/>
          <a:lstStyle/>
          <a:p>
            <a:pPr algn="ctr" indent="0" marL="0">
              <a:buNone/>
            </a:pPr>
            <a:r>
              <a:rPr lang="en-US" sz="1600" i="1" dirty="0">
                <a:solidFill>
                  <a:schemeClr val="accent4"/>
                </a:solidFill>
              </a:rPr>
              <a:t>dynamics, admissible decisions, path commitments, start and end, uncertainty: each commitment declared with its quantifier</a:t>
            </a:r>
            <a:endParaRPr lang="en-US" sz="1600" dirty="0"/>
          </a:p>
        </p:txBody>
      </p:sp>
      <p:sp>
        <p:nvSpPr>
          <p:cNvPr id="7" name="Bullets"/>
          <p:cNvSpPr txBox="1"/>
          <p:nvPr/>
        </p:nvSpPr>
        <p:spPr>
          <a:xfrm>
            <a:off x="914400" y="4023360"/>
            <a:ext cx="10362895" cy="2148840"/>
          </a:xfrm>
          <a:prstGeom prst="rect">
            <a:avLst/>
          </a:prstGeom>
          <a:noFill/>
          <a:ln/>
        </p:spPr>
        <p:txBody>
          <a:bodyPr wrap="square" lIns="635" tIns="635" rIns="635" bIns="635" rtlCol="0" anchor="t"/>
          <a:lstStyle/>
          <a:p>
            <a:pPr marL="228600" indent="-228600">
              <a:spcAft>
                <a:spcPts val="800"/>
              </a:spcAft>
              <a:buSzPct val="100000"/>
              <a:buChar char="•"/>
            </a:pPr>
            <a:r>
              <a:rPr lang="en-US" sz="1700" b="1" dirty="0">
                <a:solidFill>
                  <a:schemeClr val="bg1"/>
                </a:solidFill>
              </a:rPr>
              <a:t>Definition 2.1.</a:t>
            </a:r>
            <a:r>
              <a:rPr lang="en-US" sz="1700" dirty="0">
                <a:solidFill>
                  <a:schemeClr val="bg1"/>
                </a:solidFill>
              </a:rPr>
              <a:t> Volume I's GEOP with every declared object filled in, its commitments sorted by form, not owner</a:t>
            </a:r>
            <a:endParaRPr lang="en-US" sz="1700" dirty="0"/>
          </a:p>
          <a:p>
            <a:pPr marL="228600" indent="-228600">
              <a:spcAft>
                <a:spcPts val="800"/>
              </a:spcAft>
              <a:buSzPct val="100000"/>
              <a:buChar char="•"/>
            </a:pPr>
            <a:r>
              <a:rPr lang="en-US" sz="1700" b="1" dirty="0">
                <a:solidFill>
                  <a:schemeClr val="bg1"/>
                </a:solidFill>
              </a:rPr>
              <a:t>Proposition 2.1.</a:t>
            </a:r>
            <a:r>
              <a:rPr lang="en-US" sz="1700" dirty="0">
                <a:solidFill>
                  <a:schemeClr val="bg1"/>
                </a:solidFill>
              </a:rPr>
              <a:t> Every problem this volume solves is an instance with some blocks declared empty</a:t>
            </a:r>
            <a:endParaRPr lang="en-US" sz="1700" dirty="0"/>
          </a:p>
          <a:p>
            <a:pPr marL="228600" indent="-228600">
              <a:spcAft>
                <a:spcPts val="800"/>
              </a:spcAft>
              <a:buSzPct val="100000"/>
              <a:buChar char="•"/>
            </a:pPr>
            <a:r>
              <a:rPr lang="en-US" sz="1700" dirty="0">
                <a:solidFill>
                  <a:schemeClr val="bg1"/>
                </a:solidFill>
              </a:rPr>
              <a:t>Empty blocks are declarations: no uncertainty says the future is known; no end condition, that nothing after the horizon matters</a:t>
            </a:r>
            <a:endParaRPr lang="en-US" sz="17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C4CBD8"/>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§2.1 · TABLE 2.1 · FIGURE 2.1</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Five blocks, each supplied by Volume I</a:t>
            </a:r>
            <a:endParaRPr lang="en-US" sz="3200" dirty="0"/>
          </a:p>
        </p:txBody>
      </p:sp>
      <p:sp>
        <p:nvSpPr>
          <p:cNvPr id="5" name="Bullets"/>
          <p:cNvSpPr txBox="1"/>
          <p:nvPr/>
        </p:nvSpPr>
        <p:spPr>
          <a:xfrm>
            <a:off x="548640" y="1691640"/>
            <a:ext cx="4254886" cy="4480560"/>
          </a:xfrm>
          <a:prstGeom prst="rect">
            <a:avLst/>
          </a:prstGeom>
          <a:noFill/>
          <a:ln/>
        </p:spPr>
        <p:txBody>
          <a:bodyPr wrap="square" lIns="635" tIns="635" rIns="635" bIns="635" rtlCol="0" anchor="t"/>
          <a:lstStyle/>
          <a:p>
            <a:pPr marL="228600" indent="-228600">
              <a:spcAft>
                <a:spcPts val="800"/>
              </a:spcAft>
              <a:buSzPct val="100000"/>
              <a:buChar char="•"/>
            </a:pPr>
            <a:r>
              <a:rPr lang="en-US" sz="1500" b="1" dirty="0">
                <a:solidFill>
                  <a:schemeClr val="tx1"/>
                </a:solidFill>
              </a:rPr>
              <a:t>Dynamics:</a:t>
            </a:r>
            <a:r>
              <a:rPr lang="en-US" sz="1500" dirty="0">
                <a:solidFill>
                  <a:schemeClr val="tx1"/>
                </a:solidFill>
              </a:rPr>
              <a:t> how the state moves, given decisions and shocks</a:t>
            </a:r>
            <a:endParaRPr lang="en-US" sz="1500" dirty="0"/>
          </a:p>
          <a:p>
            <a:pPr marL="228600" indent="-228600">
              <a:spcAft>
                <a:spcPts val="800"/>
              </a:spcAft>
              <a:buSzPct val="100000"/>
              <a:buChar char="•"/>
            </a:pPr>
            <a:r>
              <a:rPr lang="en-US" sz="1500" b="1" dirty="0">
                <a:solidFill>
                  <a:schemeClr val="tx1"/>
                </a:solidFill>
              </a:rPr>
              <a:t>Admissible decisions:</a:t>
            </a:r>
            <a:r>
              <a:rPr lang="en-US" sz="1500" dirty="0">
                <a:solidFill>
                  <a:schemeClr val="tx1"/>
                </a:solidFill>
              </a:rPr>
              <a:t> the levers, their domains and the class of rules</a:t>
            </a:r>
            <a:endParaRPr lang="en-US" sz="1500" dirty="0"/>
          </a:p>
          <a:p>
            <a:pPr marL="228600" indent="-228600">
              <a:spcAft>
                <a:spcPts val="800"/>
              </a:spcAft>
              <a:buSzPct val="100000"/>
              <a:buChar char="•"/>
            </a:pPr>
            <a:r>
              <a:rPr lang="en-US" sz="1500" b="1" dirty="0">
                <a:solidFill>
                  <a:schemeClr val="tx1"/>
                </a:solidFill>
              </a:rPr>
              <a:t>Path commitments:</a:t>
            </a:r>
            <a:r>
              <a:rPr lang="en-US" sz="1500" dirty="0">
                <a:solidFill>
                  <a:schemeClr val="tx1"/>
                </a:solidFill>
              </a:rPr>
              <a:t> floors, ceilings and identities, each with an owner</a:t>
            </a:r>
            <a:endParaRPr lang="en-US" sz="1500" dirty="0"/>
          </a:p>
          <a:p>
            <a:pPr marL="228600" indent="-228600">
              <a:spcAft>
                <a:spcPts val="800"/>
              </a:spcAft>
              <a:buSzPct val="100000"/>
              <a:buChar char="•"/>
            </a:pPr>
            <a:r>
              <a:rPr lang="en-US" sz="1500" b="1" dirty="0">
                <a:solidFill>
                  <a:schemeClr val="tx1"/>
                </a:solidFill>
              </a:rPr>
              <a:t>Start and end:</a:t>
            </a:r>
            <a:r>
              <a:rPr lang="en-US" sz="1500" dirty="0">
                <a:solidFill>
                  <a:schemeClr val="tx1"/>
                </a:solidFill>
              </a:rPr>
              <a:t> today's audited state; where the horizon must leave the company</a:t>
            </a:r>
            <a:endParaRPr lang="en-US" sz="1500" dirty="0"/>
          </a:p>
          <a:p>
            <a:pPr marL="228600" indent="-228600">
              <a:spcAft>
                <a:spcPts val="800"/>
              </a:spcAft>
              <a:buSzPct val="100000"/>
              <a:buChar char="•"/>
            </a:pPr>
            <a:r>
              <a:rPr lang="en-US" sz="1500" b="1" dirty="0">
                <a:solidFill>
                  <a:schemeClr val="tx1"/>
                </a:solidFill>
              </a:rPr>
              <a:t>Uncertainty:</a:t>
            </a:r>
            <a:r>
              <a:rPr lang="en-US" sz="1500" dirty="0">
                <a:solidFill>
                  <a:schemeClr val="tx1"/>
                </a:solidFill>
              </a:rPr>
              <a:t> the law or the set of environments, and each commitment's quantifier</a:t>
            </a:r>
            <a:endParaRPr lang="en-US" sz="1500" dirty="0"/>
          </a:p>
          <a:p>
            <a:pPr marL="228600" indent="-228600">
              <a:spcAft>
                <a:spcPts val="800"/>
              </a:spcAft>
              <a:buSzPct val="100000"/>
              <a:buChar char="•"/>
            </a:pPr>
            <a:r>
              <a:rPr lang="en-US" sz="1500" b="1" dirty="0">
                <a:solidFill>
                  <a:schemeClr val="tx1"/>
                </a:solidFill>
              </a:rPr>
              <a:t>Objective:</a:t>
            </a:r>
            <a:r>
              <a:rPr lang="en-US" sz="1500" dirty="0">
                <a:solidFill>
                  <a:schemeClr val="tx1"/>
                </a:solidFill>
              </a:rPr>
              <a:t> running and terminal terms built from the ledgers</a:t>
            </a:r>
            <a:endParaRPr lang="en-US" sz="1500" dirty="0"/>
          </a:p>
        </p:txBody>
      </p:sp>
      <p:pic>
        <p:nvPicPr>
          <p:cNvPr id="6" name="Figure" descr="Figure 2.1: anatomy of a GEOP instance">    </p:cNvPr>
          <p:cNvPicPr>
            <a:picLocks noChangeAspect="1"/>
          </p:cNvPicPr>
          <p:nvPr/>
        </p:nvPicPr>
        <p:blipFill>
          <a:blip r:embed="rId1"/>
          <a:stretch>
            <a:fillRect/>
          </a:stretch>
        </p:blipFill>
        <p:spPr>
          <a:xfrm>
            <a:off x="5169286" y="1822089"/>
            <a:ext cx="6473769" cy="3652734"/>
          </a:xfrm>
          <a:prstGeom prst="rect">
            <a:avLst/>
          </a:prstGeom>
        </p:spPr>
      </p:pic>
      <p:sp>
        <p:nvSpPr>
          <p:cNvPr id="7" name="Caption"/>
          <p:cNvSpPr txBox="1"/>
          <p:nvPr/>
        </p:nvSpPr>
        <p:spPr>
          <a:xfrm>
            <a:off x="5169286" y="5547975"/>
            <a:ext cx="6473769" cy="502920"/>
          </a:xfrm>
          <a:prstGeom prst="rect">
            <a:avLst/>
          </a:prstGeom>
          <a:noFill/>
          <a:ln/>
        </p:spPr>
        <p:txBody>
          <a:bodyPr wrap="square" lIns="0" tIns="0" rIns="0" bIns="0" rtlCol="0" anchor="t"/>
          <a:lstStyle/>
          <a:p>
            <a:pPr indent="0" marL="0">
              <a:buNone/>
            </a:pPr>
            <a:r>
              <a:rPr lang="en-US" sz="1100" i="1" dirty="0">
                <a:solidFill>
                  <a:schemeClr val="tx2"/>
                </a:solidFill>
              </a:rPr>
              <a:t>Figure 2.1. Anatomy of a GEOP instance on one state reading. Plans A and B are feasible; plan C breaches the ceiling in period 7 and is infeasible, whatever its value.</a:t>
            </a:r>
            <a:endParaRPr lang="en-US" sz="11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§2.2 · DEFINITIONS 2.2–2.3 · PROPOSITION 2.2</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Decisions are chosen; states are induced</a:t>
            </a:r>
            <a:endParaRPr lang="en-US" sz="3200" dirty="0"/>
          </a:p>
        </p:txBody>
      </p:sp>
      <p:sp>
        <p:nvSpPr>
          <p:cNvPr id="5" name="Result card"/>
          <p:cNvSpPr/>
          <p:nvPr/>
        </p:nvSpPr>
        <p:spPr>
          <a:xfrm>
            <a:off x="548640" y="1691640"/>
            <a:ext cx="6675120" cy="4480560"/>
          </a:xfrm>
          <a:prstGeom prst="roundRect">
            <a:avLst>
              <a:gd name="adj" fmla="val 1633"/>
            </a:avLst>
          </a:prstGeom>
          <a:solidFill>
            <a:schemeClr val="bg2"/>
          </a:solidFill>
          <a:ln w="9525">
            <a:solidFill>
              <a:srgbClr val="C4CBD8"/>
            </a:solidFill>
            <a:prstDash val="solid"/>
          </a:ln>
        </p:spPr>
      </p:sp>
      <p:sp>
        <p:nvSpPr>
          <p:cNvPr id="6" name="Text 3"/>
          <p:cNvSpPr txBox="1"/>
          <p:nvPr/>
        </p:nvSpPr>
        <p:spPr>
          <a:xfrm>
            <a:off x="822960" y="1892808"/>
            <a:ext cx="6126480" cy="292608"/>
          </a:xfrm>
          <a:prstGeom prst="rect">
            <a:avLst/>
          </a:prstGeom>
          <a:noFill/>
          <a:ln/>
        </p:spPr>
        <p:txBody>
          <a:bodyPr wrap="square" lIns="0" tIns="0" rIns="0" bIns="0" rtlCol="0" anchor="ctr"/>
          <a:lstStyle/>
          <a:p>
            <a:pPr indent="0" marL="0">
              <a:buNone/>
            </a:pPr>
            <a:r>
              <a:rPr lang="en-US" sz="1200" b="1" spc="200" kern="0" dirty="0">
                <a:solidFill>
                  <a:schemeClr val="accent1"/>
                </a:solidFill>
              </a:rPr>
              <a:t>PROPOSITION 2.2</a:t>
            </a:r>
            <a:endParaRPr lang="en-US" sz="1200" dirty="0"/>
          </a:p>
        </p:txBody>
      </p:sp>
      <p:sp>
        <p:nvSpPr>
          <p:cNvPr id="7" name="Text 4"/>
          <p:cNvSpPr txBox="1"/>
          <p:nvPr/>
        </p:nvSpPr>
        <p:spPr>
          <a:xfrm>
            <a:off x="822960" y="2194560"/>
            <a:ext cx="6126480" cy="457200"/>
          </a:xfrm>
          <a:prstGeom prst="rect">
            <a:avLst/>
          </a:prstGeom>
          <a:noFill/>
          <a:ln/>
        </p:spPr>
        <p:txBody>
          <a:bodyPr wrap="square" lIns="0" tIns="0" rIns="0" bIns="0" rtlCol="0" anchor="ctr"/>
          <a:lstStyle/>
          <a:p>
            <a:pPr indent="0" marL="0">
              <a:buNone/>
            </a:pPr>
            <a:r>
              <a:rPr lang="en-US" sz="2100" b="1" dirty="0">
                <a:solidFill>
                  <a:schemeClr val="tx1"/>
                </a:solidFill>
                <a:latin typeface="Cambria" pitchFamily="34" charset="0"/>
                <a:ea typeface="Cambria" pitchFamily="34" charset="-122"/>
                <a:cs typeface="Cambria" pitchFamily="34" charset="-120"/>
              </a:rPr>
              <a:t>Objectives Depend on Decisions Through Paths</a:t>
            </a:r>
            <a:endParaRPr lang="en-US" sz="2100" dirty="0"/>
          </a:p>
        </p:txBody>
      </p:sp>
      <p:sp>
        <p:nvSpPr>
          <p:cNvPr id="8" name="Bullets"/>
          <p:cNvSpPr txBox="1"/>
          <p:nvPr/>
        </p:nvSpPr>
        <p:spPr>
          <a:xfrm>
            <a:off x="822960" y="2743200"/>
            <a:ext cx="6126480" cy="3291840"/>
          </a:xfrm>
          <a:prstGeom prst="rect">
            <a:avLst/>
          </a:prstGeom>
          <a:noFill/>
          <a:ln/>
        </p:spPr>
        <p:txBody>
          <a:bodyPr wrap="square" lIns="635" tIns="635" rIns="635" bIns="635" rtlCol="0" anchor="t"/>
          <a:lstStyle/>
          <a:p>
            <a:pPr marL="228600" indent="-228600">
              <a:spcAft>
                <a:spcPts val="600"/>
              </a:spcAft>
              <a:buSzPct val="100000"/>
              <a:buChar char="•"/>
            </a:pPr>
            <a:r>
              <a:rPr lang="en-US" sz="1500" dirty="0">
                <a:solidFill>
                  <a:schemeClr val="tx1"/>
                </a:solidFill>
              </a:rPr>
              <a:t>A policy's value and feasibility depend on it only through the </a:t>
            </a:r>
            <a:r>
              <a:rPr lang="en-US" sz="1500" b="1" dirty="0">
                <a:solidFill>
                  <a:schemeClr val="tx1"/>
                </a:solidFill>
              </a:rPr>
              <a:t>path it induces</a:t>
            </a:r>
            <a:r>
              <a:rPr lang="en-US" sz="1500" dirty="0">
                <a:solidFill>
                  <a:schemeClr val="tx1"/>
                </a:solidFill>
              </a:rPr>
              <a:t> and the decisions taken along it</a:t>
            </a:r>
            <a:endParaRPr lang="en-US" sz="1500" dirty="0"/>
          </a:p>
          <a:p>
            <a:pPr marL="228600" indent="-228600">
              <a:spcAft>
                <a:spcPts val="600"/>
              </a:spcAft>
              <a:buSzPct val="100000"/>
              <a:buChar char="•"/>
            </a:pPr>
            <a:r>
              <a:rPr lang="en-US" sz="1500" dirty="0">
                <a:solidFill>
                  <a:schemeClr val="tx1"/>
                </a:solidFill>
              </a:rPr>
              <a:t>Two policies that induce the same paths and decisions have the same value and the same feasibility</a:t>
            </a:r>
            <a:endParaRPr lang="en-US" sz="1500" dirty="0"/>
          </a:p>
          <a:p>
            <a:pPr marL="228600" indent="-228600">
              <a:spcAft>
                <a:spcPts val="600"/>
              </a:spcAft>
              <a:buSzPct val="100000"/>
              <a:buChar char="•"/>
            </a:pPr>
            <a:r>
              <a:rPr lang="en-US" sz="1500" dirty="0">
                <a:solidFill>
                  <a:schemeClr val="tx1"/>
                </a:solidFill>
              </a:rPr>
              <a:t>Every claim that a plan reaches a value or keeps a commitment can be </a:t>
            </a:r>
            <a:r>
              <a:rPr lang="en-US" sz="1500" b="1" dirty="0">
                <a:solidFill>
                  <a:schemeClr val="tx1"/>
                </a:solidFill>
              </a:rPr>
              <a:t>checked by simulating</a:t>
            </a:r>
            <a:r>
              <a:rPr lang="en-US" sz="1500" dirty="0">
                <a:solidFill>
                  <a:schemeClr val="tx1"/>
                </a:solidFill>
              </a:rPr>
              <a:t> the declared dynamics forward</a:t>
            </a:r>
            <a:endParaRPr lang="en-US" sz="1500" dirty="0"/>
          </a:p>
          <a:p>
            <a:pPr marL="228600" indent="-228600">
              <a:spcAft>
                <a:spcPts val="600"/>
              </a:spcAft>
              <a:buSzPct val="100000"/>
              <a:buChar char="•"/>
            </a:pPr>
            <a:r>
              <a:rPr lang="en-US" sz="1500" dirty="0">
                <a:solidFill>
                  <a:schemeClr val="tx1"/>
                </a:solidFill>
              </a:rPr>
              <a:t>One pass when the instance is certain; a sample of paths with its error bar when it is not</a:t>
            </a:r>
            <a:endParaRPr lang="en-US" sz="1500" dirty="0"/>
          </a:p>
        </p:txBody>
      </p:sp>
      <p:sp>
        <p:nvSpPr>
          <p:cNvPr id="9" name="Text 6"/>
          <p:cNvSpPr txBox="1"/>
          <p:nvPr/>
        </p:nvSpPr>
        <p:spPr>
          <a:xfrm>
            <a:off x="7635240" y="1737360"/>
            <a:ext cx="4007815" cy="365760"/>
          </a:xfrm>
          <a:prstGeom prst="rect">
            <a:avLst/>
          </a:prstGeom>
          <a:noFill/>
          <a:ln/>
        </p:spPr>
        <p:txBody>
          <a:bodyPr wrap="square" lIns="0" tIns="0" rIns="0" bIns="0" rtlCol="0" anchor="ctr"/>
          <a:lstStyle/>
          <a:p>
            <a:pPr indent="0" marL="0">
              <a:buNone/>
            </a:pPr>
            <a:r>
              <a:rPr lang="en-US" sz="1600" b="1" dirty="0">
                <a:solidFill>
                  <a:schemeClr val="accent2"/>
                </a:solidFill>
              </a:rPr>
              <a:t>The anti-advocacy clause</a:t>
            </a:r>
            <a:endParaRPr lang="en-US" sz="1600" dirty="0"/>
          </a:p>
        </p:txBody>
      </p:sp>
      <p:sp>
        <p:nvSpPr>
          <p:cNvPr id="10" name="Bullets"/>
          <p:cNvSpPr txBox="1"/>
          <p:nvPr/>
        </p:nvSpPr>
        <p:spPr>
          <a:xfrm>
            <a:off x="7635240" y="2194560"/>
            <a:ext cx="4007815" cy="3977640"/>
          </a:xfrm>
          <a:prstGeom prst="rect">
            <a:avLst/>
          </a:prstGeom>
          <a:noFill/>
          <a:ln/>
        </p:spPr>
        <p:txBody>
          <a:bodyPr wrap="square" lIns="635" tIns="635" rIns="635" bIns="635" rtlCol="0" anchor="t"/>
          <a:lstStyle/>
          <a:p>
            <a:pPr marL="228600" indent="-228600">
              <a:spcAft>
                <a:spcPts val="800"/>
              </a:spcAft>
              <a:buSzPct val="100000"/>
              <a:buChar char="•"/>
            </a:pPr>
            <a:r>
              <a:rPr lang="en-US" sz="1500" dirty="0">
                <a:solidFill>
                  <a:schemeClr val="tx1"/>
                </a:solidFill>
              </a:rPr>
              <a:t>Budgets are chosen; capability is induced. Hiring is chosen; culture is induced</a:t>
            </a:r>
            <a:endParaRPr lang="en-US" sz="1500" dirty="0"/>
          </a:p>
          <a:p>
            <a:pPr marL="228600" indent="-228600">
              <a:spcAft>
                <a:spcPts val="800"/>
              </a:spcAft>
              <a:buSzPct val="100000"/>
              <a:buChar char="•"/>
            </a:pPr>
            <a:r>
              <a:rPr lang="en-US" sz="1500" dirty="0">
                <a:solidFill>
                  <a:schemeClr val="tx1"/>
                </a:solidFill>
              </a:rPr>
              <a:t>An induced quantity listed as a decision is a </a:t>
            </a:r>
            <a:r>
              <a:rPr lang="en-US" sz="1500" b="1" dirty="0">
                <a:solidFill>
                  <a:schemeClr val="tx1"/>
                </a:solidFill>
              </a:rPr>
              <a:t>phantom lever</a:t>
            </a:r>
            <a:r>
              <a:rPr lang="en-US" sz="1500" dirty="0">
                <a:solidFill>
                  <a:schemeClr val="tx1"/>
                </a:solidFill>
              </a:rPr>
              <a:t>, and the optimum leans on it</a:t>
            </a:r>
            <a:endParaRPr lang="en-US" sz="1500" dirty="0"/>
          </a:p>
          <a:p>
            <a:pPr marL="228600" indent="-228600">
              <a:spcAft>
                <a:spcPts val="800"/>
              </a:spcAft>
              <a:buSzPct val="100000"/>
              <a:buChar char="•"/>
            </a:pPr>
            <a:r>
              <a:rPr lang="en-US" sz="1500" dirty="0">
                <a:solidFill>
                  <a:schemeClr val="tx1"/>
                </a:solidFill>
              </a:rPr>
              <a:t>Meridian: six-round savings, </a:t>
            </a:r>
            <a:r>
              <a:rPr lang="en-US" sz="1500" b="1" dirty="0">
                <a:solidFill>
                  <a:schemeClr val="tx1"/>
                </a:solidFill>
              </a:rPr>
              <a:t>$702m</a:t>
            </a:r>
            <a:r>
              <a:rPr lang="en-US" sz="1500" dirty="0">
                <a:solidFill>
                  <a:schemeClr val="tx1"/>
                </a:solidFill>
              </a:rPr>
              <a:t>, carried into a three-round plan that saves </a:t>
            </a:r>
            <a:r>
              <a:rPr lang="en-US" sz="1500" b="1" dirty="0">
                <a:solidFill>
                  <a:schemeClr val="tx1"/>
                </a:solidFill>
              </a:rPr>
              <a:t>$647.5m</a:t>
            </a:r>
            <a:endParaRPr lang="en-US" sz="1500" dirty="0"/>
          </a:p>
          <a:p>
            <a:pPr marL="228600" indent="-228600">
              <a:spcAft>
                <a:spcPts val="800"/>
              </a:spcAft>
              <a:buSzPct val="100000"/>
              <a:buChar char="•"/>
            </a:pPr>
            <a:r>
              <a:rPr lang="en-US" sz="1500" dirty="0">
                <a:solidFill>
                  <a:schemeClr val="tx1"/>
                </a:solidFill>
              </a:rPr>
              <a:t>A dispute about a proposal's value becomes a dispute about a declared object</a:t>
            </a:r>
            <a:endParaRPr lang="en-US" sz="15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§2.3 · THEOREM 2.1</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Form is free; content is governance</a:t>
            </a:r>
            <a:endParaRPr lang="en-US" sz="3200" dirty="0"/>
          </a:p>
        </p:txBody>
      </p:sp>
      <p:sp>
        <p:nvSpPr>
          <p:cNvPr id="5" name="Result card"/>
          <p:cNvSpPr/>
          <p:nvPr/>
        </p:nvSpPr>
        <p:spPr>
          <a:xfrm>
            <a:off x="548640" y="1691640"/>
            <a:ext cx="5943600" cy="4480560"/>
          </a:xfrm>
          <a:prstGeom prst="roundRect">
            <a:avLst>
              <a:gd name="adj" fmla="val 1633"/>
            </a:avLst>
          </a:prstGeom>
          <a:solidFill>
            <a:schemeClr val="bg2"/>
          </a:solidFill>
          <a:ln w="9525">
            <a:solidFill>
              <a:srgbClr val="C4CBD8"/>
            </a:solidFill>
            <a:prstDash val="solid"/>
          </a:ln>
        </p:spPr>
      </p:sp>
      <p:sp>
        <p:nvSpPr>
          <p:cNvPr id="6" name="Text 3"/>
          <p:cNvSpPr txBox="1"/>
          <p:nvPr/>
        </p:nvSpPr>
        <p:spPr>
          <a:xfrm>
            <a:off x="822960" y="1892808"/>
            <a:ext cx="5394960" cy="292608"/>
          </a:xfrm>
          <a:prstGeom prst="rect">
            <a:avLst/>
          </a:prstGeom>
          <a:noFill/>
          <a:ln/>
        </p:spPr>
        <p:txBody>
          <a:bodyPr wrap="square" lIns="0" tIns="0" rIns="0" bIns="0" rtlCol="0" anchor="ctr"/>
          <a:lstStyle/>
          <a:p>
            <a:pPr indent="0" marL="0">
              <a:buNone/>
            </a:pPr>
            <a:r>
              <a:rPr lang="en-US" sz="1200" b="1" spc="200" kern="0" dirty="0">
                <a:solidFill>
                  <a:schemeClr val="accent1"/>
                </a:solidFill>
              </a:rPr>
              <a:t>THEOREM 2.1</a:t>
            </a:r>
            <a:endParaRPr lang="en-US" sz="1200" dirty="0"/>
          </a:p>
        </p:txBody>
      </p:sp>
      <p:sp>
        <p:nvSpPr>
          <p:cNvPr id="7" name="Text 4"/>
          <p:cNvSpPr txBox="1"/>
          <p:nvPr/>
        </p:nvSpPr>
        <p:spPr>
          <a:xfrm>
            <a:off x="822960" y="2194560"/>
            <a:ext cx="5394960" cy="457200"/>
          </a:xfrm>
          <a:prstGeom prst="rect">
            <a:avLst/>
          </a:prstGeom>
          <a:noFill/>
          <a:ln/>
        </p:spPr>
        <p:txBody>
          <a:bodyPr wrap="square" lIns="0" tIns="0" rIns="0" bIns="0" rtlCol="0" anchor="ctr"/>
          <a:lstStyle/>
          <a:p>
            <a:pPr indent="0" marL="0">
              <a:buNone/>
            </a:pPr>
            <a:r>
              <a:rPr lang="en-US" sz="2100" b="1" dirty="0">
                <a:solidFill>
                  <a:schemeClr val="tx1"/>
                </a:solidFill>
                <a:latin typeface="Cambria" pitchFamily="34" charset="0"/>
                <a:ea typeface="Cambria" pitchFamily="34" charset="-122"/>
                <a:cs typeface="Cambria" pitchFamily="34" charset="-120"/>
              </a:rPr>
              <a:t>Objective Equivalence Theorem</a:t>
            </a:r>
            <a:endParaRPr lang="en-US" sz="2100" dirty="0"/>
          </a:p>
        </p:txBody>
      </p:sp>
      <p:pic>
        <p:nvPicPr>
          <p:cNvPr id="8" name="Equation" descr="Equation: a_0 = 0, \quad a_{k+1} = a_k + L(\mathbf{x}_k, \mathbf{u}_k, k), \quad \widetilde{\Phi}(\mathbf{x}, a) = a + \Phi_T(\mathbf{x})">    </p:cNvPr>
          <p:cNvPicPr>
            <a:picLocks noChangeAspect="1"/>
          </p:cNvPicPr>
          <p:nvPr/>
        </p:nvPicPr>
        <p:blipFill>
          <a:blip r:embed="rId1"/>
          <a:stretch>
            <a:fillRect/>
          </a:stretch>
        </p:blipFill>
        <p:spPr>
          <a:xfrm>
            <a:off x="822960" y="2750238"/>
            <a:ext cx="5394960" cy="369972"/>
          </a:xfrm>
          <a:prstGeom prst="rect">
            <a:avLst/>
          </a:prstGeom>
        </p:spPr>
      </p:pic>
      <p:sp>
        <p:nvSpPr>
          <p:cNvPr id="9" name="Bullets"/>
          <p:cNvSpPr txBox="1"/>
          <p:nvPr/>
        </p:nvSpPr>
        <p:spPr>
          <a:xfrm>
            <a:off x="822960" y="3284802"/>
            <a:ext cx="5394960" cy="2750238"/>
          </a:xfrm>
          <a:prstGeom prst="rect">
            <a:avLst/>
          </a:prstGeom>
          <a:noFill/>
          <a:ln/>
        </p:spPr>
        <p:txBody>
          <a:bodyPr wrap="square" lIns="635" tIns="635" rIns="635" bIns="635" rtlCol="0" anchor="t"/>
          <a:lstStyle/>
          <a:p>
            <a:pPr marL="228600" indent="-228600">
              <a:spcAft>
                <a:spcPts val="600"/>
              </a:spcAft>
              <a:buSzPct val="100000"/>
              <a:buChar char="•"/>
            </a:pPr>
            <a:r>
              <a:rPr lang="en-US" sz="1500" b="1" dirty="0">
                <a:solidFill>
                  <a:schemeClr val="tx1"/>
                </a:solidFill>
              </a:rPr>
              <a:t>(i) Running into terminal.</a:t>
            </a:r>
            <a:r>
              <a:rPr lang="en-US" sz="1500" dirty="0">
                <a:solidFill>
                  <a:schemeClr val="tx1"/>
                </a:solidFill>
              </a:rPr>
              <a:t> An accumulator makes any running objective terminal, with the same value for every policy</a:t>
            </a:r>
            <a:endParaRPr lang="en-US" sz="1500" dirty="0"/>
          </a:p>
          <a:p>
            <a:pPr marL="228600" indent="-228600">
              <a:spcAft>
                <a:spcPts val="600"/>
              </a:spcAft>
              <a:buSzPct val="100000"/>
              <a:buChar char="•"/>
            </a:pPr>
            <a:r>
              <a:rPr lang="en-US" sz="1500" b="1" dirty="0">
                <a:solidFill>
                  <a:schemeClr val="tx1"/>
                </a:solidFill>
              </a:rPr>
              <a:t>(ii) Terminal into running.</a:t>
            </a:r>
            <a:r>
              <a:rPr lang="en-US" sz="1500" dirty="0">
                <a:solidFill>
                  <a:schemeClr val="tx1"/>
                </a:solidFill>
              </a:rPr>
              <a:t> A terminal objective is its value at the start plus its changes, period by period</a:t>
            </a:r>
            <a:endParaRPr lang="en-US" sz="1500" dirty="0"/>
          </a:p>
          <a:p>
            <a:pPr marL="228600" indent="-228600">
              <a:spcAft>
                <a:spcPts val="600"/>
              </a:spcAft>
              <a:buSzPct val="100000"/>
              <a:buChar char="•"/>
            </a:pPr>
            <a:r>
              <a:rPr lang="en-US" sz="1500" b="1" dirty="0">
                <a:solidFill>
                  <a:schemeClr val="tx1"/>
                </a:solidFill>
              </a:rPr>
              <a:t>(iii) Harmless changes.</a:t>
            </a:r>
            <a:r>
              <a:rPr lang="en-US" sz="1500" dirty="0">
                <a:solidFill>
                  <a:schemeClr val="tx1"/>
                </a:solidFill>
              </a:rPr>
              <a:t> Rescaling, adding a constant, any strictly increasing transformation of the whole objective</a:t>
            </a:r>
            <a:endParaRPr lang="en-US" sz="1500" dirty="0"/>
          </a:p>
          <a:p>
            <a:pPr marL="228600" indent="-228600">
              <a:spcAft>
                <a:spcPts val="600"/>
              </a:spcAft>
              <a:buSzPct val="100000"/>
              <a:buChar char="•"/>
            </a:pPr>
            <a:r>
              <a:rPr lang="en-US" sz="1500" b="1" dirty="0">
                <a:solidFill>
                  <a:schemeClr val="tx1"/>
                </a:solidFill>
              </a:rPr>
              <a:t>(iv) Consequential changes.</a:t>
            </a:r>
            <a:r>
              <a:rPr lang="en-US" sz="1500" dirty="0">
                <a:solidFill>
                  <a:schemeClr val="tx1"/>
                </a:solidFill>
              </a:rPr>
              <a:t> The weights, the horizon, what the terminal term credits, a curve inside the expectation</a:t>
            </a:r>
            <a:endParaRPr lang="en-US" sz="1500" dirty="0"/>
          </a:p>
        </p:txBody>
      </p:sp>
      <p:sp>
        <p:nvSpPr>
          <p:cNvPr id="10" name="Text 6"/>
          <p:cNvSpPr txBox="1"/>
          <p:nvPr/>
        </p:nvSpPr>
        <p:spPr>
          <a:xfrm>
            <a:off x="6903720" y="1737360"/>
            <a:ext cx="4739335" cy="365760"/>
          </a:xfrm>
          <a:prstGeom prst="rect">
            <a:avLst/>
          </a:prstGeom>
          <a:noFill/>
          <a:ln/>
        </p:spPr>
        <p:txBody>
          <a:bodyPr wrap="square" lIns="0" tIns="0" rIns="0" bIns="0" rtlCol="0" anchor="ctr"/>
          <a:lstStyle/>
          <a:p>
            <a:pPr indent="0" marL="0">
              <a:buNone/>
            </a:pPr>
            <a:r>
              <a:rPr lang="en-US" sz="1600" b="1" dirty="0">
                <a:solidFill>
                  <a:schemeClr val="accent2"/>
                </a:solidFill>
              </a:rPr>
              <a:t>What it retires, what it promotes</a:t>
            </a:r>
            <a:endParaRPr lang="en-US" sz="1600" dirty="0"/>
          </a:p>
        </p:txBody>
      </p:sp>
      <p:sp>
        <p:nvSpPr>
          <p:cNvPr id="11" name="Bullets"/>
          <p:cNvSpPr txBox="1"/>
          <p:nvPr/>
        </p:nvSpPr>
        <p:spPr>
          <a:xfrm>
            <a:off x="6903720" y="2194560"/>
            <a:ext cx="4739335" cy="3977640"/>
          </a:xfrm>
          <a:prstGeom prst="rect">
            <a:avLst/>
          </a:prstGeom>
          <a:noFill/>
          <a:ln/>
        </p:spPr>
        <p:txBody>
          <a:bodyPr wrap="square" lIns="635" tIns="635" rIns="635" bIns="635" rtlCol="0" anchor="t"/>
          <a:lstStyle/>
          <a:p>
            <a:pPr marL="228600" indent="-228600">
              <a:spcAft>
                <a:spcPts val="800"/>
              </a:spcAft>
              <a:buSzPct val="100000"/>
              <a:buChar char="•"/>
            </a:pPr>
            <a:r>
              <a:rPr lang="en-US" sz="1600" dirty="0">
                <a:solidFill>
                  <a:schemeClr val="tx1"/>
                </a:solidFill>
              </a:rPr>
              <a:t>“Optimize the journey or the destination?” is not a modeling question: the forms interconvert</a:t>
            </a:r>
            <a:endParaRPr lang="en-US" sz="1600" dirty="0"/>
          </a:p>
          <a:p>
            <a:pPr marL="228600" indent="-228600">
              <a:spcAft>
                <a:spcPts val="800"/>
              </a:spcAft>
              <a:buSzPct val="100000"/>
              <a:buChar char="•"/>
            </a:pPr>
            <a:r>
              <a:rPr lang="en-US" sz="1600" dirty="0">
                <a:solidFill>
                  <a:schemeClr val="tx1"/>
                </a:solidFill>
              </a:rPr>
              <a:t>What the board puts into the terminal term states what the horizon's edge is worth</a:t>
            </a:r>
            <a:endParaRPr lang="en-US" sz="1600" dirty="0"/>
          </a:p>
          <a:p>
            <a:pPr marL="228600" indent="-228600">
              <a:spcAft>
                <a:spcPts val="800"/>
              </a:spcAft>
              <a:buSzPct val="100000"/>
              <a:buChar char="•"/>
            </a:pPr>
            <a:r>
              <a:rPr lang="en-US" sz="1600" dirty="0">
                <a:solidFill>
                  <a:schemeClr val="tx1"/>
                </a:solidFill>
              </a:rPr>
              <a:t>Risk is content: a curve inside the expectation can change the answer; one outside cannot</a:t>
            </a:r>
            <a:endParaRPr lang="en-US" sz="1600" dirty="0"/>
          </a:p>
          <a:p>
            <a:pPr marL="228600" indent="-228600">
              <a:spcAft>
                <a:spcPts val="800"/>
              </a:spcAft>
              <a:buSzPct val="100000"/>
              <a:buChar char="•"/>
            </a:pPr>
            <a:r>
              <a:rPr lang="en-US" sz="1600" dirty="0">
                <a:solidFill>
                  <a:schemeClr val="tx1"/>
                </a:solidFill>
              </a:rPr>
              <a:t>Meridian: the credit for year-6 savings decides how many automation rounds run</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§2.3 · TABLE 2.3</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Which changes move the best decision</a:t>
            </a:r>
            <a:endParaRPr lang="en-US" sz="3200" dirty="0"/>
          </a:p>
        </p:txBody>
      </p:sp>
      <p:graphicFrame>
        <p:nvGraphicFramePr>
          <p:cNvPr id="10" name="Table"/>
          <p:cNvGraphicFramePr>
            <a:graphicFrameLocks noGrp="1"/>
          </p:cNvGraphicFramePr>
          <p:nvPr>
            <p:extLst>
              <p:ext uri="{D42A27DB-BD31-4B8C-83A1-F6EECF244321}">
                <p14:modId xmlns:p14="http://schemas.microsoft.com/office/powerpoint/2010/main" val="1579011935"/>
              </p:ext>
            </p:extLst>
          </p:nvPr>
        </p:nvGraphicFramePr>
        <p:xfrm>
          <a:off x="548640" y="1691640"/>
          <a:ext cx="11094415" cy="914400"/>
        </p:xfrm>
        <a:graphic>
          <a:graphicData uri="http://schemas.openxmlformats.org/drawingml/2006/table">
            <a:tbl>
              <a:tblPr/>
              <a:tblGrid>
                <a:gridCol w="4034333"/>
                <a:gridCol w="4034333"/>
                <a:gridCol w="3025750"/>
              </a:tblGrid>
              <a:tr h="402336">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Change</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Example</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Best decision</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r>
              <a:tr h="402336">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running form ↔ terminal form</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six-year payout as a sum or as a year-6 balance</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unchanged (Thm. 2.1(i)–(ii))</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402336">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rescale; change units; add a constant</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report in thousands; a flat tax</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unchanged (Thm. 2.1(iii))</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402336">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increasing transformation of the whole objective</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the logarithm of expected value</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unchanged (Thm. 2.1(iii))</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402336">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weights between readouts</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more weight on resilience</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can change (Thm. 1.4(iv))</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402336">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what the terminal term credits</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years of savings credited beyond the horizon</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can change (Worked Example 2.1)</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402336">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the horizon</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six years instead of ten</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can change (Vol. I, Thm. 15.4(iv))</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402336">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a curve inside the expectation</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a utility or a risk measure</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can change</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402336">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a commitment's quantifier</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average path instead of 95 percent</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can change (Table 2.4)</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bl>
          </a:graphicData>
        </a:graphic>
      </p:graphicFrame>
      <p:sp>
        <p:nvSpPr>
          <p:cNvPr id="6" name="Lead"/>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600" dirty="0">
                <a:solidFill>
                  <a:schemeClr val="accent2"/>
                </a:solidFill>
              </a:rPr>
              <a:t>Appendix 2.A: a sure 1, or an even chance of 0 or 2.2? Value picks the gamble (1.1); ln(1 + t) picks the sure 1</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§2.4 · PROPOSITION 2.3 · TABLE 2.4</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One commitment, four quantifiers, four prices</a:t>
            </a:r>
            <a:endParaRPr lang="en-US" sz="3200" dirty="0"/>
          </a:p>
        </p:txBody>
      </p:sp>
      <p:graphicFrame>
        <p:nvGraphicFramePr>
          <p:cNvPr id="11" name="Table"/>
          <p:cNvGraphicFramePr>
            <a:graphicFrameLocks noGrp="1"/>
          </p:cNvGraphicFramePr>
          <p:nvPr>
            <p:extLst>
              <p:ext uri="{D42A27DB-BD31-4B8C-83A1-F6EECF244321}">
                <p14:modId xmlns:p14="http://schemas.microsoft.com/office/powerpoint/2010/main" val="1579011935"/>
              </p:ext>
            </p:extLst>
          </p:nvPr>
        </p:nvGraphicFramePr>
        <p:xfrm>
          <a:off x="548640" y="1691640"/>
          <a:ext cx="11094415" cy="914400"/>
        </p:xfrm>
        <a:graphic>
          <a:graphicData uri="http://schemas.openxmlformats.org/drawingml/2006/table">
            <a:tbl>
              <a:tblPr/>
              <a:tblGrid>
                <a:gridCol w="2658992"/>
                <a:gridCol w="3575886"/>
                <a:gridCol w="2750681"/>
                <a:gridCol w="1054428"/>
                <a:gridCol w="1054428"/>
              </a:tblGrid>
              <a:tr h="566928">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Declared as</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What it requires</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Cheapest package</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r" indent="0" marL="0">
                        <a:buNone/>
                      </a:pPr>
                      <a:r>
                        <a:rPr lang="en-US" sz="1400" b="1" dirty="0">
                          <a:solidFill>
                            <a:srgbClr val="FFFFFF"/>
                          </a:solidFill>
                          <a:latin typeface="Calibri" pitchFamily="34" charset="0"/>
                          <a:ea typeface="Calibri" pitchFamily="34" charset="-122"/>
                          <a:cs typeface="Calibri" pitchFamily="34" charset="-120"/>
                        </a:rPr>
                        <a:t>Cost ($m)</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r" indent="0" marL="0">
                        <a:buNone/>
                      </a:pPr>
                      <a:r>
                        <a:rPr lang="en-US" sz="1400" b="1" dirty="0">
                          <a:solidFill>
                            <a:srgbClr val="FFFFFF"/>
                          </a:solidFill>
                          <a:latin typeface="Calibri" pitchFamily="34" charset="0"/>
                          <a:ea typeface="Calibri" pitchFamily="34" charset="-122"/>
                          <a:cs typeface="Calibri" pitchFamily="34" charset="-120"/>
                        </a:rPr>
                        <a:t>True odds</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r>
              <a:tr h="566928">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on the average path</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the mean path stays above the floor</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no lever</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400" dirty="0">
                          <a:solidFill>
                            <a:srgbClr val="0F1E3D"/>
                          </a:solidFill>
                          <a:latin typeface="Calibri" pitchFamily="34" charset="0"/>
                          <a:ea typeface="Calibri" pitchFamily="34" charset="-122"/>
                          <a:cs typeface="Calibri" pitchFamily="34" charset="-120"/>
                        </a:rPr>
                        <a:t>0</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400" dirty="0">
                          <a:solidFill>
                            <a:srgbClr val="0F1E3D"/>
                          </a:solidFill>
                          <a:latin typeface="Calibri" pitchFamily="34" charset="0"/>
                          <a:ea typeface="Calibri" pitchFamily="34" charset="-122"/>
                          <a:cs typeface="Calibri" pitchFamily="34" charset="-120"/>
                        </a:rPr>
                        <a:t>24.6%</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566928">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in every scenario of a stress set</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the program's draw and a closure buffer fit in the $270m above the floor</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a $55m standby line</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400" dirty="0">
                          <a:solidFill>
                            <a:srgbClr val="0F1E3D"/>
                          </a:solidFill>
                          <a:latin typeface="Calibri" pitchFamily="34" charset="0"/>
                          <a:ea typeface="Calibri" pitchFamily="34" charset="-122"/>
                          <a:cs typeface="Calibri" pitchFamily="34" charset="-120"/>
                        </a:rPr>
                        <a:t>1.65</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400" dirty="0">
                          <a:solidFill>
                            <a:srgbClr val="0F1E3D"/>
                          </a:solidFill>
                          <a:latin typeface="Calibri" pitchFamily="34" charset="0"/>
                          <a:ea typeface="Calibri" pitchFamily="34" charset="-122"/>
                          <a:cs typeface="Calibri" pitchFamily="34" charset="-120"/>
                        </a:rPr>
                        <a:t>17.4%</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566928">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with probability at least 95%</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breach odds of at most 5 percent</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a $170m line and two months' delay</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400" dirty="0">
                          <a:solidFill>
                            <a:srgbClr val="0F1E3D"/>
                          </a:solidFill>
                          <a:latin typeface="Calibri" pitchFamily="34" charset="0"/>
                          <a:ea typeface="Calibri" pitchFamily="34" charset="-122"/>
                          <a:cs typeface="Calibri" pitchFamily="34" charset="-120"/>
                        </a:rPr>
                        <a:t>10.44</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400" dirty="0">
                          <a:solidFill>
                            <a:srgbClr val="0F1E3D"/>
                          </a:solidFill>
                          <a:latin typeface="Calibri" pitchFamily="34" charset="0"/>
                          <a:ea typeface="Calibri" pitchFamily="34" charset="-122"/>
                          <a:cs typeface="Calibri" pitchFamily="34" charset="-120"/>
                        </a:rPr>
                        <a:t>5.0%</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566928">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on every path</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no path breaches</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none: the odds never fall below 0.001%</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400" dirty="0">
                          <a:solidFill>
                            <a:srgbClr val="0F1E3D"/>
                          </a:solidFill>
                          <a:latin typeface="Calibri" pitchFamily="34" charset="0"/>
                          <a:ea typeface="Calibri" pitchFamily="34" charset="-122"/>
                          <a:cs typeface="Calibri" pitchFamily="34" charset="-120"/>
                        </a:rPr>
                        <a:t>–</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400" dirty="0">
                          <a:solidFill>
                            <a:srgbClr val="0F1E3D"/>
                          </a:solidFill>
                          <a:latin typeface="Calibri" pitchFamily="34" charset="0"/>
                          <a:ea typeface="Calibri" pitchFamily="34" charset="-122"/>
                          <a:cs typeface="Calibri" pitchFamily="34" charset="-120"/>
                        </a:rPr>
                        <a:t>–</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bl>
          </a:graphicData>
        </a:graphic>
      </p:graphicFrame>
      <p:sp>
        <p:nvSpPr>
          <p:cNvPr id="6" name="Table note"/>
          <p:cNvSpPr txBox="1"/>
          <p:nvPr/>
        </p:nvSpPr>
        <p:spPr>
          <a:xfrm>
            <a:off x="548640" y="4800600"/>
            <a:ext cx="11094415" cy="320040"/>
          </a:xfrm>
          <a:prstGeom prst="rect">
            <a:avLst/>
          </a:prstGeom>
          <a:noFill/>
          <a:ln/>
        </p:spPr>
        <p:txBody>
          <a:bodyPr wrap="square" lIns="0" tIns="0" rIns="0" bIns="0" rtlCol="0" anchor="ctr"/>
          <a:lstStyle/>
          <a:p>
            <a:pPr indent="0" marL="0">
              <a:buNone/>
            </a:pPr>
            <a:r>
              <a:rPr lang="en-US" sz="1100" i="1" dirty="0">
                <a:solidFill>
                  <a:schemeClr val="tx2"/>
                </a:solidFill>
              </a:rPr>
              <a:t>Volume I's Chapter 8 model with 100,000 simulated paths and Worked Example 15.1's levers. True odds: the share of paths that breach the $350m floor in some quarter of the digital program.</a:t>
            </a:r>
            <a:endParaRPr lang="en-US" sz="1100" dirty="0"/>
          </a:p>
        </p:txBody>
      </p:sp>
      <p:sp>
        <p:nvSpPr>
          <p:cNvPr id="7" name="Lead"/>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600" dirty="0">
                <a:solidFill>
                  <a:schemeClr val="accent2"/>
                </a:solidFill>
              </a:rPr>
              <a:t>“Liquidity stays above $350m” costs nothing, $1.65m or $10.44m, or cannot be bought at all.</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§2.5 · THEOREM 2.2</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Where convexity comes from, and where it dies</a:t>
            </a:r>
            <a:endParaRPr lang="en-US" sz="3200" dirty="0"/>
          </a:p>
        </p:txBody>
      </p:sp>
      <p:sp>
        <p:nvSpPr>
          <p:cNvPr id="5" name="Result card"/>
          <p:cNvSpPr/>
          <p:nvPr/>
        </p:nvSpPr>
        <p:spPr>
          <a:xfrm>
            <a:off x="548640" y="1691640"/>
            <a:ext cx="5943600" cy="4480560"/>
          </a:xfrm>
          <a:prstGeom prst="roundRect">
            <a:avLst>
              <a:gd name="adj" fmla="val 1633"/>
            </a:avLst>
          </a:prstGeom>
          <a:solidFill>
            <a:schemeClr val="bg2"/>
          </a:solidFill>
          <a:ln w="9525">
            <a:solidFill>
              <a:srgbClr val="C4CBD8"/>
            </a:solidFill>
            <a:prstDash val="solid"/>
          </a:ln>
        </p:spPr>
      </p:sp>
      <p:sp>
        <p:nvSpPr>
          <p:cNvPr id="6" name="Text 3"/>
          <p:cNvSpPr txBox="1"/>
          <p:nvPr/>
        </p:nvSpPr>
        <p:spPr>
          <a:xfrm>
            <a:off x="822960" y="1892808"/>
            <a:ext cx="5394960" cy="292608"/>
          </a:xfrm>
          <a:prstGeom prst="rect">
            <a:avLst/>
          </a:prstGeom>
          <a:noFill/>
          <a:ln/>
        </p:spPr>
        <p:txBody>
          <a:bodyPr wrap="square" lIns="0" tIns="0" rIns="0" bIns="0" rtlCol="0" anchor="ctr"/>
          <a:lstStyle/>
          <a:p>
            <a:pPr indent="0" marL="0">
              <a:buNone/>
            </a:pPr>
            <a:r>
              <a:rPr lang="en-US" sz="1200" b="1" spc="200" kern="0" dirty="0">
                <a:solidFill>
                  <a:schemeClr val="accent1"/>
                </a:solidFill>
              </a:rPr>
              <a:t>THEOREM 2.2</a:t>
            </a:r>
            <a:endParaRPr lang="en-US" sz="1200" dirty="0"/>
          </a:p>
        </p:txBody>
      </p:sp>
      <p:sp>
        <p:nvSpPr>
          <p:cNvPr id="7" name="Text 4"/>
          <p:cNvSpPr txBox="1"/>
          <p:nvPr/>
        </p:nvSpPr>
        <p:spPr>
          <a:xfrm>
            <a:off x="822960" y="2194560"/>
            <a:ext cx="5394960" cy="457200"/>
          </a:xfrm>
          <a:prstGeom prst="rect">
            <a:avLst/>
          </a:prstGeom>
          <a:noFill/>
          <a:ln/>
        </p:spPr>
        <p:txBody>
          <a:bodyPr wrap="square" lIns="0" tIns="0" rIns="0" bIns="0" rtlCol="0" anchor="ctr"/>
          <a:lstStyle/>
          <a:p>
            <a:pPr indent="0" marL="0">
              <a:buNone/>
            </a:pPr>
            <a:r>
              <a:rPr lang="en-US" sz="2100" b="1" dirty="0">
                <a:solidFill>
                  <a:schemeClr val="tx1"/>
                </a:solidFill>
                <a:latin typeface="Cambria" pitchFamily="34" charset="0"/>
                <a:ea typeface="Cambria" pitchFamily="34" charset="-122"/>
                <a:cs typeface="Cambria" pitchFamily="34" charset="-120"/>
              </a:rPr>
              <a:t>Enterprise Feasible Region Theorem</a:t>
            </a:r>
            <a:endParaRPr lang="en-US" sz="2100" dirty="0"/>
          </a:p>
        </p:txBody>
      </p:sp>
      <p:sp>
        <p:nvSpPr>
          <p:cNvPr id="8" name="Bullets"/>
          <p:cNvSpPr txBox="1"/>
          <p:nvPr/>
        </p:nvSpPr>
        <p:spPr>
          <a:xfrm>
            <a:off x="822960" y="2743200"/>
            <a:ext cx="5394960" cy="3291840"/>
          </a:xfrm>
          <a:prstGeom prst="rect">
            <a:avLst/>
          </a:prstGeom>
          <a:noFill/>
          <a:ln/>
        </p:spPr>
        <p:txBody>
          <a:bodyPr wrap="square" lIns="635" tIns="635" rIns="635" bIns="635" rtlCol="0" anchor="t"/>
          <a:lstStyle/>
          <a:p>
            <a:pPr marL="228600" indent="-228600">
              <a:spcAft>
                <a:spcPts val="600"/>
              </a:spcAft>
              <a:buSzPct val="100000"/>
              <a:buChar char="•"/>
            </a:pPr>
            <a:r>
              <a:rPr lang="en-US" sz="1500" b="1" dirty="0">
                <a:solidFill>
                  <a:schemeClr val="tx1"/>
                </a:solidFill>
              </a:rPr>
              <a:t>(i) Closed.</a:t>
            </a:r>
            <a:r>
              <a:rPr lang="en-US" sz="1500" dirty="0">
                <a:solidFill>
                  <a:schemeClr val="tx1"/>
                </a:solidFill>
              </a:rPr>
              <a:t> Limits of feasible policies are feasible</a:t>
            </a:r>
            <a:endParaRPr lang="en-US" sz="1500" dirty="0"/>
          </a:p>
          <a:p>
            <a:pPr marL="228600" indent="-228600">
              <a:spcAft>
                <a:spcPts val="600"/>
              </a:spcAft>
              <a:buSzPct val="100000"/>
              <a:buChar char="•"/>
            </a:pPr>
            <a:r>
              <a:rPr lang="en-US" sz="1500" b="1" dirty="0">
                <a:solidFill>
                  <a:schemeClr val="tx1"/>
                </a:solidFill>
              </a:rPr>
              <a:t>(ii) The convexity ledger.</a:t>
            </a:r>
            <a:r>
              <a:rPr lang="en-US" sz="1500" dirty="0">
                <a:solidFill>
                  <a:schemeClr val="tx1"/>
                </a:solidFill>
              </a:rPr>
              <a:t> Linear dynamics, convex inequalities, linear equalities, convex decision and end sets, nothing lumpy: a convex set of plans</a:t>
            </a:r>
            <a:endParaRPr lang="en-US" sz="1500" dirty="0"/>
          </a:p>
          <a:p>
            <a:pPr marL="228600" indent="-228600">
              <a:spcAft>
                <a:spcPts val="600"/>
              </a:spcAft>
              <a:buSzPct val="100000"/>
              <a:buChar char="•"/>
            </a:pPr>
            <a:r>
              <a:rPr lang="en-US" sz="1500" b="1" dirty="0">
                <a:solidFill>
                  <a:schemeClr val="tx1"/>
                </a:solidFill>
              </a:rPr>
              <a:t>(iii) Where convexity dies.</a:t>
            </a:r>
            <a:r>
              <a:rPr lang="en-US" sz="1500" dirty="0">
                <a:solidFill>
                  <a:schemeClr val="tx1"/>
                </a:solidFill>
              </a:rPr>
              <a:t> A lumpy decision, dynamics nonlinear in the decisions, a nonconvex commitment, a feedback rule</a:t>
            </a:r>
            <a:endParaRPr lang="en-US" sz="1500" dirty="0"/>
          </a:p>
          <a:p>
            <a:pPr marL="228600" indent="-228600">
              <a:spcAft>
                <a:spcPts val="600"/>
              </a:spcAft>
              <a:buSzPct val="100000"/>
              <a:buChar char="•"/>
            </a:pPr>
            <a:r>
              <a:rPr lang="en-US" sz="1500" b="1" dirty="0">
                <a:solidFill>
                  <a:schemeClr val="tx1"/>
                </a:solidFill>
              </a:rPr>
              <a:t>(iv) Existence.</a:t>
            </a:r>
            <a:r>
              <a:rPr lang="en-US" sz="1500" dirty="0">
                <a:solidFill>
                  <a:schemeClr val="tx1"/>
                </a:solidFill>
              </a:rPr>
              <a:t> Some policy feasible and the objective continuous in the parameters: a best policy exists</a:t>
            </a:r>
            <a:endParaRPr lang="en-US" sz="1500" dirty="0"/>
          </a:p>
        </p:txBody>
      </p:sp>
      <p:sp>
        <p:nvSpPr>
          <p:cNvPr id="9" name="Text 6"/>
          <p:cNvSpPr txBox="1"/>
          <p:nvPr/>
        </p:nvSpPr>
        <p:spPr>
          <a:xfrm>
            <a:off x="6903720" y="1737360"/>
            <a:ext cx="4739335" cy="365760"/>
          </a:xfrm>
          <a:prstGeom prst="rect">
            <a:avLst/>
          </a:prstGeom>
          <a:noFill/>
          <a:ln/>
        </p:spPr>
        <p:txBody>
          <a:bodyPr wrap="square" lIns="0" tIns="0" rIns="0" bIns="0" rtlCol="0" anchor="ctr"/>
          <a:lstStyle/>
          <a:p>
            <a:pPr indent="0" marL="0">
              <a:buNone/>
            </a:pPr>
            <a:r>
              <a:rPr lang="en-US" sz="1600" b="1" dirty="0">
                <a:solidFill>
                  <a:schemeClr val="accent2"/>
                </a:solidFill>
              </a:rPr>
              <a:t>The ledger, block by block</a:t>
            </a:r>
            <a:endParaRPr lang="en-US" sz="1600" dirty="0"/>
          </a:p>
        </p:txBody>
      </p:sp>
      <p:sp>
        <p:nvSpPr>
          <p:cNvPr id="10" name="Bullets"/>
          <p:cNvSpPr txBox="1"/>
          <p:nvPr/>
        </p:nvSpPr>
        <p:spPr>
          <a:xfrm>
            <a:off x="6903720" y="2194560"/>
            <a:ext cx="4739335" cy="3977640"/>
          </a:xfrm>
          <a:prstGeom prst="rect">
            <a:avLst/>
          </a:prstGeom>
          <a:noFill/>
          <a:ln/>
        </p:spPr>
        <p:txBody>
          <a:bodyPr wrap="square" lIns="635" tIns="635" rIns="635" bIns="635" rtlCol="0" anchor="t"/>
          <a:lstStyle/>
          <a:p>
            <a:pPr marL="228600" indent="-228600">
              <a:spcAft>
                <a:spcPts val="800"/>
              </a:spcAft>
              <a:buSzPct val="100000"/>
              <a:buChar char="•"/>
            </a:pPr>
            <a:r>
              <a:rPr lang="en-US" sz="1600" dirty="0">
                <a:solidFill>
                  <a:schemeClr val="tx1"/>
                </a:solidFill>
              </a:rPr>
              <a:t>Feasible regions are born as intersections, and every piece is a named declaration</a:t>
            </a:r>
            <a:endParaRPr lang="en-US" sz="1600" dirty="0"/>
          </a:p>
          <a:p>
            <a:pPr marL="228600" indent="-228600">
              <a:spcAft>
                <a:spcPts val="800"/>
              </a:spcAft>
              <a:buSzPct val="100000"/>
              <a:buChar char="•"/>
            </a:pPr>
            <a:r>
              <a:rPr lang="en-US" sz="1600" dirty="0">
                <a:solidFill>
                  <a:schemeClr val="tx1"/>
                </a:solidFill>
              </a:rPr>
              <a:t>“Reinvest a share of what we hold” under a ceiling: (1, 0) and (0, 1) keep x₂ ≤ 2; their midpoint gives 2.25</a:t>
            </a:r>
            <a:endParaRPr lang="en-US" sz="1600" dirty="0"/>
          </a:p>
          <a:p>
            <a:pPr marL="228600" indent="-228600">
              <a:spcAft>
                <a:spcPts val="800"/>
              </a:spcAft>
              <a:buSzPct val="100000"/>
              <a:buChar char="•"/>
            </a:pPr>
            <a:r>
              <a:rPr lang="en-US" sz="1600" dirty="0">
                <a:solidFill>
                  <a:schemeClr val="tx1"/>
                </a:solidFill>
              </a:rPr>
              <a:t>Written as amounts, the same commitment is convex</a:t>
            </a:r>
            <a:endParaRPr lang="en-US" sz="1600" dirty="0"/>
          </a:p>
          <a:p>
            <a:pPr marL="228600" indent="-228600">
              <a:spcAft>
                <a:spcPts val="800"/>
              </a:spcAft>
              <a:buSzPct val="100000"/>
              <a:buChar char="•"/>
            </a:pPr>
            <a:r>
              <a:rPr lang="en-US" sz="1600" dirty="0">
                <a:solidFill>
                  <a:schemeClr val="tx1"/>
                </a:solidFill>
              </a:rPr>
              <a:t>Meridian: the lumpy rounds break convexity; with the rounds fixed, every commitment is linear</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§2.5 · THEOREM 2.3</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Name the clash and the year the plan dies</a:t>
            </a:r>
            <a:endParaRPr lang="en-US" sz="3200" dirty="0"/>
          </a:p>
        </p:txBody>
      </p:sp>
      <p:sp>
        <p:nvSpPr>
          <p:cNvPr id="5" name="Result card"/>
          <p:cNvSpPr/>
          <p:nvPr/>
        </p:nvSpPr>
        <p:spPr>
          <a:xfrm>
            <a:off x="548640" y="1691640"/>
            <a:ext cx="5943600" cy="4480560"/>
          </a:xfrm>
          <a:prstGeom prst="roundRect">
            <a:avLst>
              <a:gd name="adj" fmla="val 1633"/>
            </a:avLst>
          </a:prstGeom>
          <a:solidFill>
            <a:schemeClr val="bg2"/>
          </a:solidFill>
          <a:ln w="9525">
            <a:solidFill>
              <a:srgbClr val="C4CBD8"/>
            </a:solidFill>
            <a:prstDash val="solid"/>
          </a:ln>
        </p:spPr>
      </p:sp>
      <p:sp>
        <p:nvSpPr>
          <p:cNvPr id="6" name="Text 3"/>
          <p:cNvSpPr txBox="1"/>
          <p:nvPr/>
        </p:nvSpPr>
        <p:spPr>
          <a:xfrm>
            <a:off x="822960" y="1892808"/>
            <a:ext cx="5394960" cy="292608"/>
          </a:xfrm>
          <a:prstGeom prst="rect">
            <a:avLst/>
          </a:prstGeom>
          <a:noFill/>
          <a:ln/>
        </p:spPr>
        <p:txBody>
          <a:bodyPr wrap="square" lIns="0" tIns="0" rIns="0" bIns="0" rtlCol="0" anchor="ctr"/>
          <a:lstStyle/>
          <a:p>
            <a:pPr indent="0" marL="0">
              <a:buNone/>
            </a:pPr>
            <a:r>
              <a:rPr lang="en-US" sz="1200" b="1" spc="200" kern="0" dirty="0">
                <a:solidFill>
                  <a:schemeClr val="accent1"/>
                </a:solidFill>
              </a:rPr>
              <a:t>THEOREM 2.3</a:t>
            </a:r>
            <a:endParaRPr lang="en-US" sz="1200" dirty="0"/>
          </a:p>
        </p:txBody>
      </p:sp>
      <p:sp>
        <p:nvSpPr>
          <p:cNvPr id="7" name="Text 4"/>
          <p:cNvSpPr txBox="1"/>
          <p:nvPr/>
        </p:nvSpPr>
        <p:spPr>
          <a:xfrm>
            <a:off x="822960" y="2194560"/>
            <a:ext cx="5394960" cy="457200"/>
          </a:xfrm>
          <a:prstGeom prst="rect">
            <a:avLst/>
          </a:prstGeom>
          <a:noFill/>
          <a:ln/>
        </p:spPr>
        <p:txBody>
          <a:bodyPr wrap="square" lIns="0" tIns="0" rIns="0" bIns="0" rtlCol="0" anchor="ctr"/>
          <a:lstStyle/>
          <a:p>
            <a:pPr indent="0" marL="0">
              <a:buNone/>
            </a:pPr>
            <a:r>
              <a:rPr lang="en-US" sz="2100" b="1" dirty="0">
                <a:solidFill>
                  <a:schemeClr val="tx1"/>
                </a:solidFill>
                <a:latin typeface="Cambria" pitchFamily="34" charset="0"/>
                <a:ea typeface="Cambria" pitchFamily="34" charset="-122"/>
                <a:cs typeface="Cambria" pitchFamily="34" charset="-120"/>
              </a:rPr>
              <a:t>Infeasibility Diagnosis Theorem</a:t>
            </a:r>
            <a:endParaRPr lang="en-US" sz="2100" dirty="0"/>
          </a:p>
        </p:txBody>
      </p:sp>
      <p:pic>
        <p:nvPicPr>
          <p:cNvPr id="8" name="Equation" descr="Equation: R_{k+1} = \bigl\{ f(\mathbf{x}, \mathbf{u}, k) : \mathbf{x} \in R_k,\; \mathbf{u} \in U_k(\mathbf{x}),\; (\mathbf{x}, \mathbf{u}) \in C_k \bigr\} \cap S_{k+1}">    </p:cNvPr>
          <p:cNvPicPr>
            <a:picLocks noChangeAspect="1"/>
          </p:cNvPicPr>
          <p:nvPr/>
        </p:nvPicPr>
        <p:blipFill>
          <a:blip r:embed="rId1"/>
          <a:stretch>
            <a:fillRect/>
          </a:stretch>
        </p:blipFill>
        <p:spPr>
          <a:xfrm>
            <a:off x="822960" y="2755302"/>
            <a:ext cx="5394960" cy="359844"/>
          </a:xfrm>
          <a:prstGeom prst="rect">
            <a:avLst/>
          </a:prstGeom>
        </p:spPr>
      </p:pic>
      <p:sp>
        <p:nvSpPr>
          <p:cNvPr id="9" name="Bullets"/>
          <p:cNvSpPr txBox="1"/>
          <p:nvPr/>
        </p:nvSpPr>
        <p:spPr>
          <a:xfrm>
            <a:off x="822960" y="3279738"/>
            <a:ext cx="5394960" cy="2755302"/>
          </a:xfrm>
          <a:prstGeom prst="rect">
            <a:avLst/>
          </a:prstGeom>
          <a:noFill/>
          <a:ln/>
        </p:spPr>
        <p:txBody>
          <a:bodyPr wrap="square" lIns="635" tIns="635" rIns="635" bIns="635" rtlCol="0" anchor="t"/>
          <a:lstStyle/>
          <a:p>
            <a:pPr marL="228600" indent="-228600">
              <a:spcAft>
                <a:spcPts val="600"/>
              </a:spcAft>
              <a:buSzPct val="100000"/>
              <a:buChar char="•"/>
            </a:pPr>
            <a:r>
              <a:rPr lang="en-US" sz="1500" b="1" dirty="0">
                <a:solidFill>
                  <a:schemeClr val="tx1"/>
                </a:solidFill>
              </a:rPr>
              <a:t>(i) A minimal clash in one pass.</a:t>
            </a:r>
            <a:r>
              <a:rPr lang="en-US" sz="1500" dirty="0">
                <a:solidFill>
                  <a:schemeClr val="tx1"/>
                </a:solidFill>
              </a:rPr>
              <a:t> Drop each commitment whose removal leaves the rest infeasible: one check per commitment</a:t>
            </a:r>
            <a:endParaRPr lang="en-US" sz="1500" dirty="0"/>
          </a:p>
          <a:p>
            <a:pPr marL="228600" indent="-228600">
              <a:spcAft>
                <a:spcPts val="600"/>
              </a:spcAft>
              <a:buSzPct val="100000"/>
              <a:buChar char="•"/>
            </a:pPr>
            <a:r>
              <a:rPr lang="en-US" sz="1500" b="1" dirty="0">
                <a:solidFill>
                  <a:schemeClr val="tx1"/>
                </a:solidFill>
              </a:rPr>
              <a:t>(ii) Repairs must break every clash.</a:t>
            </a:r>
            <a:r>
              <a:rPr lang="en-US" sz="1500" dirty="0">
                <a:solidFill>
                  <a:schemeClr val="tx1"/>
                </a:solidFill>
              </a:rPr>
              <a:t> Dropping a group restores feasibility exactly when it meets every minimal clash</a:t>
            </a:r>
            <a:endParaRPr lang="en-US" sz="1500" dirty="0"/>
          </a:p>
          <a:p>
            <a:pPr marL="228600" indent="-228600">
              <a:spcAft>
                <a:spcPts val="600"/>
              </a:spcAft>
              <a:buSzPct val="100000"/>
              <a:buChar char="•"/>
            </a:pPr>
            <a:r>
              <a:rPr lang="en-US" sz="1500" b="1" dirty="0">
                <a:solidFill>
                  <a:schemeClr val="tx1"/>
                </a:solidFill>
              </a:rPr>
              <a:t>(iii) Plans die on a date.</a:t>
            </a:r>
            <a:r>
              <a:rPr lang="en-US" sz="1500" dirty="0">
                <a:solidFill>
                  <a:schemeClr val="tx1"/>
                </a:solidFill>
              </a:rPr>
              <a:t> Carry forward the states some plan reaches keeping every commitment; the first empty set is the date</a:t>
            </a:r>
            <a:endParaRPr lang="en-US" sz="1500" dirty="0"/>
          </a:p>
        </p:txBody>
      </p:sp>
      <p:sp>
        <p:nvSpPr>
          <p:cNvPr id="10" name="Text 6"/>
          <p:cNvSpPr txBox="1"/>
          <p:nvPr/>
        </p:nvSpPr>
        <p:spPr>
          <a:xfrm>
            <a:off x="6903720" y="1737360"/>
            <a:ext cx="4739335" cy="365760"/>
          </a:xfrm>
          <a:prstGeom prst="rect">
            <a:avLst/>
          </a:prstGeom>
          <a:noFill/>
          <a:ln/>
        </p:spPr>
        <p:txBody>
          <a:bodyPr wrap="square" lIns="0" tIns="0" rIns="0" bIns="0" rtlCol="0" anchor="ctr"/>
          <a:lstStyle/>
          <a:p>
            <a:pPr indent="0" marL="0">
              <a:buNone/>
            </a:pPr>
            <a:r>
              <a:rPr lang="en-US" sz="1600" b="1" dirty="0">
                <a:solidFill>
                  <a:schemeClr val="accent2"/>
                </a:solidFill>
              </a:rPr>
              <a:t>Meridian's joint plan</a:t>
            </a:r>
            <a:endParaRPr lang="en-US" sz="1600" dirty="0"/>
          </a:p>
        </p:txBody>
      </p:sp>
      <p:sp>
        <p:nvSpPr>
          <p:cNvPr id="11" name="Bullets"/>
          <p:cNvSpPr txBox="1"/>
          <p:nvPr/>
        </p:nvSpPr>
        <p:spPr>
          <a:xfrm>
            <a:off x="6903720" y="2194560"/>
            <a:ext cx="4739335" cy="3977640"/>
          </a:xfrm>
          <a:prstGeom prst="rect">
            <a:avLst/>
          </a:prstGeom>
          <a:noFill/>
          <a:ln/>
        </p:spPr>
        <p:txBody>
          <a:bodyPr wrap="square" lIns="635" tIns="635" rIns="635" bIns="635" rtlCol="0" anchor="t"/>
          <a:lstStyle/>
          <a:p>
            <a:pPr marL="228600" indent="-228600">
              <a:spcAft>
                <a:spcPts val="800"/>
              </a:spcAft>
              <a:buSzPct val="100000"/>
              <a:buChar char="•"/>
            </a:pPr>
            <a:r>
              <a:rPr lang="en-US" sz="1600" dirty="0">
                <a:solidFill>
                  <a:schemeClr val="tx1"/>
                </a:solidFill>
              </a:rPr>
              <a:t>It dies in </a:t>
            </a:r>
            <a:r>
              <a:rPr lang="en-US" sz="1600" b="1" dirty="0">
                <a:solidFill>
                  <a:schemeClr val="tx1"/>
                </a:solidFill>
              </a:rPr>
              <a:t>year 3</a:t>
            </a:r>
            <a:r>
              <a:rPr lang="en-US" sz="1600" dirty="0">
                <a:solidFill>
                  <a:schemeClr val="tx1"/>
                </a:solidFill>
              </a:rPr>
              <a:t>: round 3 would leave $347.5m, below the $350m floor</a:t>
            </a:r>
            <a:endParaRPr lang="en-US" sz="1600" dirty="0"/>
          </a:p>
          <a:p>
            <a:pPr marL="228600" indent="-228600">
              <a:spcAft>
                <a:spcPts val="800"/>
              </a:spcAft>
              <a:buSzPct val="100000"/>
              <a:buChar char="•"/>
            </a:pPr>
            <a:r>
              <a:rPr lang="en-US" sz="1600" dirty="0">
                <a:solidFill>
                  <a:schemeClr val="tx1"/>
                </a:solidFill>
              </a:rPr>
              <a:t>Board's conditions first, the filter names {floor, six rounds, half payout}</a:t>
            </a:r>
            <a:endParaRPr lang="en-US" sz="1600" dirty="0"/>
          </a:p>
          <a:p>
            <a:pPr marL="228600" indent="-228600">
              <a:spcAft>
                <a:spcPts val="800"/>
              </a:spcAft>
              <a:buSzPct val="100000"/>
              <a:buChar char="•"/>
            </a:pPr>
            <a:r>
              <a:rPr lang="en-US" sz="1600" dirty="0">
                <a:solidFill>
                  <a:schemeClr val="tx1"/>
                </a:solidFill>
              </a:rPr>
              <a:t>Pledges first, it names {six rounds, half payout, end condition}</a:t>
            </a:r>
            <a:endParaRPr lang="en-US" sz="1600" dirty="0"/>
          </a:p>
          <a:p>
            <a:pPr marL="228600" indent="-228600">
              <a:spcAft>
                <a:spcPts val="800"/>
              </a:spcAft>
              <a:buSzPct val="100000"/>
              <a:buChar char="•"/>
            </a:pPr>
            <a:r>
              <a:rPr lang="en-US" sz="1600" dirty="0">
                <a:solidFill>
                  <a:schemeClr val="tx1"/>
                </a:solidFill>
              </a:rPr>
              <a:t>Dropping the floor alone repairs nothing: give up a pledge, or both board conditions</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§2.6 · TABLE 2.5 · PROPOSITION 2.5</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Classes route an instance to its methods</a:t>
            </a:r>
            <a:endParaRPr lang="en-US" sz="3200" dirty="0"/>
          </a:p>
        </p:txBody>
      </p:sp>
      <p:graphicFrame>
        <p:nvGraphicFramePr>
          <p:cNvPr id="14" name="Table"/>
          <p:cNvGraphicFramePr>
            <a:graphicFrameLocks noGrp="1"/>
          </p:cNvGraphicFramePr>
          <p:nvPr>
            <p:extLst>
              <p:ext uri="{D42A27DB-BD31-4B8C-83A1-F6EECF244321}">
                <p14:modId xmlns:p14="http://schemas.microsoft.com/office/powerpoint/2010/main" val="1579011935"/>
              </p:ext>
            </p:extLst>
          </p:nvPr>
        </p:nvGraphicFramePr>
        <p:xfrm>
          <a:off x="548640" y="1691640"/>
          <a:ext cx="11094415" cy="914400"/>
        </p:xfrm>
        <a:graphic>
          <a:graphicData uri="http://schemas.openxmlformats.org/drawingml/2006/table">
            <a:tbl>
              <a:tblPr/>
              <a:tblGrid>
                <a:gridCol w="4126022"/>
                <a:gridCol w="5684742"/>
                <a:gridCol w="1283651"/>
              </a:tblGrid>
              <a:tr h="384048">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Class</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What the instance has</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Chapters</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r>
              <a:tr h="384048">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linear and quadratic programs</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one period; linear or quadratic blocks; continuous decisions</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3</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384048">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convex programs</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convex blocks (Theorem 2.2(ii))</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3</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384048">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nonlinear programs</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smooth nonconvex blocks</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4</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384048">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mixed-integer programs</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lumpy decisions</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4</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384048">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dynamic optimization, optimal control</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dynamics and path commitments</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5–8</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384048">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stochastic programs, Markov decision processes</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a declared law; expectations and chance commitments</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7, 9</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384048">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robust and distributionally robust programs</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a declared set of environments or of laws</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10–11</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384048">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multi-objective programs</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several objectives; a frontier as the deliverable</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12</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384048">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learned-policy programs</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rich classes of rules under admission contracts</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13–15</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bl>
          </a:graphicData>
        </a:graphic>
      </p:graphicFrame>
      <p:sp>
        <p:nvSpPr>
          <p:cNvPr id="6" name="Lead"/>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600" b="1" dirty="0">
                <a:solidFill>
                  <a:schemeClr val="accent2"/>
                </a:solidFill>
              </a:rPr>
              <a:t>Proposition 2.5.</a:t>
            </a:r>
            <a:r>
              <a:rPr lang="en-US" sz="1600" dirty="0">
                <a:solidFill>
                  <a:schemeClr val="accent2"/>
                </a:solidFill>
              </a:rPr>
              <a:t> Classical problems are instances with blocks frozen: ask which blocks a solver drops.</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§2.6 · DEFINITION 2.7 · THEOREM 2.4</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A certified instance carries a warranty</a:t>
            </a:r>
            <a:endParaRPr lang="en-US" sz="3200" dirty="0"/>
          </a:p>
        </p:txBody>
      </p:sp>
      <p:sp>
        <p:nvSpPr>
          <p:cNvPr id="5" name="Bullets"/>
          <p:cNvSpPr txBox="1"/>
          <p:nvPr/>
        </p:nvSpPr>
        <p:spPr>
          <a:xfrm>
            <a:off x="548640" y="1691640"/>
            <a:ext cx="4476774" cy="4480560"/>
          </a:xfrm>
          <a:prstGeom prst="rect">
            <a:avLst/>
          </a:prstGeom>
          <a:noFill/>
          <a:ln/>
        </p:spPr>
        <p:txBody>
          <a:bodyPr wrap="square" lIns="635" tIns="635" rIns="635" bIns="635" rtlCol="0" anchor="t"/>
          <a:lstStyle/>
          <a:p>
            <a:pPr marL="228600" indent="-228600">
              <a:spcAft>
                <a:spcPts val="800"/>
              </a:spcAft>
              <a:buSzPct val="100000"/>
              <a:buChar char="•"/>
            </a:pPr>
            <a:r>
              <a:rPr lang="en-US" sz="1500" b="1" dirty="0">
                <a:solidFill>
                  <a:schemeClr val="tx1"/>
                </a:solidFill>
              </a:rPr>
              <a:t>Definition 2.7.</a:t>
            </a:r>
            <a:r>
              <a:rPr lang="en-US" sz="1500" dirty="0">
                <a:solidFill>
                  <a:schemeClr val="tx1"/>
                </a:solidFill>
              </a:rPr>
              <a:t> Five layers, each with owners, exchange only declared artifacts</a:t>
            </a:r>
            <a:endParaRPr lang="en-US" sz="1500" dirty="0"/>
          </a:p>
          <a:p>
            <a:pPr marL="228600" indent="-228600">
              <a:spcAft>
                <a:spcPts val="800"/>
              </a:spcAft>
              <a:buSzPct val="100000"/>
              <a:buChar char="•"/>
            </a:pPr>
            <a:r>
              <a:rPr lang="en-US" sz="1500" b="1" dirty="0">
                <a:solidFill>
                  <a:schemeClr val="tx1"/>
                </a:solidFill>
              </a:rPr>
              <a:t>Theorem 2.4.</a:t>
            </a:r>
            <a:r>
              <a:rPr lang="en-US" sz="1500" dirty="0">
                <a:solidFill>
                  <a:schemeClr val="tx1"/>
                </a:solidFill>
              </a:rPr>
              <a:t> Whatever the method, a certified instance has a best policy with checkable conditions</a:t>
            </a:r>
            <a:endParaRPr lang="en-US" sz="1500" dirty="0"/>
          </a:p>
          <a:p>
            <a:pPr marL="228600" indent="-228600">
              <a:spcAft>
                <a:spcPts val="800"/>
              </a:spcAft>
              <a:buSzPct val="100000"/>
              <a:buChar char="•"/>
            </a:pPr>
            <a:r>
              <a:rPr lang="en-US" sz="1500" dirty="0">
                <a:solidFill>
                  <a:schemeClr val="tx1"/>
                </a:solidFill>
              </a:rPr>
              <a:t>Under convexity each binding commitment has a </a:t>
            </a:r>
            <a:r>
              <a:rPr lang="en-US" sz="1500" b="1" dirty="0">
                <a:solidFill>
                  <a:schemeClr val="tx1"/>
                </a:solidFill>
              </a:rPr>
              <a:t>price</a:t>
            </a:r>
            <a:r>
              <a:rPr lang="en-US" sz="1500" dirty="0">
                <a:solidFill>
                  <a:schemeClr val="tx1"/>
                </a:solidFill>
              </a:rPr>
              <a:t> that bounds what relaxing it can gain</a:t>
            </a:r>
            <a:endParaRPr lang="en-US" sz="1500" dirty="0"/>
          </a:p>
          <a:p>
            <a:pPr marL="228600" indent="-228600">
              <a:spcAft>
                <a:spcPts val="800"/>
              </a:spcAft>
              <a:buSzPct val="100000"/>
              <a:buChar char="•"/>
            </a:pPr>
            <a:r>
              <a:rPr lang="en-US" sz="1500" dirty="0">
                <a:solidFill>
                  <a:schemeClr val="tx1"/>
                </a:solidFill>
              </a:rPr>
              <a:t>Values move continuously with the data; decisions can move sharply near the stability edge</a:t>
            </a:r>
            <a:endParaRPr lang="en-US" sz="1500" dirty="0"/>
          </a:p>
          <a:p>
            <a:pPr marL="228600" indent="-228600">
              <a:spcAft>
                <a:spcPts val="800"/>
              </a:spcAft>
              <a:buSzPct val="100000"/>
              <a:buChar char="•"/>
            </a:pPr>
            <a:r>
              <a:rPr lang="en-US" sz="1500" dirty="0">
                <a:solidFill>
                  <a:schemeClr val="tx1"/>
                </a:solidFill>
              </a:rPr>
              <a:t>Meridian's appetite: </a:t>
            </a:r>
            <a:r>
              <a:rPr lang="en-US" sz="1500" b="1" dirty="0">
                <a:solidFill>
                  <a:schemeClr val="tx1"/>
                </a:solidFill>
              </a:rPr>
              <a:t>$1.8m</a:t>
            </a:r>
            <a:r>
              <a:rPr lang="en-US" sz="1500" dirty="0">
                <a:solidFill>
                  <a:schemeClr val="tx1"/>
                </a:solidFill>
              </a:rPr>
              <a:t> per percentage point of breach odds, a breach implicitly at about </a:t>
            </a:r>
            <a:r>
              <a:rPr lang="en-US" sz="1500" b="1" dirty="0">
                <a:solidFill>
                  <a:schemeClr val="tx1"/>
                </a:solidFill>
              </a:rPr>
              <a:t>$180m</a:t>
            </a:r>
            <a:endParaRPr lang="en-US" sz="1500" dirty="0"/>
          </a:p>
        </p:txBody>
      </p:sp>
      <p:pic>
        <p:nvPicPr>
          <p:cNvPr id="6" name="Figure" descr="Figure 2.2: the enterprise optimization architecture">    </p:cNvPr>
          <p:cNvPicPr>
            <a:picLocks noChangeAspect="1"/>
          </p:cNvPicPr>
          <p:nvPr/>
        </p:nvPicPr>
        <p:blipFill>
          <a:blip r:embed="rId1"/>
          <a:stretch>
            <a:fillRect/>
          </a:stretch>
        </p:blipFill>
        <p:spPr>
          <a:xfrm>
            <a:off x="5391174" y="1724592"/>
            <a:ext cx="6251881" cy="3847729"/>
          </a:xfrm>
          <a:prstGeom prst="rect">
            <a:avLst/>
          </a:prstGeom>
        </p:spPr>
      </p:pic>
      <p:sp>
        <p:nvSpPr>
          <p:cNvPr id="7" name="Caption"/>
          <p:cNvSpPr txBox="1"/>
          <p:nvPr/>
        </p:nvSpPr>
        <p:spPr>
          <a:xfrm>
            <a:off x="5391174" y="5645472"/>
            <a:ext cx="6251881" cy="502920"/>
          </a:xfrm>
          <a:prstGeom prst="rect">
            <a:avLst/>
          </a:prstGeom>
          <a:noFill/>
          <a:ln/>
        </p:spPr>
        <p:txBody>
          <a:bodyPr wrap="square" lIns="0" tIns="0" rIns="0" bIns="0" rtlCol="0" anchor="t"/>
          <a:lstStyle/>
          <a:p>
            <a:pPr indent="0" marL="0">
              <a:buNone/>
            </a:pPr>
            <a:r>
              <a:rPr lang="en-US" sz="1100" i="1" dirty="0">
                <a:solidFill>
                  <a:schemeClr val="tx2"/>
                </a:solidFill>
              </a:rPr>
              <a:t>Figure 2.2. Five layers pass declared artifacts down the stack; drift or a tripped wire in the implementation layer re-opens the declaration.</a:t>
            </a:r>
            <a:endParaRPr lang="en-US" sz="11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§2.7 · PREPARING AN INSTANCE</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Prepare the instance before the solver runs</a:t>
            </a:r>
            <a:endParaRPr lang="en-US" sz="3200" dirty="0"/>
          </a:p>
        </p:txBody>
      </p:sp>
      <p:sp>
        <p:nvSpPr>
          <p:cNvPr id="5" name="Card"/>
          <p:cNvSpPr/>
          <p:nvPr/>
        </p:nvSpPr>
        <p:spPr>
          <a:xfrm>
            <a:off x="548640" y="1691640"/>
            <a:ext cx="2567864" cy="3200400"/>
          </a:xfrm>
          <a:prstGeom prst="roundRect">
            <a:avLst>
              <a:gd name="adj" fmla="val 2849"/>
            </a:avLst>
          </a:prstGeom>
          <a:solidFill>
            <a:schemeClr val="bg2"/>
          </a:solidFill>
          <a:ln w="9525">
            <a:solidFill>
              <a:srgbClr val="C4CBD8"/>
            </a:solidFill>
            <a:prstDash val="solid"/>
          </a:ln>
        </p:spPr>
      </p:sp>
      <p:sp>
        <p:nvSpPr>
          <p:cNvPr id="6" name="Card label"/>
          <p:cNvSpPr txBox="1"/>
          <p:nvPr/>
        </p:nvSpPr>
        <p:spPr>
          <a:xfrm>
            <a:off x="731520" y="1819656"/>
            <a:ext cx="2202104" cy="310896"/>
          </a:xfrm>
          <a:prstGeom prst="rect">
            <a:avLst/>
          </a:prstGeom>
          <a:noFill/>
          <a:ln/>
        </p:spPr>
        <p:txBody>
          <a:bodyPr wrap="square" lIns="0" tIns="0" rIns="0" bIns="0" rtlCol="0" anchor="ctr"/>
          <a:lstStyle/>
          <a:p>
            <a:pPr indent="0" marL="0">
              <a:buNone/>
            </a:pPr>
            <a:r>
              <a:rPr lang="en-US" sz="1300" b="1" dirty="0">
                <a:solidFill>
                  <a:schemeClr val="accent1"/>
                </a:solidFill>
              </a:rPr>
              <a:t>Standard form</a:t>
            </a:r>
            <a:endParaRPr lang="en-US" sz="1300" dirty="0"/>
          </a:p>
        </p:txBody>
      </p:sp>
      <p:sp>
        <p:nvSpPr>
          <p:cNvPr id="7" name="Card head"/>
          <p:cNvSpPr txBox="1"/>
          <p:nvPr/>
        </p:nvSpPr>
        <p:spPr>
          <a:xfrm>
            <a:off x="731520" y="2148840"/>
            <a:ext cx="2202104" cy="987552"/>
          </a:xfrm>
          <a:prstGeom prst="rect">
            <a:avLst/>
          </a:prstGeom>
          <a:noFill/>
          <a:ln/>
        </p:spPr>
        <p:txBody>
          <a:bodyPr wrap="square" lIns="0" tIns="0" rIns="0" bIns="0" rtlCol="0" anchor="t"/>
          <a:lstStyle/>
          <a:p>
            <a:pPr indent="0" marL="0">
              <a:buNone/>
            </a:pPr>
            <a:r>
              <a:rPr lang="en-US" sz="1800" b="1" dirty="0">
                <a:solidFill>
                  <a:schemeClr val="tx1"/>
                </a:solidFill>
                <a:latin typeface="Cambria" pitchFamily="34" charset="0"/>
                <a:ea typeface="Cambria" pitchFamily="34" charset="-122"/>
                <a:cs typeface="Cambria" pitchFamily="34" charset="-120"/>
              </a:rPr>
              <a:t>Emit the form its class expects</a:t>
            </a:r>
            <a:endParaRPr lang="en-US" sz="1800" dirty="0"/>
          </a:p>
        </p:txBody>
      </p:sp>
      <p:sp>
        <p:nvSpPr>
          <p:cNvPr id="8" name="Card text"/>
          <p:cNvSpPr txBox="1"/>
          <p:nvPr/>
        </p:nvSpPr>
        <p:spPr>
          <a:xfrm>
            <a:off x="731520" y="3209544"/>
            <a:ext cx="2202104" cy="1554480"/>
          </a:xfrm>
          <a:prstGeom prst="rect">
            <a:avLst/>
          </a:prstGeom>
          <a:noFill/>
          <a:ln/>
        </p:spPr>
        <p:txBody>
          <a:bodyPr wrap="square" lIns="0" tIns="0" rIns="0" bIns="0" rtlCol="0" anchor="t"/>
          <a:lstStyle/>
          <a:p>
            <a:pPr indent="0" marL="0">
              <a:buNone/>
            </a:pPr>
            <a:r>
              <a:rPr lang="en-US" sz="1600" dirty="0">
                <a:solidFill>
                  <a:schemeClr val="tx2"/>
                </a:solidFill>
              </a:rPr>
              <a:t>Maximize or minimize, inequalities one way, Mayer or Lagrange form, and record which.</a:t>
            </a:r>
            <a:endParaRPr lang="en-US" sz="1600" dirty="0"/>
          </a:p>
        </p:txBody>
      </p:sp>
      <p:sp>
        <p:nvSpPr>
          <p:cNvPr id="9" name="Card"/>
          <p:cNvSpPr/>
          <p:nvPr/>
        </p:nvSpPr>
        <p:spPr>
          <a:xfrm>
            <a:off x="3390824" y="1691640"/>
            <a:ext cx="2567864" cy="3200400"/>
          </a:xfrm>
          <a:prstGeom prst="roundRect">
            <a:avLst>
              <a:gd name="adj" fmla="val 2849"/>
            </a:avLst>
          </a:prstGeom>
          <a:solidFill>
            <a:schemeClr val="bg2"/>
          </a:solidFill>
          <a:ln w="9525">
            <a:solidFill>
              <a:srgbClr val="C4CBD8"/>
            </a:solidFill>
            <a:prstDash val="solid"/>
          </a:ln>
        </p:spPr>
      </p:sp>
      <p:sp>
        <p:nvSpPr>
          <p:cNvPr id="10" name="Card label"/>
          <p:cNvSpPr txBox="1"/>
          <p:nvPr/>
        </p:nvSpPr>
        <p:spPr>
          <a:xfrm>
            <a:off x="3573704" y="1819656"/>
            <a:ext cx="2202104" cy="310896"/>
          </a:xfrm>
          <a:prstGeom prst="rect">
            <a:avLst/>
          </a:prstGeom>
          <a:noFill/>
          <a:ln/>
        </p:spPr>
        <p:txBody>
          <a:bodyPr wrap="square" lIns="0" tIns="0" rIns="0" bIns="0" rtlCol="0" anchor="ctr"/>
          <a:lstStyle/>
          <a:p>
            <a:pPr indent="0" marL="0">
              <a:buNone/>
            </a:pPr>
            <a:r>
              <a:rPr lang="en-US" sz="1300" b="1" dirty="0">
                <a:solidFill>
                  <a:schemeClr val="accent1"/>
                </a:solidFill>
              </a:rPr>
              <a:t>Scaling</a:t>
            </a:r>
            <a:endParaRPr lang="en-US" sz="1300" dirty="0"/>
          </a:p>
        </p:txBody>
      </p:sp>
      <p:sp>
        <p:nvSpPr>
          <p:cNvPr id="11" name="Card head"/>
          <p:cNvSpPr txBox="1"/>
          <p:nvPr/>
        </p:nvSpPr>
        <p:spPr>
          <a:xfrm>
            <a:off x="3573704" y="2148840"/>
            <a:ext cx="2202104" cy="987552"/>
          </a:xfrm>
          <a:prstGeom prst="rect">
            <a:avLst/>
          </a:prstGeom>
          <a:noFill/>
          <a:ln/>
        </p:spPr>
        <p:txBody>
          <a:bodyPr wrap="square" lIns="0" tIns="0" rIns="0" bIns="0" rtlCol="0" anchor="t"/>
          <a:lstStyle/>
          <a:p>
            <a:pPr indent="0" marL="0">
              <a:buNone/>
            </a:pPr>
            <a:r>
              <a:rPr lang="en-US" sz="1800" b="1" dirty="0">
                <a:solidFill>
                  <a:schemeClr val="tx1"/>
                </a:solidFill>
                <a:latin typeface="Cambria" pitchFamily="34" charset="0"/>
                <a:ea typeface="Cambria" pitchFamily="34" charset="-122"/>
                <a:cs typeface="Cambria" pitchFamily="34" charset="-120"/>
              </a:rPr>
              <a:t>Bring magnitudes together</a:t>
            </a:r>
            <a:endParaRPr lang="en-US" sz="1800" dirty="0"/>
          </a:p>
        </p:txBody>
      </p:sp>
      <p:sp>
        <p:nvSpPr>
          <p:cNvPr id="12" name="Card text"/>
          <p:cNvSpPr txBox="1"/>
          <p:nvPr/>
        </p:nvSpPr>
        <p:spPr>
          <a:xfrm>
            <a:off x="3573704" y="3209544"/>
            <a:ext cx="2202104" cy="1554480"/>
          </a:xfrm>
          <a:prstGeom prst="rect">
            <a:avLst/>
          </a:prstGeom>
          <a:noFill/>
          <a:ln/>
        </p:spPr>
        <p:txBody>
          <a:bodyPr wrap="square" lIns="0" tIns="0" rIns="0" bIns="0" rtlCol="0" anchor="t"/>
          <a:lstStyle/>
          <a:p>
            <a:pPr indent="0" marL="0">
              <a:buNone/>
            </a:pPr>
            <a:r>
              <a:rPr lang="en-US" sz="1600" dirty="0">
                <a:solidFill>
                  <a:schemeClr val="tx2"/>
                </a:solidFill>
              </a:rPr>
              <a:t>No decision changes, but a commitment scaled by γ has its price divided by γ.</a:t>
            </a:r>
            <a:endParaRPr lang="en-US" sz="1600" dirty="0"/>
          </a:p>
        </p:txBody>
      </p:sp>
      <p:sp>
        <p:nvSpPr>
          <p:cNvPr id="13" name="Card"/>
          <p:cNvSpPr/>
          <p:nvPr/>
        </p:nvSpPr>
        <p:spPr>
          <a:xfrm>
            <a:off x="6233008" y="1691640"/>
            <a:ext cx="2567864" cy="3200400"/>
          </a:xfrm>
          <a:prstGeom prst="roundRect">
            <a:avLst>
              <a:gd name="adj" fmla="val 2849"/>
            </a:avLst>
          </a:prstGeom>
          <a:solidFill>
            <a:schemeClr val="bg2"/>
          </a:solidFill>
          <a:ln w="9525">
            <a:solidFill>
              <a:srgbClr val="C4CBD8"/>
            </a:solidFill>
            <a:prstDash val="solid"/>
          </a:ln>
        </p:spPr>
      </p:sp>
      <p:sp>
        <p:nvSpPr>
          <p:cNvPr id="14" name="Card label"/>
          <p:cNvSpPr txBox="1"/>
          <p:nvPr/>
        </p:nvSpPr>
        <p:spPr>
          <a:xfrm>
            <a:off x="6415888" y="1819656"/>
            <a:ext cx="2202104" cy="310896"/>
          </a:xfrm>
          <a:prstGeom prst="rect">
            <a:avLst/>
          </a:prstGeom>
          <a:noFill/>
          <a:ln/>
        </p:spPr>
        <p:txBody>
          <a:bodyPr wrap="square" lIns="0" tIns="0" rIns="0" bIns="0" rtlCol="0" anchor="ctr"/>
          <a:lstStyle/>
          <a:p>
            <a:pPr indent="0" marL="0">
              <a:buNone/>
            </a:pPr>
            <a:r>
              <a:rPr lang="en-US" sz="1300" b="1" dirty="0">
                <a:solidFill>
                  <a:schemeClr val="accent1"/>
                </a:solidFill>
              </a:rPr>
              <a:t>Sparsity</a:t>
            </a:r>
            <a:endParaRPr lang="en-US" sz="1300" dirty="0"/>
          </a:p>
        </p:txBody>
      </p:sp>
      <p:sp>
        <p:nvSpPr>
          <p:cNvPr id="15" name="Card head"/>
          <p:cNvSpPr txBox="1"/>
          <p:nvPr/>
        </p:nvSpPr>
        <p:spPr>
          <a:xfrm>
            <a:off x="6415888" y="2148840"/>
            <a:ext cx="2202104" cy="987552"/>
          </a:xfrm>
          <a:prstGeom prst="rect">
            <a:avLst/>
          </a:prstGeom>
          <a:noFill/>
          <a:ln/>
        </p:spPr>
        <p:txBody>
          <a:bodyPr wrap="square" lIns="0" tIns="0" rIns="0" bIns="0" rtlCol="0" anchor="t"/>
          <a:lstStyle/>
          <a:p>
            <a:pPr indent="0" marL="0">
              <a:buNone/>
            </a:pPr>
            <a:r>
              <a:rPr lang="en-US" sz="1800" b="1" dirty="0">
                <a:solidFill>
                  <a:schemeClr val="tx1"/>
                </a:solidFill>
                <a:latin typeface="Cambria" pitchFamily="34" charset="0"/>
                <a:ea typeface="Cambria" pitchFamily="34" charset="-122"/>
                <a:cs typeface="Cambria" pitchFamily="34" charset="-120"/>
              </a:rPr>
              <a:t>Declare the zero pattern</a:t>
            </a:r>
            <a:endParaRPr lang="en-US" sz="1800" dirty="0"/>
          </a:p>
        </p:txBody>
      </p:sp>
      <p:sp>
        <p:nvSpPr>
          <p:cNvPr id="16" name="Card text"/>
          <p:cNvSpPr txBox="1"/>
          <p:nvPr/>
        </p:nvSpPr>
        <p:spPr>
          <a:xfrm>
            <a:off x="6415888" y="3209544"/>
            <a:ext cx="2202104" cy="1554480"/>
          </a:xfrm>
          <a:prstGeom prst="rect">
            <a:avLst/>
          </a:prstGeom>
          <a:noFill/>
          <a:ln/>
        </p:spPr>
        <p:txBody>
          <a:bodyPr wrap="square" lIns="0" tIns="0" rIns="0" bIns="0" rtlCol="0" anchor="t"/>
          <a:lstStyle/>
          <a:p>
            <a:pPr indent="0" marL="0">
              <a:buNone/>
            </a:pPr>
            <a:r>
              <a:rPr lang="en-US" sz="1600" dirty="0">
                <a:solidFill>
                  <a:schemeClr val="tx2"/>
                </a:solidFill>
              </a:rPr>
              <a:t>Solvers then scale with the architecture's links rather than their square.</a:t>
            </a:r>
            <a:endParaRPr lang="en-US" sz="1600" dirty="0"/>
          </a:p>
        </p:txBody>
      </p:sp>
      <p:sp>
        <p:nvSpPr>
          <p:cNvPr id="17" name="Card"/>
          <p:cNvSpPr/>
          <p:nvPr/>
        </p:nvSpPr>
        <p:spPr>
          <a:xfrm>
            <a:off x="9075191" y="1691640"/>
            <a:ext cx="2567864" cy="3200400"/>
          </a:xfrm>
          <a:prstGeom prst="roundRect">
            <a:avLst>
              <a:gd name="adj" fmla="val 2849"/>
            </a:avLst>
          </a:prstGeom>
          <a:solidFill>
            <a:schemeClr val="tx1"/>
          </a:solidFill>
          <a:ln w="9525">
            <a:solidFill>
              <a:srgbClr val="0F1E3D"/>
            </a:solidFill>
            <a:prstDash val="solid"/>
          </a:ln>
        </p:spPr>
      </p:sp>
      <p:sp>
        <p:nvSpPr>
          <p:cNvPr id="18" name="Card label"/>
          <p:cNvSpPr txBox="1"/>
          <p:nvPr/>
        </p:nvSpPr>
        <p:spPr>
          <a:xfrm>
            <a:off x="9258071" y="1819656"/>
            <a:ext cx="2202104" cy="310896"/>
          </a:xfrm>
          <a:prstGeom prst="rect">
            <a:avLst/>
          </a:prstGeom>
          <a:noFill/>
          <a:ln/>
        </p:spPr>
        <p:txBody>
          <a:bodyPr wrap="square" lIns="0" tIns="0" rIns="0" bIns="0" rtlCol="0" anchor="ctr"/>
          <a:lstStyle/>
          <a:p>
            <a:pPr indent="0" marL="0">
              <a:buNone/>
            </a:pPr>
            <a:r>
              <a:rPr lang="en-US" sz="1300" b="1" dirty="0">
                <a:solidFill>
                  <a:schemeClr val="accent1"/>
                </a:solidFill>
              </a:rPr>
              <a:t>Warm starts</a:t>
            </a:r>
            <a:endParaRPr lang="en-US" sz="1300" dirty="0"/>
          </a:p>
        </p:txBody>
      </p:sp>
      <p:sp>
        <p:nvSpPr>
          <p:cNvPr id="19" name="Card head"/>
          <p:cNvSpPr txBox="1"/>
          <p:nvPr/>
        </p:nvSpPr>
        <p:spPr>
          <a:xfrm>
            <a:off x="9258071" y="2148840"/>
            <a:ext cx="2202104" cy="987552"/>
          </a:xfrm>
          <a:prstGeom prst="rect">
            <a:avLst/>
          </a:prstGeom>
          <a:noFill/>
          <a:ln/>
        </p:spPr>
        <p:txBody>
          <a:bodyPr wrap="square" lIns="0" tIns="0" rIns="0" bIns="0" rtlCol="0" anchor="t"/>
          <a:lstStyle/>
          <a:p>
            <a:pPr indent="0" marL="0">
              <a:buNone/>
            </a:pPr>
            <a:r>
              <a:rPr lang="en-US" sz="1800" b="1" dirty="0">
                <a:solidFill>
                  <a:schemeClr val="bg1"/>
                </a:solidFill>
                <a:latin typeface="Cambria" pitchFamily="34" charset="0"/>
                <a:ea typeface="Cambria" pitchFamily="34" charset="-122"/>
                <a:cs typeface="Cambria" pitchFamily="34" charset="-120"/>
              </a:rPr>
              <a:t>Export the last optimum</a:t>
            </a:r>
            <a:endParaRPr lang="en-US" sz="1800" dirty="0"/>
          </a:p>
        </p:txBody>
      </p:sp>
      <p:sp>
        <p:nvSpPr>
          <p:cNvPr id="20" name="Card text"/>
          <p:cNvSpPr txBox="1"/>
          <p:nvPr/>
        </p:nvSpPr>
        <p:spPr>
          <a:xfrm>
            <a:off x="9258071" y="3209544"/>
            <a:ext cx="2202104" cy="1554480"/>
          </a:xfrm>
          <a:prstGeom prst="rect">
            <a:avLst/>
          </a:prstGeom>
          <a:noFill/>
          <a:ln/>
        </p:spPr>
        <p:txBody>
          <a:bodyPr wrap="square" lIns="0" tIns="0" rIns="0" bIns="0" rtlCol="0" anchor="t"/>
          <a:lstStyle/>
          <a:p>
            <a:pPr indent="0" marL="0">
              <a:buNone/>
            </a:pPr>
            <a:r>
              <a:rPr lang="en-US" sz="1600" dirty="0">
                <a:solidFill>
                  <a:schemeClr val="bg2"/>
                </a:solidFill>
              </a:rPr>
              <a:t>The lifecycle re-solves instances that drift slowly.</a:t>
            </a:r>
            <a:endParaRPr lang="en-US" sz="1600" dirty="0"/>
          </a:p>
        </p:txBody>
      </p:sp>
      <p:sp>
        <p:nvSpPr>
          <p:cNvPr id="21" name="Lead"/>
          <p:cNvSpPr txBox="1"/>
          <p:nvPr/>
        </p:nvSpPr>
        <p:spPr>
          <a:xfrm>
            <a:off x="548640" y="5166360"/>
            <a:ext cx="11094415" cy="457200"/>
          </a:xfrm>
          <a:prstGeom prst="rect">
            <a:avLst/>
          </a:prstGeom>
          <a:noFill/>
          <a:ln/>
        </p:spPr>
        <p:txBody>
          <a:bodyPr wrap="square" lIns="0" tIns="0" rIns="0" bIns="0" rtlCol="0" anchor="ctr"/>
          <a:lstStyle/>
          <a:p>
            <a:pPr indent="0" marL="0">
              <a:buNone/>
            </a:pPr>
            <a:r>
              <a:rPr lang="en-US" sz="1600" i="1" dirty="0">
                <a:solidFill>
                  <a:schemeClr val="accent2"/>
                </a:solidFill>
              </a:rPr>
              <a:t>The route into Part I is the convexity ledger: convex blocks go to Chapter 3; the breaks organize Chapter 4.</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WORKED EXAMPLE 2.1 · THE SITUATION</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Can Meridian automate and pay out at once?</a:t>
            </a:r>
            <a:endParaRPr lang="en-US" sz="3200" dirty="0"/>
          </a:p>
        </p:txBody>
      </p:sp>
      <p:sp>
        <p:nvSpPr>
          <p:cNvPr id="5" name="Card"/>
          <p:cNvSpPr/>
          <p:nvPr/>
        </p:nvSpPr>
        <p:spPr>
          <a:xfrm>
            <a:off x="548640" y="1691640"/>
            <a:ext cx="2567864" cy="3291840"/>
          </a:xfrm>
          <a:prstGeom prst="roundRect">
            <a:avLst>
              <a:gd name="adj" fmla="val 2849"/>
            </a:avLst>
          </a:prstGeom>
          <a:solidFill>
            <a:schemeClr val="bg2"/>
          </a:solidFill>
          <a:ln w="9525">
            <a:solidFill>
              <a:srgbClr val="C4CBD8"/>
            </a:solidFill>
            <a:prstDash val="solid"/>
          </a:ln>
        </p:spPr>
      </p:sp>
      <p:sp>
        <p:nvSpPr>
          <p:cNvPr id="6" name="Card label"/>
          <p:cNvSpPr txBox="1"/>
          <p:nvPr/>
        </p:nvSpPr>
        <p:spPr>
          <a:xfrm>
            <a:off x="731520" y="1819656"/>
            <a:ext cx="2202104" cy="310896"/>
          </a:xfrm>
          <a:prstGeom prst="rect">
            <a:avLst/>
          </a:prstGeom>
          <a:noFill/>
          <a:ln/>
        </p:spPr>
        <p:txBody>
          <a:bodyPr wrap="square" lIns="0" tIns="0" rIns="0" bIns="0" rtlCol="0" anchor="ctr"/>
          <a:lstStyle/>
          <a:p>
            <a:pPr indent="0" marL="0">
              <a:buNone/>
            </a:pPr>
            <a:r>
              <a:rPr lang="en-US" sz="1300" b="1" dirty="0">
                <a:solidFill>
                  <a:schemeClr val="accent1"/>
                </a:solidFill>
              </a:rPr>
              <a:t>Volume I, Worked Example 6.1</a:t>
            </a:r>
            <a:endParaRPr lang="en-US" sz="1300" dirty="0"/>
          </a:p>
        </p:txBody>
      </p:sp>
      <p:sp>
        <p:nvSpPr>
          <p:cNvPr id="7" name="Card head"/>
          <p:cNvSpPr txBox="1"/>
          <p:nvPr/>
        </p:nvSpPr>
        <p:spPr>
          <a:xfrm>
            <a:off x="731520" y="2148840"/>
            <a:ext cx="2202104" cy="1033272"/>
          </a:xfrm>
          <a:prstGeom prst="rect">
            <a:avLst/>
          </a:prstGeom>
          <a:noFill/>
          <a:ln/>
        </p:spPr>
        <p:txBody>
          <a:bodyPr wrap="square" lIns="0" tIns="0" rIns="0" bIns="0" rtlCol="0" anchor="t"/>
          <a:lstStyle/>
          <a:p>
            <a:pPr indent="0" marL="0">
              <a:buNone/>
            </a:pPr>
            <a:r>
              <a:rPr lang="en-US" sz="1900" b="1" dirty="0">
                <a:solidFill>
                  <a:schemeClr val="tx1"/>
                </a:solidFill>
                <a:latin typeface="Cambria" pitchFamily="34" charset="0"/>
                <a:ea typeface="Cambria" pitchFamily="34" charset="-122"/>
                <a:cs typeface="Cambria" pitchFamily="34" charset="-120"/>
              </a:rPr>
              <a:t>The automation program</a:t>
            </a:r>
            <a:endParaRPr lang="en-US" sz="1900" dirty="0"/>
          </a:p>
        </p:txBody>
      </p:sp>
      <p:sp>
        <p:nvSpPr>
          <p:cNvPr id="8" name="Card text"/>
          <p:cNvSpPr txBox="1"/>
          <p:nvPr/>
        </p:nvSpPr>
        <p:spPr>
          <a:xfrm>
            <a:off x="731520" y="3255264"/>
            <a:ext cx="2202104" cy="1600200"/>
          </a:xfrm>
          <a:prstGeom prst="rect">
            <a:avLst/>
          </a:prstGeom>
          <a:noFill/>
          <a:ln/>
        </p:spPr>
        <p:txBody>
          <a:bodyPr wrap="square" lIns="0" tIns="0" rIns="0" bIns="0" rtlCol="0" anchor="t"/>
          <a:lstStyle/>
          <a:p>
            <a:pPr indent="0" marL="0">
              <a:buNone/>
            </a:pPr>
            <a:r>
              <a:rPr lang="en-US" sz="1600" dirty="0">
                <a:solidFill>
                  <a:schemeClr val="tx2"/>
                </a:solidFill>
              </a:rPr>
              <a:t>$120m a round closes half the gap to an efficiency of 85; each point above 71 saves $10m a year.</a:t>
            </a:r>
            <a:endParaRPr lang="en-US" sz="1600" dirty="0"/>
          </a:p>
        </p:txBody>
      </p:sp>
      <p:sp>
        <p:nvSpPr>
          <p:cNvPr id="9" name="Card"/>
          <p:cNvSpPr/>
          <p:nvPr/>
        </p:nvSpPr>
        <p:spPr>
          <a:xfrm>
            <a:off x="3390824" y="1691640"/>
            <a:ext cx="2567864" cy="3291840"/>
          </a:xfrm>
          <a:prstGeom prst="roundRect">
            <a:avLst>
              <a:gd name="adj" fmla="val 2849"/>
            </a:avLst>
          </a:prstGeom>
          <a:solidFill>
            <a:schemeClr val="bg2"/>
          </a:solidFill>
          <a:ln w="9525">
            <a:solidFill>
              <a:srgbClr val="C4CBD8"/>
            </a:solidFill>
            <a:prstDash val="solid"/>
          </a:ln>
        </p:spPr>
      </p:sp>
      <p:sp>
        <p:nvSpPr>
          <p:cNvPr id="10" name="Card label"/>
          <p:cNvSpPr txBox="1"/>
          <p:nvPr/>
        </p:nvSpPr>
        <p:spPr>
          <a:xfrm>
            <a:off x="3573704" y="1819656"/>
            <a:ext cx="2202104" cy="310896"/>
          </a:xfrm>
          <a:prstGeom prst="rect">
            <a:avLst/>
          </a:prstGeom>
          <a:noFill/>
          <a:ln/>
        </p:spPr>
        <p:txBody>
          <a:bodyPr wrap="square" lIns="0" tIns="0" rIns="0" bIns="0" rtlCol="0" anchor="ctr"/>
          <a:lstStyle/>
          <a:p>
            <a:pPr indent="0" marL="0">
              <a:buNone/>
            </a:pPr>
            <a:r>
              <a:rPr lang="en-US" sz="1300" b="1" dirty="0">
                <a:solidFill>
                  <a:schemeClr val="accent1"/>
                </a:solidFill>
              </a:rPr>
              <a:t>Chief operating officer</a:t>
            </a:r>
            <a:endParaRPr lang="en-US" sz="1300" dirty="0"/>
          </a:p>
        </p:txBody>
      </p:sp>
      <p:sp>
        <p:nvSpPr>
          <p:cNvPr id="11" name="Card head"/>
          <p:cNvSpPr txBox="1"/>
          <p:nvPr/>
        </p:nvSpPr>
        <p:spPr>
          <a:xfrm>
            <a:off x="3573704" y="2148840"/>
            <a:ext cx="2202104" cy="1033272"/>
          </a:xfrm>
          <a:prstGeom prst="rect">
            <a:avLst/>
          </a:prstGeom>
          <a:noFill/>
          <a:ln/>
        </p:spPr>
        <p:txBody>
          <a:bodyPr wrap="square" lIns="0" tIns="0" rIns="0" bIns="0" rtlCol="0" anchor="t"/>
          <a:lstStyle/>
          <a:p>
            <a:pPr indent="0" marL="0">
              <a:buNone/>
            </a:pPr>
            <a:r>
              <a:rPr lang="en-US" sz="1900" b="1" dirty="0">
                <a:solidFill>
                  <a:schemeClr val="tx1"/>
                </a:solidFill>
                <a:latin typeface="Cambria" pitchFamily="34" charset="0"/>
                <a:ea typeface="Cambria" pitchFamily="34" charset="-122"/>
                <a:cs typeface="Cambria" pitchFamily="34" charset="-120"/>
              </a:rPr>
              <a:t>A round every year for six years</a:t>
            </a:r>
            <a:endParaRPr lang="en-US" sz="1900" dirty="0"/>
          </a:p>
        </p:txBody>
      </p:sp>
      <p:sp>
        <p:nvSpPr>
          <p:cNvPr id="12" name="Card text"/>
          <p:cNvSpPr txBox="1"/>
          <p:nvPr/>
        </p:nvSpPr>
        <p:spPr>
          <a:xfrm>
            <a:off x="3573704" y="3255264"/>
            <a:ext cx="2202104" cy="1600200"/>
          </a:xfrm>
          <a:prstGeom prst="rect">
            <a:avLst/>
          </a:prstGeom>
          <a:noFill/>
          <a:ln/>
        </p:spPr>
        <p:txBody>
          <a:bodyPr wrap="square" lIns="0" tIns="0" rIns="0" bIns="0" rtlCol="0" anchor="t"/>
          <a:lstStyle/>
          <a:p>
            <a:pPr indent="0" marL="0">
              <a:buNone/>
            </a:pPr>
            <a:r>
              <a:rPr lang="en-US" sz="1600" dirty="0">
                <a:solidFill>
                  <a:schemeClr val="tx2"/>
                </a:solidFill>
              </a:rPr>
              <a:t>A round needs $470m on hand, so the $350m floor holds after paying for it.</a:t>
            </a:r>
            <a:endParaRPr lang="en-US" sz="1600" dirty="0"/>
          </a:p>
        </p:txBody>
      </p:sp>
      <p:sp>
        <p:nvSpPr>
          <p:cNvPr id="13" name="Card"/>
          <p:cNvSpPr/>
          <p:nvPr/>
        </p:nvSpPr>
        <p:spPr>
          <a:xfrm>
            <a:off x="6233008" y="1691640"/>
            <a:ext cx="2567864" cy="3291840"/>
          </a:xfrm>
          <a:prstGeom prst="roundRect">
            <a:avLst>
              <a:gd name="adj" fmla="val 2849"/>
            </a:avLst>
          </a:prstGeom>
          <a:solidFill>
            <a:schemeClr val="bg2"/>
          </a:solidFill>
          <a:ln w="9525">
            <a:solidFill>
              <a:srgbClr val="C4CBD8"/>
            </a:solidFill>
            <a:prstDash val="solid"/>
          </a:ln>
        </p:spPr>
      </p:sp>
      <p:sp>
        <p:nvSpPr>
          <p:cNvPr id="14" name="Card label"/>
          <p:cNvSpPr txBox="1"/>
          <p:nvPr/>
        </p:nvSpPr>
        <p:spPr>
          <a:xfrm>
            <a:off x="6415888" y="1819656"/>
            <a:ext cx="2202104" cy="310896"/>
          </a:xfrm>
          <a:prstGeom prst="rect">
            <a:avLst/>
          </a:prstGeom>
          <a:noFill/>
          <a:ln/>
        </p:spPr>
        <p:txBody>
          <a:bodyPr wrap="square" lIns="0" tIns="0" rIns="0" bIns="0" rtlCol="0" anchor="ctr"/>
          <a:lstStyle/>
          <a:p>
            <a:pPr indent="0" marL="0">
              <a:buNone/>
            </a:pPr>
            <a:r>
              <a:rPr lang="en-US" sz="1300" b="1" dirty="0">
                <a:solidFill>
                  <a:schemeClr val="accent1"/>
                </a:solidFill>
              </a:rPr>
              <a:t>Chief financial officer</a:t>
            </a:r>
            <a:endParaRPr lang="en-US" sz="1300" dirty="0"/>
          </a:p>
        </p:txBody>
      </p:sp>
      <p:sp>
        <p:nvSpPr>
          <p:cNvPr id="15" name="Card head"/>
          <p:cNvSpPr txBox="1"/>
          <p:nvPr/>
        </p:nvSpPr>
        <p:spPr>
          <a:xfrm>
            <a:off x="6415888" y="2148840"/>
            <a:ext cx="2202104" cy="1033272"/>
          </a:xfrm>
          <a:prstGeom prst="rect">
            <a:avLst/>
          </a:prstGeom>
          <a:noFill/>
          <a:ln/>
        </p:spPr>
        <p:txBody>
          <a:bodyPr wrap="square" lIns="0" tIns="0" rIns="0" bIns="0" rtlCol="0" anchor="t"/>
          <a:lstStyle/>
          <a:p>
            <a:pPr indent="0" marL="0">
              <a:buNone/>
            </a:pPr>
            <a:r>
              <a:rPr lang="en-US" sz="1900" b="1" dirty="0">
                <a:solidFill>
                  <a:schemeClr val="tx1"/>
                </a:solidFill>
                <a:latin typeface="Cambria" pitchFamily="34" charset="0"/>
                <a:ea typeface="Cambria" pitchFamily="34" charset="-122"/>
                <a:cs typeface="Cambria" pitchFamily="34" charset="-120"/>
              </a:rPr>
              <a:t>Pay out half of each year's savings</a:t>
            </a:r>
            <a:endParaRPr lang="en-US" sz="1900" dirty="0"/>
          </a:p>
        </p:txBody>
      </p:sp>
      <p:sp>
        <p:nvSpPr>
          <p:cNvPr id="16" name="Card text"/>
          <p:cNvSpPr txBox="1"/>
          <p:nvPr/>
        </p:nvSpPr>
        <p:spPr>
          <a:xfrm>
            <a:off x="6415888" y="3255264"/>
            <a:ext cx="2202104" cy="1600200"/>
          </a:xfrm>
          <a:prstGeom prst="rect">
            <a:avLst/>
          </a:prstGeom>
          <a:noFill/>
          <a:ln/>
        </p:spPr>
        <p:txBody>
          <a:bodyPr wrap="square" lIns="0" tIns="0" rIns="0" bIns="0" rtlCol="0" anchor="t"/>
          <a:lstStyle/>
          <a:p>
            <a:pPr indent="0" marL="0">
              <a:buNone/>
            </a:pPr>
            <a:r>
              <a:rPr lang="en-US" sz="1600" dirty="0">
                <a:solidFill>
                  <a:schemeClr val="tx2"/>
                </a:solidFill>
              </a:rPr>
              <a:t>Investors want a share of the savings the rounds produce.</a:t>
            </a:r>
            <a:endParaRPr lang="en-US" sz="1600" dirty="0"/>
          </a:p>
        </p:txBody>
      </p:sp>
      <p:sp>
        <p:nvSpPr>
          <p:cNvPr id="17" name="Card"/>
          <p:cNvSpPr/>
          <p:nvPr/>
        </p:nvSpPr>
        <p:spPr>
          <a:xfrm>
            <a:off x="9075191" y="1691640"/>
            <a:ext cx="2567864" cy="3291840"/>
          </a:xfrm>
          <a:prstGeom prst="roundRect">
            <a:avLst>
              <a:gd name="adj" fmla="val 2849"/>
            </a:avLst>
          </a:prstGeom>
          <a:solidFill>
            <a:schemeClr val="tx1"/>
          </a:solidFill>
          <a:ln w="9525">
            <a:solidFill>
              <a:srgbClr val="0F1E3D"/>
            </a:solidFill>
            <a:prstDash val="solid"/>
          </a:ln>
        </p:spPr>
      </p:sp>
      <p:sp>
        <p:nvSpPr>
          <p:cNvPr id="18" name="Card label"/>
          <p:cNvSpPr txBox="1"/>
          <p:nvPr/>
        </p:nvSpPr>
        <p:spPr>
          <a:xfrm>
            <a:off x="9258071" y="1819656"/>
            <a:ext cx="2202104" cy="310896"/>
          </a:xfrm>
          <a:prstGeom prst="rect">
            <a:avLst/>
          </a:prstGeom>
          <a:noFill/>
          <a:ln/>
        </p:spPr>
        <p:txBody>
          <a:bodyPr wrap="square" lIns="0" tIns="0" rIns="0" bIns="0" rtlCol="0" anchor="ctr"/>
          <a:lstStyle/>
          <a:p>
            <a:pPr indent="0" marL="0">
              <a:buNone/>
            </a:pPr>
            <a:r>
              <a:rPr lang="en-US" sz="1300" b="1" dirty="0">
                <a:solidFill>
                  <a:schemeClr val="accent1"/>
                </a:solidFill>
              </a:rPr>
              <a:t>The board</a:t>
            </a:r>
            <a:endParaRPr lang="en-US" sz="1300" dirty="0"/>
          </a:p>
        </p:txBody>
      </p:sp>
      <p:sp>
        <p:nvSpPr>
          <p:cNvPr id="19" name="Card head"/>
          <p:cNvSpPr txBox="1"/>
          <p:nvPr/>
        </p:nvSpPr>
        <p:spPr>
          <a:xfrm>
            <a:off x="9258071" y="2148840"/>
            <a:ext cx="2202104" cy="1033272"/>
          </a:xfrm>
          <a:prstGeom prst="rect">
            <a:avLst/>
          </a:prstGeom>
          <a:noFill/>
          <a:ln/>
        </p:spPr>
        <p:txBody>
          <a:bodyPr wrap="square" lIns="0" tIns="0" rIns="0" bIns="0" rtlCol="0" anchor="t"/>
          <a:lstStyle/>
          <a:p>
            <a:pPr indent="0" marL="0">
              <a:buNone/>
            </a:pPr>
            <a:r>
              <a:rPr lang="en-US" sz="1900" b="1" dirty="0">
                <a:solidFill>
                  <a:schemeClr val="bg1"/>
                </a:solidFill>
                <a:latin typeface="Cambria" pitchFamily="34" charset="0"/>
                <a:ea typeface="Cambria" pitchFamily="34" charset="-122"/>
                <a:cs typeface="Cambria" pitchFamily="34" charset="-120"/>
              </a:rPr>
              <a:t>Can both pledges be kept?</a:t>
            </a:r>
            <a:endParaRPr lang="en-US" sz="1900" dirty="0"/>
          </a:p>
        </p:txBody>
      </p:sp>
      <p:sp>
        <p:nvSpPr>
          <p:cNvPr id="20" name="Card text"/>
          <p:cNvSpPr txBox="1"/>
          <p:nvPr/>
        </p:nvSpPr>
        <p:spPr>
          <a:xfrm>
            <a:off x="9258071" y="3255264"/>
            <a:ext cx="2202104" cy="1600200"/>
          </a:xfrm>
          <a:prstGeom prst="rect">
            <a:avLst/>
          </a:prstGeom>
          <a:noFill/>
          <a:ln/>
        </p:spPr>
        <p:txBody>
          <a:bodyPr wrap="square" lIns="0" tIns="0" rIns="0" bIns="0" rtlCol="0" anchor="t"/>
          <a:lstStyle/>
          <a:p>
            <a:pPr indent="0" marL="0">
              <a:buNone/>
            </a:pPr>
            <a:r>
              <a:rPr lang="en-US" sz="1600" dirty="0">
                <a:solidFill>
                  <a:schemeClr val="bg2"/>
                </a:solidFill>
              </a:rPr>
              <a:t>And end year 6 with the $470m another round would need. If not, what does each way out cost?</a:t>
            </a:r>
            <a:endParaRPr lang="en-US" sz="1600" dirty="0"/>
          </a:p>
        </p:txBody>
      </p:sp>
      <p:sp>
        <p:nvSpPr>
          <p:cNvPr id="21" name="Lead"/>
          <p:cNvSpPr txBox="1"/>
          <p:nvPr/>
        </p:nvSpPr>
        <p:spPr>
          <a:xfrm>
            <a:off x="548640" y="5257800"/>
            <a:ext cx="11094415" cy="457200"/>
          </a:xfrm>
          <a:prstGeom prst="rect">
            <a:avLst/>
          </a:prstGeom>
          <a:noFill/>
          <a:ln/>
        </p:spPr>
        <p:txBody>
          <a:bodyPr wrap="square" lIns="0" tIns="0" rIns="0" bIns="0" rtlCol="0" anchor="ctr"/>
          <a:lstStyle/>
          <a:p>
            <a:pPr indent="0" marL="0">
              <a:buNone/>
            </a:pPr>
            <a:r>
              <a:rPr lang="en-US" sz="1600" i="1" dirty="0">
                <a:solidFill>
                  <a:schemeClr val="accent2"/>
                </a:solidFill>
              </a:rPr>
              <a:t>Today Meridian has $620m of liquidity, efficiency 71 and capability 58. All amounts are undiscounted.</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WORKED EXAMPLE 2.1 · STEPS 1–2 · TABLE 2.6</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Write the instance, then run it forward</a:t>
            </a:r>
            <a:endParaRPr lang="en-US" sz="3200" dirty="0"/>
          </a:p>
        </p:txBody>
      </p:sp>
      <p:graphicFrame>
        <p:nvGraphicFramePr>
          <p:cNvPr id="18" name="Table"/>
          <p:cNvGraphicFramePr>
            <a:graphicFrameLocks noGrp="1"/>
          </p:cNvGraphicFramePr>
          <p:nvPr>
            <p:extLst>
              <p:ext uri="{D42A27DB-BD31-4B8C-83A1-F6EECF244321}">
                <p14:modId xmlns:p14="http://schemas.microsoft.com/office/powerpoint/2010/main" val="1579011935"/>
              </p:ext>
            </p:extLst>
          </p:nvPr>
        </p:nvGraphicFramePr>
        <p:xfrm>
          <a:off x="548640" y="1691640"/>
          <a:ext cx="11094415" cy="914400"/>
        </p:xfrm>
        <a:graphic>
          <a:graphicData uri="http://schemas.openxmlformats.org/drawingml/2006/table">
            <a:tbl>
              <a:tblPr/>
              <a:tblGrid>
                <a:gridCol w="2292235"/>
                <a:gridCol w="6876704"/>
                <a:gridCol w="1925477"/>
              </a:tblGrid>
              <a:tr h="457200">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Block</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Meridian's declaration</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Owner</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r>
              <a:tr h="457200">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Decisions</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a round in year k, z(k) ∈ {0, 1}; a payout p(k) ≥ 0</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COO; CFO</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457200">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Dynamics</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each round closes half the efficiency gap to 85 and adds a point of capability; savings $10m per point above 71; liquidity falls by 120 a round, rises by the savings, falls by the payout</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COO; treasury</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457200">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Admissible decisions</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a round needs capability of at least 55</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HR</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457200">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Path commitments</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liquidity of at least $350m after paying for a round and at year end; a round every year; half of each year's savings paid out</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board; COO; CFO</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457200">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Start and end</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$620m, efficiency 71, capability 58; at least $470m at the end of year 6</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treasury; board</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457200">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Uncertainty</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none declared (Volume I's point estimates)</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bl>
          </a:graphicData>
        </a:graphic>
      </p:graphicFrame>
      <p:sp>
        <p:nvSpPr>
          <p:cNvPr id="6" name="Table note"/>
          <p:cNvSpPr txBox="1"/>
          <p:nvPr/>
        </p:nvSpPr>
        <p:spPr>
          <a:xfrm>
            <a:off x="548640" y="5074920"/>
            <a:ext cx="11094415" cy="320040"/>
          </a:xfrm>
          <a:prstGeom prst="rect">
            <a:avLst/>
          </a:prstGeom>
          <a:noFill/>
          <a:ln/>
        </p:spPr>
        <p:txBody>
          <a:bodyPr wrap="square" lIns="0" tIns="0" rIns="0" bIns="0" rtlCol="0" anchor="ctr"/>
          <a:lstStyle/>
          <a:p>
            <a:pPr indent="0" marL="0">
              <a:buNone/>
            </a:pPr>
            <a:r>
              <a:rPr lang="en-US" sz="1100" i="1" dirty="0">
                <a:solidFill>
                  <a:schemeClr val="tx2"/>
                </a:solidFill>
              </a:rPr>
              <a:t>Step 1: savings are induced by the rounds. The CFO's spreadsheet carries six-round savings, $702m, into every plan; a plan with three rounds saves $647.5m.</a:t>
            </a:r>
            <a:endParaRPr lang="en-US" sz="1100" dirty="0"/>
          </a:p>
        </p:txBody>
      </p:sp>
      <p:sp>
        <p:nvSpPr>
          <p:cNvPr id="7" name="Lead"/>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600" b="1" dirty="0">
                <a:solidFill>
                  <a:schemeClr val="accent2"/>
                </a:solidFill>
              </a:rPr>
              <a:t>Step 2:</a:t>
            </a:r>
            <a:r>
              <a:rPr lang="en-US" sz="1600" dirty="0">
                <a:solidFill>
                  <a:schemeClr val="accent2"/>
                </a:solidFill>
              </a:rPr>
              <a:t> one forward pass: $535m, then $467.5m; round 3 would leave $347.5m. The plan dies in year 3.</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WORKED EXAMPLE 2.1 · STEPS 3–5 · TABLE 2.7</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Two clashes, three repairs, one optimizer</a:t>
            </a:r>
            <a:endParaRPr lang="en-US" sz="3200" dirty="0"/>
          </a:p>
        </p:txBody>
      </p:sp>
      <p:graphicFrame>
        <p:nvGraphicFramePr>
          <p:cNvPr id="19" name="Table"/>
          <p:cNvGraphicFramePr>
            <a:graphicFrameLocks noGrp="1"/>
          </p:cNvGraphicFramePr>
          <p:nvPr>
            <p:extLst>
              <p:ext uri="{D42A27DB-BD31-4B8C-83A1-F6EECF244321}">
                <p14:modId xmlns:p14="http://schemas.microsoft.com/office/powerpoint/2010/main" val="1579011935"/>
              </p:ext>
            </p:extLst>
          </p:nvPr>
        </p:nvGraphicFramePr>
        <p:xfrm>
          <a:off x="548640" y="1691640"/>
          <a:ext cx="11094415" cy="914400"/>
        </p:xfrm>
        <a:graphic>
          <a:graphicData uri="http://schemas.openxmlformats.org/drawingml/2006/table">
            <a:tbl>
              <a:tblPr/>
              <a:tblGrid>
                <a:gridCol w="2934060"/>
                <a:gridCol w="1833788"/>
                <a:gridCol w="1375341"/>
                <a:gridCol w="1467030"/>
                <a:gridCol w="1833788"/>
                <a:gridCol w="1650409"/>
              </a:tblGrid>
              <a:tr h="457200">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Plan</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Rounds</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r" indent="0" marL="0">
                        <a:buNone/>
                      </a:pPr>
                      <a:r>
                        <a:rPr lang="en-US" sz="1500" b="1" dirty="0">
                          <a:solidFill>
                            <a:srgbClr val="FFFFFF"/>
                          </a:solidFill>
                          <a:latin typeface="Calibri" pitchFamily="34" charset="0"/>
                          <a:ea typeface="Calibri" pitchFamily="34" charset="-122"/>
                          <a:cs typeface="Calibri" pitchFamily="34" charset="-120"/>
                        </a:rPr>
                        <a:t>Paid out ($m)</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r" indent="0" marL="0">
                        <a:buNone/>
                      </a:pPr>
                      <a:r>
                        <a:rPr lang="en-US" sz="1500" b="1" dirty="0">
                          <a:solidFill>
                            <a:srgbClr val="FFFFFF"/>
                          </a:solidFill>
                          <a:latin typeface="Calibri" pitchFamily="34" charset="0"/>
                          <a:ea typeface="Calibri" pitchFamily="34" charset="-122"/>
                          <a:cs typeface="Calibri" pitchFamily="34" charset="-120"/>
                        </a:rPr>
                        <a:t>Efficiency, year 6</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r" indent="0" marL="0">
                        <a:buNone/>
                      </a:pPr>
                      <a:r>
                        <a:rPr lang="en-US" sz="1500" b="1" dirty="0">
                          <a:solidFill>
                            <a:srgbClr val="FFFFFF"/>
                          </a:solidFill>
                          <a:latin typeface="Calibri" pitchFamily="34" charset="0"/>
                          <a:ea typeface="Calibri" pitchFamily="34" charset="-122"/>
                          <a:cs typeface="Calibri" pitchFamily="34" charset="-120"/>
                        </a:rPr>
                        <a:t>Liquidity, year 6 ($m)</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Gives up</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r>
              <a:tr h="457200">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joint plan</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two, then blocked</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dies in year 3</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457200">
                <a:tc>
                  <a:txBody>
                    <a:bodyPr/>
                    <a:lstStyle/>
                    <a:p>
                      <a:pPr algn="l" indent="0" marL="0">
                        <a:buNone/>
                      </a:pPr>
                      <a:r>
                        <a:rPr lang="en-US" sz="1500" b="1" dirty="0">
                          <a:solidFill>
                            <a:srgbClr val="0F1E3D"/>
                          </a:solidFill>
                          <a:latin typeface="Calibri" pitchFamily="34" charset="0"/>
                          <a:ea typeface="Calibri" pitchFamily="34" charset="-122"/>
                          <a:cs typeface="Calibri" pitchFamily="34" charset="-120"/>
                        </a:rPr>
                        <a:t>(a) pay out less</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six</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132.2</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84.78</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470.0</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half payout</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r>
              <a:tr h="457200">
                <a:tc>
                  <a:txBody>
                    <a:bodyPr/>
                    <a:lstStyle/>
                    <a:p>
                      <a:pPr algn="l" indent="0" marL="0">
                        <a:buNone/>
                      </a:pPr>
                      <a:r>
                        <a:rPr lang="en-US" sz="1500" b="1" dirty="0">
                          <a:solidFill>
                            <a:srgbClr val="0F1E3D"/>
                          </a:solidFill>
                          <a:latin typeface="Calibri" pitchFamily="34" charset="0"/>
                          <a:ea typeface="Calibri" pitchFamily="34" charset="-122"/>
                          <a:cs typeface="Calibri" pitchFamily="34" charset="-120"/>
                        </a:rPr>
                        <a:t>(b) fewer rounds</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years 1, 2, 4</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323.8</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83.25</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583.8</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six rounds</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r>
              <a:tr h="457200">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(c) both pledges</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six</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351.1</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84.78</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251.1</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floor and end</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457200">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optimizer, no credit</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years 1–2</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505.0</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81.50</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470.0</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both pledges</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457200">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optimizer, ten years' credit</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years 1–3</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455.0</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83.25</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470.0</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both pledges</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bl>
          </a:graphicData>
        </a:graphic>
      </p:graphicFrame>
      <p:sp>
        <p:nvSpPr>
          <p:cNvPr id="6" name="Table note"/>
          <p:cNvSpPr txBox="1"/>
          <p:nvPr/>
        </p:nvSpPr>
        <p:spPr>
          <a:xfrm>
            <a:off x="548640" y="5029200"/>
            <a:ext cx="11094415" cy="320040"/>
          </a:xfrm>
          <a:prstGeom prst="rect">
            <a:avLst/>
          </a:prstGeom>
          <a:noFill/>
          <a:ln/>
        </p:spPr>
        <p:txBody>
          <a:bodyPr wrap="square" lIns="0" tIns="0" rIns="0" bIns="0" rtlCol="0" anchor="ctr"/>
          <a:lstStyle/>
          <a:p>
            <a:pPr indent="0" marL="0">
              <a:buNone/>
            </a:pPr>
            <a:r>
              <a:rPr lang="en-US" sz="1100" i="1" dirty="0">
                <a:solidFill>
                  <a:schemeClr val="tx2"/>
                </a:solidFill>
              </a:rPr>
              <a:t>Six-year totals, undiscounted. Step 3: the only minimal clashes are {floor, six rounds, half payout} and {six rounds, half payout, end condition}.</a:t>
            </a:r>
            <a:endParaRPr lang="en-US" sz="1100" dirty="0"/>
          </a:p>
        </p:txBody>
      </p:sp>
      <p:sp>
        <p:nvSpPr>
          <p:cNvPr id="7" name="Lead"/>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600" dirty="0">
                <a:solidFill>
                  <a:schemeClr val="accent2"/>
                </a:solidFill>
              </a:rPr>
              <a:t>A repair must break both clashes: give up one pledge, or both of the board's conditions.</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WORKED EXAMPLE 2.1 · STEPS 4–6 · FIGURE 2.3</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The credit beyond year 6 sizes the program</a:t>
            </a:r>
            <a:endParaRPr lang="en-US" sz="3200" dirty="0"/>
          </a:p>
        </p:txBody>
      </p:sp>
      <p:sp>
        <p:nvSpPr>
          <p:cNvPr id="5" name="Bullets"/>
          <p:cNvSpPr txBox="1"/>
          <p:nvPr/>
        </p:nvSpPr>
        <p:spPr>
          <a:xfrm>
            <a:off x="548640" y="1691640"/>
            <a:ext cx="4698663" cy="4480560"/>
          </a:xfrm>
          <a:prstGeom prst="rect">
            <a:avLst/>
          </a:prstGeom>
          <a:noFill/>
          <a:ln/>
        </p:spPr>
        <p:txBody>
          <a:bodyPr wrap="square" lIns="635" tIns="635" rIns="635" bIns="635" rtlCol="0" anchor="t"/>
          <a:lstStyle/>
          <a:p>
            <a:pPr marL="228600" indent="-228600">
              <a:spcAft>
                <a:spcPts val="800"/>
              </a:spcAft>
              <a:buSzPct val="100000"/>
              <a:buChar char="•"/>
            </a:pPr>
            <a:r>
              <a:rPr lang="en-US" sz="1500" b="1" dirty="0">
                <a:solidFill>
                  <a:schemeClr val="tx1"/>
                </a:solidFill>
              </a:rPr>
              <a:t>(a)</a:t>
            </a:r>
            <a:r>
              <a:rPr lang="en-US" sz="1500" dirty="0">
                <a:solidFill>
                  <a:schemeClr val="tx1"/>
                </a:solidFill>
              </a:rPr>
              <a:t> Six rounds: pay out at most </a:t>
            </a:r>
            <a:r>
              <a:rPr lang="en-US" sz="1500" b="1" dirty="0">
                <a:solidFill>
                  <a:schemeClr val="tx1"/>
                </a:solidFill>
              </a:rPr>
              <a:t>18.8%</a:t>
            </a:r>
            <a:r>
              <a:rPr lang="en-US" sz="1500" dirty="0">
                <a:solidFill>
                  <a:schemeClr val="tx1"/>
                </a:solidFill>
              </a:rPr>
              <a:t> of savings, $132m; the end condition binds</a:t>
            </a:r>
            <a:endParaRPr lang="en-US" sz="1500" dirty="0"/>
          </a:p>
          <a:p>
            <a:pPr marL="228600" indent="-228600">
              <a:spcAft>
                <a:spcPts val="800"/>
              </a:spcAft>
              <a:buSzPct val="100000"/>
              <a:buChar char="•"/>
            </a:pPr>
            <a:r>
              <a:rPr lang="en-US" sz="1500" b="1" dirty="0">
                <a:solidFill>
                  <a:schemeClr val="tx1"/>
                </a:solidFill>
              </a:rPr>
              <a:t>(b)</a:t>
            </a:r>
            <a:r>
              <a:rPr lang="en-US" sz="1500" dirty="0">
                <a:solidFill>
                  <a:schemeClr val="tx1"/>
                </a:solidFill>
              </a:rPr>
              <a:t> Half payout: three rounds, in </a:t>
            </a:r>
            <a:r>
              <a:rPr lang="en-US" sz="1500" b="1" dirty="0">
                <a:solidFill>
                  <a:schemeClr val="tx1"/>
                </a:solidFill>
              </a:rPr>
              <a:t>years 1, 2 and 4</a:t>
            </a:r>
            <a:r>
              <a:rPr lang="en-US" sz="1500" dirty="0">
                <a:solidFill>
                  <a:schemeClr val="tx1"/>
                </a:solidFill>
              </a:rPr>
              <a:t>; $324m paid out, $584m at the end</a:t>
            </a:r>
            <a:endParaRPr lang="en-US" sz="1500" dirty="0"/>
          </a:p>
          <a:p>
            <a:pPr marL="228600" indent="-228600">
              <a:spcAft>
                <a:spcPts val="800"/>
              </a:spcAft>
              <a:buSzPct val="100000"/>
              <a:buChar char="•"/>
            </a:pPr>
            <a:r>
              <a:rPr lang="en-US" sz="1500" b="1" dirty="0">
                <a:solidFill>
                  <a:schemeClr val="tx1"/>
                </a:solidFill>
              </a:rPr>
              <a:t>(c)</a:t>
            </a:r>
            <a:r>
              <a:rPr lang="en-US" sz="1500" dirty="0">
                <a:solidFill>
                  <a:schemeClr val="tx1"/>
                </a:solidFill>
              </a:rPr>
              <a:t> Both pledges: $182m after the sixth round; it rewrites the board's appetite</a:t>
            </a:r>
            <a:endParaRPr lang="en-US" sz="1500" dirty="0"/>
          </a:p>
          <a:p>
            <a:pPr marL="228600" indent="-228600">
              <a:spcAft>
                <a:spcPts val="800"/>
              </a:spcAft>
              <a:buSzPct val="100000"/>
              <a:buChar char="•"/>
            </a:pPr>
            <a:r>
              <a:rPr lang="en-US" sz="1500" b="1" dirty="0">
                <a:solidFill>
                  <a:schemeClr val="tx1"/>
                </a:solidFill>
              </a:rPr>
              <a:t>Optimizer:</a:t>
            </a:r>
            <a:r>
              <a:rPr lang="en-US" sz="1500" dirty="0">
                <a:solidFill>
                  <a:schemeClr val="tx1"/>
                </a:solidFill>
              </a:rPr>
              <a:t> no credit buys two rounds and </a:t>
            </a:r>
            <a:r>
              <a:rPr lang="en-US" sz="1500" b="1" dirty="0">
                <a:solidFill>
                  <a:schemeClr val="tx1"/>
                </a:solidFill>
              </a:rPr>
              <a:t>$505m</a:t>
            </a:r>
            <a:r>
              <a:rPr lang="en-US" sz="1500" dirty="0">
                <a:solidFill>
                  <a:schemeClr val="tx1"/>
                </a:solidFill>
              </a:rPr>
              <a:t> of payouts; rounds switch at 2.9, 10.7, 25.4 and 53.9 years</a:t>
            </a:r>
            <a:endParaRPr lang="en-US" sz="1500" dirty="0"/>
          </a:p>
          <a:p>
            <a:pPr marL="228600" indent="-228600">
              <a:spcAft>
                <a:spcPts val="800"/>
              </a:spcAft>
              <a:buSzPct val="100000"/>
              <a:buChar char="•"/>
            </a:pPr>
            <a:r>
              <a:rPr lang="en-US" sz="1500" b="1" dirty="0">
                <a:solidFill>
                  <a:schemeClr val="tx1"/>
                </a:solidFill>
              </a:rPr>
              <a:t>Step 6:</a:t>
            </a:r>
            <a:r>
              <a:rPr lang="en-US" sz="1500" dirty="0">
                <a:solidFill>
                  <a:schemeClr val="tx1"/>
                </a:solidFill>
              </a:rPr>
              <a:t> lumpy outside, linear inside: 64 small linear programs; Mayer form changes no plan</a:t>
            </a:r>
            <a:endParaRPr lang="en-US" sz="1500" dirty="0"/>
          </a:p>
        </p:txBody>
      </p:sp>
      <p:pic>
        <p:nvPicPr>
          <p:cNvPr id="6" name="Figure" descr="Figure 2.3: the joint plan, three repairs and the optimizer">    </p:cNvPr>
          <p:cNvPicPr>
            <a:picLocks noChangeAspect="1"/>
          </p:cNvPicPr>
          <p:nvPr/>
        </p:nvPicPr>
        <p:blipFill>
          <a:blip r:embed="rId1"/>
          <a:stretch>
            <a:fillRect/>
          </a:stretch>
        </p:blipFill>
        <p:spPr>
          <a:xfrm>
            <a:off x="5613063" y="1792872"/>
            <a:ext cx="6029993" cy="3711167"/>
          </a:xfrm>
          <a:prstGeom prst="rect">
            <a:avLst/>
          </a:prstGeom>
        </p:spPr>
      </p:pic>
      <p:sp>
        <p:nvSpPr>
          <p:cNvPr id="7" name="Caption"/>
          <p:cNvSpPr txBox="1"/>
          <p:nvPr/>
        </p:nvSpPr>
        <p:spPr>
          <a:xfrm>
            <a:off x="5613063" y="5577192"/>
            <a:ext cx="6029993" cy="502920"/>
          </a:xfrm>
          <a:prstGeom prst="rect">
            <a:avLst/>
          </a:prstGeom>
          <a:noFill/>
          <a:ln/>
        </p:spPr>
        <p:txBody>
          <a:bodyPr wrap="square" lIns="0" tIns="0" rIns="0" bIns="0" rtlCol="0" anchor="t"/>
          <a:lstStyle/>
          <a:p>
            <a:pPr indent="0" marL="0">
              <a:buNone/>
            </a:pPr>
            <a:r>
              <a:rPr lang="en-US" sz="1100" i="1" dirty="0">
                <a:solidFill>
                  <a:schemeClr val="tx2"/>
                </a:solidFill>
              </a:rPr>
              <a:t>Figure 2.3. (a) Year-end liquidity under the joint plan and the three repairs. (b) Rounds the optimizer chooses as the credit for year-6 savings grows.</a:t>
            </a:r>
            <a:endParaRPr lang="en-US" sz="11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WORKED EXAMPLE 2.1 · WHAT THE BOARD SHOULD TAKE AWAY</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The pledges clash; the credit is the decision</a:t>
            </a:r>
            <a:endParaRPr lang="en-US" sz="3200" dirty="0"/>
          </a:p>
        </p:txBody>
      </p:sp>
      <p:sp>
        <p:nvSpPr>
          <p:cNvPr id="5" name="Stat card"/>
          <p:cNvSpPr/>
          <p:nvPr/>
        </p:nvSpPr>
        <p:spPr>
          <a:xfrm>
            <a:off x="548640" y="1691640"/>
            <a:ext cx="3515258" cy="2057400"/>
          </a:xfrm>
          <a:prstGeom prst="roundRect">
            <a:avLst>
              <a:gd name="adj" fmla="val 3556"/>
            </a:avLst>
          </a:prstGeom>
          <a:solidFill>
            <a:schemeClr val="bg2"/>
          </a:solidFill>
          <a:ln w="9525">
            <a:solidFill>
              <a:srgbClr val="C4CBD8"/>
            </a:solidFill>
            <a:prstDash val="solid"/>
          </a:ln>
        </p:spPr>
      </p:sp>
      <p:sp>
        <p:nvSpPr>
          <p:cNvPr id="6" name="Stat value"/>
          <p:cNvSpPr txBox="1"/>
          <p:nvPr/>
        </p:nvSpPr>
        <p:spPr>
          <a:xfrm>
            <a:off x="685800" y="1801368"/>
            <a:ext cx="3240938" cy="914400"/>
          </a:xfrm>
          <a:prstGeom prst="rect">
            <a:avLst/>
          </a:prstGeom>
          <a:noFill/>
          <a:ln/>
        </p:spPr>
        <p:txBody>
          <a:bodyPr wrap="square" lIns="0" tIns="0" rIns="0" bIns="0" rtlCol="0" anchor="ctr"/>
          <a:lstStyle/>
          <a:p>
            <a:pPr algn="ctr" indent="0" marL="0">
              <a:buNone/>
            </a:pPr>
            <a:r>
              <a:rPr lang="en-US" sz="4400" b="1" dirty="0">
                <a:solidFill>
                  <a:schemeClr val="tx1"/>
                </a:solidFill>
                <a:latin typeface="Cambria" pitchFamily="34" charset="0"/>
                <a:ea typeface="Cambria" pitchFamily="34" charset="-122"/>
                <a:cs typeface="Cambria" pitchFamily="34" charset="-120"/>
              </a:rPr>
              <a:t>Year 3</a:t>
            </a:r>
            <a:endParaRPr lang="en-US" sz="4400" dirty="0"/>
          </a:p>
        </p:txBody>
      </p:sp>
      <p:sp>
        <p:nvSpPr>
          <p:cNvPr id="7" name="Stat label"/>
          <p:cNvSpPr txBox="1"/>
          <p:nvPr/>
        </p:nvSpPr>
        <p:spPr>
          <a:xfrm>
            <a:off x="685800" y="2697480"/>
            <a:ext cx="3240938" cy="978408"/>
          </a:xfrm>
          <a:prstGeom prst="rect">
            <a:avLst/>
          </a:prstGeom>
          <a:noFill/>
          <a:ln/>
        </p:spPr>
        <p:txBody>
          <a:bodyPr wrap="square" lIns="0" tIns="0" rIns="0" bIns="0" rtlCol="0" anchor="t"/>
          <a:lstStyle/>
          <a:p>
            <a:pPr algn="ctr" indent="0" marL="0">
              <a:buNone/>
            </a:pPr>
            <a:r>
              <a:rPr lang="en-US" sz="1400" dirty="0">
                <a:solidFill>
                  <a:schemeClr val="tx2"/>
                </a:solidFill>
              </a:rPr>
              <a:t>the joint plan dies: round 3 would leave $347.5m, below the floor</a:t>
            </a:r>
            <a:endParaRPr lang="en-US" sz="1400" dirty="0"/>
          </a:p>
        </p:txBody>
      </p:sp>
      <p:sp>
        <p:nvSpPr>
          <p:cNvPr id="8" name="Stat card"/>
          <p:cNvSpPr/>
          <p:nvPr/>
        </p:nvSpPr>
        <p:spPr>
          <a:xfrm>
            <a:off x="4338218" y="1691640"/>
            <a:ext cx="3515258" cy="2057400"/>
          </a:xfrm>
          <a:prstGeom prst="roundRect">
            <a:avLst>
              <a:gd name="adj" fmla="val 3556"/>
            </a:avLst>
          </a:prstGeom>
          <a:solidFill>
            <a:schemeClr val="bg2"/>
          </a:solidFill>
          <a:ln w="9525">
            <a:solidFill>
              <a:srgbClr val="C4CBD8"/>
            </a:solidFill>
            <a:prstDash val="solid"/>
          </a:ln>
        </p:spPr>
      </p:sp>
      <p:sp>
        <p:nvSpPr>
          <p:cNvPr id="9" name="Stat value"/>
          <p:cNvSpPr txBox="1"/>
          <p:nvPr/>
        </p:nvSpPr>
        <p:spPr>
          <a:xfrm>
            <a:off x="4475378" y="1801368"/>
            <a:ext cx="3240938" cy="914400"/>
          </a:xfrm>
          <a:prstGeom prst="rect">
            <a:avLst/>
          </a:prstGeom>
          <a:noFill/>
          <a:ln/>
        </p:spPr>
        <p:txBody>
          <a:bodyPr wrap="square" lIns="0" tIns="0" rIns="0" bIns="0" rtlCol="0" anchor="ctr"/>
          <a:lstStyle/>
          <a:p>
            <a:pPr algn="ctr" indent="0" marL="0">
              <a:buNone/>
            </a:pPr>
            <a:r>
              <a:rPr lang="en-US" sz="4400" b="1" dirty="0">
                <a:solidFill>
                  <a:schemeClr val="tx1"/>
                </a:solidFill>
                <a:latin typeface="Cambria" pitchFamily="34" charset="0"/>
                <a:ea typeface="Cambria" pitchFamily="34" charset="-122"/>
                <a:cs typeface="Cambria" pitchFamily="34" charset="-120"/>
              </a:rPr>
              <a:t>18.8%</a:t>
            </a:r>
            <a:endParaRPr lang="en-US" sz="4400" dirty="0"/>
          </a:p>
        </p:txBody>
      </p:sp>
      <p:sp>
        <p:nvSpPr>
          <p:cNvPr id="10" name="Stat label"/>
          <p:cNvSpPr txBox="1"/>
          <p:nvPr/>
        </p:nvSpPr>
        <p:spPr>
          <a:xfrm>
            <a:off x="4475378" y="2697480"/>
            <a:ext cx="3240938" cy="978408"/>
          </a:xfrm>
          <a:prstGeom prst="rect">
            <a:avLst/>
          </a:prstGeom>
          <a:noFill/>
          <a:ln/>
        </p:spPr>
        <p:txBody>
          <a:bodyPr wrap="square" lIns="0" tIns="0" rIns="0" bIns="0" rtlCol="0" anchor="t"/>
          <a:lstStyle/>
          <a:p>
            <a:pPr algn="ctr" indent="0" marL="0">
              <a:buNone/>
            </a:pPr>
            <a:r>
              <a:rPr lang="en-US" sz="1400" dirty="0">
                <a:solidFill>
                  <a:schemeClr val="tx2"/>
                </a:solidFill>
              </a:rPr>
              <a:t>the most of each year's savings six rounds allow to be paid out</a:t>
            </a:r>
            <a:endParaRPr lang="en-US" sz="1400" dirty="0"/>
          </a:p>
        </p:txBody>
      </p:sp>
      <p:sp>
        <p:nvSpPr>
          <p:cNvPr id="11" name="Stat card"/>
          <p:cNvSpPr/>
          <p:nvPr/>
        </p:nvSpPr>
        <p:spPr>
          <a:xfrm>
            <a:off x="8127797" y="1691640"/>
            <a:ext cx="3515258" cy="2057400"/>
          </a:xfrm>
          <a:prstGeom prst="roundRect">
            <a:avLst>
              <a:gd name="adj" fmla="val 3556"/>
            </a:avLst>
          </a:prstGeom>
          <a:solidFill>
            <a:schemeClr val="tx1"/>
          </a:solidFill>
          <a:ln w="9525">
            <a:solidFill>
              <a:srgbClr val="0F1E3D"/>
            </a:solidFill>
            <a:prstDash val="solid"/>
          </a:ln>
        </p:spPr>
      </p:sp>
      <p:sp>
        <p:nvSpPr>
          <p:cNvPr id="12" name="Stat value"/>
          <p:cNvSpPr txBox="1"/>
          <p:nvPr/>
        </p:nvSpPr>
        <p:spPr>
          <a:xfrm>
            <a:off x="8264957" y="1801368"/>
            <a:ext cx="3240938" cy="914400"/>
          </a:xfrm>
          <a:prstGeom prst="rect">
            <a:avLst/>
          </a:prstGeom>
          <a:noFill/>
          <a:ln/>
        </p:spPr>
        <p:txBody>
          <a:bodyPr wrap="square" lIns="0" tIns="0" rIns="0" bIns="0" rtlCol="0" anchor="ctr"/>
          <a:lstStyle/>
          <a:p>
            <a:pPr algn="ctr" indent="0" marL="0">
              <a:buNone/>
            </a:pPr>
            <a:r>
              <a:rPr lang="en-US" sz="4400" b="1" dirty="0">
                <a:solidFill>
                  <a:schemeClr val="accent1"/>
                </a:solidFill>
                <a:latin typeface="Cambria" pitchFamily="34" charset="0"/>
                <a:ea typeface="Cambria" pitchFamily="34" charset="-122"/>
                <a:cs typeface="Cambria" pitchFamily="34" charset="-120"/>
              </a:rPr>
              <a:t>53.9 years</a:t>
            </a:r>
            <a:endParaRPr lang="en-US" sz="4400" dirty="0"/>
          </a:p>
        </p:txBody>
      </p:sp>
      <p:sp>
        <p:nvSpPr>
          <p:cNvPr id="13" name="Stat label"/>
          <p:cNvSpPr txBox="1"/>
          <p:nvPr/>
        </p:nvSpPr>
        <p:spPr>
          <a:xfrm>
            <a:off x="8264957" y="2697480"/>
            <a:ext cx="3240938" cy="978408"/>
          </a:xfrm>
          <a:prstGeom prst="rect">
            <a:avLst/>
          </a:prstGeom>
          <a:noFill/>
          <a:ln/>
        </p:spPr>
        <p:txBody>
          <a:bodyPr wrap="square" lIns="0" tIns="0" rIns="0" bIns="0" rtlCol="0" anchor="t"/>
          <a:lstStyle/>
          <a:p>
            <a:pPr algn="ctr" indent="0" marL="0">
              <a:buNone/>
            </a:pPr>
            <a:r>
              <a:rPr lang="en-US" sz="1400" dirty="0">
                <a:solidFill>
                  <a:schemeClr val="bg2"/>
                </a:solidFill>
              </a:rPr>
              <a:t>the credit for year-6 savings beyond which the COO's six rounds win</a:t>
            </a:r>
            <a:endParaRPr lang="en-US" sz="1400" dirty="0"/>
          </a:p>
        </p:txBody>
      </p:sp>
      <p:sp>
        <p:nvSpPr>
          <p:cNvPr id="14" name="Bullets"/>
          <p:cNvSpPr txBox="1"/>
          <p:nvPr/>
        </p:nvSpPr>
        <p:spPr>
          <a:xfrm>
            <a:off x="548640" y="4069080"/>
            <a:ext cx="11094415" cy="2103120"/>
          </a:xfrm>
          <a:prstGeom prst="rect">
            <a:avLst/>
          </a:prstGeom>
          <a:noFill/>
          <a:ln/>
        </p:spPr>
        <p:txBody>
          <a:bodyPr wrap="square" lIns="635" tIns="635" rIns="635" bIns="635" rtlCol="0" anchor="t"/>
          <a:lstStyle/>
          <a:p>
            <a:pPr marL="228600" indent="-228600">
              <a:spcAft>
                <a:spcPts val="800"/>
              </a:spcAft>
              <a:buSzPct val="100000"/>
              <a:buChar char="•"/>
            </a:pPr>
            <a:r>
              <a:rPr lang="en-US" sz="1800" dirty="0">
                <a:solidFill>
                  <a:schemeClr val="tx1"/>
                </a:solidFill>
              </a:rPr>
              <a:t>Choose a pledge: under a fifth of the savings with six rounds, or the half payout with three rounds</a:t>
            </a:r>
            <a:endParaRPr lang="en-US" sz="1800" dirty="0"/>
          </a:p>
          <a:p>
            <a:pPr marL="228600" indent="-228600">
              <a:spcAft>
                <a:spcPts val="800"/>
              </a:spcAft>
              <a:buSzPct val="100000"/>
              <a:buChar char="•"/>
            </a:pPr>
            <a:r>
              <a:rPr lang="en-US" sz="1800" dirty="0">
                <a:solidFill>
                  <a:schemeClr val="tx1"/>
                </a:solidFill>
              </a:rPr>
              <a:t>No credit beyond year 6 buys two rounds and $505m of payouts: the decision is a declaration</a:t>
            </a:r>
            <a:endParaRPr lang="en-US" sz="1800" dirty="0"/>
          </a:p>
          <a:p>
            <a:pPr marL="228600" indent="-228600">
              <a:spcAft>
                <a:spcPts val="800"/>
              </a:spcAft>
              <a:buSzPct val="100000"/>
              <a:buChar char="•"/>
            </a:pPr>
            <a:r>
              <a:rPr lang="en-US" sz="1800" dirty="0">
                <a:solidFill>
                  <a:schemeClr val="tx1"/>
                </a:solidFill>
              </a:rPr>
              <a:t>For discussion: what should Meridian credit for efficiency in place after year 6, and who should own that number?</a:t>
            </a:r>
            <a:endParaRPr lang="en-US" sz="1800" dirty="0"/>
          </a:p>
          <a:p>
            <a:pPr marL="228600" indent="-228600">
              <a:spcAft>
                <a:spcPts val="800"/>
              </a:spcAft>
              <a:buSzPct val="100000"/>
              <a:buChar char="•"/>
            </a:pPr>
            <a:r>
              <a:rPr lang="en-US" sz="1800" dirty="0">
                <a:solidFill>
                  <a:schemeClr val="tx1"/>
                </a:solidFill>
              </a:rPr>
              <a:t>Would your answer change if savings were discounted at 10 percent a year?</a:t>
            </a:r>
            <a:endParaRPr lang="en-US" sz="18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IN PRACTICE · KELLOGG</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Kellogg declares its network in blocks</a:t>
            </a:r>
            <a:endParaRPr lang="en-US" sz="3200" dirty="0"/>
          </a:p>
        </p:txBody>
      </p:sp>
      <p:sp>
        <p:nvSpPr>
          <p:cNvPr id="5" name="Card"/>
          <p:cNvSpPr/>
          <p:nvPr/>
        </p:nvSpPr>
        <p:spPr>
          <a:xfrm>
            <a:off x="548640" y="1691640"/>
            <a:ext cx="3515258" cy="2103120"/>
          </a:xfrm>
          <a:prstGeom prst="roundRect">
            <a:avLst>
              <a:gd name="adj" fmla="val 3478"/>
            </a:avLst>
          </a:prstGeom>
          <a:solidFill>
            <a:schemeClr val="bg2"/>
          </a:solidFill>
          <a:ln w="9525">
            <a:solidFill>
              <a:srgbClr val="C4CBD8"/>
            </a:solidFill>
            <a:prstDash val="solid"/>
          </a:ln>
        </p:spPr>
      </p:sp>
      <p:sp>
        <p:nvSpPr>
          <p:cNvPr id="6" name="Card label"/>
          <p:cNvSpPr txBox="1"/>
          <p:nvPr/>
        </p:nvSpPr>
        <p:spPr>
          <a:xfrm>
            <a:off x="731520" y="1819656"/>
            <a:ext cx="3149498" cy="310896"/>
          </a:xfrm>
          <a:prstGeom prst="rect">
            <a:avLst/>
          </a:prstGeom>
          <a:noFill/>
          <a:ln/>
        </p:spPr>
        <p:txBody>
          <a:bodyPr wrap="square" lIns="0" tIns="0" rIns="0" bIns="0" rtlCol="0" anchor="ctr"/>
          <a:lstStyle/>
          <a:p>
            <a:pPr indent="0" marL="0">
              <a:buNone/>
            </a:pPr>
            <a:r>
              <a:rPr lang="en-US" sz="1300" b="1" dirty="0">
                <a:solidFill>
                  <a:schemeClr val="accent1"/>
                </a:solidFill>
              </a:rPr>
              <a:t>The decision</a:t>
            </a:r>
            <a:endParaRPr lang="en-US" sz="1300" dirty="0"/>
          </a:p>
        </p:txBody>
      </p:sp>
      <p:sp>
        <p:nvSpPr>
          <p:cNvPr id="7" name="Card head"/>
          <p:cNvSpPr txBox="1"/>
          <p:nvPr/>
        </p:nvSpPr>
        <p:spPr>
          <a:xfrm>
            <a:off x="731520" y="2148840"/>
            <a:ext cx="3149498" cy="576072"/>
          </a:xfrm>
          <a:prstGeom prst="rect">
            <a:avLst/>
          </a:prstGeom>
          <a:noFill/>
          <a:ln/>
        </p:spPr>
        <p:txBody>
          <a:bodyPr wrap="square" lIns="0" tIns="0" rIns="0" bIns="0" rtlCol="0" anchor="t"/>
          <a:lstStyle/>
          <a:p>
            <a:pPr indent="0" marL="0">
              <a:buNone/>
            </a:pPr>
            <a:r>
              <a:rPr lang="en-US" sz="1600" b="1" dirty="0">
                <a:solidFill>
                  <a:schemeClr val="tx1"/>
                </a:solidFill>
                <a:latin typeface="Cambria" pitchFamily="34" charset="0"/>
                <a:ea typeface="Cambria" pitchFamily="34" charset="-122"/>
                <a:cs typeface="Cambria" pitchFamily="34" charset="-120"/>
              </a:rPr>
              <a:t>Make, pack, hold, and ship</a:t>
            </a:r>
            <a:endParaRPr lang="en-US" sz="1600" dirty="0"/>
          </a:p>
        </p:txBody>
      </p:sp>
      <p:sp>
        <p:nvSpPr>
          <p:cNvPr id="8" name="Card text"/>
          <p:cNvSpPr txBox="1"/>
          <p:nvPr/>
        </p:nvSpPr>
        <p:spPr>
          <a:xfrm>
            <a:off x="731520" y="2798064"/>
            <a:ext cx="3149498" cy="868680"/>
          </a:xfrm>
          <a:prstGeom prst="rect">
            <a:avLst/>
          </a:prstGeom>
          <a:noFill/>
          <a:ln/>
        </p:spPr>
        <p:txBody>
          <a:bodyPr wrap="square" lIns="0" tIns="0" rIns="0" bIns="0" rtlCol="0" anchor="t"/>
          <a:lstStyle/>
          <a:p>
            <a:pPr indent="0" marL="0">
              <a:buNone/>
            </a:pPr>
            <a:r>
              <a:rPr lang="en-US" sz="1300" dirty="0">
                <a:solidFill>
                  <a:schemeClr val="tx2"/>
                </a:solidFill>
              </a:rPr>
              <a:t>Weekly, for 600-plus cereal stock-keeping units across plants and distribution centers; monthly, budgets and capacity.</a:t>
            </a:r>
            <a:endParaRPr lang="en-US" sz="1300" dirty="0"/>
          </a:p>
        </p:txBody>
      </p:sp>
      <p:sp>
        <p:nvSpPr>
          <p:cNvPr id="9" name="Card"/>
          <p:cNvSpPr/>
          <p:nvPr/>
        </p:nvSpPr>
        <p:spPr>
          <a:xfrm>
            <a:off x="4338218" y="1691640"/>
            <a:ext cx="3515258" cy="2103120"/>
          </a:xfrm>
          <a:prstGeom prst="roundRect">
            <a:avLst>
              <a:gd name="adj" fmla="val 3478"/>
            </a:avLst>
          </a:prstGeom>
          <a:solidFill>
            <a:schemeClr val="bg2"/>
          </a:solidFill>
          <a:ln w="9525">
            <a:solidFill>
              <a:srgbClr val="C4CBD8"/>
            </a:solidFill>
            <a:prstDash val="solid"/>
          </a:ln>
        </p:spPr>
      </p:sp>
      <p:sp>
        <p:nvSpPr>
          <p:cNvPr id="10" name="Card label"/>
          <p:cNvSpPr txBox="1"/>
          <p:nvPr/>
        </p:nvSpPr>
        <p:spPr>
          <a:xfrm>
            <a:off x="4521098" y="1819656"/>
            <a:ext cx="3149498" cy="310896"/>
          </a:xfrm>
          <a:prstGeom prst="rect">
            <a:avLst/>
          </a:prstGeom>
          <a:noFill/>
          <a:ln/>
        </p:spPr>
        <p:txBody>
          <a:bodyPr wrap="square" lIns="0" tIns="0" rIns="0" bIns="0" rtlCol="0" anchor="ctr"/>
          <a:lstStyle/>
          <a:p>
            <a:pPr indent="0" marL="0">
              <a:buNone/>
            </a:pPr>
            <a:r>
              <a:rPr lang="en-US" sz="1300" b="1" dirty="0">
                <a:solidFill>
                  <a:schemeClr val="accent1"/>
                </a:solidFill>
              </a:rPr>
              <a:t>The method</a:t>
            </a:r>
            <a:endParaRPr lang="en-US" sz="1300" dirty="0"/>
          </a:p>
        </p:txBody>
      </p:sp>
      <p:sp>
        <p:nvSpPr>
          <p:cNvPr id="11" name="Card head"/>
          <p:cNvSpPr txBox="1"/>
          <p:nvPr/>
        </p:nvSpPr>
        <p:spPr>
          <a:xfrm>
            <a:off x="4521098" y="2148840"/>
            <a:ext cx="3149498" cy="576072"/>
          </a:xfrm>
          <a:prstGeom prst="rect">
            <a:avLst/>
          </a:prstGeom>
          <a:noFill/>
          <a:ln/>
        </p:spPr>
        <p:txBody>
          <a:bodyPr wrap="square" lIns="0" tIns="0" rIns="0" bIns="0" rtlCol="0" anchor="t"/>
          <a:lstStyle/>
          <a:p>
            <a:pPr indent="0" marL="0">
              <a:buNone/>
            </a:pPr>
            <a:r>
              <a:rPr lang="en-US" sz="1600" b="1" dirty="0">
                <a:solidFill>
                  <a:schemeClr val="tx1"/>
                </a:solidFill>
                <a:latin typeface="Cambria" pitchFamily="34" charset="0"/>
                <a:ea typeface="Cambria" pitchFamily="34" charset="-122"/>
                <a:cs typeface="Cambria" pitchFamily="34" charset="-120"/>
              </a:rPr>
              <a:t>A large linear program</a:t>
            </a:r>
            <a:endParaRPr lang="en-US" sz="1600" dirty="0"/>
          </a:p>
        </p:txBody>
      </p:sp>
      <p:sp>
        <p:nvSpPr>
          <p:cNvPr id="12" name="Card text"/>
          <p:cNvSpPr txBox="1"/>
          <p:nvPr/>
        </p:nvSpPr>
        <p:spPr>
          <a:xfrm>
            <a:off x="4521098" y="2798064"/>
            <a:ext cx="3149498" cy="868680"/>
          </a:xfrm>
          <a:prstGeom prst="rect">
            <a:avLst/>
          </a:prstGeom>
          <a:noFill/>
          <a:ln/>
        </p:spPr>
        <p:txBody>
          <a:bodyPr wrap="square" lIns="0" tIns="0" rIns="0" bIns="0" rtlCol="0" anchor="t"/>
          <a:lstStyle/>
          <a:p>
            <a:pPr indent="0" marL="0">
              <a:buNone/>
            </a:pPr>
            <a:r>
              <a:rPr lang="en-US" sz="1300" dirty="0">
                <a:solidFill>
                  <a:schemeClr val="tx2"/>
                </a:solidFill>
              </a:rPr>
              <a:t>About 100,000 constraints and 700,000 variables; most commitments are elastic goals, broken at a price.</a:t>
            </a:r>
            <a:endParaRPr lang="en-US" sz="1300" dirty="0"/>
          </a:p>
        </p:txBody>
      </p:sp>
      <p:sp>
        <p:nvSpPr>
          <p:cNvPr id="13" name="Card"/>
          <p:cNvSpPr/>
          <p:nvPr/>
        </p:nvSpPr>
        <p:spPr>
          <a:xfrm>
            <a:off x="8127797" y="1691640"/>
            <a:ext cx="3515258" cy="2103120"/>
          </a:xfrm>
          <a:prstGeom prst="roundRect">
            <a:avLst>
              <a:gd name="adj" fmla="val 3478"/>
            </a:avLst>
          </a:prstGeom>
          <a:solidFill>
            <a:schemeClr val="tx1"/>
          </a:solidFill>
          <a:ln w="9525">
            <a:solidFill>
              <a:srgbClr val="0F1E3D"/>
            </a:solidFill>
            <a:prstDash val="solid"/>
          </a:ln>
        </p:spPr>
      </p:sp>
      <p:sp>
        <p:nvSpPr>
          <p:cNvPr id="14" name="Card label"/>
          <p:cNvSpPr txBox="1"/>
          <p:nvPr/>
        </p:nvSpPr>
        <p:spPr>
          <a:xfrm>
            <a:off x="8310677" y="1819656"/>
            <a:ext cx="3149498" cy="310896"/>
          </a:xfrm>
          <a:prstGeom prst="rect">
            <a:avLst/>
          </a:prstGeom>
          <a:noFill/>
          <a:ln/>
        </p:spPr>
        <p:txBody>
          <a:bodyPr wrap="square" lIns="0" tIns="0" rIns="0" bIns="0" rtlCol="0" anchor="ctr"/>
          <a:lstStyle/>
          <a:p>
            <a:pPr indent="0" marL="0">
              <a:buNone/>
            </a:pPr>
            <a:r>
              <a:rPr lang="en-US" sz="1300" b="1" dirty="0">
                <a:solidFill>
                  <a:schemeClr val="accent1"/>
                </a:solidFill>
              </a:rPr>
              <a:t>The result</a:t>
            </a:r>
            <a:endParaRPr lang="en-US" sz="1300" dirty="0"/>
          </a:p>
        </p:txBody>
      </p:sp>
      <p:sp>
        <p:nvSpPr>
          <p:cNvPr id="15" name="Card head"/>
          <p:cNvSpPr txBox="1"/>
          <p:nvPr/>
        </p:nvSpPr>
        <p:spPr>
          <a:xfrm>
            <a:off x="8310677" y="2148840"/>
            <a:ext cx="3149498" cy="576072"/>
          </a:xfrm>
          <a:prstGeom prst="rect">
            <a:avLst/>
          </a:prstGeom>
          <a:noFill/>
          <a:ln/>
        </p:spPr>
        <p:txBody>
          <a:bodyPr wrap="square" lIns="0" tIns="0" rIns="0" bIns="0" rtlCol="0" anchor="t"/>
          <a:lstStyle/>
          <a:p>
            <a:pPr indent="0" marL="0">
              <a:buNone/>
            </a:pPr>
            <a:r>
              <a:rPr lang="en-US" sz="1600" b="1" dirty="0">
                <a:solidFill>
                  <a:schemeClr val="bg1"/>
                </a:solidFill>
                <a:latin typeface="Cambria" pitchFamily="34" charset="0"/>
                <a:ea typeface="Cambria" pitchFamily="34" charset="-122"/>
                <a:cs typeface="Cambria" pitchFamily="34" charset="-120"/>
              </a:rPr>
              <a:t>$4.5m saved in 1995</a:t>
            </a:r>
            <a:endParaRPr lang="en-US" sz="1600" dirty="0"/>
          </a:p>
        </p:txBody>
      </p:sp>
      <p:sp>
        <p:nvSpPr>
          <p:cNvPr id="16" name="Card text"/>
          <p:cNvSpPr txBox="1"/>
          <p:nvPr/>
        </p:nvSpPr>
        <p:spPr>
          <a:xfrm>
            <a:off x="8310677" y="2798064"/>
            <a:ext cx="3149498" cy="868680"/>
          </a:xfrm>
          <a:prstGeom prst="rect">
            <a:avLst/>
          </a:prstGeom>
          <a:noFill/>
          <a:ln/>
        </p:spPr>
        <p:txBody>
          <a:bodyPr wrap="square" lIns="0" tIns="0" rIns="0" bIns="0" rtlCol="0" anchor="t"/>
          <a:lstStyle/>
          <a:p>
            <a:pPr indent="0" marL="0">
              <a:buNone/>
            </a:pPr>
            <a:r>
              <a:rPr lang="en-US" sz="1300" dirty="0">
                <a:solidFill>
                  <a:schemeClr val="bg2"/>
                </a:solidFill>
              </a:rPr>
              <a:t>And a capacity consolidation guided by the model, with projected savings of $35–40m a year.</a:t>
            </a:r>
            <a:endParaRPr lang="en-US" sz="1300" dirty="0"/>
          </a:p>
        </p:txBody>
      </p:sp>
      <p:sp>
        <p:nvSpPr>
          <p:cNvPr id="17" name="Card"/>
          <p:cNvSpPr/>
          <p:nvPr/>
        </p:nvSpPr>
        <p:spPr>
          <a:xfrm>
            <a:off x="548640" y="4069080"/>
            <a:ext cx="3515258" cy="2103120"/>
          </a:xfrm>
          <a:prstGeom prst="roundRect">
            <a:avLst>
              <a:gd name="adj" fmla="val 3478"/>
            </a:avLst>
          </a:prstGeom>
          <a:solidFill>
            <a:schemeClr val="bg2"/>
          </a:solidFill>
          <a:ln w="9525">
            <a:solidFill>
              <a:srgbClr val="C4CBD8"/>
            </a:solidFill>
            <a:prstDash val="solid"/>
          </a:ln>
        </p:spPr>
      </p:sp>
      <p:sp>
        <p:nvSpPr>
          <p:cNvPr id="18" name="Card label"/>
          <p:cNvSpPr txBox="1"/>
          <p:nvPr/>
        </p:nvSpPr>
        <p:spPr>
          <a:xfrm>
            <a:off x="731520" y="4197096"/>
            <a:ext cx="3149498" cy="310896"/>
          </a:xfrm>
          <a:prstGeom prst="rect">
            <a:avLst/>
          </a:prstGeom>
          <a:noFill/>
          <a:ln/>
        </p:spPr>
        <p:txBody>
          <a:bodyPr wrap="square" lIns="0" tIns="0" rIns="0" bIns="0" rtlCol="0" anchor="ctr"/>
          <a:lstStyle/>
          <a:p>
            <a:pPr indent="0" marL="0">
              <a:buNone/>
            </a:pPr>
            <a:r>
              <a:rPr lang="en-US" sz="1300" b="1" dirty="0">
                <a:solidFill>
                  <a:schemeClr val="accent1"/>
                </a:solidFill>
              </a:rPr>
              <a:t>Making it work</a:t>
            </a:r>
            <a:endParaRPr lang="en-US" sz="1300" dirty="0"/>
          </a:p>
        </p:txBody>
      </p:sp>
      <p:sp>
        <p:nvSpPr>
          <p:cNvPr id="19" name="Card head"/>
          <p:cNvSpPr txBox="1"/>
          <p:nvPr/>
        </p:nvSpPr>
        <p:spPr>
          <a:xfrm>
            <a:off x="731520" y="4526280"/>
            <a:ext cx="3149498" cy="576072"/>
          </a:xfrm>
          <a:prstGeom prst="rect">
            <a:avLst/>
          </a:prstGeom>
          <a:noFill/>
          <a:ln/>
        </p:spPr>
        <p:txBody>
          <a:bodyPr wrap="square" lIns="0" tIns="0" rIns="0" bIns="0" rtlCol="0" anchor="t"/>
          <a:lstStyle/>
          <a:p>
            <a:pPr indent="0" marL="0">
              <a:buNone/>
            </a:pPr>
            <a:r>
              <a:rPr lang="en-US" sz="1600" b="1" dirty="0">
                <a:solidFill>
                  <a:schemeClr val="tx1"/>
                </a:solidFill>
                <a:latin typeface="Cambria" pitchFamily="34" charset="0"/>
                <a:ea typeface="Cambria" pitchFamily="34" charset="-122"/>
                <a:cs typeface="Cambria" pitchFamily="34" charset="-120"/>
              </a:rPr>
              <a:t>Costs entered in stages</a:t>
            </a:r>
            <a:endParaRPr lang="en-US" sz="1600" dirty="0"/>
          </a:p>
        </p:txBody>
      </p:sp>
      <p:sp>
        <p:nvSpPr>
          <p:cNvPr id="20" name="Card text"/>
          <p:cNvSpPr txBox="1"/>
          <p:nvPr/>
        </p:nvSpPr>
        <p:spPr>
          <a:xfrm>
            <a:off x="731520" y="5175504"/>
            <a:ext cx="3149498" cy="868680"/>
          </a:xfrm>
          <a:prstGeom prst="rect">
            <a:avLst/>
          </a:prstGeom>
          <a:noFill/>
          <a:ln/>
        </p:spPr>
        <p:txBody>
          <a:bodyPr wrap="square" lIns="0" tIns="0" rIns="0" bIns="0" rtlCol="0" anchor="t"/>
          <a:lstStyle/>
          <a:p>
            <a:pPr indent="0" marL="0">
              <a:buNone/>
            </a:pPr>
            <a:r>
              <a:rPr lang="en-US" sz="1300" dirty="0">
                <a:solidFill>
                  <a:schemeClr val="tx2"/>
                </a:solidFill>
              </a:rPr>
              <a:t>Systemwide average costs first; true manufacturing costs by 1994, because the full shift at once would have been impractical.</a:t>
            </a:r>
            <a:endParaRPr lang="en-US" sz="1300" dirty="0"/>
          </a:p>
        </p:txBody>
      </p:sp>
      <p:sp>
        <p:nvSpPr>
          <p:cNvPr id="21" name="Card"/>
          <p:cNvSpPr/>
          <p:nvPr/>
        </p:nvSpPr>
        <p:spPr>
          <a:xfrm>
            <a:off x="4338218" y="4069080"/>
            <a:ext cx="3515258" cy="2103120"/>
          </a:xfrm>
          <a:prstGeom prst="roundRect">
            <a:avLst>
              <a:gd name="adj" fmla="val 3478"/>
            </a:avLst>
          </a:prstGeom>
          <a:solidFill>
            <a:schemeClr val="bg2"/>
          </a:solidFill>
          <a:ln w="9525">
            <a:solidFill>
              <a:srgbClr val="C4CBD8"/>
            </a:solidFill>
            <a:prstDash val="solid"/>
          </a:ln>
        </p:spPr>
      </p:sp>
      <p:sp>
        <p:nvSpPr>
          <p:cNvPr id="22" name="Card label"/>
          <p:cNvSpPr txBox="1"/>
          <p:nvPr/>
        </p:nvSpPr>
        <p:spPr>
          <a:xfrm>
            <a:off x="4521098" y="4197096"/>
            <a:ext cx="3149498" cy="310896"/>
          </a:xfrm>
          <a:prstGeom prst="rect">
            <a:avLst/>
          </a:prstGeom>
          <a:noFill/>
          <a:ln/>
        </p:spPr>
        <p:txBody>
          <a:bodyPr wrap="square" lIns="0" tIns="0" rIns="0" bIns="0" rtlCol="0" anchor="ctr"/>
          <a:lstStyle/>
          <a:p>
            <a:pPr indent="0" marL="0">
              <a:buNone/>
            </a:pPr>
            <a:r>
              <a:rPr lang="en-US" sz="1300" b="1" dirty="0">
                <a:solidFill>
                  <a:schemeClr val="accent1"/>
                </a:solidFill>
              </a:rPr>
              <a:t>What Meridian takes</a:t>
            </a:r>
            <a:endParaRPr lang="en-US" sz="1300" dirty="0"/>
          </a:p>
        </p:txBody>
      </p:sp>
      <p:sp>
        <p:nvSpPr>
          <p:cNvPr id="23" name="Card head"/>
          <p:cNvSpPr txBox="1"/>
          <p:nvPr/>
        </p:nvSpPr>
        <p:spPr>
          <a:xfrm>
            <a:off x="4521098" y="4526280"/>
            <a:ext cx="3149498" cy="576072"/>
          </a:xfrm>
          <a:prstGeom prst="rect">
            <a:avLst/>
          </a:prstGeom>
          <a:noFill/>
          <a:ln/>
        </p:spPr>
        <p:txBody>
          <a:bodyPr wrap="square" lIns="0" tIns="0" rIns="0" bIns="0" rtlCol="0" anchor="t"/>
          <a:lstStyle/>
          <a:p>
            <a:pPr indent="0" marL="0">
              <a:buNone/>
            </a:pPr>
            <a:r>
              <a:rPr lang="en-US" sz="1600" b="1" dirty="0">
                <a:solidFill>
                  <a:schemeClr val="tx1"/>
                </a:solidFill>
                <a:latin typeface="Cambria" pitchFamily="34" charset="0"/>
                <a:ea typeface="Cambria" pitchFamily="34" charset="-122"/>
                <a:cs typeface="Cambria" pitchFamily="34" charset="-120"/>
              </a:rPr>
              <a:t>Price each commitment's breach</a:t>
            </a:r>
            <a:endParaRPr lang="en-US" sz="1600" dirty="0"/>
          </a:p>
        </p:txBody>
      </p:sp>
      <p:sp>
        <p:nvSpPr>
          <p:cNvPr id="24" name="Card text"/>
          <p:cNvSpPr txBox="1"/>
          <p:nvPr/>
        </p:nvSpPr>
        <p:spPr>
          <a:xfrm>
            <a:off x="4521098" y="5175504"/>
            <a:ext cx="3149498" cy="868680"/>
          </a:xfrm>
          <a:prstGeom prst="rect">
            <a:avLst/>
          </a:prstGeom>
          <a:noFill/>
          <a:ln/>
        </p:spPr>
        <p:txBody>
          <a:bodyPr wrap="square" lIns="0" tIns="0" rIns="0" bIns="0" rtlCol="0" anchor="t"/>
          <a:lstStyle/>
          <a:p>
            <a:pPr indent="0" marL="0">
              <a:buNone/>
            </a:pPr>
            <a:r>
              <a:rPr lang="en-US" sz="1300" dirty="0">
                <a:solidFill>
                  <a:schemeClr val="tx2"/>
                </a:solidFill>
              </a:rPr>
              <a:t>A plan always exists, and the priced violations show where Meridian's commitments clash, and by how much.</a:t>
            </a:r>
            <a:endParaRPr lang="en-US" sz="1300" dirty="0"/>
          </a:p>
        </p:txBody>
      </p:sp>
      <p:sp>
        <p:nvSpPr>
          <p:cNvPr id="25" name="Card"/>
          <p:cNvSpPr/>
          <p:nvPr/>
        </p:nvSpPr>
        <p:spPr>
          <a:xfrm>
            <a:off x="8127797" y="4069080"/>
            <a:ext cx="3515258" cy="2103120"/>
          </a:xfrm>
          <a:prstGeom prst="roundRect">
            <a:avLst>
              <a:gd name="adj" fmla="val 3478"/>
            </a:avLst>
          </a:prstGeom>
          <a:solidFill>
            <a:schemeClr val="bg2"/>
          </a:solidFill>
          <a:ln w="9525">
            <a:solidFill>
              <a:srgbClr val="C4CBD8"/>
            </a:solidFill>
            <a:prstDash val="solid"/>
          </a:ln>
        </p:spPr>
      </p:sp>
      <p:sp>
        <p:nvSpPr>
          <p:cNvPr id="26" name="Card label"/>
          <p:cNvSpPr txBox="1"/>
          <p:nvPr/>
        </p:nvSpPr>
        <p:spPr>
          <a:xfrm>
            <a:off x="8310677" y="4197096"/>
            <a:ext cx="3149498" cy="310896"/>
          </a:xfrm>
          <a:prstGeom prst="rect">
            <a:avLst/>
          </a:prstGeom>
          <a:noFill/>
          <a:ln/>
        </p:spPr>
        <p:txBody>
          <a:bodyPr wrap="square" lIns="0" tIns="0" rIns="0" bIns="0" rtlCol="0" anchor="ctr"/>
          <a:lstStyle/>
          <a:p>
            <a:pPr indent="0" marL="0">
              <a:buNone/>
            </a:pPr>
            <a:r>
              <a:rPr lang="en-US" sz="1300" b="1" dirty="0">
                <a:solidFill>
                  <a:schemeClr val="accent1"/>
                </a:solidFill>
              </a:rPr>
              <a:t>For the board</a:t>
            </a:r>
            <a:endParaRPr lang="en-US" sz="1300" dirty="0"/>
          </a:p>
        </p:txBody>
      </p:sp>
      <p:sp>
        <p:nvSpPr>
          <p:cNvPr id="27" name="Card head"/>
          <p:cNvSpPr txBox="1"/>
          <p:nvPr/>
        </p:nvSpPr>
        <p:spPr>
          <a:xfrm>
            <a:off x="8310677" y="4526280"/>
            <a:ext cx="3149498" cy="576072"/>
          </a:xfrm>
          <a:prstGeom prst="rect">
            <a:avLst/>
          </a:prstGeom>
          <a:noFill/>
          <a:ln/>
        </p:spPr>
        <p:txBody>
          <a:bodyPr wrap="square" lIns="0" tIns="0" rIns="0" bIns="0" rtlCol="0" anchor="t"/>
          <a:lstStyle/>
          <a:p>
            <a:pPr indent="0" marL="0">
              <a:buNone/>
            </a:pPr>
            <a:r>
              <a:rPr lang="en-US" sz="1600" b="1" dirty="0">
                <a:solidFill>
                  <a:schemeClr val="tx1"/>
                </a:solidFill>
                <a:latin typeface="Cambria" pitchFamily="34" charset="0"/>
                <a:ea typeface="Cambria" pitchFamily="34" charset="-122"/>
                <a:cs typeface="Cambria" pitchFamily="34" charset="-120"/>
              </a:rPr>
              <a:t>Who hears when a limit breaks?</a:t>
            </a:r>
            <a:endParaRPr lang="en-US" sz="1600" dirty="0"/>
          </a:p>
        </p:txBody>
      </p:sp>
      <p:sp>
        <p:nvSpPr>
          <p:cNvPr id="28" name="Card text"/>
          <p:cNvSpPr txBox="1"/>
          <p:nvPr/>
        </p:nvSpPr>
        <p:spPr>
          <a:xfrm>
            <a:off x="8310677" y="5175504"/>
            <a:ext cx="3149498" cy="868680"/>
          </a:xfrm>
          <a:prstGeom prst="rect">
            <a:avLst/>
          </a:prstGeom>
          <a:noFill/>
          <a:ln/>
        </p:spPr>
        <p:txBody>
          <a:bodyPr wrap="square" lIns="0" tIns="0" rIns="0" bIns="0" rtlCol="0" anchor="t"/>
          <a:lstStyle/>
          <a:p>
            <a:pPr indent="0" marL="0">
              <a:buNone/>
            </a:pPr>
            <a:r>
              <a:rPr lang="en-US" sz="1300" dirty="0">
                <a:solidFill>
                  <a:schemeClr val="tx2"/>
                </a:solidFill>
              </a:rPr>
              <a:t>When the plan breaks a priced commitment, what does the price say about where to invest?</a:t>
            </a:r>
            <a:endParaRPr lang="en-US" sz="13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AXIOM LAB 2.2 · MODULE AXIOM-02</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Building and diagnosing an instance, in AXIOM</a:t>
            </a:r>
            <a:endParaRPr lang="en-US" sz="3200" dirty="0"/>
          </a:p>
        </p:txBody>
      </p:sp>
      <p:pic>
        <p:nvPicPr>
          <p:cNvPr id="5" name="AXIOM logo" descr="AXIOM">    </p:cNvPr>
          <p:cNvPicPr>
            <a:picLocks noChangeAspect="1"/>
          </p:cNvPicPr>
          <p:nvPr/>
        </p:nvPicPr>
        <p:blipFill>
          <a:blip r:embed="rId1"/>
          <a:stretch>
            <a:fillRect/>
          </a:stretch>
        </p:blipFill>
        <p:spPr>
          <a:xfrm>
            <a:off x="9539935" y="310896"/>
            <a:ext cx="2103120" cy="420624"/>
          </a:xfrm>
          <a:prstGeom prst="rect">
            <a:avLst/>
          </a:prstGeom>
        </p:spPr>
      </p:pic>
      <p:sp>
        <p:nvSpPr>
          <p:cNvPr id="6" name="Situation"/>
          <p:cNvSpPr txBox="1"/>
          <p:nvPr/>
        </p:nvSpPr>
        <p:spPr>
          <a:xfrm>
            <a:off x="548640" y="1645920"/>
            <a:ext cx="11094415" cy="777240"/>
          </a:xfrm>
          <a:prstGeom prst="rect">
            <a:avLst/>
          </a:prstGeom>
          <a:noFill/>
          <a:ln/>
        </p:spPr>
        <p:txBody>
          <a:bodyPr wrap="square" lIns="0" tIns="0" rIns="0" bIns="0" rtlCol="0" anchor="t"/>
          <a:lstStyle/>
          <a:p>
            <a:pPr indent="0" marL="0">
              <a:buNone/>
            </a:pPr>
            <a:r>
              <a:rPr lang="en-US" sz="1500" dirty="0">
                <a:solidFill>
                  <a:schemeClr val="tx1"/>
                </a:solidFill>
              </a:rPr>
              <a:t>Meridian's board has two executive pledges on its automation program and a standing rule that every proposal arrives as an instance, not a spreadsheet. You support the chief financial officer. Open AXIOM, choose Lab 2.2 and load the Meridian automation program.</a:t>
            </a:r>
            <a:endParaRPr lang="en-US" sz="1500" dirty="0"/>
          </a:p>
        </p:txBody>
      </p:sp>
      <p:sp>
        <p:nvSpPr>
          <p:cNvPr id="7" name="Flow line"/>
          <p:cNvSpPr/>
          <p:nvPr/>
        </p:nvSpPr>
        <p:spPr>
          <a:xfrm>
            <a:off x="1658082" y="2880360"/>
            <a:ext cx="8875532" cy="0"/>
          </a:xfrm>
          <a:prstGeom prst="line">
            <a:avLst/>
          </a:prstGeom>
          <a:noFill/>
          <a:ln w="25400">
            <a:solidFill>
              <a:srgbClr val="C4CBD8"/>
            </a:solidFill>
            <a:prstDash val="solid"/>
          </a:ln>
        </p:spPr>
      </p:sp>
      <p:sp>
        <p:nvSpPr>
          <p:cNvPr id="8" name="Number"/>
          <p:cNvSpPr/>
          <p:nvPr/>
        </p:nvSpPr>
        <p:spPr>
          <a:xfrm>
            <a:off x="1383762" y="2606040"/>
            <a:ext cx="548640" cy="548640"/>
          </a:xfrm>
          <a:prstGeom prst="ellipse">
            <a:avLst/>
          </a:prstGeom>
          <a:solidFill>
            <a:schemeClr val="accent1"/>
          </a:solidFill>
          <a:ln w="6350">
            <a:solidFill>
              <a:schemeClr val="accent1"/>
            </a:solidFill>
            <a:prstDash val="solid"/>
          </a:ln>
        </p:spPr>
      </p:sp>
      <p:sp>
        <p:nvSpPr>
          <p:cNvPr id="9" name="Text 5"/>
          <p:cNvSpPr txBox="1"/>
          <p:nvPr/>
        </p:nvSpPr>
        <p:spPr>
          <a:xfrm>
            <a:off x="1383762" y="2606040"/>
            <a:ext cx="548640" cy="548640"/>
          </a:xfrm>
          <a:prstGeom prst="rect">
            <a:avLst/>
          </a:prstGeom>
          <a:noFill/>
          <a:ln/>
        </p:spPr>
        <p:txBody>
          <a:bodyPr wrap="square" lIns="0" tIns="0" rIns="0" bIns="0" rtlCol="0" anchor="ctr"/>
          <a:lstStyle/>
          <a:p>
            <a:pPr algn="ctr" indent="0" marL="0">
              <a:buNone/>
            </a:pPr>
            <a:r>
              <a:rPr lang="en-US" sz="1600" b="1" dirty="0">
                <a:solidFill>
                  <a:schemeClr val="bg1"/>
                </a:solidFill>
                <a:latin typeface="Calibri" pitchFamily="34" charset="0"/>
                <a:ea typeface="Calibri" pitchFamily="34" charset="-122"/>
                <a:cs typeface="Calibri" pitchFamily="34" charset="-120"/>
              </a:rPr>
              <a:t>1</a:t>
            </a:r>
            <a:endParaRPr lang="en-US" sz="1600" dirty="0"/>
          </a:p>
        </p:txBody>
      </p:sp>
      <p:sp>
        <p:nvSpPr>
          <p:cNvPr id="10" name="Flow head"/>
          <p:cNvSpPr txBox="1"/>
          <p:nvPr/>
        </p:nvSpPr>
        <p:spPr>
          <a:xfrm>
            <a:off x="621792" y="3291840"/>
            <a:ext cx="2072579" cy="548640"/>
          </a:xfrm>
          <a:prstGeom prst="rect">
            <a:avLst/>
          </a:prstGeom>
          <a:noFill/>
          <a:ln/>
        </p:spPr>
        <p:txBody>
          <a:bodyPr wrap="square" lIns="0" tIns="0" rIns="0" bIns="0" rtlCol="0" anchor="t"/>
          <a:lstStyle/>
          <a:p>
            <a:pPr algn="ctr" indent="0" marL="0">
              <a:buNone/>
            </a:pPr>
            <a:r>
              <a:rPr lang="en-US" sz="1600" b="1" dirty="0">
                <a:solidFill>
                  <a:schemeClr val="tx1"/>
                </a:solidFill>
                <a:latin typeface="Cambria" pitchFamily="34" charset="0"/>
                <a:ea typeface="Cambria" pitchFamily="34" charset="-122"/>
                <a:cs typeface="Cambria" pitchFamily="34" charset="-120"/>
              </a:rPr>
              <a:t>Build</a:t>
            </a:r>
            <a:endParaRPr lang="en-US" sz="1600" dirty="0"/>
          </a:p>
        </p:txBody>
      </p:sp>
      <p:sp>
        <p:nvSpPr>
          <p:cNvPr id="11" name="Flow text"/>
          <p:cNvSpPr txBox="1"/>
          <p:nvPr/>
        </p:nvSpPr>
        <p:spPr>
          <a:xfrm>
            <a:off x="640080" y="3867912"/>
            <a:ext cx="2036003" cy="1554480"/>
          </a:xfrm>
          <a:prstGeom prst="rect">
            <a:avLst/>
          </a:prstGeom>
          <a:noFill/>
          <a:ln/>
        </p:spPr>
        <p:txBody>
          <a:bodyPr wrap="square" lIns="0" tIns="0" rIns="0" bIns="0" rtlCol="0" anchor="t"/>
          <a:lstStyle/>
          <a:p>
            <a:pPr algn="ctr" indent="0" marL="0">
              <a:buNone/>
            </a:pPr>
            <a:r>
              <a:rPr lang="en-US" sz="1400" dirty="0">
                <a:solidFill>
                  <a:schemeClr val="tx2"/>
                </a:solidFill>
              </a:rPr>
              <a:t>Declare the five blocks; enter savings as a decision and watch the editor refuse.</a:t>
            </a:r>
            <a:endParaRPr lang="en-US" sz="1400" dirty="0"/>
          </a:p>
        </p:txBody>
      </p:sp>
      <p:sp>
        <p:nvSpPr>
          <p:cNvPr id="12" name="Number"/>
          <p:cNvSpPr/>
          <p:nvPr/>
        </p:nvSpPr>
        <p:spPr>
          <a:xfrm>
            <a:off x="3602645" y="2606040"/>
            <a:ext cx="548640" cy="548640"/>
          </a:xfrm>
          <a:prstGeom prst="ellipse">
            <a:avLst/>
          </a:prstGeom>
          <a:solidFill>
            <a:schemeClr val="accent1"/>
          </a:solidFill>
          <a:ln w="6350">
            <a:solidFill>
              <a:schemeClr val="accent1"/>
            </a:solidFill>
            <a:prstDash val="solid"/>
          </a:ln>
        </p:spPr>
      </p:sp>
      <p:sp>
        <p:nvSpPr>
          <p:cNvPr id="13" name="Text 9"/>
          <p:cNvSpPr txBox="1"/>
          <p:nvPr/>
        </p:nvSpPr>
        <p:spPr>
          <a:xfrm>
            <a:off x="3602645" y="2606040"/>
            <a:ext cx="548640" cy="548640"/>
          </a:xfrm>
          <a:prstGeom prst="rect">
            <a:avLst/>
          </a:prstGeom>
          <a:noFill/>
          <a:ln/>
        </p:spPr>
        <p:txBody>
          <a:bodyPr wrap="square" lIns="0" tIns="0" rIns="0" bIns="0" rtlCol="0" anchor="ctr"/>
          <a:lstStyle/>
          <a:p>
            <a:pPr algn="ctr" indent="0" marL="0">
              <a:buNone/>
            </a:pPr>
            <a:r>
              <a:rPr lang="en-US" sz="1600" b="1" dirty="0">
                <a:solidFill>
                  <a:schemeClr val="bg1"/>
                </a:solidFill>
                <a:latin typeface="Calibri" pitchFamily="34" charset="0"/>
                <a:ea typeface="Calibri" pitchFamily="34" charset="-122"/>
                <a:cs typeface="Calibri" pitchFamily="34" charset="-120"/>
              </a:rPr>
              <a:t>2</a:t>
            </a:r>
            <a:endParaRPr lang="en-US" sz="1600" dirty="0"/>
          </a:p>
        </p:txBody>
      </p:sp>
      <p:sp>
        <p:nvSpPr>
          <p:cNvPr id="14" name="Flow head"/>
          <p:cNvSpPr txBox="1"/>
          <p:nvPr/>
        </p:nvSpPr>
        <p:spPr>
          <a:xfrm>
            <a:off x="2840675" y="3291840"/>
            <a:ext cx="2072579" cy="548640"/>
          </a:xfrm>
          <a:prstGeom prst="rect">
            <a:avLst/>
          </a:prstGeom>
          <a:noFill/>
          <a:ln/>
        </p:spPr>
        <p:txBody>
          <a:bodyPr wrap="square" lIns="0" tIns="0" rIns="0" bIns="0" rtlCol="0" anchor="t"/>
          <a:lstStyle/>
          <a:p>
            <a:pPr algn="ctr" indent="0" marL="0">
              <a:buNone/>
            </a:pPr>
            <a:r>
              <a:rPr lang="en-US" sz="1600" b="1" dirty="0">
                <a:solidFill>
                  <a:schemeClr val="tx1"/>
                </a:solidFill>
                <a:latin typeface="Cambria" pitchFamily="34" charset="0"/>
                <a:ea typeface="Cambria" pitchFamily="34" charset="-122"/>
                <a:cs typeface="Cambria" pitchFamily="34" charset="-120"/>
              </a:rPr>
              <a:t>Check</a:t>
            </a:r>
            <a:endParaRPr lang="en-US" sz="1600" dirty="0"/>
          </a:p>
        </p:txBody>
      </p:sp>
      <p:sp>
        <p:nvSpPr>
          <p:cNvPr id="15" name="Flow text"/>
          <p:cNvSpPr txBox="1"/>
          <p:nvPr/>
        </p:nvSpPr>
        <p:spPr>
          <a:xfrm>
            <a:off x="2858963" y="3867912"/>
            <a:ext cx="2036003" cy="1554480"/>
          </a:xfrm>
          <a:prstGeom prst="rect">
            <a:avLst/>
          </a:prstGeom>
          <a:noFill/>
          <a:ln/>
        </p:spPr>
        <p:txBody>
          <a:bodyPr wrap="square" lIns="0" tIns="0" rIns="0" bIns="0" rtlCol="0" anchor="t"/>
          <a:lstStyle/>
          <a:p>
            <a:pPr algn="ctr" indent="0" marL="0">
              <a:buNone/>
            </a:pPr>
            <a:r>
              <a:rPr lang="en-US" sz="1400" dirty="0">
                <a:solidFill>
                  <a:schemeClr val="tx2"/>
                </a:solidFill>
              </a:rPr>
              <a:t>Run the joint plan forward and find the year it dies; compare the COO's plan with all savings kept.</a:t>
            </a:r>
            <a:endParaRPr lang="en-US" sz="1400" dirty="0"/>
          </a:p>
        </p:txBody>
      </p:sp>
      <p:sp>
        <p:nvSpPr>
          <p:cNvPr id="16" name="Number"/>
          <p:cNvSpPr/>
          <p:nvPr/>
        </p:nvSpPr>
        <p:spPr>
          <a:xfrm>
            <a:off x="5821528" y="2606040"/>
            <a:ext cx="548640" cy="548640"/>
          </a:xfrm>
          <a:prstGeom prst="ellipse">
            <a:avLst/>
          </a:prstGeom>
          <a:solidFill>
            <a:schemeClr val="accent1"/>
          </a:solidFill>
          <a:ln w="6350">
            <a:solidFill>
              <a:schemeClr val="accent1"/>
            </a:solidFill>
            <a:prstDash val="solid"/>
          </a:ln>
        </p:spPr>
      </p:sp>
      <p:sp>
        <p:nvSpPr>
          <p:cNvPr id="17" name="Text 13"/>
          <p:cNvSpPr txBox="1"/>
          <p:nvPr/>
        </p:nvSpPr>
        <p:spPr>
          <a:xfrm>
            <a:off x="5821528" y="2606040"/>
            <a:ext cx="548640" cy="548640"/>
          </a:xfrm>
          <a:prstGeom prst="rect">
            <a:avLst/>
          </a:prstGeom>
          <a:noFill/>
          <a:ln/>
        </p:spPr>
        <p:txBody>
          <a:bodyPr wrap="square" lIns="0" tIns="0" rIns="0" bIns="0" rtlCol="0" anchor="ctr"/>
          <a:lstStyle/>
          <a:p>
            <a:pPr algn="ctr" indent="0" marL="0">
              <a:buNone/>
            </a:pPr>
            <a:r>
              <a:rPr lang="en-US" sz="1600" b="1" dirty="0">
                <a:solidFill>
                  <a:schemeClr val="bg1"/>
                </a:solidFill>
                <a:latin typeface="Calibri" pitchFamily="34" charset="0"/>
                <a:ea typeface="Calibri" pitchFamily="34" charset="-122"/>
                <a:cs typeface="Calibri" pitchFamily="34" charset="-120"/>
              </a:rPr>
              <a:t>3</a:t>
            </a:r>
            <a:endParaRPr lang="en-US" sz="1600" dirty="0"/>
          </a:p>
        </p:txBody>
      </p:sp>
      <p:sp>
        <p:nvSpPr>
          <p:cNvPr id="18" name="Flow head"/>
          <p:cNvSpPr txBox="1"/>
          <p:nvPr/>
        </p:nvSpPr>
        <p:spPr>
          <a:xfrm>
            <a:off x="5059558" y="3291840"/>
            <a:ext cx="2072579" cy="548640"/>
          </a:xfrm>
          <a:prstGeom prst="rect">
            <a:avLst/>
          </a:prstGeom>
          <a:noFill/>
          <a:ln/>
        </p:spPr>
        <p:txBody>
          <a:bodyPr wrap="square" lIns="0" tIns="0" rIns="0" bIns="0" rtlCol="0" anchor="t"/>
          <a:lstStyle/>
          <a:p>
            <a:pPr algn="ctr" indent="0" marL="0">
              <a:buNone/>
            </a:pPr>
            <a:r>
              <a:rPr lang="en-US" sz="1600" b="1" dirty="0">
                <a:solidFill>
                  <a:schemeClr val="tx1"/>
                </a:solidFill>
                <a:latin typeface="Cambria" pitchFamily="34" charset="0"/>
                <a:ea typeface="Cambria" pitchFamily="34" charset="-122"/>
                <a:cs typeface="Cambria" pitchFamily="34" charset="-120"/>
              </a:rPr>
              <a:t>Diagnose</a:t>
            </a:r>
            <a:endParaRPr lang="en-US" sz="1600" dirty="0"/>
          </a:p>
        </p:txBody>
      </p:sp>
      <p:sp>
        <p:nvSpPr>
          <p:cNvPr id="19" name="Flow text"/>
          <p:cNvSpPr txBox="1"/>
          <p:nvPr/>
        </p:nvSpPr>
        <p:spPr>
          <a:xfrm>
            <a:off x="5077846" y="3867912"/>
            <a:ext cx="2036003" cy="1554480"/>
          </a:xfrm>
          <a:prstGeom prst="rect">
            <a:avLst/>
          </a:prstGeom>
          <a:noFill/>
          <a:ln/>
        </p:spPr>
        <p:txBody>
          <a:bodyPr wrap="square" lIns="0" tIns="0" rIns="0" bIns="0" rtlCol="0" anchor="t"/>
          <a:lstStyle/>
          <a:p>
            <a:pPr algn="ctr" indent="0" marL="0">
              <a:buNone/>
            </a:pPr>
            <a:r>
              <a:rPr lang="en-US" sz="1400" dirty="0">
                <a:solidFill>
                  <a:schemeClr val="tx2"/>
                </a:solidFill>
              </a:rPr>
              <a:t>Run the deletion filter twice and record both clashes; drop the floor alone.</a:t>
            </a:r>
            <a:endParaRPr lang="en-US" sz="1400" dirty="0"/>
          </a:p>
        </p:txBody>
      </p:sp>
      <p:sp>
        <p:nvSpPr>
          <p:cNvPr id="20" name="Number"/>
          <p:cNvSpPr/>
          <p:nvPr/>
        </p:nvSpPr>
        <p:spPr>
          <a:xfrm>
            <a:off x="8040411" y="2606040"/>
            <a:ext cx="548640" cy="548640"/>
          </a:xfrm>
          <a:prstGeom prst="ellipse">
            <a:avLst/>
          </a:prstGeom>
          <a:solidFill>
            <a:schemeClr val="accent1"/>
          </a:solidFill>
          <a:ln w="6350">
            <a:solidFill>
              <a:schemeClr val="accent1"/>
            </a:solidFill>
            <a:prstDash val="solid"/>
          </a:ln>
        </p:spPr>
      </p:sp>
      <p:sp>
        <p:nvSpPr>
          <p:cNvPr id="21" name="Text 17"/>
          <p:cNvSpPr txBox="1"/>
          <p:nvPr/>
        </p:nvSpPr>
        <p:spPr>
          <a:xfrm>
            <a:off x="8040411" y="2606040"/>
            <a:ext cx="548640" cy="548640"/>
          </a:xfrm>
          <a:prstGeom prst="rect">
            <a:avLst/>
          </a:prstGeom>
          <a:noFill/>
          <a:ln/>
        </p:spPr>
        <p:txBody>
          <a:bodyPr wrap="square" lIns="0" tIns="0" rIns="0" bIns="0" rtlCol="0" anchor="ctr"/>
          <a:lstStyle/>
          <a:p>
            <a:pPr algn="ctr" indent="0" marL="0">
              <a:buNone/>
            </a:pPr>
            <a:r>
              <a:rPr lang="en-US" sz="1600" b="1" dirty="0">
                <a:solidFill>
                  <a:schemeClr val="bg1"/>
                </a:solidFill>
                <a:latin typeface="Calibri" pitchFamily="34" charset="0"/>
                <a:ea typeface="Calibri" pitchFamily="34" charset="-122"/>
                <a:cs typeface="Calibri" pitchFamily="34" charset="-120"/>
              </a:rPr>
              <a:t>4</a:t>
            </a:r>
            <a:endParaRPr lang="en-US" sz="1600" dirty="0"/>
          </a:p>
        </p:txBody>
      </p:sp>
      <p:sp>
        <p:nvSpPr>
          <p:cNvPr id="22" name="Flow head"/>
          <p:cNvSpPr txBox="1"/>
          <p:nvPr/>
        </p:nvSpPr>
        <p:spPr>
          <a:xfrm>
            <a:off x="7278441" y="3291840"/>
            <a:ext cx="2072579" cy="548640"/>
          </a:xfrm>
          <a:prstGeom prst="rect">
            <a:avLst/>
          </a:prstGeom>
          <a:noFill/>
          <a:ln/>
        </p:spPr>
        <p:txBody>
          <a:bodyPr wrap="square" lIns="0" tIns="0" rIns="0" bIns="0" rtlCol="0" anchor="t"/>
          <a:lstStyle/>
          <a:p>
            <a:pPr algn="ctr" indent="0" marL="0">
              <a:buNone/>
            </a:pPr>
            <a:r>
              <a:rPr lang="en-US" sz="1600" b="1" dirty="0">
                <a:solidFill>
                  <a:schemeClr val="tx1"/>
                </a:solidFill>
                <a:latin typeface="Cambria" pitchFamily="34" charset="0"/>
                <a:ea typeface="Cambria" pitchFamily="34" charset="-122"/>
                <a:cs typeface="Cambria" pitchFamily="34" charset="-120"/>
              </a:rPr>
              <a:t>Price</a:t>
            </a:r>
            <a:endParaRPr lang="en-US" sz="1600" dirty="0"/>
          </a:p>
        </p:txBody>
      </p:sp>
      <p:sp>
        <p:nvSpPr>
          <p:cNvPr id="23" name="Flow text"/>
          <p:cNvSpPr txBox="1"/>
          <p:nvPr/>
        </p:nvSpPr>
        <p:spPr>
          <a:xfrm>
            <a:off x="7296729" y="3867912"/>
            <a:ext cx="2036003" cy="1554480"/>
          </a:xfrm>
          <a:prstGeom prst="rect">
            <a:avLst/>
          </a:prstGeom>
          <a:noFill/>
          <a:ln/>
        </p:spPr>
        <p:txBody>
          <a:bodyPr wrap="square" lIns="0" tIns="0" rIns="0" bIns="0" rtlCol="0" anchor="t"/>
          <a:lstStyle/>
          <a:p>
            <a:pPr algn="ctr" indent="0" marL="0">
              <a:buNone/>
            </a:pPr>
            <a:r>
              <a:rPr lang="en-US" sz="1400" dirty="0">
                <a:solidFill>
                  <a:schemeClr val="tx2"/>
                </a:solidFill>
              </a:rPr>
              <a:t>Find the largest payout share or the most rounds each repair allows; rebuild Table 2.7.</a:t>
            </a:r>
            <a:endParaRPr lang="en-US" sz="1400" dirty="0"/>
          </a:p>
        </p:txBody>
      </p:sp>
      <p:sp>
        <p:nvSpPr>
          <p:cNvPr id="24" name="Number"/>
          <p:cNvSpPr/>
          <p:nvPr/>
        </p:nvSpPr>
        <p:spPr>
          <a:xfrm>
            <a:off x="10259294" y="2606040"/>
            <a:ext cx="548640" cy="548640"/>
          </a:xfrm>
          <a:prstGeom prst="ellipse">
            <a:avLst/>
          </a:prstGeom>
          <a:solidFill>
            <a:schemeClr val="accent1"/>
          </a:solidFill>
          <a:ln w="6350">
            <a:solidFill>
              <a:schemeClr val="accent1"/>
            </a:solidFill>
            <a:prstDash val="solid"/>
          </a:ln>
        </p:spPr>
      </p:sp>
      <p:sp>
        <p:nvSpPr>
          <p:cNvPr id="25" name="Text 21"/>
          <p:cNvSpPr txBox="1"/>
          <p:nvPr/>
        </p:nvSpPr>
        <p:spPr>
          <a:xfrm>
            <a:off x="10259294" y="2606040"/>
            <a:ext cx="548640" cy="548640"/>
          </a:xfrm>
          <a:prstGeom prst="rect">
            <a:avLst/>
          </a:prstGeom>
          <a:noFill/>
          <a:ln/>
        </p:spPr>
        <p:txBody>
          <a:bodyPr wrap="square" lIns="0" tIns="0" rIns="0" bIns="0" rtlCol="0" anchor="ctr"/>
          <a:lstStyle/>
          <a:p>
            <a:pPr algn="ctr" indent="0" marL="0">
              <a:buNone/>
            </a:pPr>
            <a:r>
              <a:rPr lang="en-US" sz="1600" b="1" dirty="0">
                <a:solidFill>
                  <a:schemeClr val="bg1"/>
                </a:solidFill>
                <a:latin typeface="Calibri" pitchFamily="34" charset="0"/>
                <a:ea typeface="Calibri" pitchFamily="34" charset="-122"/>
                <a:cs typeface="Calibri" pitchFamily="34" charset="-120"/>
              </a:rPr>
              <a:t>5</a:t>
            </a:r>
            <a:endParaRPr lang="en-US" sz="1600" dirty="0"/>
          </a:p>
        </p:txBody>
      </p:sp>
      <p:sp>
        <p:nvSpPr>
          <p:cNvPr id="26" name="Flow head"/>
          <p:cNvSpPr txBox="1"/>
          <p:nvPr/>
        </p:nvSpPr>
        <p:spPr>
          <a:xfrm>
            <a:off x="9497324" y="3291840"/>
            <a:ext cx="2072579" cy="548640"/>
          </a:xfrm>
          <a:prstGeom prst="rect">
            <a:avLst/>
          </a:prstGeom>
          <a:noFill/>
          <a:ln/>
        </p:spPr>
        <p:txBody>
          <a:bodyPr wrap="square" lIns="0" tIns="0" rIns="0" bIns="0" rtlCol="0" anchor="t"/>
          <a:lstStyle/>
          <a:p>
            <a:pPr algn="ctr" indent="0" marL="0">
              <a:buNone/>
            </a:pPr>
            <a:r>
              <a:rPr lang="en-US" sz="1600" b="1" dirty="0">
                <a:solidFill>
                  <a:schemeClr val="tx1"/>
                </a:solidFill>
                <a:latin typeface="Cambria" pitchFamily="34" charset="0"/>
                <a:ea typeface="Cambria" pitchFamily="34" charset="-122"/>
                <a:cs typeface="Cambria" pitchFamily="34" charset="-120"/>
              </a:rPr>
              <a:t>Reweight</a:t>
            </a:r>
            <a:endParaRPr lang="en-US" sz="1600" dirty="0"/>
          </a:p>
        </p:txBody>
      </p:sp>
      <p:sp>
        <p:nvSpPr>
          <p:cNvPr id="27" name="Flow text"/>
          <p:cNvSpPr txBox="1"/>
          <p:nvPr/>
        </p:nvSpPr>
        <p:spPr>
          <a:xfrm>
            <a:off x="9515612" y="3867912"/>
            <a:ext cx="2036003" cy="1554480"/>
          </a:xfrm>
          <a:prstGeom prst="rect">
            <a:avLst/>
          </a:prstGeom>
          <a:noFill/>
          <a:ln/>
        </p:spPr>
        <p:txBody>
          <a:bodyPr wrap="square" lIns="0" tIns="0" rIns="0" bIns="0" rtlCol="0" anchor="t"/>
          <a:lstStyle/>
          <a:p>
            <a:pPr algn="ctr" indent="0" marL="0">
              <a:buNone/>
            </a:pPr>
            <a:r>
              <a:rPr lang="en-US" sz="1400" dirty="0">
                <a:solidFill>
                  <a:schemeClr val="tx2"/>
                </a:solidFill>
              </a:rPr>
              <a:t>Move the terminal credit from 0 to 60 years; switch to Mayer form; export in standard form.</a:t>
            </a:r>
            <a:endParaRPr lang="en-US" sz="1400" dirty="0"/>
          </a:p>
        </p:txBody>
      </p:sp>
      <p:sp>
        <p:nvSpPr>
          <p:cNvPr id="28" name="Deliverable card"/>
          <p:cNvSpPr/>
          <p:nvPr/>
        </p:nvSpPr>
        <p:spPr>
          <a:xfrm>
            <a:off x="548640" y="5486400"/>
            <a:ext cx="11094415" cy="685800"/>
          </a:xfrm>
          <a:prstGeom prst="roundRect">
            <a:avLst>
              <a:gd name="adj" fmla="val 10667"/>
            </a:avLst>
          </a:prstGeom>
          <a:solidFill>
            <a:schemeClr val="bg2"/>
          </a:solidFill>
          <a:ln w="9525">
            <a:solidFill>
              <a:srgbClr val="C4CBD8"/>
            </a:solidFill>
            <a:prstDash val="solid"/>
          </a:ln>
        </p:spPr>
      </p:sp>
      <p:sp>
        <p:nvSpPr>
          <p:cNvPr id="29" name="Deliverable"/>
          <p:cNvSpPr txBox="1"/>
          <p:nvPr/>
        </p:nvSpPr>
        <p:spPr>
          <a:xfrm>
            <a:off x="777240" y="5559552"/>
            <a:ext cx="10637215" cy="539496"/>
          </a:xfrm>
          <a:prstGeom prst="rect">
            <a:avLst/>
          </a:prstGeom>
          <a:noFill/>
          <a:ln/>
        </p:spPr>
        <p:txBody>
          <a:bodyPr wrap="square" lIns="0" tIns="0" rIns="0" bIns="0" rtlCol="0" anchor="ctr"/>
          <a:lstStyle/>
          <a:p>
            <a:pPr indent="0" marL="0">
              <a:buNone/>
            </a:pPr>
            <a:r>
              <a:rPr lang="en-US" sz="1400" b="1" dirty="0">
                <a:solidFill>
                  <a:schemeClr val="tx1"/>
                </a:solidFill>
              </a:rPr>
              <a:t>Deliverable:</a:t>
            </a:r>
            <a:r>
              <a:rPr lang="en-US" sz="1400" dirty="0">
                <a:solidFill>
                  <a:schemeClr val="tx1"/>
                </a:solidFill>
              </a:rPr>
              <a:t> a one-page note to the board: the instance card, the year the joint plan dies, the two clashes, the three repairs with their prices, and a recommendation on the terminal credit, with its owner. About 75 minutes.</a:t>
            </a:r>
            <a:endParaRPr lang="en-US" sz="14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KEY TAKEAWAYS</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What to carry forward</a:t>
            </a:r>
            <a:endParaRPr lang="en-US" sz="3200" dirty="0"/>
          </a:p>
        </p:txBody>
      </p:sp>
      <p:sp>
        <p:nvSpPr>
          <p:cNvPr id="5" name="Number"/>
          <p:cNvSpPr/>
          <p:nvPr/>
        </p:nvSpPr>
        <p:spPr>
          <a:xfrm>
            <a:off x="548640" y="1737360"/>
            <a:ext cx="566928" cy="566928"/>
          </a:xfrm>
          <a:prstGeom prst="ellipse">
            <a:avLst/>
          </a:prstGeom>
          <a:solidFill>
            <a:schemeClr val="accent1"/>
          </a:solidFill>
          <a:ln w="6350">
            <a:solidFill>
              <a:schemeClr val="accent1"/>
            </a:solidFill>
            <a:prstDash val="solid"/>
          </a:ln>
        </p:spPr>
      </p:sp>
      <p:sp>
        <p:nvSpPr>
          <p:cNvPr id="6" name="Text 3"/>
          <p:cNvSpPr txBox="1"/>
          <p:nvPr/>
        </p:nvSpPr>
        <p:spPr>
          <a:xfrm>
            <a:off x="548640" y="1737360"/>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1</a:t>
            </a:r>
            <a:endParaRPr lang="en-US" sz="1500" dirty="0"/>
          </a:p>
        </p:txBody>
      </p:sp>
      <p:sp>
        <p:nvSpPr>
          <p:cNvPr id="7" name="Row text"/>
          <p:cNvSpPr txBox="1"/>
          <p:nvPr/>
        </p:nvSpPr>
        <p:spPr>
          <a:xfrm>
            <a:off x="1325880" y="1691640"/>
            <a:ext cx="10317175" cy="841248"/>
          </a:xfrm>
          <a:prstGeom prst="rect">
            <a:avLst/>
          </a:prstGeom>
          <a:noFill/>
          <a:ln/>
        </p:spPr>
        <p:txBody>
          <a:bodyPr wrap="square" lIns="0" tIns="0" rIns="0" bIns="0" rtlCol="0" anchor="ctr"/>
          <a:lstStyle/>
          <a:p>
            <a:pPr indent="0" marL="0">
              <a:buNone/>
            </a:pPr>
            <a:r>
              <a:rPr lang="en-US" sz="1500" dirty="0">
                <a:solidFill>
                  <a:schemeClr val="tx1"/>
                </a:solidFill>
              </a:rPr>
              <a:t>A solver takes an instance, not a problem: the GEOP with every declared object filled in, in five blocks—dynamics, admissible decisions, path commitments, start and end conditions, and uncertainty—with empty blocks declared empty.</a:t>
            </a:r>
            <a:endParaRPr lang="en-US" sz="1500" dirty="0"/>
          </a:p>
        </p:txBody>
      </p:sp>
      <p:sp>
        <p:nvSpPr>
          <p:cNvPr id="8" name="Number"/>
          <p:cNvSpPr/>
          <p:nvPr/>
        </p:nvSpPr>
        <p:spPr>
          <a:xfrm>
            <a:off x="548640" y="2633472"/>
            <a:ext cx="566928" cy="566928"/>
          </a:xfrm>
          <a:prstGeom prst="ellipse">
            <a:avLst/>
          </a:prstGeom>
          <a:solidFill>
            <a:schemeClr val="accent1"/>
          </a:solidFill>
          <a:ln w="6350">
            <a:solidFill>
              <a:schemeClr val="accent1"/>
            </a:solidFill>
            <a:prstDash val="solid"/>
          </a:ln>
        </p:spPr>
      </p:sp>
      <p:sp>
        <p:nvSpPr>
          <p:cNvPr id="9" name="Text 6"/>
          <p:cNvSpPr txBox="1"/>
          <p:nvPr/>
        </p:nvSpPr>
        <p:spPr>
          <a:xfrm>
            <a:off x="548640" y="2633472"/>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2</a:t>
            </a:r>
            <a:endParaRPr lang="en-US" sz="1500" dirty="0"/>
          </a:p>
        </p:txBody>
      </p:sp>
      <p:sp>
        <p:nvSpPr>
          <p:cNvPr id="10" name="Row text"/>
          <p:cNvSpPr txBox="1"/>
          <p:nvPr/>
        </p:nvSpPr>
        <p:spPr>
          <a:xfrm>
            <a:off x="1325880" y="2587752"/>
            <a:ext cx="10317175" cy="841248"/>
          </a:xfrm>
          <a:prstGeom prst="rect">
            <a:avLst/>
          </a:prstGeom>
          <a:noFill/>
          <a:ln/>
        </p:spPr>
        <p:txBody>
          <a:bodyPr wrap="square" lIns="0" tIns="0" rIns="0" bIns="0" rtlCol="0" anchor="ctr"/>
          <a:lstStyle/>
          <a:p>
            <a:pPr indent="0" marL="0">
              <a:buNone/>
            </a:pPr>
            <a:r>
              <a:rPr lang="en-US" sz="1500" dirty="0">
                <a:solidFill>
                  <a:schemeClr val="tx1"/>
                </a:solidFill>
              </a:rPr>
              <a:t>Decisions are chosen and states are induced; every claim about a plan's value or feasibility is a simulation anyone can rerun.</a:t>
            </a:r>
            <a:endParaRPr lang="en-US" sz="1500" dirty="0"/>
          </a:p>
        </p:txBody>
      </p:sp>
      <p:sp>
        <p:nvSpPr>
          <p:cNvPr id="11" name="Number"/>
          <p:cNvSpPr/>
          <p:nvPr/>
        </p:nvSpPr>
        <p:spPr>
          <a:xfrm>
            <a:off x="548640" y="3529584"/>
            <a:ext cx="566928" cy="566928"/>
          </a:xfrm>
          <a:prstGeom prst="ellipse">
            <a:avLst/>
          </a:prstGeom>
          <a:solidFill>
            <a:schemeClr val="accent1"/>
          </a:solidFill>
          <a:ln w="6350">
            <a:solidFill>
              <a:schemeClr val="accent1"/>
            </a:solidFill>
            <a:prstDash val="solid"/>
          </a:ln>
        </p:spPr>
      </p:sp>
      <p:sp>
        <p:nvSpPr>
          <p:cNvPr id="12" name="Text 9"/>
          <p:cNvSpPr txBox="1"/>
          <p:nvPr/>
        </p:nvSpPr>
        <p:spPr>
          <a:xfrm>
            <a:off x="548640" y="3529584"/>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3</a:t>
            </a:r>
            <a:endParaRPr lang="en-US" sz="1500" dirty="0"/>
          </a:p>
        </p:txBody>
      </p:sp>
      <p:sp>
        <p:nvSpPr>
          <p:cNvPr id="13" name="Row text"/>
          <p:cNvSpPr txBox="1"/>
          <p:nvPr/>
        </p:nvSpPr>
        <p:spPr>
          <a:xfrm>
            <a:off x="1325880" y="3483864"/>
            <a:ext cx="10317175" cy="841248"/>
          </a:xfrm>
          <a:prstGeom prst="rect">
            <a:avLst/>
          </a:prstGeom>
          <a:noFill/>
          <a:ln/>
        </p:spPr>
        <p:txBody>
          <a:bodyPr wrap="square" lIns="0" tIns="0" rIns="0" bIns="0" rtlCol="0" anchor="ctr"/>
          <a:lstStyle/>
          <a:p>
            <a:pPr indent="0" marL="0">
              <a:buNone/>
            </a:pPr>
            <a:r>
              <a:rPr lang="en-US" sz="1500" dirty="0">
                <a:solidFill>
                  <a:schemeClr val="tx1"/>
                </a:solidFill>
              </a:rPr>
              <a:t>How an objective is written is free; what it counts is governance. Running and terminal forms interconvert and units change nothing, but the terminal credit, the weights, the horizon, and a commitment's quantifier can each change the answer.</a:t>
            </a:r>
            <a:endParaRPr lang="en-US" sz="1500" dirty="0"/>
          </a:p>
        </p:txBody>
      </p:sp>
      <p:sp>
        <p:nvSpPr>
          <p:cNvPr id="14" name="Number"/>
          <p:cNvSpPr/>
          <p:nvPr/>
        </p:nvSpPr>
        <p:spPr>
          <a:xfrm>
            <a:off x="548640" y="4425696"/>
            <a:ext cx="566928" cy="566928"/>
          </a:xfrm>
          <a:prstGeom prst="ellipse">
            <a:avLst/>
          </a:prstGeom>
          <a:solidFill>
            <a:schemeClr val="accent1"/>
          </a:solidFill>
          <a:ln w="6350">
            <a:solidFill>
              <a:schemeClr val="accent1"/>
            </a:solidFill>
            <a:prstDash val="solid"/>
          </a:ln>
        </p:spPr>
      </p:sp>
      <p:sp>
        <p:nvSpPr>
          <p:cNvPr id="15" name="Text 12"/>
          <p:cNvSpPr txBox="1"/>
          <p:nvPr/>
        </p:nvSpPr>
        <p:spPr>
          <a:xfrm>
            <a:off x="548640" y="4425696"/>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4</a:t>
            </a:r>
            <a:endParaRPr lang="en-US" sz="1500" dirty="0"/>
          </a:p>
        </p:txBody>
      </p:sp>
      <p:sp>
        <p:nvSpPr>
          <p:cNvPr id="16" name="Row text"/>
          <p:cNvSpPr txBox="1"/>
          <p:nvPr/>
        </p:nvSpPr>
        <p:spPr>
          <a:xfrm>
            <a:off x="1325880" y="4379976"/>
            <a:ext cx="10317175" cy="841248"/>
          </a:xfrm>
          <a:prstGeom prst="rect">
            <a:avLst/>
          </a:prstGeom>
          <a:noFill/>
          <a:ln/>
        </p:spPr>
        <p:txBody>
          <a:bodyPr wrap="square" lIns="0" tIns="0" rIns="0" bIns="0" rtlCol="0" anchor="ctr"/>
          <a:lstStyle/>
          <a:p>
            <a:pPr indent="0" marL="0">
              <a:buNone/>
            </a:pPr>
            <a:r>
              <a:rPr lang="en-US" sz="1500" dirty="0">
                <a:solidFill>
                  <a:schemeClr val="tx1"/>
                </a:solidFill>
              </a:rPr>
              <a:t>Convexity is read block by block and dies at lumpy decisions, nonlinear dynamics, nonconvex commitments, and feedback rules; infeasibility is diagnosed as named clashes and a date, and a repair must break every clash.</a:t>
            </a:r>
            <a:endParaRPr lang="en-US" sz="1500" dirty="0"/>
          </a:p>
        </p:txBody>
      </p:sp>
      <p:sp>
        <p:nvSpPr>
          <p:cNvPr id="17" name="Number"/>
          <p:cNvSpPr/>
          <p:nvPr/>
        </p:nvSpPr>
        <p:spPr>
          <a:xfrm>
            <a:off x="548640" y="5321808"/>
            <a:ext cx="566928" cy="566928"/>
          </a:xfrm>
          <a:prstGeom prst="ellipse">
            <a:avLst/>
          </a:prstGeom>
          <a:solidFill>
            <a:schemeClr val="accent1"/>
          </a:solidFill>
          <a:ln w="6350">
            <a:solidFill>
              <a:schemeClr val="accent1"/>
            </a:solidFill>
            <a:prstDash val="solid"/>
          </a:ln>
        </p:spPr>
      </p:sp>
      <p:sp>
        <p:nvSpPr>
          <p:cNvPr id="18" name="Text 15"/>
          <p:cNvSpPr txBox="1"/>
          <p:nvPr/>
        </p:nvSpPr>
        <p:spPr>
          <a:xfrm>
            <a:off x="548640" y="5321808"/>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5</a:t>
            </a:r>
            <a:endParaRPr lang="en-US" sz="1500" dirty="0"/>
          </a:p>
        </p:txBody>
      </p:sp>
      <p:sp>
        <p:nvSpPr>
          <p:cNvPr id="19" name="Row text"/>
          <p:cNvSpPr txBox="1"/>
          <p:nvPr/>
        </p:nvSpPr>
        <p:spPr>
          <a:xfrm>
            <a:off x="1325880" y="5276088"/>
            <a:ext cx="10317175" cy="841248"/>
          </a:xfrm>
          <a:prstGeom prst="rect">
            <a:avLst/>
          </a:prstGeom>
          <a:noFill/>
          <a:ln/>
        </p:spPr>
        <p:txBody>
          <a:bodyPr wrap="square" lIns="0" tIns="0" rIns="0" bIns="0" rtlCol="0" anchor="ctr"/>
          <a:lstStyle/>
          <a:p>
            <a:pPr indent="0" marL="0">
              <a:buNone/>
            </a:pPr>
            <a:r>
              <a:rPr lang="en-US" sz="1500" dirty="0">
                <a:solidFill>
                  <a:schemeClr val="tx1"/>
                </a:solidFill>
              </a:rPr>
              <a:t>Classes route instances to methods, preparation makes them solvable, and a certified instance is owed an optimum, checkable conditions, prices, and stable values, whatever method solves it.</a:t>
            </a:r>
            <a:endParaRPr lang="en-US" sz="15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THIS WEEK'S LABORATORY</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Notebook and workbook reproduce the book</a:t>
            </a:r>
            <a:endParaRPr lang="en-US" sz="3200" dirty="0"/>
          </a:p>
        </p:txBody>
      </p:sp>
      <p:sp>
        <p:nvSpPr>
          <p:cNvPr id="5" name="Stat card"/>
          <p:cNvSpPr/>
          <p:nvPr/>
        </p:nvSpPr>
        <p:spPr>
          <a:xfrm>
            <a:off x="548640" y="1691640"/>
            <a:ext cx="2567864" cy="1691640"/>
          </a:xfrm>
          <a:prstGeom prst="roundRect">
            <a:avLst>
              <a:gd name="adj" fmla="val 4324"/>
            </a:avLst>
          </a:prstGeom>
          <a:solidFill>
            <a:schemeClr val="tx1"/>
          </a:solidFill>
          <a:ln w="9525">
            <a:solidFill>
              <a:srgbClr val="0F1E3D"/>
            </a:solidFill>
            <a:prstDash val="solid"/>
          </a:ln>
        </p:spPr>
      </p:sp>
      <p:sp>
        <p:nvSpPr>
          <p:cNvPr id="6" name="Stat value"/>
          <p:cNvSpPr txBox="1"/>
          <p:nvPr/>
        </p:nvSpPr>
        <p:spPr>
          <a:xfrm>
            <a:off x="685800" y="1801368"/>
            <a:ext cx="2293544" cy="914400"/>
          </a:xfrm>
          <a:prstGeom prst="rect">
            <a:avLst/>
          </a:prstGeom>
          <a:noFill/>
          <a:ln/>
        </p:spPr>
        <p:txBody>
          <a:bodyPr wrap="square" lIns="0" tIns="0" rIns="0" bIns="0" rtlCol="0" anchor="ctr"/>
          <a:lstStyle/>
          <a:p>
            <a:pPr algn="ctr" indent="0" marL="0">
              <a:buNone/>
            </a:pPr>
            <a:r>
              <a:rPr lang="en-US" sz="4400" b="1" dirty="0">
                <a:solidFill>
                  <a:schemeClr val="accent1"/>
                </a:solidFill>
                <a:latin typeface="Cambria" pitchFamily="34" charset="0"/>
                <a:ea typeface="Cambria" pitchFamily="34" charset="-122"/>
                <a:cs typeface="Cambria" pitchFamily="34" charset="-120"/>
              </a:rPr>
              <a:t>55</a:t>
            </a:r>
            <a:endParaRPr lang="en-US" sz="4400" dirty="0"/>
          </a:p>
        </p:txBody>
      </p:sp>
      <p:sp>
        <p:nvSpPr>
          <p:cNvPr id="7" name="Stat label"/>
          <p:cNvSpPr txBox="1"/>
          <p:nvPr/>
        </p:nvSpPr>
        <p:spPr>
          <a:xfrm>
            <a:off x="685800" y="2697480"/>
            <a:ext cx="2293544" cy="612648"/>
          </a:xfrm>
          <a:prstGeom prst="rect">
            <a:avLst/>
          </a:prstGeom>
          <a:noFill/>
          <a:ln/>
        </p:spPr>
        <p:txBody>
          <a:bodyPr wrap="square" lIns="0" tIns="0" rIns="0" bIns="0" rtlCol="0" anchor="t"/>
          <a:lstStyle/>
          <a:p>
            <a:pPr algn="ctr" indent="0" marL="0">
              <a:buNone/>
            </a:pPr>
            <a:r>
              <a:rPr lang="en-US" sz="1400" dirty="0">
                <a:solidFill>
                  <a:schemeClr val="bg2"/>
                </a:solidFill>
              </a:rPr>
              <a:t>notebook checkpoints, every one PASS</a:t>
            </a:r>
            <a:endParaRPr lang="en-US" sz="1400" dirty="0"/>
          </a:p>
        </p:txBody>
      </p:sp>
      <p:sp>
        <p:nvSpPr>
          <p:cNvPr id="8" name="Stat card"/>
          <p:cNvSpPr/>
          <p:nvPr/>
        </p:nvSpPr>
        <p:spPr>
          <a:xfrm>
            <a:off x="3390824" y="1691640"/>
            <a:ext cx="2567864" cy="1691640"/>
          </a:xfrm>
          <a:prstGeom prst="roundRect">
            <a:avLst>
              <a:gd name="adj" fmla="val 4324"/>
            </a:avLst>
          </a:prstGeom>
          <a:solidFill>
            <a:schemeClr val="bg2"/>
          </a:solidFill>
          <a:ln w="9525">
            <a:solidFill>
              <a:srgbClr val="C4CBD8"/>
            </a:solidFill>
            <a:prstDash val="solid"/>
          </a:ln>
        </p:spPr>
      </p:sp>
      <p:sp>
        <p:nvSpPr>
          <p:cNvPr id="9" name="Stat value"/>
          <p:cNvSpPr txBox="1"/>
          <p:nvPr/>
        </p:nvSpPr>
        <p:spPr>
          <a:xfrm>
            <a:off x="3527984" y="1801368"/>
            <a:ext cx="2293544" cy="914400"/>
          </a:xfrm>
          <a:prstGeom prst="rect">
            <a:avLst/>
          </a:prstGeom>
          <a:noFill/>
          <a:ln/>
        </p:spPr>
        <p:txBody>
          <a:bodyPr wrap="square" lIns="0" tIns="0" rIns="0" bIns="0" rtlCol="0" anchor="ctr"/>
          <a:lstStyle/>
          <a:p>
            <a:pPr algn="ctr" indent="0" marL="0">
              <a:buNone/>
            </a:pPr>
            <a:r>
              <a:rPr lang="en-US" sz="4400" b="1" dirty="0">
                <a:solidFill>
                  <a:schemeClr val="tx1"/>
                </a:solidFill>
                <a:latin typeface="Cambria" pitchFamily="34" charset="0"/>
                <a:ea typeface="Cambria" pitchFamily="34" charset="-122"/>
                <a:cs typeface="Cambria" pitchFamily="34" charset="-120"/>
              </a:rPr>
              <a:t>66</a:t>
            </a:r>
            <a:endParaRPr lang="en-US" sz="4400" dirty="0"/>
          </a:p>
        </p:txBody>
      </p:sp>
      <p:sp>
        <p:nvSpPr>
          <p:cNvPr id="10" name="Stat label"/>
          <p:cNvSpPr txBox="1"/>
          <p:nvPr/>
        </p:nvSpPr>
        <p:spPr>
          <a:xfrm>
            <a:off x="3527984" y="2697480"/>
            <a:ext cx="2293544" cy="612648"/>
          </a:xfrm>
          <a:prstGeom prst="rect">
            <a:avLst/>
          </a:prstGeom>
          <a:noFill/>
          <a:ln/>
        </p:spPr>
        <p:txBody>
          <a:bodyPr wrap="square" lIns="0" tIns="0" rIns="0" bIns="0" rtlCol="0" anchor="t"/>
          <a:lstStyle/>
          <a:p>
            <a:pPr algn="ctr" indent="0" marL="0">
              <a:buNone/>
            </a:pPr>
            <a:r>
              <a:rPr lang="en-US" sz="1400" dirty="0">
                <a:solidFill>
                  <a:schemeClr val="tx2"/>
                </a:solidFill>
              </a:rPr>
              <a:t>workbook checks against the engine, ALL PASS</a:t>
            </a:r>
            <a:endParaRPr lang="en-US" sz="1400" dirty="0"/>
          </a:p>
        </p:txBody>
      </p:sp>
      <p:sp>
        <p:nvSpPr>
          <p:cNvPr id="11" name="Stat card"/>
          <p:cNvSpPr/>
          <p:nvPr/>
        </p:nvSpPr>
        <p:spPr>
          <a:xfrm>
            <a:off x="6233008" y="1691640"/>
            <a:ext cx="2567864" cy="1691640"/>
          </a:xfrm>
          <a:prstGeom prst="roundRect">
            <a:avLst>
              <a:gd name="adj" fmla="val 4324"/>
            </a:avLst>
          </a:prstGeom>
          <a:solidFill>
            <a:schemeClr val="bg2"/>
          </a:solidFill>
          <a:ln w="9525">
            <a:solidFill>
              <a:srgbClr val="C4CBD8"/>
            </a:solidFill>
            <a:prstDash val="solid"/>
          </a:ln>
        </p:spPr>
      </p:sp>
      <p:sp>
        <p:nvSpPr>
          <p:cNvPr id="12" name="Stat value"/>
          <p:cNvSpPr txBox="1"/>
          <p:nvPr/>
        </p:nvSpPr>
        <p:spPr>
          <a:xfrm>
            <a:off x="6370168" y="1801368"/>
            <a:ext cx="2293544" cy="914400"/>
          </a:xfrm>
          <a:prstGeom prst="rect">
            <a:avLst/>
          </a:prstGeom>
          <a:noFill/>
          <a:ln/>
        </p:spPr>
        <p:txBody>
          <a:bodyPr wrap="square" lIns="0" tIns="0" rIns="0" bIns="0" rtlCol="0" anchor="ctr"/>
          <a:lstStyle/>
          <a:p>
            <a:pPr algn="ctr" indent="0" marL="0">
              <a:buNone/>
            </a:pPr>
            <a:r>
              <a:rPr lang="en-US" sz="4400" b="1" dirty="0">
                <a:solidFill>
                  <a:schemeClr val="tx1"/>
                </a:solidFill>
                <a:latin typeface="Cambria" pitchFamily="34" charset="0"/>
                <a:ea typeface="Cambria" pitchFamily="34" charset="-122"/>
                <a:cs typeface="Cambria" pitchFamily="34" charset="-120"/>
              </a:rPr>
              <a:t>26202</a:t>
            </a:r>
            <a:endParaRPr lang="en-US" sz="4400" dirty="0"/>
          </a:p>
        </p:txBody>
      </p:sp>
      <p:sp>
        <p:nvSpPr>
          <p:cNvPr id="13" name="Stat label"/>
          <p:cNvSpPr txBox="1"/>
          <p:nvPr/>
        </p:nvSpPr>
        <p:spPr>
          <a:xfrm>
            <a:off x="6370168" y="2697480"/>
            <a:ext cx="2293544" cy="612648"/>
          </a:xfrm>
          <a:prstGeom prst="rect">
            <a:avLst/>
          </a:prstGeom>
          <a:noFill/>
          <a:ln/>
        </p:spPr>
        <p:txBody>
          <a:bodyPr wrap="square" lIns="0" tIns="0" rIns="0" bIns="0" rtlCol="0" anchor="t"/>
          <a:lstStyle/>
          <a:p>
            <a:pPr algn="ctr" indent="0" marL="0">
              <a:buNone/>
            </a:pPr>
            <a:r>
              <a:rPr lang="en-US" sz="1400" dirty="0">
                <a:solidFill>
                  <a:schemeClr val="tx2"/>
                </a:solidFill>
              </a:rPr>
              <a:t>the lab's seed</a:t>
            </a:r>
            <a:endParaRPr lang="en-US" sz="1400" dirty="0"/>
          </a:p>
        </p:txBody>
      </p:sp>
      <p:sp>
        <p:nvSpPr>
          <p:cNvPr id="14" name="Stat card"/>
          <p:cNvSpPr/>
          <p:nvPr/>
        </p:nvSpPr>
        <p:spPr>
          <a:xfrm>
            <a:off x="9075191" y="1691640"/>
            <a:ext cx="2567864" cy="1691640"/>
          </a:xfrm>
          <a:prstGeom prst="roundRect">
            <a:avLst>
              <a:gd name="adj" fmla="val 4324"/>
            </a:avLst>
          </a:prstGeom>
          <a:solidFill>
            <a:schemeClr val="bg2"/>
          </a:solidFill>
          <a:ln w="9525">
            <a:solidFill>
              <a:srgbClr val="C4CBD8"/>
            </a:solidFill>
            <a:prstDash val="solid"/>
          </a:ln>
        </p:spPr>
      </p:sp>
      <p:sp>
        <p:nvSpPr>
          <p:cNvPr id="15" name="Stat value"/>
          <p:cNvSpPr txBox="1"/>
          <p:nvPr/>
        </p:nvSpPr>
        <p:spPr>
          <a:xfrm>
            <a:off x="9212351" y="1801368"/>
            <a:ext cx="2293544" cy="91440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AXIOM-02</a:t>
            </a:r>
            <a:endParaRPr lang="en-US" sz="3000" dirty="0"/>
          </a:p>
        </p:txBody>
      </p:sp>
      <p:sp>
        <p:nvSpPr>
          <p:cNvPr id="16" name="Stat label"/>
          <p:cNvSpPr txBox="1"/>
          <p:nvPr/>
        </p:nvSpPr>
        <p:spPr>
          <a:xfrm>
            <a:off x="9212351" y="2697480"/>
            <a:ext cx="2293544" cy="612648"/>
          </a:xfrm>
          <a:prstGeom prst="rect">
            <a:avLst/>
          </a:prstGeom>
          <a:noFill/>
          <a:ln/>
        </p:spPr>
        <p:txBody>
          <a:bodyPr wrap="square" lIns="0" tIns="0" rIns="0" bIns="0" rtlCol="0" anchor="t"/>
          <a:lstStyle/>
          <a:p>
            <a:pPr algn="ctr" indent="0" marL="0">
              <a:buNone/>
            </a:pPr>
            <a:r>
              <a:rPr lang="en-US" sz="1400" dirty="0">
                <a:solidFill>
                  <a:schemeClr val="tx2"/>
                </a:solidFill>
              </a:rPr>
              <a:t>AXIOM Lab 2.2</a:t>
            </a:r>
            <a:endParaRPr lang="en-US" sz="1400" dirty="0"/>
          </a:p>
        </p:txBody>
      </p:sp>
      <p:sp>
        <p:nvSpPr>
          <p:cNvPr id="17" name="Bullets"/>
          <p:cNvSpPr txBox="1"/>
          <p:nvPr/>
        </p:nvSpPr>
        <p:spPr>
          <a:xfrm>
            <a:off x="548640" y="3703320"/>
            <a:ext cx="11094415" cy="2468880"/>
          </a:xfrm>
          <a:prstGeom prst="rect">
            <a:avLst/>
          </a:prstGeom>
          <a:noFill/>
          <a:ln/>
        </p:spPr>
        <p:txBody>
          <a:bodyPr wrap="square" lIns="635" tIns="635" rIns="635" bIns="635" rtlCol="0" anchor="t"/>
          <a:lstStyle/>
          <a:p>
            <a:pPr marL="228600" indent="-228600">
              <a:spcAft>
                <a:spcPts val="800"/>
              </a:spcAft>
              <a:buSzPct val="100000"/>
              <a:buChar char="•"/>
            </a:pPr>
            <a:r>
              <a:rPr lang="en-US" sz="1700" b="1" dirty="0">
                <a:solidFill>
                  <a:schemeClr val="tx1"/>
                </a:solidFill>
              </a:rPr>
              <a:t>Notebook</a:t>
            </a:r>
            <a:r>
              <a:rPr lang="en-US" sz="1700" dirty="0">
                <a:solidFill>
                  <a:schemeClr val="tx1"/>
                </a:solidFill>
              </a:rPr>
              <a:t> DCT_V2_Ch02_Lab.ipynb: Worked Example 2.1 and the lab's five steps in seven panels, with Table 2.4 on the book's 100,000 paths, ready for Colab</a:t>
            </a:r>
            <a:endParaRPr lang="en-US" sz="1700" dirty="0"/>
          </a:p>
          <a:p>
            <a:pPr marL="228600" indent="-228600">
              <a:spcAft>
                <a:spcPts val="800"/>
              </a:spcAft>
              <a:buSzPct val="100000"/>
              <a:buChar char="•"/>
            </a:pPr>
            <a:r>
              <a:rPr lang="en-US" sz="1700" b="1" dirty="0">
                <a:solidFill>
                  <a:schemeClr val="tx1"/>
                </a:solidFill>
              </a:rPr>
              <a:t>Workbook</a:t>
            </a:r>
            <a:r>
              <a:rPr lang="en-US" sz="1700" dirty="0">
                <a:solidFill>
                  <a:schemeClr val="tx1"/>
                </a:solidFill>
              </a:rPr>
              <a:t> DCT_V2_Ch02_Lab.xlsx: the instance card, the 64 schedules, the deletion filter, the repairs, the optimizer and the standard form, in formulas</a:t>
            </a:r>
            <a:endParaRPr lang="en-US" sz="1700" dirty="0"/>
          </a:p>
          <a:p>
            <a:pPr marL="228600" indent="-228600">
              <a:spcAft>
                <a:spcPts val="800"/>
              </a:spcAft>
              <a:buSzPct val="100000"/>
              <a:buChar char="•"/>
            </a:pPr>
            <a:r>
              <a:rPr lang="en-US" sz="1700" dirty="0">
                <a:solidFill>
                  <a:schemeClr val="tx1"/>
                </a:solidFill>
              </a:rPr>
              <a:t>Every number on these slides is the book's, and both companions check it</a:t>
            </a:r>
            <a:endParaRPr lang="en-US" sz="17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NEXT · CHAPTER 3</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bg1"/>
                </a:solidFill>
                <a:latin typeface="Cambria" pitchFamily="34" charset="0"/>
                <a:ea typeface="Cambria" pitchFamily="34" charset="-122"/>
                <a:cs typeface="Cambria" pitchFamily="34" charset="-120"/>
              </a:rPr>
              <a:t>Chapter 3 turns convexity into a certificate</a:t>
            </a:r>
            <a:endParaRPr lang="en-US" sz="3200" dirty="0"/>
          </a:p>
        </p:txBody>
      </p:sp>
      <p:pic>
        <p:nvPicPr>
          <p:cNvPr id="5" name="Equation" descr="Equation: \max_{\mathbf{u}} \bigl\{ J(\mathbf{u}) : g(\mathbf{u}) \le 0 \bigr\} \;\le\; \max_{\mathbf{u}} \bigl\{ J(\mathbf{u}) - \lambda^{\top} g(\mathbf{u}) \bigr\} \quad \text{for every } \lambda \ge 0">    </p:cNvPr>
          <p:cNvPicPr>
            <a:picLocks noChangeAspect="1"/>
          </p:cNvPicPr>
          <p:nvPr/>
        </p:nvPicPr>
        <p:blipFill>
          <a:blip r:embed="rId1"/>
          <a:stretch>
            <a:fillRect/>
          </a:stretch>
        </p:blipFill>
        <p:spPr>
          <a:xfrm>
            <a:off x="1266104" y="1691640"/>
            <a:ext cx="9659486" cy="731520"/>
          </a:xfrm>
          <a:prstGeom prst="rect">
            <a:avLst/>
          </a:prstGeom>
        </p:spPr>
      </p:pic>
      <p:sp>
        <p:nvSpPr>
          <p:cNvPr id="6" name="Bullets"/>
          <p:cNvSpPr txBox="1"/>
          <p:nvPr/>
        </p:nvSpPr>
        <p:spPr>
          <a:xfrm>
            <a:off x="548640" y="2743200"/>
            <a:ext cx="11094415" cy="3429000"/>
          </a:xfrm>
          <a:prstGeom prst="rect">
            <a:avLst/>
          </a:prstGeom>
          <a:noFill/>
          <a:ln/>
        </p:spPr>
        <p:txBody>
          <a:bodyPr wrap="square" lIns="635" tIns="635" rIns="635" bIns="635" rtlCol="0" anchor="t"/>
          <a:lstStyle/>
          <a:p>
            <a:pPr marL="228600" indent="-228600">
              <a:spcAft>
                <a:spcPts val="800"/>
              </a:spcAft>
              <a:buSzPct val="100000"/>
              <a:buChar char="•"/>
            </a:pPr>
            <a:r>
              <a:rPr lang="en-US" sz="1800" dirty="0">
                <a:solidFill>
                  <a:schemeClr val="bg1"/>
                </a:solidFill>
              </a:rPr>
              <a:t>When every block is convex, a locally best plan is the best plan, and the answer arrives with a certificate</a:t>
            </a:r>
            <a:endParaRPr lang="en-US" sz="1800" dirty="0"/>
          </a:p>
          <a:p>
            <a:pPr marL="228600" indent="-228600">
              <a:spcAft>
                <a:spcPts val="800"/>
              </a:spcAft>
              <a:buSzPct val="100000"/>
              <a:buChar char="•"/>
            </a:pPr>
            <a:r>
              <a:rPr lang="en-US" sz="1800" dirty="0">
                <a:solidFill>
                  <a:schemeClr val="bg1"/>
                </a:solidFill>
              </a:rPr>
              <a:t>Lagrangian duality turns commitments into prices, and any price list into a ceiling on value</a:t>
            </a:r>
            <a:endParaRPr lang="en-US" sz="1800" dirty="0"/>
          </a:p>
          <a:p>
            <a:pPr marL="228600" indent="-228600">
              <a:spcAft>
                <a:spcPts val="800"/>
              </a:spcAft>
              <a:buSzPct val="100000"/>
              <a:buChar char="•"/>
            </a:pPr>
            <a:r>
              <a:rPr lang="en-US" sz="1800" dirty="0">
                <a:solidFill>
                  <a:schemeClr val="bg1"/>
                </a:solidFill>
              </a:rPr>
              <a:t>Tiers, worst cases, ratio targets and probability statements can be rewritten exactly as convex commitments</a:t>
            </a:r>
            <a:endParaRPr lang="en-US" sz="1800" dirty="0"/>
          </a:p>
          <a:p>
            <a:pPr marL="228600" indent="-228600">
              <a:spcAft>
                <a:spcPts val="800"/>
              </a:spcAft>
              <a:buSzPct val="100000"/>
              <a:buChar char="•"/>
            </a:pPr>
            <a:r>
              <a:rPr lang="en-US" sz="1800" dirty="0">
                <a:solidFill>
                  <a:schemeClr val="bg1"/>
                </a:solidFill>
              </a:rPr>
              <a:t>Its Worked Example relaxes this automation program and proves the three-round plan within $7.1m of anything achievable, without enumerating a single schedule</a:t>
            </a:r>
            <a:endParaRPr lang="en-US" sz="18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C4CBD8"/>
                </a:solidFill>
              </a:defRPr>
            </a:lvl1pPr>
          </a:lstStyle>
          <a:p>
            <a:pPr algn="r"/>
            <a:fld id="{F7021451-1387-4CA6-816F-3879F97B5CBC}" type="slidenum">
              <a:rPr b="0" lang="en-US"/>
              <a:t>25</a:t>
            </a:fld>
            <a:endParaRPr lang="en-US"/>
          </a:p>
        </p:txBody>
      </p:sp>
    </p:spTree>
  </p:cSld>
  <p:clrMapOvr>
    <a:masterClrMapping/>
  </p:clrMapOvr>
</p:sld>
</file>

<file path=ppt/theme/theme1.xml><?xml version="1.0" encoding="utf-8"?>
<a:theme xmlns:a="http://schemas.openxmlformats.org/drawingml/2006/main" name="Dynamic Corporate Transformation">
  <a:themeElements>
    <a:clrScheme name="Dynamic Corporate Transformation">
      <a:dk1>
        <a:srgbClr val="0F1E3D"/>
      </a:dk1>
      <a:lt1>
        <a:srgbClr val="FFFFFF"/>
      </a:lt1>
      <a:dk2>
        <a:srgbClr val="5A6B82"/>
      </a:dk2>
      <a:lt2>
        <a:srgbClr val="F7F4ED"/>
      </a:lt2>
      <a:accent1>
        <a:srgbClr val="B4884A"/>
      </a:accent1>
      <a:accent2>
        <a:srgbClr val="2F6F6B"/>
      </a:accent2>
      <a:accent3>
        <a:srgbClr val="8A6A33"/>
      </a:accent3>
      <a:accent4>
        <a:srgbClr val="C4CBD8"/>
      </a:accent4>
      <a:accent5>
        <a:srgbClr val="1F4FD8"/>
      </a:accent5>
      <a:accent6>
        <a:srgbClr val="16263F"/>
      </a:accent6>
      <a:hlink>
        <a:srgbClr val="1F4FD8"/>
      </a:hlink>
      <a:folHlink>
        <a:srgbClr val="5A6B82"/>
      </a:folHlink>
    </a:clrScheme>
    <a:fontScheme name="Dynamic Corporate Transformation">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25</Slides>
  <Notes>25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25</vt:i4>
      </vt:variant>
    </vt:vector>
  </HeadingPairs>
  <TitlesOfParts>
    <vt:vector size="2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vector>
  </TitlesOfParts>
  <Company>Dynamic Corporate Transformation</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Dynamic Corporate Transformation, Volume II, Chapter 2: The General Enterprise Optimization Problem Revisited</dc:title>
  <dc:subject>Slides for Volume II, Chapter 2 (V56)</dc:subject>
  <dc:creator>Samir Asaf</dc:creator>
  <cp:lastModifiedBy>Samir Asaf</cp:lastModifiedBy>
  <cp:revision>1</cp:revision>
  <dcterms:created xsi:type="dcterms:W3CDTF">2026-10-06T07:09:04Z</dcterms:created>
  <dcterms:modified xsi:type="dcterms:W3CDTF">2026-10-06T07:09:04Z</dcterms:modified>
</cp:coreProperties>
</file>