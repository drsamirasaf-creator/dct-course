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8d9920bc-25cd-705c-7671-1447ca539658}">
          <p14:sldIdLst>
            <p14:sldId id="256"/>
            <p14:sldId id="257"/>
            <p14:sldId id="258"/>
            <p14:sldId id="259"/>
          </p14:sldIdLst>
        </p14:section>
        <p14:section name="3.1 What Convexity Buys" id="{f2d2787b-111b-af5c-7778-a28aabff265f}">
          <p14:sldIdLst>
            <p14:sldId id="260"/>
            <p14:sldId id="261"/>
          </p14:sldIdLst>
        </p14:section>
        <p14:section name="3.2 Recognizing Convexity" id="{92d89e9f-ac72-ff9f-1c5a-d1ed1ffc08a9}">
          <p14:sldIdLst>
            <p14:sldId id="262"/>
            <p14:sldId id="263"/>
          </p14:sldIdLst>
        </p14:section>
        <p14:section name="3.3 Convex Instances and Global Answers" id="{9e9881b9-8a2e-f281-ca7c-f8354628c3a6}">
          <p14:sldIdLst>
            <p14:sldId id="264"/>
          </p14:sldIdLst>
        </p14:section>
        <p14:section name="3.4 Duality: Prices You Can Check" id="{6339d137-bb0f-5e8d-ff14-41000d007ba8}">
          <p14:sldIdLst>
            <p14:sldId id="265"/>
            <p14:sldId id="266"/>
            <p14:sldId id="267"/>
          </p14:sldIdLst>
        </p14:section>
        <p14:section name="3.5 Rewriting Commitments in Convex Form" id="{a472eda1-d25c-bc85-75ab-0364537b74c4}">
          <p14:sldIdLst>
            <p14:sldId id="268"/>
          </p14:sldIdLst>
        </p14:section>
        <p14:section name="3.6 Solving, Certifying, and Bounding" id="{42f1e555-85ea-4405-fe98-476ec583924c}">
          <p14:sldIdLst>
            <p14:sldId id="269"/>
            <p14:sldId id="270"/>
          </p14:sldIdLst>
        </p14:section>
        <p14:section name="Worked Example 3.1" id="{893bc2e9-8214-9bb9-4773-689863089501}">
          <p14:sldIdLst>
            <p14:sldId id="271"/>
            <p14:sldId id="272"/>
            <p14:sldId id="273"/>
            <p14:sldId id="274"/>
            <p14:sldId id="275"/>
          </p14:sldIdLst>
        </p14:section>
        <p14:section name="AXIOM Lab 2.3" id="{092ecdeb-136a-3c19-2303-52cec86b5532}">
          <p14:sldIdLst>
            <p14:sldId id="276"/>
          </p14:sldIdLst>
        </p14:section>
        <p14:section name="Close" id="{92b4fb5f-29cb-cf48-5bd9-8c5a5fdb07e6}">
          <p14:sldIdLst>
            <p14:sldId id="277"/>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Volume II, Chapter 3. Convexity is the property that turns optimization from a search into a proof. When every block of an instance is convex, a locally best plan is the best plan, and the answer arrives with a certificate (chapter abstract).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starts with something simple, the chord test (Definitions 3.1 and 3.2), and ends with a proof that no automation plan is worth more than $1,687.1 million, obtained without enumerating a single schedule (Worked Example 3.1).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learning outcome statements; LOS Guidance at the end of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Proofs of Theorems 3.1, 3.4 and 3.5 are in Appendix 3.A; Theorems 3.2, 3.3 and 3.6 and Propositions 3.1 and 3.2 in Online Appendix 3.B, with the numbers behind Worked Example 3.1 (Example 3.B.4).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3.1. Volume I proved that under declared convexity any plan with multipliers is best (Volume I, Theorem 15.3). Outside convexity each promise can fail: lumpy choices split the feasible region into pieces (Theorem 1.3(ii)), so a search can stall in the wrong one, and Chapter 4 renegotiates the other promises.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3.1. Diminishing returns, rising adjustment costs, proportional limits and capacity ceilings are convex; set-up charges, all-or-nothing choices and economies of scale are not. The right-hand column usually holds a convex instance with one nonconvex block, and Section 3.6 shows how to exploit the convex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3.1 and 3.2 and Figure 3.1. The test is a business question: if two plans are admissible, is every blend of them admissible? Identities (sources equal uses, flows balance) are affine, the strongest convexity a block can have. A commitment that holds a concave quantity below a ceiling is not convex.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3.2, selected rows: the same catalog a modeling system uses to check a model automatically (Section 3.6). Two calculus tests settle most remaining cases: a differentiable concave function lies below every tangent, and a twice-differentiable function is convex when its matrix of second derivatives is positive semidefinite. Worked Example 3.1 meets a product of decisions and removes it by rewriting.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3.3, Proposition 3.1, Theorems 3.1 and 3.2; proof of Theorem 3.1 in Appendix 3.A, of Proposition 3.1 and Theorem 3.2 in Online Appendix 3.B. A formulation review hunts for the nonconvex block and keeps it quarantined: without it the instance is convex, and that convex remainder bounds the whole (Section 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Equations 3.2 and 3.3, Definition 3.4 and Theorem 3.3 (proof in Online Appendix 3.B). Read as an economist would, the supporting hyperplane theorem says that at every point on the edge of a convex set of achievable outcomes there is a linear valuation, a price list, under which that point is the best in the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Theorem 3.4; proof in Appendix 3.A. Slater's condition has a plain meaning: the commitments leave room to spare. Interior-point solvers report a primal value, a dual value and the residuals at every iteration; the reported gap is the optimality tolerance. The two-channel budget: Example 3.B.1, Online Appendix 3.B.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Theorem 3.5 and Equation 3.4; proof in Appendix 3.A. AXIOM-03's KKT verification module computes the four residuals of any vendor's claimed plan and prices. Part (iv): 0.25 in each channel of the two-channel budget. Part (iii) warns that at a kink cutting a commitment can cost more per unit than enlarging it gains (Worked Example 3.1, Step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Theorem 3.6 (proof in Online Appendix 3.B) and Table 3.3. Device (v) is the first bridge from a board's language of confidence to a convex commitment: it charges the plan 1.645 standard deviations of its exposure against the headroom. Set-up charges, all-or-nothing choices and payout floors on concave quantities cannot be rewritten. Online Appendix 3.B.2 prices a tiered penalty at its kink: 0.25 and 0.75.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3.4. Disciplined convex programming (CVXPY in this volume's laboratories) checks a model by the rules of Table 3.2, compiles it into a cone program and returns the plan with its prices. Interior-point methods follow the central path and exhibit feasible prices with a duality gap of m/t at every point; an independent KKT audit follows every solve.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3.6 and Proposition 3.2 (proof in Online Appendix 3.B). This is the bound Chapter 1 said every lumpy package must respect (Theorem 1.3(v)). The relaxation's value is a ceiling; any lumpy plan close to it is certified close to best; and when the relaxation's own answer is lumpy, it is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3.1, the situation. In Worked Example 2.1 the board dropped both executive pledges and let an optimizer choose the automation rounds and the payouts. Theorem 1.3(iii): the schedules outnumber anything a computer can visit.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3.1, Steps 1 and 2. The CFO's pledge to pay out at least half of each year's savings holds a concave quantity below the payout and could not have joined; the board had dropped it. The plan is not one the chief operating officer can run; its value is a ceiling on every plan that can be run, and no search could have stalled short of it (Theorem 3.1(i)).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3.1, Steps 3 and 4. Rounds are whole where the margin exceeds the cost, partial where it equals it, absent where it falls short: complementary slackness and stationarity (Theorem 3.5(i)). Charged at these prices no schedule of rounds is worth more than $1,687.1 million (Theorem 3.4(i)), a certificate a reviewer can check on a spreadsheet. Rounding down gives the three-round plan; four rounds are worth $1,673.75 million.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3.5 and Worked Example 3.1, Step 5. The ceiling comes closest to $10.3 million only where the best number of rounds changes, at the credits found in Chapter 2. At 54 years the relaxation runs 5.47 rounds, which round to five, while the best plan has six. With no credit the relaxation proves Worked Example 2.1's two-round plan best (Proposition 3.2(ii)).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3.1, Step 6, and what the board should take away. Clarabel prices the cap at $0.37 a dollar, one point of the range. For discussion: if the chief operating officer could automate part of a plant line, would you trust the 0.39 round as a plan? Which price in Step 3 would move most if savings were discounted at 10 percent a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AXIOM Lab 2.3. What to look for: a model that fails the convexity check in one form and passes in another (Table 3.2); a gap that closes to zero (Theorem 3.4); margins equal to the cost exactly where a round is partial (Theorem 3.5); and a ceiling that bounds every lumpy plan while rounding sometimes fails (Proposition 3.2).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Takeaways, Chapter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notebook and workbook are on the course website, www.dynamiccorporatetransformation.com.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4, Nonlinear and Mixed-Integer Enterprise Optimization (chapter abstract and Equation 4.1): three plans pass every local test, Chapter 3's relaxation puts the best within $1.01 million of anything achievable, and five convex solves prove it best.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CT Title">
    <p:bg>
      <p:bgPr>
        <a:solidFill>
          <a:srgbClr val="0F1E3D"/>
        </a:solidFill>
      </p:bgPr>
    </p:bg>
    <p:spTree>
      <p:nvGrpSpPr>
        <p:cNvPr id="1" name=""/>
        <p:cNvGrpSpPr/>
        <p:nvPr/>
      </p:nvGrpSpPr>
      <p:grpSpPr>
        <a:xfrm>
          <a:off x="0" y="0"/>
          <a:ext cx="0" cy="0"/>
          <a:chOff x="0" y="0"/>
          <a:chExt cx="0" cy="0"/>
        </a:xfrm>
      </p:grpSpPr>
      <p:pic>
        <p:nvPicPr>
          <p:cNvPr id="2" name="Image 0" descr="/home/claude/pixel-perfect-show-8533/public/brand/dct-logo-dark.png">    </p:cNvPr>
          <p:cNvPicPr>
            <a:picLocks noChangeAspect="1"/>
          </p:cNvPicPr>
          <p:nvPr/>
        </p:nvPicPr>
        <p:blipFill>
          <a:blip r:embed="rId1"/>
          <a:stretch>
            <a:fillRect/>
          </a:stretch>
        </p:blipFill>
        <p:spPr>
          <a:xfrm>
            <a:off x="731520" y="640080"/>
            <a:ext cx="4389120" cy="363931"/>
          </a:xfrm>
          <a:prstGeom prst="rect">
            <a:avLst/>
          </a:prstGeom>
        </p:spPr>
      </p:pic>
      <p:sp>
        <p:nvSpPr>
          <p:cNvPr id="3" name="Text 0"/>
          <p:cNvSpPr/>
          <p:nvPr>
            <p:ph idx="101" type="body" hasCustomPrompt="1"/>
          </p:nvPr>
        </p:nvSpPr>
        <p:spPr>
          <a:xfrm>
            <a:off x="731520" y="1874520"/>
            <a:ext cx="10607040" cy="411480"/>
          </a:xfrm>
          <a:prstGeom prst="rect">
            <a:avLst/>
          </a:prstGeom>
          <a:noFill/>
          <a:ln/>
        </p:spPr>
        <p:txBody>
          <a:bodyPr wrap="square" rtlCol="0"/>
          <a:lstStyle>
            <a:lvl1pPr indent="0" marL="0">
              <a:buNone/>
              <a:defRPr lang="en-US" sz="1500" b="1" spc="300" kern="0" dirty="0">
                <a:solidFill>
                  <a:schemeClr val="accent1"/>
                </a:solidFill>
              </a:defRPr>
            </a:lvl1pPr>
          </a:lstStyle>
          <a:p>
            <a:pPr indent="0" marL="0">
              <a:buNone/>
            </a:pPr>
            <a:endParaRPr lang="en-US" sz="1500" dirty="0"/>
          </a:p>
        </p:txBody>
      </p:sp>
      <p:sp>
        <p:nvSpPr>
          <p:cNvPr id="4" name="Text 0"/>
          <p:cNvSpPr/>
          <p:nvPr>
            <p:ph idx="102" type="title" hasCustomPrompt="1"/>
          </p:nvPr>
        </p:nvSpPr>
        <p:spPr>
          <a:xfrm>
            <a:off x="731520" y="2331720"/>
            <a:ext cx="10607040" cy="173736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5" name="Text 0"/>
          <p:cNvSpPr/>
          <p:nvPr>
            <p:ph idx="103" type="body" hasCustomPrompt="1"/>
          </p:nvPr>
        </p:nvSpPr>
        <p:spPr>
          <a:xfrm>
            <a:off x="731520" y="4160520"/>
            <a:ext cx="10241280" cy="91440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
        <p:nvSpPr>
          <p:cNvPr id="6" name="Text 0"/>
          <p:cNvSpPr/>
          <p:nvPr>
            <p:ph idx="104" type="body" hasCustomPrompt="1"/>
          </p:nvPr>
        </p:nvSpPr>
        <p:spPr>
          <a:xfrm>
            <a:off x="731520" y="5897880"/>
            <a:ext cx="10607040" cy="365760"/>
          </a:xfrm>
          <a:prstGeom prst="rect">
            <a:avLst/>
          </a:prstGeom>
          <a:noFill/>
          <a:ln/>
        </p:spPr>
        <p:txBody>
          <a:bodyPr wrap="square" rtlCol="0"/>
          <a:lstStyle>
            <a:lvl1pPr indent="0" marL="0">
              <a:buNone/>
              <a:defRPr lang="en-US" sz="1200" dirty="0">
                <a:solidFill>
                  <a:schemeClr val="accent4"/>
                </a:solidFill>
              </a:defRPr>
            </a:lvl1pPr>
          </a:lstStyle>
          <a:p>
            <a:pPr indent="0" marL="0">
              <a:buNone/>
            </a:pP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CT Quote">
    <p:bg>
      <p:bgPr>
        <a:solidFill>
          <a:srgbClr val="0F1E3D"/>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1280160" y="1371600"/>
            <a:ext cx="9601200" cy="3017520"/>
          </a:xfrm>
          <a:prstGeom prst="rect">
            <a:avLst/>
          </a:prstGeom>
          <a:noFill/>
          <a:ln/>
        </p:spPr>
        <p:txBody>
          <a:bodyPr wrap="square" rtlCol="0"/>
          <a:lstStyle>
            <a:lvl1pPr indent="0" marL="0">
              <a:buNone/>
              <a:defRPr lang="en-US" sz="3000" i="1" dirty="0">
                <a:solidFill>
                  <a:schemeClr val="bg1"/>
                </a:solidFill>
                <a:latin typeface="Cambria" pitchFamily="34" charset="0"/>
                <a:ea typeface="Cambria" pitchFamily="34" charset="-122"/>
                <a:cs typeface="Cambria" pitchFamily="34" charset="-120"/>
              </a:defRPr>
            </a:lvl1pPr>
          </a:lstStyle>
          <a:p>
            <a:pPr indent="0" marL="0">
              <a:buNone/>
            </a:pPr>
            <a:endParaRPr lang="en-US" sz="3000" dirty="0"/>
          </a:p>
        </p:txBody>
      </p:sp>
      <p:sp>
        <p:nvSpPr>
          <p:cNvPr id="3" name="Text 0"/>
          <p:cNvSpPr/>
          <p:nvPr>
            <p:ph idx="101" type="body" hasCustomPrompt="1"/>
          </p:nvPr>
        </p:nvSpPr>
        <p:spPr>
          <a:xfrm>
            <a:off x="1280160" y="4617720"/>
            <a:ext cx="9601200" cy="457200"/>
          </a:xfrm>
          <a:prstGeom prst="rect">
            <a:avLst/>
          </a:prstGeom>
          <a:noFill/>
          <a:ln/>
        </p:spPr>
        <p:txBody>
          <a:bodyPr wrap="square" rtlCol="0"/>
          <a:lstStyle>
            <a:lvl1pPr indent="0" marL="0">
              <a:buNone/>
              <a:defRPr lang="en-US" sz="1800" b="1" dirty="0">
                <a:solidFill>
                  <a:schemeClr val="accent1"/>
                </a:solidFill>
              </a:defRPr>
            </a:lvl1pPr>
          </a:lstStyle>
          <a:p>
            <a:pPr indent="0" marL="0">
              <a:buNone/>
            </a:pPr>
            <a:endParaRPr lang="en-US" sz="1800" dirty="0"/>
          </a:p>
        </p:txBody>
      </p:sp>
      <p:sp>
        <p:nvSpPr>
          <p:cNvPr id="4" name="Text 0"/>
          <p:cNvSpPr/>
          <p:nvPr>
            <p:ph idx="102" type="body" hasCustomPrompt="1"/>
          </p:nvPr>
        </p:nvSpPr>
        <p:spPr>
          <a:xfrm>
            <a:off x="1280160" y="5074920"/>
            <a:ext cx="9601200" cy="731520"/>
          </a:xfrm>
          <a:prstGeom prst="rect">
            <a:avLst/>
          </a:prstGeom>
          <a:noFill/>
          <a:ln/>
        </p:spPr>
        <p:txBody>
          <a:bodyPr wrap="square" rtlCol="0"/>
          <a:lstStyle>
            <a:lvl1pPr indent="0" marL="0">
              <a:buNone/>
              <a:defRPr lang="en-US" sz="1400" dirty="0">
                <a:solidFill>
                  <a:schemeClr val="accent4"/>
                </a:solidFill>
              </a:defRPr>
            </a:lvl1pPr>
          </a:lstStyle>
          <a:p>
            <a:pPr indent="0" marL="0">
              <a:buNone/>
            </a:pPr>
            <a:endParaRPr lang="en-US" sz="1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CT Content">
    <p:bg>
      <p:bgPr>
        <a:solidFill>
          <a:srgbClr val="FFFFFF"/>
        </a:solidFill>
      </p:bgPr>
    </p:bg>
    <p:spTree>
      <p:nvGrpSpPr>
        <p:cNvPr id="1" name=""/>
        <p:cNvGrpSpPr/>
        <p:nvPr/>
      </p:nvGrpSpPr>
      <p:grpSpPr>
        <a:xfrm>
          <a:off x="0" y="0"/>
          <a:ext cx="0" cy="0"/>
          <a:chOff x="0" y="0"/>
          <a:chExt cx="0" cy="0"/>
        </a:xfrm>
      </p:grpSpPr>
      <p:pic>
        <p:nvPicPr>
          <p:cNvPr id="2" name="Image 0" descr="/home/claude/pixel-perfect-show-8533/public/brand/dct-mark.png">    </p:cNvPr>
          <p:cNvPicPr>
            <a:picLocks noChangeAspect="1"/>
          </p:cNvPicPr>
          <p:nvPr/>
        </p:nvPicPr>
        <p:blipFill>
          <a:blip r:embed="rId1"/>
          <a:stretch>
            <a:fillRect/>
          </a:stretch>
        </p:blipFill>
        <p:spPr>
          <a:xfrm>
            <a:off x="548640" y="6391656"/>
            <a:ext cx="155448" cy="188390"/>
          </a:xfrm>
          <a:prstGeom prst="rect">
            <a:avLst/>
          </a:prstGeom>
        </p:spPr>
      </p:pic>
      <p:sp>
        <p:nvSpPr>
          <p:cNvPr id="3" name="Text 0"/>
          <p:cNvSpPr/>
          <p:nvPr/>
        </p:nvSpPr>
        <p:spPr>
          <a:xfrm>
            <a:off x="822960" y="6382512"/>
            <a:ext cx="8686800" cy="237744"/>
          </a:xfrm>
          <a:prstGeom prst="rect">
            <a:avLst/>
          </a:prstGeom>
          <a:noFill/>
          <a:ln/>
        </p:spPr>
        <p:txBody>
          <a:bodyPr wrap="square" lIns="0" tIns="0" rIns="0" bIns="0" rtlCol="0" anchor="ctr"/>
          <a:lstStyle/>
          <a:p>
            <a:pPr indent="0" marL="0">
              <a:buNone/>
            </a:pPr>
            <a:r>
              <a:rPr lang="en-US" sz="1000" dirty="0">
                <a:solidFill>
                  <a:schemeClr val="tx2"/>
                </a:solidFill>
              </a:rPr>
              <a:t>Dynamic Corporate Transformation · Volume II · Chapter 3</a:t>
            </a:r>
            <a:endParaRPr lang="en-US" sz="1000" dirty="0"/>
          </a:p>
        </p:txBody>
      </p:sp>
      <p:sp>
        <p:nvSpPr>
          <p:cNvPr id="4" name="Text 1"/>
          <p:cNvSpPr/>
          <p:nvPr>
            <p:ph idx="102" type="body" hasCustomPrompt="1"/>
          </p:nvPr>
        </p:nvSpPr>
        <p:spPr>
          <a:xfrm>
            <a:off x="548640" y="347472"/>
            <a:ext cx="11094415" cy="292608"/>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5" name="Text 1"/>
          <p:cNvSpPr/>
          <p:nvPr>
            <p:ph idx="103" type="title" hasCustomPrompt="1"/>
          </p:nvPr>
        </p:nvSpPr>
        <p:spPr>
          <a:xfrm>
            <a:off x="548640" y="658368"/>
            <a:ext cx="11094415" cy="868680"/>
          </a:xfrm>
          <a:prstGeom prst="rect">
            <a:avLst/>
          </a:prstGeom>
          <a:noFill/>
          <a:ln/>
        </p:spPr>
        <p:txBody>
          <a:bodyPr wrap="square" rtlCol="0"/>
          <a:lstStyle>
            <a:lvl1pPr algn="l" indent="0" marL="0">
              <a:buNone/>
              <a:defRPr lang="en-US" sz="32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CT Dark Content">
    <p:bg>
      <p:bgPr>
        <a:solidFill>
          <a:srgbClr val="0F1E3D"/>
        </a:solidFill>
      </p:bgPr>
    </p:bg>
    <p:spTree>
      <p:nvGrpSpPr>
        <p:cNvPr id="1" name=""/>
        <p:cNvGrpSpPr/>
        <p:nvPr/>
      </p:nvGrpSpPr>
      <p:grpSpPr>
        <a:xfrm>
          <a:off x="0" y="0"/>
          <a:ext cx="0" cy="0"/>
          <a:chOff x="0" y="0"/>
          <a:chExt cx="0" cy="0"/>
        </a:xfrm>
      </p:grpSpPr>
      <p:pic>
        <p:nvPicPr>
          <p:cNvPr id="2" name="Image 0" descr="/home/claude/pixel-perfect-show-8533/public/brand/dct-mark-dark.png">    </p:cNvPr>
          <p:cNvPicPr>
            <a:picLocks noChangeAspect="1"/>
          </p:cNvPicPr>
          <p:nvPr/>
        </p:nvPicPr>
        <p:blipFill>
          <a:blip r:embed="rId1"/>
          <a:stretch>
            <a:fillRect/>
          </a:stretch>
        </p:blipFill>
        <p:spPr>
          <a:xfrm>
            <a:off x="548640" y="6391656"/>
            <a:ext cx="155448" cy="188390"/>
          </a:xfrm>
          <a:prstGeom prst="rect">
            <a:avLst/>
          </a:prstGeom>
        </p:spPr>
      </p:pic>
      <p:sp>
        <p:nvSpPr>
          <p:cNvPr id="3" name="Text 0"/>
          <p:cNvSpPr/>
          <p:nvPr/>
        </p:nvSpPr>
        <p:spPr>
          <a:xfrm>
            <a:off x="822960" y="6382512"/>
            <a:ext cx="8686800" cy="237744"/>
          </a:xfrm>
          <a:prstGeom prst="rect">
            <a:avLst/>
          </a:prstGeom>
          <a:noFill/>
          <a:ln/>
        </p:spPr>
        <p:txBody>
          <a:bodyPr wrap="square" lIns="0" tIns="0" rIns="0" bIns="0" rtlCol="0" anchor="ctr"/>
          <a:lstStyle/>
          <a:p>
            <a:pPr indent="0" marL="0">
              <a:buNone/>
            </a:pPr>
            <a:r>
              <a:rPr lang="en-US" sz="1000" dirty="0">
                <a:solidFill>
                  <a:schemeClr val="accent4"/>
                </a:solidFill>
              </a:rPr>
              <a:t>Dynamic Corporate Transformation · Volume II · Chapter 3</a:t>
            </a:r>
            <a:endParaRPr lang="en-US" sz="1000" dirty="0"/>
          </a:p>
        </p:txBody>
      </p:sp>
      <p:sp>
        <p:nvSpPr>
          <p:cNvPr id="4" name="Text 1"/>
          <p:cNvSpPr/>
          <p:nvPr>
            <p:ph idx="102" type="body" hasCustomPrompt="1"/>
          </p:nvPr>
        </p:nvSpPr>
        <p:spPr>
          <a:xfrm>
            <a:off x="548640" y="347472"/>
            <a:ext cx="11094415" cy="292608"/>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5" name="Text 1"/>
          <p:cNvSpPr/>
          <p:nvPr>
            <p:ph idx="103" type="title" hasCustomPrompt="1"/>
          </p:nvPr>
        </p:nvSpPr>
        <p:spPr>
          <a:xfrm>
            <a:off x="548640" y="658368"/>
            <a:ext cx="11094415" cy="868680"/>
          </a:xfrm>
          <a:prstGeom prst="rect">
            <a:avLst/>
          </a:prstGeom>
          <a:noFill/>
          <a:ln/>
        </p:spPr>
        <p:txBody>
          <a:bodyPr wrap="square" rtlCol="0"/>
          <a:lstStyle>
            <a:lvl1pPr algn="l" indent="0" marL="0">
              <a:buNone/>
              <a:defRPr lang="en-US" sz="32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5.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5.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5.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ph idx="101" type="body" hasCustomPrompt="1"/>
          </p:nvPr>
        </p:nvSpPr>
        <p:spPr>
          <a:xfrm>
            <a:off x="731520" y="1874520"/>
            <a:ext cx="10607040" cy="411480"/>
          </a:xfrm>
          <a:prstGeom prst="rect">
            <a:avLst/>
          </a:prstGeom>
          <a:noFill/>
          <a:ln/>
        </p:spPr>
        <p:txBody>
          <a:bodyPr wrap="square" lIns="0" tIns="0" rIns="0" bIns="0" rtlCol="0"/>
          <a:lstStyle/>
          <a:p>
            <a:pPr indent="0" marL="0">
              <a:buNone/>
            </a:pPr>
            <a:r>
              <a:rPr lang="en-US" sz="1500" b="1" spc="300" kern="0" dirty="0">
                <a:solidFill>
                  <a:schemeClr val="accent1"/>
                </a:solidFill>
              </a:rPr>
              <a:t>VOLUME II · CHAPTER 3 · WEEK 9</a:t>
            </a:r>
            <a:endParaRPr lang="en-US" sz="1500" dirty="0"/>
          </a:p>
        </p:txBody>
      </p:sp>
      <p:sp>
        <p:nvSpPr>
          <p:cNvPr id="4" name="Text 0"/>
          <p:cNvSpPr/>
          <p:nvPr>
            <p:ph idx="102" type="title" hasCustomPrompt="1"/>
          </p:nvPr>
        </p:nvSpPr>
        <p:spPr>
          <a:xfrm>
            <a:off x="731520" y="2331720"/>
            <a:ext cx="10607040" cy="1737360"/>
          </a:xfrm>
          <a:prstGeom prst="rect">
            <a:avLst/>
          </a:prstGeom>
          <a:noFill/>
          <a:ln/>
        </p:spPr>
        <p:txBody>
          <a:bodyPr wrap="square" lIns="0" tIns="0" rIns="0" bIns="0" rtlCol="0" anchor="t"/>
          <a:lstStyle/>
          <a:p>
            <a:pPr algn="l" indent="0" marL="0">
              <a:buNone/>
            </a:pPr>
            <a:r>
              <a:rPr lang="en-US" sz="4400" b="1" dirty="0">
                <a:solidFill>
                  <a:schemeClr val="bg1"/>
                </a:solidFill>
                <a:latin typeface="Cambria" pitchFamily="34" charset="0"/>
                <a:ea typeface="Cambria" pitchFamily="34" charset="-122"/>
                <a:cs typeface="Cambria" pitchFamily="34" charset="-120"/>
              </a:rPr>
              <a:t>Convex Enterprise Optimization</a:t>
            </a:r>
            <a:endParaRPr lang="en-US" sz="4400" dirty="0"/>
          </a:p>
        </p:txBody>
      </p:sp>
      <p:sp>
        <p:nvSpPr>
          <p:cNvPr id="5" name="Text 0"/>
          <p:cNvSpPr/>
          <p:nvPr>
            <p:ph idx="103" type="body" hasCustomPrompt="1"/>
          </p:nvPr>
        </p:nvSpPr>
        <p:spPr>
          <a:xfrm>
            <a:off x="731520" y="4160520"/>
            <a:ext cx="10241280" cy="914400"/>
          </a:xfrm>
          <a:prstGeom prst="rect">
            <a:avLst/>
          </a:prstGeom>
          <a:noFill/>
          <a:ln/>
        </p:spPr>
        <p:txBody>
          <a:bodyPr wrap="square" lIns="0" tIns="0" rIns="0" bIns="0" rtlCol="0" anchor="t"/>
          <a:lstStyle/>
          <a:p>
            <a:pPr indent="0" marL="0">
              <a:buNone/>
            </a:pPr>
            <a:r>
              <a:rPr lang="en-US" sz="2000" dirty="0">
                <a:solidFill>
                  <a:schemeClr val="bg2"/>
                </a:solidFill>
              </a:rPr>
              <a:t>Convexity turns optimization from a search into a proof: a locally best plan is the best plan, and the answer arrives with a price list anyone can check</a:t>
            </a:r>
            <a:endParaRPr lang="en-US" sz="2000" dirty="0"/>
          </a:p>
        </p:txBody>
      </p:sp>
      <p:sp>
        <p:nvSpPr>
          <p:cNvPr id="6" name="Text 0"/>
          <p:cNvSpPr/>
          <p:nvPr>
            <p:ph idx="104" type="body" hasCustomPrompt="1"/>
          </p:nvPr>
        </p:nvSpPr>
        <p:spPr>
          <a:xfrm>
            <a:off x="731520" y="5897880"/>
            <a:ext cx="10607040" cy="365760"/>
          </a:xfrm>
          <a:prstGeom prst="rect">
            <a:avLst/>
          </a:prstGeom>
          <a:noFill/>
          <a:ln/>
        </p:spPr>
        <p:txBody>
          <a:bodyPr wrap="square" lIns="0" tIns="0" rIns="0" bIns="0" rtlCol="0"/>
          <a:lstStyle/>
          <a:p>
            <a:pPr indent="0" marL="0">
              <a:buNone/>
            </a:pPr>
            <a:r>
              <a:rPr lang="en-US" sz="1200" dirty="0">
                <a:solidFill>
                  <a:schemeClr val="accent4"/>
                </a:solidFill>
              </a:rPr>
              <a:t>Graduate course companion · Lab seed 26203 · AXIOM Lab 2.3 (AXIOM-03)</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ph idx="100" type="body" hasCustomPrompt="1"/>
          </p:nvPr>
        </p:nvSpPr>
        <p:spPr>
          <a:xfrm>
            <a:off x="1280160" y="1371600"/>
            <a:ext cx="9601200" cy="3017520"/>
          </a:xfrm>
          <a:prstGeom prst="rect">
            <a:avLst/>
          </a:prstGeom>
          <a:noFill/>
          <a:ln/>
        </p:spPr>
        <p:txBody>
          <a:bodyPr wrap="square" lIns="0" tIns="0" rIns="0" bIns="0" rtlCol="0" anchor="b"/>
          <a:lstStyle/>
          <a:p>
            <a:pPr indent="0" marL="0">
              <a:buNone/>
            </a:pPr>
            <a:r>
              <a:rPr lang="en-US" sz="3000" i="1" dirty="0">
                <a:solidFill>
                  <a:schemeClr val="bg1"/>
                </a:solidFill>
                <a:latin typeface="Cambria" pitchFamily="34" charset="0"/>
                <a:ea typeface="Cambria" pitchFamily="34" charset="-122"/>
                <a:cs typeface="Cambria" pitchFamily="34" charset="-120"/>
              </a:rPr>
              <a:t>“The point of philosophy is to start with something so simple as not to seem worth stating, and to end with something so paradoxical that no one will believe it.”</a:t>
            </a:r>
            <a:endParaRPr lang="en-US" sz="3000" dirty="0"/>
          </a:p>
        </p:txBody>
      </p:sp>
      <p:sp>
        <p:nvSpPr>
          <p:cNvPr id="4" name="Text 0"/>
          <p:cNvSpPr/>
          <p:nvPr>
            <p:ph idx="101" type="body" hasCustomPrompt="1"/>
          </p:nvPr>
        </p:nvSpPr>
        <p:spPr>
          <a:xfrm>
            <a:off x="1280160" y="4617720"/>
            <a:ext cx="9601200" cy="457200"/>
          </a:xfrm>
          <a:prstGeom prst="rect">
            <a:avLst/>
          </a:prstGeom>
          <a:noFill/>
          <a:ln/>
        </p:spPr>
        <p:txBody>
          <a:bodyPr wrap="square" lIns="0" tIns="0" rIns="0" bIns="0" rtlCol="0"/>
          <a:lstStyle/>
          <a:p>
            <a:pPr indent="0" marL="0">
              <a:buNone/>
            </a:pPr>
            <a:r>
              <a:rPr lang="en-US" sz="1800" b="1" dirty="0">
                <a:solidFill>
                  <a:schemeClr val="accent1"/>
                </a:solidFill>
              </a:rPr>
              <a:t>Bertrand Russell</a:t>
            </a:r>
            <a:endParaRPr lang="en-US" sz="1800" dirty="0"/>
          </a:p>
        </p:txBody>
      </p:sp>
      <p:sp>
        <p:nvSpPr>
          <p:cNvPr id="5" name="Text 0"/>
          <p:cNvSpPr/>
          <p:nvPr>
            <p:ph idx="102" type="body" hasCustomPrompt="1"/>
          </p:nvPr>
        </p:nvSpPr>
        <p:spPr>
          <a:xfrm>
            <a:off x="1280160" y="5074920"/>
            <a:ext cx="9601200" cy="731520"/>
          </a:xfrm>
          <a:prstGeom prst="rect">
            <a:avLst/>
          </a:prstGeom>
          <a:noFill/>
          <a:ln/>
        </p:spPr>
        <p:txBody>
          <a:bodyPr wrap="square" lIns="0" tIns="0" rIns="0" bIns="0" rtlCol="0" anchor="t"/>
          <a:lstStyle/>
          <a:p>
            <a:pPr indent="0" marL="0">
              <a:buNone/>
            </a:pPr>
            <a:r>
              <a:rPr lang="en-US" sz="1400" dirty="0">
                <a:solidFill>
                  <a:schemeClr val="accent4"/>
                </a:solidFill>
              </a:rPr>
              <a:t>Nobel Prize in Literature 1950; The Philosophy of Logical Atomism, Lecture II (1918)</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LEARNING OUTCOME STATEMENTS</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After this chapter, you can</a:t>
            </a:r>
            <a:endParaRPr lang="en-US" sz="3200" dirty="0"/>
          </a:p>
        </p:txBody>
      </p:sp>
      <p:sp>
        <p:nvSpPr>
          <p:cNvPr id="5" name="Number"/>
          <p:cNvSpPr/>
          <p:nvPr/>
        </p:nvSpPr>
        <p:spPr>
          <a:xfrm>
            <a:off x="548640" y="1737360"/>
            <a:ext cx="566928" cy="566928"/>
          </a:xfrm>
          <a:prstGeom prst="ellipse">
            <a:avLst/>
          </a:prstGeom>
          <a:solidFill>
            <a:schemeClr val="accent1"/>
          </a:solidFill>
          <a:ln w="6350">
            <a:solidFill>
              <a:schemeClr val="accent1"/>
            </a:solidFill>
            <a:prstDash val="solid"/>
          </a:ln>
        </p:spPr>
      </p:sp>
      <p:sp>
        <p:nvSpPr>
          <p:cNvPr id="6" name="Text 3"/>
          <p:cNvSpPr txBox="1"/>
          <p:nvPr/>
        </p:nvSpPr>
        <p:spPr>
          <a:xfrm>
            <a:off x="548640" y="1737360"/>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3.1</a:t>
            </a:r>
            <a:endParaRPr lang="en-US" sz="1500" dirty="0"/>
          </a:p>
        </p:txBody>
      </p:sp>
      <p:sp>
        <p:nvSpPr>
          <p:cNvPr id="7" name="Row text"/>
          <p:cNvSpPr txBox="1"/>
          <p:nvPr/>
        </p:nvSpPr>
        <p:spPr>
          <a:xfrm>
            <a:off x="1325880" y="1691640"/>
            <a:ext cx="10317175" cy="841248"/>
          </a:xfrm>
          <a:prstGeom prst="rect">
            <a:avLst/>
          </a:prstGeom>
          <a:noFill/>
          <a:ln/>
        </p:spPr>
        <p:txBody>
          <a:bodyPr wrap="square" lIns="0" tIns="0" rIns="0" bIns="0" rtlCol="0" anchor="ctr"/>
          <a:lstStyle/>
          <a:p>
            <a:pPr indent="0" marL="0">
              <a:buNone/>
            </a:pPr>
            <a:r>
              <a:rPr lang="en-US" sz="1600" dirty="0">
                <a:solidFill>
                  <a:schemeClr val="tx1"/>
                </a:solidFill>
              </a:rPr>
              <a:t>Recognize convexity in an enterprise instance: test sets and functions with the chord test, certify each block from a catalog of shapes and rules, and name the block where convexity breaks.</a:t>
            </a:r>
            <a:endParaRPr lang="en-US" sz="1600" dirty="0"/>
          </a:p>
        </p:txBody>
      </p:sp>
      <p:sp>
        <p:nvSpPr>
          <p:cNvPr id="8" name="Number"/>
          <p:cNvSpPr/>
          <p:nvPr/>
        </p:nvSpPr>
        <p:spPr>
          <a:xfrm>
            <a:off x="548640" y="2633472"/>
            <a:ext cx="566928" cy="566928"/>
          </a:xfrm>
          <a:prstGeom prst="ellipse">
            <a:avLst/>
          </a:prstGeom>
          <a:solidFill>
            <a:schemeClr val="accent1"/>
          </a:solidFill>
          <a:ln w="6350">
            <a:solidFill>
              <a:schemeClr val="accent1"/>
            </a:solidFill>
            <a:prstDash val="solid"/>
          </a:ln>
        </p:spPr>
      </p:sp>
      <p:sp>
        <p:nvSpPr>
          <p:cNvPr id="9" name="Text 6"/>
          <p:cNvSpPr txBox="1"/>
          <p:nvPr/>
        </p:nvSpPr>
        <p:spPr>
          <a:xfrm>
            <a:off x="548640" y="2633472"/>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3.2</a:t>
            </a:r>
            <a:endParaRPr lang="en-US" sz="1500" dirty="0"/>
          </a:p>
        </p:txBody>
      </p:sp>
      <p:sp>
        <p:nvSpPr>
          <p:cNvPr id="10" name="Row text"/>
          <p:cNvSpPr txBox="1"/>
          <p:nvPr/>
        </p:nvSpPr>
        <p:spPr>
          <a:xfrm>
            <a:off x="1325880" y="2587752"/>
            <a:ext cx="10317175" cy="841248"/>
          </a:xfrm>
          <a:prstGeom prst="rect">
            <a:avLst/>
          </a:prstGeom>
          <a:noFill/>
          <a:ln/>
        </p:spPr>
        <p:txBody>
          <a:bodyPr wrap="square" lIns="0" tIns="0" rIns="0" bIns="0" rtlCol="0" anchor="ctr"/>
          <a:lstStyle/>
          <a:p>
            <a:pPr indent="0" marL="0">
              <a:buNone/>
            </a:pPr>
            <a:r>
              <a:rPr lang="en-US" sz="1600" dirty="0">
                <a:solidFill>
                  <a:schemeClr val="tx1"/>
                </a:solidFill>
              </a:rPr>
              <a:t>Explain what convexity guarantees—local answers are global, best plans form a menu, curvature makes the best plan unique and near-best plans near—and why a flat sensitivity report then proves completion.</a:t>
            </a:r>
            <a:endParaRPr lang="en-US" sz="1600" dirty="0"/>
          </a:p>
        </p:txBody>
      </p:sp>
      <p:sp>
        <p:nvSpPr>
          <p:cNvPr id="11" name="Number"/>
          <p:cNvSpPr/>
          <p:nvPr/>
        </p:nvSpPr>
        <p:spPr>
          <a:xfrm>
            <a:off x="548640" y="3529584"/>
            <a:ext cx="566928" cy="566928"/>
          </a:xfrm>
          <a:prstGeom prst="ellipse">
            <a:avLst/>
          </a:prstGeom>
          <a:solidFill>
            <a:schemeClr val="accent1"/>
          </a:solidFill>
          <a:ln w="6350">
            <a:solidFill>
              <a:schemeClr val="accent1"/>
            </a:solidFill>
            <a:prstDash val="solid"/>
          </a:ln>
        </p:spPr>
      </p:sp>
      <p:sp>
        <p:nvSpPr>
          <p:cNvPr id="12" name="Text 9"/>
          <p:cNvSpPr txBox="1"/>
          <p:nvPr/>
        </p:nvSpPr>
        <p:spPr>
          <a:xfrm>
            <a:off x="548640" y="3529584"/>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3.3</a:t>
            </a:r>
            <a:endParaRPr lang="en-US" sz="1500" dirty="0"/>
          </a:p>
        </p:txBody>
      </p:sp>
      <p:sp>
        <p:nvSpPr>
          <p:cNvPr id="13" name="Row text"/>
          <p:cNvSpPr txBox="1"/>
          <p:nvPr/>
        </p:nvSpPr>
        <p:spPr>
          <a:xfrm>
            <a:off x="1325880" y="3483864"/>
            <a:ext cx="10317175" cy="841248"/>
          </a:xfrm>
          <a:prstGeom prst="rect">
            <a:avLst/>
          </a:prstGeom>
          <a:noFill/>
          <a:ln/>
        </p:spPr>
        <p:txBody>
          <a:bodyPr wrap="square" lIns="0" tIns="0" rIns="0" bIns="0" rtlCol="0" anchor="ctr"/>
          <a:lstStyle/>
          <a:p>
            <a:pPr indent="0" marL="0">
              <a:buNone/>
            </a:pPr>
            <a:r>
              <a:rPr lang="en-US" sz="1600" dirty="0">
                <a:solidFill>
                  <a:schemeClr val="tx1"/>
                </a:solidFill>
              </a:rPr>
              <a:t>Form the Lagrangian dual of a convex instance, explain why any price list gives a ceiling on value, and use the duality gap to certify a plan as best or to bound its distance from best.</a:t>
            </a:r>
            <a:endParaRPr lang="en-US" sz="1600" dirty="0"/>
          </a:p>
        </p:txBody>
      </p:sp>
      <p:sp>
        <p:nvSpPr>
          <p:cNvPr id="14" name="Number"/>
          <p:cNvSpPr/>
          <p:nvPr/>
        </p:nvSpPr>
        <p:spPr>
          <a:xfrm>
            <a:off x="548640" y="4425696"/>
            <a:ext cx="566928" cy="566928"/>
          </a:xfrm>
          <a:prstGeom prst="ellipse">
            <a:avLst/>
          </a:prstGeom>
          <a:solidFill>
            <a:schemeClr val="accent1"/>
          </a:solidFill>
          <a:ln w="6350">
            <a:solidFill>
              <a:schemeClr val="accent1"/>
            </a:solidFill>
            <a:prstDash val="solid"/>
          </a:ln>
        </p:spPr>
      </p:sp>
      <p:sp>
        <p:nvSpPr>
          <p:cNvPr id="15" name="Text 12"/>
          <p:cNvSpPr txBox="1"/>
          <p:nvPr/>
        </p:nvSpPr>
        <p:spPr>
          <a:xfrm>
            <a:off x="548640" y="4425696"/>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3.4</a:t>
            </a:r>
            <a:endParaRPr lang="en-US" sz="1500" dirty="0"/>
          </a:p>
        </p:txBody>
      </p:sp>
      <p:sp>
        <p:nvSpPr>
          <p:cNvPr id="16" name="Row text"/>
          <p:cNvSpPr txBox="1"/>
          <p:nvPr/>
        </p:nvSpPr>
        <p:spPr>
          <a:xfrm>
            <a:off x="1325880" y="4379976"/>
            <a:ext cx="10317175" cy="841248"/>
          </a:xfrm>
          <a:prstGeom prst="rect">
            <a:avLst/>
          </a:prstGeom>
          <a:noFill/>
          <a:ln/>
        </p:spPr>
        <p:txBody>
          <a:bodyPr wrap="square" lIns="0" tIns="0" rIns="0" bIns="0" rtlCol="0" anchor="ctr"/>
          <a:lstStyle/>
          <a:p>
            <a:pPr indent="0" marL="0">
              <a:buNone/>
            </a:pPr>
            <a:r>
              <a:rPr lang="en-US" sz="1600" dirty="0">
                <a:solidFill>
                  <a:schemeClr val="tx1"/>
                </a:solidFill>
              </a:rPr>
              <a:t>Check the Karush–Kuhn–Tucker conditions of a claimed solution, read its multipliers as prices that bound the value of relaxing a commitment, and explain the equal-marginal-value principle.</a:t>
            </a:r>
            <a:endParaRPr lang="en-US" sz="1600" dirty="0"/>
          </a:p>
        </p:txBody>
      </p:sp>
      <p:sp>
        <p:nvSpPr>
          <p:cNvPr id="17" name="Number"/>
          <p:cNvSpPr/>
          <p:nvPr/>
        </p:nvSpPr>
        <p:spPr>
          <a:xfrm>
            <a:off x="548640" y="5321808"/>
            <a:ext cx="566928" cy="566928"/>
          </a:xfrm>
          <a:prstGeom prst="ellipse">
            <a:avLst/>
          </a:prstGeom>
          <a:solidFill>
            <a:schemeClr val="accent1"/>
          </a:solidFill>
          <a:ln w="6350">
            <a:solidFill>
              <a:schemeClr val="accent1"/>
            </a:solidFill>
            <a:prstDash val="solid"/>
          </a:ln>
        </p:spPr>
      </p:sp>
      <p:sp>
        <p:nvSpPr>
          <p:cNvPr id="18" name="Text 15"/>
          <p:cNvSpPr txBox="1"/>
          <p:nvPr/>
        </p:nvSpPr>
        <p:spPr>
          <a:xfrm>
            <a:off x="548640" y="5321808"/>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3.5</a:t>
            </a:r>
            <a:endParaRPr lang="en-US" sz="1500" dirty="0"/>
          </a:p>
        </p:txBody>
      </p:sp>
      <p:sp>
        <p:nvSpPr>
          <p:cNvPr id="19" name="Row text"/>
          <p:cNvSpPr txBox="1"/>
          <p:nvPr/>
        </p:nvSpPr>
        <p:spPr>
          <a:xfrm>
            <a:off x="1325880" y="5276088"/>
            <a:ext cx="10317175" cy="841248"/>
          </a:xfrm>
          <a:prstGeom prst="rect">
            <a:avLst/>
          </a:prstGeom>
          <a:noFill/>
          <a:ln/>
        </p:spPr>
        <p:txBody>
          <a:bodyPr wrap="square" lIns="0" tIns="0" rIns="0" bIns="0" rtlCol="0" anchor="ctr"/>
          <a:lstStyle/>
          <a:p>
            <a:pPr indent="0" marL="0">
              <a:buNone/>
            </a:pPr>
            <a:r>
              <a:rPr lang="en-US" sz="1600" dirty="0">
                <a:solidFill>
                  <a:schemeClr val="tx1"/>
                </a:solidFill>
              </a:rPr>
              <a:t>Rewrite business commitments exactly in convex form, choose a solver class, and use a convex relaxation to bound a lumpy instance without enumerating its plans.</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ROADMAP</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Six sections, a worked example and a lab</a:t>
            </a:r>
            <a:endParaRPr lang="en-US" sz="3200" dirty="0"/>
          </a:p>
        </p:txBody>
      </p:sp>
      <p:sp>
        <p:nvSpPr>
          <p:cNvPr id="5" name="Card"/>
          <p:cNvSpPr/>
          <p:nvPr/>
        </p:nvSpPr>
        <p:spPr>
          <a:xfrm>
            <a:off x="548640" y="1691640"/>
            <a:ext cx="2567864" cy="2103120"/>
          </a:xfrm>
          <a:prstGeom prst="roundRect">
            <a:avLst>
              <a:gd name="adj" fmla="val 3478"/>
            </a:avLst>
          </a:prstGeom>
          <a:solidFill>
            <a:schemeClr val="bg2"/>
          </a:solidFill>
          <a:ln w="9525">
            <a:solidFill>
              <a:srgbClr val="C4CBD8"/>
            </a:solidFill>
            <a:prstDash val="solid"/>
          </a:ln>
        </p:spPr>
      </p:sp>
      <p:sp>
        <p:nvSpPr>
          <p:cNvPr id="6" name="Card label"/>
          <p:cNvSpPr txBox="1"/>
          <p:nvPr/>
        </p:nvSpPr>
        <p:spPr>
          <a:xfrm>
            <a:off x="731520"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§3.1</a:t>
            </a:r>
            <a:endParaRPr lang="en-US" sz="1300" dirty="0"/>
          </a:p>
        </p:txBody>
      </p:sp>
      <p:sp>
        <p:nvSpPr>
          <p:cNvPr id="7" name="Card head"/>
          <p:cNvSpPr txBox="1"/>
          <p:nvPr/>
        </p:nvSpPr>
        <p:spPr>
          <a:xfrm>
            <a:off x="731520" y="214884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What Convexity Buys</a:t>
            </a:r>
            <a:endParaRPr lang="en-US" sz="1500" dirty="0"/>
          </a:p>
        </p:txBody>
      </p:sp>
      <p:sp>
        <p:nvSpPr>
          <p:cNvPr id="8" name="Card text"/>
          <p:cNvSpPr txBox="1"/>
          <p:nvPr/>
        </p:nvSpPr>
        <p:spPr>
          <a:xfrm>
            <a:off x="731520" y="3282696"/>
            <a:ext cx="2202104" cy="384048"/>
          </a:xfrm>
          <a:prstGeom prst="rect">
            <a:avLst/>
          </a:prstGeom>
          <a:noFill/>
          <a:ln/>
        </p:spPr>
        <p:txBody>
          <a:bodyPr wrap="square" lIns="0" tIns="0" rIns="0" bIns="0" rtlCol="0" anchor="t"/>
          <a:lstStyle/>
          <a:p>
            <a:pPr indent="0" marL="0">
              <a:buNone/>
            </a:pPr>
            <a:r>
              <a:rPr lang="en-US" sz="1300" dirty="0">
                <a:solidFill>
                  <a:schemeClr val="tx2"/>
                </a:solidFill>
              </a:rPr>
              <a:t>Table 3.1 · four promises</a:t>
            </a:r>
            <a:endParaRPr lang="en-US" sz="1300" dirty="0"/>
          </a:p>
        </p:txBody>
      </p:sp>
      <p:sp>
        <p:nvSpPr>
          <p:cNvPr id="9" name="Card"/>
          <p:cNvSpPr/>
          <p:nvPr/>
        </p:nvSpPr>
        <p:spPr>
          <a:xfrm>
            <a:off x="3390824" y="1691640"/>
            <a:ext cx="2567864" cy="2103120"/>
          </a:xfrm>
          <a:prstGeom prst="roundRect">
            <a:avLst>
              <a:gd name="adj" fmla="val 3478"/>
            </a:avLst>
          </a:prstGeom>
          <a:solidFill>
            <a:schemeClr val="bg2"/>
          </a:solidFill>
          <a:ln w="9525">
            <a:solidFill>
              <a:srgbClr val="C4CBD8"/>
            </a:solidFill>
            <a:prstDash val="solid"/>
          </a:ln>
        </p:spPr>
      </p:sp>
      <p:sp>
        <p:nvSpPr>
          <p:cNvPr id="10" name="Card label"/>
          <p:cNvSpPr txBox="1"/>
          <p:nvPr/>
        </p:nvSpPr>
        <p:spPr>
          <a:xfrm>
            <a:off x="3573704"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§3.2</a:t>
            </a:r>
            <a:endParaRPr lang="en-US" sz="1300" dirty="0"/>
          </a:p>
        </p:txBody>
      </p:sp>
      <p:sp>
        <p:nvSpPr>
          <p:cNvPr id="11" name="Card head"/>
          <p:cNvSpPr txBox="1"/>
          <p:nvPr/>
        </p:nvSpPr>
        <p:spPr>
          <a:xfrm>
            <a:off x="3573704" y="214884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Recognizing Convexity</a:t>
            </a:r>
            <a:endParaRPr lang="en-US" sz="1500" dirty="0"/>
          </a:p>
        </p:txBody>
      </p:sp>
      <p:sp>
        <p:nvSpPr>
          <p:cNvPr id="12" name="Card text"/>
          <p:cNvSpPr txBox="1"/>
          <p:nvPr/>
        </p:nvSpPr>
        <p:spPr>
          <a:xfrm>
            <a:off x="3573704" y="3282696"/>
            <a:ext cx="2202104" cy="384048"/>
          </a:xfrm>
          <a:prstGeom prst="rect">
            <a:avLst/>
          </a:prstGeom>
          <a:noFill/>
          <a:ln/>
        </p:spPr>
        <p:txBody>
          <a:bodyPr wrap="square" lIns="0" tIns="0" rIns="0" bIns="0" rtlCol="0" anchor="t"/>
          <a:lstStyle/>
          <a:p>
            <a:pPr indent="0" marL="0">
              <a:buNone/>
            </a:pPr>
            <a:r>
              <a:rPr lang="en-US" sz="1300" dirty="0">
                <a:solidFill>
                  <a:schemeClr val="tx2"/>
                </a:solidFill>
              </a:rPr>
              <a:t>Definitions 3.1–3.2 · Table 3.2 · Figure 3.1</a:t>
            </a:r>
            <a:endParaRPr lang="en-US" sz="1300" dirty="0"/>
          </a:p>
        </p:txBody>
      </p:sp>
      <p:sp>
        <p:nvSpPr>
          <p:cNvPr id="13" name="Card"/>
          <p:cNvSpPr/>
          <p:nvPr/>
        </p:nvSpPr>
        <p:spPr>
          <a:xfrm>
            <a:off x="6233008" y="1691640"/>
            <a:ext cx="2567864" cy="2103120"/>
          </a:xfrm>
          <a:prstGeom prst="roundRect">
            <a:avLst>
              <a:gd name="adj" fmla="val 3478"/>
            </a:avLst>
          </a:prstGeom>
          <a:solidFill>
            <a:schemeClr val="bg2"/>
          </a:solidFill>
          <a:ln w="9525">
            <a:solidFill>
              <a:srgbClr val="C4CBD8"/>
            </a:solidFill>
            <a:prstDash val="solid"/>
          </a:ln>
        </p:spPr>
      </p:sp>
      <p:sp>
        <p:nvSpPr>
          <p:cNvPr id="14" name="Card label"/>
          <p:cNvSpPr txBox="1"/>
          <p:nvPr/>
        </p:nvSpPr>
        <p:spPr>
          <a:xfrm>
            <a:off x="6415888"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§3.3</a:t>
            </a:r>
            <a:endParaRPr lang="en-US" sz="1300" dirty="0"/>
          </a:p>
        </p:txBody>
      </p:sp>
      <p:sp>
        <p:nvSpPr>
          <p:cNvPr id="15" name="Card head"/>
          <p:cNvSpPr txBox="1"/>
          <p:nvPr/>
        </p:nvSpPr>
        <p:spPr>
          <a:xfrm>
            <a:off x="6415888" y="214884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Convex Instances and Global Answers</a:t>
            </a:r>
            <a:endParaRPr lang="en-US" sz="1500" dirty="0"/>
          </a:p>
        </p:txBody>
      </p:sp>
      <p:sp>
        <p:nvSpPr>
          <p:cNvPr id="16" name="Card text"/>
          <p:cNvSpPr txBox="1"/>
          <p:nvPr/>
        </p:nvSpPr>
        <p:spPr>
          <a:xfrm>
            <a:off x="6415888" y="3282696"/>
            <a:ext cx="2202104" cy="384048"/>
          </a:xfrm>
          <a:prstGeom prst="rect">
            <a:avLst/>
          </a:prstGeom>
          <a:noFill/>
          <a:ln/>
        </p:spPr>
        <p:txBody>
          <a:bodyPr wrap="square" lIns="0" tIns="0" rIns="0" bIns="0" rtlCol="0" anchor="t"/>
          <a:lstStyle/>
          <a:p>
            <a:pPr indent="0" marL="0">
              <a:buNone/>
            </a:pPr>
            <a:r>
              <a:rPr lang="en-US" sz="1300" dirty="0">
                <a:solidFill>
                  <a:schemeClr val="tx2"/>
                </a:solidFill>
              </a:rPr>
              <a:t>Definition 3.3 · Proposition 3.1 · Theorems 3.1–3.2</a:t>
            </a:r>
            <a:endParaRPr lang="en-US" sz="1300" dirty="0"/>
          </a:p>
        </p:txBody>
      </p:sp>
      <p:sp>
        <p:nvSpPr>
          <p:cNvPr id="17" name="Card"/>
          <p:cNvSpPr/>
          <p:nvPr/>
        </p:nvSpPr>
        <p:spPr>
          <a:xfrm>
            <a:off x="9075191" y="1691640"/>
            <a:ext cx="2567864" cy="2103120"/>
          </a:xfrm>
          <a:prstGeom prst="roundRect">
            <a:avLst>
              <a:gd name="adj" fmla="val 3478"/>
            </a:avLst>
          </a:prstGeom>
          <a:solidFill>
            <a:schemeClr val="bg2"/>
          </a:solidFill>
          <a:ln w="9525">
            <a:solidFill>
              <a:srgbClr val="C4CBD8"/>
            </a:solidFill>
            <a:prstDash val="solid"/>
          </a:ln>
        </p:spPr>
      </p:sp>
      <p:sp>
        <p:nvSpPr>
          <p:cNvPr id="18" name="Card label"/>
          <p:cNvSpPr txBox="1"/>
          <p:nvPr/>
        </p:nvSpPr>
        <p:spPr>
          <a:xfrm>
            <a:off x="9258071"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§3.4</a:t>
            </a:r>
            <a:endParaRPr lang="en-US" sz="1300" dirty="0"/>
          </a:p>
        </p:txBody>
      </p:sp>
      <p:sp>
        <p:nvSpPr>
          <p:cNvPr id="19" name="Card head"/>
          <p:cNvSpPr txBox="1"/>
          <p:nvPr/>
        </p:nvSpPr>
        <p:spPr>
          <a:xfrm>
            <a:off x="9258071" y="214884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Duality: Prices You Can Check</a:t>
            </a:r>
            <a:endParaRPr lang="en-US" sz="1500" dirty="0"/>
          </a:p>
        </p:txBody>
      </p:sp>
      <p:sp>
        <p:nvSpPr>
          <p:cNvPr id="20" name="Card text"/>
          <p:cNvSpPr txBox="1"/>
          <p:nvPr/>
        </p:nvSpPr>
        <p:spPr>
          <a:xfrm>
            <a:off x="9258071" y="3282696"/>
            <a:ext cx="2202104" cy="384048"/>
          </a:xfrm>
          <a:prstGeom prst="rect">
            <a:avLst/>
          </a:prstGeom>
          <a:noFill/>
          <a:ln/>
        </p:spPr>
        <p:txBody>
          <a:bodyPr wrap="square" lIns="0" tIns="0" rIns="0" bIns="0" rtlCol="0" anchor="t"/>
          <a:lstStyle/>
          <a:p>
            <a:pPr indent="0" marL="0">
              <a:buNone/>
            </a:pPr>
            <a:r>
              <a:rPr lang="en-US" sz="1300" dirty="0">
                <a:solidFill>
                  <a:schemeClr val="tx2"/>
                </a:solidFill>
              </a:rPr>
              <a:t>Theorems 3.3–3.5 · Figure 3.2</a:t>
            </a:r>
            <a:endParaRPr lang="en-US" sz="1300" dirty="0"/>
          </a:p>
        </p:txBody>
      </p:sp>
      <p:sp>
        <p:nvSpPr>
          <p:cNvPr id="21" name="Card"/>
          <p:cNvSpPr/>
          <p:nvPr/>
        </p:nvSpPr>
        <p:spPr>
          <a:xfrm>
            <a:off x="548640" y="4069080"/>
            <a:ext cx="2567864" cy="2103120"/>
          </a:xfrm>
          <a:prstGeom prst="roundRect">
            <a:avLst>
              <a:gd name="adj" fmla="val 3478"/>
            </a:avLst>
          </a:prstGeom>
          <a:solidFill>
            <a:schemeClr val="bg2"/>
          </a:solidFill>
          <a:ln w="9525">
            <a:solidFill>
              <a:srgbClr val="C4CBD8"/>
            </a:solidFill>
            <a:prstDash val="solid"/>
          </a:ln>
        </p:spPr>
      </p:sp>
      <p:sp>
        <p:nvSpPr>
          <p:cNvPr id="22" name="Card label"/>
          <p:cNvSpPr txBox="1"/>
          <p:nvPr/>
        </p:nvSpPr>
        <p:spPr>
          <a:xfrm>
            <a:off x="731520" y="419709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§3.5</a:t>
            </a:r>
            <a:endParaRPr lang="en-US" sz="1300" dirty="0"/>
          </a:p>
        </p:txBody>
      </p:sp>
      <p:sp>
        <p:nvSpPr>
          <p:cNvPr id="23" name="Card head"/>
          <p:cNvSpPr txBox="1"/>
          <p:nvPr/>
        </p:nvSpPr>
        <p:spPr>
          <a:xfrm>
            <a:off x="731520" y="452628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Rewriting Commitments in Convex Form</a:t>
            </a:r>
            <a:endParaRPr lang="en-US" sz="1500" dirty="0"/>
          </a:p>
        </p:txBody>
      </p:sp>
      <p:sp>
        <p:nvSpPr>
          <p:cNvPr id="24" name="Card text"/>
          <p:cNvSpPr txBox="1"/>
          <p:nvPr/>
        </p:nvSpPr>
        <p:spPr>
          <a:xfrm>
            <a:off x="731520" y="5660136"/>
            <a:ext cx="2202104" cy="384048"/>
          </a:xfrm>
          <a:prstGeom prst="rect">
            <a:avLst/>
          </a:prstGeom>
          <a:noFill/>
          <a:ln/>
        </p:spPr>
        <p:txBody>
          <a:bodyPr wrap="square" lIns="0" tIns="0" rIns="0" bIns="0" rtlCol="0" anchor="t"/>
          <a:lstStyle/>
          <a:p>
            <a:pPr indent="0" marL="0">
              <a:buNone/>
            </a:pPr>
            <a:r>
              <a:rPr lang="en-US" sz="1300" dirty="0">
                <a:solidFill>
                  <a:schemeClr val="tx2"/>
                </a:solidFill>
              </a:rPr>
              <a:t>Definition 3.5 · Theorem 3.6 · Table 3.3</a:t>
            </a:r>
            <a:endParaRPr lang="en-US" sz="1300" dirty="0"/>
          </a:p>
        </p:txBody>
      </p:sp>
      <p:sp>
        <p:nvSpPr>
          <p:cNvPr id="25" name="Card"/>
          <p:cNvSpPr/>
          <p:nvPr/>
        </p:nvSpPr>
        <p:spPr>
          <a:xfrm>
            <a:off x="3390824" y="4069080"/>
            <a:ext cx="2567864" cy="2103120"/>
          </a:xfrm>
          <a:prstGeom prst="roundRect">
            <a:avLst>
              <a:gd name="adj" fmla="val 3478"/>
            </a:avLst>
          </a:prstGeom>
          <a:solidFill>
            <a:schemeClr val="bg2"/>
          </a:solidFill>
          <a:ln w="9525">
            <a:solidFill>
              <a:srgbClr val="C4CBD8"/>
            </a:solidFill>
            <a:prstDash val="solid"/>
          </a:ln>
        </p:spPr>
      </p:sp>
      <p:sp>
        <p:nvSpPr>
          <p:cNvPr id="26" name="Card label"/>
          <p:cNvSpPr txBox="1"/>
          <p:nvPr/>
        </p:nvSpPr>
        <p:spPr>
          <a:xfrm>
            <a:off x="3573704" y="419709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§3.6</a:t>
            </a:r>
            <a:endParaRPr lang="en-US" sz="1300" dirty="0"/>
          </a:p>
        </p:txBody>
      </p:sp>
      <p:sp>
        <p:nvSpPr>
          <p:cNvPr id="27" name="Card head"/>
          <p:cNvSpPr txBox="1"/>
          <p:nvPr/>
        </p:nvSpPr>
        <p:spPr>
          <a:xfrm>
            <a:off x="3573704" y="452628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Solving, Certifying, and Bounding</a:t>
            </a:r>
            <a:endParaRPr lang="en-US" sz="1500" dirty="0"/>
          </a:p>
        </p:txBody>
      </p:sp>
      <p:sp>
        <p:nvSpPr>
          <p:cNvPr id="28" name="Card text"/>
          <p:cNvSpPr txBox="1"/>
          <p:nvPr/>
        </p:nvSpPr>
        <p:spPr>
          <a:xfrm>
            <a:off x="3573704" y="5660136"/>
            <a:ext cx="2202104" cy="384048"/>
          </a:xfrm>
          <a:prstGeom prst="rect">
            <a:avLst/>
          </a:prstGeom>
          <a:noFill/>
          <a:ln/>
        </p:spPr>
        <p:txBody>
          <a:bodyPr wrap="square" lIns="0" tIns="0" rIns="0" bIns="0" rtlCol="0" anchor="t"/>
          <a:lstStyle/>
          <a:p>
            <a:pPr indent="0" marL="0">
              <a:buNone/>
            </a:pPr>
            <a:r>
              <a:rPr lang="en-US" sz="1300" dirty="0">
                <a:solidFill>
                  <a:schemeClr val="tx2"/>
                </a:solidFill>
              </a:rPr>
              <a:t>Table 3.4 · Definition 3.6 · Proposition 3.2</a:t>
            </a:r>
            <a:endParaRPr lang="en-US" sz="1300" dirty="0"/>
          </a:p>
        </p:txBody>
      </p:sp>
      <p:sp>
        <p:nvSpPr>
          <p:cNvPr id="29" name="Card"/>
          <p:cNvSpPr/>
          <p:nvPr/>
        </p:nvSpPr>
        <p:spPr>
          <a:xfrm>
            <a:off x="6233008" y="4069080"/>
            <a:ext cx="2567864" cy="2103120"/>
          </a:xfrm>
          <a:prstGeom prst="roundRect">
            <a:avLst>
              <a:gd name="adj" fmla="val 3478"/>
            </a:avLst>
          </a:prstGeom>
          <a:solidFill>
            <a:schemeClr val="tx1"/>
          </a:solidFill>
          <a:ln w="9525">
            <a:solidFill>
              <a:srgbClr val="0F1E3D"/>
            </a:solidFill>
            <a:prstDash val="solid"/>
          </a:ln>
        </p:spPr>
      </p:sp>
      <p:sp>
        <p:nvSpPr>
          <p:cNvPr id="30" name="Card label"/>
          <p:cNvSpPr txBox="1"/>
          <p:nvPr/>
        </p:nvSpPr>
        <p:spPr>
          <a:xfrm>
            <a:off x="6415888" y="419709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Worked Example 3.1</a:t>
            </a:r>
            <a:endParaRPr lang="en-US" sz="1300" dirty="0"/>
          </a:p>
        </p:txBody>
      </p:sp>
      <p:sp>
        <p:nvSpPr>
          <p:cNvPr id="31" name="Card head"/>
          <p:cNvSpPr txBox="1"/>
          <p:nvPr/>
        </p:nvSpPr>
        <p:spPr>
          <a:xfrm>
            <a:off x="6415888" y="4526280"/>
            <a:ext cx="2202104" cy="1060704"/>
          </a:xfrm>
          <a:prstGeom prst="rect">
            <a:avLst/>
          </a:prstGeom>
          <a:noFill/>
          <a:ln/>
        </p:spPr>
        <p:txBody>
          <a:bodyPr wrap="square" lIns="0" tIns="0" rIns="0" bIns="0" rtlCol="0" anchor="t"/>
          <a:lstStyle/>
          <a:p>
            <a:pPr indent="0" marL="0">
              <a:buNone/>
            </a:pPr>
            <a:r>
              <a:rPr lang="en-US" sz="1500" b="1" dirty="0">
                <a:solidFill>
                  <a:schemeClr val="bg1"/>
                </a:solidFill>
                <a:latin typeface="Cambria" pitchFamily="34" charset="0"/>
                <a:ea typeface="Cambria" pitchFamily="34" charset="-122"/>
                <a:cs typeface="Cambria" pitchFamily="34" charset="-120"/>
              </a:rPr>
              <a:t>How Good Is the Three-Round Plan?</a:t>
            </a:r>
            <a:endParaRPr lang="en-US" sz="1500" dirty="0"/>
          </a:p>
        </p:txBody>
      </p:sp>
      <p:sp>
        <p:nvSpPr>
          <p:cNvPr id="32" name="Card text"/>
          <p:cNvSpPr txBox="1"/>
          <p:nvPr/>
        </p:nvSpPr>
        <p:spPr>
          <a:xfrm>
            <a:off x="6415888" y="5660136"/>
            <a:ext cx="2202104" cy="384048"/>
          </a:xfrm>
          <a:prstGeom prst="rect">
            <a:avLst/>
          </a:prstGeom>
          <a:noFill/>
          <a:ln/>
        </p:spPr>
        <p:txBody>
          <a:bodyPr wrap="square" lIns="0" tIns="0" rIns="0" bIns="0" rtlCol="0" anchor="t"/>
          <a:lstStyle/>
          <a:p>
            <a:pPr indent="0" marL="0">
              <a:buNone/>
            </a:pPr>
            <a:r>
              <a:rPr lang="en-US" sz="1300" dirty="0">
                <a:solidFill>
                  <a:schemeClr val="bg2"/>
                </a:solidFill>
              </a:rPr>
              <a:t>Table 3.5 · Figure 3.3</a:t>
            </a:r>
            <a:endParaRPr lang="en-US" sz="1300" dirty="0"/>
          </a:p>
        </p:txBody>
      </p:sp>
      <p:sp>
        <p:nvSpPr>
          <p:cNvPr id="33" name="Card"/>
          <p:cNvSpPr/>
          <p:nvPr/>
        </p:nvSpPr>
        <p:spPr>
          <a:xfrm>
            <a:off x="9075191" y="4069080"/>
            <a:ext cx="2567864" cy="2103120"/>
          </a:xfrm>
          <a:prstGeom prst="roundRect">
            <a:avLst>
              <a:gd name="adj" fmla="val 3478"/>
            </a:avLst>
          </a:prstGeom>
          <a:solidFill>
            <a:schemeClr val="bg2"/>
          </a:solidFill>
          <a:ln w="9525">
            <a:solidFill>
              <a:srgbClr val="C4CBD8"/>
            </a:solidFill>
            <a:prstDash val="solid"/>
          </a:ln>
        </p:spPr>
      </p:sp>
      <p:sp>
        <p:nvSpPr>
          <p:cNvPr id="34" name="Card label"/>
          <p:cNvSpPr txBox="1"/>
          <p:nvPr/>
        </p:nvSpPr>
        <p:spPr>
          <a:xfrm>
            <a:off x="9258071" y="419709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AXIOM Lab 2.3</a:t>
            </a:r>
            <a:endParaRPr lang="en-US" sz="1300" dirty="0"/>
          </a:p>
        </p:txBody>
      </p:sp>
      <p:sp>
        <p:nvSpPr>
          <p:cNvPr id="35" name="Card head"/>
          <p:cNvSpPr txBox="1"/>
          <p:nvPr/>
        </p:nvSpPr>
        <p:spPr>
          <a:xfrm>
            <a:off x="9258071" y="452628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Convex Models, Prices, and Certificates</a:t>
            </a:r>
            <a:endParaRPr lang="en-US" sz="1500" dirty="0"/>
          </a:p>
        </p:txBody>
      </p:sp>
      <p:sp>
        <p:nvSpPr>
          <p:cNvPr id="36" name="Card text"/>
          <p:cNvSpPr txBox="1"/>
          <p:nvPr/>
        </p:nvSpPr>
        <p:spPr>
          <a:xfrm>
            <a:off x="9258071" y="5660136"/>
            <a:ext cx="2202104" cy="384048"/>
          </a:xfrm>
          <a:prstGeom prst="rect">
            <a:avLst/>
          </a:prstGeom>
          <a:noFill/>
          <a:ln/>
        </p:spPr>
        <p:txBody>
          <a:bodyPr wrap="square" lIns="0" tIns="0" rIns="0" bIns="0" rtlCol="0" anchor="t"/>
          <a:lstStyle/>
          <a:p>
            <a:pPr indent="0" marL="0">
              <a:buNone/>
            </a:pPr>
            <a:r>
              <a:rPr lang="en-US" sz="1300" dirty="0">
                <a:solidFill>
                  <a:schemeClr val="tx2"/>
                </a:solidFill>
              </a:rPr>
              <a:t>AXIOM-03 · five steps</a:t>
            </a:r>
            <a:endParaRPr lang="en-US" sz="13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§3.1 · WHAT CONVEXITY BUYS</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A convex instance makes four promises</a:t>
            </a:r>
            <a:endParaRPr lang="en-US" sz="3200" dirty="0"/>
          </a:p>
        </p:txBody>
      </p:sp>
      <p:sp>
        <p:nvSpPr>
          <p:cNvPr id="5" name="Card"/>
          <p:cNvSpPr/>
          <p:nvPr/>
        </p:nvSpPr>
        <p:spPr>
          <a:xfrm>
            <a:off x="548640" y="1691640"/>
            <a:ext cx="2567864" cy="3291840"/>
          </a:xfrm>
          <a:prstGeom prst="roundRect">
            <a:avLst>
              <a:gd name="adj" fmla="val 2849"/>
            </a:avLst>
          </a:prstGeom>
          <a:solidFill>
            <a:schemeClr val="bg2"/>
          </a:solidFill>
          <a:ln w="9525">
            <a:solidFill>
              <a:srgbClr val="C4CBD8"/>
            </a:solidFill>
            <a:prstDash val="solid"/>
          </a:ln>
        </p:spPr>
      </p:sp>
      <p:sp>
        <p:nvSpPr>
          <p:cNvPr id="6" name="Card label"/>
          <p:cNvSpPr txBox="1"/>
          <p:nvPr/>
        </p:nvSpPr>
        <p:spPr>
          <a:xfrm>
            <a:off x="731520"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(i)</a:t>
            </a:r>
            <a:endParaRPr lang="en-US" sz="1300" dirty="0"/>
          </a:p>
        </p:txBody>
      </p:sp>
      <p:sp>
        <p:nvSpPr>
          <p:cNvPr id="7" name="Card head"/>
          <p:cNvSpPr txBox="1"/>
          <p:nvPr/>
        </p:nvSpPr>
        <p:spPr>
          <a:xfrm>
            <a:off x="731520" y="2148840"/>
            <a:ext cx="2202104" cy="1033272"/>
          </a:xfrm>
          <a:prstGeom prst="rect">
            <a:avLst/>
          </a:prstGeom>
          <a:noFill/>
          <a:ln/>
        </p:spPr>
        <p:txBody>
          <a:bodyPr wrap="square" lIns="0" tIns="0" rIns="0" bIns="0" rtlCol="0" anchor="t"/>
          <a:lstStyle/>
          <a:p>
            <a:pPr indent="0" marL="0">
              <a:buNone/>
            </a:pPr>
            <a:r>
              <a:rPr lang="en-US" sz="2100" b="1" dirty="0">
                <a:solidFill>
                  <a:schemeClr val="tx1"/>
                </a:solidFill>
                <a:latin typeface="Cambria" pitchFamily="34" charset="0"/>
                <a:ea typeface="Cambria" pitchFamily="34" charset="-122"/>
                <a:cs typeface="Cambria" pitchFamily="34" charset="-120"/>
              </a:rPr>
              <a:t>Local answers are global</a:t>
            </a:r>
            <a:endParaRPr lang="en-US" sz="2100" dirty="0"/>
          </a:p>
        </p:txBody>
      </p:sp>
      <p:sp>
        <p:nvSpPr>
          <p:cNvPr id="8" name="Card text"/>
          <p:cNvSpPr txBox="1"/>
          <p:nvPr/>
        </p:nvSpPr>
        <p:spPr>
          <a:xfrm>
            <a:off x="731520" y="3255264"/>
            <a:ext cx="2202104" cy="1600200"/>
          </a:xfrm>
          <a:prstGeom prst="rect">
            <a:avLst/>
          </a:prstGeom>
          <a:noFill/>
          <a:ln/>
        </p:spPr>
        <p:txBody>
          <a:bodyPr wrap="square" lIns="0" tIns="0" rIns="0" bIns="0" rtlCol="0" anchor="t"/>
          <a:lstStyle/>
          <a:p>
            <a:pPr indent="0" marL="0">
              <a:buNone/>
            </a:pPr>
            <a:r>
              <a:rPr lang="en-US" sz="1700" dirty="0">
                <a:solidFill>
                  <a:schemeClr val="tx2"/>
                </a:solidFill>
              </a:rPr>
              <a:t>Every locally best plan is the best plan, so a search that stalls has finished.</a:t>
            </a:r>
            <a:endParaRPr lang="en-US" sz="1700" dirty="0"/>
          </a:p>
        </p:txBody>
      </p:sp>
      <p:sp>
        <p:nvSpPr>
          <p:cNvPr id="9" name="Card"/>
          <p:cNvSpPr/>
          <p:nvPr/>
        </p:nvSpPr>
        <p:spPr>
          <a:xfrm>
            <a:off x="3390824" y="1691640"/>
            <a:ext cx="2567864" cy="3291840"/>
          </a:xfrm>
          <a:prstGeom prst="roundRect">
            <a:avLst>
              <a:gd name="adj" fmla="val 2849"/>
            </a:avLst>
          </a:prstGeom>
          <a:solidFill>
            <a:schemeClr val="bg2"/>
          </a:solidFill>
          <a:ln w="9525">
            <a:solidFill>
              <a:srgbClr val="C4CBD8"/>
            </a:solidFill>
            <a:prstDash val="solid"/>
          </a:ln>
        </p:spPr>
      </p:sp>
      <p:sp>
        <p:nvSpPr>
          <p:cNvPr id="10" name="Card label"/>
          <p:cNvSpPr txBox="1"/>
          <p:nvPr/>
        </p:nvSpPr>
        <p:spPr>
          <a:xfrm>
            <a:off x="3573704"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(ii)</a:t>
            </a:r>
            <a:endParaRPr lang="en-US" sz="1300" dirty="0"/>
          </a:p>
        </p:txBody>
      </p:sp>
      <p:sp>
        <p:nvSpPr>
          <p:cNvPr id="11" name="Card head"/>
          <p:cNvSpPr txBox="1"/>
          <p:nvPr/>
        </p:nvSpPr>
        <p:spPr>
          <a:xfrm>
            <a:off x="3573704" y="2148840"/>
            <a:ext cx="2202104" cy="1033272"/>
          </a:xfrm>
          <a:prstGeom prst="rect">
            <a:avLst/>
          </a:prstGeom>
          <a:noFill/>
          <a:ln/>
        </p:spPr>
        <p:txBody>
          <a:bodyPr wrap="square" lIns="0" tIns="0" rIns="0" bIns="0" rtlCol="0" anchor="t"/>
          <a:lstStyle/>
          <a:p>
            <a:pPr indent="0" marL="0">
              <a:buNone/>
            </a:pPr>
            <a:r>
              <a:rPr lang="en-US" sz="2100" b="1" dirty="0">
                <a:solidFill>
                  <a:schemeClr val="tx1"/>
                </a:solidFill>
                <a:latin typeface="Cambria" pitchFamily="34" charset="0"/>
                <a:ea typeface="Cambria" pitchFamily="34" charset="-122"/>
                <a:cs typeface="Cambria" pitchFamily="34" charset="-120"/>
              </a:rPr>
              <a:t>A certificate</a:t>
            </a:r>
            <a:endParaRPr lang="en-US" sz="2100" dirty="0"/>
          </a:p>
        </p:txBody>
      </p:sp>
      <p:sp>
        <p:nvSpPr>
          <p:cNvPr id="12" name="Card text"/>
          <p:cNvSpPr txBox="1"/>
          <p:nvPr/>
        </p:nvSpPr>
        <p:spPr>
          <a:xfrm>
            <a:off x="3573704" y="3255264"/>
            <a:ext cx="2202104" cy="1600200"/>
          </a:xfrm>
          <a:prstGeom prst="rect">
            <a:avLst/>
          </a:prstGeom>
          <a:noFill/>
          <a:ln/>
        </p:spPr>
        <p:txBody>
          <a:bodyPr wrap="square" lIns="0" tIns="0" rIns="0" bIns="0" rtlCol="0" anchor="t"/>
          <a:lstStyle/>
          <a:p>
            <a:pPr indent="0" marL="0">
              <a:buNone/>
            </a:pPr>
            <a:r>
              <a:rPr lang="en-US" sz="1700" dirty="0">
                <a:solidFill>
                  <a:schemeClr val="tx2"/>
                </a:solidFill>
              </a:rPr>
              <a:t>A list of prices under which no feasible plan can be worth more, checkable without trusting the software.</a:t>
            </a:r>
            <a:endParaRPr lang="en-US" sz="1700" dirty="0"/>
          </a:p>
        </p:txBody>
      </p:sp>
      <p:sp>
        <p:nvSpPr>
          <p:cNvPr id="13" name="Card"/>
          <p:cNvSpPr/>
          <p:nvPr/>
        </p:nvSpPr>
        <p:spPr>
          <a:xfrm>
            <a:off x="6233008" y="1691640"/>
            <a:ext cx="2567864" cy="3291840"/>
          </a:xfrm>
          <a:prstGeom prst="roundRect">
            <a:avLst>
              <a:gd name="adj" fmla="val 2849"/>
            </a:avLst>
          </a:prstGeom>
          <a:solidFill>
            <a:schemeClr val="bg2"/>
          </a:solidFill>
          <a:ln w="9525">
            <a:solidFill>
              <a:srgbClr val="C4CBD8"/>
            </a:solidFill>
            <a:prstDash val="solid"/>
          </a:ln>
        </p:spPr>
      </p:sp>
      <p:sp>
        <p:nvSpPr>
          <p:cNvPr id="14" name="Card label"/>
          <p:cNvSpPr txBox="1"/>
          <p:nvPr/>
        </p:nvSpPr>
        <p:spPr>
          <a:xfrm>
            <a:off x="6415888"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(iii)</a:t>
            </a:r>
            <a:endParaRPr lang="en-US" sz="1300" dirty="0"/>
          </a:p>
        </p:txBody>
      </p:sp>
      <p:sp>
        <p:nvSpPr>
          <p:cNvPr id="15" name="Card head"/>
          <p:cNvSpPr txBox="1"/>
          <p:nvPr/>
        </p:nvSpPr>
        <p:spPr>
          <a:xfrm>
            <a:off x="6415888" y="2148840"/>
            <a:ext cx="2202104" cy="1033272"/>
          </a:xfrm>
          <a:prstGeom prst="rect">
            <a:avLst/>
          </a:prstGeom>
          <a:noFill/>
          <a:ln/>
        </p:spPr>
        <p:txBody>
          <a:bodyPr wrap="square" lIns="0" tIns="0" rIns="0" bIns="0" rtlCol="0" anchor="t"/>
          <a:lstStyle/>
          <a:p>
            <a:pPr indent="0" marL="0">
              <a:buNone/>
            </a:pPr>
            <a:r>
              <a:rPr lang="en-US" sz="2100" b="1" dirty="0">
                <a:solidFill>
                  <a:schemeClr val="tx1"/>
                </a:solidFill>
                <a:latin typeface="Cambria" pitchFamily="34" charset="0"/>
                <a:ea typeface="Cambria" pitchFamily="34" charset="-122"/>
                <a:cs typeface="Cambria" pitchFamily="34" charset="-120"/>
              </a:rPr>
              <a:t>Prices for commitments</a:t>
            </a:r>
            <a:endParaRPr lang="en-US" sz="2100" dirty="0"/>
          </a:p>
        </p:txBody>
      </p:sp>
      <p:sp>
        <p:nvSpPr>
          <p:cNvPr id="16" name="Card text"/>
          <p:cNvSpPr txBox="1"/>
          <p:nvPr/>
        </p:nvSpPr>
        <p:spPr>
          <a:xfrm>
            <a:off x="6415888" y="3255264"/>
            <a:ext cx="2202104" cy="1600200"/>
          </a:xfrm>
          <a:prstGeom prst="rect">
            <a:avLst/>
          </a:prstGeom>
          <a:noFill/>
          <a:ln/>
        </p:spPr>
        <p:txBody>
          <a:bodyPr wrap="square" lIns="0" tIns="0" rIns="0" bIns="0" rtlCol="0" anchor="t"/>
          <a:lstStyle/>
          <a:p>
            <a:pPr indent="0" marL="0">
              <a:buNone/>
            </a:pPr>
            <a:r>
              <a:rPr lang="en-US" sz="1700" dirty="0">
                <a:solidFill>
                  <a:schemeClr val="tx2"/>
                </a:solidFill>
              </a:rPr>
              <a:t>Every binding commitment acquires a price, computed with the answer.</a:t>
            </a:r>
            <a:endParaRPr lang="en-US" sz="1700" dirty="0"/>
          </a:p>
        </p:txBody>
      </p:sp>
      <p:sp>
        <p:nvSpPr>
          <p:cNvPr id="17" name="Card"/>
          <p:cNvSpPr/>
          <p:nvPr/>
        </p:nvSpPr>
        <p:spPr>
          <a:xfrm>
            <a:off x="9075191" y="1691640"/>
            <a:ext cx="2567864" cy="3291840"/>
          </a:xfrm>
          <a:prstGeom prst="roundRect">
            <a:avLst>
              <a:gd name="adj" fmla="val 2849"/>
            </a:avLst>
          </a:prstGeom>
          <a:solidFill>
            <a:schemeClr val="tx1"/>
          </a:solidFill>
          <a:ln w="9525">
            <a:solidFill>
              <a:srgbClr val="0F1E3D"/>
            </a:solidFill>
            <a:prstDash val="solid"/>
          </a:ln>
        </p:spPr>
      </p:sp>
      <p:sp>
        <p:nvSpPr>
          <p:cNvPr id="18" name="Card label"/>
          <p:cNvSpPr txBox="1"/>
          <p:nvPr/>
        </p:nvSpPr>
        <p:spPr>
          <a:xfrm>
            <a:off x="9258071"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(iv)</a:t>
            </a:r>
            <a:endParaRPr lang="en-US" sz="1300" dirty="0"/>
          </a:p>
        </p:txBody>
      </p:sp>
      <p:sp>
        <p:nvSpPr>
          <p:cNvPr id="19" name="Card head"/>
          <p:cNvSpPr txBox="1"/>
          <p:nvPr/>
        </p:nvSpPr>
        <p:spPr>
          <a:xfrm>
            <a:off x="9258071" y="2148840"/>
            <a:ext cx="2202104" cy="1033272"/>
          </a:xfrm>
          <a:prstGeom prst="rect">
            <a:avLst/>
          </a:prstGeom>
          <a:noFill/>
          <a:ln/>
        </p:spPr>
        <p:txBody>
          <a:bodyPr wrap="square" lIns="0" tIns="0" rIns="0" bIns="0" rtlCol="0" anchor="t"/>
          <a:lstStyle/>
          <a:p>
            <a:pPr indent="0" marL="0">
              <a:buNone/>
            </a:pPr>
            <a:r>
              <a:rPr lang="en-US" sz="2100" b="1" dirty="0">
                <a:solidFill>
                  <a:schemeClr val="bg1"/>
                </a:solidFill>
                <a:latin typeface="Cambria" pitchFamily="34" charset="0"/>
                <a:ea typeface="Cambria" pitchFamily="34" charset="-122"/>
                <a:cs typeface="Cambria" pitchFamily="34" charset="-120"/>
              </a:rPr>
              <a:t>Predictable computing</a:t>
            </a:r>
            <a:endParaRPr lang="en-US" sz="2100" dirty="0"/>
          </a:p>
        </p:txBody>
      </p:sp>
      <p:sp>
        <p:nvSpPr>
          <p:cNvPr id="20" name="Card text"/>
          <p:cNvSpPr txBox="1"/>
          <p:nvPr/>
        </p:nvSpPr>
        <p:spPr>
          <a:xfrm>
            <a:off x="9258071" y="3255264"/>
            <a:ext cx="2202104" cy="1600200"/>
          </a:xfrm>
          <a:prstGeom prst="rect">
            <a:avLst/>
          </a:prstGeom>
          <a:noFill/>
          <a:ln/>
        </p:spPr>
        <p:txBody>
          <a:bodyPr wrap="square" lIns="0" tIns="0" rIns="0" bIns="0" rtlCol="0" anchor="t"/>
          <a:lstStyle/>
          <a:p>
            <a:pPr indent="0" marL="0">
              <a:buNone/>
            </a:pPr>
            <a:r>
              <a:rPr lang="en-US" sz="1700" dirty="0">
                <a:solidFill>
                  <a:schemeClr val="bg2"/>
                </a:solidFill>
              </a:rPr>
              <a:t>Computing time grows predictably with the size of the instance, so the planning cycle can budget for it.</a:t>
            </a:r>
            <a:endParaRPr lang="en-US" sz="1700" dirty="0"/>
          </a:p>
        </p:txBody>
      </p:sp>
      <p:sp>
        <p:nvSpPr>
          <p:cNvPr id="21" name="Lead"/>
          <p:cNvSpPr txBox="1"/>
          <p:nvPr/>
        </p:nvSpPr>
        <p:spPr>
          <a:xfrm>
            <a:off x="548640" y="5257800"/>
            <a:ext cx="11094415" cy="457200"/>
          </a:xfrm>
          <a:prstGeom prst="rect">
            <a:avLst/>
          </a:prstGeom>
          <a:noFill/>
          <a:ln/>
        </p:spPr>
        <p:txBody>
          <a:bodyPr wrap="square" lIns="0" tIns="0" rIns="0" bIns="0" rtlCol="0" anchor="ctr"/>
          <a:lstStyle/>
          <a:p>
            <a:pPr indent="0" marL="0">
              <a:buNone/>
            </a:pPr>
            <a:r>
              <a:rPr lang="en-US" sz="1600" i="1" dirty="0">
                <a:solidFill>
                  <a:schemeClr val="accent2"/>
                </a:solidFill>
              </a:rPr>
              <a:t>The second and third promises need one mild condition: some room to spare in the commitments (Section 3.4).</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§3.1 · TABLE 3.1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The same question on both sides of the line</a:t>
            </a:r>
            <a:endParaRPr lang="en-US" sz="3200" dirty="0"/>
          </a:p>
        </p:txBody>
      </p:sp>
      <p:graphicFrame>
        <p:nvGraphicFramePr>
          <p:cNvPr id="7"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2475613"/>
                <a:gridCol w="4217712"/>
                <a:gridCol w="4401090"/>
              </a:tblGrid>
              <a:tr h="530352">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Question</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Convex version</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Nonconvex version</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530352">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allocating a budget</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diminishing returns in each program</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a set-up charge for each funded program</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530352">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rebalancing a workforce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adjustment costs that rise with the size of the move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whole-team moves; hiring in minimum batches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530352">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building a portfolio</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a variance limit and position limits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at most a fixed number of positions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530352">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routing supply</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congestion costs on declared routes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choosing which routes to open</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530352">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penalizing overruns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rates that rise tier by tier</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discounts that grow with volume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530352">
                <a:tc>
                  <a:txBody>
                    <a:bodyPr/>
                    <a:lstStyle/>
                    <a:p>
                      <a:pPr algn="l" indent="0" marL="0">
                        <a:buNone/>
                      </a:pPr>
                      <a:r>
                        <a:rPr lang="en-US" sz="1500" b="1" dirty="0">
                          <a:solidFill>
                            <a:srgbClr val="0F1E3D"/>
                          </a:solidFill>
                          <a:latin typeface="Calibri" pitchFamily="34" charset="0"/>
                          <a:ea typeface="Calibri" pitchFamily="34" charset="-122"/>
                          <a:cs typeface="Calibri" pitchFamily="34" charset="-120"/>
                        </a:rPr>
                        <a:t>paying out savings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at most half of each year's savings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at least half of each year's savings (Worked Example 3.1)</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r>
            </a:tbl>
          </a:graphicData>
        </a:graphic>
      </p:graphicFrame>
      <p:sp>
        <p:nvSpPr>
          <p:cNvPr id="6" name="Lead"/>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600" dirty="0">
                <a:solidFill>
                  <a:schemeClr val="accent2"/>
                </a:solidFill>
              </a:rPr>
              <a:t>Convexity is a property of the shapes a company declares, not an accident of its data.</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§3.2 · DEFINITIONS 3.1–3.2 · FIGURE 3.1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The chord test, and where convexity breaks</a:t>
            </a:r>
            <a:endParaRPr lang="en-US" sz="3200" dirty="0"/>
          </a:p>
        </p:txBody>
      </p:sp>
      <p:sp>
        <p:nvSpPr>
          <p:cNvPr id="5" name="Bullets"/>
          <p:cNvSpPr txBox="1"/>
          <p:nvPr/>
        </p:nvSpPr>
        <p:spPr>
          <a:xfrm>
            <a:off x="548640" y="1691640"/>
            <a:ext cx="4476774" cy="4480560"/>
          </a:xfrm>
          <a:prstGeom prst="rect">
            <a:avLst/>
          </a:prstGeom>
          <a:noFill/>
          <a:ln/>
        </p:spPr>
        <p:txBody>
          <a:bodyPr wrap="square" lIns="635" tIns="635" rIns="635" bIns="635" rtlCol="0" anchor="t"/>
          <a:lstStyle/>
          <a:p>
            <a:pPr marL="228600" indent="-228600">
              <a:spcAft>
                <a:spcPts val="800"/>
              </a:spcAft>
              <a:buSzPct val="100000"/>
              <a:buChar char="•"/>
            </a:pPr>
            <a:r>
              <a:rPr lang="en-US" sz="1600" b="1" dirty="0">
                <a:solidFill>
                  <a:schemeClr val="tx1"/>
                </a:solidFill>
              </a:rPr>
              <a:t>Convex set:</a:t>
            </a:r>
            <a:r>
              <a:rPr lang="en-US" sz="1600" dirty="0">
                <a:solidFill>
                  <a:schemeClr val="tx1"/>
                </a:solidFill>
              </a:rPr>
              <a:t> every blend of two admissible plans is admissible</a:t>
            </a:r>
            <a:endParaRPr lang="en-US" sz="1600" dirty="0"/>
          </a:p>
          <a:p>
            <a:pPr marL="228600" indent="-228600">
              <a:spcAft>
                <a:spcPts val="800"/>
              </a:spcAft>
              <a:buSzPct val="100000"/>
              <a:buChar char="•"/>
            </a:pPr>
            <a:r>
              <a:rPr lang="en-US" sz="1600" b="1" dirty="0">
                <a:solidFill>
                  <a:schemeClr val="tx1"/>
                </a:solidFill>
              </a:rPr>
              <a:t>Concave value:</a:t>
            </a:r>
            <a:r>
              <a:rPr lang="en-US" sz="1600" dirty="0">
                <a:solidFill>
                  <a:schemeClr val="tx1"/>
                </a:solidFill>
              </a:rPr>
              <a:t> a blend is worth at least the blend of the values</a:t>
            </a:r>
            <a:endParaRPr lang="en-US" sz="1600" dirty="0"/>
          </a:p>
          <a:p>
            <a:pPr marL="228600" indent="-228600">
              <a:spcAft>
                <a:spcPts val="800"/>
              </a:spcAft>
              <a:buSzPct val="100000"/>
              <a:buChar char="•"/>
            </a:pPr>
            <a:r>
              <a:rPr lang="en-US" sz="1600" dirty="0">
                <a:solidFill>
                  <a:schemeClr val="tx1"/>
                </a:solidFill>
              </a:rPr>
              <a:t>Strictly concave: a unique best plan; strongly concave: near-best plans are near</a:t>
            </a:r>
            <a:endParaRPr lang="en-US" sz="1600" dirty="0"/>
          </a:p>
          <a:p>
            <a:pPr marL="228600" indent="-228600">
              <a:spcAft>
                <a:spcPts val="800"/>
              </a:spcAft>
              <a:buSzPct val="100000"/>
              <a:buChar char="•"/>
            </a:pPr>
            <a:r>
              <a:rPr lang="en-US" sz="1600" dirty="0">
                <a:solidFill>
                  <a:schemeClr val="tx1"/>
                </a:solidFill>
              </a:rPr>
              <a:t>A concave value's sensitivity report at any plan is a ceiling on value everywhere</a:t>
            </a:r>
            <a:endParaRPr lang="en-US" sz="1600" dirty="0"/>
          </a:p>
          <a:p>
            <a:pPr marL="228600" indent="-228600">
              <a:spcAft>
                <a:spcPts val="800"/>
              </a:spcAft>
              <a:buSzPct val="100000"/>
              <a:buChar char="•"/>
            </a:pPr>
            <a:r>
              <a:rPr lang="en-US" sz="1600" dirty="0">
                <a:solidFill>
                  <a:schemeClr val="tx1"/>
                </a:solidFill>
              </a:rPr>
              <a:t>Legacy run at 60 or more, or shut down, is not convex: the 50/50 blend runs it at 40</a:t>
            </a:r>
            <a:endParaRPr lang="en-US" sz="1600" dirty="0"/>
          </a:p>
          <a:p>
            <a:pPr marL="228600" indent="-228600">
              <a:spcAft>
                <a:spcPts val="800"/>
              </a:spcAft>
              <a:buSzPct val="100000"/>
              <a:buChar char="•"/>
            </a:pPr>
            <a:r>
              <a:rPr lang="en-US" sz="1600" dirty="0">
                <a:solidFill>
                  <a:schemeClr val="tx1"/>
                </a:solidFill>
              </a:rPr>
              <a:t>A pledge to pay out </a:t>
            </a:r>
            <a:r>
              <a:rPr lang="en-US" sz="1600" b="1" dirty="0">
                <a:solidFill>
                  <a:schemeClr val="tx1"/>
                </a:solidFill>
              </a:rPr>
              <a:t>at most</a:t>
            </a:r>
            <a:r>
              <a:rPr lang="en-US" sz="1600" dirty="0">
                <a:solidFill>
                  <a:schemeClr val="tx1"/>
                </a:solidFill>
              </a:rPr>
              <a:t> half of the savings is convex; </a:t>
            </a:r>
            <a:r>
              <a:rPr lang="en-US" sz="1600" b="1" dirty="0">
                <a:solidFill>
                  <a:schemeClr val="tx1"/>
                </a:solidFill>
              </a:rPr>
              <a:t>at least</a:t>
            </a:r>
            <a:r>
              <a:rPr lang="en-US" sz="1600" dirty="0">
                <a:solidFill>
                  <a:schemeClr val="tx1"/>
                </a:solidFill>
              </a:rPr>
              <a:t> half is not</a:t>
            </a:r>
            <a:endParaRPr lang="en-US" sz="1600" dirty="0"/>
          </a:p>
        </p:txBody>
      </p:sp>
      <p:pic>
        <p:nvPicPr>
          <p:cNvPr id="6" name="Figure" descr="Figure 3.1: recognizing convexity">    </p:cNvPr>
          <p:cNvPicPr>
            <a:picLocks noChangeAspect="1"/>
          </p:cNvPicPr>
          <p:nvPr/>
        </p:nvPicPr>
        <p:blipFill>
          <a:blip r:embed="rId1"/>
          <a:stretch>
            <a:fillRect/>
          </a:stretch>
        </p:blipFill>
        <p:spPr>
          <a:xfrm>
            <a:off x="5391174" y="2259149"/>
            <a:ext cx="6251881" cy="2778614"/>
          </a:xfrm>
          <a:prstGeom prst="rect">
            <a:avLst/>
          </a:prstGeom>
        </p:spPr>
      </p:pic>
      <p:sp>
        <p:nvSpPr>
          <p:cNvPr id="7" name="Caption"/>
          <p:cNvSpPr txBox="1"/>
          <p:nvPr/>
        </p:nvSpPr>
        <p:spPr>
          <a:xfrm>
            <a:off x="5391174" y="5110915"/>
            <a:ext cx="6251881" cy="502920"/>
          </a:xfrm>
          <a:prstGeom prst="rect">
            <a:avLst/>
          </a:prstGeom>
          <a:noFill/>
          <a:ln/>
        </p:spPr>
        <p:txBody>
          <a:bodyPr wrap="square" lIns="0" tIns="0" rIns="0" bIns="0" rtlCol="0" anchor="t"/>
          <a:lstStyle/>
          <a:p>
            <a:pPr indent="0" marL="0">
              <a:buNone/>
            </a:pPr>
            <a:r>
              <a:rPr lang="en-US" sz="1100" i="1" dirty="0">
                <a:solidFill>
                  <a:schemeClr val="tx2"/>
                </a:solidFill>
              </a:rPr>
              <a:t>Figure 3.1. (a) A region built from convex blocks is convex. (b) Volume I's minimum efficient scale splits the region in two. (c) A concave value, 3√x: chords lie below it, the tangent at 36 above.</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§3.2 · TABLE 3.2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A catalog of shapes and rules certifies convexity</a:t>
            </a:r>
            <a:endParaRPr lang="en-US" sz="3200" dirty="0"/>
          </a:p>
        </p:txBody>
      </p:sp>
      <p:graphicFrame>
        <p:nvGraphicFramePr>
          <p:cNvPr id="9"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1925477"/>
                <a:gridCol w="4584469"/>
                <a:gridCol w="4584469"/>
              </a:tblGrid>
              <a:tr h="402336">
                <a:tc>
                  <a:txBody>
                    <a:bodyPr/>
                    <a:lstStyle/>
                    <a:p>
                      <a:pPr algn="l" indent="0" marL="0">
                        <a:buNone/>
                      </a:pP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Shape or rule</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Business reading</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402336">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Convex sets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halfspace; affine set</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budgets, floors, ceilings; balances and identities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02336">
                <a:tc>
                  <a:txBody>
                    <a:bodyPr/>
                    <a:lstStyle/>
                    <a:p>
                      <a:pPr algn="l" indent="0" marL="0">
                        <a:buNone/>
                      </a:pP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ellipsoid; second-order cone</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risk appetites; variance and service-level limits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402336">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Convex functions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quadratic, Q positive semidefinite</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adjustment costs, variance, tracking error</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02336">
                <a:tc>
                  <a:txBody>
                    <a:bodyPr/>
                    <a:lstStyle/>
                    <a:p>
                      <a:pPr algn="l" indent="0" marL="0">
                        <a:buNone/>
                      </a:pP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norms; the maximum of affine pieces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deviation budgets; tiered tariffs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402336">
                <a:tc>
                  <a:txBody>
                    <a:bodyPr/>
                    <a:lstStyle/>
                    <a:p>
                      <a:pPr algn="l" indent="0" marL="0">
                        <a:buNone/>
                      </a:pP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exp(au), −ln u, u ln u (concave: √u, ln u)</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growth and decay; barriers; diminishing returns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02336">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Rules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intersection of convex sets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a region built from convex blocks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402336">
                <a:tc>
                  <a:txBody>
                    <a:bodyPr/>
                    <a:lstStyle/>
                    <a:p>
                      <a:pPr algn="l" indent="0" marL="0">
                        <a:buNone/>
                      </a:pP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pointwise maximum (minimum, for concave)</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the worst of several scenarios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02336">
                <a:tc>
                  <a:txBody>
                    <a:bodyPr/>
                    <a:lstStyle/>
                    <a:p>
                      <a:pPr algn="l" indent="0" marL="0">
                        <a:buNone/>
                      </a:pP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h(g(u)), h convex nondecreasing, g convex</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an exponential of a convex cost</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402336">
                <a:tc>
                  <a:txBody>
                    <a:bodyPr/>
                    <a:lstStyle/>
                    <a:p>
                      <a:pPr algn="l" indent="0" marL="0">
                        <a:buNone/>
                      </a:pP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{f ≤ c}, f convex; {J ≥ c}, J concave</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a cost under a ceiling; a value over a floor</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bl>
          </a:graphicData>
        </a:graphic>
      </p:graphicFrame>
      <p:sp>
        <p:nvSpPr>
          <p:cNvPr id="6" name="Lead"/>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600" dirty="0">
                <a:solidFill>
                  <a:schemeClr val="accent2"/>
                </a:solidFill>
              </a:rPr>
              <a:t>Recognition fails at compositions, (u</a:t>
            </a:r>
            <a:r>
              <a:rPr lang="en-US" sz="1600" baseline="30000" dirty="0">
                <a:solidFill>
                  <a:schemeClr val="accent2"/>
                </a:solidFill>
              </a:rPr>
              <a:t>2</a:t>
            </a:r>
            <a:r>
              <a:rPr lang="en-US" sz="1600" dirty="0">
                <a:solidFill>
                  <a:schemeClr val="accent2"/>
                </a:solidFill>
              </a:rPr>
              <a:t> − 1)</a:t>
            </a:r>
            <a:r>
              <a:rPr lang="en-US" sz="1600" baseline="30000" dirty="0">
                <a:solidFill>
                  <a:schemeClr val="accent2"/>
                </a:solidFill>
              </a:rPr>
              <a:t>2</a:t>
            </a:r>
            <a:r>
              <a:rPr lang="en-US" sz="1600" dirty="0">
                <a:solidFill>
                  <a:schemeClr val="accent2"/>
                </a:solidFill>
              </a:rPr>
              <a:t> has two minima, and at products of decisions.</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§3.3 · DEFINITION 3.3 · THEOREM 3.1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In a convex instance, local answers are global</a:t>
            </a:r>
            <a:endParaRPr lang="en-US" sz="3200" dirty="0"/>
          </a:p>
        </p:txBody>
      </p:sp>
      <p:sp>
        <p:nvSpPr>
          <p:cNvPr id="5" name="Result card"/>
          <p:cNvSpPr/>
          <p:nvPr/>
        </p:nvSpPr>
        <p:spPr>
          <a:xfrm>
            <a:off x="548640" y="1691640"/>
            <a:ext cx="630936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576072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THEOREM 3.1</a:t>
            </a:r>
            <a:endParaRPr lang="en-US" sz="1200" dirty="0"/>
          </a:p>
        </p:txBody>
      </p:sp>
      <p:sp>
        <p:nvSpPr>
          <p:cNvPr id="7" name="Text 4"/>
          <p:cNvSpPr txBox="1"/>
          <p:nvPr/>
        </p:nvSpPr>
        <p:spPr>
          <a:xfrm>
            <a:off x="822960" y="2194560"/>
            <a:ext cx="576072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Global Optimality Theorem</a:t>
            </a:r>
            <a:endParaRPr lang="en-US" sz="2100" dirty="0"/>
          </a:p>
        </p:txBody>
      </p:sp>
      <p:sp>
        <p:nvSpPr>
          <p:cNvPr id="8" name="Bullets"/>
          <p:cNvSpPr txBox="1"/>
          <p:nvPr/>
        </p:nvSpPr>
        <p:spPr>
          <a:xfrm>
            <a:off x="822960" y="2743200"/>
            <a:ext cx="5760720" cy="3291840"/>
          </a:xfrm>
          <a:prstGeom prst="rect">
            <a:avLst/>
          </a:prstGeom>
          <a:noFill/>
          <a:ln/>
        </p:spPr>
        <p:txBody>
          <a:bodyPr wrap="square" lIns="635" tIns="635" rIns="635" bIns="635" rtlCol="0" anchor="t"/>
          <a:lstStyle/>
          <a:p>
            <a:pPr marL="228600" indent="-228600">
              <a:spcAft>
                <a:spcPts val="600"/>
              </a:spcAft>
              <a:buSzPct val="100000"/>
              <a:buChar char="•"/>
            </a:pPr>
            <a:r>
              <a:rPr lang="en-US" sz="1700" b="1" dirty="0">
                <a:solidFill>
                  <a:schemeClr val="tx1"/>
                </a:solidFill>
              </a:rPr>
              <a:t>(i) Local is global.</a:t>
            </a:r>
            <a:r>
              <a:rPr lang="en-US" sz="1700" dirty="0">
                <a:solidFill>
                  <a:schemeClr val="tx1"/>
                </a:solidFill>
              </a:rPr>
              <a:t> A plan best among nearby feasible plans is best among all</a:t>
            </a:r>
            <a:endParaRPr lang="en-US" sz="1700" dirty="0"/>
          </a:p>
          <a:p>
            <a:pPr marL="228600" indent="-228600">
              <a:spcAft>
                <a:spcPts val="600"/>
              </a:spcAft>
              <a:buSzPct val="100000"/>
              <a:buChar char="•"/>
            </a:pPr>
            <a:r>
              <a:rPr lang="en-US" sz="1700" b="1" dirty="0">
                <a:solidFill>
                  <a:schemeClr val="tx1"/>
                </a:solidFill>
              </a:rPr>
              <a:t>(ii) Best plans form a menu.</a:t>
            </a:r>
            <a:r>
              <a:rPr lang="en-US" sz="1700" dirty="0">
                <a:solidFill>
                  <a:schemeClr val="tx1"/>
                </a:solidFill>
              </a:rPr>
              <a:t> Any blend of best plans is best</a:t>
            </a:r>
            <a:endParaRPr lang="en-US" sz="1700" dirty="0"/>
          </a:p>
          <a:p>
            <a:pPr marL="228600" indent="-228600">
              <a:spcAft>
                <a:spcPts val="600"/>
              </a:spcAft>
              <a:buSzPct val="100000"/>
              <a:buChar char="•"/>
            </a:pPr>
            <a:r>
              <a:rPr lang="en-US" sz="1700" b="1" dirty="0">
                <a:solidFill>
                  <a:schemeClr val="tx1"/>
                </a:solidFill>
              </a:rPr>
              <a:t>(iii) Recognition.</a:t>
            </a:r>
            <a:r>
              <a:rPr lang="en-US" sz="1700" dirty="0">
                <a:solidFill>
                  <a:schemeClr val="tx1"/>
                </a:solidFill>
              </a:rPr>
              <a:t> No feasible direction improves the objective at first order; inside the region, a zero gradient</a:t>
            </a:r>
            <a:endParaRPr lang="en-US" sz="1700" dirty="0"/>
          </a:p>
          <a:p>
            <a:pPr marL="228600" indent="-228600">
              <a:spcAft>
                <a:spcPts val="600"/>
              </a:spcAft>
              <a:buSzPct val="100000"/>
              <a:buChar char="•"/>
            </a:pPr>
            <a:r>
              <a:rPr lang="en-US" sz="1700" b="1" dirty="0">
                <a:solidFill>
                  <a:schemeClr val="tx1"/>
                </a:solidFill>
              </a:rPr>
              <a:t>(iv) Uniqueness.</a:t>
            </a:r>
            <a:r>
              <a:rPr lang="en-US" sz="1700" dirty="0">
                <a:solidFill>
                  <a:schemeClr val="tx1"/>
                </a:solidFill>
              </a:rPr>
              <a:t> With strict concavity there is at most one best plan</a:t>
            </a:r>
            <a:endParaRPr lang="en-US" sz="1700" dirty="0"/>
          </a:p>
          <a:p>
            <a:pPr marL="228600" indent="-228600">
              <a:spcAft>
                <a:spcPts val="600"/>
              </a:spcAft>
              <a:buSzPct val="100000"/>
              <a:buChar char="•"/>
            </a:pPr>
            <a:r>
              <a:rPr lang="en-US" sz="1700" b="1" dirty="0">
                <a:solidFill>
                  <a:schemeClr val="tx1"/>
                </a:solidFill>
              </a:rPr>
              <a:t>(v) Near-best is near.</a:t>
            </a:r>
            <a:r>
              <a:rPr lang="en-US" sz="1700" dirty="0">
                <a:solidFill>
                  <a:schemeClr val="tx1"/>
                </a:solidFill>
              </a:rPr>
              <a:t> Within ε of the best value, under curvature m, means within √(2ε/m) of the best plan</a:t>
            </a:r>
            <a:endParaRPr lang="en-US" sz="1700" dirty="0"/>
          </a:p>
        </p:txBody>
      </p:sp>
      <p:sp>
        <p:nvSpPr>
          <p:cNvPr id="9" name="Text 6"/>
          <p:cNvSpPr txBox="1"/>
          <p:nvPr/>
        </p:nvSpPr>
        <p:spPr>
          <a:xfrm>
            <a:off x="7269480" y="1737360"/>
            <a:ext cx="4373575" cy="365760"/>
          </a:xfrm>
          <a:prstGeom prst="rect">
            <a:avLst/>
          </a:prstGeom>
          <a:noFill/>
          <a:ln/>
        </p:spPr>
        <p:txBody>
          <a:bodyPr wrap="square" lIns="0" tIns="0" rIns="0" bIns="0" rtlCol="0" anchor="ctr"/>
          <a:lstStyle/>
          <a:p>
            <a:pPr indent="0" marL="0">
              <a:buNone/>
            </a:pPr>
            <a:r>
              <a:rPr lang="en-US" sz="1600" b="1" dirty="0">
                <a:solidFill>
                  <a:schemeClr val="accent2"/>
                </a:solidFill>
              </a:rPr>
              <a:t>What each part retires</a:t>
            </a:r>
            <a:endParaRPr lang="en-US" sz="1600" dirty="0"/>
          </a:p>
        </p:txBody>
      </p:sp>
      <p:sp>
        <p:nvSpPr>
          <p:cNvPr id="10" name="Bullets"/>
          <p:cNvSpPr txBox="1"/>
          <p:nvPr/>
        </p:nvSpPr>
        <p:spPr>
          <a:xfrm>
            <a:off x="7269480" y="2194560"/>
            <a:ext cx="4373575" cy="3977640"/>
          </a:xfrm>
          <a:prstGeom prst="rect">
            <a:avLst/>
          </a:prstGeom>
          <a:noFill/>
          <a:ln/>
        </p:spPr>
        <p:txBody>
          <a:bodyPr wrap="square" lIns="635" tIns="635" rIns="635" bIns="635" rtlCol="0" anchor="t"/>
          <a:lstStyle/>
          <a:p>
            <a:pPr marL="228600" indent="-228600">
              <a:spcAft>
                <a:spcPts val="800"/>
              </a:spcAft>
              <a:buSzPct val="100000"/>
              <a:buChar char="•"/>
            </a:pPr>
            <a:r>
              <a:rPr lang="en-US" sz="1700" dirty="0">
                <a:solidFill>
                  <a:schemeClr val="tx1"/>
                </a:solidFill>
              </a:rPr>
              <a:t>“Did the search stall in a side valley?” A convex instance has none</a:t>
            </a:r>
            <a:endParaRPr lang="en-US" sz="1700" dirty="0"/>
          </a:p>
          <a:p>
            <a:pPr marL="228600" indent="-228600">
              <a:spcAft>
                <a:spcPts val="800"/>
              </a:spcAft>
              <a:buSzPct val="100000"/>
              <a:buChar char="•"/>
            </a:pPr>
            <a:r>
              <a:rPr lang="en-US" sz="1700" dirty="0">
                <a:solidFill>
                  <a:schemeClr val="tx1"/>
                </a:solidFill>
              </a:rPr>
              <a:t>Inside the region, a flat sensitivity report is a proof of completion</a:t>
            </a:r>
            <a:endParaRPr lang="en-US" sz="1700" dirty="0"/>
          </a:p>
          <a:p>
            <a:pPr marL="228600" indent="-228600">
              <a:spcAft>
                <a:spcPts val="800"/>
              </a:spcAft>
              <a:buSzPct val="100000"/>
              <a:buChar char="•"/>
            </a:pPr>
            <a:r>
              <a:rPr lang="en-US" sz="1700" b="1" dirty="0">
                <a:solidFill>
                  <a:schemeClr val="tx1"/>
                </a:solidFill>
              </a:rPr>
              <a:t>Theorem 3.2:</a:t>
            </a:r>
            <a:r>
              <a:rPr lang="en-US" sz="1700" dirty="0">
                <a:solidFill>
                  <a:schemeClr val="tx1"/>
                </a:solidFill>
              </a:rPr>
              <a:t> certify the region block by block; one nonconvex block voids the guarantee</a:t>
            </a:r>
            <a:endParaRPr lang="en-US" sz="1700" dirty="0"/>
          </a:p>
          <a:p>
            <a:pPr marL="228600" indent="-228600">
              <a:spcAft>
                <a:spcPts val="800"/>
              </a:spcAft>
              <a:buSzPct val="100000"/>
              <a:buChar char="•"/>
            </a:pPr>
            <a:r>
              <a:rPr lang="en-US" sz="1700" b="1" dirty="0">
                <a:solidFill>
                  <a:schemeClr val="tx1"/>
                </a:solidFill>
              </a:rPr>
              <a:t>Proposition 3.1:</a:t>
            </a:r>
            <a:r>
              <a:rPr lang="en-US" sz="1700" dirty="0">
                <a:solidFill>
                  <a:schemeClr val="tx1"/>
                </a:solidFill>
              </a:rPr>
              <a:t> any blend of feasible plans is feasible: compromise needs no new review</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§3.4 · EQUATIONS 3.2–3.3 · DEFINITION 3.4</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Price the commitments instead of enforcing them</a:t>
            </a:r>
            <a:endParaRPr lang="en-US" sz="3200" dirty="0"/>
          </a:p>
        </p:txBody>
      </p:sp>
      <p:pic>
        <p:nvPicPr>
          <p:cNvPr id="5" name="Equation" descr="Equation: \mathcal{L}(\mathbf{u},\boldsymbol{\lambda},\boldsymbol{\nu}) \;=\; J(\mathbf{u}) - \sum_{i=1}^{m}\lambda_i\, g_i(\mathbf{u}) - \boldsymbol{\nu}^{\top}(\mathbf{A}\mathbf{u} - \mathbf{b}), \qquad q(\boldsymbol{\lambda},\boldsymbol{\nu}) \;=\; \sup_{\mathbf{u}}\, \mathcal{L}(\mathbf{u},\boldsymbol{\lambda},\boldsymbol{\nu})">    </p:cNvPr>
          <p:cNvPicPr>
            <a:picLocks noChangeAspect="1"/>
          </p:cNvPicPr>
          <p:nvPr/>
        </p:nvPicPr>
        <p:blipFill>
          <a:blip r:embed="rId1"/>
          <a:stretch>
            <a:fillRect/>
          </a:stretch>
        </p:blipFill>
        <p:spPr>
          <a:xfrm>
            <a:off x="914400" y="1895267"/>
            <a:ext cx="10362895" cy="964346"/>
          </a:xfrm>
          <a:prstGeom prst="rect">
            <a:avLst/>
          </a:prstGeom>
        </p:spPr>
      </p:pic>
      <p:sp>
        <p:nvSpPr>
          <p:cNvPr id="6" name="Text 2"/>
          <p:cNvSpPr txBox="1"/>
          <p:nvPr/>
        </p:nvSpPr>
        <p:spPr>
          <a:xfrm>
            <a:off x="914400" y="2996773"/>
            <a:ext cx="10362895" cy="411480"/>
          </a:xfrm>
          <a:prstGeom prst="rect">
            <a:avLst/>
          </a:prstGeom>
          <a:noFill/>
          <a:ln/>
        </p:spPr>
        <p:txBody>
          <a:bodyPr wrap="square" lIns="0" tIns="0" rIns="0" bIns="0" rtlCol="0" anchor="ctr"/>
          <a:lstStyle/>
          <a:p>
            <a:pPr algn="ctr" indent="0" marL="0">
              <a:buNone/>
            </a:pPr>
            <a:r>
              <a:rPr lang="en-US" sz="1600" i="1" dirty="0">
                <a:solidFill>
                  <a:schemeClr val="accent4"/>
                </a:solidFill>
              </a:rPr>
              <a:t>each commitment becomes a tariff: exceeding it costs its price λ a unit, and a unit of slack earns λ</a:t>
            </a:r>
            <a:endParaRPr lang="en-US" sz="1600" dirty="0"/>
          </a:p>
        </p:txBody>
      </p:sp>
      <p:sp>
        <p:nvSpPr>
          <p:cNvPr id="7" name="Bullets"/>
          <p:cNvSpPr txBox="1"/>
          <p:nvPr/>
        </p:nvSpPr>
        <p:spPr>
          <a:xfrm>
            <a:off x="914400" y="3591133"/>
            <a:ext cx="10362895" cy="2581067"/>
          </a:xfrm>
          <a:prstGeom prst="rect">
            <a:avLst/>
          </a:prstGeom>
          <a:noFill/>
          <a:ln/>
        </p:spPr>
        <p:txBody>
          <a:bodyPr wrap="square" lIns="635" tIns="635" rIns="635" bIns="635" rtlCol="0" anchor="t"/>
          <a:lstStyle/>
          <a:p>
            <a:pPr marL="228600" indent="-228600">
              <a:spcAft>
                <a:spcPts val="800"/>
              </a:spcAft>
              <a:buSzPct val="100000"/>
              <a:buChar char="•"/>
            </a:pPr>
            <a:r>
              <a:rPr lang="en-US" sz="1700" dirty="0">
                <a:solidFill>
                  <a:schemeClr val="bg1"/>
                </a:solidFill>
              </a:rPr>
              <a:t>The </a:t>
            </a:r>
            <a:r>
              <a:rPr lang="en-US" sz="1700" b="1" dirty="0">
                <a:solidFill>
                  <a:schemeClr val="bg1"/>
                </a:solidFill>
              </a:rPr>
              <a:t>dual problem</a:t>
            </a:r>
            <a:r>
              <a:rPr lang="en-US" sz="1700" dirty="0">
                <a:solidFill>
                  <a:schemeClr val="bg1"/>
                </a:solidFill>
              </a:rPr>
              <a:t> chooses prices λ ≥ 0 and ν to minimize q; the </a:t>
            </a:r>
            <a:r>
              <a:rPr lang="en-US" sz="1700" b="1" dirty="0">
                <a:solidFill>
                  <a:schemeClr val="bg1"/>
                </a:solidFill>
              </a:rPr>
              <a:t>duality gap</a:t>
            </a:r>
            <a:r>
              <a:rPr lang="en-US" sz="1700" dirty="0">
                <a:solidFill>
                  <a:schemeClr val="bg1"/>
                </a:solidFill>
              </a:rPr>
              <a:t> is d* − p* (Definition 3.4)</a:t>
            </a:r>
            <a:endParaRPr lang="en-US" sz="1700" dirty="0"/>
          </a:p>
          <a:p>
            <a:pPr marL="228600" indent="-228600">
              <a:spcAft>
                <a:spcPts val="800"/>
              </a:spcAft>
              <a:buSzPct val="100000"/>
              <a:buChar char="•"/>
            </a:pPr>
            <a:r>
              <a:rPr lang="en-US" sz="1700" dirty="0">
                <a:solidFill>
                  <a:schemeClr val="bg1"/>
                </a:solidFill>
              </a:rPr>
              <a:t>For each plan the Lagrangian is affine in the prices, so q is convex: the dual is a convex problem, whatever the instance</a:t>
            </a:r>
            <a:endParaRPr lang="en-US" sz="1700" dirty="0"/>
          </a:p>
          <a:p>
            <a:pPr marL="228600" indent="-228600">
              <a:spcAft>
                <a:spcPts val="800"/>
              </a:spcAft>
              <a:buSzPct val="100000"/>
              <a:buChar char="•"/>
            </a:pPr>
            <a:r>
              <a:rPr lang="en-US" sz="1700" b="1" dirty="0">
                <a:solidFill>
                  <a:schemeClr val="bg1"/>
                </a:solidFill>
              </a:rPr>
              <a:t>Theorem 3.3.</a:t>
            </a:r>
            <a:r>
              <a:rPr lang="en-US" sz="1700" dirty="0">
                <a:solidFill>
                  <a:schemeClr val="bg1"/>
                </a:solidFill>
              </a:rPr>
              <a:t> At every point on the edge of a convex set some price list makes that point the best in the set</a:t>
            </a:r>
            <a:endParaRPr lang="en-US" sz="1700" dirty="0"/>
          </a:p>
          <a:p>
            <a:pPr marL="228600" indent="-228600">
              <a:spcAft>
                <a:spcPts val="800"/>
              </a:spcAft>
              <a:buSzPct val="100000"/>
              <a:buChar char="•"/>
            </a:pPr>
            <a:r>
              <a:rPr lang="en-US" sz="1700" dirty="0">
                <a:solidFill>
                  <a:schemeClr val="bg1"/>
                </a:solidFill>
              </a:rPr>
              <a:t>The two-channel budget: q(λ) = 25/(4λ) + 100λ. Every price gives a ceiling, and the best price, 0.25, gives exactly the best return, 50 (Figure 3.2(b))</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§3.4 · THEOREM 3.4 · FIGURE 3.2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Plans and prices certify each other</a:t>
            </a:r>
            <a:endParaRPr lang="en-US" sz="3200" dirty="0"/>
          </a:p>
        </p:txBody>
      </p:sp>
      <p:sp>
        <p:nvSpPr>
          <p:cNvPr id="5" name="Result card"/>
          <p:cNvSpPr/>
          <p:nvPr/>
        </p:nvSpPr>
        <p:spPr>
          <a:xfrm>
            <a:off x="548640" y="1691640"/>
            <a:ext cx="548640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493776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THEOREM 3.4</a:t>
            </a:r>
            <a:endParaRPr lang="en-US" sz="1200" dirty="0"/>
          </a:p>
        </p:txBody>
      </p:sp>
      <p:sp>
        <p:nvSpPr>
          <p:cNvPr id="7" name="Text 4"/>
          <p:cNvSpPr txBox="1"/>
          <p:nvPr/>
        </p:nvSpPr>
        <p:spPr>
          <a:xfrm>
            <a:off x="822960" y="2194560"/>
            <a:ext cx="493776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Duality Theorem</a:t>
            </a:r>
            <a:endParaRPr lang="en-US" sz="2100" dirty="0"/>
          </a:p>
        </p:txBody>
      </p:sp>
      <p:sp>
        <p:nvSpPr>
          <p:cNvPr id="8" name="Bullets"/>
          <p:cNvSpPr txBox="1"/>
          <p:nvPr/>
        </p:nvSpPr>
        <p:spPr>
          <a:xfrm>
            <a:off x="822960" y="2743200"/>
            <a:ext cx="4937760" cy="3291840"/>
          </a:xfrm>
          <a:prstGeom prst="rect">
            <a:avLst/>
          </a:prstGeom>
          <a:noFill/>
          <a:ln/>
        </p:spPr>
        <p:txBody>
          <a:bodyPr wrap="square" lIns="635" tIns="635" rIns="635" bIns="635" rtlCol="0" anchor="t"/>
          <a:lstStyle/>
          <a:p>
            <a:pPr marL="228600" indent="-228600">
              <a:spcAft>
                <a:spcPts val="600"/>
              </a:spcAft>
              <a:buSzPct val="100000"/>
              <a:buChar char="•"/>
            </a:pPr>
            <a:r>
              <a:rPr lang="en-US" sz="1600" b="1" dirty="0">
                <a:solidFill>
                  <a:schemeClr val="tx1"/>
                </a:solidFill>
              </a:rPr>
              <a:t>(i) Any price list is a ceiling.</a:t>
            </a:r>
            <a:r>
              <a:rPr lang="en-US" sz="1600" dirty="0">
                <a:solidFill>
                  <a:schemeClr val="tx1"/>
                </a:solidFill>
              </a:rPr>
              <a:t> Every feasible plan is worth at most q(λ, ν); this part needs no convexity</a:t>
            </a:r>
            <a:endParaRPr lang="en-US" sz="1600" dirty="0"/>
          </a:p>
          <a:p>
            <a:pPr marL="228600" indent="-228600">
              <a:spcAft>
                <a:spcPts val="600"/>
              </a:spcAft>
              <a:buSzPct val="100000"/>
              <a:buChar char="•"/>
            </a:pPr>
            <a:r>
              <a:rPr lang="en-US" sz="1600" b="1" dirty="0">
                <a:solidFill>
                  <a:schemeClr val="tx1"/>
                </a:solidFill>
              </a:rPr>
              <a:t>(ii) The best prices close the gap,</a:t>
            </a:r>
            <a:r>
              <a:rPr lang="en-US" sz="1600" dirty="0">
                <a:solidFill>
                  <a:schemeClr val="tx1"/>
                </a:solidFill>
              </a:rPr>
              <a:t> given a Slater plan: one that keeps every inequality strictly</a:t>
            </a:r>
            <a:endParaRPr lang="en-US" sz="1600" dirty="0"/>
          </a:p>
          <a:p>
            <a:pPr marL="228600" indent="-228600">
              <a:spcAft>
                <a:spcPts val="600"/>
              </a:spcAft>
              <a:buSzPct val="100000"/>
              <a:buChar char="•"/>
            </a:pPr>
            <a:r>
              <a:rPr lang="en-US" sz="1600" b="1" dirty="0">
                <a:solidFill>
                  <a:schemeClr val="tx1"/>
                </a:solidFill>
              </a:rPr>
              <a:t>(iii) Plans and prices certify each other:</a:t>
            </a:r>
            <a:r>
              <a:rPr lang="en-US" sz="1600" dirty="0">
                <a:solidFill>
                  <a:schemeClr val="tx1"/>
                </a:solidFill>
              </a:rPr>
              <a:t> a feasible plan worth q(λ, ν) is best, and so are the prices</a:t>
            </a:r>
            <a:endParaRPr lang="en-US" sz="1600" dirty="0"/>
          </a:p>
          <a:p>
            <a:pPr marL="228600" indent="-228600">
              <a:spcAft>
                <a:spcPts val="600"/>
              </a:spcAft>
              <a:buSzPct val="100000"/>
              <a:buChar char="•"/>
            </a:pPr>
            <a:r>
              <a:rPr lang="en-US" sz="1600" dirty="0">
                <a:solidFill>
                  <a:schemeClr val="tx1"/>
                </a:solidFill>
              </a:rPr>
              <a:t>Optimization becomes auditable: “nothing better exists” turns into a claim about one price list</a:t>
            </a:r>
            <a:endParaRPr lang="en-US" sz="1600" dirty="0"/>
          </a:p>
        </p:txBody>
      </p:sp>
      <p:pic>
        <p:nvPicPr>
          <p:cNvPr id="9" name="Figure" descr="Figure 3.2: prices and certificates on the two-channel budget">    </p:cNvPr>
          <p:cNvPicPr>
            <a:picLocks noChangeAspect="1"/>
          </p:cNvPicPr>
          <p:nvPr/>
        </p:nvPicPr>
        <p:blipFill>
          <a:blip r:embed="rId1"/>
          <a:stretch>
            <a:fillRect/>
          </a:stretch>
        </p:blipFill>
        <p:spPr>
          <a:xfrm>
            <a:off x="6446520" y="1717653"/>
            <a:ext cx="5196535" cy="2490006"/>
          </a:xfrm>
          <a:prstGeom prst="rect">
            <a:avLst/>
          </a:prstGeom>
        </p:spPr>
      </p:pic>
      <p:sp>
        <p:nvSpPr>
          <p:cNvPr id="10" name="Caption"/>
          <p:cNvSpPr txBox="1"/>
          <p:nvPr/>
        </p:nvSpPr>
        <p:spPr>
          <a:xfrm>
            <a:off x="6446520" y="4280811"/>
            <a:ext cx="5196535" cy="502920"/>
          </a:xfrm>
          <a:prstGeom prst="rect">
            <a:avLst/>
          </a:prstGeom>
          <a:noFill/>
          <a:ln/>
        </p:spPr>
        <p:txBody>
          <a:bodyPr wrap="square" lIns="0" tIns="0" rIns="0" bIns="0" rtlCol="0" anchor="t"/>
          <a:lstStyle/>
          <a:p>
            <a:pPr indent="0" marL="0">
              <a:buNone/>
            </a:pPr>
            <a:r>
              <a:rPr lang="en-US" sz="1100" i="1" dirty="0">
                <a:solidFill>
                  <a:schemeClr val="tx2"/>
                </a:solidFill>
              </a:rPr>
              <a:t>Figure 3.2. The two-channel budget. (a) The best return 5√B is concave; its tangent at B = 100 has slope 0.25, the budget's multiplier. (b) Every price gives a ceiling; the best, 0.25, gives exactly 50.</a:t>
            </a:r>
            <a:endParaRPr lang="en-US" sz="1100" dirty="0"/>
          </a:p>
        </p:txBody>
      </p:sp>
      <p:sp>
        <p:nvSpPr>
          <p:cNvPr id="11" name="Bullets"/>
          <p:cNvSpPr txBox="1"/>
          <p:nvPr/>
        </p:nvSpPr>
        <p:spPr>
          <a:xfrm>
            <a:off x="6446520" y="4846320"/>
            <a:ext cx="5196535" cy="1325880"/>
          </a:xfrm>
          <a:prstGeom prst="rect">
            <a:avLst/>
          </a:prstGeom>
          <a:noFill/>
          <a:ln/>
        </p:spPr>
        <p:txBody>
          <a:bodyPr wrap="square" lIns="635" tIns="635" rIns="635" bIns="635" rtlCol="0" anchor="t"/>
          <a:lstStyle/>
          <a:p>
            <a:pPr marL="228600" indent="-228600">
              <a:spcAft>
                <a:spcPts val="800"/>
              </a:spcAft>
              <a:buSzPct val="100000"/>
              <a:buChar char="•"/>
            </a:pPr>
            <a:r>
              <a:rPr lang="en-US" sz="1500" dirty="0">
                <a:solidFill>
                  <a:schemeClr val="tx1"/>
                </a:solidFill>
              </a:rPr>
              <a:t>A plan and a price bracket the best: the plan (50, 50), worth 49.50, and the price 0.5, a ceiling of 62.5</a:t>
            </a:r>
            <a:endParaRPr lang="en-US" sz="1500" dirty="0"/>
          </a:p>
          <a:p>
            <a:pPr marL="228600" indent="-228600">
              <a:spcAft>
                <a:spcPts val="800"/>
              </a:spcAft>
              <a:buSzPct val="100000"/>
              <a:buChar char="•"/>
            </a:pPr>
            <a:r>
              <a:rPr lang="en-US" sz="1500" dirty="0">
                <a:solidFill>
                  <a:schemeClr val="tx1"/>
                </a:solidFill>
              </a:rPr>
              <a:t>Solvers stop when primal and dual values agree: the gap is the tolerance</a:t>
            </a:r>
            <a:endParaRPr lang="en-US" sz="15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§3.4 · THEOREM 3.5 · EQUATION 3.4</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Only binding commitments carry prices</a:t>
            </a:r>
            <a:endParaRPr lang="en-US" sz="3200" dirty="0"/>
          </a:p>
        </p:txBody>
      </p:sp>
      <p:sp>
        <p:nvSpPr>
          <p:cNvPr id="5" name="Result card"/>
          <p:cNvSpPr/>
          <p:nvPr/>
        </p:nvSpPr>
        <p:spPr>
          <a:xfrm>
            <a:off x="548640" y="1691640"/>
            <a:ext cx="630936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576072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THEOREM 3.5</a:t>
            </a:r>
            <a:endParaRPr lang="en-US" sz="1200" dirty="0"/>
          </a:p>
        </p:txBody>
      </p:sp>
      <p:sp>
        <p:nvSpPr>
          <p:cNvPr id="7" name="Text 4"/>
          <p:cNvSpPr txBox="1"/>
          <p:nvPr/>
        </p:nvSpPr>
        <p:spPr>
          <a:xfrm>
            <a:off x="822960" y="2194560"/>
            <a:ext cx="576072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KKT Certificate Theorem</a:t>
            </a:r>
            <a:endParaRPr lang="en-US" sz="2100" dirty="0"/>
          </a:p>
        </p:txBody>
      </p:sp>
      <p:pic>
        <p:nvPicPr>
          <p:cNvPr id="8" name="Equation" descr="Equation: \nabla J(\mathbf{u}^{*}) = \sum_{i} \lambda_i^{*}\, \nabla g_i(\mathbf{u}^{*}) + \mathbf{A}^{\top}\boldsymbol{\nu}^{*}, \quad \lambda_i^{*} \ge 0, \quad \lambda_i^{*}\, g_i(\mathbf{u}^{*}) = 0">    </p:cNvPr>
          <p:cNvPicPr>
            <a:picLocks noChangeAspect="1"/>
          </p:cNvPicPr>
          <p:nvPr/>
        </p:nvPicPr>
        <p:blipFill>
          <a:blip r:embed="rId1"/>
          <a:stretch>
            <a:fillRect/>
          </a:stretch>
        </p:blipFill>
        <p:spPr>
          <a:xfrm>
            <a:off x="822960" y="2743200"/>
            <a:ext cx="5034131" cy="502920"/>
          </a:xfrm>
          <a:prstGeom prst="rect">
            <a:avLst/>
          </a:prstGeom>
        </p:spPr>
      </p:pic>
      <p:sp>
        <p:nvSpPr>
          <p:cNvPr id="9" name="Bullets"/>
          <p:cNvSpPr txBox="1"/>
          <p:nvPr/>
        </p:nvSpPr>
        <p:spPr>
          <a:xfrm>
            <a:off x="822960" y="3410712"/>
            <a:ext cx="5760720" cy="2624328"/>
          </a:xfrm>
          <a:prstGeom prst="rect">
            <a:avLst/>
          </a:prstGeom>
          <a:noFill/>
          <a:ln/>
        </p:spPr>
        <p:txBody>
          <a:bodyPr wrap="square" lIns="635" tIns="635" rIns="635" bIns="635" rtlCol="0" anchor="t"/>
          <a:lstStyle/>
          <a:p>
            <a:pPr marL="228600" indent="-228600">
              <a:spcAft>
                <a:spcPts val="600"/>
              </a:spcAft>
              <a:buSzPct val="100000"/>
              <a:buChar char="•"/>
            </a:pPr>
            <a:r>
              <a:rPr lang="en-US" sz="1700" b="1" dirty="0">
                <a:solidFill>
                  <a:schemeClr val="tx1"/>
                </a:solidFill>
              </a:rPr>
              <a:t>(i) Sufficiency:</a:t>
            </a:r>
            <a:r>
              <a:rPr lang="en-US" sz="1700" dirty="0">
                <a:solidFill>
                  <a:schemeClr val="tx1"/>
                </a:solidFill>
              </a:rPr>
              <a:t> the conditions prove plan and prices best, with a zero gap</a:t>
            </a:r>
            <a:endParaRPr lang="en-US" sz="1700" dirty="0"/>
          </a:p>
          <a:p>
            <a:pPr marL="228600" indent="-228600">
              <a:spcAft>
                <a:spcPts val="600"/>
              </a:spcAft>
              <a:buSzPct val="100000"/>
              <a:buChar char="•"/>
            </a:pPr>
            <a:r>
              <a:rPr lang="en-US" sz="1700" b="1" dirty="0">
                <a:solidFill>
                  <a:schemeClr val="tx1"/>
                </a:solidFill>
              </a:rPr>
              <a:t>(ii) Necessity,</a:t>
            </a:r>
            <a:r>
              <a:rPr lang="en-US" sz="1700" dirty="0">
                <a:solidFill>
                  <a:schemeClr val="tx1"/>
                </a:solidFill>
              </a:rPr>
              <a:t> given a Slater plan</a:t>
            </a:r>
            <a:endParaRPr lang="en-US" sz="1700" dirty="0"/>
          </a:p>
          <a:p>
            <a:pPr marL="228600" indent="-228600">
              <a:spcAft>
                <a:spcPts val="600"/>
              </a:spcAft>
              <a:buSzPct val="100000"/>
              <a:buChar char="•"/>
            </a:pPr>
            <a:r>
              <a:rPr lang="en-US" sz="1700" b="1" dirty="0">
                <a:solidFill>
                  <a:schemeClr val="tx1"/>
                </a:solidFill>
              </a:rPr>
              <a:t>(iii) Prices bound what commitments are worth:</a:t>
            </a:r>
            <a:r>
              <a:rPr lang="en-US" sz="1700" dirty="0">
                <a:solidFill>
                  <a:schemeClr val="tx1"/>
                </a:solidFill>
              </a:rPr>
              <a:t> relaxing one by s gains at most λ*s; at a kink, the prices form a range</a:t>
            </a:r>
            <a:endParaRPr lang="en-US" sz="1700" dirty="0"/>
          </a:p>
          <a:p>
            <a:pPr marL="228600" indent="-228600">
              <a:spcAft>
                <a:spcPts val="600"/>
              </a:spcAft>
              <a:buSzPct val="100000"/>
              <a:buChar char="•"/>
            </a:pPr>
            <a:r>
              <a:rPr lang="en-US" sz="1700" b="1" dirty="0">
                <a:solidFill>
                  <a:schemeClr val="tx1"/>
                </a:solidFill>
              </a:rPr>
              <a:t>(iv) Equal margins:</a:t>
            </a:r>
            <a:r>
              <a:rPr lang="en-US" sz="1700" dirty="0">
                <a:solidFill>
                  <a:schemeClr val="tx1"/>
                </a:solidFill>
              </a:rPr>
              <a:t> at the best allocation the last unit earns the same in every use</a:t>
            </a:r>
            <a:endParaRPr lang="en-US" sz="1700" dirty="0"/>
          </a:p>
        </p:txBody>
      </p:sp>
      <p:sp>
        <p:nvSpPr>
          <p:cNvPr id="10" name="Text 6"/>
          <p:cNvSpPr txBox="1"/>
          <p:nvPr/>
        </p:nvSpPr>
        <p:spPr>
          <a:xfrm>
            <a:off x="7269480" y="1737360"/>
            <a:ext cx="4373575" cy="365760"/>
          </a:xfrm>
          <a:prstGeom prst="rect">
            <a:avLst/>
          </a:prstGeom>
          <a:noFill/>
          <a:ln/>
        </p:spPr>
        <p:txBody>
          <a:bodyPr wrap="square" lIns="0" tIns="0" rIns="0" bIns="0" rtlCol="0" anchor="ctr"/>
          <a:lstStyle/>
          <a:p>
            <a:pPr indent="0" marL="0">
              <a:buNone/>
            </a:pPr>
            <a:r>
              <a:rPr lang="en-US" sz="1600" b="1" dirty="0">
                <a:solidFill>
                  <a:schemeClr val="accent2"/>
                </a:solidFill>
              </a:rPr>
              <a:t>The anatomy of a defensible decision</a:t>
            </a:r>
            <a:endParaRPr lang="en-US" sz="1600" dirty="0"/>
          </a:p>
        </p:txBody>
      </p:sp>
      <p:sp>
        <p:nvSpPr>
          <p:cNvPr id="11" name="Bullets"/>
          <p:cNvSpPr txBox="1"/>
          <p:nvPr/>
        </p:nvSpPr>
        <p:spPr>
          <a:xfrm>
            <a:off x="7269480" y="2194560"/>
            <a:ext cx="4373575" cy="3977640"/>
          </a:xfrm>
          <a:prstGeom prst="rect">
            <a:avLst/>
          </a:prstGeom>
          <a:noFill/>
          <a:ln/>
        </p:spPr>
        <p:txBody>
          <a:bodyPr wrap="square" lIns="635" tIns="635" rIns="635" bIns="635" rtlCol="0" anchor="t"/>
          <a:lstStyle/>
          <a:p>
            <a:pPr marL="228600" indent="-228600">
              <a:spcAft>
                <a:spcPts val="800"/>
              </a:spcAft>
              <a:buSzPct val="100000"/>
              <a:buChar char="•"/>
            </a:pPr>
            <a:r>
              <a:rPr lang="en-US" sz="1700" b="1" dirty="0">
                <a:solidFill>
                  <a:schemeClr val="tx1"/>
                </a:solidFill>
              </a:rPr>
              <a:t>Feasibility:</a:t>
            </a:r>
            <a:r>
              <a:rPr lang="en-US" sz="1700" dirty="0">
                <a:solidFill>
                  <a:schemeClr val="tx1"/>
                </a:solidFill>
              </a:rPr>
              <a:t> the plan keeps every commitment</a:t>
            </a:r>
            <a:endParaRPr lang="en-US" sz="1700" dirty="0"/>
          </a:p>
          <a:p>
            <a:pPr marL="228600" indent="-228600">
              <a:spcAft>
                <a:spcPts val="800"/>
              </a:spcAft>
              <a:buSzPct val="100000"/>
              <a:buChar char="•"/>
            </a:pPr>
            <a:r>
              <a:rPr lang="en-US" sz="1700" b="1" dirty="0">
                <a:solidFill>
                  <a:schemeClr val="tx1"/>
                </a:solidFill>
              </a:rPr>
              <a:t>Signs:</a:t>
            </a:r>
            <a:r>
              <a:rPr lang="en-US" sz="1700" dirty="0">
                <a:solidFill>
                  <a:schemeClr val="tx1"/>
                </a:solidFill>
              </a:rPr>
              <a:t> relaxing a ceiling can never hurt</a:t>
            </a:r>
            <a:endParaRPr lang="en-US" sz="1700" dirty="0"/>
          </a:p>
          <a:p>
            <a:pPr marL="228600" indent="-228600">
              <a:spcAft>
                <a:spcPts val="800"/>
              </a:spcAft>
              <a:buSzPct val="100000"/>
              <a:buChar char="•"/>
            </a:pPr>
            <a:r>
              <a:rPr lang="en-US" sz="1700" b="1" dirty="0">
                <a:solidFill>
                  <a:schemeClr val="tx1"/>
                </a:solidFill>
              </a:rPr>
              <a:t>Complementary slackness:</a:t>
            </a:r>
            <a:r>
              <a:rPr lang="en-US" sz="1700" dirty="0">
                <a:solidFill>
                  <a:schemeClr val="tx1"/>
                </a:solidFill>
              </a:rPr>
              <a:t> management attention, quantified, flows to what binds</a:t>
            </a:r>
            <a:endParaRPr lang="en-US" sz="1700" dirty="0"/>
          </a:p>
          <a:p>
            <a:pPr marL="228600" indent="-228600">
              <a:spcAft>
                <a:spcPts val="800"/>
              </a:spcAft>
              <a:buSzPct val="100000"/>
              <a:buChar char="•"/>
            </a:pPr>
            <a:r>
              <a:rPr lang="en-US" sz="1700" b="1" dirty="0">
                <a:solidFill>
                  <a:schemeClr val="tx1"/>
                </a:solidFill>
              </a:rPr>
              <a:t>Stationarity:</a:t>
            </a:r>
            <a:r>
              <a:rPr lang="en-US" sz="1700" dirty="0">
                <a:solidFill>
                  <a:schemeClr val="tx1"/>
                </a:solidFill>
              </a:rPr>
              <a:t> the objective's pull balances the priced resistance of the binding commitments</a:t>
            </a:r>
            <a:endParaRPr lang="en-US" sz="1700" dirty="0"/>
          </a:p>
          <a:p>
            <a:pPr marL="228600" indent="-228600">
              <a:spcAft>
                <a:spcPts val="800"/>
              </a:spcAft>
              <a:buSzPct val="100000"/>
              <a:buChar char="•"/>
            </a:pPr>
            <a:r>
              <a:rPr lang="en-US" sz="1700" dirty="0">
                <a:solidFill>
                  <a:schemeClr val="tx1"/>
                </a:solidFill>
              </a:rPr>
              <a:t>The conditions are the audit protocol: four residuals, checked without the solver</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§3.5 · THEOREM 3.6 · TABLE 3.3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Rewriting a commitment is not cheating</a:t>
            </a:r>
            <a:endParaRPr lang="en-US" sz="3200" dirty="0"/>
          </a:p>
        </p:txBody>
      </p:sp>
      <p:graphicFrame>
        <p:nvGraphicFramePr>
          <p:cNvPr id="14"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4034333"/>
                <a:gridCol w="4492780"/>
                <a:gridCol w="2567303"/>
              </a:tblGrid>
              <a:tr h="475488">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Commitment as declared</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Convex form</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Solver class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475488">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tiered overrun penalty</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an extra variable above each tier's line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linear (LP)</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75488">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the worst of a list of scenarios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an extra variable below each scenario's value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LP or quadratic (QP)</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475488">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return on capital of at least r</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profit minus r times capital, at least zero</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LP when both are linear</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75488">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portfolio variance at most σ²</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‖Σ^(1/2) u‖ ≤ σ</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second-order cone (SOCP)</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475488">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95 percent service level under Gaussian demand</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Equation 3.5 with z = 1.645</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SOCP</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75488">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logarithmic utility; exponential growth or decay</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exponential-cone atoms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exponential cone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475488">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a covariance or stability declaration</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a linear matrix inequality</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semidefinite (SDP)</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bl>
          </a:graphicData>
        </a:graphic>
      </p:graphicFrame>
      <p:sp>
        <p:nvSpPr>
          <p:cNvPr id="6" name="Lead"/>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600" b="1" dirty="0">
                <a:solidFill>
                  <a:schemeClr val="accent2"/>
                </a:solidFill>
              </a:rPr>
              <a:t>Theorem 3.6.</a:t>
            </a:r>
            <a:r>
              <a:rPr lang="en-US" sz="1600" dirty="0">
                <a:solidFill>
                  <a:schemeClr val="accent2"/>
                </a:solidFill>
              </a:rPr>
              <a:t> The same best decisions, the same value, and prices that land on the commitments as declared.</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§3.6 · TABLE 3.4</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Methods for convex instances, and when to use each</a:t>
            </a:r>
            <a:endParaRPr lang="en-US" sz="3200" dirty="0"/>
          </a:p>
        </p:txBody>
      </p:sp>
      <p:graphicFrame>
        <p:nvGraphicFramePr>
          <p:cNvPr id="15"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2345161"/>
                <a:gridCol w="2886352"/>
                <a:gridCol w="3247146"/>
                <a:gridCol w="2615756"/>
              </a:tblGrid>
              <a:tr h="484632">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Method</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Each iteration</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How fast</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When to use</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484632">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gradient, projected gradient</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a gradient (and a projection)</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error ∝ 1/k; geometric, by 1 − 1/κ, if strongly convex</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large smooth instances; simple regions</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84632">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accelerated gradient</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a gradient and momentum</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error ∝ 1/k²; geometric, by 1 − 1/√κ</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large instances, poor conditioning</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484632">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subgradient</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a subgradient</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error ∝ 1/√k</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kinks that cannot be rewritten</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84632">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Newton</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a gradient and a linear solve</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digits double near the answer</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moderate size, high accuracy</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484632">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interior point</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a Newton step on the KKT system</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gap ε in O(√m ln(1/ε)) steps</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LP, QP, SOCP, exponential cone, SDP: the default</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84632">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splitting (ADMM)</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a solve per block, then a price update</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error ∝ 1/k, typically</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divisions with their own data</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484632">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simplex</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an exchange of binding constraints</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finite; fast in practice</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linear programs; warm starts</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bl>
          </a:graphicData>
        </a:graphic>
      </p:graphicFrame>
      <p:sp>
        <p:nvSpPr>
          <p:cNvPr id="6" name="Lead"/>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600" dirty="0">
                <a:solidFill>
                  <a:schemeClr val="accent2"/>
                </a:solidFill>
              </a:rPr>
              <a:t>In production the stopping rule is the duality gap, never the size of the last step.</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§3.6 · DEFINITION 3.6 · PROPOSITION 3.2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A convex relaxation bounds every lumpy plan</a:t>
            </a:r>
            <a:endParaRPr lang="en-US" sz="3200" dirty="0"/>
          </a:p>
        </p:txBody>
      </p:sp>
      <p:sp>
        <p:nvSpPr>
          <p:cNvPr id="5" name="Result card"/>
          <p:cNvSpPr/>
          <p:nvPr/>
        </p:nvSpPr>
        <p:spPr>
          <a:xfrm>
            <a:off x="548640" y="1691640"/>
            <a:ext cx="630936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576072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PROPOSITION 3.2</a:t>
            </a:r>
            <a:endParaRPr lang="en-US" sz="1200" dirty="0"/>
          </a:p>
        </p:txBody>
      </p:sp>
      <p:sp>
        <p:nvSpPr>
          <p:cNvPr id="7" name="Text 4"/>
          <p:cNvSpPr txBox="1"/>
          <p:nvPr/>
        </p:nvSpPr>
        <p:spPr>
          <a:xfrm>
            <a:off x="822960" y="2194560"/>
            <a:ext cx="576072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Convex Relaxations Bound Lumpy Instances</a:t>
            </a:r>
            <a:endParaRPr lang="en-US" sz="2100" dirty="0"/>
          </a:p>
        </p:txBody>
      </p:sp>
      <p:sp>
        <p:nvSpPr>
          <p:cNvPr id="8" name="Bullets"/>
          <p:cNvSpPr txBox="1"/>
          <p:nvPr/>
        </p:nvSpPr>
        <p:spPr>
          <a:xfrm>
            <a:off x="822960" y="2743200"/>
            <a:ext cx="5760720" cy="3291840"/>
          </a:xfrm>
          <a:prstGeom prst="rect">
            <a:avLst/>
          </a:prstGeom>
          <a:noFill/>
          <a:ln/>
        </p:spPr>
        <p:txBody>
          <a:bodyPr wrap="square" lIns="635" tIns="635" rIns="635" bIns="635" rtlCol="0" anchor="t"/>
          <a:lstStyle/>
          <a:p>
            <a:pPr marL="228600" indent="-228600">
              <a:spcAft>
                <a:spcPts val="600"/>
              </a:spcAft>
              <a:buSzPct val="100000"/>
              <a:buChar char="•"/>
            </a:pPr>
            <a:r>
              <a:rPr lang="en-US" sz="1700" b="1" dirty="0">
                <a:solidFill>
                  <a:schemeClr val="tx1"/>
                </a:solidFill>
              </a:rPr>
              <a:t>(i)</a:t>
            </a:r>
            <a:r>
              <a:rPr lang="en-US" sz="1700" dirty="0">
                <a:solidFill>
                  <a:schemeClr val="tx1"/>
                </a:solidFill>
              </a:rPr>
              <a:t> The relaxation's best value is a ceiling on every plan of the instance</a:t>
            </a:r>
            <a:endParaRPr lang="en-US" sz="1700" dirty="0"/>
          </a:p>
          <a:p>
            <a:pPr marL="228600" indent="-228600">
              <a:spcAft>
                <a:spcPts val="600"/>
              </a:spcAft>
              <a:buSzPct val="100000"/>
              <a:buChar char="•"/>
            </a:pPr>
            <a:r>
              <a:rPr lang="en-US" sz="1700" b="1" dirty="0">
                <a:solidFill>
                  <a:schemeClr val="tx1"/>
                </a:solidFill>
              </a:rPr>
              <a:t>(ii)</a:t>
            </a:r>
            <a:r>
              <a:rPr lang="en-US" sz="1700" dirty="0">
                <a:solidFill>
                  <a:schemeClr val="tx1"/>
                </a:solidFill>
              </a:rPr>
              <a:t> If the relaxation's best plan is feasible for the instance, with the same value, it is best there</a:t>
            </a:r>
            <a:endParaRPr lang="en-US" sz="1700" dirty="0"/>
          </a:p>
          <a:p>
            <a:pPr marL="228600" indent="-228600">
              <a:spcAft>
                <a:spcPts val="600"/>
              </a:spcAft>
              <a:buSzPct val="100000"/>
              <a:buChar char="•"/>
            </a:pPr>
            <a:r>
              <a:rPr lang="en-US" sz="1700" b="1" dirty="0">
                <a:solidFill>
                  <a:schemeClr val="tx1"/>
                </a:solidFill>
              </a:rPr>
              <a:t>(iii)</a:t>
            </a:r>
            <a:r>
              <a:rPr lang="en-US" sz="1700" dirty="0">
                <a:solidFill>
                  <a:schemeClr val="tx1"/>
                </a:solidFill>
              </a:rPr>
              <a:t> A feasible plan within ε of the ceiling is within ε of the best: a certificate without enumeration</a:t>
            </a:r>
            <a:endParaRPr lang="en-US" sz="1700" dirty="0"/>
          </a:p>
          <a:p>
            <a:pPr marL="228600" indent="-228600">
              <a:spcAft>
                <a:spcPts val="600"/>
              </a:spcAft>
              <a:buSzPct val="100000"/>
              <a:buChar char="•"/>
            </a:pPr>
            <a:r>
              <a:rPr lang="en-US" sz="1700" b="1" dirty="0">
                <a:solidFill>
                  <a:schemeClr val="tx1"/>
                </a:solidFill>
              </a:rPr>
              <a:t>(iv)</a:t>
            </a:r>
            <a:r>
              <a:rPr lang="en-US" sz="1700" dirty="0">
                <a:solidFill>
                  <a:schemeClr val="tx1"/>
                </a:solidFill>
              </a:rPr>
              <a:t> For a linear objective, the gap measures how far the relaxation's region exceeds the convex hull</a:t>
            </a:r>
            <a:endParaRPr lang="en-US" sz="1700" dirty="0"/>
          </a:p>
        </p:txBody>
      </p:sp>
      <p:sp>
        <p:nvSpPr>
          <p:cNvPr id="9" name="Text 6"/>
          <p:cNvSpPr txBox="1"/>
          <p:nvPr/>
        </p:nvSpPr>
        <p:spPr>
          <a:xfrm>
            <a:off x="7269480" y="1737360"/>
            <a:ext cx="4373575" cy="365760"/>
          </a:xfrm>
          <a:prstGeom prst="rect">
            <a:avLst/>
          </a:prstGeom>
          <a:noFill/>
          <a:ln/>
        </p:spPr>
        <p:txBody>
          <a:bodyPr wrap="square" lIns="0" tIns="0" rIns="0" bIns="0" rtlCol="0" anchor="ctr"/>
          <a:lstStyle/>
          <a:p>
            <a:pPr indent="0" marL="0">
              <a:buNone/>
            </a:pPr>
            <a:r>
              <a:rPr lang="en-US" sz="1600" b="1" dirty="0">
                <a:solidFill>
                  <a:schemeClr val="accent2"/>
                </a:solidFill>
              </a:rPr>
              <a:t>The convex spine</a:t>
            </a:r>
            <a:endParaRPr lang="en-US" sz="1600" dirty="0"/>
          </a:p>
        </p:txBody>
      </p:sp>
      <p:sp>
        <p:nvSpPr>
          <p:cNvPr id="10" name="Bullets"/>
          <p:cNvSpPr txBox="1"/>
          <p:nvPr/>
        </p:nvSpPr>
        <p:spPr>
          <a:xfrm>
            <a:off x="7269480" y="2194560"/>
            <a:ext cx="4373575" cy="3977640"/>
          </a:xfrm>
          <a:prstGeom prst="rect">
            <a:avLst/>
          </a:prstGeom>
          <a:noFill/>
          <a:ln/>
        </p:spPr>
        <p:txBody>
          <a:bodyPr wrap="square" lIns="635" tIns="635" rIns="635" bIns="635" rtlCol="0" anchor="t"/>
          <a:lstStyle/>
          <a:p>
            <a:pPr marL="228600" indent="-228600">
              <a:spcAft>
                <a:spcPts val="800"/>
              </a:spcAft>
              <a:buSzPct val="100000"/>
              <a:buChar char="•"/>
            </a:pPr>
            <a:r>
              <a:rPr lang="en-US" sz="1700" dirty="0">
                <a:solidFill>
                  <a:schemeClr val="tx1"/>
                </a:solidFill>
              </a:rPr>
              <a:t>Rewrite the largest part of the instance that Theorem 3.6 can make exactly convex</a:t>
            </a:r>
            <a:endParaRPr lang="en-US" sz="1700" dirty="0"/>
          </a:p>
          <a:p>
            <a:pPr marL="228600" indent="-228600">
              <a:spcAft>
                <a:spcPts val="800"/>
              </a:spcAft>
              <a:buSzPct val="100000"/>
              <a:buChar char="•"/>
            </a:pPr>
            <a:r>
              <a:rPr lang="en-US" sz="1700" dirty="0">
                <a:solidFill>
                  <a:schemeClr val="tx1"/>
                </a:solidFill>
              </a:rPr>
              <a:t>Quarantine what it cannot (lumpy choices, set-up charges) and relax it</a:t>
            </a:r>
            <a:endParaRPr lang="en-US" sz="1700" dirty="0"/>
          </a:p>
          <a:p>
            <a:pPr marL="228600" indent="-228600">
              <a:spcAft>
                <a:spcPts val="800"/>
              </a:spcAft>
              <a:buSzPct val="100000"/>
              <a:buChar char="•"/>
            </a:pPr>
            <a:r>
              <a:rPr lang="en-US" sz="1700" dirty="0">
                <a:solidFill>
                  <a:schemeClr val="tx1"/>
                </a:solidFill>
              </a:rPr>
              <a:t>Branch-and-bound and cutting planes build on relaxations (Chapter 4)</a:t>
            </a:r>
            <a:endParaRPr lang="en-US" sz="1700" dirty="0"/>
          </a:p>
          <a:p>
            <a:pPr marL="228600" indent="-228600">
              <a:spcAft>
                <a:spcPts val="800"/>
              </a:spcAft>
              <a:buSzPct val="100000"/>
              <a:buChar char="•"/>
            </a:pPr>
            <a:r>
              <a:rPr lang="en-US" sz="1700" dirty="0">
                <a:solidFill>
                  <a:schemeClr val="tx1"/>
                </a:solidFill>
              </a:rPr>
              <a:t>Rounding is not a method: the rounded plan can be infeasible, or not best</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3.1 · THE SITUATION</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How good is the three-round plan?</a:t>
            </a:r>
            <a:endParaRPr lang="en-US" sz="3200" dirty="0"/>
          </a:p>
        </p:txBody>
      </p:sp>
      <p:sp>
        <p:nvSpPr>
          <p:cNvPr id="5" name="Card"/>
          <p:cNvSpPr/>
          <p:nvPr/>
        </p:nvSpPr>
        <p:spPr>
          <a:xfrm>
            <a:off x="548640" y="1691640"/>
            <a:ext cx="3515258" cy="3108960"/>
          </a:xfrm>
          <a:prstGeom prst="roundRect">
            <a:avLst>
              <a:gd name="adj" fmla="val 2353"/>
            </a:avLst>
          </a:prstGeom>
          <a:solidFill>
            <a:schemeClr val="bg2"/>
          </a:solidFill>
          <a:ln w="9525">
            <a:solidFill>
              <a:srgbClr val="C4CBD8"/>
            </a:solidFill>
            <a:prstDash val="solid"/>
          </a:ln>
        </p:spPr>
      </p:sp>
      <p:sp>
        <p:nvSpPr>
          <p:cNvPr id="6" name="Card label"/>
          <p:cNvSpPr txBox="1"/>
          <p:nvPr/>
        </p:nvSpPr>
        <p:spPr>
          <a:xfrm>
            <a:off x="731520"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Worked Example 2.1</a:t>
            </a:r>
            <a:endParaRPr lang="en-US" sz="1300" dirty="0"/>
          </a:p>
        </p:txBody>
      </p:sp>
      <p:sp>
        <p:nvSpPr>
          <p:cNvPr id="7" name="Card head"/>
          <p:cNvSpPr txBox="1"/>
          <p:nvPr/>
        </p:nvSpPr>
        <p:spPr>
          <a:xfrm>
            <a:off x="731520" y="2148840"/>
            <a:ext cx="3149498" cy="1078992"/>
          </a:xfrm>
          <a:prstGeom prst="rect">
            <a:avLst/>
          </a:prstGeom>
          <a:noFill/>
          <a:ln/>
        </p:spPr>
        <p:txBody>
          <a:bodyPr wrap="square" lIns="0" tIns="0" rIns="0" bIns="0" rtlCol="0" anchor="t"/>
          <a:lstStyle/>
          <a:p>
            <a:pPr indent="0" marL="0">
              <a:buNone/>
            </a:pPr>
            <a:r>
              <a:rPr lang="en-US" sz="2100" b="1" dirty="0">
                <a:solidFill>
                  <a:schemeClr val="tx1"/>
                </a:solidFill>
                <a:latin typeface="Cambria" pitchFamily="34" charset="0"/>
                <a:ea typeface="Cambria" pitchFamily="34" charset="-122"/>
                <a:cs typeface="Cambria" pitchFamily="34" charset="-120"/>
              </a:rPr>
              <a:t>Three rounds, in years 1 to 3</a:t>
            </a:r>
            <a:endParaRPr lang="en-US" sz="2100" dirty="0"/>
          </a:p>
        </p:txBody>
      </p:sp>
      <p:sp>
        <p:nvSpPr>
          <p:cNvPr id="8" name="Card text"/>
          <p:cNvSpPr txBox="1"/>
          <p:nvPr/>
        </p:nvSpPr>
        <p:spPr>
          <a:xfrm>
            <a:off x="731520" y="3300984"/>
            <a:ext cx="3149498" cy="1371600"/>
          </a:xfrm>
          <a:prstGeom prst="rect">
            <a:avLst/>
          </a:prstGeom>
          <a:noFill/>
          <a:ln/>
        </p:spPr>
        <p:txBody>
          <a:bodyPr wrap="square" lIns="0" tIns="0" rIns="0" bIns="0" rtlCol="0" anchor="t"/>
          <a:lstStyle/>
          <a:p>
            <a:pPr indent="0" marL="0">
              <a:buNone/>
            </a:pPr>
            <a:r>
              <a:rPr lang="en-US" sz="1700" dirty="0">
                <a:solidFill>
                  <a:schemeClr val="tx2"/>
                </a:solidFill>
              </a:rPr>
              <a:t>$455m paid out plus ten years of the $122.5m year-6 savings: $1,680m, by enumerating all 64 schedules.</a:t>
            </a:r>
            <a:endParaRPr lang="en-US" sz="1700" dirty="0"/>
          </a:p>
        </p:txBody>
      </p:sp>
      <p:sp>
        <p:nvSpPr>
          <p:cNvPr id="9" name="Card"/>
          <p:cNvSpPr/>
          <p:nvPr/>
        </p:nvSpPr>
        <p:spPr>
          <a:xfrm>
            <a:off x="4338218" y="1691640"/>
            <a:ext cx="3515258" cy="3108960"/>
          </a:xfrm>
          <a:prstGeom prst="roundRect">
            <a:avLst>
              <a:gd name="adj" fmla="val 2353"/>
            </a:avLst>
          </a:prstGeom>
          <a:solidFill>
            <a:schemeClr val="bg2"/>
          </a:solidFill>
          <a:ln w="9525">
            <a:solidFill>
              <a:srgbClr val="C4CBD8"/>
            </a:solidFill>
            <a:prstDash val="solid"/>
          </a:ln>
        </p:spPr>
      </p:sp>
      <p:sp>
        <p:nvSpPr>
          <p:cNvPr id="10" name="Card label"/>
          <p:cNvSpPr txBox="1"/>
          <p:nvPr/>
        </p:nvSpPr>
        <p:spPr>
          <a:xfrm>
            <a:off x="4521098"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The chief risk officer</a:t>
            </a:r>
            <a:endParaRPr lang="en-US" sz="1300" dirty="0"/>
          </a:p>
        </p:txBody>
      </p:sp>
      <p:sp>
        <p:nvSpPr>
          <p:cNvPr id="11" name="Card head"/>
          <p:cNvSpPr txBox="1"/>
          <p:nvPr/>
        </p:nvSpPr>
        <p:spPr>
          <a:xfrm>
            <a:off x="4521098" y="2148840"/>
            <a:ext cx="3149498" cy="1078992"/>
          </a:xfrm>
          <a:prstGeom prst="rect">
            <a:avLst/>
          </a:prstGeom>
          <a:noFill/>
          <a:ln/>
        </p:spPr>
        <p:txBody>
          <a:bodyPr wrap="square" lIns="0" tIns="0" rIns="0" bIns="0" rtlCol="0" anchor="t"/>
          <a:lstStyle/>
          <a:p>
            <a:pPr indent="0" marL="0">
              <a:buNone/>
            </a:pPr>
            <a:r>
              <a:rPr lang="en-US" sz="2100" b="1" dirty="0">
                <a:solidFill>
                  <a:schemeClr val="tx1"/>
                </a:solidFill>
                <a:latin typeface="Cambria" pitchFamily="34" charset="0"/>
                <a:ea typeface="Cambria" pitchFamily="34" charset="-122"/>
                <a:cs typeface="Cambria" pitchFamily="34" charset="-120"/>
              </a:rPr>
              <a:t>Accepts the arithmetic, not the method</a:t>
            </a:r>
            <a:endParaRPr lang="en-US" sz="2100" dirty="0"/>
          </a:p>
        </p:txBody>
      </p:sp>
      <p:sp>
        <p:nvSpPr>
          <p:cNvPr id="12" name="Card text"/>
          <p:cNvSpPr txBox="1"/>
          <p:nvPr/>
        </p:nvSpPr>
        <p:spPr>
          <a:xfrm>
            <a:off x="4521098" y="3300984"/>
            <a:ext cx="3149498" cy="1371600"/>
          </a:xfrm>
          <a:prstGeom prst="rect">
            <a:avLst/>
          </a:prstGeom>
          <a:noFill/>
          <a:ln/>
        </p:spPr>
        <p:txBody>
          <a:bodyPr wrap="square" lIns="0" tIns="0" rIns="0" bIns="0" rtlCol="0" anchor="t"/>
          <a:lstStyle/>
          <a:p>
            <a:pPr indent="0" marL="0">
              <a:buNone/>
            </a:pPr>
            <a:r>
              <a:rPr lang="en-US" sz="1700" dirty="0">
                <a:solidFill>
                  <a:schemeClr val="tx2"/>
                </a:solidFill>
              </a:rPr>
              <a:t>With a dozen plants decided quarterly, the schedules outnumber anything a computer can visit.</a:t>
            </a:r>
            <a:endParaRPr lang="en-US" sz="1700" dirty="0"/>
          </a:p>
        </p:txBody>
      </p:sp>
      <p:sp>
        <p:nvSpPr>
          <p:cNvPr id="13" name="Card"/>
          <p:cNvSpPr/>
          <p:nvPr/>
        </p:nvSpPr>
        <p:spPr>
          <a:xfrm>
            <a:off x="8127797" y="1691640"/>
            <a:ext cx="3515258" cy="3108960"/>
          </a:xfrm>
          <a:prstGeom prst="roundRect">
            <a:avLst>
              <a:gd name="adj" fmla="val 2353"/>
            </a:avLst>
          </a:prstGeom>
          <a:solidFill>
            <a:schemeClr val="tx1"/>
          </a:solidFill>
          <a:ln w="9525">
            <a:solidFill>
              <a:srgbClr val="0F1E3D"/>
            </a:solidFill>
            <a:prstDash val="solid"/>
          </a:ln>
        </p:spPr>
      </p:sp>
      <p:sp>
        <p:nvSpPr>
          <p:cNvPr id="14" name="Card label"/>
          <p:cNvSpPr txBox="1"/>
          <p:nvPr/>
        </p:nvSpPr>
        <p:spPr>
          <a:xfrm>
            <a:off x="8310677"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What she asks for</a:t>
            </a:r>
            <a:endParaRPr lang="en-US" sz="1300" dirty="0"/>
          </a:p>
        </p:txBody>
      </p:sp>
      <p:sp>
        <p:nvSpPr>
          <p:cNvPr id="15" name="Card head"/>
          <p:cNvSpPr txBox="1"/>
          <p:nvPr/>
        </p:nvSpPr>
        <p:spPr>
          <a:xfrm>
            <a:off x="8310677" y="2148840"/>
            <a:ext cx="3149498" cy="1078992"/>
          </a:xfrm>
          <a:prstGeom prst="rect">
            <a:avLst/>
          </a:prstGeom>
          <a:noFill/>
          <a:ln/>
        </p:spPr>
        <p:txBody>
          <a:bodyPr wrap="square" lIns="0" tIns="0" rIns="0" bIns="0" rtlCol="0" anchor="t"/>
          <a:lstStyle/>
          <a:p>
            <a:pPr indent="0" marL="0">
              <a:buNone/>
            </a:pPr>
            <a:r>
              <a:rPr lang="en-US" sz="2100" b="1" dirty="0">
                <a:solidFill>
                  <a:schemeClr val="bg1"/>
                </a:solidFill>
                <a:latin typeface="Cambria" pitchFamily="34" charset="0"/>
                <a:ea typeface="Cambria" pitchFamily="34" charset="-122"/>
                <a:cs typeface="Cambria" pitchFamily="34" charset="-120"/>
              </a:rPr>
              <a:t>A ceiling, a price list, a distance</a:t>
            </a:r>
            <a:endParaRPr lang="en-US" sz="2100" dirty="0"/>
          </a:p>
        </p:txBody>
      </p:sp>
      <p:sp>
        <p:nvSpPr>
          <p:cNvPr id="16" name="Card text"/>
          <p:cNvSpPr txBox="1"/>
          <p:nvPr/>
        </p:nvSpPr>
        <p:spPr>
          <a:xfrm>
            <a:off x="8310677" y="3300984"/>
            <a:ext cx="3149498" cy="1371600"/>
          </a:xfrm>
          <a:prstGeom prst="rect">
            <a:avLst/>
          </a:prstGeom>
          <a:noFill/>
          <a:ln/>
        </p:spPr>
        <p:txBody>
          <a:bodyPr wrap="square" lIns="0" tIns="0" rIns="0" bIns="0" rtlCol="0" anchor="t"/>
          <a:lstStyle/>
          <a:p>
            <a:pPr indent="0" marL="0">
              <a:buNone/>
            </a:pPr>
            <a:r>
              <a:rPr lang="en-US" sz="1700" dirty="0">
                <a:solidFill>
                  <a:schemeClr val="bg2"/>
                </a:solidFill>
              </a:rPr>
              <a:t>A ceiling on any plan, without enumeration; the price of each commitment and round; the plan's distance from the ceiling.</a:t>
            </a:r>
            <a:endParaRPr lang="en-US" sz="1700" dirty="0"/>
          </a:p>
        </p:txBody>
      </p:sp>
      <p:sp>
        <p:nvSpPr>
          <p:cNvPr id="17" name="Lead"/>
          <p:cNvSpPr txBox="1"/>
          <p:nvPr/>
        </p:nvSpPr>
        <p:spPr>
          <a:xfrm>
            <a:off x="548640" y="5074920"/>
            <a:ext cx="11094415" cy="457200"/>
          </a:xfrm>
          <a:prstGeom prst="rect">
            <a:avLst/>
          </a:prstGeom>
          <a:noFill/>
          <a:ln/>
        </p:spPr>
        <p:txBody>
          <a:bodyPr wrap="square" lIns="0" tIns="0" rIns="0" bIns="0" rtlCol="0" anchor="ctr"/>
          <a:lstStyle/>
          <a:p>
            <a:pPr indent="0" marL="0">
              <a:buNone/>
            </a:pPr>
            <a:r>
              <a:rPr lang="en-US" sz="1600" i="1" dirty="0">
                <a:solidFill>
                  <a:schemeClr val="accent2"/>
                </a:solidFill>
              </a:rPr>
              <a:t>The board keeps its $350m liquidity floor and its $470m end condition; all amounts are undiscounted.</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3.1 · STEPS 1–2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Relax the rounds in a form that shows convexity</a:t>
            </a:r>
            <a:endParaRPr lang="en-US" sz="3200" dirty="0"/>
          </a:p>
        </p:txBody>
      </p:sp>
      <p:pic>
        <p:nvPicPr>
          <p:cNvPr id="5" name="Equation" descr="Equation: \begin{aligned} \max_{0 \le z_k \le 1,\; p_k \ge 0} \quad &amp; \textstyle\sum_{k} p_k + 10\, S(Z_6), \qquad S(Z) = 140\,(1 - 2^{-Z}), \quad Z_k = z_1 + \cdots + z_k \\ \text{subject to} \quad &amp; q_k = 620 + \textstyle\sum_{j \le k}\bigl(S(Z_j) - 120\, z_j - p_j\bigr), \quad q_{k-1} - 120\, z_k \ge 350, \quad q_k \ge 350, \quad q_6 \ge 470 \end{aligned}">    </p:cNvPr>
          <p:cNvPicPr>
            <a:picLocks noChangeAspect="1"/>
          </p:cNvPicPr>
          <p:nvPr/>
        </p:nvPicPr>
        <p:blipFill>
          <a:blip r:embed="rId1"/>
          <a:stretch>
            <a:fillRect/>
          </a:stretch>
        </p:blipFill>
        <p:spPr>
          <a:xfrm>
            <a:off x="914400" y="1892590"/>
            <a:ext cx="10362895" cy="969699"/>
          </a:xfrm>
          <a:prstGeom prst="rect">
            <a:avLst/>
          </a:prstGeom>
        </p:spPr>
      </p:pic>
      <p:sp>
        <p:nvSpPr>
          <p:cNvPr id="6" name="Text 2"/>
          <p:cNvSpPr txBox="1"/>
          <p:nvPr/>
        </p:nvSpPr>
        <p:spPr>
          <a:xfrm>
            <a:off x="914400" y="2999450"/>
            <a:ext cx="10362895" cy="411480"/>
          </a:xfrm>
          <a:prstGeom prst="rect">
            <a:avLst/>
          </a:prstGeom>
          <a:noFill/>
          <a:ln/>
        </p:spPr>
        <p:txBody>
          <a:bodyPr wrap="square" lIns="0" tIns="0" rIns="0" bIns="0" rtlCol="0" anchor="ctr"/>
          <a:lstStyle/>
          <a:p>
            <a:pPr algn="ctr" indent="0" marL="0">
              <a:buNone/>
            </a:pPr>
            <a:r>
              <a:rPr lang="en-US" sz="1600" i="1" dirty="0">
                <a:solidFill>
                  <a:schemeClr val="accent4"/>
                </a:solidFill>
              </a:rPr>
              <a:t>rounds as fractions, payouts as chosen: the savings are concave, liquidity is concave, every floor is convex</a:t>
            </a:r>
            <a:endParaRPr lang="en-US" sz="1600" dirty="0"/>
          </a:p>
        </p:txBody>
      </p:sp>
      <p:sp>
        <p:nvSpPr>
          <p:cNvPr id="7" name="Bullets"/>
          <p:cNvSpPr txBox="1"/>
          <p:nvPr/>
        </p:nvSpPr>
        <p:spPr>
          <a:xfrm>
            <a:off x="914400" y="3593810"/>
            <a:ext cx="10362895" cy="2578390"/>
          </a:xfrm>
          <a:prstGeom prst="rect">
            <a:avLst/>
          </a:prstGeom>
          <a:noFill/>
          <a:ln/>
        </p:spPr>
        <p:txBody>
          <a:bodyPr wrap="square" lIns="635" tIns="635" rIns="635" bIns="635" rtlCol="0" anchor="t"/>
          <a:lstStyle/>
          <a:p>
            <a:pPr marL="228600" indent="-228600">
              <a:spcAft>
                <a:spcPts val="800"/>
              </a:spcAft>
              <a:buSzPct val="100000"/>
              <a:buChar char="•"/>
            </a:pPr>
            <a:r>
              <a:rPr lang="en-US" sz="1700" b="1" dirty="0">
                <a:solidFill>
                  <a:schemeClr val="bg1"/>
                </a:solidFill>
              </a:rPr>
              <a:t>Step 1:</a:t>
            </a:r>
            <a:r>
              <a:rPr lang="en-US" sz="1700" dirty="0">
                <a:solidFill>
                  <a:schemeClr val="bg1"/>
                </a:solidFill>
              </a:rPr>
              <a:t> Volume I's form multiplies rounds: two half rounds save $61.25m in year 2, less than the $70m of either whole round. The chord test fails</a:t>
            </a:r>
            <a:endParaRPr lang="en-US" sz="1700" dirty="0"/>
          </a:p>
          <a:p>
            <a:pPr marL="228600" indent="-228600">
              <a:spcAft>
                <a:spcPts val="800"/>
              </a:spcAft>
              <a:buSzPct val="100000"/>
              <a:buChar char="•"/>
            </a:pPr>
            <a:r>
              <a:rPr lang="en-US" sz="1700" dirty="0">
                <a:solidFill>
                  <a:schemeClr val="bg1"/>
                </a:solidFill>
              </a:rPr>
              <a:t>Written as 14 × 2</a:t>
            </a:r>
            <a:r>
              <a:rPr lang="en-US" sz="1700" baseline="30000" dirty="0">
                <a:solidFill>
                  <a:schemeClr val="bg1"/>
                </a:solidFill>
              </a:rPr>
              <a:t>−(z₁ + z₂)</a:t>
            </a:r>
            <a:r>
              <a:rPr lang="en-US" sz="1700" dirty="0">
                <a:solidFill>
                  <a:schemeClr val="bg1"/>
                </a:solidFill>
              </a:rPr>
              <a:t>, identical at every lumpy plan, the gap is an exponential of a sum: convex</a:t>
            </a:r>
            <a:endParaRPr lang="en-US" sz="1700" dirty="0"/>
          </a:p>
          <a:p>
            <a:pPr marL="228600" indent="-228600">
              <a:spcAft>
                <a:spcPts val="800"/>
              </a:spcAft>
              <a:buSzPct val="100000"/>
              <a:buChar char="•"/>
            </a:pPr>
            <a:r>
              <a:rPr lang="en-US" sz="1700" b="1" dirty="0">
                <a:solidFill>
                  <a:schemeClr val="bg1"/>
                </a:solidFill>
              </a:rPr>
              <a:t>Step 2:</a:t>
            </a:r>
            <a:r>
              <a:rPr lang="en-US" sz="1700" dirty="0">
                <a:solidFill>
                  <a:schemeClr val="bg1"/>
                </a:solidFill>
              </a:rPr>
              <a:t> CVXPY accepts the model; Clarabel returns after 15 iterations: rounds 1, 1, 1, 0.39, 0, 0, worth </a:t>
            </a:r>
            <a:r>
              <a:rPr lang="en-US" sz="1700" b="1" dirty="0">
                <a:solidFill>
                  <a:schemeClr val="bg1"/>
                </a:solidFill>
              </a:rPr>
              <a:t>$1,687.1m</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3.1 · STEPS 3–4 · FIGURE 3.3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Rounds are whole where the margin beats the cost</a:t>
            </a:r>
            <a:endParaRPr lang="en-US" sz="3200" dirty="0"/>
          </a:p>
        </p:txBody>
      </p:sp>
      <p:sp>
        <p:nvSpPr>
          <p:cNvPr id="5" name="Bullets"/>
          <p:cNvSpPr txBox="1"/>
          <p:nvPr/>
        </p:nvSpPr>
        <p:spPr>
          <a:xfrm>
            <a:off x="548640" y="1691640"/>
            <a:ext cx="4476774" cy="4480560"/>
          </a:xfrm>
          <a:prstGeom prst="rect">
            <a:avLst/>
          </a:prstGeom>
          <a:noFill/>
          <a:ln/>
        </p:spPr>
        <p:txBody>
          <a:bodyPr wrap="square" lIns="635" tIns="635" rIns="635" bIns="635" rtlCol="0" anchor="t"/>
          <a:lstStyle/>
          <a:p>
            <a:pPr marL="228600" indent="-228600">
              <a:spcAft>
                <a:spcPts val="800"/>
              </a:spcAft>
              <a:buSzPct val="100000"/>
              <a:buChar char="•"/>
            </a:pPr>
            <a:r>
              <a:rPr lang="en-US" sz="1600" dirty="0">
                <a:solidFill>
                  <a:schemeClr val="tx1"/>
                </a:solidFill>
              </a:rPr>
              <a:t>Margins by year: $204.9m, $156.4m, $132.1m, $120.0m, $110.8m, $101.5m; cost $120m</a:t>
            </a:r>
            <a:endParaRPr lang="en-US" sz="1600" dirty="0"/>
          </a:p>
          <a:p>
            <a:pPr marL="228600" indent="-228600">
              <a:spcAft>
                <a:spcPts val="800"/>
              </a:spcAft>
              <a:buSzPct val="100000"/>
              <a:buChar char="•"/>
            </a:pPr>
            <a:r>
              <a:rPr lang="en-US" sz="1600" dirty="0">
                <a:solidFill>
                  <a:schemeClr val="tx1"/>
                </a:solidFill>
              </a:rPr>
              <a:t>Each year's limit is priced at the excess: </a:t>
            </a:r>
            <a:r>
              <a:rPr lang="en-US" sz="1600" b="1" dirty="0">
                <a:solidFill>
                  <a:schemeClr val="tx1"/>
                </a:solidFill>
              </a:rPr>
              <a:t>$84.9m</a:t>
            </a:r>
            <a:r>
              <a:rPr lang="en-US" sz="1600" dirty="0">
                <a:solidFill>
                  <a:schemeClr val="tx1"/>
                </a:solidFill>
              </a:rPr>
              <a:t>, </a:t>
            </a:r>
            <a:r>
              <a:rPr lang="en-US" sz="1600" b="1" dirty="0">
                <a:solidFill>
                  <a:schemeClr val="tx1"/>
                </a:solidFill>
              </a:rPr>
              <a:t>$36.4m</a:t>
            </a:r>
            <a:r>
              <a:rPr lang="en-US" sz="1600" dirty="0">
                <a:solidFill>
                  <a:schemeClr val="tx1"/>
                </a:solidFill>
              </a:rPr>
              <a:t>, </a:t>
            </a:r>
            <a:r>
              <a:rPr lang="en-US" sz="1600" b="1" dirty="0">
                <a:solidFill>
                  <a:schemeClr val="tx1"/>
                </a:solidFill>
              </a:rPr>
              <a:t>$12.1m</a:t>
            </a:r>
            <a:endParaRPr lang="en-US" sz="1600" dirty="0"/>
          </a:p>
          <a:p>
            <a:pPr marL="228600" indent="-228600">
              <a:spcAft>
                <a:spcPts val="800"/>
              </a:spcAft>
              <a:buSzPct val="100000"/>
              <a:buChar char="•"/>
            </a:pPr>
            <a:r>
              <a:rPr lang="en-US" sz="1600" dirty="0">
                <a:solidFill>
                  <a:schemeClr val="tx1"/>
                </a:solidFill>
              </a:rPr>
              <a:t>Forcing a round into year 5 or 6 would cost $9.2m or $18.5m at the margin</a:t>
            </a:r>
            <a:endParaRPr lang="en-US" sz="1600" dirty="0"/>
          </a:p>
          <a:p>
            <a:pPr marL="228600" indent="-228600">
              <a:spcAft>
                <a:spcPts val="800"/>
              </a:spcAft>
              <a:buSzPct val="100000"/>
              <a:buChar char="•"/>
            </a:pPr>
            <a:r>
              <a:rPr lang="en-US" sz="1600" dirty="0">
                <a:solidFill>
                  <a:schemeClr val="tx1"/>
                </a:solidFill>
              </a:rPr>
              <a:t>Floors carry no price, because payouts can wait; the end condition costs a dollar per dollar</a:t>
            </a:r>
            <a:endParaRPr lang="en-US" sz="1600" dirty="0"/>
          </a:p>
          <a:p>
            <a:pPr marL="228600" indent="-228600">
              <a:spcAft>
                <a:spcPts val="800"/>
              </a:spcAft>
              <a:buSzPct val="100000"/>
              <a:buChar char="•"/>
            </a:pPr>
            <a:r>
              <a:rPr lang="en-US" sz="1600" b="1" dirty="0">
                <a:solidFill>
                  <a:schemeClr val="tx1"/>
                </a:solidFill>
              </a:rPr>
              <a:t>Step 4:</a:t>
            </a:r>
            <a:r>
              <a:rPr lang="en-US" sz="1600" dirty="0">
                <a:solidFill>
                  <a:schemeClr val="tx1"/>
                </a:solidFill>
              </a:rPr>
              <a:t> the three-round plan, $1,680.0m, is within </a:t>
            </a:r>
            <a:r>
              <a:rPr lang="en-US" sz="1600" b="1" dirty="0">
                <a:solidFill>
                  <a:schemeClr val="tx1"/>
                </a:solidFill>
              </a:rPr>
              <a:t>$7.1m</a:t>
            </a:r>
            <a:r>
              <a:rPr lang="en-US" sz="1600" dirty="0">
                <a:solidFill>
                  <a:schemeClr val="tx1"/>
                </a:solidFill>
              </a:rPr>
              <a:t>, 0.42 percent, of the ceiling</a:t>
            </a:r>
            <a:endParaRPr lang="en-US" sz="1600" dirty="0"/>
          </a:p>
        </p:txBody>
      </p:sp>
      <p:pic>
        <p:nvPicPr>
          <p:cNvPr id="6" name="Figure" descr="Figure 3.3: the relaxation's prices and bound">    </p:cNvPr>
          <p:cNvPicPr>
            <a:picLocks noChangeAspect="1"/>
          </p:cNvPicPr>
          <p:nvPr/>
        </p:nvPicPr>
        <p:blipFill>
          <a:blip r:embed="rId1"/>
          <a:stretch>
            <a:fillRect/>
          </a:stretch>
        </p:blipFill>
        <p:spPr>
          <a:xfrm>
            <a:off x="5424862" y="1691640"/>
            <a:ext cx="6184505" cy="3913632"/>
          </a:xfrm>
          <a:prstGeom prst="rect">
            <a:avLst/>
          </a:prstGeom>
        </p:spPr>
      </p:pic>
      <p:sp>
        <p:nvSpPr>
          <p:cNvPr id="7" name="Caption"/>
          <p:cNvSpPr txBox="1"/>
          <p:nvPr/>
        </p:nvSpPr>
        <p:spPr>
          <a:xfrm>
            <a:off x="5391174" y="5678424"/>
            <a:ext cx="6251881" cy="502920"/>
          </a:xfrm>
          <a:prstGeom prst="rect">
            <a:avLst/>
          </a:prstGeom>
          <a:noFill/>
          <a:ln/>
        </p:spPr>
        <p:txBody>
          <a:bodyPr wrap="square" lIns="0" tIns="0" rIns="0" bIns="0" rtlCol="0" anchor="t"/>
          <a:lstStyle/>
          <a:p>
            <a:pPr indent="0" marL="0">
              <a:buNone/>
            </a:pPr>
            <a:r>
              <a:rPr lang="en-US" sz="1100" i="1" dirty="0">
                <a:solidFill>
                  <a:schemeClr val="tx2"/>
                </a:solidFill>
              </a:rPr>
              <a:t>Figure 3.3. (a) Marginal values at ten years' credit against the $120m cost. (b) Rounds chosen as the credit grows. (c) The ceiling minus the best lumpy value, at most $10.3m; shaded, rounding fails.</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3.1 · STEP 5 · TABLE 3.5</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A ceiling is reliable; a rounded answer is not</a:t>
            </a:r>
            <a:endParaRPr lang="en-US" sz="3200" dirty="0"/>
          </a:p>
        </p:txBody>
      </p:sp>
      <p:graphicFrame>
        <p:nvGraphicFramePr>
          <p:cNvPr id="20"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1817189"/>
                <a:gridCol w="2199755"/>
                <a:gridCol w="1817189"/>
                <a:gridCol w="2199755"/>
                <a:gridCol w="1817189"/>
                <a:gridCol w="1243340"/>
              </a:tblGrid>
              <a:tr h="45720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Credit (years)</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600" b="1" dirty="0">
                          <a:solidFill>
                            <a:srgbClr val="FFFFFF"/>
                          </a:solidFill>
                          <a:latin typeface="Calibri" pitchFamily="34" charset="0"/>
                          <a:ea typeface="Calibri" pitchFamily="34" charset="-122"/>
                          <a:cs typeface="Calibri" pitchFamily="34" charset="-120"/>
                        </a:rPr>
                        <a:t>Relaxation's rounds</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600" b="1" dirty="0">
                          <a:solidFill>
                            <a:srgbClr val="FFFFFF"/>
                          </a:solidFill>
                          <a:latin typeface="Calibri" pitchFamily="34" charset="0"/>
                          <a:ea typeface="Calibri" pitchFamily="34" charset="-122"/>
                          <a:cs typeface="Calibri" pitchFamily="34" charset="-120"/>
                        </a:rPr>
                        <a:t>Ceiling</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Best lumpy plan</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600" b="1" dirty="0">
                          <a:solidFill>
                            <a:srgbClr val="FFFFFF"/>
                          </a:solidFill>
                          <a:latin typeface="Calibri" pitchFamily="34" charset="0"/>
                          <a:ea typeface="Calibri" pitchFamily="34" charset="-122"/>
                          <a:cs typeface="Calibri" pitchFamily="34" charset="-120"/>
                        </a:rPr>
                        <a:t>Its value</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600" b="1" dirty="0">
                          <a:solidFill>
                            <a:srgbClr val="FFFFFF"/>
                          </a:solidFill>
                          <a:latin typeface="Calibri" pitchFamily="34" charset="0"/>
                          <a:ea typeface="Calibri" pitchFamily="34" charset="-122"/>
                          <a:cs typeface="Calibri" pitchFamily="34" charset="-120"/>
                        </a:rPr>
                        <a:t>Gap</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457200">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2.00</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505.00</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years 1–2</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505.00</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0.00</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57200">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2.86</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1,068.25</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years 1–3</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1,067.50</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0.75</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457200">
                <a:tc>
                  <a:txBody>
                    <a:bodyPr/>
                    <a:lstStyle/>
                    <a:p>
                      <a:pPr algn="l" indent="0" marL="0">
                        <a:buNone/>
                      </a:pPr>
                      <a:r>
                        <a:rPr lang="en-US" sz="1600" b="1" dirty="0">
                          <a:solidFill>
                            <a:srgbClr val="0F1E3D"/>
                          </a:solidFill>
                          <a:latin typeface="Calibri" pitchFamily="34" charset="0"/>
                          <a:ea typeface="Calibri" pitchFamily="34" charset="-122"/>
                          <a:cs typeface="Calibri" pitchFamily="34" charset="-120"/>
                        </a:rPr>
                        <a:t>10</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3.39</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1,687.09</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years 1–3</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1,680.00</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7.09</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r>
              <a:tr h="457200">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20</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4.15</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2,987.26</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years 1–4</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2,986.25</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1.01</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457200">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40</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5.05</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5,675.11</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years 1–5</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5,675.00</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0.11</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57200">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60</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5.62</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8,406.33</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years 1–6</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8,400.94</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5.39</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bl>
          </a:graphicData>
        </a:graphic>
      </p:graphicFrame>
      <p:sp>
        <p:nvSpPr>
          <p:cNvPr id="6" name="Table note"/>
          <p:cNvSpPr txBox="1"/>
          <p:nvPr/>
        </p:nvSpPr>
        <p:spPr>
          <a:xfrm>
            <a:off x="548640" y="4983480"/>
            <a:ext cx="11094415" cy="320040"/>
          </a:xfrm>
          <a:prstGeom prst="rect">
            <a:avLst/>
          </a:prstGeom>
          <a:noFill/>
          <a:ln/>
        </p:spPr>
        <p:txBody>
          <a:bodyPr wrap="square" lIns="0" tIns="0" rIns="0" bIns="0" rtlCol="0" anchor="ctr"/>
          <a:lstStyle/>
          <a:p>
            <a:pPr indent="0" marL="0">
              <a:buNone/>
            </a:pPr>
            <a:r>
              <a:rPr lang="en-US" sz="1100" i="1" dirty="0">
                <a:solidFill>
                  <a:schemeClr val="tx2"/>
                </a:solidFill>
              </a:rPr>
              <a:t>$ million, undiscounted. The relaxation's answer is lumpy, so it proves the lumpy plan best, for credits up to 0.95 years and from 5.9 to 6.9, 16.8 to 17.8 and 37.6 to 38.6.</a:t>
            </a:r>
            <a:endParaRPr lang="en-US" sz="1100" dirty="0"/>
          </a:p>
        </p:txBody>
      </p:sp>
      <p:sp>
        <p:nvSpPr>
          <p:cNvPr id="7" name="Lead"/>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600" dirty="0">
                <a:solidFill>
                  <a:schemeClr val="accent2"/>
                </a:solidFill>
              </a:rPr>
              <a:t>The gap never exceeds $10.3m; just past 2.9, 10.7, 25.4 and 53.9 years, rounding picks the wrong number.</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3.1 · STEP 6 · WHAT THE BOARD SHOULD TAKE AWAY</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One convex solve replaces enumeration</a:t>
            </a:r>
            <a:endParaRPr lang="en-US" sz="3200" dirty="0"/>
          </a:p>
        </p:txBody>
      </p:sp>
      <p:sp>
        <p:nvSpPr>
          <p:cNvPr id="5" name="Stat card"/>
          <p:cNvSpPr/>
          <p:nvPr/>
        </p:nvSpPr>
        <p:spPr>
          <a:xfrm>
            <a:off x="548640" y="1691640"/>
            <a:ext cx="3515258" cy="1828800"/>
          </a:xfrm>
          <a:prstGeom prst="roundRect">
            <a:avLst>
              <a:gd name="adj" fmla="val 4000"/>
            </a:avLst>
          </a:prstGeom>
          <a:solidFill>
            <a:schemeClr val="tx1"/>
          </a:solidFill>
          <a:ln w="9525">
            <a:solidFill>
              <a:srgbClr val="0F1E3D"/>
            </a:solidFill>
            <a:prstDash val="solid"/>
          </a:ln>
        </p:spPr>
      </p:sp>
      <p:sp>
        <p:nvSpPr>
          <p:cNvPr id="6" name="Stat value"/>
          <p:cNvSpPr txBox="1"/>
          <p:nvPr/>
        </p:nvSpPr>
        <p:spPr>
          <a:xfrm>
            <a:off x="685800" y="1801368"/>
            <a:ext cx="3240938" cy="914400"/>
          </a:xfrm>
          <a:prstGeom prst="rect">
            <a:avLst/>
          </a:prstGeom>
          <a:noFill/>
          <a:ln/>
        </p:spPr>
        <p:txBody>
          <a:bodyPr wrap="square" lIns="0" tIns="0" rIns="0" bIns="0" rtlCol="0" anchor="ctr"/>
          <a:lstStyle/>
          <a:p>
            <a:pPr algn="ctr" indent="0" marL="0">
              <a:buNone/>
            </a:pPr>
            <a:r>
              <a:rPr lang="en-US" sz="4400" b="1" dirty="0">
                <a:solidFill>
                  <a:schemeClr val="accent1"/>
                </a:solidFill>
                <a:latin typeface="Cambria" pitchFamily="34" charset="0"/>
                <a:ea typeface="Cambria" pitchFamily="34" charset="-122"/>
                <a:cs typeface="Cambria" pitchFamily="34" charset="-120"/>
              </a:rPr>
              <a:t>$1,687.1m</a:t>
            </a:r>
            <a:endParaRPr lang="en-US" sz="4400" dirty="0"/>
          </a:p>
        </p:txBody>
      </p:sp>
      <p:sp>
        <p:nvSpPr>
          <p:cNvPr id="7" name="Stat label"/>
          <p:cNvSpPr txBox="1"/>
          <p:nvPr/>
        </p:nvSpPr>
        <p:spPr>
          <a:xfrm>
            <a:off x="685800" y="2697480"/>
            <a:ext cx="3240938" cy="749808"/>
          </a:xfrm>
          <a:prstGeom prst="rect">
            <a:avLst/>
          </a:prstGeom>
          <a:noFill/>
          <a:ln/>
        </p:spPr>
        <p:txBody>
          <a:bodyPr wrap="square" lIns="0" tIns="0" rIns="0" bIns="0" rtlCol="0" anchor="t"/>
          <a:lstStyle/>
          <a:p>
            <a:pPr algn="ctr" indent="0" marL="0">
              <a:buNone/>
            </a:pPr>
            <a:r>
              <a:rPr lang="en-US" sz="1400" dirty="0">
                <a:solidFill>
                  <a:schemeClr val="bg2"/>
                </a:solidFill>
              </a:rPr>
              <a:t>the ceiling: no automation plan is worth more</a:t>
            </a:r>
            <a:endParaRPr lang="en-US" sz="1400" dirty="0"/>
          </a:p>
        </p:txBody>
      </p:sp>
      <p:sp>
        <p:nvSpPr>
          <p:cNvPr id="8" name="Stat card"/>
          <p:cNvSpPr/>
          <p:nvPr/>
        </p:nvSpPr>
        <p:spPr>
          <a:xfrm>
            <a:off x="4338218" y="1691640"/>
            <a:ext cx="3515258" cy="1828800"/>
          </a:xfrm>
          <a:prstGeom prst="roundRect">
            <a:avLst>
              <a:gd name="adj" fmla="val 4000"/>
            </a:avLst>
          </a:prstGeom>
          <a:solidFill>
            <a:schemeClr val="bg2"/>
          </a:solidFill>
          <a:ln w="9525">
            <a:solidFill>
              <a:srgbClr val="C4CBD8"/>
            </a:solidFill>
            <a:prstDash val="solid"/>
          </a:ln>
        </p:spPr>
      </p:sp>
      <p:sp>
        <p:nvSpPr>
          <p:cNvPr id="9" name="Stat value"/>
          <p:cNvSpPr txBox="1"/>
          <p:nvPr/>
        </p:nvSpPr>
        <p:spPr>
          <a:xfrm>
            <a:off x="4475378" y="1801368"/>
            <a:ext cx="3240938"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$7.1m</a:t>
            </a:r>
            <a:endParaRPr lang="en-US" sz="4400" dirty="0"/>
          </a:p>
        </p:txBody>
      </p:sp>
      <p:sp>
        <p:nvSpPr>
          <p:cNvPr id="10" name="Stat label"/>
          <p:cNvSpPr txBox="1"/>
          <p:nvPr/>
        </p:nvSpPr>
        <p:spPr>
          <a:xfrm>
            <a:off x="4475378" y="2697480"/>
            <a:ext cx="3240938" cy="749808"/>
          </a:xfrm>
          <a:prstGeom prst="rect">
            <a:avLst/>
          </a:prstGeom>
          <a:noFill/>
          <a:ln/>
        </p:spPr>
        <p:txBody>
          <a:bodyPr wrap="square" lIns="0" tIns="0" rIns="0" bIns="0" rtlCol="0" anchor="t"/>
          <a:lstStyle/>
          <a:p>
            <a:pPr algn="ctr" indent="0" marL="0">
              <a:buNone/>
            </a:pPr>
            <a:r>
              <a:rPr lang="en-US" sz="1400" dirty="0">
                <a:solidFill>
                  <a:schemeClr val="tx2"/>
                </a:solidFill>
              </a:rPr>
              <a:t>the three-round plan's distance from the ceiling, 0.42 percent</a:t>
            </a:r>
            <a:endParaRPr lang="en-US" sz="1400" dirty="0"/>
          </a:p>
        </p:txBody>
      </p:sp>
      <p:sp>
        <p:nvSpPr>
          <p:cNvPr id="11" name="Stat card"/>
          <p:cNvSpPr/>
          <p:nvPr/>
        </p:nvSpPr>
        <p:spPr>
          <a:xfrm>
            <a:off x="8127797" y="1691640"/>
            <a:ext cx="3515258" cy="1828800"/>
          </a:xfrm>
          <a:prstGeom prst="roundRect">
            <a:avLst>
              <a:gd name="adj" fmla="val 4000"/>
            </a:avLst>
          </a:prstGeom>
          <a:solidFill>
            <a:schemeClr val="bg2"/>
          </a:solidFill>
          <a:ln w="9525">
            <a:solidFill>
              <a:srgbClr val="C4CBD8"/>
            </a:solidFill>
            <a:prstDash val="solid"/>
          </a:ln>
        </p:spPr>
      </p:sp>
      <p:sp>
        <p:nvSpPr>
          <p:cNvPr id="12" name="Stat value"/>
          <p:cNvSpPr txBox="1"/>
          <p:nvPr/>
        </p:nvSpPr>
        <p:spPr>
          <a:xfrm>
            <a:off x="8264957" y="1801368"/>
            <a:ext cx="3240938" cy="914400"/>
          </a:xfrm>
          <a:prstGeom prst="rect">
            <a:avLst/>
          </a:prstGeom>
          <a:noFill/>
          <a:ln/>
        </p:spPr>
        <p:txBody>
          <a:bodyPr wrap="square" lIns="0" tIns="0" rIns="0" bIns="0" rtlCol="0" anchor="ctr"/>
          <a:lstStyle/>
          <a:p>
            <a:pPr algn="ctr" indent="0" marL="0">
              <a:buNone/>
            </a:pPr>
            <a:r>
              <a:rPr lang="en-US" sz="3600" b="1" dirty="0">
                <a:solidFill>
                  <a:schemeClr val="tx1"/>
                </a:solidFill>
                <a:latin typeface="Cambria" pitchFamily="34" charset="0"/>
                <a:ea typeface="Cambria" pitchFamily="34" charset="-122"/>
                <a:cs typeface="Cambria" pitchFamily="34" charset="-120"/>
              </a:rPr>
              <a:t>$0.31–0.42</a:t>
            </a:r>
            <a:endParaRPr lang="en-US" sz="3600" dirty="0"/>
          </a:p>
        </p:txBody>
      </p:sp>
      <p:sp>
        <p:nvSpPr>
          <p:cNvPr id="13" name="Stat label"/>
          <p:cNvSpPr txBox="1"/>
          <p:nvPr/>
        </p:nvSpPr>
        <p:spPr>
          <a:xfrm>
            <a:off x="8264957" y="2697480"/>
            <a:ext cx="3240938" cy="749808"/>
          </a:xfrm>
          <a:prstGeom prst="rect">
            <a:avLst/>
          </a:prstGeom>
          <a:noFill/>
          <a:ln/>
        </p:spPr>
        <p:txBody>
          <a:bodyPr wrap="square" lIns="0" tIns="0" rIns="0" bIns="0" rtlCol="0" anchor="t"/>
          <a:lstStyle/>
          <a:p>
            <a:pPr algn="ctr" indent="0" marL="0">
              <a:buNone/>
            </a:pPr>
            <a:r>
              <a:rPr lang="en-US" sz="1400" dirty="0">
                <a:solidFill>
                  <a:schemeClr val="tx2"/>
                </a:solidFill>
              </a:rPr>
              <a:t>a dollar of capital under a $360m cap: a range of prices at the kink</a:t>
            </a:r>
            <a:endParaRPr lang="en-US" sz="1400" dirty="0"/>
          </a:p>
        </p:txBody>
      </p:sp>
      <p:sp>
        <p:nvSpPr>
          <p:cNvPr id="14" name="Bullets"/>
          <p:cNvSpPr txBox="1"/>
          <p:nvPr/>
        </p:nvSpPr>
        <p:spPr>
          <a:xfrm>
            <a:off x="548640" y="3840480"/>
            <a:ext cx="11094415" cy="2331720"/>
          </a:xfrm>
          <a:prstGeom prst="rect">
            <a:avLst/>
          </a:prstGeom>
          <a:noFill/>
          <a:ln/>
        </p:spPr>
        <p:txBody>
          <a:bodyPr wrap="square" lIns="635" tIns="635" rIns="635" bIns="635" rtlCol="0" anchor="t"/>
          <a:lstStyle/>
          <a:p>
            <a:pPr marL="228600" indent="-228600">
              <a:spcAft>
                <a:spcPts val="800"/>
              </a:spcAft>
              <a:buSzPct val="100000"/>
              <a:buChar char="•"/>
            </a:pPr>
            <a:r>
              <a:rPr lang="en-US" sz="1700" b="1" dirty="0">
                <a:solidFill>
                  <a:schemeClr val="tx1"/>
                </a:solidFill>
              </a:rPr>
              <a:t>Step 6:</a:t>
            </a:r>
            <a:r>
              <a:rPr lang="en-US" sz="1700" dirty="0">
                <a:solidFill>
                  <a:schemeClr val="tx1"/>
                </a:solidFill>
              </a:rPr>
              <a:t> with capital capped at $360m the relaxation picks exactly the three rounds and proves them best; a dollar more gains $0.31, a dollar cut loses $0.42</a:t>
            </a:r>
            <a:endParaRPr lang="en-US" sz="1700" dirty="0"/>
          </a:p>
          <a:p>
            <a:pPr marL="228600" indent="-228600">
              <a:spcAft>
                <a:spcPts val="800"/>
              </a:spcAft>
              <a:buSzPct val="100000"/>
              <a:buChar char="•"/>
            </a:pPr>
            <a:r>
              <a:rPr lang="en-US" sz="1700" dirty="0">
                <a:solidFill>
                  <a:schemeClr val="tx1"/>
                </a:solidFill>
              </a:rPr>
              <a:t>The year-1 round earns $84.9m more than it costs at the margin, the year-3 round only $12.1m: pressure for more rounds is pressure to raise the credit for savings after year 6</a:t>
            </a:r>
            <a:endParaRPr lang="en-US" sz="1700" dirty="0"/>
          </a:p>
          <a:p>
            <a:pPr marL="228600" indent="-228600">
              <a:spcAft>
                <a:spcPts val="800"/>
              </a:spcAft>
              <a:buSzPct val="100000"/>
              <a:buChar char="•"/>
            </a:pPr>
            <a:r>
              <a:rPr lang="en-US" sz="1700" dirty="0">
                <a:solidFill>
                  <a:schemeClr val="tx1"/>
                </a:solidFill>
              </a:rPr>
              <a:t>The board should take ceilings and prices from a relaxation, never a rounded plan</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AXIOM LAB 2.3 · MODULE AXIOM-03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Ceilings and price lists, in AXIOM</a:t>
            </a:r>
            <a:endParaRPr lang="en-US" sz="3200" dirty="0"/>
          </a:p>
        </p:txBody>
      </p:sp>
      <p:pic>
        <p:nvPicPr>
          <p:cNvPr id="5" name="AXIOM logo" descr="AXIOM">    </p:cNvPr>
          <p:cNvPicPr>
            <a:picLocks noChangeAspect="1"/>
          </p:cNvPicPr>
          <p:nvPr/>
        </p:nvPicPr>
        <p:blipFill>
          <a:blip r:embed="rId1"/>
          <a:stretch>
            <a:fillRect/>
          </a:stretch>
        </p:blipFill>
        <p:spPr>
          <a:xfrm>
            <a:off x="9539935" y="310896"/>
            <a:ext cx="2103120" cy="420624"/>
          </a:xfrm>
          <a:prstGeom prst="rect">
            <a:avLst/>
          </a:prstGeom>
        </p:spPr>
      </p:pic>
      <p:sp>
        <p:nvSpPr>
          <p:cNvPr id="6" name="Situation"/>
          <p:cNvSpPr txBox="1"/>
          <p:nvPr/>
        </p:nvSpPr>
        <p:spPr>
          <a:xfrm>
            <a:off x="548640" y="1645920"/>
            <a:ext cx="11094415" cy="777240"/>
          </a:xfrm>
          <a:prstGeom prst="rect">
            <a:avLst/>
          </a:prstGeom>
          <a:noFill/>
          <a:ln/>
        </p:spPr>
        <p:txBody>
          <a:bodyPr wrap="square" lIns="0" tIns="0" rIns="0" bIns="0" rtlCol="0" anchor="t"/>
          <a:lstStyle/>
          <a:p>
            <a:pPr indent="0" marL="0">
              <a:buNone/>
            </a:pPr>
            <a:r>
              <a:rPr lang="en-US" sz="1500" dirty="0">
                <a:solidFill>
                  <a:schemeClr val="tx1"/>
                </a:solidFill>
              </a:rPr>
              <a:t>Meridian's chief risk officer wants a ceiling on the value of any automation plan, computed without enumeration, and a price list the board can audit. Open AXIOM, choose Lab 2.3 and load the Meridian automation relaxation.</a:t>
            </a:r>
            <a:endParaRPr lang="en-US" sz="1500" dirty="0"/>
          </a:p>
        </p:txBody>
      </p:sp>
      <p:sp>
        <p:nvSpPr>
          <p:cNvPr id="7" name="Flow line"/>
          <p:cNvSpPr/>
          <p:nvPr/>
        </p:nvSpPr>
        <p:spPr>
          <a:xfrm>
            <a:off x="1658082" y="2880360"/>
            <a:ext cx="8875532" cy="0"/>
          </a:xfrm>
          <a:prstGeom prst="line">
            <a:avLst/>
          </a:prstGeom>
          <a:noFill/>
          <a:ln w="25400">
            <a:solidFill>
              <a:srgbClr val="C4CBD8"/>
            </a:solidFill>
            <a:prstDash val="solid"/>
          </a:ln>
        </p:spPr>
      </p:sp>
      <p:sp>
        <p:nvSpPr>
          <p:cNvPr id="8" name="Number"/>
          <p:cNvSpPr/>
          <p:nvPr/>
        </p:nvSpPr>
        <p:spPr>
          <a:xfrm>
            <a:off x="1383762" y="2606040"/>
            <a:ext cx="548640" cy="548640"/>
          </a:xfrm>
          <a:prstGeom prst="ellipse">
            <a:avLst/>
          </a:prstGeom>
          <a:solidFill>
            <a:schemeClr val="accent1"/>
          </a:solidFill>
          <a:ln w="6350">
            <a:solidFill>
              <a:schemeClr val="accent1"/>
            </a:solidFill>
            <a:prstDash val="solid"/>
          </a:ln>
        </p:spPr>
      </p:sp>
      <p:sp>
        <p:nvSpPr>
          <p:cNvPr id="9" name="Text 5"/>
          <p:cNvSpPr txBox="1"/>
          <p:nvPr/>
        </p:nvSpPr>
        <p:spPr>
          <a:xfrm>
            <a:off x="1383762"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1</a:t>
            </a:r>
            <a:endParaRPr lang="en-US" sz="1600" dirty="0"/>
          </a:p>
        </p:txBody>
      </p:sp>
      <p:sp>
        <p:nvSpPr>
          <p:cNvPr id="10" name="Flow head"/>
          <p:cNvSpPr txBox="1"/>
          <p:nvPr/>
        </p:nvSpPr>
        <p:spPr>
          <a:xfrm>
            <a:off x="621792"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Recognize</a:t>
            </a:r>
            <a:endParaRPr lang="en-US" sz="1600" dirty="0"/>
          </a:p>
        </p:txBody>
      </p:sp>
      <p:sp>
        <p:nvSpPr>
          <p:cNvPr id="11" name="Flow text"/>
          <p:cNvSpPr txBox="1"/>
          <p:nvPr/>
        </p:nvSpPr>
        <p:spPr>
          <a:xfrm>
            <a:off x="640080"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Enter the program in both forms; check they agree at the 64 lumpy plans; find the violating chord.</a:t>
            </a:r>
            <a:endParaRPr lang="en-US" sz="1400" dirty="0"/>
          </a:p>
        </p:txBody>
      </p:sp>
      <p:sp>
        <p:nvSpPr>
          <p:cNvPr id="12" name="Number"/>
          <p:cNvSpPr/>
          <p:nvPr/>
        </p:nvSpPr>
        <p:spPr>
          <a:xfrm>
            <a:off x="3602645" y="2606040"/>
            <a:ext cx="548640" cy="548640"/>
          </a:xfrm>
          <a:prstGeom prst="ellipse">
            <a:avLst/>
          </a:prstGeom>
          <a:solidFill>
            <a:schemeClr val="accent1"/>
          </a:solidFill>
          <a:ln w="6350">
            <a:solidFill>
              <a:schemeClr val="accent1"/>
            </a:solidFill>
            <a:prstDash val="solid"/>
          </a:ln>
        </p:spPr>
      </p:sp>
      <p:sp>
        <p:nvSpPr>
          <p:cNvPr id="13" name="Text 9"/>
          <p:cNvSpPr txBox="1"/>
          <p:nvPr/>
        </p:nvSpPr>
        <p:spPr>
          <a:xfrm>
            <a:off x="3602645"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2</a:t>
            </a:r>
            <a:endParaRPr lang="en-US" sz="1600" dirty="0"/>
          </a:p>
        </p:txBody>
      </p:sp>
      <p:sp>
        <p:nvSpPr>
          <p:cNvPr id="14" name="Flow head"/>
          <p:cNvSpPr txBox="1"/>
          <p:nvPr/>
        </p:nvSpPr>
        <p:spPr>
          <a:xfrm>
            <a:off x="2840675"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Solve</a:t>
            </a:r>
            <a:endParaRPr lang="en-US" sz="1600" dirty="0"/>
          </a:p>
        </p:txBody>
      </p:sp>
      <p:sp>
        <p:nvSpPr>
          <p:cNvPr id="15" name="Flow text"/>
          <p:cNvSpPr txBox="1"/>
          <p:nvPr/>
        </p:nvSpPr>
        <p:spPr>
          <a:xfrm>
            <a:off x="2858963"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Declare the relaxation in disciplined convex form, solve it, and watch the duality gap close.</a:t>
            </a:r>
            <a:endParaRPr lang="en-US" sz="1400" dirty="0"/>
          </a:p>
        </p:txBody>
      </p:sp>
      <p:sp>
        <p:nvSpPr>
          <p:cNvPr id="16" name="Number"/>
          <p:cNvSpPr/>
          <p:nvPr/>
        </p:nvSpPr>
        <p:spPr>
          <a:xfrm>
            <a:off x="5821528" y="2606040"/>
            <a:ext cx="548640" cy="548640"/>
          </a:xfrm>
          <a:prstGeom prst="ellipse">
            <a:avLst/>
          </a:prstGeom>
          <a:solidFill>
            <a:schemeClr val="accent1"/>
          </a:solidFill>
          <a:ln w="6350">
            <a:solidFill>
              <a:schemeClr val="accent1"/>
            </a:solidFill>
            <a:prstDash val="solid"/>
          </a:ln>
        </p:spPr>
      </p:sp>
      <p:sp>
        <p:nvSpPr>
          <p:cNvPr id="17" name="Text 13"/>
          <p:cNvSpPr txBox="1"/>
          <p:nvPr/>
        </p:nvSpPr>
        <p:spPr>
          <a:xfrm>
            <a:off x="5821528"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3</a:t>
            </a:r>
            <a:endParaRPr lang="en-US" sz="1600" dirty="0"/>
          </a:p>
        </p:txBody>
      </p:sp>
      <p:sp>
        <p:nvSpPr>
          <p:cNvPr id="18" name="Flow head"/>
          <p:cNvSpPr txBox="1"/>
          <p:nvPr/>
        </p:nvSpPr>
        <p:spPr>
          <a:xfrm>
            <a:off x="5059558"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Audit</a:t>
            </a:r>
            <a:endParaRPr lang="en-US" sz="1600" dirty="0"/>
          </a:p>
        </p:txBody>
      </p:sp>
      <p:sp>
        <p:nvSpPr>
          <p:cNvPr id="19" name="Flow text"/>
          <p:cNvSpPr txBox="1"/>
          <p:nvPr/>
        </p:nvSpPr>
        <p:spPr>
          <a:xfrm>
            <a:off x="5077846"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Run the KKT verification module; rebuild the marginal values and prices of Figure 3.3(a).</a:t>
            </a:r>
            <a:endParaRPr lang="en-US" sz="1400" dirty="0"/>
          </a:p>
        </p:txBody>
      </p:sp>
      <p:sp>
        <p:nvSpPr>
          <p:cNvPr id="20" name="Number"/>
          <p:cNvSpPr/>
          <p:nvPr/>
        </p:nvSpPr>
        <p:spPr>
          <a:xfrm>
            <a:off x="8040411" y="2606040"/>
            <a:ext cx="548640" cy="548640"/>
          </a:xfrm>
          <a:prstGeom prst="ellipse">
            <a:avLst/>
          </a:prstGeom>
          <a:solidFill>
            <a:schemeClr val="accent1"/>
          </a:solidFill>
          <a:ln w="6350">
            <a:solidFill>
              <a:schemeClr val="accent1"/>
            </a:solidFill>
            <a:prstDash val="solid"/>
          </a:ln>
        </p:spPr>
      </p:sp>
      <p:sp>
        <p:nvSpPr>
          <p:cNvPr id="21" name="Text 17"/>
          <p:cNvSpPr txBox="1"/>
          <p:nvPr/>
        </p:nvSpPr>
        <p:spPr>
          <a:xfrm>
            <a:off x="8040411"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4</a:t>
            </a:r>
            <a:endParaRPr lang="en-US" sz="1600" dirty="0"/>
          </a:p>
        </p:txBody>
      </p:sp>
      <p:sp>
        <p:nvSpPr>
          <p:cNvPr id="22" name="Flow head"/>
          <p:cNvSpPr txBox="1"/>
          <p:nvPr/>
        </p:nvSpPr>
        <p:spPr>
          <a:xfrm>
            <a:off x="7278441"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Bound</a:t>
            </a:r>
            <a:endParaRPr lang="en-US" sz="1600" dirty="0"/>
          </a:p>
        </p:txBody>
      </p:sp>
      <p:sp>
        <p:nvSpPr>
          <p:cNvPr id="23" name="Flow text"/>
          <p:cNvSpPr txBox="1"/>
          <p:nvPr/>
        </p:nvSpPr>
        <p:spPr>
          <a:xfrm>
            <a:off x="7296729"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Compare the ceiling with the 64 lumpy plans; value the plan rounded down and rounded up.</a:t>
            </a:r>
            <a:endParaRPr lang="en-US" sz="1400" dirty="0"/>
          </a:p>
        </p:txBody>
      </p:sp>
      <p:sp>
        <p:nvSpPr>
          <p:cNvPr id="24" name="Number"/>
          <p:cNvSpPr/>
          <p:nvPr/>
        </p:nvSpPr>
        <p:spPr>
          <a:xfrm>
            <a:off x="10259294" y="2606040"/>
            <a:ext cx="548640" cy="548640"/>
          </a:xfrm>
          <a:prstGeom prst="ellipse">
            <a:avLst/>
          </a:prstGeom>
          <a:solidFill>
            <a:schemeClr val="accent1"/>
          </a:solidFill>
          <a:ln w="6350">
            <a:solidFill>
              <a:schemeClr val="accent1"/>
            </a:solidFill>
            <a:prstDash val="solid"/>
          </a:ln>
        </p:spPr>
      </p:sp>
      <p:sp>
        <p:nvSpPr>
          <p:cNvPr id="25" name="Text 21"/>
          <p:cNvSpPr txBox="1"/>
          <p:nvPr/>
        </p:nvSpPr>
        <p:spPr>
          <a:xfrm>
            <a:off x="10259294"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5</a:t>
            </a:r>
            <a:endParaRPr lang="en-US" sz="1600" dirty="0"/>
          </a:p>
        </p:txBody>
      </p:sp>
      <p:sp>
        <p:nvSpPr>
          <p:cNvPr id="26" name="Flow head"/>
          <p:cNvSpPr txBox="1"/>
          <p:nvPr/>
        </p:nvSpPr>
        <p:spPr>
          <a:xfrm>
            <a:off x="9497324"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Stress the prices</a:t>
            </a:r>
            <a:endParaRPr lang="en-US" sz="1600" dirty="0"/>
          </a:p>
        </p:txBody>
      </p:sp>
      <p:sp>
        <p:nvSpPr>
          <p:cNvPr id="27" name="Flow text"/>
          <p:cNvSpPr txBox="1"/>
          <p:nvPr/>
        </p:nvSpPr>
        <p:spPr>
          <a:xfrm>
            <a:off x="9515612"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Move the credit from 0 to 60 years, add a capital cap, and find the kink at $360m.</a:t>
            </a:r>
            <a:endParaRPr lang="en-US" sz="1400" dirty="0"/>
          </a:p>
        </p:txBody>
      </p:sp>
      <p:sp>
        <p:nvSpPr>
          <p:cNvPr id="28" name="Deliverable card"/>
          <p:cNvSpPr/>
          <p:nvPr/>
        </p:nvSpPr>
        <p:spPr>
          <a:xfrm>
            <a:off x="548640" y="5486400"/>
            <a:ext cx="11094415" cy="685800"/>
          </a:xfrm>
          <a:prstGeom prst="roundRect">
            <a:avLst>
              <a:gd name="adj" fmla="val 10667"/>
            </a:avLst>
          </a:prstGeom>
          <a:solidFill>
            <a:schemeClr val="bg2"/>
          </a:solidFill>
          <a:ln w="9525">
            <a:solidFill>
              <a:srgbClr val="C4CBD8"/>
            </a:solidFill>
            <a:prstDash val="solid"/>
          </a:ln>
        </p:spPr>
      </p:sp>
      <p:sp>
        <p:nvSpPr>
          <p:cNvPr id="29" name="Deliverable"/>
          <p:cNvSpPr txBox="1"/>
          <p:nvPr/>
        </p:nvSpPr>
        <p:spPr>
          <a:xfrm>
            <a:off x="777240" y="5559552"/>
            <a:ext cx="10637215" cy="539496"/>
          </a:xfrm>
          <a:prstGeom prst="rect">
            <a:avLst/>
          </a:prstGeom>
          <a:noFill/>
          <a:ln/>
        </p:spPr>
        <p:txBody>
          <a:bodyPr wrap="square" lIns="0" tIns="0" rIns="0" bIns="0" rtlCol="0" anchor="ctr"/>
          <a:lstStyle/>
          <a:p>
            <a:pPr indent="0" marL="0">
              <a:buNone/>
            </a:pPr>
            <a:r>
              <a:rPr lang="en-US" sz="1400" b="1" dirty="0">
                <a:solidFill>
                  <a:schemeClr val="tx1"/>
                </a:solidFill>
              </a:rPr>
              <a:t>Deliverable:</a:t>
            </a:r>
            <a:r>
              <a:rPr lang="en-US" sz="1400" dirty="0">
                <a:solidFill>
                  <a:schemeClr val="tx1"/>
                </a:solidFill>
              </a:rPr>
              <a:t> a one-page note to the board: the ceiling and the solver's certificate, the three-round plan's distance from it, the price list, the credits at which the relaxation proves the lumpy plan best, and whether further search is worth its cost. About 75 minutes.</a:t>
            </a:r>
            <a:endParaRPr lang="en-US" sz="14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KEY TAKEAWAYS</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What to carry forward</a:t>
            </a:r>
            <a:endParaRPr lang="en-US" sz="3200" dirty="0"/>
          </a:p>
        </p:txBody>
      </p:sp>
      <p:sp>
        <p:nvSpPr>
          <p:cNvPr id="5" name="Number"/>
          <p:cNvSpPr/>
          <p:nvPr/>
        </p:nvSpPr>
        <p:spPr>
          <a:xfrm>
            <a:off x="548640" y="1737360"/>
            <a:ext cx="566928" cy="566928"/>
          </a:xfrm>
          <a:prstGeom prst="ellipse">
            <a:avLst/>
          </a:prstGeom>
          <a:solidFill>
            <a:schemeClr val="accent1"/>
          </a:solidFill>
          <a:ln w="6350">
            <a:solidFill>
              <a:schemeClr val="accent1"/>
            </a:solidFill>
            <a:prstDash val="solid"/>
          </a:ln>
        </p:spPr>
      </p:sp>
      <p:sp>
        <p:nvSpPr>
          <p:cNvPr id="6" name="Text 3"/>
          <p:cNvSpPr txBox="1"/>
          <p:nvPr/>
        </p:nvSpPr>
        <p:spPr>
          <a:xfrm>
            <a:off x="548640" y="1737360"/>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7" name="Row text"/>
          <p:cNvSpPr txBox="1"/>
          <p:nvPr/>
        </p:nvSpPr>
        <p:spPr>
          <a:xfrm>
            <a:off x="1325880" y="1691640"/>
            <a:ext cx="10317175" cy="841248"/>
          </a:xfrm>
          <a:prstGeom prst="rect">
            <a:avLst/>
          </a:prstGeom>
          <a:noFill/>
          <a:ln/>
        </p:spPr>
        <p:txBody>
          <a:bodyPr wrap="square" lIns="0" tIns="0" rIns="0" bIns="0" rtlCol="0" anchor="ctr"/>
          <a:lstStyle/>
          <a:p>
            <a:pPr indent="0" marL="0">
              <a:buNone/>
            </a:pPr>
            <a:r>
              <a:rPr lang="en-US" sz="1500" dirty="0">
                <a:solidFill>
                  <a:schemeClr val="tx1"/>
                </a:solidFill>
              </a:rPr>
              <a:t>Convexity turns optimization into proof: in a convex instance local answers are global, best plans form a menu, and curvature makes the best plan unique and near-best plans near.</a:t>
            </a:r>
            <a:endParaRPr lang="en-US" sz="1500" dirty="0"/>
          </a:p>
        </p:txBody>
      </p:sp>
      <p:sp>
        <p:nvSpPr>
          <p:cNvPr id="8" name="Number"/>
          <p:cNvSpPr/>
          <p:nvPr/>
        </p:nvSpPr>
        <p:spPr>
          <a:xfrm>
            <a:off x="548640" y="2633472"/>
            <a:ext cx="566928" cy="566928"/>
          </a:xfrm>
          <a:prstGeom prst="ellipse">
            <a:avLst/>
          </a:prstGeom>
          <a:solidFill>
            <a:schemeClr val="accent1"/>
          </a:solidFill>
          <a:ln w="6350">
            <a:solidFill>
              <a:schemeClr val="accent1"/>
            </a:solidFill>
            <a:prstDash val="solid"/>
          </a:ln>
        </p:spPr>
      </p:sp>
      <p:sp>
        <p:nvSpPr>
          <p:cNvPr id="9" name="Text 6"/>
          <p:cNvSpPr txBox="1"/>
          <p:nvPr/>
        </p:nvSpPr>
        <p:spPr>
          <a:xfrm>
            <a:off x="548640" y="2633472"/>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a:t>
            </a:r>
            <a:endParaRPr lang="en-US" sz="1500" dirty="0"/>
          </a:p>
        </p:txBody>
      </p:sp>
      <p:sp>
        <p:nvSpPr>
          <p:cNvPr id="10" name="Row text"/>
          <p:cNvSpPr txBox="1"/>
          <p:nvPr/>
        </p:nvSpPr>
        <p:spPr>
          <a:xfrm>
            <a:off x="1325880" y="2587752"/>
            <a:ext cx="10317175" cy="841248"/>
          </a:xfrm>
          <a:prstGeom prst="rect">
            <a:avLst/>
          </a:prstGeom>
          <a:noFill/>
          <a:ln/>
        </p:spPr>
        <p:txBody>
          <a:bodyPr wrap="square" lIns="0" tIns="0" rIns="0" bIns="0" rtlCol="0" anchor="ctr"/>
          <a:lstStyle/>
          <a:p>
            <a:pPr indent="0" marL="0">
              <a:buNone/>
            </a:pPr>
            <a:r>
              <a:rPr lang="en-US" sz="1500" dirty="0">
                <a:solidFill>
                  <a:schemeClr val="tx1"/>
                </a:solidFill>
              </a:rPr>
              <a:t>Convexity is recognized block by block from a catalog of shapes and rules; it breaks at set-up charges, all-or-nothing choices, products of decisions, and commitments that hold a concave quantity below a ceiling.</a:t>
            </a:r>
            <a:endParaRPr lang="en-US" sz="1500" dirty="0"/>
          </a:p>
        </p:txBody>
      </p:sp>
      <p:sp>
        <p:nvSpPr>
          <p:cNvPr id="11" name="Number"/>
          <p:cNvSpPr/>
          <p:nvPr/>
        </p:nvSpPr>
        <p:spPr>
          <a:xfrm>
            <a:off x="548640" y="3529584"/>
            <a:ext cx="566928" cy="566928"/>
          </a:xfrm>
          <a:prstGeom prst="ellipse">
            <a:avLst/>
          </a:prstGeom>
          <a:solidFill>
            <a:schemeClr val="accent1"/>
          </a:solidFill>
          <a:ln w="6350">
            <a:solidFill>
              <a:schemeClr val="accent1"/>
            </a:solidFill>
            <a:prstDash val="solid"/>
          </a:ln>
        </p:spPr>
      </p:sp>
      <p:sp>
        <p:nvSpPr>
          <p:cNvPr id="12" name="Text 9"/>
          <p:cNvSpPr txBox="1"/>
          <p:nvPr/>
        </p:nvSpPr>
        <p:spPr>
          <a:xfrm>
            <a:off x="548640" y="3529584"/>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a:t>
            </a:r>
            <a:endParaRPr lang="en-US" sz="1500" dirty="0"/>
          </a:p>
        </p:txBody>
      </p:sp>
      <p:sp>
        <p:nvSpPr>
          <p:cNvPr id="13" name="Row text"/>
          <p:cNvSpPr txBox="1"/>
          <p:nvPr/>
        </p:nvSpPr>
        <p:spPr>
          <a:xfrm>
            <a:off x="1325880" y="3483864"/>
            <a:ext cx="10317175" cy="841248"/>
          </a:xfrm>
          <a:prstGeom prst="rect">
            <a:avLst/>
          </a:prstGeom>
          <a:noFill/>
          <a:ln/>
        </p:spPr>
        <p:txBody>
          <a:bodyPr wrap="square" lIns="0" tIns="0" rIns="0" bIns="0" rtlCol="0" anchor="ctr"/>
          <a:lstStyle/>
          <a:p>
            <a:pPr indent="0" marL="0">
              <a:buNone/>
            </a:pPr>
            <a:r>
              <a:rPr lang="en-US" sz="1500" dirty="0">
                <a:solidFill>
                  <a:schemeClr val="tx1"/>
                </a:solidFill>
              </a:rPr>
              <a:t>Duality turns commitments into prices: any price list gives a ceiling on value, and under Slater's condition the best price list closes the gap, so a plan and its prices certify each other.</a:t>
            </a:r>
            <a:endParaRPr lang="en-US" sz="1500" dirty="0"/>
          </a:p>
        </p:txBody>
      </p:sp>
      <p:sp>
        <p:nvSpPr>
          <p:cNvPr id="14" name="Number"/>
          <p:cNvSpPr/>
          <p:nvPr/>
        </p:nvSpPr>
        <p:spPr>
          <a:xfrm>
            <a:off x="548640" y="4425696"/>
            <a:ext cx="566928" cy="566928"/>
          </a:xfrm>
          <a:prstGeom prst="ellipse">
            <a:avLst/>
          </a:prstGeom>
          <a:solidFill>
            <a:schemeClr val="accent1"/>
          </a:solidFill>
          <a:ln w="6350">
            <a:solidFill>
              <a:schemeClr val="accent1"/>
            </a:solidFill>
            <a:prstDash val="solid"/>
          </a:ln>
        </p:spPr>
      </p:sp>
      <p:sp>
        <p:nvSpPr>
          <p:cNvPr id="15" name="Text 12"/>
          <p:cNvSpPr txBox="1"/>
          <p:nvPr/>
        </p:nvSpPr>
        <p:spPr>
          <a:xfrm>
            <a:off x="548640" y="4425696"/>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4</a:t>
            </a:r>
            <a:endParaRPr lang="en-US" sz="1500" dirty="0"/>
          </a:p>
        </p:txBody>
      </p:sp>
      <p:sp>
        <p:nvSpPr>
          <p:cNvPr id="16" name="Row text"/>
          <p:cNvSpPr txBox="1"/>
          <p:nvPr/>
        </p:nvSpPr>
        <p:spPr>
          <a:xfrm>
            <a:off x="1325880" y="4379976"/>
            <a:ext cx="10317175" cy="841248"/>
          </a:xfrm>
          <a:prstGeom prst="rect">
            <a:avLst/>
          </a:prstGeom>
          <a:noFill/>
          <a:ln/>
        </p:spPr>
        <p:txBody>
          <a:bodyPr wrap="square" lIns="0" tIns="0" rIns="0" bIns="0" rtlCol="0" anchor="ctr"/>
          <a:lstStyle/>
          <a:p>
            <a:pPr indent="0" marL="0">
              <a:buNone/>
            </a:pPr>
            <a:r>
              <a:rPr lang="en-US" sz="1500" dirty="0">
                <a:solidFill>
                  <a:schemeClr val="tx1"/>
                </a:solidFill>
              </a:rPr>
              <a:t>The KKT conditions are both the audit protocol and the economics of the answer: only binding commitments carry prices, margins are equal at the best allocation, and a price bounds what relaxing its commitment can gain, with a range at a kink.</a:t>
            </a:r>
            <a:endParaRPr lang="en-US" sz="1500" dirty="0"/>
          </a:p>
        </p:txBody>
      </p:sp>
      <p:sp>
        <p:nvSpPr>
          <p:cNvPr id="17" name="Number"/>
          <p:cNvSpPr/>
          <p:nvPr/>
        </p:nvSpPr>
        <p:spPr>
          <a:xfrm>
            <a:off x="548640" y="5321808"/>
            <a:ext cx="566928" cy="566928"/>
          </a:xfrm>
          <a:prstGeom prst="ellipse">
            <a:avLst/>
          </a:prstGeom>
          <a:solidFill>
            <a:schemeClr val="accent1"/>
          </a:solidFill>
          <a:ln w="6350">
            <a:solidFill>
              <a:schemeClr val="accent1"/>
            </a:solidFill>
            <a:prstDash val="solid"/>
          </a:ln>
        </p:spPr>
      </p:sp>
      <p:sp>
        <p:nvSpPr>
          <p:cNvPr id="18" name="Text 15"/>
          <p:cNvSpPr txBox="1"/>
          <p:nvPr/>
        </p:nvSpPr>
        <p:spPr>
          <a:xfrm>
            <a:off x="548640" y="5321808"/>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5</a:t>
            </a:r>
            <a:endParaRPr lang="en-US" sz="1500" dirty="0"/>
          </a:p>
        </p:txBody>
      </p:sp>
      <p:sp>
        <p:nvSpPr>
          <p:cNvPr id="19" name="Row text"/>
          <p:cNvSpPr txBox="1"/>
          <p:nvPr/>
        </p:nvSpPr>
        <p:spPr>
          <a:xfrm>
            <a:off x="1325880" y="5276088"/>
            <a:ext cx="10317175" cy="841248"/>
          </a:xfrm>
          <a:prstGeom prst="rect">
            <a:avLst/>
          </a:prstGeom>
          <a:noFill/>
          <a:ln/>
        </p:spPr>
        <p:txBody>
          <a:bodyPr wrap="square" lIns="0" tIns="0" rIns="0" bIns="0" rtlCol="0" anchor="ctr"/>
          <a:lstStyle/>
          <a:p>
            <a:pPr indent="0" marL="0">
              <a:buNone/>
            </a:pPr>
            <a:r>
              <a:rPr lang="en-US" sz="1500" dirty="0">
                <a:solidFill>
                  <a:schemeClr val="tx1"/>
                </a:solidFill>
              </a:rPr>
              <a:t>Tiers, worst cases, ratio targets, and Gaussian chance commitments rewrite exactly into convex form; what cannot be rewritten is quarantined and relaxed, and the relaxation bounds every lumpy plan—Meridian's three-round plan lies within $7.1 million of anything achievable.</a:t>
            </a:r>
            <a:endParaRPr lang="en-US" sz="15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THIS WEEK'S LABORATORY</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Notebook and workbook reproduce the book</a:t>
            </a:r>
            <a:endParaRPr lang="en-US" sz="3200" dirty="0"/>
          </a:p>
        </p:txBody>
      </p:sp>
      <p:sp>
        <p:nvSpPr>
          <p:cNvPr id="5" name="Stat card"/>
          <p:cNvSpPr/>
          <p:nvPr/>
        </p:nvSpPr>
        <p:spPr>
          <a:xfrm>
            <a:off x="548640" y="1691640"/>
            <a:ext cx="2567864" cy="1691640"/>
          </a:xfrm>
          <a:prstGeom prst="roundRect">
            <a:avLst>
              <a:gd name="adj" fmla="val 4324"/>
            </a:avLst>
          </a:prstGeom>
          <a:solidFill>
            <a:schemeClr val="tx1"/>
          </a:solidFill>
          <a:ln w="9525">
            <a:solidFill>
              <a:srgbClr val="0F1E3D"/>
            </a:solidFill>
            <a:prstDash val="solid"/>
          </a:ln>
        </p:spPr>
      </p:sp>
      <p:sp>
        <p:nvSpPr>
          <p:cNvPr id="6" name="Stat value"/>
          <p:cNvSpPr txBox="1"/>
          <p:nvPr/>
        </p:nvSpPr>
        <p:spPr>
          <a:xfrm>
            <a:off x="685800" y="1801368"/>
            <a:ext cx="2293544" cy="914400"/>
          </a:xfrm>
          <a:prstGeom prst="rect">
            <a:avLst/>
          </a:prstGeom>
          <a:noFill/>
          <a:ln/>
        </p:spPr>
        <p:txBody>
          <a:bodyPr wrap="square" lIns="0" tIns="0" rIns="0" bIns="0" rtlCol="0" anchor="ctr"/>
          <a:lstStyle/>
          <a:p>
            <a:pPr algn="ctr" indent="0" marL="0">
              <a:buNone/>
            </a:pPr>
            <a:r>
              <a:rPr lang="en-US" sz="4400" b="1" dirty="0">
                <a:solidFill>
                  <a:schemeClr val="accent1"/>
                </a:solidFill>
                <a:latin typeface="Cambria" pitchFamily="34" charset="0"/>
                <a:ea typeface="Cambria" pitchFamily="34" charset="-122"/>
                <a:cs typeface="Cambria" pitchFamily="34" charset="-120"/>
              </a:rPr>
              <a:t>91</a:t>
            </a:r>
            <a:endParaRPr lang="en-US" sz="4400" dirty="0"/>
          </a:p>
        </p:txBody>
      </p:sp>
      <p:sp>
        <p:nvSpPr>
          <p:cNvPr id="7" name="Stat label"/>
          <p:cNvSpPr txBox="1"/>
          <p:nvPr/>
        </p:nvSpPr>
        <p:spPr>
          <a:xfrm>
            <a:off x="685800" y="2697480"/>
            <a:ext cx="2293544" cy="612648"/>
          </a:xfrm>
          <a:prstGeom prst="rect">
            <a:avLst/>
          </a:prstGeom>
          <a:noFill/>
          <a:ln/>
        </p:spPr>
        <p:txBody>
          <a:bodyPr wrap="square" lIns="0" tIns="0" rIns="0" bIns="0" rtlCol="0" anchor="t"/>
          <a:lstStyle/>
          <a:p>
            <a:pPr algn="ctr" indent="0" marL="0">
              <a:buNone/>
            </a:pPr>
            <a:r>
              <a:rPr lang="en-US" sz="1400" dirty="0">
                <a:solidFill>
                  <a:schemeClr val="bg2"/>
                </a:solidFill>
              </a:rPr>
              <a:t>notebook checkpoints, every one PASS</a:t>
            </a:r>
            <a:endParaRPr lang="en-US" sz="1400" dirty="0"/>
          </a:p>
        </p:txBody>
      </p:sp>
      <p:sp>
        <p:nvSpPr>
          <p:cNvPr id="8" name="Stat card"/>
          <p:cNvSpPr/>
          <p:nvPr/>
        </p:nvSpPr>
        <p:spPr>
          <a:xfrm>
            <a:off x="3390824" y="1691640"/>
            <a:ext cx="2567864" cy="1691640"/>
          </a:xfrm>
          <a:prstGeom prst="roundRect">
            <a:avLst>
              <a:gd name="adj" fmla="val 4324"/>
            </a:avLst>
          </a:prstGeom>
          <a:solidFill>
            <a:schemeClr val="bg2"/>
          </a:solidFill>
          <a:ln w="9525">
            <a:solidFill>
              <a:srgbClr val="C4CBD8"/>
            </a:solidFill>
            <a:prstDash val="solid"/>
          </a:ln>
        </p:spPr>
      </p:sp>
      <p:sp>
        <p:nvSpPr>
          <p:cNvPr id="9" name="Stat value"/>
          <p:cNvSpPr txBox="1"/>
          <p:nvPr/>
        </p:nvSpPr>
        <p:spPr>
          <a:xfrm>
            <a:off x="3527984" y="1801368"/>
            <a:ext cx="2293544"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101</a:t>
            </a:r>
            <a:endParaRPr lang="en-US" sz="4400" dirty="0"/>
          </a:p>
        </p:txBody>
      </p:sp>
      <p:sp>
        <p:nvSpPr>
          <p:cNvPr id="10" name="Stat label"/>
          <p:cNvSpPr txBox="1"/>
          <p:nvPr/>
        </p:nvSpPr>
        <p:spPr>
          <a:xfrm>
            <a:off x="3527984"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workbook checks against the engine, ALL PASS</a:t>
            </a:r>
            <a:endParaRPr lang="en-US" sz="1400" dirty="0"/>
          </a:p>
        </p:txBody>
      </p:sp>
      <p:sp>
        <p:nvSpPr>
          <p:cNvPr id="11" name="Stat card"/>
          <p:cNvSpPr/>
          <p:nvPr/>
        </p:nvSpPr>
        <p:spPr>
          <a:xfrm>
            <a:off x="6233008" y="1691640"/>
            <a:ext cx="2567864" cy="1691640"/>
          </a:xfrm>
          <a:prstGeom prst="roundRect">
            <a:avLst>
              <a:gd name="adj" fmla="val 4324"/>
            </a:avLst>
          </a:prstGeom>
          <a:solidFill>
            <a:schemeClr val="bg2"/>
          </a:solidFill>
          <a:ln w="9525">
            <a:solidFill>
              <a:srgbClr val="C4CBD8"/>
            </a:solidFill>
            <a:prstDash val="solid"/>
          </a:ln>
        </p:spPr>
      </p:sp>
      <p:sp>
        <p:nvSpPr>
          <p:cNvPr id="12" name="Stat value"/>
          <p:cNvSpPr txBox="1"/>
          <p:nvPr/>
        </p:nvSpPr>
        <p:spPr>
          <a:xfrm>
            <a:off x="6370168" y="1801368"/>
            <a:ext cx="2293544"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26203</a:t>
            </a:r>
            <a:endParaRPr lang="en-US" sz="4400" dirty="0"/>
          </a:p>
        </p:txBody>
      </p:sp>
      <p:sp>
        <p:nvSpPr>
          <p:cNvPr id="13" name="Stat label"/>
          <p:cNvSpPr txBox="1"/>
          <p:nvPr/>
        </p:nvSpPr>
        <p:spPr>
          <a:xfrm>
            <a:off x="6370168"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the lab's seed</a:t>
            </a:r>
            <a:endParaRPr lang="en-US" sz="1400" dirty="0"/>
          </a:p>
        </p:txBody>
      </p:sp>
      <p:sp>
        <p:nvSpPr>
          <p:cNvPr id="14" name="Stat card"/>
          <p:cNvSpPr/>
          <p:nvPr/>
        </p:nvSpPr>
        <p:spPr>
          <a:xfrm>
            <a:off x="9075191" y="1691640"/>
            <a:ext cx="2567864" cy="1691640"/>
          </a:xfrm>
          <a:prstGeom prst="roundRect">
            <a:avLst>
              <a:gd name="adj" fmla="val 4324"/>
            </a:avLst>
          </a:prstGeom>
          <a:solidFill>
            <a:schemeClr val="bg2"/>
          </a:solidFill>
          <a:ln w="9525">
            <a:solidFill>
              <a:srgbClr val="C4CBD8"/>
            </a:solidFill>
            <a:prstDash val="solid"/>
          </a:ln>
        </p:spPr>
      </p:sp>
      <p:sp>
        <p:nvSpPr>
          <p:cNvPr id="15" name="Stat value"/>
          <p:cNvSpPr txBox="1"/>
          <p:nvPr/>
        </p:nvSpPr>
        <p:spPr>
          <a:xfrm>
            <a:off x="9212351" y="1801368"/>
            <a:ext cx="2293544" cy="91440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AXIOM-03</a:t>
            </a:r>
            <a:endParaRPr lang="en-US" sz="3000" dirty="0"/>
          </a:p>
        </p:txBody>
      </p:sp>
      <p:sp>
        <p:nvSpPr>
          <p:cNvPr id="16" name="Stat label"/>
          <p:cNvSpPr txBox="1"/>
          <p:nvPr/>
        </p:nvSpPr>
        <p:spPr>
          <a:xfrm>
            <a:off x="9212351"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AXIOM Lab 2.3</a:t>
            </a:r>
            <a:endParaRPr lang="en-US" sz="1400" dirty="0"/>
          </a:p>
        </p:txBody>
      </p:sp>
      <p:sp>
        <p:nvSpPr>
          <p:cNvPr id="17" name="Bullets"/>
          <p:cNvSpPr txBox="1"/>
          <p:nvPr/>
        </p:nvSpPr>
        <p:spPr>
          <a:xfrm>
            <a:off x="548640" y="3703320"/>
            <a:ext cx="11094415" cy="2468880"/>
          </a:xfrm>
          <a:prstGeom prst="rect">
            <a:avLst/>
          </a:prstGeom>
          <a:noFill/>
          <a:ln/>
        </p:spPr>
        <p:txBody>
          <a:bodyPr wrap="square" lIns="635" tIns="635" rIns="635" bIns="635" rtlCol="0" anchor="t"/>
          <a:lstStyle/>
          <a:p>
            <a:pPr marL="228600" indent="-228600">
              <a:spcAft>
                <a:spcPts val="800"/>
              </a:spcAft>
              <a:buSzPct val="100000"/>
              <a:buChar char="•"/>
            </a:pPr>
            <a:r>
              <a:rPr lang="en-US" sz="1700" b="1" dirty="0">
                <a:solidFill>
                  <a:schemeClr val="tx1"/>
                </a:solidFill>
              </a:rPr>
              <a:t>Notebook</a:t>
            </a:r>
            <a:r>
              <a:rPr lang="en-US" sz="1700" dirty="0">
                <a:solidFill>
                  <a:schemeClr val="tx1"/>
                </a:solidFill>
              </a:rPr>
              <a:t> DCT_V2_Ch03_Lab.ipynb: Worked Example 3.1 and the lab's five steps in seven panels, with an interior-point method written out in numpy, ready for Colab</a:t>
            </a:r>
            <a:endParaRPr lang="en-US" sz="1700" dirty="0"/>
          </a:p>
          <a:p>
            <a:pPr marL="228600" indent="-228600">
              <a:spcAft>
                <a:spcPts val="800"/>
              </a:spcAft>
              <a:buSzPct val="100000"/>
              <a:buChar char="•"/>
            </a:pPr>
            <a:r>
              <a:rPr lang="en-US" sz="1700" b="1" dirty="0">
                <a:solidFill>
                  <a:schemeClr val="tx1"/>
                </a:solidFill>
              </a:rPr>
              <a:t>Workbook</a:t>
            </a:r>
            <a:r>
              <a:rPr lang="en-US" sz="1700" dirty="0">
                <a:solidFill>
                  <a:schemeClr val="tx1"/>
                </a:solidFill>
              </a:rPr>
              <a:t> DCT_V2_Ch03_Lab.xlsx: the 64 lumpy plans, the closed form with its prices and KKT residuals, Table 3.5 and the capital cap, in formulas</a:t>
            </a:r>
            <a:endParaRPr lang="en-US" sz="1700" dirty="0"/>
          </a:p>
          <a:p>
            <a:pPr marL="228600" indent="-228600">
              <a:spcAft>
                <a:spcPts val="800"/>
              </a:spcAft>
              <a:buSzPct val="100000"/>
              <a:buChar char="•"/>
            </a:pPr>
            <a:r>
              <a:rPr lang="en-US" sz="1700" dirty="0">
                <a:solidFill>
                  <a:schemeClr val="tx1"/>
                </a:solidFill>
              </a:rPr>
              <a:t>Every number on these slides is the book's, and both companions check it</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NEXT · CHAPTER 4</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Chapter 4 goes beyond convexity</a:t>
            </a:r>
            <a:endParaRPr lang="en-US" sz="3200" dirty="0"/>
          </a:p>
        </p:txBody>
      </p:sp>
      <p:pic>
        <p:nvPicPr>
          <p:cNvPr id="5" name="Equation" descr="Equation: \max_{\mathbf{u} \in \mathbb{R}^{n}} \; J(\mathbf{u}) \quad \text{subject to} \quad g_i(\mathbf{u}) \le 0, \quad h_j(\mathbf{u}) = 0, \quad u_k \ \text{integer} \ (k \in I)">    </p:cNvPr>
          <p:cNvPicPr>
            <a:picLocks noChangeAspect="1"/>
          </p:cNvPicPr>
          <p:nvPr/>
        </p:nvPicPr>
        <p:blipFill>
          <a:blip r:embed="rId1"/>
          <a:stretch>
            <a:fillRect/>
          </a:stretch>
        </p:blipFill>
        <p:spPr>
          <a:xfrm>
            <a:off x="1621142" y="1691640"/>
            <a:ext cx="8949411" cy="640080"/>
          </a:xfrm>
          <a:prstGeom prst="rect">
            <a:avLst/>
          </a:prstGeom>
        </p:spPr>
      </p:pic>
      <p:sp>
        <p:nvSpPr>
          <p:cNvPr id="6" name="Bullets"/>
          <p:cNvSpPr txBox="1"/>
          <p:nvPr/>
        </p:nvSpPr>
        <p:spPr>
          <a:xfrm>
            <a:off x="548640" y="2651760"/>
            <a:ext cx="11094415" cy="3520440"/>
          </a:xfrm>
          <a:prstGeom prst="rect">
            <a:avLst/>
          </a:prstGeom>
          <a:noFill/>
          <a:ln/>
        </p:spPr>
        <p:txBody>
          <a:bodyPr wrap="square" lIns="635" tIns="635" rIns="635" bIns="635" rtlCol="0" anchor="t"/>
          <a:lstStyle/>
          <a:p>
            <a:pPr marL="228600" indent="-228600">
              <a:spcAft>
                <a:spcPts val="800"/>
              </a:spcAft>
              <a:buSzPct val="100000"/>
              <a:buChar char="•"/>
            </a:pPr>
            <a:r>
              <a:rPr lang="en-US" sz="1800" dirty="0">
                <a:solidFill>
                  <a:schemeClr val="bg1"/>
                </a:solidFill>
              </a:rPr>
              <a:t>Beyond convexity optimization keeps its questions and loses its guarantees: local peaks, candidates rather than answers, prices that hold only nearby</a:t>
            </a:r>
            <a:endParaRPr lang="en-US" sz="1800" dirty="0"/>
          </a:p>
          <a:p>
            <a:pPr marL="228600" indent="-228600">
              <a:spcAft>
                <a:spcPts val="800"/>
              </a:spcAft>
              <a:buSzPct val="100000"/>
              <a:buChar char="•"/>
            </a:pPr>
            <a:r>
              <a:rPr lang="en-US" sz="1800" dirty="0">
                <a:solidFill>
                  <a:schemeClr val="bg1"/>
                </a:solidFill>
              </a:rPr>
              <a:t>Branch-and-bound carries a certified gap at every stage; cutting planes and decomposition handle instances lumpy outside and convex inside</a:t>
            </a:r>
            <a:endParaRPr lang="en-US" sz="1800" dirty="0"/>
          </a:p>
          <a:p>
            <a:pPr marL="228600" indent="-228600">
              <a:spcAft>
                <a:spcPts val="800"/>
              </a:spcAft>
              <a:buSzPct val="100000"/>
              <a:buChar char="•"/>
            </a:pPr>
            <a:r>
              <a:rPr lang="en-US" sz="1800" dirty="0">
                <a:solidFill>
                  <a:schemeClr val="bg1"/>
                </a:solidFill>
              </a:rPr>
              <a:t>Its Worked Example lets Meridian automate part of a plant line: this chapter's relaxation puts the best plan within $1.01m of anything achievable</a:t>
            </a:r>
            <a:endParaRPr lang="en-US" sz="18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24</a:t>
            </a:fld>
            <a:endParaRPr lang="en-US"/>
          </a:p>
        </p:txBody>
      </p:sp>
    </p:spTree>
  </p:cSld>
  <p:clrMapOvr>
    <a:masterClrMapping/>
  </p:clrMapOvr>
</p:sld>
</file>

<file path=ppt/theme/theme1.xml><?xml version="1.0" encoding="utf-8"?>
<a:theme xmlns:a="http://schemas.openxmlformats.org/drawingml/2006/main" name="Dynamic Corporate Transformation">
  <a:themeElements>
    <a:clrScheme name="Dynamic Corporate Transformation">
      <a:dk1>
        <a:srgbClr val="0F1E3D"/>
      </a:dk1>
      <a:lt1>
        <a:srgbClr val="FFFFFF"/>
      </a:lt1>
      <a:dk2>
        <a:srgbClr val="5A6B82"/>
      </a:dk2>
      <a:lt2>
        <a:srgbClr val="F7F4ED"/>
      </a:lt2>
      <a:accent1>
        <a:srgbClr val="B4884A"/>
      </a:accent1>
      <a:accent2>
        <a:srgbClr val="2F6F6B"/>
      </a:accent2>
      <a:accent3>
        <a:srgbClr val="8A6A33"/>
      </a:accent3>
      <a:accent4>
        <a:srgbClr val="C4CBD8"/>
      </a:accent4>
      <a:accent5>
        <a:srgbClr val="1F4FD8"/>
      </a:accent5>
      <a:accent6>
        <a:srgbClr val="16263F"/>
      </a:accent6>
      <a:hlink>
        <a:srgbClr val="1F4FD8"/>
      </a:hlink>
      <a:folHlink>
        <a:srgbClr val="5A6B82"/>
      </a:folHlink>
    </a:clrScheme>
    <a:fontScheme name="Dynamic Corporate Transformat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Dynamic Corporate Transformation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Dynamic Corporate Transformation, Volume II, Chapter 3: Convex Enterprise Optimization</dc:title>
  <dc:subject>Slides for Volume II, Chapter 3 (V56)</dc:subject>
  <dc:creator>Samir Asaf</dc:creator>
  <cp:lastModifiedBy>Samir Asaf</cp:lastModifiedBy>
  <cp:revision>1</cp:revision>
  <dcterms:created xsi:type="dcterms:W3CDTF">2026-10-05T09:20:50Z</dcterms:created>
  <dcterms:modified xsi:type="dcterms:W3CDTF">2026-10-05T09:20:50Z</dcterms:modified>
</cp:coreProperties>
</file>