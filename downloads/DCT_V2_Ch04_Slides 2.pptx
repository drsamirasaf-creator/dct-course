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3D2E"/>
                </a:solidFill>
                <a:latin typeface="Georgia"/>
              </a:defRPr>
            </a:pPr>
            <a:r>
              <a:rPr sz="1250" b="0" i="0" u="none" strike="noStrike">
                <a:solidFill>
                  <a:srgbClr val="0B3D2E"/>
                </a:solidFill>
                <a:latin typeface="Georgia"/>
              </a:rPr>
              <a:t>Global at −2.1 (f = −2.13); trap at +1.9 (f = +9.85) — seed 26204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 = x⁴ − 8x² + 3x + 20</c:v>
                </c:pt>
              </c:strCache>
            </c:strRef>
          </c:tx>
          <c:spPr>
            <a:solidFill>
              <a:srgbClr val="1B6B52"/>
            </a:solidFill>
            <a:ln w="33020" cap="flat">
              <a:solidFill>
                <a:srgbClr val="1B6B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6B52"/>
              </a:solidFill>
              <a:ln w="9525" cap="flat">
                <a:solidFill>
                  <a:srgbClr val="1B6B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Sheet1!$A$2:$A$62</c:f>
              <c:multiLvlStrCache>
                <c:ptCount val="61"/>
                <c:lvl>
                  <c:pt idx="0">
                    <c:v>-3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-2.5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-2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-1.5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-1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-0.5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0.5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1.5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>2.5</c:v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3</c:v>
                  </c:pt>
                </c:lvl>
              </c:multiLvlStrCache>
            </c:multiLvl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20</c:v>
                </c:pt>
                <c:pt idx="1">
                  <c:v>14.7481</c:v>
                </c:pt>
                <c:pt idx="2">
                  <c:v>10.3456</c:v>
                </c:pt>
                <c:pt idx="3">
                  <c:v>6.7241</c:v>
                </c:pt>
                <c:pt idx="4">
                  <c:v>3.8176</c:v>
                </c:pt>
                <c:pt idx="5">
                  <c:v>1.5625</c:v>
                </c:pt>
                <c:pt idx="6">
                  <c:v>-0.1024</c:v>
                </c:pt>
                <c:pt idx="7">
                  <c:v>-1.2359</c:v>
                </c:pt>
                <c:pt idx="8">
                  <c:v>-1.8944</c:v>
                </c:pt>
                <c:pt idx="9">
                  <c:v>-2.1319</c:v>
                </c:pt>
                <c:pt idx="10">
                  <c:v>-2</c:v>
                </c:pt>
                <c:pt idx="11">
                  <c:v>-1.5479</c:v>
                </c:pt>
                <c:pt idx="12">
                  <c:v>-0.8224</c:v>
                </c:pt>
                <c:pt idx="13">
                  <c:v>0.1321</c:v>
                </c:pt>
                <c:pt idx="14">
                  <c:v>1.2736</c:v>
                </c:pt>
                <c:pt idx="15">
                  <c:v>2.5625</c:v>
                </c:pt>
                <c:pt idx="16">
                  <c:v>3.9616</c:v>
                </c:pt>
                <c:pt idx="17">
                  <c:v>5.4361</c:v>
                </c:pt>
                <c:pt idx="18">
                  <c:v>6.9536</c:v>
                </c:pt>
                <c:pt idx="19">
                  <c:v>8.4841</c:v>
                </c:pt>
                <c:pt idx="20">
                  <c:v>10</c:v>
                </c:pt>
                <c:pt idx="21">
                  <c:v>11.4761</c:v>
                </c:pt>
                <c:pt idx="22">
                  <c:v>12.8896</c:v>
                </c:pt>
                <c:pt idx="23">
                  <c:v>14.2201</c:v>
                </c:pt>
                <c:pt idx="24">
                  <c:v>15.4496</c:v>
                </c:pt>
                <c:pt idx="25">
                  <c:v>16.5625</c:v>
                </c:pt>
                <c:pt idx="26">
                  <c:v>17.5456</c:v>
                </c:pt>
                <c:pt idx="27">
                  <c:v>18.3881</c:v>
                </c:pt>
                <c:pt idx="28">
                  <c:v>19.0816</c:v>
                </c:pt>
                <c:pt idx="29">
                  <c:v>19.6201</c:v>
                </c:pt>
                <c:pt idx="30">
                  <c:v>20</c:v>
                </c:pt>
                <c:pt idx="31">
                  <c:v>20.2201</c:v>
                </c:pt>
                <c:pt idx="32">
                  <c:v>20.2816</c:v>
                </c:pt>
                <c:pt idx="33">
                  <c:v>20.1881</c:v>
                </c:pt>
                <c:pt idx="34">
                  <c:v>19.9456</c:v>
                </c:pt>
                <c:pt idx="35">
                  <c:v>19.5625</c:v>
                </c:pt>
                <c:pt idx="36">
                  <c:v>19.0496</c:v>
                </c:pt>
                <c:pt idx="37">
                  <c:v>18.4201</c:v>
                </c:pt>
                <c:pt idx="38">
                  <c:v>17.6896</c:v>
                </c:pt>
                <c:pt idx="39">
                  <c:v>16.8761</c:v>
                </c:pt>
                <c:pt idx="40">
                  <c:v>16</c:v>
                </c:pt>
                <c:pt idx="41">
                  <c:v>15.0841</c:v>
                </c:pt>
                <c:pt idx="42">
                  <c:v>14.1536</c:v>
                </c:pt>
                <c:pt idx="43">
                  <c:v>13.2361</c:v>
                </c:pt>
                <c:pt idx="44">
                  <c:v>12.3616</c:v>
                </c:pt>
                <c:pt idx="45">
                  <c:v>11.5625</c:v>
                </c:pt>
                <c:pt idx="46">
                  <c:v>10.8736</c:v>
                </c:pt>
                <c:pt idx="47">
                  <c:v>10.3321</c:v>
                </c:pt>
                <c:pt idx="48">
                  <c:v>9.9776</c:v>
                </c:pt>
                <c:pt idx="49">
                  <c:v>9.8521</c:v>
                </c:pt>
                <c:pt idx="50">
                  <c:v>10</c:v>
                </c:pt>
                <c:pt idx="51">
                  <c:v>10.4681</c:v>
                </c:pt>
                <c:pt idx="52">
                  <c:v>11.3056</c:v>
                </c:pt>
                <c:pt idx="53">
                  <c:v>12.5641</c:v>
                </c:pt>
                <c:pt idx="54">
                  <c:v>14.2976</c:v>
                </c:pt>
                <c:pt idx="55">
                  <c:v>16.5625</c:v>
                </c:pt>
                <c:pt idx="56">
                  <c:v>19.4176</c:v>
                </c:pt>
                <c:pt idx="57">
                  <c:v>22.9241</c:v>
                </c:pt>
                <c:pt idx="58">
                  <c:v>27.1456</c:v>
                </c:pt>
                <c:pt idx="59">
                  <c:v>32.1481</c:v>
                </c:pt>
                <c:pt idx="60">
                  <c:v>38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3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f(x)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3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3D2E"/>
                </a:solidFill>
                <a:latin typeface="Georgia"/>
              </a:defRPr>
            </a:pPr>
            <a:r>
              <a:rPr sz="1250" b="0" i="0" u="none" strike="noStrike">
                <a:solidFill>
                  <a:srgbClr val="0B3D2E"/>
                </a:solidFill>
                <a:latin typeface="Georgia"/>
              </a:rPr>
              <a:t>Value falls as the wall recedes — slope at c = 2 is −λ* = −1 (seed 26204)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optimal value f*(c)</c:v>
                </c:pt>
              </c:strCache>
            </c:strRef>
          </c:tx>
          <c:spPr>
            <a:solidFill>
              <a:srgbClr val="C8A24B"/>
            </a:solidFill>
            <a:ln w="33020" cap="flat">
              <a:solidFill>
                <a:srgbClr val="C8A2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A24B"/>
              </a:solidFill>
              <a:ln w="9525" cap="flat">
                <a:solidFill>
                  <a:srgbClr val="C8A2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>1.3</c:v>
                  </c:pt>
                  <c:pt idx="4">
                    <c:v/>
                  </c:pt>
                  <c:pt idx="5">
                    <c:v/>
                  </c:pt>
                  <c:pt idx="6">
                    <c:v>1.6</c:v>
                  </c:pt>
                  <c:pt idx="7">
                    <c:v/>
                  </c:pt>
                  <c:pt idx="8">
                    <c:v/>
                  </c:pt>
                  <c:pt idx="9">
                    <c:v>1.9</c:v>
                  </c:pt>
                  <c:pt idx="10">
                    <c:v/>
                  </c:pt>
                  <c:pt idx="11">
                    <c:v/>
                  </c:pt>
                  <c:pt idx="12">
                    <c:v>2.2</c:v>
                  </c:pt>
                  <c:pt idx="13">
                    <c:v/>
                  </c:pt>
                  <c:pt idx="14">
                    <c:v/>
                  </c:pt>
                  <c:pt idx="15">
                    <c:v>2.5</c:v>
                  </c:pt>
                  <c:pt idx="16">
                    <c:v/>
                  </c:pt>
                  <c:pt idx="17">
                    <c:v/>
                  </c:pt>
                  <c:pt idx="18">
                    <c:v>2.8</c:v>
                  </c:pt>
                  <c:pt idx="19">
                    <c:v/>
                  </c:pt>
                  <c:pt idx="20">
                    <c:v/>
                  </c:pt>
                  <c:pt idx="21">
                    <c:v>3.1</c:v>
                  </c:pt>
                  <c:pt idx="22">
                    <c:v/>
                  </c:pt>
                  <c:pt idx="23">
                    <c:v/>
                  </c:pt>
                  <c:pt idx="24">
                    <c:v>3.4</c:v>
                  </c:pt>
                  <c:pt idx="25">
                    <c:v/>
                  </c:pt>
                  <c:pt idx="26">
                    <c:v/>
                  </c:pt>
                  <c:pt idx="27">
                    <c:v>3.7</c:v>
                  </c:pt>
                  <c:pt idx="28">
                    <c:v/>
                  </c:pt>
                  <c:pt idx="29">
                    <c:v/>
                  </c:pt>
                  <c:pt idx="30">
                    <c:v>4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3.3431</c:v>
                </c:pt>
                <c:pt idx="1">
                  <c:v>3.167</c:v>
                </c:pt>
                <c:pt idx="2">
                  <c:v>3.0032</c:v>
                </c:pt>
                <c:pt idx="3">
                  <c:v>2.8502</c:v>
                </c:pt>
                <c:pt idx="4">
                  <c:v>2.7067</c:v>
                </c:pt>
                <c:pt idx="5">
                  <c:v>2.5718</c:v>
                </c:pt>
                <c:pt idx="6">
                  <c:v>2.4446</c:v>
                </c:pt>
                <c:pt idx="7">
                  <c:v>2.3244</c:v>
                </c:pt>
                <c:pt idx="8">
                  <c:v>2.2105</c:v>
                </c:pt>
                <c:pt idx="9">
                  <c:v>2.1026</c:v>
                </c:pt>
                <c:pt idx="10">
                  <c:v>2</c:v>
                </c:pt>
                <c:pt idx="11">
                  <c:v>1.9024</c:v>
                </c:pt>
                <c:pt idx="12">
                  <c:v>1.8095</c:v>
                </c:pt>
                <c:pt idx="13">
                  <c:v>1.721</c:v>
                </c:pt>
                <c:pt idx="14">
                  <c:v>1.6364</c:v>
                </c:pt>
                <c:pt idx="15">
                  <c:v>1.5557</c:v>
                </c:pt>
                <c:pt idx="16">
                  <c:v>1.4786</c:v>
                </c:pt>
                <c:pt idx="17">
                  <c:v>1.4048</c:v>
                </c:pt>
                <c:pt idx="18">
                  <c:v>1.3343</c:v>
                </c:pt>
                <c:pt idx="19">
                  <c:v>1.2667</c:v>
                </c:pt>
                <c:pt idx="20">
                  <c:v>1.202</c:v>
                </c:pt>
                <c:pt idx="21">
                  <c:v>1.1401</c:v>
                </c:pt>
                <c:pt idx="22">
                  <c:v>1.0807</c:v>
                </c:pt>
                <c:pt idx="23">
                  <c:v>1.0238</c:v>
                </c:pt>
                <c:pt idx="24">
                  <c:v>0.9693</c:v>
                </c:pt>
                <c:pt idx="25">
                  <c:v>0.917</c:v>
                </c:pt>
                <c:pt idx="26">
                  <c:v>0.8669</c:v>
                </c:pt>
                <c:pt idx="27">
                  <c:v>0.8188</c:v>
                </c:pt>
                <c:pt idx="28">
                  <c:v>0.7728</c:v>
                </c:pt>
                <c:pt idx="29">
                  <c:v>0.7286</c:v>
                </c:pt>
                <c:pt idx="30">
                  <c:v>0.6863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capacity 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3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f*(c)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3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7091172" y="2251710"/>
            <a:ext cx="4837176" cy="2628900"/>
          </a:xfrm>
          <a:prstGeom prst="ellipse">
            <a:avLst/>
          </a:prstGeom>
          <a:ln w="11430">
            <a:solidFill>
              <a:srgbClr val="1B6B52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900000">
            <a:off x="7722108" y="2598725"/>
            <a:ext cx="3575304" cy="1934870"/>
          </a:xfrm>
          <a:prstGeom prst="ellipse">
            <a:avLst/>
          </a:prstGeom>
          <a:ln w="11430">
            <a:solidFill>
              <a:srgbClr val="1B6B52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900000">
            <a:off x="8300466" y="2914193"/>
            <a:ext cx="2418588" cy="1303934"/>
          </a:xfrm>
          <a:prstGeom prst="ellipse">
            <a:avLst/>
          </a:prstGeom>
          <a:ln w="11430">
            <a:solidFill>
              <a:srgbClr val="1B6B52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900000">
            <a:off x="8826246" y="3198114"/>
            <a:ext cx="1367028" cy="736092"/>
          </a:xfrm>
          <a:prstGeom prst="ellipse">
            <a:avLst/>
          </a:prstGeom>
          <a:ln w="11430">
            <a:solidFill>
              <a:srgbClr val="1B6B5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45752" y="3502152"/>
            <a:ext cx="128016" cy="12801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6949440" y="5120640"/>
            <a:ext cx="731520" cy="640080"/>
          </a:xfrm>
          <a:prstGeom prst="line">
            <a:avLst/>
          </a:prstGeom>
          <a:noFill/>
          <a:ln w="33020">
            <a:solidFill>
              <a:srgbClr val="C8A2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680960" y="4480560"/>
            <a:ext cx="640080" cy="640080"/>
          </a:xfrm>
          <a:prstGeom prst="line">
            <a:avLst/>
          </a:prstGeom>
          <a:noFill/>
          <a:ln w="33020">
            <a:solidFill>
              <a:srgbClr val="C8A2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321040" y="3977640"/>
            <a:ext cx="594360" cy="502920"/>
          </a:xfrm>
          <a:prstGeom prst="line">
            <a:avLst/>
          </a:prstGeom>
          <a:noFill/>
          <a:ln w="33020">
            <a:solidFill>
              <a:srgbClr val="C8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915400" y="3657600"/>
            <a:ext cx="457200" cy="320040"/>
          </a:xfrm>
          <a:prstGeom prst="line">
            <a:avLst/>
          </a:prstGeom>
          <a:noFill/>
          <a:ln w="33020">
            <a:solidFill>
              <a:srgbClr val="C8A2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372600" y="3566160"/>
            <a:ext cx="137160" cy="91440"/>
          </a:xfrm>
          <a:prstGeom prst="line">
            <a:avLst/>
          </a:prstGeom>
          <a:noFill/>
          <a:ln w="33020">
            <a:solidFill>
              <a:srgbClr val="C8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8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CORPORATE TRANSFORMATION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78308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Nonlinear Enterprise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II · Chapter 4 · Week 9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Graduate course companion · Lab seed 26204 · AXIOM-04 (Vol. II)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OUTCOME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this chapter, you can…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591056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enterprise nonlinearity in architecture interactions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093976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93976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11226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local and global optima and quantify the gap between them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615184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151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263347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first-order necessary and second-order sufficient conditions with honest scope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136392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36392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verify the nonlinear KKT conditions clause by clause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5760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3675888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 qualifications before trusting multipliers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178808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78808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4197096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multipliers as sensitivities via the envelope theorem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700016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00016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471830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parametric analysis and locate smooth regions and jump boundaries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221224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2212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63040" y="523951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nonconvex algorithms and publish starts, methods, and bounds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080" y="5742432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742432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576072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convex relaxations as global bounds on nonconvex problems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6263640"/>
            <a:ext cx="658368" cy="640080"/>
          </a:xfrm>
          <a:prstGeom prst="roundRect">
            <a:avLst>
              <a:gd name="adj" fmla="val 14286"/>
            </a:avLst>
          </a:prstGeom>
          <a:solidFill>
            <a:srgbClr val="0B3D2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6263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463040" y="6281928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KKT machinery for its dynamic extension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chapter in six moves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3794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183794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Sources of Nonlinearity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3794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43800" y="183794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Global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0954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74520" y="320954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 &amp; Second-Order Conditions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20954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43800" y="320954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KKT &amp; Constraint Qualifications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8114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74520" y="458114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the Envelope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448056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8114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43800" y="458114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Applications &amp; the Road to Dynamics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§4.1 MOTIVATION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Outside the kingdom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Convex Class Sits Strictly Inside the Nonlinear Class (Prop.): most enterprise problems are born nonlinear, and Enterprise Nonlinearities Arise from Architecture Interactions (Prop.) — Volume I's couplings are precisely where the curvature misbehaves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at stake: Chapter 3's guarantees were properties of convexity, not of optimization — leave the kingdom and 'we found an optimum' becomes a claim needing qualification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survives: KKT as NECESSARY conditions, multipliers as sensitivities, second-order tests as local certificates — a smaller but real toolkit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lab's opening exhibit: two local minima twelve points apart — the restart lottery, made concrete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§4.2–4.3 NONLINEAR OBJECTIVES AND CONSTRAINTS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enterprise curvature comes from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10512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1051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1764792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couplings (Vol. I Ch. 13's g·K·p terms) — bilinear, indefinite, the canonical nonconvexity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286207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980944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80944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74520" y="2935224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&amp; saturation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curves, capacity kinks, regime switches — sigmoids and maxima that bend both ways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03250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51376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51376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∫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4105656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 &amp; lumpiness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charges and integer-ish decisions — the discontinuous frontier of nonlinearity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20293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321808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21808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⟳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4520" y="5276088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loops (Vol. I Ch. 7) composed with themselves — even benign pieces compound into multimodal wholes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Enterprise Problems May Possess Multiple Local Optima (Prop.) — not a pathology but the default; the chapter's machinery is for living with it honestly.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8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§4.4 · LOCAL AND GLOBAL OPTIMALITY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basins, twelve points apart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9525">
            <a:solidFill>
              <a:srgbClr val="1B6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10512"/>
            <a:ext cx="1051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1810512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exhibit  —  </a:t>
            </a:r>
            <a:pPr indent="0" marL="0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x⁴ − 8x² + 3x + 20 on [−3, 3]: smooth, innocent-looking, and two-faced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9525">
            <a:solidFill>
              <a:srgbClr val="1B6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89504"/>
            <a:ext cx="1051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−2.1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2889504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 —  </a:t>
            </a:r>
            <a:pPr indent="0" marL="0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basin: f(−2.1) = −2.13 — the global optimum, found by the humble grid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9534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9525">
            <a:solidFill>
              <a:srgbClr val="C8A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968496"/>
            <a:ext cx="1051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+1.9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3968496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 —  </a:t>
            </a:r>
            <a:pPr indent="0" marL="0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f(+1.9) = +9.85 — a genuine local optimum: gradient zero, curvature positive, certificate in hand, and 12.0 points wrong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97433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19050">
            <a:solidFill>
              <a:srgbClr val="C8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047488"/>
            <a:ext cx="1051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11680" y="5047488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 —  </a:t>
            </a:r>
            <a:pPr indent="0" marL="0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descent method started at x &gt; 0.2 converges, certifies FIRST-ORDER optimality, and reports the trap with full confidence — local certificates certify locally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Enterprise Optimum vs Global Enterprise Optimum (Defs.) — Lab Panel 1, seed 26204.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§4.4 · THE LANDSCAPE ITSELF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quartic, drawn</a:t>
            </a:r>
            <a:endParaRPr lang="en-US" sz="2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600200"/>
          <a:ext cx="7589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458200" y="182880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grid's defense:
</a:t>
            </a:r>
            <a:pPr indent="0" marL="0">
              <a:buNone/>
            </a:pPr>
            <a:r>
              <a:rPr lang="en-US" sz="12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evaluations, exhaustive on the interval, immune to basins — on low-dimensional nonconvex problems, honest enumeration beats elegant descent. The curse (Vol. I Ch. 5) is what revokes this defense in high dimension.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§4.5–4.6 FIRST- AND SECOND-ORDER CONDITIONS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derivatives can still promise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82296" cy="150876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7556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First-Order Necessary &amp; Second-Order Sufficient Optimality Theorems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103120"/>
            <a:ext cx="10515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Necessary: at any local optimum (unconstrained), the gradient vanishes — stationarity SHORTLISTS candidates. Sufficient: gradient zero plus positive-definite Hessian certifies a LOCAL minimum — a real certificate, honestly scoped.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asymmetry to internalize: necessary conditions filter, sufficient conditions certify — and outside convexity the certificate's scope is a neighborhood, never the world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traps and truths pass the first-order test: the quartic's three stationary points include one maximum and two minima — second-order curvature separates them, global comparison ranks them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this induces: stationarity → curvature check → cross-basin comparison — the three-step audit every nonconvex 'optimum' owes its board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§4.7 KARUSH–KUHN–TUCKER CONDITIONS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KKT on the circle, solved exactly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82296" cy="16002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7556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KKT Optimality Theorem, Nonlinear Case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103120"/>
            <a:ext cx="105156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local optimum satisfying a constraint qualification, multipliers exist with: stationarity (∇f + λ∇g = 0), primal feasibility, dual feasibility (λ ≥ 0), and complementary slackness (λ·g = 0). Necessary — the qualification is the fine print that makes it true.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lab's instance: min (x−2)²+(y−2)² on x²+y² ≤ 2 — target infeasible, optimum on the boundary at (1,1), λ* = 1, stationarity residual 0.0000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clause checkable: g(1,1) = 0 with λ &gt; 0 (the wall binds and is priced); ∇g = (2,2) ≠ 0 (the qualification holds — Constraint Qualification Theorem)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geometric reading: the objective's gradient pushes toward (2,2); the wall pushes back along its normal; λ measures how hard — forces in balance IS stationarity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§4.7 · THE FINE PRINT: CONSTRAINT QUALIFICATIONS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KKT is allowed to speak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Qualification (Def.): a regularity condition on the walls at the candidate point — LICQ (active gradients independent) and Slater (a strictly feasible point exists, convex case) are the workhorses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Qualifications Determine KKT Applicability (Prop.): without one, a true optimum can exist at which NO multipliers do — KKT would shortlist an empty list and miss it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failure: a cusp where two walls meet tangentially — active gradients collinear, LICQ dead, and the optimum invisible to the Lagrangian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habit: check the qualification BEFORE trusting the multipliers — the lab's circle passes trivially (∇g ≠ 0 everywhere on it), which is why its λ is trustworthy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§4.10 SENSITIVITY AND PARAMETRIC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multiplier is a derivative</a:t>
            </a:r>
            <a:endParaRPr lang="en-US" sz="2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600200"/>
          <a:ext cx="7589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458200" y="182880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envelope theorem:
</a:t>
            </a:r>
            <a:pPr indent="0" marL="0">
              <a:buNone/>
            </a:pPr>
            <a:r>
              <a:rPr lang="en-US" sz="12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df*/dc = −λ* — the Enterprise Sensitivity Theorem's core. The finite difference gives −0.9524 ≈ −1: Chapter 3's shadow price, met again from the primal side. One number, two derivations, closed loop.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§4.8 COMPUTATIONAL SOLUTION ALGORITHMS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nonconvex toolkit, honestly labeled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10512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1051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1764792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 with restarts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Multi-start gradient/Newton: each run finds A local optimum; the restart set is the coverage claim — publish it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286207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980944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80944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74520" y="2935224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quadratic programming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constrained workhorse: solve KKT-like subproblems, converge locally fast — to the nearest KKT point, trap or truth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03250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51376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51376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4105656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methods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Branch-and-bound, grids, evolutionary search: coverage at exponential cost — the curse's toll booth (Vol. I Ch. 5)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20293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321808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21808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4520" y="5276088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&amp; bound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relaxations (Ch. 3's §3.9) bound the global optimum — the certificate that tells you how wrong a local answer CAN be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rule: every nonconvex solve reports its method, its starts, and its bound — 'optimal' without those three is a local anecdote.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§4.9 ENTERPRISE APPLICATIONS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enterprise is genuinely nonconvex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sequencing (Vol. I, Ch. 6): operator order matters and composition is noncommutative — the decision space is combinatorial-nonconvex by construction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capability programs (Vol. I, Ch. 13): the g·K·p interaction terms are bilinear — the lab's two-basin quartic is their one-dimensional portrait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with adoption thresholds: sigmoid demand makes revenue multimodal — the trap basin is the 'safe' price point that a local solver anoints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with fixed costs (Vol. I, Chs. 10, 12): lumpy exit charges create discrete-flavored landscapes — Chapter 6's territory, previewed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§4.10 · PARAMETRIC STABILITY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optima move smoothly — and when they jump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82296" cy="150876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7556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Enterprise Stability Theorem &amp; Enterprise Sensitivity Theorem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103120"/>
            <a:ext cx="10515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second-order sufficiency and a qualification, the local optimum and its multipliers vary smoothly with parameters — and the Sensitivity Function (Def.) is computable: multipliers for constraints, envelope derivatives for objectives.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smooth regime: the lab's f*(c) curve — differentiable, slope −λ, forecastable (Sensitivity Analysis Provides Insight into Enterprise Decision Robustness, Prop.)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regime: when a parameter shift flips WHICH basin is global — the optimum teleports between x = −2.1 and x = +1.9 worlds; no derivative warns you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translation: strategy is parametrically stable until it isn't — sensitivity analysis maps the smooth region AND locates its cliff edges (Vol. I Ch. 14's ×6 lesson, optimization edition)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§4.12 WORKED EXAMPLES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chapter's worked worlds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947672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4767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1810512"/>
            <a:ext cx="9418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two-basin quartic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grid points, sign-split MIN columns, and the 12-point gap between the trap's story and the truth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090672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00984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00984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74520" y="3163824"/>
            <a:ext cx="9418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KKT on the circle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(1,1), λ = 1, residual zero, every clause checked — the nonlinear KKT theorem on one worked page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443984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654296"/>
            <a:ext cx="868680" cy="768096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54296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4517136"/>
            <a:ext cx="9418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envelope check  —  </a:t>
            </a:r>
            <a:pPr indent="0" marL="0">
              <a:buNone/>
            </a:pPr>
            <a:r>
              <a:rPr lang="en-US" sz="13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f*(c) differentiated by finite difference: −0.9524 vs −λ* = −1 — the sensitivity theorem cashed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 (26204) across notebook, workbook, and AXIOM-04's KKT console.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§4.11 PREPARATION FOR DYNAMIC OPTIMIZATION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clock returns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3–4 optimized snapshots; Chapters 5–6 handle structure and discreteness; from Chapter 7 the CLOCK is load-bearing — decisions become trajectories again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travels forward: KKT along paths (the maximum principle is its dynamic ancestor-descendant), multipliers as time-indexed shadow prices, sensitivity as policy robustness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two-basin warning compounds in time: multimodal per-period problems chain into exponentially many trajectory basins — dynamic programming's decomposition is the answer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forward: the audit habit (stationarity, curvature, cross-basin comparison) — it becomes the per-stage discipline of every dynamic solve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§4.13 PREPARATION FOR CHAPTER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closed, the toolkit labeled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this week: the local/global distinction with its 12-point exhibit, KKT with its fine print, and the multiplier's second face — the derivative of value</a:t>
            </a:r>
            <a:endParaRPr lang="en-US" sz="15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loop worth savoring: Chapter 3 priced the wall from the dual side (λ* = 4); Chapter 4 differentiated value from the primal side (−λ* = −1) — one number, two proofs, full circle</a:t>
            </a:r>
            <a:endParaRPr lang="en-US" sz="15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changes the axis: from curvature to STRUCTURE — linear and network optimization, where the enterprise's architecture (Vol. I, Ch. 9) becomes the algorithm's map</a:t>
            </a:r>
            <a:endParaRPr lang="en-US" sz="15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discipline: certify what is convex, audit what is not, and never let a local certificate wear a global costume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BRIDGE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week’s laboratory — seed 26204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2852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7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TRAP vs TRUTH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0B3D2E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λ=1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29000" y="2852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7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KKT, RESIDUAL 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8288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0B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−0.95≈−λ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989320" y="2852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7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 VERIFIED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03920" y="18288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549640" y="2852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7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CHECKS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DCT_V2_Ch04_Lab.ipynb — the two-basin landscape, the circle's KKT point with force diagram, and the f*(c) curve with its envelope slope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DCT_V2_Ch04_Lab.xlsx — the 121-row grid with sign-split MIN columns, the KKT point in closed form with its residual cell, and the finite-difference sensitivity against −λ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tab and validation cell agree to 4 decimals — seed 26204 throughout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SUMMARY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Chapter 4 established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problems are born nonlinear — the couplings of Volume I are where curvature misbehaves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≠ global, by 12.0 points in the lab — and local certificates certify locally, nothing more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KKT survives as necessary conditions, with constraint qualifications as the fine print that makes them true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multiplier's second face: df*/dc = −λ* — Chapter 3's price and this week's derivative are one number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rule: every nonconvex 'optimal' reports method, starts, and bound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8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AXIOM MODULE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KKT console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9525">
            <a:solidFill>
              <a:srgbClr val="1B6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170078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AXIOM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13432" y="210312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23744" y="2103120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9525">
            <a:solidFill>
              <a:srgbClr val="1B6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2103120"/>
            <a:ext cx="170078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Chapter Model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97096" y="210312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07408" y="2103120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9525">
            <a:solidFill>
              <a:srgbClr val="1B6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2103120"/>
            <a:ext cx="170078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Inputs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80760" y="210312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91072" y="2103120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9525">
            <a:solidFill>
              <a:srgbClr val="1B6B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103120"/>
            <a:ext cx="170078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Optimization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64424" y="210312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74736" y="2103120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9525">
            <a:solidFill>
              <a:srgbClr val="1B6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2103120"/>
            <a:ext cx="170078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848088" y="210312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58400" y="2103120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9525">
            <a:solidFill>
              <a:srgbClr val="1B6B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2103120"/>
            <a:ext cx="170078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107899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AXIOM-04 (Vol. II) checks every KKT clause on your problem — stationarity residual, slackness, and the qualification, live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basin explorer: drag the start point and watch descent land in trap or truth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4.13–4.16 (Part D) audit a real 'optimized' enterprise decision for its basin coverage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exercises, four groups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B3D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Concept checks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0" y="1783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4.1–4.4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7830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vs. sufficient; why qualifications exist; the multiplier's two faces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B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620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Mathematical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0" y="28620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4.5–4.8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86207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KKT derivation; the envelope theorem; second-order sufficiency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B3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4106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· Computational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14800" y="394106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4.9–4.12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94106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reshaping; capacity sweeps; qualification failures built by hand — seed 26204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B3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2005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· Enterprise applications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14800" y="502005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4.13–4.19★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502005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nonconvex decision audited: starts, bounds, and basins published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Starred (★) exercises: advanced track. Full solutions: Instructor’s Manual, Chapter 4.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NEXT CLASS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and preparation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Vol II, Chapter 4 — the KKT theorem's fine print and §4.10's envelope with pencil in hand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notebook Panels 1–3; confirm the validation cell prints 12× PASS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AXIOM-04's KKT console; answer Exercise 4.13 with it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(Week 9–10 → Vol. II Chapter 5): structure over curvature — linear and network enterprise optimization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7799832" y="3909060"/>
            <a:ext cx="3785616" cy="2057400"/>
          </a:xfrm>
          <a:prstGeom prst="ellipse">
            <a:avLst/>
          </a:prstGeom>
          <a:ln w="11430">
            <a:solidFill>
              <a:srgbClr val="1B6B52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900000">
            <a:off x="8293608" y="4180637"/>
            <a:ext cx="2798064" cy="1514246"/>
          </a:xfrm>
          <a:prstGeom prst="ellipse">
            <a:avLst/>
          </a:prstGeom>
          <a:ln w="11430">
            <a:solidFill>
              <a:srgbClr val="1B6B52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900000">
            <a:off x="8746236" y="4427525"/>
            <a:ext cx="1892808" cy="1020470"/>
          </a:xfrm>
          <a:prstGeom prst="ellipse">
            <a:avLst/>
          </a:prstGeom>
          <a:ln w="11430">
            <a:solidFill>
              <a:srgbClr val="1B6B52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900000">
            <a:off x="9157716" y="4649724"/>
            <a:ext cx="1069848" cy="576072"/>
          </a:xfrm>
          <a:prstGeom prst="ellipse">
            <a:avLst/>
          </a:prstGeom>
          <a:ln w="11430">
            <a:solidFill>
              <a:srgbClr val="1B6B5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28632" y="4873752"/>
            <a:ext cx="128016" cy="12801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300" i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local certificate wearing a global costume is the most expensive wardrobe error in optimization — twelve points of it, in this week's lab alone.”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Volume II, Chapter 4, on local optimality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4114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B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 · Vol II · Ch 4 · seed 26204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5 — Linear and Network Enterprise Optimization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as the algorithm's map: LP at scale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I's dependency graph becomes a flow network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Simplex, interior points, and network specializations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seed 26205 · AXIOM-05 (Vol. II)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4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C8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CORPORATE TRANSFORMATION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II · Chapter 4 · Week 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website · AXIOM Laboratory · Lab seed 26204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9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Samir Asaf · All rights reserved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2026-07-13T23:54:09Z</dcterms:created>
  <dcterms:modified xsi:type="dcterms:W3CDTF">2026-07-13T23:54:09Z</dcterms:modified>
</cp:coreProperties>
</file>