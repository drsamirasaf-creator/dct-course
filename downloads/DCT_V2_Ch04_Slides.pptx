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0bd4d3c8-8bc2-30e1-8dd9-7502d7383a65}">
          <p14:sldIdLst>
            <p14:sldId id="256"/>
            <p14:sldId id="257"/>
            <p14:sldId id="258"/>
            <p14:sldId id="259"/>
          </p14:sldIdLst>
        </p14:section>
        <p14:section name="4.1 What Is Lost Beyond Convexity" id="{f897a034-23ac-0289-4320-79fd397b2327}">
          <p14:sldIdLst>
            <p14:sldId id="260"/>
            <p14:sldId id="261"/>
          </p14:sldIdLst>
        </p14:section>
        <p14:section name="4.2 Local Answers" id="{eb08e8ff-0c38-3116-84f2-78ba224e8499}">
          <p14:sldIdLst>
            <p14:sldId id="262"/>
            <p14:sldId id="263"/>
          </p14:sldIdLst>
        </p14:section>
        <p14:section name="4.3 Multipliers and Local Prices" id="{d510afc2-cb3c-c10e-55bc-9cce545cb570}">
          <p14:sldIdLst>
            <p14:sldId id="264"/>
            <p14:sldId id="265"/>
          </p14:sldIdLst>
        </p14:section>
        <p14:section name="4.4 Searching Smooth Landscapes" id="{b0d2f33b-6920-172e-ac15-ad800a60b5d9}">
          <p14:sldIdLst>
            <p14:sldId id="266"/>
            <p14:sldId id="267"/>
          </p14:sldIdLst>
        </p14:section>
        <p14:section name="4.5 Lumpy Decisions and Branch-and-Bound" id="{f2190cdd-1eec-2887-a7a6-9db91553b47e}">
          <p14:sldIdLst>
            <p14:sldId id="268"/>
            <p14:sldId id="269"/>
          </p14:sldIdLst>
        </p14:section>
        <p14:section name="4.6 Decomposition, and the Road to Policies" id="{c532cec4-e32a-2aa9-2c61-500462a2a16b}">
          <p14:sldIdLst>
            <p14:sldId id="270"/>
          </p14:sldIdLst>
        </p14:section>
        <p14:section name="Worked Example 4.1" id="{7958dc1a-5935-9f70-6add-c8e0c2950f13}">
          <p14:sldIdLst>
            <p14:sldId id="271"/>
            <p14:sldId id="272"/>
            <p14:sldId id="273"/>
            <p14:sldId id="274"/>
            <p14:sldId id="275"/>
          </p14:sldIdLst>
        </p14:section>
        <p14:section name="AXIOM Lab 2.4" id="{73ee25dc-bd04-6828-762c-11bef4e7db84}">
          <p14:sldIdLst>
            <p14:sldId id="276"/>
          </p14:sldIdLst>
        </p14:section>
        <p14:section name="Close" id="{225d04ec-aa7c-796f-3658-fcc23ad5ca92}">
          <p14:sldIdLst>
            <p14:sldId id="277"/>
            <p14:sldId id="278"/>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Volume II, Chapter 4. Chapter 3 gave convex instances four promises; most enterprise instances break convexity somewhere. This chapter renegotiates the promises for smooth nonconvex and lumpy instances.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number of starts can list the basins a search missed: the impossibility theorem of the epigraph. A bound can (Section 4.4).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learning outcome statements; LOS Guidance at the end of the chapter.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Formal statements and proofs of Theorems 4.1, 4.2 and 4.4 are in Appendix 4.A; Propositions 4.1-4.3 and Theorems 4.3 and 4.5 in Online Appendix 4.B, with the numbers behind Worked Example 4.1 (Example 4.B.3).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Proposition 4.1; formal statement and proof in Online Appendix 4.B. Part (i)'s witness is Worked Example 4.1's three locally best plans and its saddle; part (iv) is Volume I's minimum efficient scale: blends of admissible configurations need not be admissible, so negotiated compromises need a new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4.1: Chapter 3's promises beyond convexity, and what this chapter puts in their place. Read it row by row: global answers, certificates, multipliers, prices, gaps and computing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 4.1; formal statement and proof in Appendix 4.A. Solvers check part (iii) by projecting the Hessian of the Lagrangian onto the critical directions: all eigenvalues negative certifies; a positive one is a saddle, and its eigenvector a direction of escape. At a corner where every binding bound carries a positive price there are no critical directions: the case of every local maximum in the Worked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Proposition 4.2; formal statement and proof in Online Appendix 4.B. Part (i) is the arithmetic of half-measures: it defeats a governance process that funds a little, observes, and funds in proportion. The dashed line in panel (a) separates the plans from which an ascent reaches each corner.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 4.3 and Theorem 4.2; formal statement and proof in Appendix 4.A. LICQ implies MFCQ, and in a convex instance a Slater plan gives MFCQ at every feasible plan (Online Appendix 4.B.1). A commitment squared to hold exactly, u² ≤ 0, has no price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 4.3; formal statement and proof in Online Appendix 4.B. With whole rounds, Meridian's best automation plan runs three rounds at credits from 2.86 to 10.71 years and four from 10.71 to 25.43 (Worked Example 2.1). A sensitivity report must say which plan it describes and where that plan stops being best.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4.2: methods beyond convexity. Each local method returns a KKT point, and which one depends on where it starts. The augmented Lagrangian is the logic of a treasury that raises an internal price until divisions comply.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4.4's computational box. If a basin attracts a share v of random starts, N starts all miss it with probability (1 − v)^N: a basin that attracts 5 percent needs about 59 starts for 95 percent confidence. No number of starts can list the basins it missed; a convex relaxation or a price list bounds every plan, found or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 4.4, Table 4.3 and Proposition 4.3; proof in Online Appendix 4.B. Binary y, lever x with range [0, U], minimum scale L, set-up charge F. Declare the true range of every lever: a loose big M lets the relaxation run a lever at full scale for a sliver of its set-up charge, so the bound is loose and the search long.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 4.4; formal statement and proof in Appendix 4.A. For costs, bounds are floors and the inequalities reverse. Node 1 is Volume I's continuous answer, $10.44 million at a $170 million line and 0.67 quarters; the node with no delay is infeasible, the line alone leaving the odds at 8.4 percent at best. Declare the stopping gap in money: 0.01 percent is $1,250 on the package, about $0.3 million on Meridian's automation value. Lumps have no prices.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 4.5; formal statement and proof in Online Appendix 4.B. Lagrangian decomposition is the center pricing a shared resource and letting each division choose; Benders decomposition is the board choosing lumpy strategic options while operations solve the convex remainder and report what each option is worth at the margin.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4.1, the situation. At twenty years' credit the relaxation's ceiling is $2,987.26 million and the best whole-round plan, years 1 to 4, is worth $2,986.25 million (Table 3.5). All amounts are undiscounted.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4.1, Steps 1-2. The gap after year k is 14 times the product of (1 − z_j/2): Volume I's recursion read for fractions, identical at whole rounds. V is not concave (Chapter 3's chord test fails) but affine in each round, the case of Proposition 4.2. Only box limits bind, so LICQ holds and each plan's multipliers are unique.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4.4 and Step 4. No number of runs proves that a fourth basin does not exist; Chapter 3's relaxation does: its ceiling bounds every plan of whole or partial rounds, found or not. The other two answers lie $9.76 and $18.51 million below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4.1, Steps 3-5. Local prices answer what a small change from here costs, not whether a better basin exists (Theorem 4.3(ii)). The incumbent is settled by Theorem 4.4(iii), the pruning by part (ii). At ten years' credit the same search proves Chapter 3's three-round plan best in seven solves.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4.1, Step 6 and what the board should take away. The three local maxima all run four rounds by year 6, so their values rise together, by $131.25 million per year of credit. Discussion: which chapter's methods would you use, and why might a planning team that starts its optimizer from last year's plan keep finding the same basin?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AXIOM Lab 2.4. What to look for: different answers from different starts, each passing the first-order audit (Theorem 4.2); a saddle that only the second-order test rejects (Theorem 4.1); local prices that change by basin (Theorem 4.3); and a ceiling that bounds what no run reached, with a tree that closes the gap (Theorem 4.4).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Takeaways, Chapter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notebook and workbook are on the course website, www.dynamiccorporatetransformation.com.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4.6's bridge: when decisions become rules, a family of rules with parameters turns policy design into a NEO problem, rarely convex; Part II builds the methods that exploit the structure of time instead. Chapter 5, Dynamic Enterprise Optimization.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CT Title">
    <p:bg>
      <p:bgPr>
        <a:solidFill>
          <a:srgbClr val="0F1E3D"/>
        </a:solidFill>
      </p:bgPr>
    </p:bg>
    <p:spTree>
      <p:nvGrpSpPr>
        <p:cNvPr id="1" name=""/>
        <p:cNvGrpSpPr/>
        <p:nvPr/>
      </p:nvGrpSpPr>
      <p:grpSpPr>
        <a:xfrm>
          <a:off x="0" y="0"/>
          <a:ext cx="0" cy="0"/>
          <a:chOff x="0" y="0"/>
          <a:chExt cx="0" cy="0"/>
        </a:xfrm>
      </p:grpSpPr>
      <p:pic>
        <p:nvPicPr>
          <p:cNvPr id="2" name="Image 0" descr="/home/claude/pixel-perfect-show-8533/public/brand/dct-logo-dark.png">    </p:cNvPr>
          <p:cNvPicPr>
            <a:picLocks noChangeAspect="1"/>
          </p:cNvPicPr>
          <p:nvPr/>
        </p:nvPicPr>
        <p:blipFill>
          <a:blip r:embed="rId1"/>
          <a:stretch>
            <a:fillRect/>
          </a:stretch>
        </p:blipFill>
        <p:spPr>
          <a:xfrm>
            <a:off x="731520" y="640080"/>
            <a:ext cx="4389120" cy="363931"/>
          </a:xfrm>
          <a:prstGeom prst="rect">
            <a:avLst/>
          </a:prstGeom>
        </p:spPr>
      </p:pic>
      <p:sp>
        <p:nvSpPr>
          <p:cNvPr id="3" name="Text 0"/>
          <p:cNvSpPr/>
          <p:nvPr>
            <p:ph idx="101" type="body" hasCustomPrompt="1"/>
          </p:nvPr>
        </p:nvSpPr>
        <p:spPr>
          <a:xfrm>
            <a:off x="731520" y="1874520"/>
            <a:ext cx="10607040" cy="411480"/>
          </a:xfrm>
          <a:prstGeom prst="rect">
            <a:avLst/>
          </a:prstGeom>
          <a:noFill/>
          <a:ln/>
        </p:spPr>
        <p:txBody>
          <a:bodyPr wrap="square" rtlCol="0"/>
          <a:lstStyle>
            <a:lvl1pPr indent="0" marL="0">
              <a:buNone/>
              <a:defRPr lang="en-US" sz="1500" b="1" spc="300" kern="0" dirty="0">
                <a:solidFill>
                  <a:schemeClr val="accent1"/>
                </a:solidFill>
              </a:defRPr>
            </a:lvl1pPr>
          </a:lstStyle>
          <a:p>
            <a:pPr indent="0" marL="0">
              <a:buNone/>
            </a:pPr>
            <a:endParaRPr lang="en-US" sz="1500" dirty="0"/>
          </a:p>
        </p:txBody>
      </p:sp>
      <p:sp>
        <p:nvSpPr>
          <p:cNvPr id="4" name="Text 0"/>
          <p:cNvSpPr/>
          <p:nvPr>
            <p:ph idx="102" type="title" hasCustomPrompt="1"/>
          </p:nvPr>
        </p:nvSpPr>
        <p:spPr>
          <a:xfrm>
            <a:off x="731520" y="2331720"/>
            <a:ext cx="10607040" cy="1737360"/>
          </a:xfrm>
          <a:prstGeom prst="rect">
            <a:avLst/>
          </a:prstGeom>
          <a:noFill/>
          <a:ln/>
        </p:spPr>
        <p:txBody>
          <a:bodyPr wrap="square" rtlCol="0"/>
          <a:lstStyle>
            <a:lvl1pPr algn="l" indent="0" marL="0">
              <a:buNone/>
              <a:defRPr lang="en-US" sz="44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400" dirty="0"/>
          </a:p>
        </p:txBody>
      </p:sp>
      <p:sp>
        <p:nvSpPr>
          <p:cNvPr id="5" name="Text 0"/>
          <p:cNvSpPr/>
          <p:nvPr>
            <p:ph idx="103" type="body" hasCustomPrompt="1"/>
          </p:nvPr>
        </p:nvSpPr>
        <p:spPr>
          <a:xfrm>
            <a:off x="731520" y="4160520"/>
            <a:ext cx="10241280" cy="914400"/>
          </a:xfrm>
          <a:prstGeom prst="rect">
            <a:avLst/>
          </a:prstGeom>
          <a:noFill/>
          <a:ln/>
        </p:spPr>
        <p:txBody>
          <a:bodyPr wrap="square" rtlCol="0"/>
          <a:lstStyle>
            <a:lvl1pPr indent="0" marL="0">
              <a:buNone/>
              <a:defRPr lang="en-US" sz="2000" dirty="0">
                <a:solidFill>
                  <a:schemeClr val="bg2"/>
                </a:solidFill>
              </a:defRPr>
            </a:lvl1pPr>
          </a:lstStyle>
          <a:p>
            <a:pPr indent="0" marL="0">
              <a:buNone/>
            </a:pPr>
            <a:endParaRPr lang="en-US" sz="2000" dirty="0"/>
          </a:p>
        </p:txBody>
      </p:sp>
      <p:sp>
        <p:nvSpPr>
          <p:cNvPr id="6" name="Text 0"/>
          <p:cNvSpPr/>
          <p:nvPr>
            <p:ph idx="104" type="body" hasCustomPrompt="1"/>
          </p:nvPr>
        </p:nvSpPr>
        <p:spPr>
          <a:xfrm>
            <a:off x="731520" y="5897880"/>
            <a:ext cx="10607040" cy="365760"/>
          </a:xfrm>
          <a:prstGeom prst="rect">
            <a:avLst/>
          </a:prstGeom>
          <a:noFill/>
          <a:ln/>
        </p:spPr>
        <p:txBody>
          <a:bodyPr wrap="square" rtlCol="0"/>
          <a:lstStyle>
            <a:lvl1pPr indent="0" marL="0">
              <a:buNone/>
              <a:defRPr lang="en-US" sz="1200" dirty="0">
                <a:solidFill>
                  <a:schemeClr val="accent4"/>
                </a:solidFill>
              </a:defRPr>
            </a:lvl1pPr>
          </a:lstStyle>
          <a:p>
            <a:pPr indent="0" marL="0">
              <a:buNone/>
            </a:pP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CT Quote">
    <p:bg>
      <p:bgPr>
        <a:solidFill>
          <a:srgbClr val="0F1E3D"/>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1280160" y="1371600"/>
            <a:ext cx="9601200" cy="3017520"/>
          </a:xfrm>
          <a:prstGeom prst="rect">
            <a:avLst/>
          </a:prstGeom>
          <a:noFill/>
          <a:ln/>
        </p:spPr>
        <p:txBody>
          <a:bodyPr wrap="square" rtlCol="0"/>
          <a:lstStyle>
            <a:lvl1pPr indent="0" marL="0">
              <a:buNone/>
              <a:defRPr lang="en-US" sz="3000" i="1" dirty="0">
                <a:solidFill>
                  <a:schemeClr val="bg1"/>
                </a:solidFill>
                <a:latin typeface="Cambria" pitchFamily="34" charset="0"/>
                <a:ea typeface="Cambria" pitchFamily="34" charset="-122"/>
                <a:cs typeface="Cambria" pitchFamily="34" charset="-120"/>
              </a:defRPr>
            </a:lvl1pPr>
          </a:lstStyle>
          <a:p>
            <a:pPr indent="0" marL="0">
              <a:buNone/>
            </a:pPr>
            <a:endParaRPr lang="en-US" sz="3000" dirty="0"/>
          </a:p>
        </p:txBody>
      </p:sp>
      <p:sp>
        <p:nvSpPr>
          <p:cNvPr id="3" name="Text 0"/>
          <p:cNvSpPr/>
          <p:nvPr>
            <p:ph idx="101" type="body" hasCustomPrompt="1"/>
          </p:nvPr>
        </p:nvSpPr>
        <p:spPr>
          <a:xfrm>
            <a:off x="1280160" y="4617720"/>
            <a:ext cx="9601200" cy="457200"/>
          </a:xfrm>
          <a:prstGeom prst="rect">
            <a:avLst/>
          </a:prstGeom>
          <a:noFill/>
          <a:ln/>
        </p:spPr>
        <p:txBody>
          <a:bodyPr wrap="square" rtlCol="0"/>
          <a:lstStyle>
            <a:lvl1pPr indent="0" marL="0">
              <a:buNone/>
              <a:defRPr lang="en-US" sz="1800" b="1" dirty="0">
                <a:solidFill>
                  <a:schemeClr val="accent1"/>
                </a:solidFill>
              </a:defRPr>
            </a:lvl1pPr>
          </a:lstStyle>
          <a:p>
            <a:pPr indent="0" marL="0">
              <a:buNone/>
            </a:pPr>
            <a:endParaRPr lang="en-US" sz="1800" dirty="0"/>
          </a:p>
        </p:txBody>
      </p:sp>
      <p:sp>
        <p:nvSpPr>
          <p:cNvPr id="4" name="Text 0"/>
          <p:cNvSpPr/>
          <p:nvPr>
            <p:ph idx="102" type="body" hasCustomPrompt="1"/>
          </p:nvPr>
        </p:nvSpPr>
        <p:spPr>
          <a:xfrm>
            <a:off x="1280160" y="5074920"/>
            <a:ext cx="9601200" cy="731520"/>
          </a:xfrm>
          <a:prstGeom prst="rect">
            <a:avLst/>
          </a:prstGeom>
          <a:noFill/>
          <a:ln/>
        </p:spPr>
        <p:txBody>
          <a:bodyPr wrap="square" rtlCol="0"/>
          <a:lstStyle>
            <a:lvl1pPr indent="0" marL="0">
              <a:buNone/>
              <a:defRPr lang="en-US" sz="1400" dirty="0">
                <a:solidFill>
                  <a:schemeClr val="accent4"/>
                </a:solidFill>
              </a:defRPr>
            </a:lvl1pPr>
          </a:lstStyle>
          <a:p>
            <a:pPr indent="0" marL="0">
              <a:buNone/>
            </a:pPr>
            <a:endParaRPr lang="en-US" sz="1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CT Content">
    <p:bg>
      <p:bgPr>
        <a:solidFill>
          <a:srgbClr val="FFFFFF"/>
        </a:solidFill>
      </p:bgPr>
    </p:bg>
    <p:spTree>
      <p:nvGrpSpPr>
        <p:cNvPr id="1" name=""/>
        <p:cNvGrpSpPr/>
        <p:nvPr/>
      </p:nvGrpSpPr>
      <p:grpSpPr>
        <a:xfrm>
          <a:off x="0" y="0"/>
          <a:ext cx="0" cy="0"/>
          <a:chOff x="0" y="0"/>
          <a:chExt cx="0" cy="0"/>
        </a:xfrm>
      </p:grpSpPr>
      <p:pic>
        <p:nvPicPr>
          <p:cNvPr id="2" name="Image 0" descr="/home/claude/pixel-perfect-show-8533/public/brand/dct-mark.png">    </p:cNvPr>
          <p:cNvPicPr>
            <a:picLocks noChangeAspect="1"/>
          </p:cNvPicPr>
          <p:nvPr/>
        </p:nvPicPr>
        <p:blipFill>
          <a:blip r:embed="rId1"/>
          <a:stretch>
            <a:fillRect/>
          </a:stretch>
        </p:blipFill>
        <p:spPr>
          <a:xfrm>
            <a:off x="548640" y="6391656"/>
            <a:ext cx="155448" cy="188390"/>
          </a:xfrm>
          <a:prstGeom prst="rect">
            <a:avLst/>
          </a:prstGeom>
        </p:spPr>
      </p:pic>
      <p:sp>
        <p:nvSpPr>
          <p:cNvPr id="3" name="Text 0"/>
          <p:cNvSpPr/>
          <p:nvPr/>
        </p:nvSpPr>
        <p:spPr>
          <a:xfrm>
            <a:off x="822960" y="6382512"/>
            <a:ext cx="8686800" cy="237744"/>
          </a:xfrm>
          <a:prstGeom prst="rect">
            <a:avLst/>
          </a:prstGeom>
          <a:noFill/>
          <a:ln/>
        </p:spPr>
        <p:txBody>
          <a:bodyPr wrap="square" lIns="0" tIns="0" rIns="0" bIns="0" rtlCol="0" anchor="ctr"/>
          <a:lstStyle/>
          <a:p>
            <a:pPr indent="0" marL="0">
              <a:buNone/>
            </a:pPr>
            <a:r>
              <a:rPr lang="en-US" sz="1000" dirty="0">
                <a:solidFill>
                  <a:schemeClr val="tx2"/>
                </a:solidFill>
              </a:rPr>
              <a:t>Dynamic Corporate Transformation · Volume II · Chapter 4</a:t>
            </a:r>
            <a:endParaRPr lang="en-US" sz="1000" dirty="0"/>
          </a:p>
        </p:txBody>
      </p:sp>
      <p:sp>
        <p:nvSpPr>
          <p:cNvPr id="4" name="Text 1"/>
          <p:cNvSpPr/>
          <p:nvPr>
            <p:ph idx="102" type="body" hasCustomPrompt="1"/>
          </p:nvPr>
        </p:nvSpPr>
        <p:spPr>
          <a:xfrm>
            <a:off x="548640" y="347472"/>
            <a:ext cx="11094415" cy="292608"/>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5" name="Text 1"/>
          <p:cNvSpPr/>
          <p:nvPr>
            <p:ph idx="103" type="title" hasCustomPrompt="1"/>
          </p:nvPr>
        </p:nvSpPr>
        <p:spPr>
          <a:xfrm>
            <a:off x="548640" y="658368"/>
            <a:ext cx="11094415" cy="868680"/>
          </a:xfrm>
          <a:prstGeom prst="rect">
            <a:avLst/>
          </a:prstGeom>
          <a:noFill/>
          <a:ln/>
        </p:spPr>
        <p:txBody>
          <a:bodyPr wrap="square" rtlCol="0"/>
          <a:lstStyle>
            <a:lvl1pPr algn="l" indent="0" marL="0">
              <a:buNone/>
              <a:defRPr lang="en-US" sz="32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DCT Dark Content">
    <p:bg>
      <p:bgPr>
        <a:solidFill>
          <a:srgbClr val="0F1E3D"/>
        </a:solidFill>
      </p:bgPr>
    </p:bg>
    <p:spTree>
      <p:nvGrpSpPr>
        <p:cNvPr id="1" name=""/>
        <p:cNvGrpSpPr/>
        <p:nvPr/>
      </p:nvGrpSpPr>
      <p:grpSpPr>
        <a:xfrm>
          <a:off x="0" y="0"/>
          <a:ext cx="0" cy="0"/>
          <a:chOff x="0" y="0"/>
          <a:chExt cx="0" cy="0"/>
        </a:xfrm>
      </p:grpSpPr>
      <p:pic>
        <p:nvPicPr>
          <p:cNvPr id="2" name="Image 0" descr="/home/claude/pixel-perfect-show-8533/public/brand/dct-mark-dark.png">    </p:cNvPr>
          <p:cNvPicPr>
            <a:picLocks noChangeAspect="1"/>
          </p:cNvPicPr>
          <p:nvPr/>
        </p:nvPicPr>
        <p:blipFill>
          <a:blip r:embed="rId1"/>
          <a:stretch>
            <a:fillRect/>
          </a:stretch>
        </p:blipFill>
        <p:spPr>
          <a:xfrm>
            <a:off x="548640" y="6391656"/>
            <a:ext cx="155448" cy="188390"/>
          </a:xfrm>
          <a:prstGeom prst="rect">
            <a:avLst/>
          </a:prstGeom>
        </p:spPr>
      </p:pic>
      <p:sp>
        <p:nvSpPr>
          <p:cNvPr id="3" name="Text 0"/>
          <p:cNvSpPr/>
          <p:nvPr/>
        </p:nvSpPr>
        <p:spPr>
          <a:xfrm>
            <a:off x="822960" y="6382512"/>
            <a:ext cx="8686800" cy="237744"/>
          </a:xfrm>
          <a:prstGeom prst="rect">
            <a:avLst/>
          </a:prstGeom>
          <a:noFill/>
          <a:ln/>
        </p:spPr>
        <p:txBody>
          <a:bodyPr wrap="square" lIns="0" tIns="0" rIns="0" bIns="0" rtlCol="0" anchor="ctr"/>
          <a:lstStyle/>
          <a:p>
            <a:pPr indent="0" marL="0">
              <a:buNone/>
            </a:pPr>
            <a:r>
              <a:rPr lang="en-US" sz="1000" dirty="0">
                <a:solidFill>
                  <a:schemeClr val="accent4"/>
                </a:solidFill>
              </a:rPr>
              <a:t>Dynamic Corporate Transformation · Volume II · Chapter 4</a:t>
            </a:r>
            <a:endParaRPr lang="en-US" sz="1000" dirty="0"/>
          </a:p>
        </p:txBody>
      </p:sp>
      <p:sp>
        <p:nvSpPr>
          <p:cNvPr id="4" name="Text 1"/>
          <p:cNvSpPr/>
          <p:nvPr>
            <p:ph idx="102" type="body" hasCustomPrompt="1"/>
          </p:nvPr>
        </p:nvSpPr>
        <p:spPr>
          <a:xfrm>
            <a:off x="548640" y="347472"/>
            <a:ext cx="11094415" cy="292608"/>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5" name="Text 1"/>
          <p:cNvSpPr/>
          <p:nvPr>
            <p:ph idx="103" type="title" hasCustomPrompt="1"/>
          </p:nvPr>
        </p:nvSpPr>
        <p:spPr>
          <a:xfrm>
            <a:off x="548640" y="658368"/>
            <a:ext cx="11094415" cy="868680"/>
          </a:xfrm>
          <a:prstGeom prst="rect">
            <a:avLst/>
          </a:prstGeom>
          <a:noFill/>
          <a:ln/>
        </p:spPr>
        <p:txBody>
          <a:bodyPr wrap="square" rtlCol="0"/>
          <a:lstStyle>
            <a:lvl1pPr algn="l" indent="0" marL="0">
              <a:buNone/>
              <a:defRPr lang="en-US" sz="32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4.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5.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4.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4.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5.xml"/><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0"/>
          <p:cNvSpPr/>
          <p:nvPr>
            <p:ph idx="101" type="body" hasCustomPrompt="1"/>
          </p:nvPr>
        </p:nvSpPr>
        <p:spPr>
          <a:xfrm>
            <a:off x="731520" y="1874520"/>
            <a:ext cx="10607040" cy="411480"/>
          </a:xfrm>
          <a:prstGeom prst="rect">
            <a:avLst/>
          </a:prstGeom>
          <a:noFill/>
          <a:ln/>
        </p:spPr>
        <p:txBody>
          <a:bodyPr wrap="square" lIns="0" tIns="0" rIns="0" bIns="0" rtlCol="0"/>
          <a:lstStyle/>
          <a:p>
            <a:pPr indent="0" marL="0">
              <a:buNone/>
            </a:pPr>
            <a:r>
              <a:rPr lang="en-US" sz="1500" b="1" spc="300" kern="0" dirty="0">
                <a:solidFill>
                  <a:schemeClr val="accent1"/>
                </a:solidFill>
              </a:rPr>
              <a:t>VOLUME II · CHAPTER 4 · WEEK 9</a:t>
            </a:r>
            <a:endParaRPr lang="en-US" sz="1500" dirty="0"/>
          </a:p>
        </p:txBody>
      </p:sp>
      <p:sp>
        <p:nvSpPr>
          <p:cNvPr id="4" name="Text 0"/>
          <p:cNvSpPr/>
          <p:nvPr>
            <p:ph idx="102" type="title" hasCustomPrompt="1"/>
          </p:nvPr>
        </p:nvSpPr>
        <p:spPr>
          <a:xfrm>
            <a:off x="731520" y="2331720"/>
            <a:ext cx="10607040" cy="1737360"/>
          </a:xfrm>
          <a:prstGeom prst="rect">
            <a:avLst/>
          </a:prstGeom>
          <a:noFill/>
          <a:ln/>
        </p:spPr>
        <p:txBody>
          <a:bodyPr wrap="square" lIns="0" tIns="0" rIns="0" bIns="0" rtlCol="0" anchor="t"/>
          <a:lstStyle/>
          <a:p>
            <a:pPr algn="l" indent="0" marL="0">
              <a:buNone/>
            </a:pPr>
            <a:r>
              <a:rPr lang="en-US" sz="4400" b="1" dirty="0">
                <a:solidFill>
                  <a:schemeClr val="bg1"/>
                </a:solidFill>
                <a:latin typeface="Cambria" pitchFamily="34" charset="0"/>
                <a:ea typeface="Cambria" pitchFamily="34" charset="-122"/>
                <a:cs typeface="Cambria" pitchFamily="34" charset="-120"/>
              </a:rPr>
              <a:t>Nonlinear and Mixed-Integer Enterprise Optimization</a:t>
            </a:r>
            <a:endParaRPr lang="en-US" sz="4400" dirty="0"/>
          </a:p>
        </p:txBody>
      </p:sp>
      <p:sp>
        <p:nvSpPr>
          <p:cNvPr id="5" name="Text 0"/>
          <p:cNvSpPr/>
          <p:nvPr>
            <p:ph idx="103" type="body" hasCustomPrompt="1"/>
          </p:nvPr>
        </p:nvSpPr>
        <p:spPr>
          <a:xfrm>
            <a:off x="731520" y="4160520"/>
            <a:ext cx="10241280" cy="914400"/>
          </a:xfrm>
          <a:prstGeom prst="rect">
            <a:avLst/>
          </a:prstGeom>
          <a:noFill/>
          <a:ln/>
        </p:spPr>
        <p:txBody>
          <a:bodyPr wrap="square" lIns="0" tIns="0" rIns="0" bIns="0" rtlCol="0" anchor="t"/>
          <a:lstStyle/>
          <a:p>
            <a:pPr indent="0" marL="0">
              <a:buNone/>
            </a:pPr>
            <a:r>
              <a:rPr lang="en-US" sz="2000" dirty="0">
                <a:solidFill>
                  <a:schemeClr val="bg2"/>
                </a:solidFill>
              </a:rPr>
              <a:t>Beyond convexity, optimization keeps its questions and loses its guarantees: what survives, and how to manage the rest</a:t>
            </a:r>
            <a:endParaRPr lang="en-US" sz="2000" dirty="0"/>
          </a:p>
        </p:txBody>
      </p:sp>
      <p:sp>
        <p:nvSpPr>
          <p:cNvPr id="6" name="Text 0"/>
          <p:cNvSpPr/>
          <p:nvPr>
            <p:ph idx="104" type="body" hasCustomPrompt="1"/>
          </p:nvPr>
        </p:nvSpPr>
        <p:spPr>
          <a:xfrm>
            <a:off x="731520" y="5897880"/>
            <a:ext cx="10607040" cy="365760"/>
          </a:xfrm>
          <a:prstGeom prst="rect">
            <a:avLst/>
          </a:prstGeom>
          <a:noFill/>
          <a:ln/>
        </p:spPr>
        <p:txBody>
          <a:bodyPr wrap="square" lIns="0" tIns="0" rIns="0" bIns="0" rtlCol="0"/>
          <a:lstStyle/>
          <a:p>
            <a:pPr indent="0" marL="0">
              <a:buNone/>
            </a:pPr>
            <a:r>
              <a:rPr lang="en-US" sz="1200" dirty="0">
                <a:solidFill>
                  <a:schemeClr val="accent4"/>
                </a:solidFill>
              </a:rPr>
              <a:t>Graduate course companion · Lab seed 26204 · AXIOM Lab 2.4 (AXIOM-04)</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ext 0"/>
          <p:cNvSpPr/>
          <p:nvPr>
            <p:ph idx="100" type="body" hasCustomPrompt="1"/>
          </p:nvPr>
        </p:nvSpPr>
        <p:spPr>
          <a:xfrm>
            <a:off x="1280160" y="1371600"/>
            <a:ext cx="9601200" cy="3017520"/>
          </a:xfrm>
          <a:prstGeom prst="rect">
            <a:avLst/>
          </a:prstGeom>
          <a:noFill/>
          <a:ln/>
        </p:spPr>
        <p:txBody>
          <a:bodyPr wrap="square" lIns="0" tIns="0" rIns="0" bIns="0" rtlCol="0" anchor="b"/>
          <a:lstStyle/>
          <a:p>
            <a:pPr indent="0" marL="0">
              <a:buNone/>
            </a:pPr>
            <a:r>
              <a:rPr lang="en-US" sz="3000" i="1" dirty="0">
                <a:solidFill>
                  <a:schemeClr val="bg1"/>
                </a:solidFill>
                <a:latin typeface="Cambria" pitchFamily="34" charset="0"/>
                <a:ea typeface="Cambria" pitchFamily="34" charset="-122"/>
                <a:cs typeface="Cambria" pitchFamily="34" charset="-120"/>
              </a:rPr>
              <a:t>“One thing a person cannot do, no matter how rigorous his analysis or heroic his imagination, is to draw up a list of the things that would never occur to him!”</a:t>
            </a:r>
            <a:endParaRPr lang="en-US" sz="3000" dirty="0"/>
          </a:p>
        </p:txBody>
      </p:sp>
      <p:sp>
        <p:nvSpPr>
          <p:cNvPr id="4" name="Text 0"/>
          <p:cNvSpPr/>
          <p:nvPr>
            <p:ph idx="101" type="body" hasCustomPrompt="1"/>
          </p:nvPr>
        </p:nvSpPr>
        <p:spPr>
          <a:xfrm>
            <a:off x="1280160" y="4617720"/>
            <a:ext cx="9601200" cy="457200"/>
          </a:xfrm>
          <a:prstGeom prst="rect">
            <a:avLst/>
          </a:prstGeom>
          <a:noFill/>
          <a:ln/>
        </p:spPr>
        <p:txBody>
          <a:bodyPr wrap="square" lIns="0" tIns="0" rIns="0" bIns="0" rtlCol="0"/>
          <a:lstStyle/>
          <a:p>
            <a:pPr indent="0" marL="0">
              <a:buNone/>
            </a:pPr>
            <a:r>
              <a:rPr lang="en-US" sz="1800" b="1" dirty="0">
                <a:solidFill>
                  <a:schemeClr val="accent1"/>
                </a:solidFill>
              </a:rPr>
              <a:t>Thomas C. Schelling</a:t>
            </a:r>
            <a:endParaRPr lang="en-US" sz="1800" dirty="0"/>
          </a:p>
        </p:txBody>
      </p:sp>
      <p:sp>
        <p:nvSpPr>
          <p:cNvPr id="5" name="Text 0"/>
          <p:cNvSpPr/>
          <p:nvPr>
            <p:ph idx="102" type="body" hasCustomPrompt="1"/>
          </p:nvPr>
        </p:nvSpPr>
        <p:spPr>
          <a:xfrm>
            <a:off x="1280160" y="5074920"/>
            <a:ext cx="9601200" cy="731520"/>
          </a:xfrm>
          <a:prstGeom prst="rect">
            <a:avLst/>
          </a:prstGeom>
          <a:noFill/>
          <a:ln/>
        </p:spPr>
        <p:txBody>
          <a:bodyPr wrap="square" lIns="0" tIns="0" rIns="0" bIns="0" rtlCol="0" anchor="t"/>
          <a:lstStyle/>
          <a:p>
            <a:pPr indent="0" marL="0">
              <a:buNone/>
            </a:pPr>
            <a:r>
              <a:rPr lang="en-US" sz="1400" dirty="0">
                <a:solidFill>
                  <a:schemeClr val="accent4"/>
                </a:solidFill>
              </a:rPr>
              <a:t>Nobel Memorial Prize in Economic Sciences 2005; in Managing Nuclear Operations (1987)</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LEARNING OUTCOME STATEMENTS</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After this chapter, you can</a:t>
            </a:r>
            <a:endParaRPr lang="en-US" sz="3200" dirty="0"/>
          </a:p>
        </p:txBody>
      </p:sp>
      <p:sp>
        <p:nvSpPr>
          <p:cNvPr id="5" name="Number"/>
          <p:cNvSpPr/>
          <p:nvPr/>
        </p:nvSpPr>
        <p:spPr>
          <a:xfrm>
            <a:off x="548640" y="1737360"/>
            <a:ext cx="566928" cy="566928"/>
          </a:xfrm>
          <a:prstGeom prst="ellipse">
            <a:avLst/>
          </a:prstGeom>
          <a:solidFill>
            <a:schemeClr val="accent1"/>
          </a:solidFill>
          <a:ln w="6350">
            <a:solidFill>
              <a:schemeClr val="accent1"/>
            </a:solidFill>
            <a:prstDash val="solid"/>
          </a:ln>
        </p:spPr>
      </p:sp>
      <p:sp>
        <p:nvSpPr>
          <p:cNvPr id="6" name="Text 3"/>
          <p:cNvSpPr txBox="1"/>
          <p:nvPr/>
        </p:nvSpPr>
        <p:spPr>
          <a:xfrm>
            <a:off x="548640" y="1737360"/>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4.1</a:t>
            </a:r>
            <a:endParaRPr lang="en-US" sz="1500" dirty="0"/>
          </a:p>
        </p:txBody>
      </p:sp>
      <p:sp>
        <p:nvSpPr>
          <p:cNvPr id="7" name="Row text"/>
          <p:cNvSpPr txBox="1"/>
          <p:nvPr/>
        </p:nvSpPr>
        <p:spPr>
          <a:xfrm>
            <a:off x="1325880" y="1691640"/>
            <a:ext cx="10317175" cy="841248"/>
          </a:xfrm>
          <a:prstGeom prst="rect">
            <a:avLst/>
          </a:prstGeom>
          <a:noFill/>
          <a:ln/>
        </p:spPr>
        <p:txBody>
          <a:bodyPr wrap="square" lIns="0" tIns="0" rIns="0" bIns="0" rtlCol="0" anchor="ctr"/>
          <a:lstStyle/>
          <a:p>
            <a:pPr indent="0" marL="0">
              <a:buNone/>
            </a:pPr>
            <a:r>
              <a:rPr lang="en-US" sz="1600" dirty="0">
                <a:solidFill>
                  <a:schemeClr val="tx1"/>
                </a:solidFill>
              </a:rPr>
              <a:t>Explain what is lost beyond convexity—local optima that are not global, optimality conditions that mark candidates, prices that hold only nearby, gaps that no price list closes—and trace each loss to products of decisions, economies of scale, or lumpy choices.</a:t>
            </a:r>
            <a:endParaRPr lang="en-US" sz="1600" dirty="0"/>
          </a:p>
        </p:txBody>
      </p:sp>
      <p:sp>
        <p:nvSpPr>
          <p:cNvPr id="8" name="Number"/>
          <p:cNvSpPr/>
          <p:nvPr/>
        </p:nvSpPr>
        <p:spPr>
          <a:xfrm>
            <a:off x="548640" y="2633472"/>
            <a:ext cx="566928" cy="566928"/>
          </a:xfrm>
          <a:prstGeom prst="ellipse">
            <a:avLst/>
          </a:prstGeom>
          <a:solidFill>
            <a:schemeClr val="accent1"/>
          </a:solidFill>
          <a:ln w="6350">
            <a:solidFill>
              <a:schemeClr val="accent1"/>
            </a:solidFill>
            <a:prstDash val="solid"/>
          </a:ln>
        </p:spPr>
      </p:sp>
      <p:sp>
        <p:nvSpPr>
          <p:cNvPr id="9" name="Text 6"/>
          <p:cNvSpPr txBox="1"/>
          <p:nvPr/>
        </p:nvSpPr>
        <p:spPr>
          <a:xfrm>
            <a:off x="548640" y="2633472"/>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4.2</a:t>
            </a:r>
            <a:endParaRPr lang="en-US" sz="1500" dirty="0"/>
          </a:p>
        </p:txBody>
      </p:sp>
      <p:sp>
        <p:nvSpPr>
          <p:cNvPr id="10" name="Row text"/>
          <p:cNvSpPr txBox="1"/>
          <p:nvPr/>
        </p:nvSpPr>
        <p:spPr>
          <a:xfrm>
            <a:off x="1325880" y="2587752"/>
            <a:ext cx="10317175" cy="841248"/>
          </a:xfrm>
          <a:prstGeom prst="rect">
            <a:avLst/>
          </a:prstGeom>
          <a:noFill/>
          <a:ln/>
        </p:spPr>
        <p:txBody>
          <a:bodyPr wrap="square" lIns="0" tIns="0" rIns="0" bIns="0" rtlCol="0" anchor="ctr"/>
          <a:lstStyle/>
          <a:p>
            <a:pPr indent="0" marL="0">
              <a:buNone/>
            </a:pPr>
            <a:r>
              <a:rPr lang="en-US" sz="1600" dirty="0">
                <a:solidFill>
                  <a:schemeClr val="tx1"/>
                </a:solidFill>
              </a:rPr>
              <a:t>Test whether a plan is locally best with first- and second-order conditions, and tell a local maximum from a saddle point.</a:t>
            </a:r>
            <a:endParaRPr lang="en-US" sz="1600" dirty="0"/>
          </a:p>
        </p:txBody>
      </p:sp>
      <p:sp>
        <p:nvSpPr>
          <p:cNvPr id="11" name="Number"/>
          <p:cNvSpPr/>
          <p:nvPr/>
        </p:nvSpPr>
        <p:spPr>
          <a:xfrm>
            <a:off x="548640" y="3529584"/>
            <a:ext cx="566928" cy="566928"/>
          </a:xfrm>
          <a:prstGeom prst="ellipse">
            <a:avLst/>
          </a:prstGeom>
          <a:solidFill>
            <a:schemeClr val="accent1"/>
          </a:solidFill>
          <a:ln w="6350">
            <a:solidFill>
              <a:schemeClr val="accent1"/>
            </a:solidFill>
            <a:prstDash val="solid"/>
          </a:ln>
        </p:spPr>
      </p:sp>
      <p:sp>
        <p:nvSpPr>
          <p:cNvPr id="12" name="Text 9"/>
          <p:cNvSpPr txBox="1"/>
          <p:nvPr/>
        </p:nvSpPr>
        <p:spPr>
          <a:xfrm>
            <a:off x="548640" y="3529584"/>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4.3</a:t>
            </a:r>
            <a:endParaRPr lang="en-US" sz="1500" dirty="0"/>
          </a:p>
        </p:txBody>
      </p:sp>
      <p:sp>
        <p:nvSpPr>
          <p:cNvPr id="13" name="Row text"/>
          <p:cNvSpPr txBox="1"/>
          <p:nvPr/>
        </p:nvSpPr>
        <p:spPr>
          <a:xfrm>
            <a:off x="1325880" y="3483864"/>
            <a:ext cx="10317175" cy="841248"/>
          </a:xfrm>
          <a:prstGeom prst="rect">
            <a:avLst/>
          </a:prstGeom>
          <a:noFill/>
          <a:ln/>
        </p:spPr>
        <p:txBody>
          <a:bodyPr wrap="square" lIns="0" tIns="0" rIns="0" bIns="0" rtlCol="0" anchor="ctr"/>
          <a:lstStyle/>
          <a:p>
            <a:pPr indent="0" marL="0">
              <a:buNone/>
            </a:pPr>
            <a:r>
              <a:rPr lang="en-US" sz="1600" dirty="0">
                <a:solidFill>
                  <a:schemeClr val="tx1"/>
                </a:solidFill>
              </a:rPr>
              <a:t>State when the KKT conditions are necessary, read multipliers as local prices and their sensitivities, and explain what happens to prices when a constraint qualification fails.</a:t>
            </a:r>
            <a:endParaRPr lang="en-US" sz="1600" dirty="0"/>
          </a:p>
        </p:txBody>
      </p:sp>
      <p:sp>
        <p:nvSpPr>
          <p:cNvPr id="14" name="Number"/>
          <p:cNvSpPr/>
          <p:nvPr/>
        </p:nvSpPr>
        <p:spPr>
          <a:xfrm>
            <a:off x="548640" y="4425696"/>
            <a:ext cx="566928" cy="566928"/>
          </a:xfrm>
          <a:prstGeom prst="ellipse">
            <a:avLst/>
          </a:prstGeom>
          <a:solidFill>
            <a:schemeClr val="accent1"/>
          </a:solidFill>
          <a:ln w="6350">
            <a:solidFill>
              <a:schemeClr val="accent1"/>
            </a:solidFill>
            <a:prstDash val="solid"/>
          </a:ln>
        </p:spPr>
      </p:sp>
      <p:sp>
        <p:nvSpPr>
          <p:cNvPr id="15" name="Text 12"/>
          <p:cNvSpPr txBox="1"/>
          <p:nvPr/>
        </p:nvSpPr>
        <p:spPr>
          <a:xfrm>
            <a:off x="548640" y="4425696"/>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4.4</a:t>
            </a:r>
            <a:endParaRPr lang="en-US" sz="1500" dirty="0"/>
          </a:p>
        </p:txBody>
      </p:sp>
      <p:sp>
        <p:nvSpPr>
          <p:cNvPr id="16" name="Row text"/>
          <p:cNvSpPr txBox="1"/>
          <p:nvPr/>
        </p:nvSpPr>
        <p:spPr>
          <a:xfrm>
            <a:off x="1325880" y="4379976"/>
            <a:ext cx="10317175" cy="841248"/>
          </a:xfrm>
          <a:prstGeom prst="rect">
            <a:avLst/>
          </a:prstGeom>
          <a:noFill/>
          <a:ln/>
        </p:spPr>
        <p:txBody>
          <a:bodyPr wrap="square" lIns="0" tIns="0" rIns="0" bIns="0" rtlCol="0" anchor="ctr"/>
          <a:lstStyle/>
          <a:p>
            <a:pPr indent="0" marL="0">
              <a:buNone/>
            </a:pPr>
            <a:r>
              <a:rPr lang="en-US" sz="1600" dirty="0">
                <a:solidFill>
                  <a:schemeClr val="tx1"/>
                </a:solidFill>
              </a:rPr>
              <a:t>Search a nonconvex landscape with local methods and many starting plans, report the inventory of local optima, and bound the best of them with a convex relaxation.</a:t>
            </a:r>
            <a:endParaRPr lang="en-US" sz="1600" dirty="0"/>
          </a:p>
        </p:txBody>
      </p:sp>
      <p:sp>
        <p:nvSpPr>
          <p:cNvPr id="17" name="Number"/>
          <p:cNvSpPr/>
          <p:nvPr/>
        </p:nvSpPr>
        <p:spPr>
          <a:xfrm>
            <a:off x="548640" y="5321808"/>
            <a:ext cx="566928" cy="566928"/>
          </a:xfrm>
          <a:prstGeom prst="ellipse">
            <a:avLst/>
          </a:prstGeom>
          <a:solidFill>
            <a:schemeClr val="accent1"/>
          </a:solidFill>
          <a:ln w="6350">
            <a:solidFill>
              <a:schemeClr val="accent1"/>
            </a:solidFill>
            <a:prstDash val="solid"/>
          </a:ln>
        </p:spPr>
      </p:sp>
      <p:sp>
        <p:nvSpPr>
          <p:cNvPr id="18" name="Text 15"/>
          <p:cNvSpPr txBox="1"/>
          <p:nvPr/>
        </p:nvSpPr>
        <p:spPr>
          <a:xfrm>
            <a:off x="548640" y="5321808"/>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4.5</a:t>
            </a:r>
            <a:endParaRPr lang="en-US" sz="1500" dirty="0"/>
          </a:p>
        </p:txBody>
      </p:sp>
      <p:sp>
        <p:nvSpPr>
          <p:cNvPr id="19" name="Row text"/>
          <p:cNvSpPr txBox="1"/>
          <p:nvPr/>
        </p:nvSpPr>
        <p:spPr>
          <a:xfrm>
            <a:off x="1325880" y="5276088"/>
            <a:ext cx="10317175" cy="841248"/>
          </a:xfrm>
          <a:prstGeom prst="rect">
            <a:avLst/>
          </a:prstGeom>
          <a:noFill/>
          <a:ln/>
        </p:spPr>
        <p:txBody>
          <a:bodyPr wrap="square" lIns="0" tIns="0" rIns="0" bIns="0" rtlCol="0" anchor="ctr"/>
          <a:lstStyle/>
          <a:p>
            <a:pPr indent="0" marL="0">
              <a:buNone/>
            </a:pPr>
            <a:r>
              <a:rPr lang="en-US" sz="1600" dirty="0">
                <a:solidFill>
                  <a:schemeClr val="tx1"/>
                </a:solidFill>
              </a:rPr>
              <a:t>Formulate lumpy decisions as a mixed-integer instance, solve it by branch-and-bound with a stated optimality gap, and use cutting planes and Lagrangian or Benders decomposition when it is large.</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ROADMAP</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Six sections, a worked example and a lab</a:t>
            </a:r>
            <a:endParaRPr lang="en-US" sz="3200" dirty="0"/>
          </a:p>
        </p:txBody>
      </p:sp>
      <p:sp>
        <p:nvSpPr>
          <p:cNvPr id="5" name="Card"/>
          <p:cNvSpPr/>
          <p:nvPr/>
        </p:nvSpPr>
        <p:spPr>
          <a:xfrm>
            <a:off x="548640" y="1691640"/>
            <a:ext cx="2567864" cy="2103120"/>
          </a:xfrm>
          <a:prstGeom prst="roundRect">
            <a:avLst>
              <a:gd name="adj" fmla="val 3478"/>
            </a:avLst>
          </a:prstGeom>
          <a:solidFill>
            <a:schemeClr val="bg2"/>
          </a:solidFill>
          <a:ln w="9525">
            <a:solidFill>
              <a:srgbClr val="C4CBD8"/>
            </a:solidFill>
            <a:prstDash val="solid"/>
          </a:ln>
        </p:spPr>
      </p:sp>
      <p:sp>
        <p:nvSpPr>
          <p:cNvPr id="6" name="Card label"/>
          <p:cNvSpPr txBox="1"/>
          <p:nvPr/>
        </p:nvSpPr>
        <p:spPr>
          <a:xfrm>
            <a:off x="731520"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§4.1</a:t>
            </a:r>
            <a:endParaRPr lang="en-US" sz="1300" dirty="0"/>
          </a:p>
        </p:txBody>
      </p:sp>
      <p:sp>
        <p:nvSpPr>
          <p:cNvPr id="7" name="Card head"/>
          <p:cNvSpPr txBox="1"/>
          <p:nvPr/>
        </p:nvSpPr>
        <p:spPr>
          <a:xfrm>
            <a:off x="731520" y="2148840"/>
            <a:ext cx="2202104" cy="106070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What Is Lost Beyond Convexity</a:t>
            </a:r>
            <a:endParaRPr lang="en-US" sz="1500" dirty="0"/>
          </a:p>
        </p:txBody>
      </p:sp>
      <p:sp>
        <p:nvSpPr>
          <p:cNvPr id="8" name="Card text"/>
          <p:cNvSpPr txBox="1"/>
          <p:nvPr/>
        </p:nvSpPr>
        <p:spPr>
          <a:xfrm>
            <a:off x="731520" y="3282696"/>
            <a:ext cx="2202104" cy="384048"/>
          </a:xfrm>
          <a:prstGeom prst="rect">
            <a:avLst/>
          </a:prstGeom>
          <a:noFill/>
          <a:ln/>
        </p:spPr>
        <p:txBody>
          <a:bodyPr wrap="square" lIns="0" tIns="0" rIns="0" bIns="0" rtlCol="0" anchor="t"/>
          <a:lstStyle/>
          <a:p>
            <a:pPr indent="0" marL="0">
              <a:buNone/>
            </a:pPr>
            <a:r>
              <a:rPr lang="en-US" sz="1300" dirty="0">
                <a:solidFill>
                  <a:schemeClr val="tx2"/>
                </a:solidFill>
              </a:rPr>
              <a:t>Proposition 4.1 · Table 4.1</a:t>
            </a:r>
            <a:endParaRPr lang="en-US" sz="1300" dirty="0"/>
          </a:p>
        </p:txBody>
      </p:sp>
      <p:sp>
        <p:nvSpPr>
          <p:cNvPr id="9" name="Card"/>
          <p:cNvSpPr/>
          <p:nvPr/>
        </p:nvSpPr>
        <p:spPr>
          <a:xfrm>
            <a:off x="3390824" y="1691640"/>
            <a:ext cx="2567864" cy="2103120"/>
          </a:xfrm>
          <a:prstGeom prst="roundRect">
            <a:avLst>
              <a:gd name="adj" fmla="val 3478"/>
            </a:avLst>
          </a:prstGeom>
          <a:solidFill>
            <a:schemeClr val="bg2"/>
          </a:solidFill>
          <a:ln w="9525">
            <a:solidFill>
              <a:srgbClr val="C4CBD8"/>
            </a:solidFill>
            <a:prstDash val="solid"/>
          </a:ln>
        </p:spPr>
      </p:sp>
      <p:sp>
        <p:nvSpPr>
          <p:cNvPr id="10" name="Card label"/>
          <p:cNvSpPr txBox="1"/>
          <p:nvPr/>
        </p:nvSpPr>
        <p:spPr>
          <a:xfrm>
            <a:off x="3573704"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§4.2</a:t>
            </a:r>
            <a:endParaRPr lang="en-US" sz="1300" dirty="0"/>
          </a:p>
        </p:txBody>
      </p:sp>
      <p:sp>
        <p:nvSpPr>
          <p:cNvPr id="11" name="Card head"/>
          <p:cNvSpPr txBox="1"/>
          <p:nvPr/>
        </p:nvSpPr>
        <p:spPr>
          <a:xfrm>
            <a:off x="3573704" y="2148840"/>
            <a:ext cx="2202104" cy="106070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Local Answers</a:t>
            </a:r>
            <a:endParaRPr lang="en-US" sz="1500" dirty="0"/>
          </a:p>
        </p:txBody>
      </p:sp>
      <p:sp>
        <p:nvSpPr>
          <p:cNvPr id="12" name="Card text"/>
          <p:cNvSpPr txBox="1"/>
          <p:nvPr/>
        </p:nvSpPr>
        <p:spPr>
          <a:xfrm>
            <a:off x="3573704" y="3282696"/>
            <a:ext cx="2202104" cy="384048"/>
          </a:xfrm>
          <a:prstGeom prst="rect">
            <a:avLst/>
          </a:prstGeom>
          <a:noFill/>
          <a:ln/>
        </p:spPr>
        <p:txBody>
          <a:bodyPr wrap="square" lIns="0" tIns="0" rIns="0" bIns="0" rtlCol="0" anchor="t"/>
          <a:lstStyle/>
          <a:p>
            <a:pPr indent="0" marL="0">
              <a:buNone/>
            </a:pPr>
            <a:r>
              <a:rPr lang="en-US" sz="1300" dirty="0">
                <a:solidFill>
                  <a:schemeClr val="tx2"/>
                </a:solidFill>
              </a:rPr>
              <a:t>Theorem 4.1 · Proposition 4.2</a:t>
            </a:r>
            <a:endParaRPr lang="en-US" sz="1300" dirty="0"/>
          </a:p>
        </p:txBody>
      </p:sp>
      <p:sp>
        <p:nvSpPr>
          <p:cNvPr id="13" name="Card"/>
          <p:cNvSpPr/>
          <p:nvPr/>
        </p:nvSpPr>
        <p:spPr>
          <a:xfrm>
            <a:off x="6233008" y="1691640"/>
            <a:ext cx="2567864" cy="2103120"/>
          </a:xfrm>
          <a:prstGeom prst="roundRect">
            <a:avLst>
              <a:gd name="adj" fmla="val 3478"/>
            </a:avLst>
          </a:prstGeom>
          <a:solidFill>
            <a:schemeClr val="bg2"/>
          </a:solidFill>
          <a:ln w="9525">
            <a:solidFill>
              <a:srgbClr val="C4CBD8"/>
            </a:solidFill>
            <a:prstDash val="solid"/>
          </a:ln>
        </p:spPr>
      </p:sp>
      <p:sp>
        <p:nvSpPr>
          <p:cNvPr id="14" name="Card label"/>
          <p:cNvSpPr txBox="1"/>
          <p:nvPr/>
        </p:nvSpPr>
        <p:spPr>
          <a:xfrm>
            <a:off x="6415888"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§4.3</a:t>
            </a:r>
            <a:endParaRPr lang="en-US" sz="1300" dirty="0"/>
          </a:p>
        </p:txBody>
      </p:sp>
      <p:sp>
        <p:nvSpPr>
          <p:cNvPr id="15" name="Card head"/>
          <p:cNvSpPr txBox="1"/>
          <p:nvPr/>
        </p:nvSpPr>
        <p:spPr>
          <a:xfrm>
            <a:off x="6415888" y="2148840"/>
            <a:ext cx="2202104" cy="106070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Multipliers and Local Prices</a:t>
            </a:r>
            <a:endParaRPr lang="en-US" sz="1500" dirty="0"/>
          </a:p>
        </p:txBody>
      </p:sp>
      <p:sp>
        <p:nvSpPr>
          <p:cNvPr id="16" name="Card text"/>
          <p:cNvSpPr txBox="1"/>
          <p:nvPr/>
        </p:nvSpPr>
        <p:spPr>
          <a:xfrm>
            <a:off x="6415888" y="3282696"/>
            <a:ext cx="2202104" cy="384048"/>
          </a:xfrm>
          <a:prstGeom prst="rect">
            <a:avLst/>
          </a:prstGeom>
          <a:noFill/>
          <a:ln/>
        </p:spPr>
        <p:txBody>
          <a:bodyPr wrap="square" lIns="0" tIns="0" rIns="0" bIns="0" rtlCol="0" anchor="t"/>
          <a:lstStyle/>
          <a:p>
            <a:pPr indent="0" marL="0">
              <a:buNone/>
            </a:pPr>
            <a:r>
              <a:rPr lang="en-US" sz="1300" dirty="0">
                <a:solidFill>
                  <a:schemeClr val="tx2"/>
                </a:solidFill>
              </a:rPr>
              <a:t>Theorems 4.2–4.3</a:t>
            </a:r>
            <a:endParaRPr lang="en-US" sz="1300" dirty="0"/>
          </a:p>
        </p:txBody>
      </p:sp>
      <p:sp>
        <p:nvSpPr>
          <p:cNvPr id="17" name="Card"/>
          <p:cNvSpPr/>
          <p:nvPr/>
        </p:nvSpPr>
        <p:spPr>
          <a:xfrm>
            <a:off x="9075191" y="1691640"/>
            <a:ext cx="2567864" cy="2103120"/>
          </a:xfrm>
          <a:prstGeom prst="roundRect">
            <a:avLst>
              <a:gd name="adj" fmla="val 3478"/>
            </a:avLst>
          </a:prstGeom>
          <a:solidFill>
            <a:schemeClr val="bg2"/>
          </a:solidFill>
          <a:ln w="9525">
            <a:solidFill>
              <a:srgbClr val="C4CBD8"/>
            </a:solidFill>
            <a:prstDash val="solid"/>
          </a:ln>
        </p:spPr>
      </p:sp>
      <p:sp>
        <p:nvSpPr>
          <p:cNvPr id="18" name="Card label"/>
          <p:cNvSpPr txBox="1"/>
          <p:nvPr/>
        </p:nvSpPr>
        <p:spPr>
          <a:xfrm>
            <a:off x="9258071"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§4.4</a:t>
            </a:r>
            <a:endParaRPr lang="en-US" sz="1300" dirty="0"/>
          </a:p>
        </p:txBody>
      </p:sp>
      <p:sp>
        <p:nvSpPr>
          <p:cNvPr id="19" name="Card head"/>
          <p:cNvSpPr txBox="1"/>
          <p:nvPr/>
        </p:nvSpPr>
        <p:spPr>
          <a:xfrm>
            <a:off x="9258071" y="2148840"/>
            <a:ext cx="2202104" cy="106070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Searching Smooth Landscapes</a:t>
            </a:r>
            <a:endParaRPr lang="en-US" sz="1500" dirty="0"/>
          </a:p>
        </p:txBody>
      </p:sp>
      <p:sp>
        <p:nvSpPr>
          <p:cNvPr id="20" name="Card text"/>
          <p:cNvSpPr txBox="1"/>
          <p:nvPr/>
        </p:nvSpPr>
        <p:spPr>
          <a:xfrm>
            <a:off x="9258071" y="3282696"/>
            <a:ext cx="2202104" cy="384048"/>
          </a:xfrm>
          <a:prstGeom prst="rect">
            <a:avLst/>
          </a:prstGeom>
          <a:noFill/>
          <a:ln/>
        </p:spPr>
        <p:txBody>
          <a:bodyPr wrap="square" lIns="0" tIns="0" rIns="0" bIns="0" rtlCol="0" anchor="t"/>
          <a:lstStyle/>
          <a:p>
            <a:pPr indent="0" marL="0">
              <a:buNone/>
            </a:pPr>
            <a:r>
              <a:rPr lang="en-US" sz="1300" dirty="0">
                <a:solidFill>
                  <a:schemeClr val="tx2"/>
                </a:solidFill>
              </a:rPr>
              <a:t>Table 4.2 · multistart</a:t>
            </a:r>
            <a:endParaRPr lang="en-US" sz="1300" dirty="0"/>
          </a:p>
        </p:txBody>
      </p:sp>
      <p:sp>
        <p:nvSpPr>
          <p:cNvPr id="21" name="Card"/>
          <p:cNvSpPr/>
          <p:nvPr/>
        </p:nvSpPr>
        <p:spPr>
          <a:xfrm>
            <a:off x="548640" y="4069080"/>
            <a:ext cx="2567864" cy="2103120"/>
          </a:xfrm>
          <a:prstGeom prst="roundRect">
            <a:avLst>
              <a:gd name="adj" fmla="val 3478"/>
            </a:avLst>
          </a:prstGeom>
          <a:solidFill>
            <a:schemeClr val="bg2"/>
          </a:solidFill>
          <a:ln w="9525">
            <a:solidFill>
              <a:srgbClr val="C4CBD8"/>
            </a:solidFill>
            <a:prstDash val="solid"/>
          </a:ln>
        </p:spPr>
      </p:sp>
      <p:sp>
        <p:nvSpPr>
          <p:cNvPr id="22" name="Card label"/>
          <p:cNvSpPr txBox="1"/>
          <p:nvPr/>
        </p:nvSpPr>
        <p:spPr>
          <a:xfrm>
            <a:off x="731520" y="419709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§4.5</a:t>
            </a:r>
            <a:endParaRPr lang="en-US" sz="1300" dirty="0"/>
          </a:p>
        </p:txBody>
      </p:sp>
      <p:sp>
        <p:nvSpPr>
          <p:cNvPr id="23" name="Card head"/>
          <p:cNvSpPr txBox="1"/>
          <p:nvPr/>
        </p:nvSpPr>
        <p:spPr>
          <a:xfrm>
            <a:off x="731520" y="4526280"/>
            <a:ext cx="2202104" cy="106070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Lumpy Decisions and Branch-and-Bound</a:t>
            </a:r>
            <a:endParaRPr lang="en-US" sz="1500" dirty="0"/>
          </a:p>
        </p:txBody>
      </p:sp>
      <p:sp>
        <p:nvSpPr>
          <p:cNvPr id="24" name="Card text"/>
          <p:cNvSpPr txBox="1"/>
          <p:nvPr/>
        </p:nvSpPr>
        <p:spPr>
          <a:xfrm>
            <a:off x="731520" y="5660136"/>
            <a:ext cx="2202104" cy="384048"/>
          </a:xfrm>
          <a:prstGeom prst="rect">
            <a:avLst/>
          </a:prstGeom>
          <a:noFill/>
          <a:ln/>
        </p:spPr>
        <p:txBody>
          <a:bodyPr wrap="square" lIns="0" tIns="0" rIns="0" bIns="0" rtlCol="0" anchor="t"/>
          <a:lstStyle/>
          <a:p>
            <a:pPr indent="0" marL="0">
              <a:buNone/>
            </a:pPr>
            <a:r>
              <a:rPr lang="en-US" sz="1300" dirty="0">
                <a:solidFill>
                  <a:schemeClr val="tx2"/>
                </a:solidFill>
              </a:rPr>
              <a:t>Theorem 4.4 · Table 4.3</a:t>
            </a:r>
            <a:endParaRPr lang="en-US" sz="1300" dirty="0"/>
          </a:p>
        </p:txBody>
      </p:sp>
      <p:sp>
        <p:nvSpPr>
          <p:cNvPr id="25" name="Card"/>
          <p:cNvSpPr/>
          <p:nvPr/>
        </p:nvSpPr>
        <p:spPr>
          <a:xfrm>
            <a:off x="3390824" y="4069080"/>
            <a:ext cx="2567864" cy="2103120"/>
          </a:xfrm>
          <a:prstGeom prst="roundRect">
            <a:avLst>
              <a:gd name="adj" fmla="val 3478"/>
            </a:avLst>
          </a:prstGeom>
          <a:solidFill>
            <a:schemeClr val="bg2"/>
          </a:solidFill>
          <a:ln w="9525">
            <a:solidFill>
              <a:srgbClr val="C4CBD8"/>
            </a:solidFill>
            <a:prstDash val="solid"/>
          </a:ln>
        </p:spPr>
      </p:sp>
      <p:sp>
        <p:nvSpPr>
          <p:cNvPr id="26" name="Card label"/>
          <p:cNvSpPr txBox="1"/>
          <p:nvPr/>
        </p:nvSpPr>
        <p:spPr>
          <a:xfrm>
            <a:off x="3573704" y="419709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§4.6</a:t>
            </a:r>
            <a:endParaRPr lang="en-US" sz="1300" dirty="0"/>
          </a:p>
        </p:txBody>
      </p:sp>
      <p:sp>
        <p:nvSpPr>
          <p:cNvPr id="27" name="Card head"/>
          <p:cNvSpPr txBox="1"/>
          <p:nvPr/>
        </p:nvSpPr>
        <p:spPr>
          <a:xfrm>
            <a:off x="3573704" y="4526280"/>
            <a:ext cx="2202104" cy="106070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Decomposition, and the Road to Policies</a:t>
            </a:r>
            <a:endParaRPr lang="en-US" sz="1500" dirty="0"/>
          </a:p>
        </p:txBody>
      </p:sp>
      <p:sp>
        <p:nvSpPr>
          <p:cNvPr id="28" name="Card text"/>
          <p:cNvSpPr txBox="1"/>
          <p:nvPr/>
        </p:nvSpPr>
        <p:spPr>
          <a:xfrm>
            <a:off x="3573704" y="5660136"/>
            <a:ext cx="2202104" cy="384048"/>
          </a:xfrm>
          <a:prstGeom prst="rect">
            <a:avLst/>
          </a:prstGeom>
          <a:noFill/>
          <a:ln/>
        </p:spPr>
        <p:txBody>
          <a:bodyPr wrap="square" lIns="0" tIns="0" rIns="0" bIns="0" rtlCol="0" anchor="t"/>
          <a:lstStyle/>
          <a:p>
            <a:pPr indent="0" marL="0">
              <a:buNone/>
            </a:pPr>
            <a:r>
              <a:rPr lang="en-US" sz="1300" dirty="0">
                <a:solidFill>
                  <a:schemeClr val="tx2"/>
                </a:solidFill>
              </a:rPr>
              <a:t>Theorem 4.5</a:t>
            </a:r>
            <a:endParaRPr lang="en-US" sz="1300" dirty="0"/>
          </a:p>
        </p:txBody>
      </p:sp>
      <p:sp>
        <p:nvSpPr>
          <p:cNvPr id="29" name="Card"/>
          <p:cNvSpPr/>
          <p:nvPr/>
        </p:nvSpPr>
        <p:spPr>
          <a:xfrm>
            <a:off x="6233008" y="4069080"/>
            <a:ext cx="2567864" cy="2103120"/>
          </a:xfrm>
          <a:prstGeom prst="roundRect">
            <a:avLst>
              <a:gd name="adj" fmla="val 3478"/>
            </a:avLst>
          </a:prstGeom>
          <a:solidFill>
            <a:schemeClr val="tx1"/>
          </a:solidFill>
          <a:ln w="9525">
            <a:solidFill>
              <a:srgbClr val="0F1E3D"/>
            </a:solidFill>
            <a:prstDash val="solid"/>
          </a:ln>
        </p:spPr>
      </p:sp>
      <p:sp>
        <p:nvSpPr>
          <p:cNvPr id="30" name="Card label"/>
          <p:cNvSpPr txBox="1"/>
          <p:nvPr/>
        </p:nvSpPr>
        <p:spPr>
          <a:xfrm>
            <a:off x="6415888" y="419709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Worked Example 4.1</a:t>
            </a:r>
            <a:endParaRPr lang="en-US" sz="1300" dirty="0"/>
          </a:p>
        </p:txBody>
      </p:sp>
      <p:sp>
        <p:nvSpPr>
          <p:cNvPr id="31" name="Card head"/>
          <p:cNvSpPr txBox="1"/>
          <p:nvPr/>
        </p:nvSpPr>
        <p:spPr>
          <a:xfrm>
            <a:off x="6415888" y="4526280"/>
            <a:ext cx="2202104" cy="1060704"/>
          </a:xfrm>
          <a:prstGeom prst="rect">
            <a:avLst/>
          </a:prstGeom>
          <a:noFill/>
          <a:ln/>
        </p:spPr>
        <p:txBody>
          <a:bodyPr wrap="square" lIns="0" tIns="0" rIns="0" bIns="0" rtlCol="0" anchor="t"/>
          <a:lstStyle/>
          <a:p>
            <a:pPr indent="0" marL="0">
              <a:buNone/>
            </a:pPr>
            <a:r>
              <a:rPr lang="en-US" sz="1500" b="1" dirty="0">
                <a:solidFill>
                  <a:schemeClr val="bg1"/>
                </a:solidFill>
                <a:latin typeface="Cambria" pitchFamily="34" charset="0"/>
                <a:ea typeface="Cambria" pitchFamily="34" charset="-122"/>
                <a:cs typeface="Cambria" pitchFamily="34" charset="-120"/>
              </a:rPr>
              <a:t>Can Meridian Automate Part of a Line?</a:t>
            </a:r>
            <a:endParaRPr lang="en-US" sz="1500" dirty="0"/>
          </a:p>
        </p:txBody>
      </p:sp>
      <p:sp>
        <p:nvSpPr>
          <p:cNvPr id="32" name="Card text"/>
          <p:cNvSpPr txBox="1"/>
          <p:nvPr/>
        </p:nvSpPr>
        <p:spPr>
          <a:xfrm>
            <a:off x="6415888" y="5660136"/>
            <a:ext cx="2202104" cy="384048"/>
          </a:xfrm>
          <a:prstGeom prst="rect">
            <a:avLst/>
          </a:prstGeom>
          <a:noFill/>
          <a:ln/>
        </p:spPr>
        <p:txBody>
          <a:bodyPr wrap="square" lIns="0" tIns="0" rIns="0" bIns="0" rtlCol="0" anchor="t"/>
          <a:lstStyle/>
          <a:p>
            <a:pPr indent="0" marL="0">
              <a:buNone/>
            </a:pPr>
            <a:r>
              <a:rPr lang="en-US" sz="1300" dirty="0">
                <a:solidFill>
                  <a:schemeClr val="bg2"/>
                </a:solidFill>
              </a:rPr>
              <a:t>Table 4.4 · Figures 4.1, 4.3</a:t>
            </a:r>
            <a:endParaRPr lang="en-US" sz="1300" dirty="0"/>
          </a:p>
        </p:txBody>
      </p:sp>
      <p:sp>
        <p:nvSpPr>
          <p:cNvPr id="33" name="Card"/>
          <p:cNvSpPr/>
          <p:nvPr/>
        </p:nvSpPr>
        <p:spPr>
          <a:xfrm>
            <a:off x="9075191" y="4069080"/>
            <a:ext cx="2567864" cy="2103120"/>
          </a:xfrm>
          <a:prstGeom prst="roundRect">
            <a:avLst>
              <a:gd name="adj" fmla="val 3478"/>
            </a:avLst>
          </a:prstGeom>
          <a:solidFill>
            <a:schemeClr val="bg2"/>
          </a:solidFill>
          <a:ln w="9525">
            <a:solidFill>
              <a:srgbClr val="C4CBD8"/>
            </a:solidFill>
            <a:prstDash val="solid"/>
          </a:ln>
        </p:spPr>
      </p:sp>
      <p:sp>
        <p:nvSpPr>
          <p:cNvPr id="34" name="Card label"/>
          <p:cNvSpPr txBox="1"/>
          <p:nvPr/>
        </p:nvSpPr>
        <p:spPr>
          <a:xfrm>
            <a:off x="9258071" y="419709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AXIOM Lab 2.4</a:t>
            </a:r>
            <a:endParaRPr lang="en-US" sz="1300" dirty="0"/>
          </a:p>
        </p:txBody>
      </p:sp>
      <p:sp>
        <p:nvSpPr>
          <p:cNvPr id="35" name="Card head"/>
          <p:cNvSpPr txBox="1"/>
          <p:nvPr/>
        </p:nvSpPr>
        <p:spPr>
          <a:xfrm>
            <a:off x="9258071" y="4526280"/>
            <a:ext cx="2202104" cy="106070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Local Search, Bounds, and Branch-and-Bound</a:t>
            </a:r>
            <a:endParaRPr lang="en-US" sz="1500" dirty="0"/>
          </a:p>
        </p:txBody>
      </p:sp>
      <p:sp>
        <p:nvSpPr>
          <p:cNvPr id="36" name="Card text"/>
          <p:cNvSpPr txBox="1"/>
          <p:nvPr/>
        </p:nvSpPr>
        <p:spPr>
          <a:xfrm>
            <a:off x="9258071" y="5660136"/>
            <a:ext cx="2202104" cy="384048"/>
          </a:xfrm>
          <a:prstGeom prst="rect">
            <a:avLst/>
          </a:prstGeom>
          <a:noFill/>
          <a:ln/>
        </p:spPr>
        <p:txBody>
          <a:bodyPr wrap="square" lIns="0" tIns="0" rIns="0" bIns="0" rtlCol="0" anchor="t"/>
          <a:lstStyle/>
          <a:p>
            <a:pPr indent="0" marL="0">
              <a:buNone/>
            </a:pPr>
            <a:r>
              <a:rPr lang="en-US" sz="1300" dirty="0">
                <a:solidFill>
                  <a:schemeClr val="tx2"/>
                </a:solidFill>
              </a:rPr>
              <a:t>AXIOM-04 · five steps</a:t>
            </a:r>
            <a:endParaRPr lang="en-US" sz="13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§4.1 · PROPOSITION 4.1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Beyond convexity, the guarantees go</a:t>
            </a:r>
            <a:endParaRPr lang="en-US" sz="3200" dirty="0"/>
          </a:p>
        </p:txBody>
      </p:sp>
      <p:sp>
        <p:nvSpPr>
          <p:cNvPr id="5" name="Result card"/>
          <p:cNvSpPr/>
          <p:nvPr/>
        </p:nvSpPr>
        <p:spPr>
          <a:xfrm>
            <a:off x="548640" y="1691640"/>
            <a:ext cx="576072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521208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PROPOSITION 4.1</a:t>
            </a:r>
            <a:endParaRPr lang="en-US" sz="1200" dirty="0"/>
          </a:p>
        </p:txBody>
      </p:sp>
      <p:sp>
        <p:nvSpPr>
          <p:cNvPr id="7" name="Text 4"/>
          <p:cNvSpPr txBox="1"/>
          <p:nvPr/>
        </p:nvSpPr>
        <p:spPr>
          <a:xfrm>
            <a:off x="822960" y="2194560"/>
            <a:ext cx="521208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What Is Lost Beyond Convexity</a:t>
            </a:r>
            <a:endParaRPr lang="en-US" sz="2100" dirty="0"/>
          </a:p>
        </p:txBody>
      </p:sp>
      <p:sp>
        <p:nvSpPr>
          <p:cNvPr id="8" name="Bullets"/>
          <p:cNvSpPr txBox="1"/>
          <p:nvPr/>
        </p:nvSpPr>
        <p:spPr>
          <a:xfrm>
            <a:off x="822960" y="2743200"/>
            <a:ext cx="5212080" cy="3291840"/>
          </a:xfrm>
          <a:prstGeom prst="rect">
            <a:avLst/>
          </a:prstGeom>
          <a:noFill/>
          <a:ln/>
        </p:spPr>
        <p:txBody>
          <a:bodyPr wrap="square" lIns="635" tIns="635" rIns="635" bIns="635" rtlCol="0" anchor="t"/>
          <a:lstStyle/>
          <a:p>
            <a:pPr marL="228600" indent="-228600">
              <a:spcAft>
                <a:spcPts val="600"/>
              </a:spcAft>
              <a:buSzPct val="100000"/>
              <a:buChar char="•"/>
            </a:pPr>
            <a:r>
              <a:rPr lang="en-US" sz="1600" dirty="0">
                <a:solidFill>
                  <a:schemeClr val="tx1"/>
                </a:solidFill>
              </a:rPr>
              <a:t>Every convex instance with differentiable data is a NEO problem (Definition 4.1). Beyond convexity:</a:t>
            </a:r>
            <a:endParaRPr lang="en-US" sz="1600" dirty="0"/>
          </a:p>
          <a:p>
            <a:pPr marL="228600" indent="-228600">
              <a:spcAft>
                <a:spcPts val="600"/>
              </a:spcAft>
              <a:buSzPct val="100000"/>
              <a:buChar char="•"/>
            </a:pPr>
            <a:r>
              <a:rPr lang="en-US" sz="1600" b="1" dirty="0">
                <a:solidFill>
                  <a:schemeClr val="tx1"/>
                </a:solidFill>
              </a:rPr>
              <a:t>(i)</a:t>
            </a:r>
            <a:r>
              <a:rPr lang="en-US" sz="1600" dirty="0">
                <a:solidFill>
                  <a:schemeClr val="tx1"/>
                </a:solidFill>
              </a:rPr>
              <a:t> a smooth instance can have strict local maxima of different values, and KKT points that are not maxima</a:t>
            </a:r>
            <a:endParaRPr lang="en-US" sz="1600" dirty="0"/>
          </a:p>
          <a:p>
            <a:pPr marL="228600" indent="-228600">
              <a:spcAft>
                <a:spcPts val="600"/>
              </a:spcAft>
              <a:buSzPct val="100000"/>
              <a:buChar char="•"/>
            </a:pPr>
            <a:r>
              <a:rPr lang="en-US" sz="1600" b="1" dirty="0">
                <a:solidFill>
                  <a:schemeClr val="tx1"/>
                </a:solidFill>
              </a:rPr>
              <a:t>(ii)</a:t>
            </a:r>
            <a:r>
              <a:rPr lang="en-US" sz="1600" dirty="0">
                <a:solidFill>
                  <a:schemeClr val="tx1"/>
                </a:solidFill>
              </a:rPr>
              <a:t> when every decision is lumpy, every feasible plan is a local maximum</a:t>
            </a:r>
            <a:endParaRPr lang="en-US" sz="1600" dirty="0"/>
          </a:p>
          <a:p>
            <a:pPr marL="228600" indent="-228600">
              <a:spcAft>
                <a:spcPts val="600"/>
              </a:spcAft>
              <a:buSzPct val="100000"/>
              <a:buChar char="•"/>
            </a:pPr>
            <a:r>
              <a:rPr lang="en-US" sz="1600" b="1" dirty="0">
                <a:solidFill>
                  <a:schemeClr val="tx1"/>
                </a:solidFill>
              </a:rPr>
              <a:t>(iii)</a:t>
            </a:r>
            <a:r>
              <a:rPr lang="en-US" sz="1600" dirty="0">
                <a:solidFill>
                  <a:schemeClr val="tx1"/>
                </a:solidFill>
              </a:rPr>
              <a:t> the best ceiling a price list gives can exceed the best value, with room to spare in every commitment</a:t>
            </a:r>
            <a:endParaRPr lang="en-US" sz="1600" dirty="0"/>
          </a:p>
          <a:p>
            <a:pPr marL="228600" indent="-228600">
              <a:spcAft>
                <a:spcPts val="600"/>
              </a:spcAft>
              <a:buSzPct val="100000"/>
              <a:buChar char="•"/>
            </a:pPr>
            <a:r>
              <a:rPr lang="en-US" sz="1600" b="1" dirty="0">
                <a:solidFill>
                  <a:schemeClr val="tx1"/>
                </a:solidFill>
              </a:rPr>
              <a:t>(iv)</a:t>
            </a:r>
            <a:r>
              <a:rPr lang="en-US" sz="1600" dirty="0">
                <a:solidFill>
                  <a:schemeClr val="tx1"/>
                </a:solidFill>
              </a:rPr>
              <a:t> a blend of two feasible plans can be infeasible, even when every function is smooth</a:t>
            </a:r>
            <a:endParaRPr lang="en-US" sz="1600" dirty="0"/>
          </a:p>
        </p:txBody>
      </p:sp>
      <p:sp>
        <p:nvSpPr>
          <p:cNvPr id="9" name="Text 6"/>
          <p:cNvSpPr txBox="1"/>
          <p:nvPr/>
        </p:nvSpPr>
        <p:spPr>
          <a:xfrm>
            <a:off x="6720840" y="1737360"/>
            <a:ext cx="4922215" cy="365760"/>
          </a:xfrm>
          <a:prstGeom prst="rect">
            <a:avLst/>
          </a:prstGeom>
          <a:noFill/>
          <a:ln/>
        </p:spPr>
        <p:txBody>
          <a:bodyPr wrap="square" lIns="0" tIns="0" rIns="0" bIns="0" rtlCol="0" anchor="ctr"/>
          <a:lstStyle/>
          <a:p>
            <a:pPr indent="0" marL="0">
              <a:buNone/>
            </a:pPr>
            <a:r>
              <a:rPr lang="en-US" sz="1600" b="1" dirty="0">
                <a:solidFill>
                  <a:schemeClr val="accent2"/>
                </a:solidFill>
              </a:rPr>
              <a:t>Three doors, and Meridian's witnesses</a:t>
            </a:r>
            <a:endParaRPr lang="en-US" sz="1600" dirty="0"/>
          </a:p>
        </p:txBody>
      </p:sp>
      <p:sp>
        <p:nvSpPr>
          <p:cNvPr id="10" name="Bullets"/>
          <p:cNvSpPr txBox="1"/>
          <p:nvPr/>
        </p:nvSpPr>
        <p:spPr>
          <a:xfrm>
            <a:off x="6720840" y="2194560"/>
            <a:ext cx="4922215" cy="3977640"/>
          </a:xfrm>
          <a:prstGeom prst="rect">
            <a:avLst/>
          </a:prstGeom>
          <a:noFill/>
          <a:ln/>
        </p:spPr>
        <p:txBody>
          <a:bodyPr wrap="square" lIns="635" tIns="635" rIns="635" bIns="635" rtlCol="0" anchor="t"/>
          <a:lstStyle/>
          <a:p>
            <a:pPr marL="228600" indent="-228600">
              <a:spcAft>
                <a:spcPts val="800"/>
              </a:spcAft>
              <a:buSzPct val="100000"/>
              <a:buChar char="•"/>
            </a:pPr>
            <a:r>
              <a:rPr lang="en-US" sz="1500" b="1" dirty="0">
                <a:solidFill>
                  <a:schemeClr val="tx1"/>
                </a:solidFill>
              </a:rPr>
              <a:t>Products of decisions:</a:t>
            </a:r>
            <a:r>
              <a:rPr lang="en-US" sz="1500" dirty="0">
                <a:solidFill>
                  <a:schemeClr val="tx1"/>
                </a:solidFill>
              </a:rPr>
              <a:t> each automation round closes a share of the remaining gap, so rounds multiply</a:t>
            </a:r>
            <a:endParaRPr lang="en-US" sz="1500" dirty="0"/>
          </a:p>
          <a:p>
            <a:pPr marL="228600" indent="-228600">
              <a:spcAft>
                <a:spcPts val="800"/>
              </a:spcAft>
              <a:buSzPct val="100000"/>
              <a:buChar char="•"/>
            </a:pPr>
            <a:r>
              <a:rPr lang="en-US" sz="1500" b="1" dirty="0">
                <a:solidFill>
                  <a:schemeClr val="tx1"/>
                </a:solidFill>
              </a:rPr>
              <a:t>Economies of scale and thresholds:</a:t>
            </a:r>
            <a:r>
              <a:rPr lang="en-US" sz="1500" dirty="0">
                <a:solidFill>
                  <a:schemeClr val="tx1"/>
                </a:solidFill>
              </a:rPr>
              <a:t> costs that rise less than in proportion; minimum scales</a:t>
            </a:r>
            <a:endParaRPr lang="en-US" sz="1500" dirty="0"/>
          </a:p>
          <a:p>
            <a:pPr marL="228600" indent="-228600">
              <a:spcAft>
                <a:spcPts val="800"/>
              </a:spcAft>
              <a:buSzPct val="100000"/>
              <a:buChar char="•"/>
            </a:pPr>
            <a:r>
              <a:rPr lang="en-US" sz="1500" b="1" dirty="0">
                <a:solidFill>
                  <a:schemeClr val="tx1"/>
                </a:solidFill>
              </a:rPr>
              <a:t>Lumpy choices:</a:t>
            </a:r>
            <a:r>
              <a:rPr lang="en-US" sz="1500" dirty="0">
                <a:solidFill>
                  <a:schemeClr val="tx1"/>
                </a:solidFill>
              </a:rPr>
              <a:t> tranches, whole quarters and yes-or-no programs split the region into pieces</a:t>
            </a:r>
            <a:endParaRPr lang="en-US" sz="1500" dirty="0"/>
          </a:p>
          <a:p>
            <a:pPr marL="228600" indent="-228600">
              <a:spcAft>
                <a:spcPts val="800"/>
              </a:spcAft>
              <a:buSzPct val="100000"/>
              <a:buChar char="•"/>
            </a:pPr>
            <a:r>
              <a:rPr lang="en-US" sz="1500" dirty="0">
                <a:solidFill>
                  <a:schemeClr val="tx1"/>
                </a:solidFill>
              </a:rPr>
              <a:t>Part (iii): with a $60m cap, half a round, the program is worth $150m; the best price list says $650m</a:t>
            </a:r>
            <a:endParaRPr lang="en-US" sz="15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§4.1 · TABLE 4.1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Chapter 3's promises, beyond convexity</a:t>
            </a:r>
            <a:endParaRPr lang="en-US" sz="3200" dirty="0"/>
          </a:p>
        </p:txBody>
      </p:sp>
      <p:graphicFrame>
        <p:nvGraphicFramePr>
          <p:cNvPr id="7"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2910011"/>
                <a:gridCol w="4183140"/>
                <a:gridCol w="4001264"/>
              </a:tblGrid>
              <a:tr h="566928">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Promise of a convex instance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Smooth, nonconvex</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Lumpy</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566928">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a local answer is global</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several local maxima; bracket the best with a ceiling (Section 4.4)</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every lumpy plan is locally best; search with bounds (Section 4.5)</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566928">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the KKT conditions certify</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they mark a candidate; add the second-order test (Theorem 4.1)</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they say nothing about the lumpy choices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566928">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multipliers exist</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under a constraint qualification (Theorem 4.2)</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only for the continuous part</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566928">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prices are global ceilings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local slopes (Theorem 4.3)</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none: values move in steps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566928">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the best price list closes the gap</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a gap can remain; relaxations and price lists still bound</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the gap is the search's stopping rule (Theorem 4.4)</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566928">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computing time is predictable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fast to a local answer; slow to a proved global one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can grow exponentially; stop at a declared gap</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bl>
          </a:graphicData>
        </a:graphic>
      </p:graphicFrame>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§4.2 · THEOREM 4.1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Audit a local answer at two orders</a:t>
            </a:r>
            <a:endParaRPr lang="en-US" sz="3200" dirty="0"/>
          </a:p>
        </p:txBody>
      </p:sp>
      <p:sp>
        <p:nvSpPr>
          <p:cNvPr id="5" name="Result card"/>
          <p:cNvSpPr/>
          <p:nvPr/>
        </p:nvSpPr>
        <p:spPr>
          <a:xfrm>
            <a:off x="548640" y="1691640"/>
            <a:ext cx="576072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521208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THEOREM 4.1</a:t>
            </a:r>
            <a:endParaRPr lang="en-US" sz="1200" dirty="0"/>
          </a:p>
        </p:txBody>
      </p:sp>
      <p:sp>
        <p:nvSpPr>
          <p:cNvPr id="7" name="Text 4"/>
          <p:cNvSpPr txBox="1"/>
          <p:nvPr/>
        </p:nvSpPr>
        <p:spPr>
          <a:xfrm>
            <a:off x="822960" y="2194560"/>
            <a:ext cx="521208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Local Optimality Theorem</a:t>
            </a:r>
            <a:endParaRPr lang="en-US" sz="2100" dirty="0"/>
          </a:p>
        </p:txBody>
      </p:sp>
      <p:sp>
        <p:nvSpPr>
          <p:cNvPr id="8" name="Bullets"/>
          <p:cNvSpPr txBox="1"/>
          <p:nvPr/>
        </p:nvSpPr>
        <p:spPr>
          <a:xfrm>
            <a:off x="822960" y="2743200"/>
            <a:ext cx="5212080" cy="3291840"/>
          </a:xfrm>
          <a:prstGeom prst="rect">
            <a:avLst/>
          </a:prstGeom>
          <a:noFill/>
          <a:ln/>
        </p:spPr>
        <p:txBody>
          <a:bodyPr wrap="square" lIns="635" tIns="635" rIns="635" bIns="635" rtlCol="0" anchor="t"/>
          <a:lstStyle/>
          <a:p>
            <a:pPr marL="228600" indent="-228600">
              <a:spcAft>
                <a:spcPts val="600"/>
              </a:spcAft>
              <a:buSzPct val="100000"/>
              <a:buChar char="•"/>
            </a:pPr>
            <a:r>
              <a:rPr lang="en-US" sz="1600" b="1" dirty="0">
                <a:solidFill>
                  <a:schemeClr val="tx1"/>
                </a:solidFill>
              </a:rPr>
              <a:t>(i) First order.</a:t>
            </a:r>
            <a:r>
              <a:rPr lang="en-US" sz="1600" dirty="0">
                <a:solidFill>
                  <a:schemeClr val="tx1"/>
                </a:solidFill>
              </a:rPr>
              <a:t> At a local maximum no feasible direction improves the objective at first order</a:t>
            </a:r>
            <a:endParaRPr lang="en-US" sz="1600" dirty="0"/>
          </a:p>
          <a:p>
            <a:pPr marL="228600" indent="-228600">
              <a:spcAft>
                <a:spcPts val="600"/>
              </a:spcAft>
              <a:buSzPct val="100000"/>
              <a:buChar char="•"/>
            </a:pPr>
            <a:r>
              <a:rPr lang="en-US" sz="1600" b="1" dirty="0">
                <a:solidFill>
                  <a:schemeClr val="tx1"/>
                </a:solidFill>
              </a:rPr>
              <a:t>(ii) Second order.</a:t>
            </a:r>
            <a:r>
              <a:rPr lang="en-US" sz="1600" dirty="0">
                <a:solidFill>
                  <a:schemeClr val="tx1"/>
                </a:solidFill>
              </a:rPr>
              <a:t> Along a feasible line, slope zero and curvature not upward</a:t>
            </a:r>
            <a:endParaRPr lang="en-US" sz="1600" dirty="0"/>
          </a:p>
          <a:p>
            <a:pPr marL="228600" indent="-228600">
              <a:spcAft>
                <a:spcPts val="600"/>
              </a:spcAft>
              <a:buSzPct val="100000"/>
              <a:buChar char="•"/>
            </a:pPr>
            <a:r>
              <a:rPr lang="en-US" sz="1600" b="1" dirty="0">
                <a:solidFill>
                  <a:schemeClr val="tx1"/>
                </a:solidFill>
              </a:rPr>
              <a:t>(iii) Certificate.</a:t>
            </a:r>
            <a:r>
              <a:rPr lang="en-US" sz="1600" dirty="0">
                <a:solidFill>
                  <a:schemeClr val="tx1"/>
                </a:solidFill>
              </a:rPr>
              <a:t> A KKT point whose Lagrangian curves strictly down along every critical direction is a strict local maximum</a:t>
            </a:r>
            <a:endParaRPr lang="en-US" sz="1600" dirty="0"/>
          </a:p>
        </p:txBody>
      </p:sp>
      <p:sp>
        <p:nvSpPr>
          <p:cNvPr id="9" name="Text 6"/>
          <p:cNvSpPr txBox="1"/>
          <p:nvPr/>
        </p:nvSpPr>
        <p:spPr>
          <a:xfrm>
            <a:off x="6720840" y="1737360"/>
            <a:ext cx="4922215" cy="365760"/>
          </a:xfrm>
          <a:prstGeom prst="rect">
            <a:avLst/>
          </a:prstGeom>
          <a:noFill/>
          <a:ln/>
        </p:spPr>
        <p:txBody>
          <a:bodyPr wrap="square" lIns="0" tIns="0" rIns="0" bIns="0" rtlCol="0" anchor="ctr"/>
          <a:lstStyle/>
          <a:p>
            <a:pPr indent="0" marL="0">
              <a:buNone/>
            </a:pPr>
            <a:r>
              <a:rPr lang="en-US" sz="1600" b="1" dirty="0">
                <a:solidFill>
                  <a:schemeClr val="accent2"/>
                </a:solidFill>
              </a:rPr>
              <a:t>For Meridian</a:t>
            </a:r>
            <a:endParaRPr lang="en-US" sz="1600" dirty="0"/>
          </a:p>
        </p:txBody>
      </p:sp>
      <p:sp>
        <p:nvSpPr>
          <p:cNvPr id="10" name="Bullets"/>
          <p:cNvSpPr txBox="1"/>
          <p:nvPr/>
        </p:nvSpPr>
        <p:spPr>
          <a:xfrm>
            <a:off x="6720840" y="2194560"/>
            <a:ext cx="4922215" cy="3977640"/>
          </a:xfrm>
          <a:prstGeom prst="rect">
            <a:avLst/>
          </a:prstGeom>
          <a:noFill/>
          <a:ln/>
        </p:spPr>
        <p:txBody>
          <a:bodyPr wrap="square" lIns="635" tIns="635" rIns="635" bIns="635" rtlCol="0" anchor="t"/>
          <a:lstStyle/>
          <a:p>
            <a:pPr marL="228600" indent="-228600">
              <a:spcAft>
                <a:spcPts val="800"/>
              </a:spcAft>
              <a:buSzPct val="100000"/>
              <a:buChar char="•"/>
            </a:pPr>
            <a:r>
              <a:rPr lang="en-US" sz="1500" dirty="0">
                <a:solidFill>
                  <a:schemeClr val="tx1"/>
                </a:solidFill>
              </a:rPr>
              <a:t>Three plans pass every local test, worth </a:t>
            </a:r>
            <a:r>
              <a:rPr lang="en-US" sz="1500" b="1" dirty="0">
                <a:solidFill>
                  <a:schemeClr val="tx1"/>
                </a:solidFill>
              </a:rPr>
              <a:t>$2,986.25m</a:t>
            </a:r>
            <a:r>
              <a:rPr lang="en-US" sz="1500" dirty="0">
                <a:solidFill>
                  <a:schemeClr val="tx1"/>
                </a:solidFill>
              </a:rPr>
              <a:t>, </a:t>
            </a:r>
            <a:r>
              <a:rPr lang="en-US" sz="1500" b="1" dirty="0">
                <a:solidFill>
                  <a:schemeClr val="tx1"/>
                </a:solidFill>
              </a:rPr>
              <a:t>$2,977.50m</a:t>
            </a:r>
            <a:r>
              <a:rPr lang="en-US" sz="1500" dirty="0">
                <a:solidFill>
                  <a:schemeClr val="tx1"/>
                </a:solidFill>
              </a:rPr>
              <a:t> and </a:t>
            </a:r>
            <a:r>
              <a:rPr lang="en-US" sz="1500" b="1" dirty="0">
                <a:solidFill>
                  <a:schemeClr val="tx1"/>
                </a:solidFill>
              </a:rPr>
              <a:t>$2,968.75m</a:t>
            </a:r>
            <a:endParaRPr lang="en-US" sz="1500" dirty="0"/>
          </a:p>
          <a:p>
            <a:pPr marL="228600" indent="-228600">
              <a:spcAft>
                <a:spcPts val="800"/>
              </a:spcAft>
              <a:buSzPct val="100000"/>
              <a:buChar char="•"/>
            </a:pPr>
            <a:r>
              <a:rPr lang="en-US" sz="1500" dirty="0">
                <a:solidFill>
                  <a:schemeClr val="tx1"/>
                </a:solidFill>
              </a:rPr>
              <a:t>A fourth passes first order: years 1–3 whole, 0.75 of a round in year 4, 0.84 in year 5</a:t>
            </a:r>
            <a:endParaRPr lang="en-US" sz="1500" dirty="0"/>
          </a:p>
          <a:p>
            <a:pPr marL="228600" indent="-228600">
              <a:spcAft>
                <a:spcPts val="800"/>
              </a:spcAft>
              <a:buSzPct val="100000"/>
              <a:buChar char="•"/>
            </a:pPr>
            <a:r>
              <a:rPr lang="en-US" sz="1500" dirty="0">
                <a:solidFill>
                  <a:schemeClr val="tx1"/>
                </a:solidFill>
              </a:rPr>
              <a:t>Moving t of a round from year 5 to year 4 adds 96.25t</a:t>
            </a:r>
            <a:r>
              <a:rPr lang="en-US" sz="1500" baseline="30000" dirty="0">
                <a:solidFill>
                  <a:schemeClr val="tx1"/>
                </a:solidFill>
              </a:rPr>
              <a:t>2</a:t>
            </a:r>
            <a:r>
              <a:rPr lang="en-US" sz="1500" dirty="0">
                <a:solidFill>
                  <a:schemeClr val="tx1"/>
                </a:solidFill>
              </a:rPr>
              <a:t>: a saddle, about $1m for a tenth</a:t>
            </a:r>
            <a:endParaRPr lang="en-US" sz="1500" dirty="0"/>
          </a:p>
          <a:p>
            <a:pPr marL="228600" indent="-228600">
              <a:spcAft>
                <a:spcPts val="800"/>
              </a:spcAft>
              <a:buSzPct val="100000"/>
              <a:buChar char="•"/>
            </a:pPr>
            <a:r>
              <a:rPr lang="en-US" sz="1500" dirty="0">
                <a:solidFill>
                  <a:schemeClr val="tx1"/>
                </a:solidFill>
              </a:rPr>
              <a:t>The audit proves a plan best among its neighbors, never best overall</a:t>
            </a:r>
            <a:endParaRPr lang="en-US" sz="15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§4.2 · PROPOSITION 4.2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When decisions multiply, look at corners</a:t>
            </a:r>
            <a:endParaRPr lang="en-US" sz="3200" dirty="0"/>
          </a:p>
        </p:txBody>
      </p:sp>
      <p:sp>
        <p:nvSpPr>
          <p:cNvPr id="5" name="Bullets"/>
          <p:cNvSpPr txBox="1"/>
          <p:nvPr/>
        </p:nvSpPr>
        <p:spPr>
          <a:xfrm>
            <a:off x="548640" y="1691640"/>
            <a:ext cx="4254886" cy="4480560"/>
          </a:xfrm>
          <a:prstGeom prst="rect">
            <a:avLst/>
          </a:prstGeom>
          <a:noFill/>
          <a:ln/>
        </p:spPr>
        <p:txBody>
          <a:bodyPr wrap="square" lIns="635" tIns="635" rIns="635" bIns="635" rtlCol="0" anchor="t"/>
          <a:lstStyle/>
          <a:p>
            <a:pPr marL="228600" indent="-228600">
              <a:spcAft>
                <a:spcPts val="800"/>
              </a:spcAft>
              <a:buSzPct val="100000"/>
              <a:buChar char="•"/>
            </a:pPr>
            <a:r>
              <a:rPr lang="en-US" sz="1500" b="1" dirty="0">
                <a:solidFill>
                  <a:schemeClr val="tx1"/>
                </a:solidFill>
              </a:rPr>
              <a:t>(i) Part measures are blends.</a:t>
            </a:r>
            <a:r>
              <a:rPr lang="en-US" sz="1500" dirty="0">
                <a:solidFill>
                  <a:schemeClr val="tx1"/>
                </a:solidFill>
              </a:rPr>
              <a:t> Part of a decision is worth the same blend of its two limits</a:t>
            </a:r>
            <a:endParaRPr lang="en-US" sz="1500" dirty="0"/>
          </a:p>
          <a:p>
            <a:pPr marL="228600" indent="-228600">
              <a:spcAft>
                <a:spcPts val="800"/>
              </a:spcAft>
              <a:buSzPct val="100000"/>
              <a:buChar char="•"/>
            </a:pPr>
            <a:r>
              <a:rPr lang="en-US" sz="1500" b="1" dirty="0">
                <a:solidFill>
                  <a:schemeClr val="tx1"/>
                </a:solidFill>
              </a:rPr>
              <a:t>(ii) Corners suffice.</a:t>
            </a:r>
            <a:r>
              <a:rPr lang="en-US" sz="1500" dirty="0">
                <a:solidFill>
                  <a:schemeClr val="tx1"/>
                </a:solidFill>
              </a:rPr>
              <a:t> A best plan exists at a corner of the box</a:t>
            </a:r>
            <a:endParaRPr lang="en-US" sz="1500" dirty="0"/>
          </a:p>
          <a:p>
            <a:pPr marL="228600" indent="-228600">
              <a:spcAft>
                <a:spcPts val="800"/>
              </a:spcAft>
              <a:buSzPct val="100000"/>
              <a:buChar char="•"/>
            </a:pPr>
            <a:r>
              <a:rPr lang="en-US" sz="1500" b="1" dirty="0">
                <a:solidFill>
                  <a:schemeClr val="tx1"/>
                </a:solidFill>
              </a:rPr>
              <a:t>(iii)</a:t>
            </a:r>
            <a:r>
              <a:rPr lang="en-US" sz="1500" dirty="0">
                <a:solidFill>
                  <a:schemeClr val="tx1"/>
                </a:solidFill>
              </a:rPr>
              <a:t> Every strict local maximum is a corner; a corner is one when each marginal value points out</a:t>
            </a:r>
            <a:endParaRPr lang="en-US" sz="1500" dirty="0"/>
          </a:p>
          <a:p>
            <a:pPr marL="228600" indent="-228600">
              <a:spcAft>
                <a:spcPts val="800"/>
              </a:spcAft>
              <a:buSzPct val="100000"/>
              <a:buChar char="•"/>
            </a:pPr>
            <a:r>
              <a:rPr lang="en-US" sz="1500" b="1" dirty="0">
                <a:solidFill>
                  <a:schemeClr val="tx1"/>
                </a:solidFill>
              </a:rPr>
              <a:t>(iv)</a:t>
            </a:r>
            <a:r>
              <a:rPr lang="en-US" sz="1500" dirty="0">
                <a:solidFill>
                  <a:schemeClr val="tx1"/>
                </a:solidFill>
              </a:rPr>
              <a:t> A stationary plan inside the box is a saddle</a:t>
            </a:r>
            <a:endParaRPr lang="en-US" sz="1500" dirty="0"/>
          </a:p>
          <a:p>
            <a:pPr marL="228600" indent="-228600">
              <a:spcAft>
                <a:spcPts val="800"/>
              </a:spcAft>
              <a:buSzPct val="100000"/>
              <a:buChar char="•"/>
            </a:pPr>
            <a:r>
              <a:rPr lang="en-US" sz="1500" dirty="0">
                <a:solidFill>
                  <a:schemeClr val="tx1"/>
                </a:solidFill>
              </a:rPr>
              <a:t>A pilot at half scale earns half the difference between none and all: the funding threshold</a:t>
            </a:r>
            <a:endParaRPr lang="en-US" sz="1500" dirty="0"/>
          </a:p>
          <a:p>
            <a:pPr marL="228600" indent="-228600">
              <a:spcAft>
                <a:spcPts val="800"/>
              </a:spcAft>
              <a:buSzPct val="100000"/>
              <a:buChar char="•"/>
            </a:pPr>
            <a:r>
              <a:rPr lang="en-US" sz="1500" dirty="0">
                <a:solidFill>
                  <a:schemeClr val="tx1"/>
                </a:solidFill>
              </a:rPr>
              <a:t>Chapter 3's 0.15 of a year-5 round, read for partial rounds, loses </a:t>
            </a:r>
            <a:r>
              <a:rPr lang="en-US" sz="1500" b="1" dirty="0">
                <a:solidFill>
                  <a:schemeClr val="tx1"/>
                </a:solidFill>
              </a:rPr>
              <a:t>$3.64m</a:t>
            </a:r>
            <a:endParaRPr lang="en-US" sz="1500" dirty="0"/>
          </a:p>
        </p:txBody>
      </p:sp>
      <p:pic>
        <p:nvPicPr>
          <p:cNvPr id="6" name="Figure" descr="Figure 4.1: partial rounds at twenty years' credit">    </p:cNvPr>
          <p:cNvPicPr>
            <a:picLocks noChangeAspect="1"/>
          </p:cNvPicPr>
          <p:nvPr/>
        </p:nvPicPr>
        <p:blipFill>
          <a:blip r:embed="rId1"/>
          <a:stretch>
            <a:fillRect/>
          </a:stretch>
        </p:blipFill>
        <p:spPr>
          <a:xfrm>
            <a:off x="5169286" y="1931671"/>
            <a:ext cx="6473769" cy="3433570"/>
          </a:xfrm>
          <a:prstGeom prst="rect">
            <a:avLst/>
          </a:prstGeom>
        </p:spPr>
      </p:pic>
      <p:sp>
        <p:nvSpPr>
          <p:cNvPr id="7" name="Caption"/>
          <p:cNvSpPr txBox="1"/>
          <p:nvPr/>
        </p:nvSpPr>
        <p:spPr>
          <a:xfrm>
            <a:off x="5169286" y="5438393"/>
            <a:ext cx="6473769" cy="502920"/>
          </a:xfrm>
          <a:prstGeom prst="rect">
            <a:avLst/>
          </a:prstGeom>
          <a:noFill/>
          <a:ln/>
        </p:spPr>
        <p:txBody>
          <a:bodyPr wrap="square" lIns="0" tIns="0" rIns="0" bIns="0" rtlCol="0" anchor="t"/>
          <a:lstStyle/>
          <a:p>
            <a:pPr indent="0" marL="0">
              <a:buNone/>
            </a:pPr>
            <a:r>
              <a:rPr lang="en-US" sz="1100" i="1" dirty="0">
                <a:solidFill>
                  <a:schemeClr val="tx2"/>
                </a:solidFill>
              </a:rPr>
              <a:t>Figure 4.1. (a) Years 4 and 5 vary: V = 2,905 + 81.25x + 72.5y − 96.25xy, two corner peaks and the saddle (0.75, 0.84). (b) Part of a year-5 round: a straight line under the relaxation's $2,987.26m.</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§4.3 · DEFINITION 4.3 · THEOREM 4.2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Prices exist under a qualification</a:t>
            </a:r>
            <a:endParaRPr lang="en-US" sz="3200" dirty="0"/>
          </a:p>
        </p:txBody>
      </p:sp>
      <p:sp>
        <p:nvSpPr>
          <p:cNvPr id="5" name="Result card"/>
          <p:cNvSpPr/>
          <p:nvPr/>
        </p:nvSpPr>
        <p:spPr>
          <a:xfrm>
            <a:off x="548640" y="1691640"/>
            <a:ext cx="685800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630936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THEOREM 4.2</a:t>
            </a:r>
            <a:endParaRPr lang="en-US" sz="1200" dirty="0"/>
          </a:p>
        </p:txBody>
      </p:sp>
      <p:sp>
        <p:nvSpPr>
          <p:cNvPr id="7" name="Text 4"/>
          <p:cNvSpPr txBox="1"/>
          <p:nvPr/>
        </p:nvSpPr>
        <p:spPr>
          <a:xfrm>
            <a:off x="822960" y="2194560"/>
            <a:ext cx="630936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KKT Theorem under Constraint Qualifications</a:t>
            </a:r>
            <a:endParaRPr lang="en-US" sz="2100" dirty="0"/>
          </a:p>
        </p:txBody>
      </p:sp>
      <p:sp>
        <p:nvSpPr>
          <p:cNvPr id="8" name="Bullets"/>
          <p:cNvSpPr txBox="1"/>
          <p:nvPr/>
        </p:nvSpPr>
        <p:spPr>
          <a:xfrm>
            <a:off x="822960" y="2743200"/>
            <a:ext cx="6309360" cy="3291840"/>
          </a:xfrm>
          <a:prstGeom prst="rect">
            <a:avLst/>
          </a:prstGeom>
          <a:noFill/>
          <a:ln/>
        </p:spPr>
        <p:txBody>
          <a:bodyPr wrap="square" lIns="635" tIns="635" rIns="635" bIns="635" rtlCol="0" anchor="t"/>
          <a:lstStyle/>
          <a:p>
            <a:pPr marL="228600" indent="-228600">
              <a:spcAft>
                <a:spcPts val="600"/>
              </a:spcAft>
              <a:buSzPct val="100000"/>
              <a:buChar char="•"/>
            </a:pPr>
            <a:r>
              <a:rPr lang="en-US" sz="1600" b="1" dirty="0">
                <a:solidFill>
                  <a:schemeClr val="tx1"/>
                </a:solidFill>
              </a:rPr>
              <a:t>(i) Unique prices.</a:t>
            </a:r>
            <a:r>
              <a:rPr lang="en-US" sz="1600" dirty="0">
                <a:solidFill>
                  <a:schemeClr val="tx1"/>
                </a:solidFill>
              </a:rPr>
              <a:t> Under LICQ a local maximum is a KKT point with unique multipliers</a:t>
            </a:r>
            <a:endParaRPr lang="en-US" sz="1600" dirty="0"/>
          </a:p>
          <a:p>
            <a:pPr marL="228600" indent="-228600">
              <a:spcAft>
                <a:spcPts val="600"/>
              </a:spcAft>
              <a:buSzPct val="100000"/>
              <a:buChar char="•"/>
            </a:pPr>
            <a:r>
              <a:rPr lang="en-US" sz="1600" b="1" dirty="0">
                <a:solidFill>
                  <a:schemeClr val="tx1"/>
                </a:solidFill>
              </a:rPr>
              <a:t>(ii) Bounded prices.</a:t>
            </a:r>
            <a:r>
              <a:rPr lang="en-US" sz="1600" dirty="0">
                <a:solidFill>
                  <a:schemeClr val="tx1"/>
                </a:solidFill>
              </a:rPr>
              <a:t> Under MFCQ its multipliers form a bounded set</a:t>
            </a:r>
            <a:endParaRPr lang="en-US" sz="1600" dirty="0"/>
          </a:p>
          <a:p>
            <a:pPr marL="228600" indent="-228600">
              <a:spcAft>
                <a:spcPts val="600"/>
              </a:spcAft>
              <a:buSzPct val="100000"/>
              <a:buChar char="•"/>
            </a:pPr>
            <a:r>
              <a:rPr lang="en-US" sz="1600" b="1" dirty="0">
                <a:solidFill>
                  <a:schemeClr val="tx1"/>
                </a:solidFill>
              </a:rPr>
              <a:t>(iii) Linear commitments</a:t>
            </a:r>
            <a:r>
              <a:rPr lang="en-US" sz="1600" dirty="0">
                <a:solidFill>
                  <a:schemeClr val="tx1"/>
                </a:solidFill>
              </a:rPr>
              <a:t> need no qualification</a:t>
            </a:r>
            <a:endParaRPr lang="en-US" sz="1600" dirty="0"/>
          </a:p>
          <a:p>
            <a:pPr marL="228600" indent="-228600">
              <a:spcAft>
                <a:spcPts val="600"/>
              </a:spcAft>
              <a:buSzPct val="100000"/>
              <a:buChar char="•"/>
            </a:pPr>
            <a:r>
              <a:rPr lang="en-US" sz="1600" b="1" dirty="0">
                <a:solidFill>
                  <a:schemeClr val="tx1"/>
                </a:solidFill>
              </a:rPr>
              <a:t>(iv) Without a qualification</a:t>
            </a:r>
            <a:r>
              <a:rPr lang="en-US" sz="1600" dirty="0">
                <a:solidFill>
                  <a:schemeClr val="tx1"/>
                </a:solidFill>
              </a:rPr>
              <a:t> multipliers can fail to exist, or be unbounded</a:t>
            </a:r>
            <a:endParaRPr lang="en-US" sz="1600" dirty="0"/>
          </a:p>
        </p:txBody>
      </p:sp>
      <p:sp>
        <p:nvSpPr>
          <p:cNvPr id="9" name="Text 6"/>
          <p:cNvSpPr txBox="1"/>
          <p:nvPr/>
        </p:nvSpPr>
        <p:spPr>
          <a:xfrm>
            <a:off x="7818120" y="1737360"/>
            <a:ext cx="3824935" cy="365760"/>
          </a:xfrm>
          <a:prstGeom prst="rect">
            <a:avLst/>
          </a:prstGeom>
          <a:noFill/>
          <a:ln/>
        </p:spPr>
        <p:txBody>
          <a:bodyPr wrap="square" lIns="0" tIns="0" rIns="0" bIns="0" rtlCol="0" anchor="ctr"/>
          <a:lstStyle/>
          <a:p>
            <a:pPr indent="0" marL="0">
              <a:buNone/>
            </a:pPr>
            <a:r>
              <a:rPr lang="en-US" sz="1600" b="1" dirty="0">
                <a:solidFill>
                  <a:schemeClr val="accent2"/>
                </a:solidFill>
              </a:rPr>
              <a:t>Reading the prices</a:t>
            </a:r>
            <a:endParaRPr lang="en-US" sz="1600" dirty="0"/>
          </a:p>
        </p:txBody>
      </p:sp>
      <p:sp>
        <p:nvSpPr>
          <p:cNvPr id="10" name="Bullets"/>
          <p:cNvSpPr txBox="1"/>
          <p:nvPr/>
        </p:nvSpPr>
        <p:spPr>
          <a:xfrm>
            <a:off x="7818120" y="2194560"/>
            <a:ext cx="3824935" cy="3977640"/>
          </a:xfrm>
          <a:prstGeom prst="rect">
            <a:avLst/>
          </a:prstGeom>
          <a:noFill/>
          <a:ln/>
        </p:spPr>
        <p:txBody>
          <a:bodyPr wrap="square" lIns="635" tIns="635" rIns="635" bIns="635" rtlCol="0" anchor="t"/>
          <a:lstStyle/>
          <a:p>
            <a:pPr marL="228600" indent="-228600">
              <a:spcAft>
                <a:spcPts val="800"/>
              </a:spcAft>
              <a:buSzPct val="100000"/>
              <a:buChar char="•"/>
            </a:pPr>
            <a:r>
              <a:rPr lang="en-US" sz="1500" b="1" dirty="0">
                <a:solidFill>
                  <a:schemeClr val="tx1"/>
                </a:solidFill>
              </a:rPr>
              <a:t>LICQ:</a:t>
            </a:r>
            <a:r>
              <a:rPr lang="en-US" sz="1500" dirty="0">
                <a:solidFill>
                  <a:schemeClr val="tx1"/>
                </a:solidFill>
              </a:rPr>
              <a:t> binding gradients independent; each commitment can be relaxed alone</a:t>
            </a:r>
            <a:endParaRPr lang="en-US" sz="1500" dirty="0"/>
          </a:p>
          <a:p>
            <a:pPr marL="228600" indent="-228600">
              <a:spcAft>
                <a:spcPts val="800"/>
              </a:spcAft>
              <a:buSzPct val="100000"/>
              <a:buChar char="•"/>
            </a:pPr>
            <a:r>
              <a:rPr lang="en-US" sz="1500" b="1" dirty="0">
                <a:solidFill>
                  <a:schemeClr val="tx1"/>
                </a:solidFill>
              </a:rPr>
              <a:t>MFCQ:</a:t>
            </a:r>
            <a:r>
              <a:rPr lang="en-US" sz="1500" dirty="0">
                <a:solidFill>
                  <a:schemeClr val="tx1"/>
                </a:solidFill>
              </a:rPr>
              <a:t> the binding commitments can be relaxed together</a:t>
            </a:r>
            <a:endParaRPr lang="en-US" sz="1500" dirty="0"/>
          </a:p>
          <a:p>
            <a:pPr marL="228600" indent="-228600">
              <a:spcAft>
                <a:spcPts val="800"/>
              </a:spcAft>
              <a:buSzPct val="100000"/>
              <a:buChar char="•"/>
            </a:pPr>
            <a:r>
              <a:rPr lang="en-US" sz="1500" dirty="0">
                <a:solidFill>
                  <a:schemeClr val="tx1"/>
                </a:solidFill>
              </a:rPr>
              <a:t>Budgets, balances, ranges and box limits are affine: no further check</a:t>
            </a:r>
            <a:endParaRPr lang="en-US" sz="1500" dirty="0"/>
          </a:p>
          <a:p>
            <a:pPr marL="228600" indent="-228600">
              <a:spcAft>
                <a:spcPts val="800"/>
              </a:spcAft>
              <a:buSzPct val="100000"/>
              <a:buChar char="•"/>
            </a:pPr>
            <a:r>
              <a:rPr lang="en-US" sz="1500" dirty="0">
                <a:solidFill>
                  <a:schemeClr val="tx1"/>
                </a:solidFill>
              </a:rPr>
              <a:t>Write either-or rules with a binary: hires × layoffs = 0 has no determined price</a:t>
            </a:r>
            <a:endParaRPr lang="en-US" sz="15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§4.3 · THEOREM 4.3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Prices are slopes, valid near the plan</a:t>
            </a:r>
            <a:endParaRPr lang="en-US" sz="3200" dirty="0"/>
          </a:p>
        </p:txBody>
      </p:sp>
      <p:sp>
        <p:nvSpPr>
          <p:cNvPr id="5" name="Stat card"/>
          <p:cNvSpPr/>
          <p:nvPr/>
        </p:nvSpPr>
        <p:spPr>
          <a:xfrm>
            <a:off x="548640" y="1691640"/>
            <a:ext cx="3515258" cy="1874520"/>
          </a:xfrm>
          <a:prstGeom prst="roundRect">
            <a:avLst>
              <a:gd name="adj" fmla="val 3902"/>
            </a:avLst>
          </a:prstGeom>
          <a:solidFill>
            <a:schemeClr val="bg2"/>
          </a:solidFill>
          <a:ln w="9525">
            <a:solidFill>
              <a:srgbClr val="C4CBD8"/>
            </a:solidFill>
            <a:prstDash val="solid"/>
          </a:ln>
        </p:spPr>
      </p:sp>
      <p:sp>
        <p:nvSpPr>
          <p:cNvPr id="6" name="Stat value"/>
          <p:cNvSpPr txBox="1"/>
          <p:nvPr/>
        </p:nvSpPr>
        <p:spPr>
          <a:xfrm>
            <a:off x="685800" y="1801368"/>
            <a:ext cx="3240938"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$122.5m</a:t>
            </a:r>
            <a:endParaRPr lang="en-US" sz="4400" dirty="0"/>
          </a:p>
        </p:txBody>
      </p:sp>
      <p:sp>
        <p:nvSpPr>
          <p:cNvPr id="7" name="Stat label"/>
          <p:cNvSpPr txBox="1"/>
          <p:nvPr/>
        </p:nvSpPr>
        <p:spPr>
          <a:xfrm>
            <a:off x="685800" y="2697480"/>
            <a:ext cx="3240938" cy="795528"/>
          </a:xfrm>
          <a:prstGeom prst="rect">
            <a:avLst/>
          </a:prstGeom>
          <a:noFill/>
          <a:ln/>
        </p:spPr>
        <p:txBody>
          <a:bodyPr wrap="square" lIns="0" tIns="0" rIns="0" bIns="0" rtlCol="0" anchor="t"/>
          <a:lstStyle/>
          <a:p>
            <a:pPr algn="ctr" indent="0" marL="0">
              <a:buNone/>
            </a:pPr>
            <a:r>
              <a:rPr lang="en-US" sz="1400" dirty="0">
                <a:solidFill>
                  <a:schemeClr val="tx2"/>
                </a:solidFill>
              </a:rPr>
              <a:t>a year of credit with three rounds: their year-6 savings, best from 2.86 to 10.71 years</a:t>
            </a:r>
            <a:endParaRPr lang="en-US" sz="1400" dirty="0"/>
          </a:p>
        </p:txBody>
      </p:sp>
      <p:sp>
        <p:nvSpPr>
          <p:cNvPr id="8" name="Stat card"/>
          <p:cNvSpPr/>
          <p:nvPr/>
        </p:nvSpPr>
        <p:spPr>
          <a:xfrm>
            <a:off x="4338218" y="1691640"/>
            <a:ext cx="3515258" cy="1874520"/>
          </a:xfrm>
          <a:prstGeom prst="roundRect">
            <a:avLst>
              <a:gd name="adj" fmla="val 3902"/>
            </a:avLst>
          </a:prstGeom>
          <a:solidFill>
            <a:schemeClr val="tx1"/>
          </a:solidFill>
          <a:ln w="9525">
            <a:solidFill>
              <a:srgbClr val="0F1E3D"/>
            </a:solidFill>
            <a:prstDash val="solid"/>
          </a:ln>
        </p:spPr>
      </p:sp>
      <p:sp>
        <p:nvSpPr>
          <p:cNvPr id="9" name="Stat value"/>
          <p:cNvSpPr txBox="1"/>
          <p:nvPr/>
        </p:nvSpPr>
        <p:spPr>
          <a:xfrm>
            <a:off x="4475378" y="1801368"/>
            <a:ext cx="3240938" cy="914400"/>
          </a:xfrm>
          <a:prstGeom prst="rect">
            <a:avLst/>
          </a:prstGeom>
          <a:noFill/>
          <a:ln/>
        </p:spPr>
        <p:txBody>
          <a:bodyPr wrap="square" lIns="0" tIns="0" rIns="0" bIns="0" rtlCol="0" anchor="ctr"/>
          <a:lstStyle/>
          <a:p>
            <a:pPr algn="ctr" indent="0" marL="0">
              <a:buNone/>
            </a:pPr>
            <a:r>
              <a:rPr lang="en-US" sz="4400" b="1" dirty="0">
                <a:solidFill>
                  <a:schemeClr val="accent1"/>
                </a:solidFill>
                <a:latin typeface="Cambria" pitchFamily="34" charset="0"/>
                <a:ea typeface="Cambria" pitchFamily="34" charset="-122"/>
                <a:cs typeface="Cambria" pitchFamily="34" charset="-120"/>
              </a:rPr>
              <a:t>10.71</a:t>
            </a:r>
            <a:endParaRPr lang="en-US" sz="4400" dirty="0"/>
          </a:p>
        </p:txBody>
      </p:sp>
      <p:sp>
        <p:nvSpPr>
          <p:cNvPr id="10" name="Stat label"/>
          <p:cNvSpPr txBox="1"/>
          <p:nvPr/>
        </p:nvSpPr>
        <p:spPr>
          <a:xfrm>
            <a:off x="4475378" y="2697480"/>
            <a:ext cx="3240938" cy="795528"/>
          </a:xfrm>
          <a:prstGeom prst="rect">
            <a:avLst/>
          </a:prstGeom>
          <a:noFill/>
          <a:ln/>
        </p:spPr>
        <p:txBody>
          <a:bodyPr wrap="square" lIns="0" tIns="0" rIns="0" bIns="0" rtlCol="0" anchor="t"/>
          <a:lstStyle/>
          <a:p>
            <a:pPr algn="ctr" indent="0" marL="0">
              <a:buNone/>
            </a:pPr>
            <a:r>
              <a:rPr lang="en-US" sz="1400" dirty="0">
                <a:solidFill>
                  <a:schemeClr val="bg2"/>
                </a:solidFill>
              </a:rPr>
              <a:t>years of credit where four rounds overtake three: the best plan jumps</a:t>
            </a:r>
            <a:endParaRPr lang="en-US" sz="1400" dirty="0"/>
          </a:p>
        </p:txBody>
      </p:sp>
      <p:sp>
        <p:nvSpPr>
          <p:cNvPr id="11" name="Stat card"/>
          <p:cNvSpPr/>
          <p:nvPr/>
        </p:nvSpPr>
        <p:spPr>
          <a:xfrm>
            <a:off x="8127797" y="1691640"/>
            <a:ext cx="3515258" cy="1874520"/>
          </a:xfrm>
          <a:prstGeom prst="roundRect">
            <a:avLst>
              <a:gd name="adj" fmla="val 3902"/>
            </a:avLst>
          </a:prstGeom>
          <a:solidFill>
            <a:schemeClr val="bg2"/>
          </a:solidFill>
          <a:ln w="9525">
            <a:solidFill>
              <a:srgbClr val="C4CBD8"/>
            </a:solidFill>
            <a:prstDash val="solid"/>
          </a:ln>
        </p:spPr>
      </p:sp>
      <p:sp>
        <p:nvSpPr>
          <p:cNvPr id="12" name="Stat value"/>
          <p:cNvSpPr txBox="1"/>
          <p:nvPr/>
        </p:nvSpPr>
        <p:spPr>
          <a:xfrm>
            <a:off x="8264957" y="1801368"/>
            <a:ext cx="3240938"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$131.25m</a:t>
            </a:r>
            <a:endParaRPr lang="en-US" sz="4400" dirty="0"/>
          </a:p>
        </p:txBody>
      </p:sp>
      <p:sp>
        <p:nvSpPr>
          <p:cNvPr id="13" name="Stat label"/>
          <p:cNvSpPr txBox="1"/>
          <p:nvPr/>
        </p:nvSpPr>
        <p:spPr>
          <a:xfrm>
            <a:off x="8264957" y="2697480"/>
            <a:ext cx="3240938" cy="795528"/>
          </a:xfrm>
          <a:prstGeom prst="rect">
            <a:avLst/>
          </a:prstGeom>
          <a:noFill/>
          <a:ln/>
        </p:spPr>
        <p:txBody>
          <a:bodyPr wrap="square" lIns="0" tIns="0" rIns="0" bIns="0" rtlCol="0" anchor="t"/>
          <a:lstStyle/>
          <a:p>
            <a:pPr algn="ctr" indent="0" marL="0">
              <a:buNone/>
            </a:pPr>
            <a:r>
              <a:rPr lang="en-US" sz="1400" dirty="0">
                <a:solidFill>
                  <a:schemeClr val="tx2"/>
                </a:solidFill>
              </a:rPr>
              <a:t>a year of credit with four rounds, best from 10.71 to 25.43 years</a:t>
            </a:r>
            <a:endParaRPr lang="en-US" sz="1400" dirty="0"/>
          </a:p>
        </p:txBody>
      </p:sp>
      <p:sp>
        <p:nvSpPr>
          <p:cNvPr id="14" name="Bullets"/>
          <p:cNvSpPr txBox="1"/>
          <p:nvPr/>
        </p:nvSpPr>
        <p:spPr>
          <a:xfrm>
            <a:off x="548640" y="3886200"/>
            <a:ext cx="11094415" cy="2286000"/>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chemeClr val="tx1"/>
                </a:solidFill>
              </a:rPr>
              <a:t>(i)</a:t>
            </a:r>
            <a:r>
              <a:rPr lang="en-US" sz="1700" dirty="0">
                <a:solidFill>
                  <a:schemeClr val="tx1"/>
                </a:solidFill>
              </a:rPr>
              <a:t> Under LICQ, the certificate and positive prices, plan and prices move smoothly with the data</a:t>
            </a:r>
            <a:endParaRPr lang="en-US" sz="1700" dirty="0"/>
          </a:p>
          <a:p>
            <a:pPr marL="228600" indent="-228600">
              <a:spcAft>
                <a:spcPts val="800"/>
              </a:spcAft>
              <a:buSzPct val="100000"/>
              <a:buChar char="•"/>
            </a:pPr>
            <a:r>
              <a:rPr lang="en-US" sz="1700" b="1" dirty="0">
                <a:solidFill>
                  <a:schemeClr val="tx1"/>
                </a:solidFill>
              </a:rPr>
              <a:t>(ii)</a:t>
            </a:r>
            <a:r>
              <a:rPr lang="en-US" sz="1700" dirty="0">
                <a:solidFill>
                  <a:schemeClr val="tx1"/>
                </a:solidFill>
              </a:rPr>
              <a:t> The local value moves at the rate the parameter moves the Lagrangian: multipliers are local prices</a:t>
            </a:r>
            <a:endParaRPr lang="en-US" sz="1700" dirty="0"/>
          </a:p>
          <a:p>
            <a:pPr marL="228600" indent="-228600">
              <a:spcAft>
                <a:spcPts val="800"/>
              </a:spcAft>
              <a:buSzPct val="100000"/>
              <a:buChar char="•"/>
            </a:pPr>
            <a:r>
              <a:rPr lang="en-US" sz="1700" b="1" dirty="0">
                <a:solidFill>
                  <a:schemeClr val="tx1"/>
                </a:solidFill>
              </a:rPr>
              <a:t>(iii)</a:t>
            </a:r>
            <a:r>
              <a:rPr lang="en-US" sz="1700" dirty="0">
                <a:solidFill>
                  <a:schemeClr val="tx1"/>
                </a:solidFill>
              </a:rPr>
              <a:t> A zero price allows a kink; </a:t>
            </a:r>
            <a:r>
              <a:rPr lang="en-US" sz="1700" b="1" dirty="0">
                <a:solidFill>
                  <a:schemeClr val="tx1"/>
                </a:solidFill>
              </a:rPr>
              <a:t>(iv)</a:t>
            </a:r>
            <a:r>
              <a:rPr lang="en-US" sz="1700" dirty="0">
                <a:solidFill>
                  <a:schemeClr val="tx1"/>
                </a:solidFill>
              </a:rPr>
              <a:t> where local values cross, the best plan jumps</a:t>
            </a:r>
            <a:endParaRPr lang="en-US" sz="1700" dirty="0"/>
          </a:p>
          <a:p>
            <a:pPr marL="228600" indent="-228600">
              <a:spcAft>
                <a:spcPts val="800"/>
              </a:spcAft>
              <a:buSzPct val="100000"/>
              <a:buChar char="•"/>
            </a:pPr>
            <a:r>
              <a:rPr lang="en-US" sz="1700" dirty="0">
                <a:solidFill>
                  <a:schemeClr val="tx1"/>
                </a:solidFill>
              </a:rPr>
              <a:t>A price read at nine years understates the value of credit at twelve: say which plan a report describes</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§4.4 · TABLE 4.2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Local methods return a KKT point</a:t>
            </a:r>
            <a:endParaRPr lang="en-US" sz="3200" dirty="0"/>
          </a:p>
        </p:txBody>
      </p:sp>
      <p:graphicFrame>
        <p:nvGraphicFramePr>
          <p:cNvPr id="12"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2271298"/>
                <a:gridCol w="4018450"/>
                <a:gridCol w="2533370"/>
                <a:gridCol w="2271298"/>
              </a:tblGrid>
              <a:tr h="457200">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Method</a:t>
                      </a:r>
                      <a:endParaRPr lang="en-US" sz="12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Each iteration</a:t>
                      </a:r>
                      <a:endParaRPr lang="en-US" sz="12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Returns</a:t>
                      </a:r>
                      <a:endParaRPr lang="en-US" sz="12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When to use</a:t>
                      </a:r>
                      <a:endParaRPr lang="en-US" sz="12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457200">
                <a:tc>
                  <a:txBody>
                    <a:bodyPr/>
                    <a:lstStyle/>
                    <a:p>
                      <a:pPr algn="l" indent="0" marL="0">
                        <a:buNone/>
                      </a:pPr>
                      <a:r>
                        <a:rPr lang="en-US" sz="1200" dirty="0">
                          <a:solidFill>
                            <a:srgbClr val="0F1E3D"/>
                          </a:solidFill>
                          <a:latin typeface="Calibri" pitchFamily="34" charset="0"/>
                          <a:ea typeface="Calibri" pitchFamily="34" charset="-122"/>
                          <a:cs typeface="Calibri" pitchFamily="34" charset="-120"/>
                        </a:rPr>
                        <a:t>SQP</a:t>
                      </a:r>
                      <a:endParaRPr lang="en-US" sz="12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200" dirty="0">
                          <a:solidFill>
                            <a:srgbClr val="0F1E3D"/>
                          </a:solidFill>
                          <a:latin typeface="Calibri" pitchFamily="34" charset="0"/>
                          <a:ea typeface="Calibri" pitchFamily="34" charset="-122"/>
                          <a:cs typeface="Calibri" pitchFamily="34" charset="-120"/>
                        </a:rPr>
                        <a:t>solves a quadratic model of the Lagrangian with linearized commitments</a:t>
                      </a:r>
                      <a:endParaRPr lang="en-US" sz="12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200" dirty="0">
                          <a:solidFill>
                            <a:srgbClr val="0F1E3D"/>
                          </a:solidFill>
                          <a:latin typeface="Calibri" pitchFamily="34" charset="0"/>
                          <a:ea typeface="Calibri" pitchFamily="34" charset="-122"/>
                          <a:cs typeface="Calibri" pitchFamily="34" charset="-120"/>
                        </a:rPr>
                        <a:t>a KKT point; fast near a certified one</a:t>
                      </a:r>
                      <a:endParaRPr lang="en-US" sz="12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200" dirty="0">
                          <a:solidFill>
                            <a:srgbClr val="0F1E3D"/>
                          </a:solidFill>
                          <a:latin typeface="Calibri" pitchFamily="34" charset="0"/>
                          <a:ea typeface="Calibri" pitchFamily="34" charset="-122"/>
                          <a:cs typeface="Calibri" pitchFamily="34" charset="-120"/>
                        </a:rPr>
                        <a:t>moderate size; good starting plans</a:t>
                      </a:r>
                      <a:endParaRPr lang="en-US" sz="12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57200">
                <a:tc>
                  <a:txBody>
                    <a:bodyPr/>
                    <a:lstStyle/>
                    <a:p>
                      <a:pPr algn="l" indent="0" marL="0">
                        <a:buNone/>
                      </a:pPr>
                      <a:r>
                        <a:rPr lang="en-US" sz="1200" dirty="0">
                          <a:solidFill>
                            <a:srgbClr val="0F1E3D"/>
                          </a:solidFill>
                          <a:latin typeface="Calibri" pitchFamily="34" charset="0"/>
                          <a:ea typeface="Calibri" pitchFamily="34" charset="-122"/>
                          <a:cs typeface="Calibri" pitchFamily="34" charset="-120"/>
                        </a:rPr>
                        <a:t>interior point (IPOPT)</a:t>
                      </a:r>
                      <a:endParaRPr lang="en-US" sz="12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200" dirty="0">
                          <a:solidFill>
                            <a:srgbClr val="0F1E3D"/>
                          </a:solidFill>
                          <a:latin typeface="Calibri" pitchFamily="34" charset="0"/>
                          <a:ea typeface="Calibri" pitchFamily="34" charset="-122"/>
                          <a:cs typeface="Calibri" pitchFamily="34" charset="-120"/>
                        </a:rPr>
                        <a:t>a Newton step on barrier-perturbed KKT conditions</a:t>
                      </a:r>
                      <a:endParaRPr lang="en-US" sz="12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200" dirty="0">
                          <a:solidFill>
                            <a:srgbClr val="0F1E3D"/>
                          </a:solidFill>
                          <a:latin typeface="Calibri" pitchFamily="34" charset="0"/>
                          <a:ea typeface="Calibri" pitchFamily="34" charset="-122"/>
                          <a:cs typeface="Calibri" pitchFamily="34" charset="-120"/>
                        </a:rPr>
                        <a:t>a KKT point</a:t>
                      </a:r>
                      <a:endParaRPr lang="en-US" sz="12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200" dirty="0">
                          <a:solidFill>
                            <a:srgbClr val="0F1E3D"/>
                          </a:solidFill>
                          <a:latin typeface="Calibri" pitchFamily="34" charset="0"/>
                          <a:ea typeface="Calibri" pitchFamily="34" charset="-122"/>
                          <a:cs typeface="Calibri" pitchFamily="34" charset="-120"/>
                        </a:rPr>
                        <a:t>large, sparse, smooth instances</a:t>
                      </a:r>
                      <a:endParaRPr lang="en-US" sz="12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57200">
                <a:tc>
                  <a:txBody>
                    <a:bodyPr/>
                    <a:lstStyle/>
                    <a:p>
                      <a:pPr algn="l" indent="0" marL="0">
                        <a:buNone/>
                      </a:pPr>
                      <a:r>
                        <a:rPr lang="en-US" sz="1200" dirty="0">
                          <a:solidFill>
                            <a:srgbClr val="0F1E3D"/>
                          </a:solidFill>
                          <a:latin typeface="Calibri" pitchFamily="34" charset="0"/>
                          <a:ea typeface="Calibri" pitchFamily="34" charset="-122"/>
                          <a:cs typeface="Calibri" pitchFamily="34" charset="-120"/>
                        </a:rPr>
                        <a:t>augmented Lagrangian</a:t>
                      </a:r>
                      <a:endParaRPr lang="en-US" sz="12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200" dirty="0">
                          <a:solidFill>
                            <a:srgbClr val="0F1E3D"/>
                          </a:solidFill>
                          <a:latin typeface="Calibri" pitchFamily="34" charset="0"/>
                          <a:ea typeface="Calibri" pitchFamily="34" charset="-122"/>
                          <a:cs typeface="Calibri" pitchFamily="34" charset="-120"/>
                        </a:rPr>
                        <a:t>maximizes a penalized Lagrangian, then raises prices of violated commitments</a:t>
                      </a:r>
                      <a:endParaRPr lang="en-US" sz="12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200" dirty="0">
                          <a:solidFill>
                            <a:srgbClr val="0F1E3D"/>
                          </a:solidFill>
                          <a:latin typeface="Calibri" pitchFamily="34" charset="0"/>
                          <a:ea typeface="Calibri" pitchFamily="34" charset="-122"/>
                          <a:cs typeface="Calibri" pitchFamily="34" charset="-120"/>
                        </a:rPr>
                        <a:t>a KKT point and its prices</a:t>
                      </a:r>
                      <a:endParaRPr lang="en-US" sz="12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200" dirty="0">
                          <a:solidFill>
                            <a:srgbClr val="0F1E3D"/>
                          </a:solidFill>
                          <a:latin typeface="Calibri" pitchFamily="34" charset="0"/>
                          <a:ea typeface="Calibri" pitchFamily="34" charset="-122"/>
                          <a:cs typeface="Calibri" pitchFamily="34" charset="-120"/>
                        </a:rPr>
                        <a:t>hard equalities; divisions</a:t>
                      </a:r>
                      <a:endParaRPr lang="en-US" sz="12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57200">
                <a:tc>
                  <a:txBody>
                    <a:bodyPr/>
                    <a:lstStyle/>
                    <a:p>
                      <a:pPr algn="l" indent="0" marL="0">
                        <a:buNone/>
                      </a:pPr>
                      <a:r>
                        <a:rPr lang="en-US" sz="1200" dirty="0">
                          <a:solidFill>
                            <a:srgbClr val="0F1E3D"/>
                          </a:solidFill>
                          <a:latin typeface="Calibri" pitchFamily="34" charset="0"/>
                          <a:ea typeface="Calibri" pitchFamily="34" charset="-122"/>
                          <a:cs typeface="Calibri" pitchFamily="34" charset="-120"/>
                        </a:rPr>
                        <a:t>multistart</a:t>
                      </a:r>
                      <a:endParaRPr lang="en-US" sz="12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200" dirty="0">
                          <a:solidFill>
                            <a:srgbClr val="0F1E3D"/>
                          </a:solidFill>
                          <a:latin typeface="Calibri" pitchFamily="34" charset="0"/>
                          <a:ea typeface="Calibri" pitchFamily="34" charset="-122"/>
                          <a:cs typeface="Calibri" pitchFamily="34" charset="-120"/>
                        </a:rPr>
                        <a:t>a local method from many starting plans</a:t>
                      </a:r>
                      <a:endParaRPr lang="en-US" sz="12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200" dirty="0">
                          <a:solidFill>
                            <a:srgbClr val="0F1E3D"/>
                          </a:solidFill>
                          <a:latin typeface="Calibri" pitchFamily="34" charset="0"/>
                          <a:ea typeface="Calibri" pitchFamily="34" charset="-122"/>
                          <a:cs typeface="Calibri" pitchFamily="34" charset="-120"/>
                        </a:rPr>
                        <a:t>an inventory of local maxima, with no proof</a:t>
                      </a:r>
                      <a:endParaRPr lang="en-US" sz="12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200" dirty="0">
                          <a:solidFill>
                            <a:srgbClr val="0F1E3D"/>
                          </a:solidFill>
                          <a:latin typeface="Calibri" pitchFamily="34" charset="0"/>
                          <a:ea typeface="Calibri" pitchFamily="34" charset="-122"/>
                          <a:cs typeface="Calibri" pitchFamily="34" charset="-120"/>
                        </a:rPr>
                        <a:t>always, with a bound</a:t>
                      </a:r>
                      <a:endParaRPr lang="en-US" sz="12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57200">
                <a:tc>
                  <a:txBody>
                    <a:bodyPr/>
                    <a:lstStyle/>
                    <a:p>
                      <a:pPr algn="l" indent="0" marL="0">
                        <a:buNone/>
                      </a:pPr>
                      <a:r>
                        <a:rPr lang="en-US" sz="1200" dirty="0">
                          <a:solidFill>
                            <a:srgbClr val="0F1E3D"/>
                          </a:solidFill>
                          <a:latin typeface="Calibri" pitchFamily="34" charset="0"/>
                          <a:ea typeface="Calibri" pitchFamily="34" charset="-122"/>
                          <a:cs typeface="Calibri" pitchFamily="34" charset="-120"/>
                        </a:rPr>
                        <a:t>spatial branch-and-bound</a:t>
                      </a:r>
                      <a:endParaRPr lang="en-US" sz="12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200" dirty="0">
                          <a:solidFill>
                            <a:srgbClr val="0F1E3D"/>
                          </a:solidFill>
                          <a:latin typeface="Calibri" pitchFamily="34" charset="0"/>
                          <a:ea typeface="Calibri" pitchFamily="34" charset="-122"/>
                          <a:cs typeface="Calibri" pitchFamily="34" charset="-120"/>
                        </a:rPr>
                        <a:t>convex relaxations on shrinking boxes</a:t>
                      </a:r>
                      <a:endParaRPr lang="en-US" sz="12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200" dirty="0">
                          <a:solidFill>
                            <a:srgbClr val="0F1E3D"/>
                          </a:solidFill>
                          <a:latin typeface="Calibri" pitchFamily="34" charset="0"/>
                          <a:ea typeface="Calibri" pitchFamily="34" charset="-122"/>
                          <a:cs typeface="Calibri" pitchFamily="34" charset="-120"/>
                        </a:rPr>
                        <a:t>a best plan, with a gap</a:t>
                      </a:r>
                      <a:endParaRPr lang="en-US" sz="12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200" dirty="0">
                          <a:solidFill>
                            <a:srgbClr val="0F1E3D"/>
                          </a:solidFill>
                          <a:latin typeface="Calibri" pitchFamily="34" charset="0"/>
                          <a:ea typeface="Calibri" pitchFamily="34" charset="-122"/>
                          <a:cs typeface="Calibri" pitchFamily="34" charset="-120"/>
                        </a:rPr>
                        <a:t>few nonconvex terms</a:t>
                      </a:r>
                      <a:endParaRPr lang="en-US" sz="12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57200">
                <a:tc>
                  <a:txBody>
                    <a:bodyPr/>
                    <a:lstStyle/>
                    <a:p>
                      <a:pPr algn="l" indent="0" marL="0">
                        <a:buNone/>
                      </a:pPr>
                      <a:r>
                        <a:rPr lang="en-US" sz="1200" dirty="0">
                          <a:solidFill>
                            <a:srgbClr val="0F1E3D"/>
                          </a:solidFill>
                          <a:latin typeface="Calibri" pitchFamily="34" charset="0"/>
                          <a:ea typeface="Calibri" pitchFamily="34" charset="-122"/>
                          <a:cs typeface="Calibri" pitchFamily="34" charset="-120"/>
                        </a:rPr>
                        <a:t>branch-and-cut</a:t>
                      </a:r>
                      <a:endParaRPr lang="en-US" sz="12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200" dirty="0">
                          <a:solidFill>
                            <a:srgbClr val="0F1E3D"/>
                          </a:solidFill>
                          <a:latin typeface="Calibri" pitchFamily="34" charset="0"/>
                          <a:ea typeface="Calibri" pitchFamily="34" charset="-122"/>
                          <a:cs typeface="Calibri" pitchFamily="34" charset="-120"/>
                        </a:rPr>
                        <a:t>relaxations, branching, and valid inequalities</a:t>
                      </a:r>
                      <a:endParaRPr lang="en-US" sz="12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200" dirty="0">
                          <a:solidFill>
                            <a:srgbClr val="0F1E3D"/>
                          </a:solidFill>
                          <a:latin typeface="Calibri" pitchFamily="34" charset="0"/>
                          <a:ea typeface="Calibri" pitchFamily="34" charset="-122"/>
                          <a:cs typeface="Calibri" pitchFamily="34" charset="-120"/>
                        </a:rPr>
                        <a:t>a best lumpy plan, with a gap</a:t>
                      </a:r>
                      <a:endParaRPr lang="en-US" sz="12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200" dirty="0">
                          <a:solidFill>
                            <a:srgbClr val="0F1E3D"/>
                          </a:solidFill>
                          <a:latin typeface="Calibri" pitchFamily="34" charset="0"/>
                          <a:ea typeface="Calibri" pitchFamily="34" charset="-122"/>
                          <a:cs typeface="Calibri" pitchFamily="34" charset="-120"/>
                        </a:rPr>
                        <a:t>lumpy decisions</a:t>
                      </a:r>
                      <a:endParaRPr lang="en-US" sz="12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57200">
                <a:tc>
                  <a:txBody>
                    <a:bodyPr/>
                    <a:lstStyle/>
                    <a:p>
                      <a:pPr algn="l" indent="0" marL="0">
                        <a:buNone/>
                      </a:pPr>
                      <a:r>
                        <a:rPr lang="en-US" sz="1200" dirty="0">
                          <a:solidFill>
                            <a:srgbClr val="0F1E3D"/>
                          </a:solidFill>
                          <a:latin typeface="Calibri" pitchFamily="34" charset="0"/>
                          <a:ea typeface="Calibri" pitchFamily="34" charset="-122"/>
                          <a:cs typeface="Calibri" pitchFamily="34" charset="-120"/>
                        </a:rPr>
                        <a:t>Lagrangian relaxation</a:t>
                      </a:r>
                      <a:endParaRPr lang="en-US" sz="12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200" dirty="0">
                          <a:solidFill>
                            <a:srgbClr val="0F1E3D"/>
                          </a:solidFill>
                          <a:latin typeface="Calibri" pitchFamily="34" charset="0"/>
                          <a:ea typeface="Calibri" pitchFamily="34" charset="-122"/>
                          <a:cs typeface="Calibri" pitchFamily="34" charset="-120"/>
                        </a:rPr>
                        <a:t>prices shared commitments; solves divisions apart</a:t>
                      </a:r>
                      <a:endParaRPr lang="en-US" sz="12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200" dirty="0">
                          <a:solidFill>
                            <a:srgbClr val="0F1E3D"/>
                          </a:solidFill>
                          <a:latin typeface="Calibri" pitchFamily="34" charset="0"/>
                          <a:ea typeface="Calibri" pitchFamily="34" charset="-122"/>
                          <a:cs typeface="Calibri" pitchFamily="34" charset="-120"/>
                        </a:rPr>
                        <a:t>a ceiling</a:t>
                      </a:r>
                      <a:endParaRPr lang="en-US" sz="12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200" dirty="0">
                          <a:solidFill>
                            <a:srgbClr val="0F1E3D"/>
                          </a:solidFill>
                          <a:latin typeface="Calibri" pitchFamily="34" charset="0"/>
                          <a:ea typeface="Calibri" pitchFamily="34" charset="-122"/>
                          <a:cs typeface="Calibri" pitchFamily="34" charset="-120"/>
                        </a:rPr>
                        <a:t>many divisions sharing resources</a:t>
                      </a:r>
                      <a:endParaRPr lang="en-US" sz="12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57200">
                <a:tc>
                  <a:txBody>
                    <a:bodyPr/>
                    <a:lstStyle/>
                    <a:p>
                      <a:pPr algn="l" indent="0" marL="0">
                        <a:buNone/>
                      </a:pPr>
                      <a:r>
                        <a:rPr lang="en-US" sz="1200" dirty="0">
                          <a:solidFill>
                            <a:srgbClr val="0F1E3D"/>
                          </a:solidFill>
                          <a:latin typeface="Calibri" pitchFamily="34" charset="0"/>
                          <a:ea typeface="Calibri" pitchFamily="34" charset="-122"/>
                          <a:cs typeface="Calibri" pitchFamily="34" charset="-120"/>
                        </a:rPr>
                        <a:t>Benders decomposition</a:t>
                      </a:r>
                      <a:endParaRPr lang="en-US" sz="12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200" dirty="0">
                          <a:solidFill>
                            <a:srgbClr val="0F1E3D"/>
                          </a:solidFill>
                          <a:latin typeface="Calibri" pitchFamily="34" charset="0"/>
                          <a:ea typeface="Calibri" pitchFamily="34" charset="-122"/>
                          <a:cs typeface="Calibri" pitchFamily="34" charset="-120"/>
                        </a:rPr>
                        <a:t>a lumpy master; convex subproblems return price cuts</a:t>
                      </a:r>
                      <a:endParaRPr lang="en-US" sz="12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200" dirty="0">
                          <a:solidFill>
                            <a:srgbClr val="0F1E3D"/>
                          </a:solidFill>
                          <a:latin typeface="Calibri" pitchFamily="34" charset="0"/>
                          <a:ea typeface="Calibri" pitchFamily="34" charset="-122"/>
                          <a:cs typeface="Calibri" pitchFamily="34" charset="-120"/>
                        </a:rPr>
                        <a:t>a best plan, with converging bounds</a:t>
                      </a:r>
                      <a:endParaRPr lang="en-US" sz="12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200" dirty="0">
                          <a:solidFill>
                            <a:srgbClr val="0F1E3D"/>
                          </a:solidFill>
                          <a:latin typeface="Calibri" pitchFamily="34" charset="0"/>
                          <a:ea typeface="Calibri" pitchFamily="34" charset="-122"/>
                          <a:cs typeface="Calibri" pitchFamily="34" charset="-120"/>
                        </a:rPr>
                        <a:t>lumpy outside, convex inside</a:t>
                      </a:r>
                      <a:endParaRPr lang="en-US" sz="12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bl>
          </a:graphicData>
        </a:graphic>
      </p:graphicFrame>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§4.4 · THE PRODUCTION DISCIPLINE</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Search, audit, bound, then close the gap</a:t>
            </a:r>
            <a:endParaRPr lang="en-US" sz="3200" dirty="0"/>
          </a:p>
        </p:txBody>
      </p:sp>
      <p:sp>
        <p:nvSpPr>
          <p:cNvPr id="5" name="Lead"/>
          <p:cNvSpPr txBox="1"/>
          <p:nvPr/>
        </p:nvSpPr>
        <p:spPr>
          <a:xfrm>
            <a:off x="548640" y="1645920"/>
            <a:ext cx="11094415" cy="457200"/>
          </a:xfrm>
          <a:prstGeom prst="rect">
            <a:avLst/>
          </a:prstGeom>
          <a:noFill/>
          <a:ln/>
        </p:spPr>
        <p:txBody>
          <a:bodyPr wrap="square" lIns="0" tIns="0" rIns="0" bIns="0" rtlCol="0" anchor="ctr"/>
          <a:lstStyle/>
          <a:p>
            <a:pPr indent="0" marL="0">
              <a:buNone/>
            </a:pPr>
            <a:r>
              <a:rPr lang="en-US" sz="1600" dirty="0">
                <a:solidFill>
                  <a:schemeClr val="tx1"/>
                </a:solidFill>
              </a:rPr>
              <a:t>Five steps for a nonconvex answer, with Worked Example 4.1's numbers.</a:t>
            </a:r>
            <a:endParaRPr lang="en-US" sz="1600" dirty="0"/>
          </a:p>
        </p:txBody>
      </p:sp>
      <p:sp>
        <p:nvSpPr>
          <p:cNvPr id="6" name="Step card"/>
          <p:cNvSpPr/>
          <p:nvPr/>
        </p:nvSpPr>
        <p:spPr>
          <a:xfrm>
            <a:off x="548640" y="2240280"/>
            <a:ext cx="3515258" cy="1828800"/>
          </a:xfrm>
          <a:prstGeom prst="roundRect">
            <a:avLst>
              <a:gd name="adj" fmla="val 4000"/>
            </a:avLst>
          </a:prstGeom>
          <a:solidFill>
            <a:schemeClr val="bg2"/>
          </a:solidFill>
          <a:ln w="9525">
            <a:solidFill>
              <a:srgbClr val="C4CBD8"/>
            </a:solidFill>
            <a:prstDash val="solid"/>
          </a:ln>
        </p:spPr>
      </p:sp>
      <p:sp>
        <p:nvSpPr>
          <p:cNvPr id="7" name="Number"/>
          <p:cNvSpPr/>
          <p:nvPr/>
        </p:nvSpPr>
        <p:spPr>
          <a:xfrm>
            <a:off x="731520" y="2423160"/>
            <a:ext cx="457200" cy="457200"/>
          </a:xfrm>
          <a:prstGeom prst="ellipse">
            <a:avLst/>
          </a:prstGeom>
          <a:solidFill>
            <a:schemeClr val="accent1"/>
          </a:solidFill>
          <a:ln w="6350">
            <a:solidFill>
              <a:schemeClr val="accent1"/>
            </a:solidFill>
            <a:prstDash val="solid"/>
          </a:ln>
        </p:spPr>
      </p:sp>
      <p:sp>
        <p:nvSpPr>
          <p:cNvPr id="8" name="Text 5"/>
          <p:cNvSpPr txBox="1"/>
          <p:nvPr/>
        </p:nvSpPr>
        <p:spPr>
          <a:xfrm>
            <a:off x="731520" y="242316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1</a:t>
            </a:r>
            <a:endParaRPr lang="en-US" sz="1500" dirty="0"/>
          </a:p>
        </p:txBody>
      </p:sp>
      <p:sp>
        <p:nvSpPr>
          <p:cNvPr id="9" name="Step head"/>
          <p:cNvSpPr txBox="1"/>
          <p:nvPr/>
        </p:nvSpPr>
        <p:spPr>
          <a:xfrm>
            <a:off x="1325880" y="2404872"/>
            <a:ext cx="2600858" cy="50292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Declare the source</a:t>
            </a:r>
            <a:endParaRPr lang="en-US" sz="1700" dirty="0"/>
          </a:p>
        </p:txBody>
      </p:sp>
      <p:sp>
        <p:nvSpPr>
          <p:cNvPr id="10" name="Step text"/>
          <p:cNvSpPr txBox="1"/>
          <p:nvPr/>
        </p:nvSpPr>
        <p:spPr>
          <a:xfrm>
            <a:off x="731520" y="3017520"/>
            <a:ext cx="3149498" cy="960120"/>
          </a:xfrm>
          <a:prstGeom prst="rect">
            <a:avLst/>
          </a:prstGeom>
          <a:noFill/>
          <a:ln/>
        </p:spPr>
        <p:txBody>
          <a:bodyPr wrap="square" lIns="0" tIns="0" rIns="0" bIns="0" rtlCol="0" anchor="t"/>
          <a:lstStyle/>
          <a:p>
            <a:pPr indent="0" marL="0">
              <a:buNone/>
            </a:pPr>
            <a:r>
              <a:rPr lang="en-US" sz="1500" dirty="0">
                <a:solidFill>
                  <a:schemeClr val="tx1"/>
                </a:solidFill>
              </a:rPr>
              <a:t>Products of decisions, economies of scale or lumpy choices (Proposition 4.1).</a:t>
            </a:r>
            <a:endParaRPr lang="en-US" sz="1500" dirty="0"/>
          </a:p>
        </p:txBody>
      </p:sp>
      <p:sp>
        <p:nvSpPr>
          <p:cNvPr id="11" name="Step card"/>
          <p:cNvSpPr/>
          <p:nvPr/>
        </p:nvSpPr>
        <p:spPr>
          <a:xfrm>
            <a:off x="4338218" y="2240280"/>
            <a:ext cx="3515258" cy="1828800"/>
          </a:xfrm>
          <a:prstGeom prst="roundRect">
            <a:avLst>
              <a:gd name="adj" fmla="val 4000"/>
            </a:avLst>
          </a:prstGeom>
          <a:solidFill>
            <a:schemeClr val="bg2"/>
          </a:solidFill>
          <a:ln w="9525">
            <a:solidFill>
              <a:srgbClr val="C4CBD8"/>
            </a:solidFill>
            <a:prstDash val="solid"/>
          </a:ln>
        </p:spPr>
      </p:sp>
      <p:sp>
        <p:nvSpPr>
          <p:cNvPr id="12" name="Number"/>
          <p:cNvSpPr/>
          <p:nvPr/>
        </p:nvSpPr>
        <p:spPr>
          <a:xfrm>
            <a:off x="4521098" y="2423160"/>
            <a:ext cx="457200" cy="457200"/>
          </a:xfrm>
          <a:prstGeom prst="ellipse">
            <a:avLst/>
          </a:prstGeom>
          <a:solidFill>
            <a:schemeClr val="accent1"/>
          </a:solidFill>
          <a:ln w="6350">
            <a:solidFill>
              <a:schemeClr val="accent1"/>
            </a:solidFill>
            <a:prstDash val="solid"/>
          </a:ln>
        </p:spPr>
      </p:sp>
      <p:sp>
        <p:nvSpPr>
          <p:cNvPr id="13" name="Text 10"/>
          <p:cNvSpPr txBox="1"/>
          <p:nvPr/>
        </p:nvSpPr>
        <p:spPr>
          <a:xfrm>
            <a:off x="4521098" y="242316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2</a:t>
            </a:r>
            <a:endParaRPr lang="en-US" sz="1500" dirty="0"/>
          </a:p>
        </p:txBody>
      </p:sp>
      <p:sp>
        <p:nvSpPr>
          <p:cNvPr id="14" name="Step head"/>
          <p:cNvSpPr txBox="1"/>
          <p:nvPr/>
        </p:nvSpPr>
        <p:spPr>
          <a:xfrm>
            <a:off x="5115458" y="2404872"/>
            <a:ext cx="2600858" cy="50292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Run a multistart</a:t>
            </a:r>
            <a:endParaRPr lang="en-US" sz="1700" dirty="0"/>
          </a:p>
        </p:txBody>
      </p:sp>
      <p:sp>
        <p:nvSpPr>
          <p:cNvPr id="15" name="Step text"/>
          <p:cNvSpPr txBox="1"/>
          <p:nvPr/>
        </p:nvSpPr>
        <p:spPr>
          <a:xfrm>
            <a:off x="4521098" y="3017520"/>
            <a:ext cx="3149498" cy="960120"/>
          </a:xfrm>
          <a:prstGeom prst="rect">
            <a:avLst/>
          </a:prstGeom>
          <a:noFill/>
          <a:ln/>
        </p:spPr>
        <p:txBody>
          <a:bodyPr wrap="square" lIns="0" tIns="0" rIns="0" bIns="0" rtlCol="0" anchor="t"/>
          <a:lstStyle/>
          <a:p>
            <a:pPr indent="0" marL="0">
              <a:buNone/>
            </a:pPr>
            <a:r>
              <a:rPr lang="en-US" sz="1500" dirty="0">
                <a:solidFill>
                  <a:schemeClr val="tx1"/>
                </a:solidFill>
              </a:rPr>
              <a:t>With a recorded seed, and report the inventory: three basins, reached by 87, 11 and 2 of 100 runs.</a:t>
            </a:r>
            <a:endParaRPr lang="en-US" sz="1500" dirty="0"/>
          </a:p>
        </p:txBody>
      </p:sp>
      <p:sp>
        <p:nvSpPr>
          <p:cNvPr id="16" name="Step card"/>
          <p:cNvSpPr/>
          <p:nvPr/>
        </p:nvSpPr>
        <p:spPr>
          <a:xfrm>
            <a:off x="8127797" y="2240280"/>
            <a:ext cx="3515258" cy="1828800"/>
          </a:xfrm>
          <a:prstGeom prst="roundRect">
            <a:avLst>
              <a:gd name="adj" fmla="val 4000"/>
            </a:avLst>
          </a:prstGeom>
          <a:solidFill>
            <a:schemeClr val="bg2"/>
          </a:solidFill>
          <a:ln w="9525">
            <a:solidFill>
              <a:srgbClr val="C4CBD8"/>
            </a:solidFill>
            <a:prstDash val="solid"/>
          </a:ln>
        </p:spPr>
      </p:sp>
      <p:sp>
        <p:nvSpPr>
          <p:cNvPr id="17" name="Number"/>
          <p:cNvSpPr/>
          <p:nvPr/>
        </p:nvSpPr>
        <p:spPr>
          <a:xfrm>
            <a:off x="8310677" y="2423160"/>
            <a:ext cx="457200" cy="457200"/>
          </a:xfrm>
          <a:prstGeom prst="ellipse">
            <a:avLst/>
          </a:prstGeom>
          <a:solidFill>
            <a:schemeClr val="accent1"/>
          </a:solidFill>
          <a:ln w="6350">
            <a:solidFill>
              <a:schemeClr val="accent1"/>
            </a:solidFill>
            <a:prstDash val="solid"/>
          </a:ln>
        </p:spPr>
      </p:sp>
      <p:sp>
        <p:nvSpPr>
          <p:cNvPr id="18" name="Text 15"/>
          <p:cNvSpPr txBox="1"/>
          <p:nvPr/>
        </p:nvSpPr>
        <p:spPr>
          <a:xfrm>
            <a:off x="8310677" y="242316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3</a:t>
            </a:r>
            <a:endParaRPr lang="en-US" sz="1500" dirty="0"/>
          </a:p>
        </p:txBody>
      </p:sp>
      <p:sp>
        <p:nvSpPr>
          <p:cNvPr id="19" name="Step head"/>
          <p:cNvSpPr txBox="1"/>
          <p:nvPr/>
        </p:nvSpPr>
        <p:spPr>
          <a:xfrm>
            <a:off x="8905037" y="2404872"/>
            <a:ext cx="2600858" cy="50292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Audit each answer</a:t>
            </a:r>
            <a:endParaRPr lang="en-US" sz="1700" dirty="0"/>
          </a:p>
        </p:txBody>
      </p:sp>
      <p:sp>
        <p:nvSpPr>
          <p:cNvPr id="20" name="Step text"/>
          <p:cNvSpPr txBox="1"/>
          <p:nvPr/>
        </p:nvSpPr>
        <p:spPr>
          <a:xfrm>
            <a:off x="8310677" y="3017520"/>
            <a:ext cx="3149498" cy="960120"/>
          </a:xfrm>
          <a:prstGeom prst="rect">
            <a:avLst/>
          </a:prstGeom>
          <a:noFill/>
          <a:ln/>
        </p:spPr>
        <p:txBody>
          <a:bodyPr wrap="square" lIns="0" tIns="0" rIns="0" bIns="0" rtlCol="0" anchor="t"/>
          <a:lstStyle/>
          <a:p>
            <a:pPr indent="0" marL="0">
              <a:buNone/>
            </a:pPr>
            <a:r>
              <a:rPr lang="en-US" sz="1500" dirty="0">
                <a:solidFill>
                  <a:schemeClr val="tx1"/>
                </a:solidFill>
              </a:rPr>
              <a:t>First and second order (Theorems 4.1 and 4.2): three strict local maxima and a saddle.</a:t>
            </a:r>
            <a:endParaRPr lang="en-US" sz="1500" dirty="0"/>
          </a:p>
        </p:txBody>
      </p:sp>
      <p:sp>
        <p:nvSpPr>
          <p:cNvPr id="21" name="Step card"/>
          <p:cNvSpPr/>
          <p:nvPr/>
        </p:nvSpPr>
        <p:spPr>
          <a:xfrm>
            <a:off x="548640" y="4343400"/>
            <a:ext cx="3515258" cy="1828800"/>
          </a:xfrm>
          <a:prstGeom prst="roundRect">
            <a:avLst>
              <a:gd name="adj" fmla="val 4000"/>
            </a:avLst>
          </a:prstGeom>
          <a:solidFill>
            <a:schemeClr val="bg2"/>
          </a:solidFill>
          <a:ln w="9525">
            <a:solidFill>
              <a:srgbClr val="C4CBD8"/>
            </a:solidFill>
            <a:prstDash val="solid"/>
          </a:ln>
        </p:spPr>
      </p:sp>
      <p:sp>
        <p:nvSpPr>
          <p:cNvPr id="22" name="Number"/>
          <p:cNvSpPr/>
          <p:nvPr/>
        </p:nvSpPr>
        <p:spPr>
          <a:xfrm>
            <a:off x="731520" y="4526280"/>
            <a:ext cx="457200" cy="457200"/>
          </a:xfrm>
          <a:prstGeom prst="ellipse">
            <a:avLst/>
          </a:prstGeom>
          <a:solidFill>
            <a:schemeClr val="accent1"/>
          </a:solidFill>
          <a:ln w="6350">
            <a:solidFill>
              <a:schemeClr val="accent1"/>
            </a:solidFill>
            <a:prstDash val="solid"/>
          </a:ln>
        </p:spPr>
      </p:sp>
      <p:sp>
        <p:nvSpPr>
          <p:cNvPr id="23" name="Text 20"/>
          <p:cNvSpPr txBox="1"/>
          <p:nvPr/>
        </p:nvSpPr>
        <p:spPr>
          <a:xfrm>
            <a:off x="731520" y="452628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4</a:t>
            </a:r>
            <a:endParaRPr lang="en-US" sz="1500" dirty="0"/>
          </a:p>
        </p:txBody>
      </p:sp>
      <p:sp>
        <p:nvSpPr>
          <p:cNvPr id="24" name="Step head"/>
          <p:cNvSpPr txBox="1"/>
          <p:nvPr/>
        </p:nvSpPr>
        <p:spPr>
          <a:xfrm>
            <a:off x="1325880" y="4507992"/>
            <a:ext cx="2600858" cy="50292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Bound the inventory</a:t>
            </a:r>
            <a:endParaRPr lang="en-US" sz="1700" dirty="0"/>
          </a:p>
        </p:txBody>
      </p:sp>
      <p:sp>
        <p:nvSpPr>
          <p:cNvPr id="25" name="Step text"/>
          <p:cNvSpPr txBox="1"/>
          <p:nvPr/>
        </p:nvSpPr>
        <p:spPr>
          <a:xfrm>
            <a:off x="731520" y="5120640"/>
            <a:ext cx="3149498" cy="960120"/>
          </a:xfrm>
          <a:prstGeom prst="rect">
            <a:avLst/>
          </a:prstGeom>
          <a:noFill/>
          <a:ln/>
        </p:spPr>
        <p:txBody>
          <a:bodyPr wrap="square" lIns="0" tIns="0" rIns="0" bIns="0" rtlCol="0" anchor="t"/>
          <a:lstStyle/>
          <a:p>
            <a:pPr indent="0" marL="0">
              <a:buNone/>
            </a:pPr>
            <a:r>
              <a:rPr lang="en-US" sz="1500" dirty="0">
                <a:solidFill>
                  <a:schemeClr val="tx1"/>
                </a:solidFill>
              </a:rPr>
              <a:t>With a relaxation or a price list: a ceiling of $2,987.26m, a gap of $1.01m.</a:t>
            </a:r>
            <a:endParaRPr lang="en-US" sz="1500" dirty="0"/>
          </a:p>
        </p:txBody>
      </p:sp>
      <p:sp>
        <p:nvSpPr>
          <p:cNvPr id="26" name="Step card"/>
          <p:cNvSpPr/>
          <p:nvPr/>
        </p:nvSpPr>
        <p:spPr>
          <a:xfrm>
            <a:off x="4338218" y="4343400"/>
            <a:ext cx="3515258" cy="1828800"/>
          </a:xfrm>
          <a:prstGeom prst="roundRect">
            <a:avLst>
              <a:gd name="adj" fmla="val 4000"/>
            </a:avLst>
          </a:prstGeom>
          <a:solidFill>
            <a:schemeClr val="bg2"/>
          </a:solidFill>
          <a:ln w="9525">
            <a:solidFill>
              <a:srgbClr val="C4CBD8"/>
            </a:solidFill>
            <a:prstDash val="solid"/>
          </a:ln>
        </p:spPr>
      </p:sp>
      <p:sp>
        <p:nvSpPr>
          <p:cNvPr id="27" name="Number"/>
          <p:cNvSpPr/>
          <p:nvPr/>
        </p:nvSpPr>
        <p:spPr>
          <a:xfrm>
            <a:off x="4521098" y="4526280"/>
            <a:ext cx="457200" cy="457200"/>
          </a:xfrm>
          <a:prstGeom prst="ellipse">
            <a:avLst/>
          </a:prstGeom>
          <a:solidFill>
            <a:schemeClr val="accent1"/>
          </a:solidFill>
          <a:ln w="6350">
            <a:solidFill>
              <a:schemeClr val="accent1"/>
            </a:solidFill>
            <a:prstDash val="solid"/>
          </a:ln>
        </p:spPr>
      </p:sp>
      <p:sp>
        <p:nvSpPr>
          <p:cNvPr id="28" name="Text 25"/>
          <p:cNvSpPr txBox="1"/>
          <p:nvPr/>
        </p:nvSpPr>
        <p:spPr>
          <a:xfrm>
            <a:off x="4521098" y="452628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5</a:t>
            </a:r>
            <a:endParaRPr lang="en-US" sz="1500" dirty="0"/>
          </a:p>
        </p:txBody>
      </p:sp>
      <p:sp>
        <p:nvSpPr>
          <p:cNvPr id="29" name="Step head"/>
          <p:cNvSpPr txBox="1"/>
          <p:nvPr/>
        </p:nvSpPr>
        <p:spPr>
          <a:xfrm>
            <a:off x="5115458" y="4507992"/>
            <a:ext cx="2600858" cy="50292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Close the gap</a:t>
            </a:r>
            <a:endParaRPr lang="en-US" sz="1700" dirty="0"/>
          </a:p>
        </p:txBody>
      </p:sp>
      <p:sp>
        <p:nvSpPr>
          <p:cNvPr id="30" name="Step text"/>
          <p:cNvSpPr txBox="1"/>
          <p:nvPr/>
        </p:nvSpPr>
        <p:spPr>
          <a:xfrm>
            <a:off x="4521098" y="5120640"/>
            <a:ext cx="3149498" cy="960120"/>
          </a:xfrm>
          <a:prstGeom prst="rect">
            <a:avLst/>
          </a:prstGeom>
          <a:noFill/>
          <a:ln/>
        </p:spPr>
        <p:txBody>
          <a:bodyPr wrap="square" lIns="0" tIns="0" rIns="0" bIns="0" rtlCol="0" anchor="t"/>
          <a:lstStyle/>
          <a:p>
            <a:pPr indent="0" marL="0">
              <a:buNone/>
            </a:pPr>
            <a:r>
              <a:rPr lang="en-US" sz="1500" dirty="0">
                <a:solidFill>
                  <a:schemeClr val="tx1"/>
                </a:solidFill>
              </a:rPr>
              <a:t>By branch-and-bound, only if the gap exceeds the decision's materiality: five convex solves.</a:t>
            </a:r>
            <a:endParaRPr lang="en-US" sz="15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§4.5 · TABLE 4.3 · PROPOSITION 4.3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Write lumpy choices with true ranges</a:t>
            </a:r>
            <a:endParaRPr lang="en-US" sz="3200" dirty="0"/>
          </a:p>
        </p:txBody>
      </p:sp>
      <p:graphicFrame>
        <p:nvGraphicFramePr>
          <p:cNvPr id="14"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2910011"/>
                <a:gridCol w="4001264"/>
                <a:gridCol w="4183140"/>
              </a:tblGrid>
              <a:tr h="429768">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Declaration</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Formulation</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Example</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429768">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yes-or-no program</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value v·y, cost c·y</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an automation round (Worked Example 2.1)</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29768">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tranches; whole quarters</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x = 50n, n integer, 0 ≤ n ≤ 8</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the standby line; the build's delay (Worked Example 1.1)</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29768">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set-up charge</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cost F·y + c·x, with x ≤ U·y</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opening a route; starting a line</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29768">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minimum scale</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L·y ≤ x ≤ U·y</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the legacy platform: shut, or 60 to 100</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29768">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at most k of n programs</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the sum of the n binaries ≤ k</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a transformation portfolio</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29768">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if A, then B</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y(A) ≤ y(B)</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a round only past the capability gate</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29768">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either-or commitments</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g₁(x) ≤ M·y, g₂(x) ≤ M(1 − y)</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hire or lay off in a quarter, not both</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29768">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piecewise-linear cost</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one binary per segment, segments filled in order</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300" dirty="0">
                          <a:solidFill>
                            <a:srgbClr val="0F1E3D"/>
                          </a:solidFill>
                          <a:latin typeface="Calibri" pitchFamily="34" charset="0"/>
                          <a:ea typeface="Calibri" pitchFamily="34" charset="-122"/>
                          <a:cs typeface="Calibri" pitchFamily="34" charset="-120"/>
                        </a:rPr>
                        <a:t>volume discounts</a:t>
                      </a:r>
                      <a:endParaRPr lang="en-US" sz="13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bl>
          </a:graphicData>
        </a:graphic>
      </p:graphicFrame>
      <p:sp>
        <p:nvSpPr>
          <p:cNvPr id="6"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b="1" dirty="0">
                <a:solidFill>
                  <a:schemeClr val="accent2"/>
                </a:solidFill>
              </a:rPr>
              <a:t>Proposition 4.3:</a:t>
            </a:r>
            <a:r>
              <a:rPr lang="en-US" sz="1600" dirty="0">
                <a:solidFill>
                  <a:schemeClr val="accent2"/>
                </a:solidFill>
              </a:rPr>
              <a:t> each row is exact; true ranges give set-up charges and minimum scales their convex hull.</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§4.5 · THEOREM 4.4</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Branch-and-bound certifies at every stage</a:t>
            </a:r>
            <a:endParaRPr lang="en-US" sz="3200" dirty="0"/>
          </a:p>
        </p:txBody>
      </p:sp>
      <p:sp>
        <p:nvSpPr>
          <p:cNvPr id="5" name="Bullets"/>
          <p:cNvSpPr txBox="1"/>
          <p:nvPr/>
        </p:nvSpPr>
        <p:spPr>
          <a:xfrm>
            <a:off x="548640" y="1691640"/>
            <a:ext cx="4365830" cy="4480560"/>
          </a:xfrm>
          <a:prstGeom prst="rect">
            <a:avLst/>
          </a:prstGeom>
          <a:noFill/>
          <a:ln/>
        </p:spPr>
        <p:txBody>
          <a:bodyPr wrap="square" lIns="635" tIns="635" rIns="635" bIns="635" rtlCol="0" anchor="t"/>
          <a:lstStyle/>
          <a:p>
            <a:pPr marL="228600" indent="-228600">
              <a:spcAft>
                <a:spcPts val="800"/>
              </a:spcAft>
              <a:buSzPct val="100000"/>
              <a:buChar char="•"/>
            </a:pPr>
            <a:r>
              <a:rPr lang="en-US" sz="1500" b="1" dirty="0">
                <a:solidFill>
                  <a:schemeClr val="tx1"/>
                </a:solidFill>
              </a:rPr>
              <a:t>(i)</a:t>
            </a:r>
            <a:r>
              <a:rPr lang="en-US" sz="1500" dirty="0">
                <a:solidFill>
                  <a:schemeClr val="tx1"/>
                </a:solidFill>
              </a:rPr>
              <a:t> The best value lies between the incumbent and the largest open bound: a valid gap</a:t>
            </a:r>
            <a:endParaRPr lang="en-US" sz="1500" dirty="0"/>
          </a:p>
          <a:p>
            <a:pPr marL="228600" indent="-228600">
              <a:spcAft>
                <a:spcPts val="800"/>
              </a:spcAft>
              <a:buSzPct val="100000"/>
              <a:buChar char="•"/>
            </a:pPr>
            <a:r>
              <a:rPr lang="en-US" sz="1500" b="1" dirty="0">
                <a:solidFill>
                  <a:schemeClr val="tx1"/>
                </a:solidFill>
              </a:rPr>
              <a:t>(ii)</a:t>
            </a:r>
            <a:r>
              <a:rPr lang="en-US" sz="1500" dirty="0">
                <a:solidFill>
                  <a:schemeClr val="tx1"/>
                </a:solidFill>
              </a:rPr>
              <a:t> A node whose bound cannot beat the incumbent is pruned safely; </a:t>
            </a:r>
            <a:r>
              <a:rPr lang="en-US" sz="1500" b="1" dirty="0">
                <a:solidFill>
                  <a:schemeClr val="tx1"/>
                </a:solidFill>
              </a:rPr>
              <a:t>(iii)</a:t>
            </a:r>
            <a:r>
              <a:rPr lang="en-US" sz="1500" dirty="0">
                <a:solidFill>
                  <a:schemeClr val="tx1"/>
                </a:solidFill>
              </a:rPr>
              <a:t> a lumpy answer settles it</a:t>
            </a:r>
            <a:endParaRPr lang="en-US" sz="1500" dirty="0"/>
          </a:p>
          <a:p>
            <a:pPr marL="228600" indent="-228600">
              <a:spcAft>
                <a:spcPts val="800"/>
              </a:spcAft>
              <a:buSzPct val="100000"/>
              <a:buChar char="•"/>
            </a:pPr>
            <a:r>
              <a:rPr lang="en-US" sz="1500" b="1" dirty="0">
                <a:solidFill>
                  <a:schemeClr val="tx1"/>
                </a:solidFill>
              </a:rPr>
              <a:t>(iv)</a:t>
            </a:r>
            <a:r>
              <a:rPr lang="en-US" sz="1500" dirty="0">
                <a:solidFill>
                  <a:schemeClr val="tx1"/>
                </a:solidFill>
              </a:rPr>
              <a:t> The search ends with a best plan, or stops within a declared gap; </a:t>
            </a:r>
            <a:r>
              <a:rPr lang="en-US" sz="1500" b="1" dirty="0">
                <a:solidFill>
                  <a:schemeClr val="tx1"/>
                </a:solidFill>
              </a:rPr>
              <a:t>(v)</a:t>
            </a:r>
            <a:r>
              <a:rPr lang="en-US" sz="1500" dirty="0">
                <a:solidFill>
                  <a:schemeClr val="tx1"/>
                </a:solidFill>
              </a:rPr>
              <a:t> tighter bounds prune more</a:t>
            </a:r>
            <a:endParaRPr lang="en-US" sz="1500" dirty="0"/>
          </a:p>
          <a:p>
            <a:pPr marL="228600" indent="-228600">
              <a:spcAft>
                <a:spcPts val="800"/>
              </a:spcAft>
              <a:buSzPct val="100000"/>
              <a:buChar char="•"/>
            </a:pPr>
            <a:r>
              <a:rPr lang="en-US" sz="1500" dirty="0">
                <a:solidFill>
                  <a:schemeClr val="tx1"/>
                </a:solidFill>
              </a:rPr>
              <a:t>Worked Example 1.1's package: </a:t>
            </a:r>
            <a:r>
              <a:rPr lang="en-US" sz="1500" b="1" dirty="0">
                <a:solidFill>
                  <a:schemeClr val="tx1"/>
                </a:solidFill>
              </a:rPr>
              <a:t>five nodes</a:t>
            </a:r>
            <a:r>
              <a:rPr lang="en-US" sz="1500" dirty="0">
                <a:solidFill>
                  <a:schemeClr val="tx1"/>
                </a:solidFill>
              </a:rPr>
              <a:t>, not 63 packages; the lumps cost </a:t>
            </a:r>
            <a:r>
              <a:rPr lang="en-US" sz="1500" b="1" dirty="0">
                <a:solidFill>
                  <a:schemeClr val="tx1"/>
                </a:solidFill>
              </a:rPr>
              <a:t>$2.06m</a:t>
            </a:r>
            <a:endParaRPr lang="en-US" sz="1500" dirty="0"/>
          </a:p>
          <a:p>
            <a:pPr marL="228600" indent="-228600">
              <a:spcAft>
                <a:spcPts val="800"/>
              </a:spcAft>
              <a:buSzPct val="100000"/>
              <a:buChar char="•"/>
            </a:pPr>
            <a:r>
              <a:rPr lang="en-US" sz="1500" dirty="0">
                <a:solidFill>
                  <a:schemeClr val="tx1"/>
                </a:solidFill>
              </a:rPr>
              <a:t>The cut 'delay at least one quarter' closes $1.19m of that gap before any branching</a:t>
            </a:r>
            <a:endParaRPr lang="en-US" sz="1500" dirty="0"/>
          </a:p>
        </p:txBody>
      </p:sp>
      <p:pic>
        <p:nvPicPr>
          <p:cNvPr id="6" name="Figure" descr="Figure 4.2: branch-and-bound on Worked Example 1.1's package">    </p:cNvPr>
          <p:cNvPicPr>
            <a:picLocks noChangeAspect="1"/>
          </p:cNvPicPr>
          <p:nvPr/>
        </p:nvPicPr>
        <p:blipFill>
          <a:blip r:embed="rId1"/>
          <a:stretch>
            <a:fillRect/>
          </a:stretch>
        </p:blipFill>
        <p:spPr>
          <a:xfrm>
            <a:off x="5280230" y="1853388"/>
            <a:ext cx="6362825" cy="3590136"/>
          </a:xfrm>
          <a:prstGeom prst="rect">
            <a:avLst/>
          </a:prstGeom>
        </p:spPr>
      </p:pic>
      <p:sp>
        <p:nvSpPr>
          <p:cNvPr id="7" name="Caption"/>
          <p:cNvSpPr txBox="1"/>
          <p:nvPr/>
        </p:nvSpPr>
        <p:spPr>
          <a:xfrm>
            <a:off x="5280230" y="5516676"/>
            <a:ext cx="6362825" cy="502920"/>
          </a:xfrm>
          <a:prstGeom prst="rect">
            <a:avLst/>
          </a:prstGeom>
          <a:noFill/>
          <a:ln/>
        </p:spPr>
        <p:txBody>
          <a:bodyPr wrap="square" lIns="0" tIns="0" rIns="0" bIns="0" rtlCol="0" anchor="t"/>
          <a:lstStyle/>
          <a:p>
            <a:pPr indent="0" marL="0">
              <a:buNone/>
            </a:pPr>
            <a:r>
              <a:rPr lang="en-US" sz="1100" i="1" dirty="0">
                <a:solidFill>
                  <a:schemeClr val="tx2"/>
                </a:solidFill>
              </a:rPr>
              <a:t>Figure 4.2. Line fees and delay at breach odds of at most 5 percent, the line in $50m tranches, the delay in whole quarters. Node 2 is infeasible; node 5 settles at $12.50m; node 4 is pruned.</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§4.6 · THEOREM 4.5</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Lumpy outside, convex inside: decompose</a:t>
            </a:r>
            <a:endParaRPr lang="en-US" sz="3200" dirty="0"/>
          </a:p>
        </p:txBody>
      </p:sp>
      <p:sp>
        <p:nvSpPr>
          <p:cNvPr id="5" name="Result card"/>
          <p:cNvSpPr/>
          <p:nvPr/>
        </p:nvSpPr>
        <p:spPr>
          <a:xfrm>
            <a:off x="548640" y="1691640"/>
            <a:ext cx="576072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521208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THEOREM 4.5</a:t>
            </a:r>
            <a:endParaRPr lang="en-US" sz="1200" dirty="0"/>
          </a:p>
        </p:txBody>
      </p:sp>
      <p:sp>
        <p:nvSpPr>
          <p:cNvPr id="7" name="Text 4"/>
          <p:cNvSpPr txBox="1"/>
          <p:nvPr/>
        </p:nvSpPr>
        <p:spPr>
          <a:xfrm>
            <a:off x="822960" y="2194560"/>
            <a:ext cx="521208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Decomposition Theorem</a:t>
            </a:r>
            <a:endParaRPr lang="en-US" sz="2100" dirty="0"/>
          </a:p>
        </p:txBody>
      </p:sp>
      <p:sp>
        <p:nvSpPr>
          <p:cNvPr id="8" name="Bullets"/>
          <p:cNvSpPr txBox="1"/>
          <p:nvPr/>
        </p:nvSpPr>
        <p:spPr>
          <a:xfrm>
            <a:off x="822960" y="2743200"/>
            <a:ext cx="5212080" cy="3291840"/>
          </a:xfrm>
          <a:prstGeom prst="rect">
            <a:avLst/>
          </a:prstGeom>
          <a:noFill/>
          <a:ln/>
        </p:spPr>
        <p:txBody>
          <a:bodyPr wrap="square" lIns="635" tIns="635" rIns="635" bIns="635" rtlCol="0" anchor="t"/>
          <a:lstStyle/>
          <a:p>
            <a:pPr marL="228600" indent="-228600">
              <a:spcAft>
                <a:spcPts val="600"/>
              </a:spcAft>
              <a:buSzPct val="100000"/>
              <a:buChar char="•"/>
            </a:pPr>
            <a:r>
              <a:rPr lang="en-US" sz="1600" b="1" dirty="0">
                <a:solidFill>
                  <a:schemeClr val="tx1"/>
                </a:solidFill>
              </a:rPr>
              <a:t>(i) Lagrangian bounds separate.</a:t>
            </a:r>
            <a:r>
              <a:rPr lang="en-US" sz="1600" dirty="0">
                <a:solidFill>
                  <a:schemeClr val="tx1"/>
                </a:solidFill>
              </a:rPr>
              <a:t> Priced coupling commitments give a ceiling, division by division</a:t>
            </a:r>
            <a:endParaRPr lang="en-US" sz="1600" dirty="0"/>
          </a:p>
          <a:p>
            <a:pPr marL="228600" indent="-228600">
              <a:spcAft>
                <a:spcPts val="600"/>
              </a:spcAft>
              <a:buSzPct val="100000"/>
              <a:buChar char="•"/>
            </a:pPr>
            <a:r>
              <a:rPr lang="en-US" sz="1600" b="1" dirty="0">
                <a:solidFill>
                  <a:schemeClr val="tx1"/>
                </a:solidFill>
              </a:rPr>
              <a:t>(ii) Their strength.</a:t>
            </a:r>
            <a:r>
              <a:rPr lang="en-US" sz="1600" dirty="0">
                <a:solidFill>
                  <a:schemeClr val="tx1"/>
                </a:solidFill>
              </a:rPr>
              <a:t> The best such ceiling is never weaker than the continuous relaxation, often stronger</a:t>
            </a:r>
            <a:endParaRPr lang="en-US" sz="1600" dirty="0"/>
          </a:p>
          <a:p>
            <a:pPr marL="228600" indent="-228600">
              <a:spcAft>
                <a:spcPts val="600"/>
              </a:spcAft>
              <a:buSzPct val="100000"/>
              <a:buChar char="•"/>
            </a:pPr>
            <a:r>
              <a:rPr lang="en-US" sz="1600" b="1" dirty="0">
                <a:solidFill>
                  <a:schemeClr val="tx1"/>
                </a:solidFill>
              </a:rPr>
              <a:t>(iii) Benders.</a:t>
            </a:r>
            <a:r>
              <a:rPr lang="en-US" sz="1600" dirty="0">
                <a:solidFill>
                  <a:schemeClr val="tx1"/>
                </a:solidFill>
              </a:rPr>
              <a:t> A lumpy master with price cuts from convex subproblems ends with a best plan</a:t>
            </a:r>
            <a:endParaRPr lang="en-US" sz="1600" dirty="0"/>
          </a:p>
        </p:txBody>
      </p:sp>
      <p:sp>
        <p:nvSpPr>
          <p:cNvPr id="9" name="Text 6"/>
          <p:cNvSpPr txBox="1"/>
          <p:nvPr/>
        </p:nvSpPr>
        <p:spPr>
          <a:xfrm>
            <a:off x="6720840" y="1737360"/>
            <a:ext cx="4922215" cy="365760"/>
          </a:xfrm>
          <a:prstGeom prst="rect">
            <a:avLst/>
          </a:prstGeom>
          <a:noFill/>
          <a:ln/>
        </p:spPr>
        <p:txBody>
          <a:bodyPr wrap="square" lIns="0" tIns="0" rIns="0" bIns="0" rtlCol="0" anchor="ctr"/>
          <a:lstStyle/>
          <a:p>
            <a:pPr indent="0" marL="0">
              <a:buNone/>
            </a:pPr>
            <a:r>
              <a:rPr lang="en-US" sz="1600" b="1" dirty="0">
                <a:solidFill>
                  <a:schemeClr val="accent2"/>
                </a:solidFill>
              </a:rPr>
              <a:t>For Meridian</a:t>
            </a:r>
            <a:endParaRPr lang="en-US" sz="1600" dirty="0"/>
          </a:p>
        </p:txBody>
      </p:sp>
      <p:sp>
        <p:nvSpPr>
          <p:cNvPr id="10" name="Bullets"/>
          <p:cNvSpPr txBox="1"/>
          <p:nvPr/>
        </p:nvSpPr>
        <p:spPr>
          <a:xfrm>
            <a:off x="6720840" y="2194560"/>
            <a:ext cx="4922215" cy="3977640"/>
          </a:xfrm>
          <a:prstGeom prst="rect">
            <a:avLst/>
          </a:prstGeom>
          <a:noFill/>
          <a:ln/>
        </p:spPr>
        <p:txBody>
          <a:bodyPr wrap="square" lIns="635" tIns="635" rIns="635" bIns="635" rtlCol="0" anchor="t"/>
          <a:lstStyle/>
          <a:p>
            <a:pPr marL="228600" indent="-228600">
              <a:spcAft>
                <a:spcPts val="800"/>
              </a:spcAft>
              <a:buSzPct val="100000"/>
              <a:buChar char="•"/>
            </a:pPr>
            <a:r>
              <a:rPr lang="en-US" sz="1500" dirty="0">
                <a:solidFill>
                  <a:schemeClr val="tx1"/>
                </a:solidFill>
              </a:rPr>
              <a:t>A dozen plants deciding every quarter for six years: 288 choices, 2</a:t>
            </a:r>
            <a:r>
              <a:rPr lang="en-US" sz="1500" baseline="30000" dirty="0">
                <a:solidFill>
                  <a:schemeClr val="tx1"/>
                </a:solidFill>
              </a:rPr>
              <a:t>288</a:t>
            </a:r>
            <a:r>
              <a:rPr lang="en-US" sz="1500" dirty="0">
                <a:solidFill>
                  <a:schemeClr val="tx1"/>
                </a:solidFill>
              </a:rPr>
              <a:t> schedules</a:t>
            </a:r>
            <a:endParaRPr lang="en-US" sz="1500" dirty="0"/>
          </a:p>
          <a:p>
            <a:pPr marL="228600" indent="-228600">
              <a:spcAft>
                <a:spcPts val="800"/>
              </a:spcAft>
              <a:buSzPct val="100000"/>
              <a:buChar char="•"/>
            </a:pPr>
            <a:r>
              <a:rPr lang="en-US" sz="1500" dirty="0">
                <a:solidFill>
                  <a:schemeClr val="tx1"/>
                </a:solidFill>
              </a:rPr>
              <a:t>The $60m cap: the best price list's $650m is tighter than Chapter 3's $746m, yet far above $150m</a:t>
            </a:r>
            <a:endParaRPr lang="en-US" sz="1500" dirty="0"/>
          </a:p>
          <a:p>
            <a:pPr marL="228600" indent="-228600">
              <a:spcAft>
                <a:spcPts val="800"/>
              </a:spcAft>
              <a:buSzPct val="100000"/>
              <a:buChar char="•"/>
            </a:pPr>
            <a:r>
              <a:rPr lang="en-US" sz="1500" dirty="0">
                <a:solidFill>
                  <a:schemeClr val="tx1"/>
                </a:solidFill>
              </a:rPr>
              <a:t>Benders keeps the liquidity plan out of the search over schedules and returns its prices as cuts</a:t>
            </a:r>
            <a:endParaRPr lang="en-US" sz="1500" dirty="0"/>
          </a:p>
          <a:p>
            <a:pPr marL="228600" indent="-228600">
              <a:spcAft>
                <a:spcPts val="800"/>
              </a:spcAft>
              <a:buSzPct val="100000"/>
              <a:buChar char="•"/>
            </a:pPr>
            <a:r>
              <a:rPr lang="en-US" sz="1500" dirty="0">
                <a:solidFill>
                  <a:schemeClr val="tx1"/>
                </a:solidFill>
              </a:rPr>
              <a:t>Rules with parameters turn policy design into a NEO problem; Part II exploits time</a:t>
            </a:r>
            <a:endParaRPr lang="en-US" sz="15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4.1 · THE SITUATION</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Can Meridian automate part of a line?</a:t>
            </a:r>
            <a:endParaRPr lang="en-US" sz="3200" dirty="0"/>
          </a:p>
        </p:txBody>
      </p:sp>
      <p:sp>
        <p:nvSpPr>
          <p:cNvPr id="5" name="Card"/>
          <p:cNvSpPr/>
          <p:nvPr/>
        </p:nvSpPr>
        <p:spPr>
          <a:xfrm>
            <a:off x="548640" y="1691640"/>
            <a:ext cx="3515258" cy="2514600"/>
          </a:xfrm>
          <a:prstGeom prst="roundRect">
            <a:avLst>
              <a:gd name="adj" fmla="val 2909"/>
            </a:avLst>
          </a:prstGeom>
          <a:solidFill>
            <a:schemeClr val="bg2"/>
          </a:solidFill>
          <a:ln w="9525">
            <a:solidFill>
              <a:srgbClr val="C4CBD8"/>
            </a:solidFill>
            <a:prstDash val="solid"/>
          </a:ln>
        </p:spPr>
      </p:sp>
      <p:sp>
        <p:nvSpPr>
          <p:cNvPr id="6" name="Card label"/>
          <p:cNvSpPr txBox="1"/>
          <p:nvPr/>
        </p:nvSpPr>
        <p:spPr>
          <a:xfrm>
            <a:off x="731520"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Part rounds</a:t>
            </a:r>
            <a:endParaRPr lang="en-US" sz="1300" dirty="0"/>
          </a:p>
        </p:txBody>
      </p:sp>
      <p:sp>
        <p:nvSpPr>
          <p:cNvPr id="7" name="Card head"/>
          <p:cNvSpPr txBox="1"/>
          <p:nvPr/>
        </p:nvSpPr>
        <p:spPr>
          <a:xfrm>
            <a:off x="731520" y="2148840"/>
            <a:ext cx="3149498" cy="941832"/>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Is part of a round worth running?</a:t>
            </a:r>
            <a:endParaRPr lang="en-US" sz="1800" dirty="0"/>
          </a:p>
        </p:txBody>
      </p:sp>
      <p:sp>
        <p:nvSpPr>
          <p:cNvPr id="8" name="Card text"/>
          <p:cNvSpPr txBox="1"/>
          <p:nvPr/>
        </p:nvSpPr>
        <p:spPr>
          <a:xfrm>
            <a:off x="731520" y="3163824"/>
            <a:ext cx="3149498" cy="914400"/>
          </a:xfrm>
          <a:prstGeom prst="rect">
            <a:avLst/>
          </a:prstGeom>
          <a:noFill/>
          <a:ln/>
        </p:spPr>
        <p:txBody>
          <a:bodyPr wrap="square" lIns="0" tIns="0" rIns="0" bIns="0" rtlCol="0" anchor="t"/>
          <a:lstStyle/>
          <a:p>
            <a:pPr indent="0" marL="0">
              <a:buNone/>
            </a:pPr>
            <a:r>
              <a:rPr lang="en-US" sz="1500" dirty="0">
                <a:solidFill>
                  <a:schemeClr val="tx2"/>
                </a:solidFill>
              </a:rPr>
              <a:t>A fraction z of a round costs $120m × z and closes z/2 of the remaining gap.</a:t>
            </a:r>
            <a:endParaRPr lang="en-US" sz="1500" dirty="0"/>
          </a:p>
        </p:txBody>
      </p:sp>
      <p:sp>
        <p:nvSpPr>
          <p:cNvPr id="9" name="Card"/>
          <p:cNvSpPr/>
          <p:nvPr/>
        </p:nvSpPr>
        <p:spPr>
          <a:xfrm>
            <a:off x="4338218" y="1691640"/>
            <a:ext cx="3515258" cy="2514600"/>
          </a:xfrm>
          <a:prstGeom prst="roundRect">
            <a:avLst>
              <a:gd name="adj" fmla="val 2909"/>
            </a:avLst>
          </a:prstGeom>
          <a:solidFill>
            <a:schemeClr val="bg2"/>
          </a:solidFill>
          <a:ln w="9525">
            <a:solidFill>
              <a:srgbClr val="C4CBD8"/>
            </a:solidFill>
            <a:prstDash val="solid"/>
          </a:ln>
        </p:spPr>
      </p:sp>
      <p:sp>
        <p:nvSpPr>
          <p:cNvPr id="10" name="Card label"/>
          <p:cNvSpPr txBox="1"/>
          <p:nvPr/>
        </p:nvSpPr>
        <p:spPr>
          <a:xfrm>
            <a:off x="4521098"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Many answers</a:t>
            </a:r>
            <a:endParaRPr lang="en-US" sz="1300" dirty="0"/>
          </a:p>
        </p:txBody>
      </p:sp>
      <p:sp>
        <p:nvSpPr>
          <p:cNvPr id="11" name="Card head"/>
          <p:cNvSpPr txBox="1"/>
          <p:nvPr/>
        </p:nvSpPr>
        <p:spPr>
          <a:xfrm>
            <a:off x="4521098" y="2148840"/>
            <a:ext cx="3149498" cy="941832"/>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Which of the optimizer's answers should the board trust?</a:t>
            </a:r>
            <a:endParaRPr lang="en-US" sz="1800" dirty="0"/>
          </a:p>
        </p:txBody>
      </p:sp>
      <p:sp>
        <p:nvSpPr>
          <p:cNvPr id="12" name="Card text"/>
          <p:cNvSpPr txBox="1"/>
          <p:nvPr/>
        </p:nvSpPr>
        <p:spPr>
          <a:xfrm>
            <a:off x="4521098" y="3163824"/>
            <a:ext cx="3149498" cy="914400"/>
          </a:xfrm>
          <a:prstGeom prst="rect">
            <a:avLst/>
          </a:prstGeom>
          <a:noFill/>
          <a:ln/>
        </p:spPr>
        <p:txBody>
          <a:bodyPr wrap="square" lIns="0" tIns="0" rIns="0" bIns="0" rtlCol="0" anchor="t"/>
          <a:lstStyle/>
          <a:p>
            <a:pPr indent="0" marL="0">
              <a:buNone/>
            </a:pPr>
            <a:r>
              <a:rPr lang="en-US" sz="1500" dirty="0">
                <a:solidFill>
                  <a:schemeClr val="tx2"/>
                </a:solidFill>
              </a:rPr>
              <a:t>Her planners' optimizer, started from different plans, returns different answers.</a:t>
            </a:r>
            <a:endParaRPr lang="en-US" sz="1500" dirty="0"/>
          </a:p>
        </p:txBody>
      </p:sp>
      <p:sp>
        <p:nvSpPr>
          <p:cNvPr id="13" name="Card"/>
          <p:cNvSpPr/>
          <p:nvPr/>
        </p:nvSpPr>
        <p:spPr>
          <a:xfrm>
            <a:off x="8127797" y="1691640"/>
            <a:ext cx="3515258" cy="2514600"/>
          </a:xfrm>
          <a:prstGeom prst="roundRect">
            <a:avLst>
              <a:gd name="adj" fmla="val 2909"/>
            </a:avLst>
          </a:prstGeom>
          <a:solidFill>
            <a:schemeClr val="tx1"/>
          </a:solidFill>
          <a:ln w="9525">
            <a:solidFill>
              <a:srgbClr val="0F1E3D"/>
            </a:solidFill>
            <a:prstDash val="solid"/>
          </a:ln>
        </p:spPr>
      </p:sp>
      <p:sp>
        <p:nvSpPr>
          <p:cNvPr id="14" name="Card label"/>
          <p:cNvSpPr txBox="1"/>
          <p:nvPr/>
        </p:nvSpPr>
        <p:spPr>
          <a:xfrm>
            <a:off x="8310677"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A proof</a:t>
            </a:r>
            <a:endParaRPr lang="en-US" sz="1300" dirty="0"/>
          </a:p>
        </p:txBody>
      </p:sp>
      <p:sp>
        <p:nvSpPr>
          <p:cNvPr id="15" name="Card head"/>
          <p:cNvSpPr txBox="1"/>
          <p:nvPr/>
        </p:nvSpPr>
        <p:spPr>
          <a:xfrm>
            <a:off x="8310677" y="2148840"/>
            <a:ext cx="3149498" cy="941832"/>
          </a:xfrm>
          <a:prstGeom prst="rect">
            <a:avLst/>
          </a:prstGeom>
          <a:noFill/>
          <a:ln/>
        </p:spPr>
        <p:txBody>
          <a:bodyPr wrap="square" lIns="0" tIns="0" rIns="0" bIns="0" rtlCol="0" anchor="t"/>
          <a:lstStyle/>
          <a:p>
            <a:pPr indent="0" marL="0">
              <a:buNone/>
            </a:pPr>
            <a:r>
              <a:rPr lang="en-US" sz="1800" b="1" dirty="0">
                <a:solidFill>
                  <a:schemeClr val="bg1"/>
                </a:solidFill>
                <a:latin typeface="Cambria" pitchFamily="34" charset="0"/>
                <a:ea typeface="Cambria" pitchFamily="34" charset="-122"/>
                <a:cs typeface="Cambria" pitchFamily="34" charset="-120"/>
              </a:rPr>
              <a:t>Can the best plan be proved without enumerating every plan?</a:t>
            </a:r>
            <a:endParaRPr lang="en-US" sz="1800" dirty="0"/>
          </a:p>
        </p:txBody>
      </p:sp>
      <p:sp>
        <p:nvSpPr>
          <p:cNvPr id="16" name="Card text"/>
          <p:cNvSpPr txBox="1"/>
          <p:nvPr/>
        </p:nvSpPr>
        <p:spPr>
          <a:xfrm>
            <a:off x="8310677" y="3163824"/>
            <a:ext cx="3149498" cy="914400"/>
          </a:xfrm>
          <a:prstGeom prst="rect">
            <a:avLst/>
          </a:prstGeom>
          <a:noFill/>
          <a:ln/>
        </p:spPr>
        <p:txBody>
          <a:bodyPr wrap="square" lIns="0" tIns="0" rIns="0" bIns="0" rtlCol="0" anchor="t"/>
          <a:lstStyle/>
          <a:p>
            <a:pPr indent="0" marL="0">
              <a:buNone/>
            </a:pPr>
            <a:r>
              <a:rPr lang="en-US" sz="1500" dirty="0">
                <a:solidFill>
                  <a:schemeClr val="bg2"/>
                </a:solidFill>
              </a:rPr>
              <a:t>At twenty years' credit the relaxation runs 0.15 of a year-5 round.</a:t>
            </a:r>
            <a:endParaRPr lang="en-US" sz="1500" dirty="0"/>
          </a:p>
        </p:txBody>
      </p:sp>
      <p:sp>
        <p:nvSpPr>
          <p:cNvPr id="17" name="Lead"/>
          <p:cNvSpPr txBox="1"/>
          <p:nvPr/>
        </p:nvSpPr>
        <p:spPr>
          <a:xfrm>
            <a:off x="548640" y="4480560"/>
            <a:ext cx="11094415" cy="457200"/>
          </a:xfrm>
          <a:prstGeom prst="rect">
            <a:avLst/>
          </a:prstGeom>
          <a:noFill/>
          <a:ln/>
        </p:spPr>
        <p:txBody>
          <a:bodyPr wrap="square" lIns="0" tIns="0" rIns="0" bIns="0" rtlCol="0" anchor="ctr"/>
          <a:lstStyle/>
          <a:p>
            <a:pPr indent="0" marL="0">
              <a:buNone/>
            </a:pPr>
            <a:r>
              <a:rPr lang="en-US" sz="1600" i="1" dirty="0">
                <a:solidFill>
                  <a:schemeClr val="accent2"/>
                </a:solidFill>
              </a:rPr>
              <a:t>The chief operating officer's three questions, now that the board credits twenty years of year-6 savings.</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4.1 · STEPS 1–2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bg1"/>
                </a:solidFill>
                <a:latin typeface="Cambria" pitchFamily="34" charset="0"/>
                <a:ea typeface="Cambria" pitchFamily="34" charset="-122"/>
                <a:cs typeface="Cambria" pitchFamily="34" charset="-120"/>
              </a:rPr>
              <a:t>Rounds multiply: affine in each round</a:t>
            </a:r>
            <a:endParaRPr lang="en-US" sz="3200" dirty="0"/>
          </a:p>
        </p:txBody>
      </p:sp>
      <p:pic>
        <p:nvPicPr>
          <p:cNvPr id="5" name="Equation" descr="Equation: V(\mathbf{z}) \;=\; 150 \;+\; \sum_{k=1}^{6} S_k \;-\; 120\sum_{k=1}^{6} z_k \;+\; 20\,S_6, \qquad S_k \;=\; 140 \;-\; 140\prod_{j \le k}\Bigl(1 - \frac{z_j}{2}\Bigr)">    </p:cNvPr>
          <p:cNvPicPr>
            <a:picLocks noChangeAspect="1"/>
          </p:cNvPicPr>
          <p:nvPr/>
        </p:nvPicPr>
        <p:blipFill>
          <a:blip r:embed="rId1"/>
          <a:stretch>
            <a:fillRect/>
          </a:stretch>
        </p:blipFill>
        <p:spPr>
          <a:xfrm>
            <a:off x="1447838" y="1828800"/>
            <a:ext cx="9296019" cy="960120"/>
          </a:xfrm>
          <a:prstGeom prst="rect">
            <a:avLst/>
          </a:prstGeom>
        </p:spPr>
      </p:pic>
      <p:sp>
        <p:nvSpPr>
          <p:cNvPr id="6" name="Text 2"/>
          <p:cNvSpPr txBox="1"/>
          <p:nvPr/>
        </p:nvSpPr>
        <p:spPr>
          <a:xfrm>
            <a:off x="914400" y="2926080"/>
            <a:ext cx="10362895" cy="411480"/>
          </a:xfrm>
          <a:prstGeom prst="rect">
            <a:avLst/>
          </a:prstGeom>
          <a:noFill/>
          <a:ln/>
        </p:spPr>
        <p:txBody>
          <a:bodyPr wrap="square" lIns="0" tIns="0" rIns="0" bIns="0" rtlCol="0" anchor="ctr"/>
          <a:lstStyle/>
          <a:p>
            <a:pPr algn="ctr" indent="0" marL="0">
              <a:buNone/>
            </a:pPr>
            <a:r>
              <a:rPr lang="en-US" sz="1600" i="1" dirty="0">
                <a:solidFill>
                  <a:schemeClr val="accent4"/>
                </a:solidFill>
              </a:rPr>
              <a:t>the cash freed above $470m plus twenty years of the year-6 savings; payouts wait, so the floors keep $85m</a:t>
            </a:r>
            <a:endParaRPr lang="en-US" sz="1600" dirty="0"/>
          </a:p>
        </p:txBody>
      </p:sp>
      <p:sp>
        <p:nvSpPr>
          <p:cNvPr id="7" name="Bullets"/>
          <p:cNvSpPr txBox="1"/>
          <p:nvPr/>
        </p:nvSpPr>
        <p:spPr>
          <a:xfrm>
            <a:off x="914400" y="3520440"/>
            <a:ext cx="10362895" cy="2651760"/>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chemeClr val="bg1"/>
                </a:solidFill>
              </a:rPr>
              <a:t>Step 1:</a:t>
            </a:r>
            <a:r>
              <a:rPr lang="en-US" sz="1700" dirty="0">
                <a:solidFill>
                  <a:schemeClr val="bg1"/>
                </a:solidFill>
              </a:rPr>
              <a:t> part of a round is a blend of none and a whole one: Chapter 3's 0.15 of a year-5 round is worth $2,982.61m, $3.64m less than none</a:t>
            </a:r>
            <a:endParaRPr lang="en-US" sz="1700" dirty="0"/>
          </a:p>
          <a:p>
            <a:pPr marL="228600" indent="-228600">
              <a:spcAft>
                <a:spcPts val="800"/>
              </a:spcAft>
              <a:buSzPct val="100000"/>
              <a:buChar char="•"/>
            </a:pPr>
            <a:r>
              <a:rPr lang="en-US" sz="1700" dirty="0">
                <a:solidFill>
                  <a:schemeClr val="bg1"/>
                </a:solidFill>
              </a:rPr>
              <a:t>Chapter 3's exponential form overstates part rounds, 2</a:t>
            </a:r>
            <a:r>
              <a:rPr lang="en-US" sz="1700" baseline="30000" dirty="0">
                <a:solidFill>
                  <a:schemeClr val="bg1"/>
                </a:solidFill>
              </a:rPr>
              <a:t>−z</a:t>
            </a:r>
            <a:r>
              <a:rPr lang="en-US" sz="1700" dirty="0">
                <a:solidFill>
                  <a:schemeClr val="bg1"/>
                </a:solidFill>
              </a:rPr>
              <a:t> ≤ 1 − z/2: its relaxation is a ceiling, not a plan</a:t>
            </a:r>
            <a:endParaRPr lang="en-US" sz="1700" dirty="0"/>
          </a:p>
          <a:p>
            <a:pPr marL="228600" indent="-228600">
              <a:spcAft>
                <a:spcPts val="800"/>
              </a:spcAft>
              <a:buSzPct val="100000"/>
              <a:buChar char="•"/>
            </a:pPr>
            <a:r>
              <a:rPr lang="en-US" sz="1700" b="1" dirty="0">
                <a:solidFill>
                  <a:schemeClr val="bg1"/>
                </a:solidFill>
              </a:rPr>
              <a:t>Step 2:</a:t>
            </a:r>
            <a:r>
              <a:rPr lang="en-US" sz="1700" dirty="0">
                <a:solidFill>
                  <a:schemeClr val="bg1"/>
                </a:solidFill>
              </a:rPr>
              <a:t> SLSQP from 100 random starts ends at three plans, each passing the KKT audit with zero residuals</a:t>
            </a:r>
            <a:endParaRPr lang="en-US" sz="1700" dirty="0"/>
          </a:p>
          <a:p>
            <a:pPr marL="228600" indent="-228600">
              <a:spcAft>
                <a:spcPts val="800"/>
              </a:spcAft>
              <a:buSzPct val="100000"/>
              <a:buChar char="•"/>
            </a:pPr>
            <a:r>
              <a:rPr lang="en-US" sz="1700" dirty="0">
                <a:solidFill>
                  <a:schemeClr val="bg1"/>
                </a:solidFill>
              </a:rPr>
              <a:t>A fourth candidate is a saddle: moving t of a round from year 5 to year 4 adds 96.25t</a:t>
            </a:r>
            <a:r>
              <a:rPr lang="en-US" sz="1700" baseline="30000" dirty="0">
                <a:solidFill>
                  <a:schemeClr val="bg1"/>
                </a:solidFill>
              </a:rPr>
              <a:t>2</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4.1 · TABLE 4.4</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Three answers pass every local test</a:t>
            </a:r>
            <a:endParaRPr lang="en-US" sz="3200" dirty="0"/>
          </a:p>
        </p:txBody>
      </p:sp>
      <p:graphicFrame>
        <p:nvGraphicFramePr>
          <p:cNvPr id="19"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3843734"/>
                <a:gridCol w="873576"/>
                <a:gridCol w="1310364"/>
                <a:gridCol w="1397722"/>
                <a:gridCol w="2183940"/>
                <a:gridCol w="1485079"/>
              </a:tblGrid>
              <a:tr h="50292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Plan</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500" b="1" dirty="0">
                          <a:solidFill>
                            <a:srgbClr val="FFFFFF"/>
                          </a:solidFill>
                          <a:latin typeface="Calibri" pitchFamily="34" charset="0"/>
                          <a:ea typeface="Calibri" pitchFamily="34" charset="-122"/>
                          <a:cs typeface="Calibri" pitchFamily="34" charset="-120"/>
                        </a:rPr>
                        <a:t>Runs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500" b="1" dirty="0">
                          <a:solidFill>
                            <a:srgbClr val="FFFFFF"/>
                          </a:solidFill>
                          <a:latin typeface="Calibri" pitchFamily="34" charset="0"/>
                          <a:ea typeface="Calibri" pitchFamily="34" charset="-122"/>
                          <a:cs typeface="Calibri" pitchFamily="34" charset="-120"/>
                        </a:rPr>
                        <a:t>Value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First order</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Second order</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500" b="1" dirty="0">
                          <a:solidFill>
                            <a:srgbClr val="FFFFFF"/>
                          </a:solidFill>
                          <a:latin typeface="Calibri" pitchFamily="34" charset="0"/>
                          <a:ea typeface="Calibri" pitchFamily="34" charset="-122"/>
                          <a:cs typeface="Calibri" pitchFamily="34" charset="-120"/>
                        </a:rPr>
                        <a:t>Below ceiling</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502920">
                <a:tc>
                  <a:txBody>
                    <a:bodyPr/>
                    <a:lstStyle/>
                    <a:p>
                      <a:pPr algn="l" indent="0" marL="0">
                        <a:buNone/>
                      </a:pPr>
                      <a:r>
                        <a:rPr lang="en-US" sz="1500" b="1" dirty="0">
                          <a:solidFill>
                            <a:srgbClr val="0F1E3D"/>
                          </a:solidFill>
                          <a:latin typeface="Calibri" pitchFamily="34" charset="0"/>
                          <a:ea typeface="Calibri" pitchFamily="34" charset="-122"/>
                          <a:cs typeface="Calibri" pitchFamily="34" charset="-120"/>
                        </a:rPr>
                        <a:t>years 1–4</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87</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2,986.25</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passes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strict local maximum</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1.01</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r>
              <a:tr h="50292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years 1–3 and 5</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11</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2,977.50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passes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strict local maximum</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9.76</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50292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years 1–3 and 6</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2</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2,968.75</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passes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strict local maximum</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18.51</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50292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years 1–3; 0.75 in year 4; 0.84 in year 5</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2,966.20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passes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saddle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21.06</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50292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ceiling (Chapter 3's relaxation)</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2,987.26</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bl>
          </a:graphicData>
        </a:graphic>
      </p:graphicFrame>
      <p:sp>
        <p:nvSpPr>
          <p:cNvPr id="6" name="Table note"/>
          <p:cNvSpPr txBox="1"/>
          <p:nvPr/>
        </p:nvSpPr>
        <p:spPr>
          <a:xfrm>
            <a:off x="548640" y="4892040"/>
            <a:ext cx="11094415" cy="320040"/>
          </a:xfrm>
          <a:prstGeom prst="rect">
            <a:avLst/>
          </a:prstGeom>
          <a:noFill/>
          <a:ln/>
        </p:spPr>
        <p:txBody>
          <a:bodyPr wrap="square" lIns="0" tIns="0" rIns="0" bIns="0" rtlCol="0" anchor="ctr"/>
          <a:lstStyle/>
          <a:p>
            <a:pPr indent="0" marL="0">
              <a:buNone/>
            </a:pPr>
            <a:r>
              <a:rPr lang="en-US" sz="1100" i="1" dirty="0">
                <a:solidFill>
                  <a:schemeClr val="tx2"/>
                </a:solidFill>
              </a:rPr>
              <a:t>Where 100 local searches end at twenty years' credit, $ million, undiscounted. SciPy's SLSQP from 100 random starts (seed 2026, Online Appendix 4.B.3). Ceiling: Chapter 3's relaxation.</a:t>
            </a:r>
            <a:endParaRPr lang="en-US" sz="1100" dirty="0"/>
          </a:p>
        </p:txBody>
      </p:sp>
      <p:sp>
        <p:nvSpPr>
          <p:cNvPr id="7"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dirty="0">
                <a:solidFill>
                  <a:schemeClr val="accent2"/>
                </a:solidFill>
              </a:rPr>
              <a:t>The best local answer lies within $1.01m, or 0.03 percent, of the ceiling; no run stops at the saddle.</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4.1 · STEPS 3–5</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Prices differ by basin; a bound decides</a:t>
            </a:r>
            <a:endParaRPr lang="en-US" sz="3200" dirty="0"/>
          </a:p>
        </p:txBody>
      </p:sp>
      <p:sp>
        <p:nvSpPr>
          <p:cNvPr id="5" name="Bullets"/>
          <p:cNvSpPr txBox="1"/>
          <p:nvPr/>
        </p:nvSpPr>
        <p:spPr>
          <a:xfrm>
            <a:off x="548640" y="1691640"/>
            <a:ext cx="4476774" cy="4480560"/>
          </a:xfrm>
          <a:prstGeom prst="rect">
            <a:avLst/>
          </a:prstGeom>
          <a:noFill/>
          <a:ln/>
        </p:spPr>
        <p:txBody>
          <a:bodyPr wrap="square" lIns="635" tIns="635" rIns="635" bIns="635" rtlCol="0" anchor="t"/>
          <a:lstStyle/>
          <a:p>
            <a:pPr marL="228600" indent="-228600">
              <a:spcAft>
                <a:spcPts val="800"/>
              </a:spcAft>
              <a:buSzPct val="100000"/>
              <a:buChar char="•"/>
            </a:pPr>
            <a:r>
              <a:rPr lang="en-US" sz="1500" b="1" dirty="0">
                <a:solidFill>
                  <a:schemeClr val="tx1"/>
                </a:solidFill>
              </a:rPr>
              <a:t>Step 3:</a:t>
            </a:r>
            <a:r>
              <a:rPr lang="en-US" sz="1500" dirty="0">
                <a:solidFill>
                  <a:schemeClr val="tx1"/>
                </a:solidFill>
              </a:rPr>
              <a:t> at years 1–4 the year-4 round earns $81.25m over its cost</a:t>
            </a:r>
            <a:endParaRPr lang="en-US" sz="1500" dirty="0"/>
          </a:p>
          <a:p>
            <a:pPr marL="228600" indent="-228600">
              <a:spcAft>
                <a:spcPts val="800"/>
              </a:spcAft>
              <a:buSzPct val="100000"/>
              <a:buChar char="•"/>
            </a:pPr>
            <a:r>
              <a:rPr lang="en-US" sz="1500" dirty="0">
                <a:solidFill>
                  <a:schemeClr val="tx1"/>
                </a:solidFill>
              </a:rPr>
              <a:t>Forcing a round into year 5 or 6 there loses $23.75m or $28.13m</a:t>
            </a:r>
            <a:endParaRPr lang="en-US" sz="1500" dirty="0"/>
          </a:p>
          <a:p>
            <a:pPr marL="228600" indent="-228600">
              <a:spcAft>
                <a:spcPts val="800"/>
              </a:spcAft>
              <a:buSzPct val="100000"/>
              <a:buChar char="•"/>
            </a:pPr>
            <a:r>
              <a:rPr lang="en-US" sz="1500" dirty="0">
                <a:solidFill>
                  <a:schemeClr val="tx1"/>
                </a:solidFill>
              </a:rPr>
              <a:t>At years 1–3 and 5 a year-4 round loses $15.00m, yet the swap gains </a:t>
            </a:r>
            <a:r>
              <a:rPr lang="en-US" sz="1500" b="1" dirty="0">
                <a:solidFill>
                  <a:schemeClr val="tx1"/>
                </a:solidFill>
              </a:rPr>
              <a:t>$8.75m</a:t>
            </a:r>
            <a:r>
              <a:rPr lang="en-US" sz="1500" dirty="0">
                <a:solidFill>
                  <a:schemeClr val="tx1"/>
                </a:solidFill>
              </a:rPr>
              <a:t>: an interaction of $96.25m</a:t>
            </a:r>
            <a:endParaRPr lang="en-US" sz="1500" dirty="0"/>
          </a:p>
          <a:p>
            <a:pPr marL="228600" indent="-228600">
              <a:spcAft>
                <a:spcPts val="800"/>
              </a:spcAft>
              <a:buSzPct val="100000"/>
              <a:buChar char="•"/>
            </a:pPr>
            <a:r>
              <a:rPr lang="en-US" sz="1500" b="1" dirty="0">
                <a:solidFill>
                  <a:schemeClr val="tx1"/>
                </a:solidFill>
              </a:rPr>
              <a:t>Step 5:</a:t>
            </a:r>
            <a:r>
              <a:rPr lang="en-US" sz="1500" dirty="0">
                <a:solidFill>
                  <a:schemeClr val="tx1"/>
                </a:solidFill>
              </a:rPr>
              <a:t> without a year-5 round, 0.09 of a year-6 round ($2,986.56m); without either, years 1–4</a:t>
            </a:r>
            <a:endParaRPr lang="en-US" sz="1500" dirty="0"/>
          </a:p>
          <a:p>
            <a:pPr marL="228600" indent="-228600">
              <a:spcAft>
                <a:spcPts val="800"/>
              </a:spcAft>
              <a:buSzPct val="100000"/>
              <a:buChar char="•"/>
            </a:pPr>
            <a:r>
              <a:rPr lang="en-US" sz="1500" dirty="0">
                <a:solidFill>
                  <a:schemeClr val="tx1"/>
                </a:solidFill>
              </a:rPr>
              <a:t>Ceilings of $2,973.88m and $2,980.95m are pruned: </a:t>
            </a:r>
            <a:r>
              <a:rPr lang="en-US" sz="1500" b="1" dirty="0">
                <a:solidFill>
                  <a:schemeClr val="tx1"/>
                </a:solidFill>
              </a:rPr>
              <a:t>five convex solves</a:t>
            </a:r>
            <a:r>
              <a:rPr lang="en-US" sz="1500" dirty="0">
                <a:solidFill>
                  <a:schemeClr val="tx1"/>
                </a:solidFill>
              </a:rPr>
              <a:t>, gap zero</a:t>
            </a:r>
            <a:endParaRPr lang="en-US" sz="1500" dirty="0"/>
          </a:p>
        </p:txBody>
      </p:sp>
      <p:pic>
        <p:nvPicPr>
          <p:cNvPr id="6" name="Figure" descr="Figure 4.3: branch-and-bound over whole rounds at twenty years' credit">    </p:cNvPr>
          <p:cNvPicPr>
            <a:picLocks noChangeAspect="1"/>
          </p:cNvPicPr>
          <p:nvPr/>
        </p:nvPicPr>
        <p:blipFill>
          <a:blip r:embed="rId1"/>
          <a:stretch>
            <a:fillRect/>
          </a:stretch>
        </p:blipFill>
        <p:spPr>
          <a:xfrm>
            <a:off x="5391174" y="2204879"/>
            <a:ext cx="6251881" cy="2887153"/>
          </a:xfrm>
          <a:prstGeom prst="rect">
            <a:avLst/>
          </a:prstGeom>
        </p:spPr>
      </p:pic>
      <p:sp>
        <p:nvSpPr>
          <p:cNvPr id="7" name="Caption"/>
          <p:cNvSpPr txBox="1"/>
          <p:nvPr/>
        </p:nvSpPr>
        <p:spPr>
          <a:xfrm>
            <a:off x="5391174" y="5165185"/>
            <a:ext cx="6251881" cy="502920"/>
          </a:xfrm>
          <a:prstGeom prst="rect">
            <a:avLst/>
          </a:prstGeom>
          <a:noFill/>
          <a:ln/>
        </p:spPr>
        <p:txBody>
          <a:bodyPr wrap="square" lIns="0" tIns="0" rIns="0" bIns="0" rtlCol="0" anchor="t"/>
          <a:lstStyle/>
          <a:p>
            <a:pPr indent="0" marL="0">
              <a:buNone/>
            </a:pPr>
            <a:r>
              <a:rPr lang="en-US" sz="1100" i="1" dirty="0">
                <a:solidFill>
                  <a:schemeClr val="tx2"/>
                </a:solidFill>
              </a:rPr>
              <a:t>Figure 4.3. Branch-and-bound over whole rounds at twenty years' credit, Chapter 3's relaxation as each node's ceiling: years 1–4 at node 3 is the incumbent; nodes 4 and 5 are pruned.</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4.1 · WHAT THE BOARD SHOULD TAKE AWAY</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Four whole rounds, and ask for the gap</a:t>
            </a:r>
            <a:endParaRPr lang="en-US" sz="3200" dirty="0"/>
          </a:p>
        </p:txBody>
      </p:sp>
      <p:sp>
        <p:nvSpPr>
          <p:cNvPr id="5" name="Stat card"/>
          <p:cNvSpPr/>
          <p:nvPr/>
        </p:nvSpPr>
        <p:spPr>
          <a:xfrm>
            <a:off x="548640" y="1691640"/>
            <a:ext cx="3515258" cy="1828800"/>
          </a:xfrm>
          <a:prstGeom prst="roundRect">
            <a:avLst>
              <a:gd name="adj" fmla="val 4000"/>
            </a:avLst>
          </a:prstGeom>
          <a:solidFill>
            <a:schemeClr val="tx1"/>
          </a:solidFill>
          <a:ln w="9525">
            <a:solidFill>
              <a:srgbClr val="0F1E3D"/>
            </a:solidFill>
            <a:prstDash val="solid"/>
          </a:ln>
        </p:spPr>
      </p:sp>
      <p:sp>
        <p:nvSpPr>
          <p:cNvPr id="6" name="Stat value"/>
          <p:cNvSpPr txBox="1"/>
          <p:nvPr/>
        </p:nvSpPr>
        <p:spPr>
          <a:xfrm>
            <a:off x="685800" y="1801368"/>
            <a:ext cx="3240938" cy="914400"/>
          </a:xfrm>
          <a:prstGeom prst="rect">
            <a:avLst/>
          </a:prstGeom>
          <a:noFill/>
          <a:ln/>
        </p:spPr>
        <p:txBody>
          <a:bodyPr wrap="square" lIns="0" tIns="0" rIns="0" bIns="0" rtlCol="0" anchor="ctr"/>
          <a:lstStyle/>
          <a:p>
            <a:pPr algn="ctr" indent="0" marL="0">
              <a:buNone/>
            </a:pPr>
            <a:r>
              <a:rPr lang="en-US" sz="3800" b="1" dirty="0">
                <a:solidFill>
                  <a:schemeClr val="accent1"/>
                </a:solidFill>
                <a:latin typeface="Cambria" pitchFamily="34" charset="0"/>
                <a:ea typeface="Cambria" pitchFamily="34" charset="-122"/>
                <a:cs typeface="Cambria" pitchFamily="34" charset="-120"/>
              </a:rPr>
              <a:t>$2,986.25m</a:t>
            </a:r>
            <a:endParaRPr lang="en-US" sz="3800" dirty="0"/>
          </a:p>
        </p:txBody>
      </p:sp>
      <p:sp>
        <p:nvSpPr>
          <p:cNvPr id="7" name="Stat label"/>
          <p:cNvSpPr txBox="1"/>
          <p:nvPr/>
        </p:nvSpPr>
        <p:spPr>
          <a:xfrm>
            <a:off x="685800" y="2697480"/>
            <a:ext cx="3240938" cy="749808"/>
          </a:xfrm>
          <a:prstGeom prst="rect">
            <a:avLst/>
          </a:prstGeom>
          <a:noFill/>
          <a:ln/>
        </p:spPr>
        <p:txBody>
          <a:bodyPr wrap="square" lIns="0" tIns="0" rIns="0" bIns="0" rtlCol="0" anchor="t"/>
          <a:lstStyle/>
          <a:p>
            <a:pPr algn="ctr" indent="0" marL="0">
              <a:buNone/>
            </a:pPr>
            <a:r>
              <a:rPr lang="en-US" sz="1400" dirty="0">
                <a:solidFill>
                  <a:schemeClr val="bg2"/>
                </a:solidFill>
              </a:rPr>
              <a:t>four whole rounds in years 1–4: proved best of whole or partial rounds</a:t>
            </a:r>
            <a:endParaRPr lang="en-US" sz="1400" dirty="0"/>
          </a:p>
        </p:txBody>
      </p:sp>
      <p:sp>
        <p:nvSpPr>
          <p:cNvPr id="8" name="Stat card"/>
          <p:cNvSpPr/>
          <p:nvPr/>
        </p:nvSpPr>
        <p:spPr>
          <a:xfrm>
            <a:off x="4338218" y="1691640"/>
            <a:ext cx="3515258" cy="1828800"/>
          </a:xfrm>
          <a:prstGeom prst="roundRect">
            <a:avLst>
              <a:gd name="adj" fmla="val 4000"/>
            </a:avLst>
          </a:prstGeom>
          <a:solidFill>
            <a:schemeClr val="bg2"/>
          </a:solidFill>
          <a:ln w="9525">
            <a:solidFill>
              <a:srgbClr val="C4CBD8"/>
            </a:solidFill>
            <a:prstDash val="solid"/>
          </a:ln>
        </p:spPr>
      </p:sp>
      <p:sp>
        <p:nvSpPr>
          <p:cNvPr id="9" name="Stat value"/>
          <p:cNvSpPr txBox="1"/>
          <p:nvPr/>
        </p:nvSpPr>
        <p:spPr>
          <a:xfrm>
            <a:off x="4475378" y="1801368"/>
            <a:ext cx="3240938"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5</a:t>
            </a:r>
            <a:endParaRPr lang="en-US" sz="4400" dirty="0"/>
          </a:p>
        </p:txBody>
      </p:sp>
      <p:sp>
        <p:nvSpPr>
          <p:cNvPr id="10" name="Stat label"/>
          <p:cNvSpPr txBox="1"/>
          <p:nvPr/>
        </p:nvSpPr>
        <p:spPr>
          <a:xfrm>
            <a:off x="4475378" y="2697480"/>
            <a:ext cx="3240938" cy="749808"/>
          </a:xfrm>
          <a:prstGeom prst="rect">
            <a:avLst/>
          </a:prstGeom>
          <a:noFill/>
          <a:ln/>
        </p:spPr>
        <p:txBody>
          <a:bodyPr wrap="square" lIns="0" tIns="0" rIns="0" bIns="0" rtlCol="0" anchor="t"/>
          <a:lstStyle/>
          <a:p>
            <a:pPr algn="ctr" indent="0" marL="0">
              <a:buNone/>
            </a:pPr>
            <a:r>
              <a:rPr lang="en-US" sz="1400" dirty="0">
                <a:solidFill>
                  <a:schemeClr val="tx2"/>
                </a:solidFill>
              </a:rPr>
              <a:t>convex solves prove it: no enumeration, gap zero</a:t>
            </a:r>
            <a:endParaRPr lang="en-US" sz="1400" dirty="0"/>
          </a:p>
        </p:txBody>
      </p:sp>
      <p:sp>
        <p:nvSpPr>
          <p:cNvPr id="11" name="Stat card"/>
          <p:cNvSpPr/>
          <p:nvPr/>
        </p:nvSpPr>
        <p:spPr>
          <a:xfrm>
            <a:off x="8127797" y="1691640"/>
            <a:ext cx="3515258" cy="1828800"/>
          </a:xfrm>
          <a:prstGeom prst="roundRect">
            <a:avLst>
              <a:gd name="adj" fmla="val 4000"/>
            </a:avLst>
          </a:prstGeom>
          <a:solidFill>
            <a:schemeClr val="bg2"/>
          </a:solidFill>
          <a:ln w="9525">
            <a:solidFill>
              <a:srgbClr val="C4CBD8"/>
            </a:solidFill>
            <a:prstDash val="solid"/>
          </a:ln>
        </p:spPr>
      </p:sp>
      <p:sp>
        <p:nvSpPr>
          <p:cNvPr id="12" name="Stat value"/>
          <p:cNvSpPr txBox="1"/>
          <p:nvPr/>
        </p:nvSpPr>
        <p:spPr>
          <a:xfrm>
            <a:off x="8264957" y="1801368"/>
            <a:ext cx="3240938" cy="914400"/>
          </a:xfrm>
          <a:prstGeom prst="rect">
            <a:avLst/>
          </a:prstGeom>
          <a:noFill/>
          <a:ln/>
        </p:spPr>
        <p:txBody>
          <a:bodyPr wrap="square" lIns="0" tIns="0" rIns="0" bIns="0" rtlCol="0" anchor="ctr"/>
          <a:lstStyle/>
          <a:p>
            <a:pPr algn="ctr" indent="0" marL="0">
              <a:buNone/>
            </a:pPr>
            <a:r>
              <a:rPr lang="en-US" sz="3600" b="1" dirty="0">
                <a:solidFill>
                  <a:schemeClr val="tx1"/>
                </a:solidFill>
                <a:latin typeface="Cambria" pitchFamily="34" charset="0"/>
                <a:ea typeface="Cambria" pitchFamily="34" charset="-122"/>
                <a:cs typeface="Cambria" pitchFamily="34" charset="-120"/>
              </a:rPr>
              <a:t>10.71–25.43</a:t>
            </a:r>
            <a:endParaRPr lang="en-US" sz="3600" dirty="0"/>
          </a:p>
        </p:txBody>
      </p:sp>
      <p:sp>
        <p:nvSpPr>
          <p:cNvPr id="13" name="Stat label"/>
          <p:cNvSpPr txBox="1"/>
          <p:nvPr/>
        </p:nvSpPr>
        <p:spPr>
          <a:xfrm>
            <a:off x="8264957" y="2697480"/>
            <a:ext cx="3240938" cy="749808"/>
          </a:xfrm>
          <a:prstGeom prst="rect">
            <a:avLst/>
          </a:prstGeom>
          <a:noFill/>
          <a:ln/>
        </p:spPr>
        <p:txBody>
          <a:bodyPr wrap="square" lIns="0" tIns="0" rIns="0" bIns="0" rtlCol="0" anchor="t"/>
          <a:lstStyle/>
          <a:p>
            <a:pPr algn="ctr" indent="0" marL="0">
              <a:buNone/>
            </a:pPr>
            <a:r>
              <a:rPr lang="en-US" sz="1400" dirty="0">
                <a:solidFill>
                  <a:schemeClr val="tx2"/>
                </a:solidFill>
              </a:rPr>
              <a:t>years of credit for which the answer holds (Step 6)</a:t>
            </a:r>
            <a:endParaRPr lang="en-US" sz="1400" dirty="0"/>
          </a:p>
        </p:txBody>
      </p:sp>
      <p:sp>
        <p:nvSpPr>
          <p:cNvPr id="14" name="Bullets"/>
          <p:cNvSpPr txBox="1"/>
          <p:nvPr/>
        </p:nvSpPr>
        <p:spPr>
          <a:xfrm>
            <a:off x="548640" y="3840480"/>
            <a:ext cx="11094415" cy="2331720"/>
          </a:xfrm>
          <a:prstGeom prst="rect">
            <a:avLst/>
          </a:prstGeom>
          <a:noFill/>
          <a:ln/>
        </p:spPr>
        <p:txBody>
          <a:bodyPr wrap="square" lIns="635" tIns="635" rIns="635" bIns="635" rtlCol="0" anchor="t"/>
          <a:lstStyle/>
          <a:p>
            <a:pPr marL="228600" indent="-228600">
              <a:spcAft>
                <a:spcPts val="800"/>
              </a:spcAft>
              <a:buSzPct val="100000"/>
              <a:buChar char="•"/>
            </a:pPr>
            <a:r>
              <a:rPr lang="en-US" sz="1700" dirty="0">
                <a:solidFill>
                  <a:schemeClr val="tx1"/>
                </a:solidFill>
              </a:rPr>
              <a:t>Part rounds are not worth running: when rounds multiply, a fraction of a round earns the same fraction of the difference between none and a whole one</a:t>
            </a:r>
            <a:endParaRPr lang="en-US" sz="1700" dirty="0"/>
          </a:p>
          <a:p>
            <a:pPr marL="228600" indent="-228600">
              <a:spcAft>
                <a:spcPts val="800"/>
              </a:spcAft>
              <a:buSzPct val="100000"/>
              <a:buChar char="•"/>
            </a:pPr>
            <a:r>
              <a:rPr lang="en-US" sz="1700" dirty="0">
                <a:solidFill>
                  <a:schemeClr val="tx1"/>
                </a:solidFill>
              </a:rPr>
              <a:t>An optimizer's answer depends on where it starts; only a bound settles which is best. Ask for the ceiling and the gap with every optimizer's answer</a:t>
            </a:r>
            <a:endParaRPr lang="en-US" sz="1700" dirty="0"/>
          </a:p>
          <a:p>
            <a:pPr marL="228600" indent="-228600">
              <a:spcAft>
                <a:spcPts val="800"/>
              </a:spcAft>
              <a:buSzPct val="100000"/>
              <a:buChar char="•"/>
            </a:pPr>
            <a:r>
              <a:rPr lang="en-US" sz="1700" dirty="0">
                <a:solidFill>
                  <a:schemeClr val="tx1"/>
                </a:solidFill>
              </a:rPr>
              <a:t>For discussion: if a line's first stations were the most valuable to automate, would part rounds pay?</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AXIOM LAB 2.4 · MODULE AXIOM-04</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Search, bound and branch, in AXIOM</a:t>
            </a:r>
            <a:endParaRPr lang="en-US" sz="3200" dirty="0"/>
          </a:p>
        </p:txBody>
      </p:sp>
      <p:pic>
        <p:nvPicPr>
          <p:cNvPr id="5" name="AXIOM logo" descr="AXIOM">    </p:cNvPr>
          <p:cNvPicPr>
            <a:picLocks noChangeAspect="1"/>
          </p:cNvPicPr>
          <p:nvPr/>
        </p:nvPicPr>
        <p:blipFill>
          <a:blip r:embed="rId1"/>
          <a:stretch>
            <a:fillRect/>
          </a:stretch>
        </p:blipFill>
        <p:spPr>
          <a:xfrm>
            <a:off x="9539935" y="310896"/>
            <a:ext cx="2103120" cy="420624"/>
          </a:xfrm>
          <a:prstGeom prst="rect">
            <a:avLst/>
          </a:prstGeom>
        </p:spPr>
      </p:pic>
      <p:sp>
        <p:nvSpPr>
          <p:cNvPr id="6" name="Situation"/>
          <p:cNvSpPr txBox="1"/>
          <p:nvPr/>
        </p:nvSpPr>
        <p:spPr>
          <a:xfrm>
            <a:off x="548640" y="1645920"/>
            <a:ext cx="11094415" cy="777240"/>
          </a:xfrm>
          <a:prstGeom prst="rect">
            <a:avLst/>
          </a:prstGeom>
          <a:noFill/>
          <a:ln/>
        </p:spPr>
        <p:txBody>
          <a:bodyPr wrap="square" lIns="0" tIns="0" rIns="0" bIns="0" rtlCol="0" anchor="t"/>
          <a:lstStyle/>
          <a:p>
            <a:pPr indent="0" marL="0">
              <a:buNone/>
            </a:pPr>
            <a:r>
              <a:rPr lang="en-US" sz="1500" dirty="0">
                <a:solidFill>
                  <a:schemeClr val="tx1"/>
                </a:solidFill>
              </a:rPr>
              <a:t>Meridian's chief operating officer can automate plant lines in part, and her planners' optimizer returns different plans from different starts. The chief financial officer wants the inventory, an audit of each plan and a proof of the best before the board meets. Open AXIOM, choose Lab 2.4 and load the Meridian partial-round instance.</a:t>
            </a:r>
            <a:endParaRPr lang="en-US" sz="1500" dirty="0"/>
          </a:p>
        </p:txBody>
      </p:sp>
      <p:sp>
        <p:nvSpPr>
          <p:cNvPr id="7" name="Flow line"/>
          <p:cNvSpPr/>
          <p:nvPr/>
        </p:nvSpPr>
        <p:spPr>
          <a:xfrm>
            <a:off x="1658082" y="2880360"/>
            <a:ext cx="8875532" cy="0"/>
          </a:xfrm>
          <a:prstGeom prst="line">
            <a:avLst/>
          </a:prstGeom>
          <a:noFill/>
          <a:ln w="25400">
            <a:solidFill>
              <a:srgbClr val="C4CBD8"/>
            </a:solidFill>
            <a:prstDash val="solid"/>
          </a:ln>
        </p:spPr>
      </p:sp>
      <p:sp>
        <p:nvSpPr>
          <p:cNvPr id="8" name="Number"/>
          <p:cNvSpPr/>
          <p:nvPr/>
        </p:nvSpPr>
        <p:spPr>
          <a:xfrm>
            <a:off x="1383762" y="2606040"/>
            <a:ext cx="548640" cy="548640"/>
          </a:xfrm>
          <a:prstGeom prst="ellipse">
            <a:avLst/>
          </a:prstGeom>
          <a:solidFill>
            <a:schemeClr val="accent1"/>
          </a:solidFill>
          <a:ln w="6350">
            <a:solidFill>
              <a:schemeClr val="accent1"/>
            </a:solidFill>
            <a:prstDash val="solid"/>
          </a:ln>
        </p:spPr>
      </p:sp>
      <p:sp>
        <p:nvSpPr>
          <p:cNvPr id="9" name="Text 5"/>
          <p:cNvSpPr txBox="1"/>
          <p:nvPr/>
        </p:nvSpPr>
        <p:spPr>
          <a:xfrm>
            <a:off x="1383762"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1</a:t>
            </a:r>
            <a:endParaRPr lang="en-US" sz="1600" dirty="0"/>
          </a:p>
        </p:txBody>
      </p:sp>
      <p:sp>
        <p:nvSpPr>
          <p:cNvPr id="10" name="Flow head"/>
          <p:cNvSpPr txBox="1"/>
          <p:nvPr/>
        </p:nvSpPr>
        <p:spPr>
          <a:xfrm>
            <a:off x="621792"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Explore</a:t>
            </a:r>
            <a:endParaRPr lang="en-US" sz="1600" dirty="0"/>
          </a:p>
        </p:txBody>
      </p:sp>
      <p:sp>
        <p:nvSpPr>
          <p:cNvPr id="11" name="Flow text"/>
          <p:cNvSpPr txBox="1"/>
          <p:nvPr/>
        </p:nvSpPr>
        <p:spPr>
          <a:xfrm>
            <a:off x="640080"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Draw the value where only years 4 and 5 vary: two corner peaks, the saddle, the Hessian.</a:t>
            </a:r>
            <a:endParaRPr lang="en-US" sz="1400" dirty="0"/>
          </a:p>
        </p:txBody>
      </p:sp>
      <p:sp>
        <p:nvSpPr>
          <p:cNvPr id="12" name="Number"/>
          <p:cNvSpPr/>
          <p:nvPr/>
        </p:nvSpPr>
        <p:spPr>
          <a:xfrm>
            <a:off x="3602645" y="2606040"/>
            <a:ext cx="548640" cy="548640"/>
          </a:xfrm>
          <a:prstGeom prst="ellipse">
            <a:avLst/>
          </a:prstGeom>
          <a:solidFill>
            <a:schemeClr val="accent1"/>
          </a:solidFill>
          <a:ln w="6350">
            <a:solidFill>
              <a:schemeClr val="accent1"/>
            </a:solidFill>
            <a:prstDash val="solid"/>
          </a:ln>
        </p:spPr>
      </p:sp>
      <p:sp>
        <p:nvSpPr>
          <p:cNvPr id="13" name="Text 9"/>
          <p:cNvSpPr txBox="1"/>
          <p:nvPr/>
        </p:nvSpPr>
        <p:spPr>
          <a:xfrm>
            <a:off x="3602645"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2</a:t>
            </a:r>
            <a:endParaRPr lang="en-US" sz="1600" dirty="0"/>
          </a:p>
        </p:txBody>
      </p:sp>
      <p:sp>
        <p:nvSpPr>
          <p:cNvPr id="14" name="Flow head"/>
          <p:cNvSpPr txBox="1"/>
          <p:nvPr/>
        </p:nvSpPr>
        <p:spPr>
          <a:xfrm>
            <a:off x="2840675"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Search</a:t>
            </a:r>
            <a:endParaRPr lang="en-US" sz="1600" dirty="0"/>
          </a:p>
        </p:txBody>
      </p:sp>
      <p:sp>
        <p:nvSpPr>
          <p:cNvPr id="15" name="Flow text"/>
          <p:cNvSpPr txBox="1"/>
          <p:nvPr/>
        </p:nvSpPr>
        <p:spPr>
          <a:xfrm>
            <a:off x="2858963"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Run SLSQP and the interior-point solver from 100 seeded starts; compare inventories and iterations.</a:t>
            </a:r>
            <a:endParaRPr lang="en-US" sz="1400" dirty="0"/>
          </a:p>
        </p:txBody>
      </p:sp>
      <p:sp>
        <p:nvSpPr>
          <p:cNvPr id="16" name="Number"/>
          <p:cNvSpPr/>
          <p:nvPr/>
        </p:nvSpPr>
        <p:spPr>
          <a:xfrm>
            <a:off x="5821528" y="2606040"/>
            <a:ext cx="548640" cy="548640"/>
          </a:xfrm>
          <a:prstGeom prst="ellipse">
            <a:avLst/>
          </a:prstGeom>
          <a:solidFill>
            <a:schemeClr val="accent1"/>
          </a:solidFill>
          <a:ln w="6350">
            <a:solidFill>
              <a:schemeClr val="accent1"/>
            </a:solidFill>
            <a:prstDash val="solid"/>
          </a:ln>
        </p:spPr>
      </p:sp>
      <p:sp>
        <p:nvSpPr>
          <p:cNvPr id="17" name="Text 13"/>
          <p:cNvSpPr txBox="1"/>
          <p:nvPr/>
        </p:nvSpPr>
        <p:spPr>
          <a:xfrm>
            <a:off x="5821528"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3</a:t>
            </a:r>
            <a:endParaRPr lang="en-US" sz="1600" dirty="0"/>
          </a:p>
        </p:txBody>
      </p:sp>
      <p:sp>
        <p:nvSpPr>
          <p:cNvPr id="18" name="Flow head"/>
          <p:cNvSpPr txBox="1"/>
          <p:nvPr/>
        </p:nvSpPr>
        <p:spPr>
          <a:xfrm>
            <a:off x="5059558"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Audit</a:t>
            </a:r>
            <a:endParaRPr lang="en-US" sz="1600" dirty="0"/>
          </a:p>
        </p:txBody>
      </p:sp>
      <p:sp>
        <p:nvSpPr>
          <p:cNvPr id="19" name="Flow text"/>
          <p:cNvSpPr txBox="1"/>
          <p:nvPr/>
        </p:nvSpPr>
        <p:spPr>
          <a:xfrm>
            <a:off x="5077846"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Verify the KKT conditions at each answer and the saddle: residuals, LICQ, the reduced Hessian.</a:t>
            </a:r>
            <a:endParaRPr lang="en-US" sz="1400" dirty="0"/>
          </a:p>
        </p:txBody>
      </p:sp>
      <p:sp>
        <p:nvSpPr>
          <p:cNvPr id="20" name="Number"/>
          <p:cNvSpPr/>
          <p:nvPr/>
        </p:nvSpPr>
        <p:spPr>
          <a:xfrm>
            <a:off x="8040411" y="2606040"/>
            <a:ext cx="548640" cy="548640"/>
          </a:xfrm>
          <a:prstGeom prst="ellipse">
            <a:avLst/>
          </a:prstGeom>
          <a:solidFill>
            <a:schemeClr val="accent1"/>
          </a:solidFill>
          <a:ln w="6350">
            <a:solidFill>
              <a:schemeClr val="accent1"/>
            </a:solidFill>
            <a:prstDash val="solid"/>
          </a:ln>
        </p:spPr>
      </p:sp>
      <p:sp>
        <p:nvSpPr>
          <p:cNvPr id="21" name="Text 17"/>
          <p:cNvSpPr txBox="1"/>
          <p:nvPr/>
        </p:nvSpPr>
        <p:spPr>
          <a:xfrm>
            <a:off x="8040411"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4</a:t>
            </a:r>
            <a:endParaRPr lang="en-US" sz="1600" dirty="0"/>
          </a:p>
        </p:txBody>
      </p:sp>
      <p:sp>
        <p:nvSpPr>
          <p:cNvPr id="22" name="Flow head"/>
          <p:cNvSpPr txBox="1"/>
          <p:nvPr/>
        </p:nvSpPr>
        <p:spPr>
          <a:xfrm>
            <a:off x="7278441"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Bound</a:t>
            </a:r>
            <a:endParaRPr lang="en-US" sz="1600" dirty="0"/>
          </a:p>
        </p:txBody>
      </p:sp>
      <p:sp>
        <p:nvSpPr>
          <p:cNvPr id="23" name="Flow text"/>
          <p:cNvSpPr txBox="1"/>
          <p:nvPr/>
        </p:nvSpPr>
        <p:spPr>
          <a:xfrm>
            <a:off x="7296729"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Solve Lab 2.3's relaxation and compute each answer's distance from the ceiling.</a:t>
            </a:r>
            <a:endParaRPr lang="en-US" sz="1400" dirty="0"/>
          </a:p>
        </p:txBody>
      </p:sp>
      <p:sp>
        <p:nvSpPr>
          <p:cNvPr id="24" name="Number"/>
          <p:cNvSpPr/>
          <p:nvPr/>
        </p:nvSpPr>
        <p:spPr>
          <a:xfrm>
            <a:off x="10259294" y="2606040"/>
            <a:ext cx="548640" cy="548640"/>
          </a:xfrm>
          <a:prstGeom prst="ellipse">
            <a:avLst/>
          </a:prstGeom>
          <a:solidFill>
            <a:schemeClr val="accent1"/>
          </a:solidFill>
          <a:ln w="6350">
            <a:solidFill>
              <a:schemeClr val="accent1"/>
            </a:solidFill>
            <a:prstDash val="solid"/>
          </a:ln>
        </p:spPr>
      </p:sp>
      <p:sp>
        <p:nvSpPr>
          <p:cNvPr id="25" name="Text 21"/>
          <p:cNvSpPr txBox="1"/>
          <p:nvPr/>
        </p:nvSpPr>
        <p:spPr>
          <a:xfrm>
            <a:off x="10259294"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5</a:t>
            </a:r>
            <a:endParaRPr lang="en-US" sz="1600" dirty="0"/>
          </a:p>
        </p:txBody>
      </p:sp>
      <p:sp>
        <p:nvSpPr>
          <p:cNvPr id="26" name="Flow head"/>
          <p:cNvSpPr txBox="1"/>
          <p:nvPr/>
        </p:nvSpPr>
        <p:spPr>
          <a:xfrm>
            <a:off x="9497324"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Branch</a:t>
            </a:r>
            <a:endParaRPr lang="en-US" sz="1600" dirty="0"/>
          </a:p>
        </p:txBody>
      </p:sp>
      <p:sp>
        <p:nvSpPr>
          <p:cNvPr id="27" name="Flow text"/>
          <p:cNvSpPr txBox="1"/>
          <p:nvPr/>
        </p:nvSpPr>
        <p:spPr>
          <a:xfrm>
            <a:off x="9515612"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Fix the year-5 round at none and at whole, re-solve, and continue until every node settles.</a:t>
            </a:r>
            <a:endParaRPr lang="en-US" sz="1400" dirty="0"/>
          </a:p>
        </p:txBody>
      </p:sp>
      <p:sp>
        <p:nvSpPr>
          <p:cNvPr id="28" name="Deliverable card"/>
          <p:cNvSpPr/>
          <p:nvPr/>
        </p:nvSpPr>
        <p:spPr>
          <a:xfrm>
            <a:off x="548640" y="5486400"/>
            <a:ext cx="11094415" cy="685800"/>
          </a:xfrm>
          <a:prstGeom prst="roundRect">
            <a:avLst>
              <a:gd name="adj" fmla="val 10667"/>
            </a:avLst>
          </a:prstGeom>
          <a:solidFill>
            <a:schemeClr val="bg2"/>
          </a:solidFill>
          <a:ln w="9525">
            <a:solidFill>
              <a:srgbClr val="C4CBD8"/>
            </a:solidFill>
            <a:prstDash val="solid"/>
          </a:ln>
        </p:spPr>
      </p:sp>
      <p:sp>
        <p:nvSpPr>
          <p:cNvPr id="29" name="Deliverable"/>
          <p:cNvSpPr txBox="1"/>
          <p:nvPr/>
        </p:nvSpPr>
        <p:spPr>
          <a:xfrm>
            <a:off x="777240" y="5559552"/>
            <a:ext cx="10637215" cy="539496"/>
          </a:xfrm>
          <a:prstGeom prst="rect">
            <a:avLst/>
          </a:prstGeom>
          <a:noFill/>
          <a:ln/>
        </p:spPr>
        <p:txBody>
          <a:bodyPr wrap="square" lIns="0" tIns="0" rIns="0" bIns="0" rtlCol="0" anchor="ctr"/>
          <a:lstStyle/>
          <a:p>
            <a:pPr indent="0" marL="0">
              <a:buNone/>
            </a:pPr>
            <a:r>
              <a:rPr lang="en-US" sz="1400" b="1" dirty="0">
                <a:solidFill>
                  <a:schemeClr val="tx1"/>
                </a:solidFill>
              </a:rPr>
              <a:t>Deliverable:</a:t>
            </a:r>
            <a:r>
              <a:rPr lang="en-US" sz="1400" dirty="0">
                <a:solidFill>
                  <a:schemeClr val="tx1"/>
                </a:solidFill>
              </a:rPr>
              <a:t> a one-page note to the board: the inventory of local answers with their audits, the ceiling and each answer's distance from it, the branch-and-bound certificate, and a recommendation on partial automation. About 75 minutes.</a:t>
            </a:r>
            <a:endParaRPr lang="en-US" sz="14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KEY TAKEAWAYS</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What to carry forward</a:t>
            </a:r>
            <a:endParaRPr lang="en-US" sz="3200" dirty="0"/>
          </a:p>
        </p:txBody>
      </p:sp>
      <p:sp>
        <p:nvSpPr>
          <p:cNvPr id="5" name="Number"/>
          <p:cNvSpPr/>
          <p:nvPr/>
        </p:nvSpPr>
        <p:spPr>
          <a:xfrm>
            <a:off x="548640" y="1737360"/>
            <a:ext cx="566928" cy="566928"/>
          </a:xfrm>
          <a:prstGeom prst="ellipse">
            <a:avLst/>
          </a:prstGeom>
          <a:solidFill>
            <a:schemeClr val="accent1"/>
          </a:solidFill>
          <a:ln w="6350">
            <a:solidFill>
              <a:schemeClr val="accent1"/>
            </a:solidFill>
            <a:prstDash val="solid"/>
          </a:ln>
        </p:spPr>
      </p:sp>
      <p:sp>
        <p:nvSpPr>
          <p:cNvPr id="6" name="Text 3"/>
          <p:cNvSpPr txBox="1"/>
          <p:nvPr/>
        </p:nvSpPr>
        <p:spPr>
          <a:xfrm>
            <a:off x="548640" y="1737360"/>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1</a:t>
            </a:r>
            <a:endParaRPr lang="en-US" sz="1500" dirty="0"/>
          </a:p>
        </p:txBody>
      </p:sp>
      <p:sp>
        <p:nvSpPr>
          <p:cNvPr id="7" name="Row text"/>
          <p:cNvSpPr txBox="1"/>
          <p:nvPr/>
        </p:nvSpPr>
        <p:spPr>
          <a:xfrm>
            <a:off x="1325880" y="1691640"/>
            <a:ext cx="10317175" cy="841248"/>
          </a:xfrm>
          <a:prstGeom prst="rect">
            <a:avLst/>
          </a:prstGeom>
          <a:noFill/>
          <a:ln/>
        </p:spPr>
        <p:txBody>
          <a:bodyPr wrap="square" lIns="0" tIns="0" rIns="0" bIns="0" rtlCol="0" anchor="ctr"/>
          <a:lstStyle/>
          <a:p>
            <a:pPr indent="0" marL="0">
              <a:buNone/>
            </a:pPr>
            <a:r>
              <a:rPr lang="en-US" sz="1500" dirty="0">
                <a:solidFill>
                  <a:schemeClr val="tx1"/>
                </a:solidFill>
              </a:rPr>
              <a:t>Beyond convexity the questions stay and the guarantees go: several local maxima, KKT points that are saddles, prices that hold only nearby, and gaps that no price list closes.</a:t>
            </a:r>
            <a:endParaRPr lang="en-US" sz="1500" dirty="0"/>
          </a:p>
        </p:txBody>
      </p:sp>
      <p:sp>
        <p:nvSpPr>
          <p:cNvPr id="8" name="Number"/>
          <p:cNvSpPr/>
          <p:nvPr/>
        </p:nvSpPr>
        <p:spPr>
          <a:xfrm>
            <a:off x="548640" y="2633472"/>
            <a:ext cx="566928" cy="566928"/>
          </a:xfrm>
          <a:prstGeom prst="ellipse">
            <a:avLst/>
          </a:prstGeom>
          <a:solidFill>
            <a:schemeClr val="accent1"/>
          </a:solidFill>
          <a:ln w="6350">
            <a:solidFill>
              <a:schemeClr val="accent1"/>
            </a:solidFill>
            <a:prstDash val="solid"/>
          </a:ln>
        </p:spPr>
      </p:sp>
      <p:sp>
        <p:nvSpPr>
          <p:cNvPr id="9" name="Text 6"/>
          <p:cNvSpPr txBox="1"/>
          <p:nvPr/>
        </p:nvSpPr>
        <p:spPr>
          <a:xfrm>
            <a:off x="548640" y="2633472"/>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2</a:t>
            </a:r>
            <a:endParaRPr lang="en-US" sz="1500" dirty="0"/>
          </a:p>
        </p:txBody>
      </p:sp>
      <p:sp>
        <p:nvSpPr>
          <p:cNvPr id="10" name="Row text"/>
          <p:cNvSpPr txBox="1"/>
          <p:nvPr/>
        </p:nvSpPr>
        <p:spPr>
          <a:xfrm>
            <a:off x="1325880" y="2587752"/>
            <a:ext cx="10317175" cy="841248"/>
          </a:xfrm>
          <a:prstGeom prst="rect">
            <a:avLst/>
          </a:prstGeom>
          <a:noFill/>
          <a:ln/>
        </p:spPr>
        <p:txBody>
          <a:bodyPr wrap="square" lIns="0" tIns="0" rIns="0" bIns="0" rtlCol="0" anchor="ctr"/>
          <a:lstStyle/>
          <a:p>
            <a:pPr indent="0" marL="0">
              <a:buNone/>
            </a:pPr>
            <a:r>
              <a:rPr lang="en-US" sz="1500" dirty="0">
                <a:solidFill>
                  <a:schemeClr val="tx1"/>
                </a:solidFill>
              </a:rPr>
              <a:t>A local answer is audited in two steps, first order and second order; the audit proves a plan best among its neighbors, never overall.</a:t>
            </a:r>
            <a:endParaRPr lang="en-US" sz="1500" dirty="0"/>
          </a:p>
        </p:txBody>
      </p:sp>
      <p:sp>
        <p:nvSpPr>
          <p:cNvPr id="11" name="Number"/>
          <p:cNvSpPr/>
          <p:nvPr/>
        </p:nvSpPr>
        <p:spPr>
          <a:xfrm>
            <a:off x="548640" y="3529584"/>
            <a:ext cx="566928" cy="566928"/>
          </a:xfrm>
          <a:prstGeom prst="ellipse">
            <a:avLst/>
          </a:prstGeom>
          <a:solidFill>
            <a:schemeClr val="accent1"/>
          </a:solidFill>
          <a:ln w="6350">
            <a:solidFill>
              <a:schemeClr val="accent1"/>
            </a:solidFill>
            <a:prstDash val="solid"/>
          </a:ln>
        </p:spPr>
      </p:sp>
      <p:sp>
        <p:nvSpPr>
          <p:cNvPr id="12" name="Text 9"/>
          <p:cNvSpPr txBox="1"/>
          <p:nvPr/>
        </p:nvSpPr>
        <p:spPr>
          <a:xfrm>
            <a:off x="548640" y="3529584"/>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3</a:t>
            </a:r>
            <a:endParaRPr lang="en-US" sz="1500" dirty="0"/>
          </a:p>
        </p:txBody>
      </p:sp>
      <p:sp>
        <p:nvSpPr>
          <p:cNvPr id="13" name="Row text"/>
          <p:cNvSpPr txBox="1"/>
          <p:nvPr/>
        </p:nvSpPr>
        <p:spPr>
          <a:xfrm>
            <a:off x="1325880" y="3483864"/>
            <a:ext cx="10317175" cy="841248"/>
          </a:xfrm>
          <a:prstGeom prst="rect">
            <a:avLst/>
          </a:prstGeom>
          <a:noFill/>
          <a:ln/>
        </p:spPr>
        <p:txBody>
          <a:bodyPr wrap="square" lIns="0" tIns="0" rIns="0" bIns="0" rtlCol="0" anchor="ctr"/>
          <a:lstStyle/>
          <a:p>
            <a:pPr indent="0" marL="0">
              <a:buNone/>
            </a:pPr>
            <a:r>
              <a:rPr lang="en-US" sz="1500" dirty="0">
                <a:solidFill>
                  <a:schemeClr val="tx1"/>
                </a:solidFill>
              </a:rPr>
              <a:t>Multipliers exist under a constraint qualification and are local prices: under the second-order certificate and strict complementarity plans and prices move smoothly, and where local values cross the best plan jumps.</a:t>
            </a:r>
            <a:endParaRPr lang="en-US" sz="1500" dirty="0"/>
          </a:p>
        </p:txBody>
      </p:sp>
      <p:sp>
        <p:nvSpPr>
          <p:cNvPr id="14" name="Number"/>
          <p:cNvSpPr/>
          <p:nvPr/>
        </p:nvSpPr>
        <p:spPr>
          <a:xfrm>
            <a:off x="548640" y="4425696"/>
            <a:ext cx="566928" cy="566928"/>
          </a:xfrm>
          <a:prstGeom prst="ellipse">
            <a:avLst/>
          </a:prstGeom>
          <a:solidFill>
            <a:schemeClr val="accent1"/>
          </a:solidFill>
          <a:ln w="6350">
            <a:solidFill>
              <a:schemeClr val="accent1"/>
            </a:solidFill>
            <a:prstDash val="solid"/>
          </a:ln>
        </p:spPr>
      </p:sp>
      <p:sp>
        <p:nvSpPr>
          <p:cNvPr id="15" name="Text 12"/>
          <p:cNvSpPr txBox="1"/>
          <p:nvPr/>
        </p:nvSpPr>
        <p:spPr>
          <a:xfrm>
            <a:off x="548640" y="4425696"/>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4</a:t>
            </a:r>
            <a:endParaRPr lang="en-US" sz="1500" dirty="0"/>
          </a:p>
        </p:txBody>
      </p:sp>
      <p:sp>
        <p:nvSpPr>
          <p:cNvPr id="16" name="Row text"/>
          <p:cNvSpPr txBox="1"/>
          <p:nvPr/>
        </p:nvSpPr>
        <p:spPr>
          <a:xfrm>
            <a:off x="1325880" y="4379976"/>
            <a:ext cx="10317175" cy="841248"/>
          </a:xfrm>
          <a:prstGeom prst="rect">
            <a:avLst/>
          </a:prstGeom>
          <a:noFill/>
          <a:ln/>
        </p:spPr>
        <p:txBody>
          <a:bodyPr wrap="square" lIns="0" tIns="0" rIns="0" bIns="0" rtlCol="0" anchor="ctr"/>
          <a:lstStyle/>
          <a:p>
            <a:pPr indent="0" marL="0">
              <a:buNone/>
            </a:pPr>
            <a:r>
              <a:rPr lang="en-US" sz="1500" dirty="0">
                <a:solidFill>
                  <a:schemeClr val="tx1"/>
                </a:solidFill>
              </a:rPr>
              <a:t>Search from many starts, report the inventory, and bound it: a convex relaxation or a price list bounds what no start reached, and when decisions multiply, part measures never pay.</a:t>
            </a:r>
            <a:endParaRPr lang="en-US" sz="1500" dirty="0"/>
          </a:p>
        </p:txBody>
      </p:sp>
      <p:sp>
        <p:nvSpPr>
          <p:cNvPr id="17" name="Number"/>
          <p:cNvSpPr/>
          <p:nvPr/>
        </p:nvSpPr>
        <p:spPr>
          <a:xfrm>
            <a:off x="548640" y="5321808"/>
            <a:ext cx="566928" cy="566928"/>
          </a:xfrm>
          <a:prstGeom prst="ellipse">
            <a:avLst/>
          </a:prstGeom>
          <a:solidFill>
            <a:schemeClr val="accent1"/>
          </a:solidFill>
          <a:ln w="6350">
            <a:solidFill>
              <a:schemeClr val="accent1"/>
            </a:solidFill>
            <a:prstDash val="solid"/>
          </a:ln>
        </p:spPr>
      </p:sp>
      <p:sp>
        <p:nvSpPr>
          <p:cNvPr id="18" name="Text 15"/>
          <p:cNvSpPr txBox="1"/>
          <p:nvPr/>
        </p:nvSpPr>
        <p:spPr>
          <a:xfrm>
            <a:off x="548640" y="5321808"/>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5</a:t>
            </a:r>
            <a:endParaRPr lang="en-US" sz="1500" dirty="0"/>
          </a:p>
        </p:txBody>
      </p:sp>
      <p:sp>
        <p:nvSpPr>
          <p:cNvPr id="19" name="Row text"/>
          <p:cNvSpPr txBox="1"/>
          <p:nvPr/>
        </p:nvSpPr>
        <p:spPr>
          <a:xfrm>
            <a:off x="1325880" y="5276088"/>
            <a:ext cx="10317175" cy="841248"/>
          </a:xfrm>
          <a:prstGeom prst="rect">
            <a:avLst/>
          </a:prstGeom>
          <a:noFill/>
          <a:ln/>
        </p:spPr>
        <p:txBody>
          <a:bodyPr wrap="square" lIns="0" tIns="0" rIns="0" bIns="0" rtlCol="0" anchor="ctr"/>
          <a:lstStyle/>
          <a:p>
            <a:pPr indent="0" marL="0">
              <a:buNone/>
            </a:pPr>
            <a:r>
              <a:rPr lang="en-US" sz="1500" dirty="0">
                <a:solidFill>
                  <a:schemeClr val="tx1"/>
                </a:solidFill>
              </a:rPr>
              <a:t>Lumpy decisions are formulated with binaries and true ranges and solved by branch-and-bound, which certifies a gap at every stage; cutting planes and decomposition scale it, and five convex solves prove Meridian's four-round plan best.</a:t>
            </a:r>
            <a:endParaRPr lang="en-US" sz="15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THIS WEEK'S LABORATORY</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Notebook and workbook reproduce the book</a:t>
            </a:r>
            <a:endParaRPr lang="en-US" sz="3200" dirty="0"/>
          </a:p>
        </p:txBody>
      </p:sp>
      <p:sp>
        <p:nvSpPr>
          <p:cNvPr id="5" name="Stat card"/>
          <p:cNvSpPr/>
          <p:nvPr/>
        </p:nvSpPr>
        <p:spPr>
          <a:xfrm>
            <a:off x="548640" y="1691640"/>
            <a:ext cx="2567864" cy="1691640"/>
          </a:xfrm>
          <a:prstGeom prst="roundRect">
            <a:avLst>
              <a:gd name="adj" fmla="val 4324"/>
            </a:avLst>
          </a:prstGeom>
          <a:solidFill>
            <a:schemeClr val="tx1"/>
          </a:solidFill>
          <a:ln w="9525">
            <a:solidFill>
              <a:srgbClr val="0F1E3D"/>
            </a:solidFill>
            <a:prstDash val="solid"/>
          </a:ln>
        </p:spPr>
      </p:sp>
      <p:sp>
        <p:nvSpPr>
          <p:cNvPr id="6" name="Stat value"/>
          <p:cNvSpPr txBox="1"/>
          <p:nvPr/>
        </p:nvSpPr>
        <p:spPr>
          <a:xfrm>
            <a:off x="685800" y="1801368"/>
            <a:ext cx="2293544" cy="914400"/>
          </a:xfrm>
          <a:prstGeom prst="rect">
            <a:avLst/>
          </a:prstGeom>
          <a:noFill/>
          <a:ln/>
        </p:spPr>
        <p:txBody>
          <a:bodyPr wrap="square" lIns="0" tIns="0" rIns="0" bIns="0" rtlCol="0" anchor="ctr"/>
          <a:lstStyle/>
          <a:p>
            <a:pPr algn="ctr" indent="0" marL="0">
              <a:buNone/>
            </a:pPr>
            <a:r>
              <a:rPr lang="en-US" sz="4400" b="1" dirty="0">
                <a:solidFill>
                  <a:schemeClr val="accent1"/>
                </a:solidFill>
                <a:latin typeface="Cambria" pitchFamily="34" charset="0"/>
                <a:ea typeface="Cambria" pitchFamily="34" charset="-122"/>
                <a:cs typeface="Cambria" pitchFamily="34" charset="-120"/>
              </a:rPr>
              <a:t>69</a:t>
            </a:r>
            <a:endParaRPr lang="en-US" sz="4400" dirty="0"/>
          </a:p>
        </p:txBody>
      </p:sp>
      <p:sp>
        <p:nvSpPr>
          <p:cNvPr id="7" name="Stat label"/>
          <p:cNvSpPr txBox="1"/>
          <p:nvPr/>
        </p:nvSpPr>
        <p:spPr>
          <a:xfrm>
            <a:off x="685800" y="2697480"/>
            <a:ext cx="2293544" cy="612648"/>
          </a:xfrm>
          <a:prstGeom prst="rect">
            <a:avLst/>
          </a:prstGeom>
          <a:noFill/>
          <a:ln/>
        </p:spPr>
        <p:txBody>
          <a:bodyPr wrap="square" lIns="0" tIns="0" rIns="0" bIns="0" rtlCol="0" anchor="t"/>
          <a:lstStyle/>
          <a:p>
            <a:pPr algn="ctr" indent="0" marL="0">
              <a:buNone/>
            </a:pPr>
            <a:r>
              <a:rPr lang="en-US" sz="1400" dirty="0">
                <a:solidFill>
                  <a:schemeClr val="bg2"/>
                </a:solidFill>
              </a:rPr>
              <a:t>notebook checkpoints, every one PASS</a:t>
            </a:r>
            <a:endParaRPr lang="en-US" sz="1400" dirty="0"/>
          </a:p>
        </p:txBody>
      </p:sp>
      <p:sp>
        <p:nvSpPr>
          <p:cNvPr id="8" name="Stat card"/>
          <p:cNvSpPr/>
          <p:nvPr/>
        </p:nvSpPr>
        <p:spPr>
          <a:xfrm>
            <a:off x="3390824" y="1691640"/>
            <a:ext cx="2567864" cy="1691640"/>
          </a:xfrm>
          <a:prstGeom prst="roundRect">
            <a:avLst>
              <a:gd name="adj" fmla="val 4324"/>
            </a:avLst>
          </a:prstGeom>
          <a:solidFill>
            <a:schemeClr val="bg2"/>
          </a:solidFill>
          <a:ln w="9525">
            <a:solidFill>
              <a:srgbClr val="C4CBD8"/>
            </a:solidFill>
            <a:prstDash val="solid"/>
          </a:ln>
        </p:spPr>
      </p:sp>
      <p:sp>
        <p:nvSpPr>
          <p:cNvPr id="9" name="Stat value"/>
          <p:cNvSpPr txBox="1"/>
          <p:nvPr/>
        </p:nvSpPr>
        <p:spPr>
          <a:xfrm>
            <a:off x="3527984" y="1801368"/>
            <a:ext cx="2293544"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61</a:t>
            </a:r>
            <a:endParaRPr lang="en-US" sz="4400" dirty="0"/>
          </a:p>
        </p:txBody>
      </p:sp>
      <p:sp>
        <p:nvSpPr>
          <p:cNvPr id="10" name="Stat label"/>
          <p:cNvSpPr txBox="1"/>
          <p:nvPr/>
        </p:nvSpPr>
        <p:spPr>
          <a:xfrm>
            <a:off x="3527984"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workbook checks against the engine, ALL PASS</a:t>
            </a:r>
            <a:endParaRPr lang="en-US" sz="1400" dirty="0"/>
          </a:p>
        </p:txBody>
      </p:sp>
      <p:sp>
        <p:nvSpPr>
          <p:cNvPr id="11" name="Stat card"/>
          <p:cNvSpPr/>
          <p:nvPr/>
        </p:nvSpPr>
        <p:spPr>
          <a:xfrm>
            <a:off x="6233008" y="1691640"/>
            <a:ext cx="2567864" cy="1691640"/>
          </a:xfrm>
          <a:prstGeom prst="roundRect">
            <a:avLst>
              <a:gd name="adj" fmla="val 4324"/>
            </a:avLst>
          </a:prstGeom>
          <a:solidFill>
            <a:schemeClr val="bg2"/>
          </a:solidFill>
          <a:ln w="9525">
            <a:solidFill>
              <a:srgbClr val="C4CBD8"/>
            </a:solidFill>
            <a:prstDash val="solid"/>
          </a:ln>
        </p:spPr>
      </p:sp>
      <p:sp>
        <p:nvSpPr>
          <p:cNvPr id="12" name="Stat value"/>
          <p:cNvSpPr txBox="1"/>
          <p:nvPr/>
        </p:nvSpPr>
        <p:spPr>
          <a:xfrm>
            <a:off x="6370168" y="1801368"/>
            <a:ext cx="2293544"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26204</a:t>
            </a:r>
            <a:endParaRPr lang="en-US" sz="4400" dirty="0"/>
          </a:p>
        </p:txBody>
      </p:sp>
      <p:sp>
        <p:nvSpPr>
          <p:cNvPr id="13" name="Stat label"/>
          <p:cNvSpPr txBox="1"/>
          <p:nvPr/>
        </p:nvSpPr>
        <p:spPr>
          <a:xfrm>
            <a:off x="6370168"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the lab's seed</a:t>
            </a:r>
            <a:endParaRPr lang="en-US" sz="1400" dirty="0"/>
          </a:p>
        </p:txBody>
      </p:sp>
      <p:sp>
        <p:nvSpPr>
          <p:cNvPr id="14" name="Stat card"/>
          <p:cNvSpPr/>
          <p:nvPr/>
        </p:nvSpPr>
        <p:spPr>
          <a:xfrm>
            <a:off x="9075191" y="1691640"/>
            <a:ext cx="2567864" cy="1691640"/>
          </a:xfrm>
          <a:prstGeom prst="roundRect">
            <a:avLst>
              <a:gd name="adj" fmla="val 4324"/>
            </a:avLst>
          </a:prstGeom>
          <a:solidFill>
            <a:schemeClr val="bg2"/>
          </a:solidFill>
          <a:ln w="9525">
            <a:solidFill>
              <a:srgbClr val="C4CBD8"/>
            </a:solidFill>
            <a:prstDash val="solid"/>
          </a:ln>
        </p:spPr>
      </p:sp>
      <p:sp>
        <p:nvSpPr>
          <p:cNvPr id="15" name="Stat value"/>
          <p:cNvSpPr txBox="1"/>
          <p:nvPr/>
        </p:nvSpPr>
        <p:spPr>
          <a:xfrm>
            <a:off x="9212351" y="1801368"/>
            <a:ext cx="2293544" cy="91440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AXIOM-04</a:t>
            </a:r>
            <a:endParaRPr lang="en-US" sz="3000" dirty="0"/>
          </a:p>
        </p:txBody>
      </p:sp>
      <p:sp>
        <p:nvSpPr>
          <p:cNvPr id="16" name="Stat label"/>
          <p:cNvSpPr txBox="1"/>
          <p:nvPr/>
        </p:nvSpPr>
        <p:spPr>
          <a:xfrm>
            <a:off x="9212351"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AXIOM Lab 2.4</a:t>
            </a:r>
            <a:endParaRPr lang="en-US" sz="1400" dirty="0"/>
          </a:p>
        </p:txBody>
      </p:sp>
      <p:sp>
        <p:nvSpPr>
          <p:cNvPr id="17" name="Bullets"/>
          <p:cNvSpPr txBox="1"/>
          <p:nvPr/>
        </p:nvSpPr>
        <p:spPr>
          <a:xfrm>
            <a:off x="548640" y="3703320"/>
            <a:ext cx="11094415" cy="2468880"/>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chemeClr val="tx1"/>
                </a:solidFill>
              </a:rPr>
              <a:t>Notebook</a:t>
            </a:r>
            <a:r>
              <a:rPr lang="en-US" sz="1700" dirty="0">
                <a:solidFill>
                  <a:schemeClr val="tx1"/>
                </a:solidFill>
              </a:rPr>
              <a:t> DCT_V2_Ch04_Lab.ipynb: Worked Example 4.1 and the lab's five steps in ten panels, with the $60m cap and the package, ready for Colab</a:t>
            </a:r>
            <a:endParaRPr lang="en-US" sz="1700" dirty="0"/>
          </a:p>
          <a:p>
            <a:pPr marL="228600" indent="-228600">
              <a:spcAft>
                <a:spcPts val="800"/>
              </a:spcAft>
              <a:buSzPct val="100000"/>
              <a:buChar char="•"/>
            </a:pPr>
            <a:r>
              <a:rPr lang="en-US" sz="1700" b="1" dirty="0">
                <a:solidFill>
                  <a:schemeClr val="tx1"/>
                </a:solidFill>
              </a:rPr>
              <a:t>Workbook</a:t>
            </a:r>
            <a:r>
              <a:rPr lang="en-US" sz="1700" dirty="0">
                <a:solidFill>
                  <a:schemeClr val="tx1"/>
                </a:solidFill>
              </a:rPr>
              <a:t> DCT_V2_Ch04_Lab.xlsx: the partial-round model, the 64 plans, the saddle, the audit, the relaxation and every node of both trees, in formulas</a:t>
            </a:r>
            <a:endParaRPr lang="en-US" sz="1700" dirty="0"/>
          </a:p>
          <a:p>
            <a:pPr marL="228600" indent="-228600">
              <a:spcAft>
                <a:spcPts val="800"/>
              </a:spcAft>
              <a:buSzPct val="100000"/>
              <a:buChar char="•"/>
            </a:pPr>
            <a:r>
              <a:rPr lang="en-US" sz="1700" dirty="0">
                <a:solidFill>
                  <a:schemeClr val="tx1"/>
                </a:solidFill>
              </a:rPr>
              <a:t>Every number on these slides is the book's, and both companions check it</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NEXT · CHAPTER 5</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bg1"/>
                </a:solidFill>
                <a:latin typeface="Cambria" pitchFamily="34" charset="0"/>
                <a:ea typeface="Cambria" pitchFamily="34" charset="-122"/>
                <a:cs typeface="Cambria" pitchFamily="34" charset="-120"/>
              </a:rPr>
              <a:t>Chapter 5 puts time into the instance</a:t>
            </a:r>
            <a:endParaRPr lang="en-US" sz="3200" dirty="0"/>
          </a:p>
        </p:txBody>
      </p:sp>
      <p:pic>
        <p:nvPicPr>
          <p:cNvPr id="5" name="Equation" descr="Equation: \max_{u_0,\ldots,u_{K-1}}\; \sum_{k=0}^{K-1} \beta^{k}\,\ell_k(x_k,u_k) \;+\; \beta^{K}\,\Phi(x_K), \qquad x_{k+1} = f_k(x_k,u_k)">    </p:cNvPr>
          <p:cNvPicPr>
            <a:picLocks noChangeAspect="1"/>
          </p:cNvPicPr>
          <p:nvPr/>
        </p:nvPicPr>
        <p:blipFill>
          <a:blip r:embed="rId1"/>
          <a:stretch>
            <a:fillRect/>
          </a:stretch>
        </p:blipFill>
        <p:spPr>
          <a:xfrm>
            <a:off x="2537194" y="1691640"/>
            <a:ext cx="7117307" cy="914400"/>
          </a:xfrm>
          <a:prstGeom prst="rect">
            <a:avLst/>
          </a:prstGeom>
        </p:spPr>
      </p:pic>
      <p:sp>
        <p:nvSpPr>
          <p:cNvPr id="6" name="Bullets"/>
          <p:cNvSpPr txBox="1"/>
          <p:nvPr/>
        </p:nvSpPr>
        <p:spPr>
          <a:xfrm>
            <a:off x="548640" y="2926080"/>
            <a:ext cx="11094415" cy="3246120"/>
          </a:xfrm>
          <a:prstGeom prst="rect">
            <a:avLst/>
          </a:prstGeom>
          <a:noFill/>
          <a:ln/>
        </p:spPr>
        <p:txBody>
          <a:bodyPr wrap="square" lIns="635" tIns="635" rIns="635" bIns="635" rtlCol="0" anchor="t"/>
          <a:lstStyle/>
          <a:p>
            <a:pPr marL="228600" indent="-228600">
              <a:spcAft>
                <a:spcPts val="800"/>
              </a:spcAft>
              <a:buSzPct val="100000"/>
              <a:buChar char="•"/>
            </a:pPr>
            <a:r>
              <a:rPr lang="en-US" sz="1800" dirty="0">
                <a:solidFill>
                  <a:schemeClr val="bg1"/>
                </a:solidFill>
              </a:rPr>
              <a:t>Today's decisions build stocks that later years inherit, payoffs arrive after their costs, and commitments must hold on every date</a:t>
            </a:r>
            <a:endParaRPr lang="en-US" sz="1800" dirty="0"/>
          </a:p>
          <a:p>
            <a:pPr marL="228600" indent="-228600">
              <a:spcAft>
                <a:spcPts val="800"/>
              </a:spcAft>
              <a:buSzPct val="100000"/>
              <a:buChar char="•"/>
            </a:pPr>
            <a:r>
              <a:rPr lang="en-US" sz="1800" dirty="0">
                <a:solidFill>
                  <a:schemeClr val="bg1"/>
                </a:solidFill>
              </a:rPr>
              <a:t>Transcription turns the path into one large program: every method of Part I applies, and the multipliers of the dynamics become prices over time</a:t>
            </a:r>
            <a:endParaRPr lang="en-US" sz="1800" dirty="0"/>
          </a:p>
          <a:p>
            <a:pPr marL="228600" indent="-228600">
              <a:spcAft>
                <a:spcPts val="800"/>
              </a:spcAft>
              <a:buSzPct val="100000"/>
              <a:buChar char="•"/>
            </a:pPr>
            <a:r>
              <a:rPr lang="en-US" sz="1800" dirty="0">
                <a:solidFill>
                  <a:schemeClr val="bg1"/>
                </a:solidFill>
              </a:rPr>
              <a:t>Its Worked Example asks when Meridian should pay its shareholders while it automates</a:t>
            </a:r>
            <a:endParaRPr lang="en-US" sz="18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24</a:t>
            </a:fld>
            <a:endParaRPr lang="en-US"/>
          </a:p>
        </p:txBody>
      </p:sp>
    </p:spTree>
  </p:cSld>
  <p:clrMapOvr>
    <a:masterClrMapping/>
  </p:clrMapOvr>
</p:sld>
</file>

<file path=ppt/theme/theme1.xml><?xml version="1.0" encoding="utf-8"?>
<a:theme xmlns:a="http://schemas.openxmlformats.org/drawingml/2006/main" name="Dynamic Corporate Transformation">
  <a:themeElements>
    <a:clrScheme name="Dynamic Corporate Transformation">
      <a:dk1>
        <a:srgbClr val="0F1E3D"/>
      </a:dk1>
      <a:lt1>
        <a:srgbClr val="FFFFFF"/>
      </a:lt1>
      <a:dk2>
        <a:srgbClr val="5A6B82"/>
      </a:dk2>
      <a:lt2>
        <a:srgbClr val="F7F4ED"/>
      </a:lt2>
      <a:accent1>
        <a:srgbClr val="B4884A"/>
      </a:accent1>
      <a:accent2>
        <a:srgbClr val="2F6F6B"/>
      </a:accent2>
      <a:accent3>
        <a:srgbClr val="8A6A33"/>
      </a:accent3>
      <a:accent4>
        <a:srgbClr val="C4CBD8"/>
      </a:accent4>
      <a:accent5>
        <a:srgbClr val="1F4FD8"/>
      </a:accent5>
      <a:accent6>
        <a:srgbClr val="16263F"/>
      </a:accent6>
      <a:hlink>
        <a:srgbClr val="1F4FD8"/>
      </a:hlink>
      <a:folHlink>
        <a:srgbClr val="5A6B82"/>
      </a:folHlink>
    </a:clrScheme>
    <a:fontScheme name="Dynamic Corporate Transformation">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Dynamic Corporate Transformation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Dynamic Corporate Transformation, Volume II, Chapter 4: Nonlinear and Mixed-Integer Enterprise Optimization</dc:title>
  <dc:subject>Slides for Volume II, Chapter 4 (V56)</dc:subject>
  <dc:creator>Samir Asaf</dc:creator>
  <cp:lastModifiedBy>Samir Asaf</cp:lastModifiedBy>
  <cp:revision>1</cp:revision>
  <dcterms:created xsi:type="dcterms:W3CDTF">2026-10-05T09:20:51Z</dcterms:created>
  <dcterms:modified xsi:type="dcterms:W3CDTF">2026-10-05T09:20:51Z</dcterms:modified>
</cp:coreProperties>
</file>