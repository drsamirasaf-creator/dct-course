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be8660-0c8e-7a2a-b4f6-1b88503efa1b}">
          <p14:sldIdLst>
            <p14:sldId id="256"/>
            <p14:sldId id="257"/>
            <p14:sldId id="258"/>
            <p14:sldId id="259"/>
          </p14:sldIdLst>
        </p14:section>
        <p14:section name="4.1 What Is Lost Beyond Convexity" id="{1225c0b0-8cb9-f82e-715a-893d7eec61c7}">
          <p14:sldIdLst>
            <p14:sldId id="260"/>
            <p14:sldId id="261"/>
          </p14:sldIdLst>
        </p14:section>
        <p14:section name="4.2 Local Answers" id="{20c0dee1-a696-0853-5daf-6faba037edbb}">
          <p14:sldIdLst>
            <p14:sldId id="262"/>
            <p14:sldId id="263"/>
          </p14:sldIdLst>
        </p14:section>
        <p14:section name="4.3 Multipliers and Local Prices" id="{2e1d4f9f-f57f-7059-ba77-d771b62363c2}">
          <p14:sldIdLst>
            <p14:sldId id="264"/>
            <p14:sldId id="265"/>
          </p14:sldIdLst>
        </p14:section>
        <p14:section name="4.4 Searching Smooth Landscapes" id="{e36abea4-cc83-4a1b-526d-0ab165a54121}">
          <p14:sldIdLst>
            <p14:sldId id="266"/>
            <p14:sldId id="267"/>
          </p14:sldIdLst>
        </p14:section>
        <p14:section name="4.5 Lumpy Decisions and Branch-and-Bound" id="{3b15628b-a4a0-1510-5c32-cb825831ae4d}">
          <p14:sldIdLst>
            <p14:sldId id="268"/>
            <p14:sldId id="269"/>
          </p14:sldIdLst>
        </p14:section>
        <p14:section name="4.6 Decomposition, and the Road to Policies" id="{f6cfabd3-d270-df4b-1b20-c3862ffa29c5}">
          <p14:sldIdLst>
            <p14:sldId id="270"/>
          </p14:sldIdLst>
        </p14:section>
        <p14:section name="Worked Example 4.1" id="{4f8b01cf-edb2-61f1-7524-e187351560ff}">
          <p14:sldIdLst>
            <p14:sldId id="271"/>
            <p14:sldId id="272"/>
            <p14:sldId id="273"/>
            <p14:sldId id="274"/>
            <p14:sldId id="275"/>
          </p14:sldIdLst>
        </p14:section>
        <p14:section name="AXIOM Lab 2.4" id="{0bcb32d1-a4ea-5e76-97e0-ce6c0e540e99}">
          <p14:sldIdLst>
            <p14:sldId id="276"/>
          </p14:sldIdLst>
        </p14:section>
        <p14:section name="Close" id="{5dfc64a5-4f19-7628-a769-360c7d3b110d}">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4. Chapter 3 gave convex instances four promises; most enterprise instances break convexity somewhere. This chapter renegotiates the promises for smooth nonconvex and lumpy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number of starts can list the basins a search missed: the impossibility theorem of the epigraph. A bound can (Section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4.1, 4.2 and 4.4 are in Appendix 4.A; Propositions 4.1-4.3 and Theorems 4.3 and 4.5 in Online Appendix 4.B, with the numbers behind Worked Example 4.1 (Example 4.B.3).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4.1; formal statement and proof in Online Appendix 4.B. Part (i)'s witness is Worked Example 4.1's three locally best plans and its saddle; part (iv) is Volume I's minimum efficient scale: blends of admissible configurations need not be admissible, so negotiated compromises need a new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4.1: Chapter 3's promises beyond convexity, and what this chapter puts in their place. Read it row by row: global answers, certificates, multipliers, prices, gaps and computing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4.1; formal statement and proof in Appendix 4.A. Solvers check part (iii) by projecting the Hessian of the Lagrangian onto the critical directions: all eigenvalues negative certifies; a positive one is a saddle, and its eigenvector a direction of escape. At a corner where every binding bound carries a positive price there are no critical directions: the case of every local maximum in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4.2; formal statement and proof in Online Appendix 4.B. Part (i) is the arithmetic of half-measures: it defeats a governance process that funds a little, observes, and funds in proportion. The dashed line in panel (a) separates the plans from which an ascent reaches each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4.3 and Theorem 4.2; formal statement and proof in Appendix 4.A. LICQ implies MFCQ, and in a convex instance a Slater plan gives MFCQ at every feasible plan (Online Appendix 4.B.1). A commitment squared to hold exactly, u² ≤ 0, has no price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4.3; formal statement and proof in Online Appendix 4.B. With whole rounds, Meridian's best automation plan runs three rounds at credits from 2.86 to 10.71 years and four from 10.71 to 25.43 (Worked Example 2.1). A sensitivity report must say which plan it describes and where that plan stops being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4.2: methods beyond convexity. Each local method returns a KKT point, and which one depends on where it starts. The augmented Lagrangian is the logic of a treasury that raises an internal price until divisions comply.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4.4's computational box. If a basin attracts a share v of random starts, N starts all miss it with probability (1 − v)^N: a basin that attracts 5 percent needs about 59 starts for 95 percent confidence. No number of starts can list the basins it missed; a convex relaxation or a price list bounds every plan, found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4.4, Table 4.3 and Proposition 4.3; proof in Online Appendix 4.B. Binary y, lever x with range [0, U], minimum scale L, set-up charge F. Declare the true range of every lever: a loose big M lets the relaxation run a lever at full scale for a sliver of its set-up charge, so the bound is loose and the search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4.4; formal statement and proof in Appendix 4.A. For costs, bounds are floors and the inequalities reverse. Node 1 is Volume I's continuous answer, $10.44 million at a $170 million line and 0.67 quarters; the node with no delay is infeasible, the line alone leaving the odds at 8.4 percent at best. Declare the stopping gap in money: 0.01 percent is $1,250 on the package, about $0.3 million on Meridian's automation value. Lumps have no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4.5; formal statement and proof in Online Appendix 4.B. Lagrangian decomposition is the center pricing a shared resource and letting each division choose; Benders decomposition is the board choosing lumpy strategic options while operations solve the convex remainder and report what each option is worth at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the situation. At twenty years' credit the relaxation's ceiling is $2,987.26 million and the best whole-round plan, years 1 to 4, is worth $2,986.25 million (Table 3.5). All amounts are undiscounted.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Steps 1-2. The gap after year k is 14 times the product of (1 − z_j/2): Volume I's recursion read for fractions, identical at whole rounds. V is not concave (Chapter 3's chord test fails) but affine in each round, the case of Proposition 4.2. Only box limits bind, so LICQ holds and each plan's multipliers are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4.4 and Step 4. No number of runs proves that a fourth basin does not exist; Chapter 3's relaxation does: its ceiling bounds every plan of whole or partial rounds, found or not. The other two answers lie $9.76 and $18.51 million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Steps 3-5. Local prices answer what a small change from here costs, not whether a better basin exists (Theorem 4.3(ii)). The incumbent is settled by Theorem 4.4(iii), the pruning by part (ii). At ten years' credit the same search proves Chapter 3's three-round plan best in seven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Step 6 and what the board should take away. The three local maxima all run four rounds by year 6, so their values rise together, by $131.25 million per year of credit. Discussion: which chapter's methods would you use, and why might a planning team that starts its optimizer from last year's plan keep finding the same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2.4. What to look for: different answers from different starts, each passing the first-order audit (Theorem 4.2); a saddle that only the second-order test rejects (Theorem 4.1); local prices that change by basin (Theorem 4.3); and a ceiling that bounds what no run reached, with a tree that closes the gap (Theorem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4.6's bridge: when decisions become rules, a family of rules with parameters turns policy design into a NEO problem, rarely convex; Part II builds the methods that exploit the structure of time instead. Chapter 5, Dynamic Enterprise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4 · WEEK 9</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Nonlinear and Mixed-Integer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Beyond convexity, optimization keeps its questions and loses its guarantees: what survives, and how to manage the rest</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26204 · AXIOM Lab 2.4 (AXIOM-04)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“One thing a person cannot do, no matter how rigorous his analysis or heroic his imagination, is to draw up a list of the things that would never occur to him!”</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Thomas C. Schelling</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2005; in Managing Nuclear Operations (1987)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is lost beyond convexity—local optima that are not global, optimality conditions that mark candidates, prices that hold only nearby, gaps that no price list closes—and trace each loss to products of decisions, economies of scale, or lumpy choices.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Test whether a plan is locally best with first- and second-order conditions, and tell a local maximum from a saddle point.</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State when the KKT conditions are necessary, read multipliers as local prices and their sensitivities, and explain what happens to prices when a constraint qualification fails.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Search a nonconvex landscape with local methods and many starting plans, report the inventory of local optima, and bound the best of them with a convex relaxation.</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lumpy decisions as a mixed-integer instance, solve it by branch-and-bound with a stated optimality gap, and use cutting planes and Lagrangian or Benders decomposition when it is large.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What Is Lost Beyond Convexity</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4.1 · Table 4.1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Local Answers</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4.1 · Proposition 4.2</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Multipliers and Local Prices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Theorems 4.2–4.3</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Searching Smooth Landscapes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4.2 · multistart</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Lumpy Decisions and Branch-and-Bound</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4.4 · Table 4.3</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Decomposition, and the Road to Policies</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4.5</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4.1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Can Meridian Automate Part of a Line?</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4.4 · Figures 4.1, 4.3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2.4</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Local Search, Bounds, and Branch-and-Bound</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AXIOM-04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§4.1 · PROPOSITION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Beyond convexity, the guarantees go</a:t>
            </a:r>
            <a:endParaRPr lang="en-US" sz="3200" dirty="0"/>
          </a:p>
        </p:txBody>
      </p:sp>
      <p:sp>
        <p:nvSpPr>
          <p:cNvPr id="5" name="Result card"/>
          <p:cNvSpPr/>
          <p:nvPr/>
        </p:nvSpPr>
        <p:spPr>
          <a:xfrm>
            <a:off x="548640" y="1691640"/>
            <a:ext cx="57607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212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4.1</a:t>
            </a:r>
            <a:endParaRPr lang="en-US" sz="1200" dirty="0"/>
          </a:p>
        </p:txBody>
      </p:sp>
      <p:sp>
        <p:nvSpPr>
          <p:cNvPr id="7" name="Text 4"/>
          <p:cNvSpPr txBox="1"/>
          <p:nvPr/>
        </p:nvSpPr>
        <p:spPr>
          <a:xfrm>
            <a:off x="822960" y="2194560"/>
            <a:ext cx="52120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What Is Lost Beyond Convexity</a:t>
            </a:r>
            <a:endParaRPr lang="en-US" sz="2100" dirty="0"/>
          </a:p>
        </p:txBody>
      </p:sp>
      <p:sp>
        <p:nvSpPr>
          <p:cNvPr id="8" name="Bullets"/>
          <p:cNvSpPr txBox="1"/>
          <p:nvPr/>
        </p:nvSpPr>
        <p:spPr>
          <a:xfrm>
            <a:off x="822960" y="2743200"/>
            <a:ext cx="521208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Every convex instance with differentiable data is a NEO problem (Definition 4.1). Beyond convexity:</a:t>
            </a:r>
            <a:endParaRPr lang="en-US" sz="1600" dirty="0"/>
          </a:p>
          <a:p>
            <a:pPr marL="228600" indent="-228600">
              <a:spcAft>
                <a:spcPts val="600"/>
              </a:spcAft>
              <a:buSzPct val="100000"/>
              <a:buChar char="•"/>
            </a:pPr>
            <a:r>
              <a:rPr lang="en-US" sz="1600" b="1" dirty="0">
                <a:solidFill>
                  <a:schemeClr val="tx1"/>
                </a:solidFill>
              </a:rPr>
              <a:t>(i)</a:t>
            </a:r>
            <a:r>
              <a:rPr lang="en-US" sz="1600" dirty="0">
                <a:solidFill>
                  <a:schemeClr val="tx1"/>
                </a:solidFill>
              </a:rPr>
              <a:t> a smooth instance can have strict local maxima of different values, and KKT points that are not maxima</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when every decision is lumpy, every feasible plan is a local maximum</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the best ceiling a price list gives can exceed the best value, with room to spare in every commitment</a:t>
            </a:r>
            <a:endParaRPr lang="en-US" sz="1600" dirty="0"/>
          </a:p>
          <a:p>
            <a:pPr marL="228600" indent="-228600">
              <a:spcAft>
                <a:spcPts val="600"/>
              </a:spcAft>
              <a:buSzPct val="100000"/>
              <a:buChar char="•"/>
            </a:pPr>
            <a:r>
              <a:rPr lang="en-US" sz="1600" b="1" dirty="0">
                <a:solidFill>
                  <a:schemeClr val="tx1"/>
                </a:solidFill>
              </a:rPr>
              <a:t>(iv)</a:t>
            </a:r>
            <a:r>
              <a:rPr lang="en-US" sz="1600" dirty="0">
                <a:solidFill>
                  <a:schemeClr val="tx1"/>
                </a:solidFill>
              </a:rPr>
              <a:t> a blend of two feasible plans can be infeasible, even when every function is smooth</a:t>
            </a:r>
            <a:endParaRPr lang="en-US" sz="1600" dirty="0"/>
          </a:p>
        </p:txBody>
      </p:sp>
      <p:sp>
        <p:nvSpPr>
          <p:cNvPr id="9" name="Text 6"/>
          <p:cNvSpPr txBox="1"/>
          <p:nvPr/>
        </p:nvSpPr>
        <p:spPr>
          <a:xfrm>
            <a:off x="6720840" y="1737360"/>
            <a:ext cx="4922215" cy="365760"/>
          </a:xfrm>
          <a:prstGeom prst="rect">
            <a:avLst/>
          </a:prstGeom>
          <a:noFill/>
          <a:ln/>
        </p:spPr>
        <p:txBody>
          <a:bodyPr wrap="square" lIns="0" tIns="0" rIns="0" bIns="0" rtlCol="0" anchor="ctr"/>
          <a:lstStyle/>
          <a:p>
            <a:pPr indent="0" marL="0">
              <a:buNone/>
            </a:pPr>
            <a:r>
              <a:rPr lang="en-US" sz="1600" b="1" dirty="0">
                <a:solidFill>
                  <a:schemeClr val="accent2"/>
                </a:solidFill>
              </a:rPr>
              <a:t>Three doors, and Meridian's witnesses</a:t>
            </a:r>
            <a:endParaRPr lang="en-US" sz="1600" dirty="0"/>
          </a:p>
        </p:txBody>
      </p:sp>
      <p:sp>
        <p:nvSpPr>
          <p:cNvPr id="10" name="Bullets"/>
          <p:cNvSpPr txBox="1"/>
          <p:nvPr/>
        </p:nvSpPr>
        <p:spPr>
          <a:xfrm>
            <a:off x="6720840" y="2194560"/>
            <a:ext cx="49222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Products of decisions:</a:t>
            </a:r>
            <a:r>
              <a:rPr lang="en-US" sz="1500" dirty="0">
                <a:solidFill>
                  <a:schemeClr val="tx1"/>
                </a:solidFill>
              </a:rPr>
              <a:t> each automation round closes a share of the remaining gap, so rounds multiply</a:t>
            </a:r>
            <a:endParaRPr lang="en-US" sz="1500" dirty="0"/>
          </a:p>
          <a:p>
            <a:pPr marL="228600" indent="-228600">
              <a:spcAft>
                <a:spcPts val="800"/>
              </a:spcAft>
              <a:buSzPct val="100000"/>
              <a:buChar char="•"/>
            </a:pPr>
            <a:r>
              <a:rPr lang="en-US" sz="1500" b="1" dirty="0">
                <a:solidFill>
                  <a:schemeClr val="tx1"/>
                </a:solidFill>
              </a:rPr>
              <a:t>Economies of scale and thresholds:</a:t>
            </a:r>
            <a:r>
              <a:rPr lang="en-US" sz="1500" dirty="0">
                <a:solidFill>
                  <a:schemeClr val="tx1"/>
                </a:solidFill>
              </a:rPr>
              <a:t> costs that rise less than in proportion; minimum scales</a:t>
            </a:r>
            <a:endParaRPr lang="en-US" sz="1500" dirty="0"/>
          </a:p>
          <a:p>
            <a:pPr marL="228600" indent="-228600">
              <a:spcAft>
                <a:spcPts val="800"/>
              </a:spcAft>
              <a:buSzPct val="100000"/>
              <a:buChar char="•"/>
            </a:pPr>
            <a:r>
              <a:rPr lang="en-US" sz="1500" b="1" dirty="0">
                <a:solidFill>
                  <a:schemeClr val="tx1"/>
                </a:solidFill>
              </a:rPr>
              <a:t>Lumpy choices:</a:t>
            </a:r>
            <a:r>
              <a:rPr lang="en-US" sz="1500" dirty="0">
                <a:solidFill>
                  <a:schemeClr val="tx1"/>
                </a:solidFill>
              </a:rPr>
              <a:t> tranches, whole quarters and yes-or-no programs split the region into pieces</a:t>
            </a:r>
            <a:endParaRPr lang="en-US" sz="1500" dirty="0"/>
          </a:p>
          <a:p>
            <a:pPr marL="228600" indent="-228600">
              <a:spcAft>
                <a:spcPts val="800"/>
              </a:spcAft>
              <a:buSzPct val="100000"/>
              <a:buChar char="•"/>
            </a:pPr>
            <a:r>
              <a:rPr lang="en-US" sz="1500" dirty="0">
                <a:solidFill>
                  <a:schemeClr val="tx1"/>
                </a:solidFill>
              </a:rPr>
              <a:t>Part (iii): with a $60m cap, half a round, the program is worth $150m; the best price list says $650m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§4.1 · TABLE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Chapter 3's promises, beyond convexity</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10011"/>
                <a:gridCol w="4183140"/>
                <a:gridCol w="4001264"/>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Promise of a convex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Smooth, nonconvex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Lumpy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local answer is global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several local maxima; bracket the best with a ceiling (Section 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every lumpy plan is locally best; search with bounds (Section 4.5)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KKT conditions certify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they mark a candidate; add the second-order test (Theorem 4.1)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they say nothing about the lumpy choices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multipliers exist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under a constraint qualification (Theorem 4.2)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only for the continuous part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prices are global ceilings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local slopes (Theorem 4.3)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none: values move in steps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best price list closes the gap</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gap can remain; relaxations and price lists still bound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gap is the search's stopping rule (Theorem 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computing time is predictable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fast to a local answer; slow to a proved global one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grow exponentially; stop at a declared gap</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§4.2 · THEOREM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Audit a local answer at two orders</a:t>
            </a:r>
            <a:endParaRPr lang="en-US" sz="3200" dirty="0"/>
          </a:p>
        </p:txBody>
      </p:sp>
      <p:sp>
        <p:nvSpPr>
          <p:cNvPr id="5" name="Result card"/>
          <p:cNvSpPr/>
          <p:nvPr/>
        </p:nvSpPr>
        <p:spPr>
          <a:xfrm>
            <a:off x="548640" y="1691640"/>
            <a:ext cx="57607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212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4.1</a:t>
            </a:r>
            <a:endParaRPr lang="en-US" sz="1200" dirty="0"/>
          </a:p>
        </p:txBody>
      </p:sp>
      <p:sp>
        <p:nvSpPr>
          <p:cNvPr id="7" name="Text 4"/>
          <p:cNvSpPr txBox="1"/>
          <p:nvPr/>
        </p:nvSpPr>
        <p:spPr>
          <a:xfrm>
            <a:off x="822960" y="2194560"/>
            <a:ext cx="52120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Local Optimality Theorem</a:t>
            </a:r>
            <a:endParaRPr lang="en-US" sz="2100" dirty="0"/>
          </a:p>
        </p:txBody>
      </p:sp>
      <p:sp>
        <p:nvSpPr>
          <p:cNvPr id="8" name="Bullets"/>
          <p:cNvSpPr txBox="1"/>
          <p:nvPr/>
        </p:nvSpPr>
        <p:spPr>
          <a:xfrm>
            <a:off x="822960" y="2743200"/>
            <a:ext cx="521208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First order.</a:t>
            </a:r>
            <a:r>
              <a:rPr lang="en-US" sz="1600" dirty="0">
                <a:solidFill>
                  <a:schemeClr val="tx1"/>
                </a:solidFill>
              </a:rPr>
              <a:t> At a local maximum no feasible direction improves the objective at first order</a:t>
            </a:r>
            <a:endParaRPr lang="en-US" sz="1600" dirty="0"/>
          </a:p>
          <a:p>
            <a:pPr marL="228600" indent="-228600">
              <a:spcAft>
                <a:spcPts val="600"/>
              </a:spcAft>
              <a:buSzPct val="100000"/>
              <a:buChar char="•"/>
            </a:pPr>
            <a:r>
              <a:rPr lang="en-US" sz="1600" b="1" dirty="0">
                <a:solidFill>
                  <a:schemeClr val="tx1"/>
                </a:solidFill>
              </a:rPr>
              <a:t>(ii) Second order.</a:t>
            </a:r>
            <a:r>
              <a:rPr lang="en-US" sz="1600" dirty="0">
                <a:solidFill>
                  <a:schemeClr val="tx1"/>
                </a:solidFill>
              </a:rPr>
              <a:t> Along a feasible line, slope zero and curvature not upward</a:t>
            </a:r>
            <a:endParaRPr lang="en-US" sz="1600" dirty="0"/>
          </a:p>
          <a:p>
            <a:pPr marL="228600" indent="-228600">
              <a:spcAft>
                <a:spcPts val="600"/>
              </a:spcAft>
              <a:buSzPct val="100000"/>
              <a:buChar char="•"/>
            </a:pPr>
            <a:r>
              <a:rPr lang="en-US" sz="1600" b="1" dirty="0">
                <a:solidFill>
                  <a:schemeClr val="tx1"/>
                </a:solidFill>
              </a:rPr>
              <a:t>(iii) Certificate.</a:t>
            </a:r>
            <a:r>
              <a:rPr lang="en-US" sz="1600" dirty="0">
                <a:solidFill>
                  <a:schemeClr val="tx1"/>
                </a:solidFill>
              </a:rPr>
              <a:t> A KKT point whose Lagrangian curves strictly down along every critical direction is a strict local maximum</a:t>
            </a:r>
            <a:endParaRPr lang="en-US" sz="1600" dirty="0"/>
          </a:p>
        </p:txBody>
      </p:sp>
      <p:sp>
        <p:nvSpPr>
          <p:cNvPr id="9" name="Text 6"/>
          <p:cNvSpPr txBox="1"/>
          <p:nvPr/>
        </p:nvSpPr>
        <p:spPr>
          <a:xfrm>
            <a:off x="6720840" y="1737360"/>
            <a:ext cx="492221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720840" y="2194560"/>
            <a:ext cx="49222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Three plans pass every local test, worth </a:t>
            </a:r>
            <a:r>
              <a:rPr lang="en-US" sz="1500" b="1" dirty="0">
                <a:solidFill>
                  <a:schemeClr val="tx1"/>
                </a:solidFill>
              </a:rPr>
              <a:t>$2,986.25m</a:t>
            </a:r>
            <a:r>
              <a:rPr lang="en-US" sz="1500" dirty="0">
                <a:solidFill>
                  <a:schemeClr val="tx1"/>
                </a:solidFill>
              </a:rPr>
              <a:t>, </a:t>
            </a:r>
            <a:r>
              <a:rPr lang="en-US" sz="1500" b="1" dirty="0">
                <a:solidFill>
                  <a:schemeClr val="tx1"/>
                </a:solidFill>
              </a:rPr>
              <a:t>$2,977.50m</a:t>
            </a:r>
            <a:r>
              <a:rPr lang="en-US" sz="1500" dirty="0">
                <a:solidFill>
                  <a:schemeClr val="tx1"/>
                </a:solidFill>
              </a:rPr>
              <a:t> and </a:t>
            </a:r>
            <a:r>
              <a:rPr lang="en-US" sz="1500" b="1" dirty="0">
                <a:solidFill>
                  <a:schemeClr val="tx1"/>
                </a:solidFill>
              </a:rPr>
              <a:t>$2,968.75m</a:t>
            </a:r>
            <a:endParaRPr lang="en-US" sz="1500" dirty="0"/>
          </a:p>
          <a:p>
            <a:pPr marL="228600" indent="-228600">
              <a:spcAft>
                <a:spcPts val="800"/>
              </a:spcAft>
              <a:buSzPct val="100000"/>
              <a:buChar char="•"/>
            </a:pPr>
            <a:r>
              <a:rPr lang="en-US" sz="1500" dirty="0">
                <a:solidFill>
                  <a:schemeClr val="tx1"/>
                </a:solidFill>
              </a:rPr>
              <a:t>A fourth passes first order: years 1–3 whole, 0.75 of a round in year 4, 0.84 in year 5</a:t>
            </a:r>
            <a:endParaRPr lang="en-US" sz="1500" dirty="0"/>
          </a:p>
          <a:p>
            <a:pPr marL="228600" indent="-228600">
              <a:spcAft>
                <a:spcPts val="800"/>
              </a:spcAft>
              <a:buSzPct val="100000"/>
              <a:buChar char="•"/>
            </a:pPr>
            <a:r>
              <a:rPr lang="en-US" sz="1500" dirty="0">
                <a:solidFill>
                  <a:schemeClr val="tx1"/>
                </a:solidFill>
              </a:rPr>
              <a:t>Moving t of a round from year 5 to year 4 adds 96.25t</a:t>
            </a:r>
            <a:r>
              <a:rPr lang="en-US" sz="1500" baseline="30000" dirty="0">
                <a:solidFill>
                  <a:schemeClr val="tx1"/>
                </a:solidFill>
              </a:rPr>
              <a:t>2</a:t>
            </a:r>
            <a:r>
              <a:rPr lang="en-US" sz="1500" dirty="0">
                <a:solidFill>
                  <a:schemeClr val="tx1"/>
                </a:solidFill>
              </a:rPr>
              <a:t>: a saddle, about $1m for a tenth</a:t>
            </a:r>
            <a:endParaRPr lang="en-US" sz="1500" dirty="0"/>
          </a:p>
          <a:p>
            <a:pPr marL="228600" indent="-228600">
              <a:spcAft>
                <a:spcPts val="800"/>
              </a:spcAft>
              <a:buSzPct val="100000"/>
              <a:buChar char="•"/>
            </a:pPr>
            <a:r>
              <a:rPr lang="en-US" sz="1500" dirty="0">
                <a:solidFill>
                  <a:schemeClr val="tx1"/>
                </a:solidFill>
              </a:rPr>
              <a:t>The audit proves a plan best among its neighbors, never best overall</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§4.2 · PROPOSITION 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When decisions multiply, look at corners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 Part measures are blends.</a:t>
            </a:r>
            <a:r>
              <a:rPr lang="en-US" sz="1500" dirty="0">
                <a:solidFill>
                  <a:schemeClr val="tx1"/>
                </a:solidFill>
              </a:rPr>
              <a:t> Part of a decision is worth the same blend of its two limits</a:t>
            </a:r>
            <a:endParaRPr lang="en-US" sz="1500" dirty="0"/>
          </a:p>
          <a:p>
            <a:pPr marL="228600" indent="-228600">
              <a:spcAft>
                <a:spcPts val="800"/>
              </a:spcAft>
              <a:buSzPct val="100000"/>
              <a:buChar char="•"/>
            </a:pPr>
            <a:r>
              <a:rPr lang="en-US" sz="1500" b="1" dirty="0">
                <a:solidFill>
                  <a:schemeClr val="tx1"/>
                </a:solidFill>
              </a:rPr>
              <a:t>(ii) Corners suffice.</a:t>
            </a:r>
            <a:r>
              <a:rPr lang="en-US" sz="1500" dirty="0">
                <a:solidFill>
                  <a:schemeClr val="tx1"/>
                </a:solidFill>
              </a:rPr>
              <a:t> A best plan exists at a corner of the box</a:t>
            </a:r>
            <a:endParaRPr lang="en-US" sz="1500" dirty="0"/>
          </a:p>
          <a:p>
            <a:pPr marL="228600" indent="-228600">
              <a:spcAft>
                <a:spcPts val="800"/>
              </a:spcAft>
              <a:buSzPct val="100000"/>
              <a:buChar char="•"/>
            </a:pPr>
            <a:r>
              <a:rPr lang="en-US" sz="1500" b="1" dirty="0">
                <a:solidFill>
                  <a:schemeClr val="tx1"/>
                </a:solidFill>
              </a:rPr>
              <a:t>(iii)</a:t>
            </a:r>
            <a:r>
              <a:rPr lang="en-US" sz="1500" dirty="0">
                <a:solidFill>
                  <a:schemeClr val="tx1"/>
                </a:solidFill>
              </a:rPr>
              <a:t> Every strict local maximum is a corner; a corner is one when each marginal value points out</a:t>
            </a:r>
            <a:endParaRPr lang="en-US" sz="1500" dirty="0"/>
          </a:p>
          <a:p>
            <a:pPr marL="228600" indent="-228600">
              <a:spcAft>
                <a:spcPts val="800"/>
              </a:spcAft>
              <a:buSzPct val="100000"/>
              <a:buChar char="•"/>
            </a:pPr>
            <a:r>
              <a:rPr lang="en-US" sz="1500" b="1" dirty="0">
                <a:solidFill>
                  <a:schemeClr val="tx1"/>
                </a:solidFill>
              </a:rPr>
              <a:t>(iv)</a:t>
            </a:r>
            <a:r>
              <a:rPr lang="en-US" sz="1500" dirty="0">
                <a:solidFill>
                  <a:schemeClr val="tx1"/>
                </a:solidFill>
              </a:rPr>
              <a:t> A stationary plan inside the box is a saddle</a:t>
            </a:r>
            <a:endParaRPr lang="en-US" sz="1500" dirty="0"/>
          </a:p>
          <a:p>
            <a:pPr marL="228600" indent="-228600">
              <a:spcAft>
                <a:spcPts val="800"/>
              </a:spcAft>
              <a:buSzPct val="100000"/>
              <a:buChar char="•"/>
            </a:pPr>
            <a:r>
              <a:rPr lang="en-US" sz="1500" dirty="0">
                <a:solidFill>
                  <a:schemeClr val="tx1"/>
                </a:solidFill>
              </a:rPr>
              <a:t>A pilot at half scale earns half the difference between none and all: the funding threshold</a:t>
            </a:r>
            <a:endParaRPr lang="en-US" sz="1500" dirty="0"/>
          </a:p>
          <a:p>
            <a:pPr marL="228600" indent="-228600">
              <a:spcAft>
                <a:spcPts val="800"/>
              </a:spcAft>
              <a:buSzPct val="100000"/>
              <a:buChar char="•"/>
            </a:pPr>
            <a:r>
              <a:rPr lang="en-US" sz="1500" dirty="0">
                <a:solidFill>
                  <a:schemeClr val="tx1"/>
                </a:solidFill>
              </a:rPr>
              <a:t>Chapter 3's 0.15 of a year-5 round, read for partial rounds, loses </a:t>
            </a:r>
            <a:r>
              <a:rPr lang="en-US" sz="1500" b="1" dirty="0">
                <a:solidFill>
                  <a:schemeClr val="tx1"/>
                </a:solidFill>
              </a:rPr>
              <a:t>$3.64m</a:t>
            </a:r>
            <a:endParaRPr lang="en-US" sz="1500" dirty="0"/>
          </a:p>
        </p:txBody>
      </p:sp>
      <p:pic>
        <p:nvPicPr>
          <p:cNvPr id="6" name="Figure" descr="Figure 4.1: partial rounds at twenty years' credit">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4.1. (a) Years 4 and 5 vary: V = 2,905 + 81.25x + 72.5y − 96.25xy, two corner peaks and the saddle (0.75, 0.84). (b) Part of a year-5 round: a straight line under the relaxation's $2,987.26m.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§4.3 · DEFINITION 4.3 · THEOREM 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Prices exist under a qualification</a:t>
            </a:r>
            <a:endParaRPr lang="en-US" sz="3200" dirty="0"/>
          </a:p>
        </p:txBody>
      </p:sp>
      <p:sp>
        <p:nvSpPr>
          <p:cNvPr id="5" name="Result card"/>
          <p:cNvSpPr/>
          <p:nvPr/>
        </p:nvSpPr>
        <p:spPr>
          <a:xfrm>
            <a:off x="548640" y="1691640"/>
            <a:ext cx="68580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3093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4.2</a:t>
            </a:r>
            <a:endParaRPr lang="en-US" sz="1200" dirty="0"/>
          </a:p>
        </p:txBody>
      </p:sp>
      <p:sp>
        <p:nvSpPr>
          <p:cNvPr id="7" name="Text 4"/>
          <p:cNvSpPr txBox="1"/>
          <p:nvPr/>
        </p:nvSpPr>
        <p:spPr>
          <a:xfrm>
            <a:off x="822960" y="2194560"/>
            <a:ext cx="63093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KKT Theorem under Constraint Qualifications</a:t>
            </a:r>
            <a:endParaRPr lang="en-US" sz="2100" dirty="0"/>
          </a:p>
        </p:txBody>
      </p:sp>
      <p:sp>
        <p:nvSpPr>
          <p:cNvPr id="8" name="Bullets"/>
          <p:cNvSpPr txBox="1"/>
          <p:nvPr/>
        </p:nvSpPr>
        <p:spPr>
          <a:xfrm>
            <a:off x="822960" y="2743200"/>
            <a:ext cx="63093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Unique prices.</a:t>
            </a:r>
            <a:r>
              <a:rPr lang="en-US" sz="1600" dirty="0">
                <a:solidFill>
                  <a:schemeClr val="tx1"/>
                </a:solidFill>
              </a:rPr>
              <a:t> Under LICQ a local maximum is a KKT point with unique multipliers</a:t>
            </a:r>
            <a:endParaRPr lang="en-US" sz="1600" dirty="0"/>
          </a:p>
          <a:p>
            <a:pPr marL="228600" indent="-228600">
              <a:spcAft>
                <a:spcPts val="600"/>
              </a:spcAft>
              <a:buSzPct val="100000"/>
              <a:buChar char="•"/>
            </a:pPr>
            <a:r>
              <a:rPr lang="en-US" sz="1600" b="1" dirty="0">
                <a:solidFill>
                  <a:schemeClr val="tx1"/>
                </a:solidFill>
              </a:rPr>
              <a:t>(ii) Bounded prices.</a:t>
            </a:r>
            <a:r>
              <a:rPr lang="en-US" sz="1600" dirty="0">
                <a:solidFill>
                  <a:schemeClr val="tx1"/>
                </a:solidFill>
              </a:rPr>
              <a:t> Under MFCQ its multipliers form a bounded set</a:t>
            </a:r>
            <a:endParaRPr lang="en-US" sz="1600" dirty="0"/>
          </a:p>
          <a:p>
            <a:pPr marL="228600" indent="-228600">
              <a:spcAft>
                <a:spcPts val="600"/>
              </a:spcAft>
              <a:buSzPct val="100000"/>
              <a:buChar char="•"/>
            </a:pPr>
            <a:r>
              <a:rPr lang="en-US" sz="1600" b="1" dirty="0">
                <a:solidFill>
                  <a:schemeClr val="tx1"/>
                </a:solidFill>
              </a:rPr>
              <a:t>(iii) Linear commitments</a:t>
            </a:r>
            <a:r>
              <a:rPr lang="en-US" sz="1600" dirty="0">
                <a:solidFill>
                  <a:schemeClr val="tx1"/>
                </a:solidFill>
              </a:rPr>
              <a:t> need no qualification</a:t>
            </a:r>
            <a:endParaRPr lang="en-US" sz="1600" dirty="0"/>
          </a:p>
          <a:p>
            <a:pPr marL="228600" indent="-228600">
              <a:spcAft>
                <a:spcPts val="600"/>
              </a:spcAft>
              <a:buSzPct val="100000"/>
              <a:buChar char="•"/>
            </a:pPr>
            <a:r>
              <a:rPr lang="en-US" sz="1600" b="1" dirty="0">
                <a:solidFill>
                  <a:schemeClr val="tx1"/>
                </a:solidFill>
              </a:rPr>
              <a:t>(iv) Without a qualification</a:t>
            </a:r>
            <a:r>
              <a:rPr lang="en-US" sz="1600" dirty="0">
                <a:solidFill>
                  <a:schemeClr val="tx1"/>
                </a:solidFill>
              </a:rPr>
              <a:t> multipliers can fail to exist, or be unbounded</a:t>
            </a:r>
            <a:endParaRPr lang="en-US" sz="1600" dirty="0"/>
          </a:p>
        </p:txBody>
      </p:sp>
      <p:sp>
        <p:nvSpPr>
          <p:cNvPr id="9" name="Text 6"/>
          <p:cNvSpPr txBox="1"/>
          <p:nvPr/>
        </p:nvSpPr>
        <p:spPr>
          <a:xfrm>
            <a:off x="7818120" y="1737360"/>
            <a:ext cx="3824935" cy="365760"/>
          </a:xfrm>
          <a:prstGeom prst="rect">
            <a:avLst/>
          </a:prstGeom>
          <a:noFill/>
          <a:ln/>
        </p:spPr>
        <p:txBody>
          <a:bodyPr wrap="square" lIns="0" tIns="0" rIns="0" bIns="0" rtlCol="0" anchor="ctr"/>
          <a:lstStyle/>
          <a:p>
            <a:pPr indent="0" marL="0">
              <a:buNone/>
            </a:pPr>
            <a:r>
              <a:rPr lang="en-US" sz="1600" b="1" dirty="0">
                <a:solidFill>
                  <a:schemeClr val="accent2"/>
                </a:solidFill>
              </a:rPr>
              <a:t>Reading the prices</a:t>
            </a:r>
            <a:endParaRPr lang="en-US" sz="1600" dirty="0"/>
          </a:p>
        </p:txBody>
      </p:sp>
      <p:sp>
        <p:nvSpPr>
          <p:cNvPr id="10" name="Bullets"/>
          <p:cNvSpPr txBox="1"/>
          <p:nvPr/>
        </p:nvSpPr>
        <p:spPr>
          <a:xfrm>
            <a:off x="7818120" y="2194560"/>
            <a:ext cx="38249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LICQ:</a:t>
            </a:r>
            <a:r>
              <a:rPr lang="en-US" sz="1500" dirty="0">
                <a:solidFill>
                  <a:schemeClr val="tx1"/>
                </a:solidFill>
              </a:rPr>
              <a:t> binding gradients independent; each commitment can be relaxed alone</a:t>
            </a:r>
            <a:endParaRPr lang="en-US" sz="1500" dirty="0"/>
          </a:p>
          <a:p>
            <a:pPr marL="228600" indent="-228600">
              <a:spcAft>
                <a:spcPts val="800"/>
              </a:spcAft>
              <a:buSzPct val="100000"/>
              <a:buChar char="•"/>
            </a:pPr>
            <a:r>
              <a:rPr lang="en-US" sz="1500" b="1" dirty="0">
                <a:solidFill>
                  <a:schemeClr val="tx1"/>
                </a:solidFill>
              </a:rPr>
              <a:t>MFCQ:</a:t>
            </a:r>
            <a:r>
              <a:rPr lang="en-US" sz="1500" dirty="0">
                <a:solidFill>
                  <a:schemeClr val="tx1"/>
                </a:solidFill>
              </a:rPr>
              <a:t> the binding commitments can be relaxed together</a:t>
            </a:r>
            <a:endParaRPr lang="en-US" sz="1500" dirty="0"/>
          </a:p>
          <a:p>
            <a:pPr marL="228600" indent="-228600">
              <a:spcAft>
                <a:spcPts val="800"/>
              </a:spcAft>
              <a:buSzPct val="100000"/>
              <a:buChar char="•"/>
            </a:pPr>
            <a:r>
              <a:rPr lang="en-US" sz="1500" dirty="0">
                <a:solidFill>
                  <a:schemeClr val="tx1"/>
                </a:solidFill>
              </a:rPr>
              <a:t>Budgets, balances, ranges and box limits are affine: no further check</a:t>
            </a:r>
            <a:endParaRPr lang="en-US" sz="1500" dirty="0"/>
          </a:p>
          <a:p>
            <a:pPr marL="228600" indent="-228600">
              <a:spcAft>
                <a:spcPts val="800"/>
              </a:spcAft>
              <a:buSzPct val="100000"/>
              <a:buChar char="•"/>
            </a:pPr>
            <a:r>
              <a:rPr lang="en-US" sz="1500" dirty="0">
                <a:solidFill>
                  <a:schemeClr val="tx1"/>
                </a:solidFill>
              </a:rPr>
              <a:t>Write either-or rules with a binary: hires × layoffs = 0 has no determined price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§4.3 · THEOREM 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Prices are slopes, valid near the plan</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$122.5m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a year of credit with three rounds: their year-6 savings, best from 2.86 to 10.71 years</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10.71</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years of credit where four rounds overtake three: the best plan jumps</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$131.25m</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a year of credit with four rounds, best from 10.71 to 25.43 years</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(i)</a:t>
            </a:r>
            <a:r>
              <a:rPr lang="en-US" sz="1700" dirty="0">
                <a:solidFill>
                  <a:schemeClr val="tx1"/>
                </a:solidFill>
              </a:rPr>
              <a:t> Under LICQ, the certificate and positive prices, plan and prices move smoothly with the data</a:t>
            </a:r>
            <a:endParaRPr lang="en-US" sz="1700" dirty="0"/>
          </a:p>
          <a:p>
            <a:pPr marL="228600" indent="-228600">
              <a:spcAft>
                <a:spcPts val="800"/>
              </a:spcAft>
              <a:buSzPct val="100000"/>
              <a:buChar char="•"/>
            </a:pPr>
            <a:r>
              <a:rPr lang="en-US" sz="1700" b="1" dirty="0">
                <a:solidFill>
                  <a:schemeClr val="tx1"/>
                </a:solidFill>
              </a:rPr>
              <a:t>(ii)</a:t>
            </a:r>
            <a:r>
              <a:rPr lang="en-US" sz="1700" dirty="0">
                <a:solidFill>
                  <a:schemeClr val="tx1"/>
                </a:solidFill>
              </a:rPr>
              <a:t> The local value moves at the rate the parameter moves the Lagrangian: multipliers are local prices</a:t>
            </a:r>
            <a:endParaRPr lang="en-US" sz="1700" dirty="0"/>
          </a:p>
          <a:p>
            <a:pPr marL="228600" indent="-228600">
              <a:spcAft>
                <a:spcPts val="800"/>
              </a:spcAft>
              <a:buSzPct val="100000"/>
              <a:buChar char="•"/>
            </a:pPr>
            <a:r>
              <a:rPr lang="en-US" sz="1700" b="1" dirty="0">
                <a:solidFill>
                  <a:schemeClr val="tx1"/>
                </a:solidFill>
              </a:rPr>
              <a:t>(iii)</a:t>
            </a:r>
            <a:r>
              <a:rPr lang="en-US" sz="1700" dirty="0">
                <a:solidFill>
                  <a:schemeClr val="tx1"/>
                </a:solidFill>
              </a:rPr>
              <a:t> A zero price allows a kink; </a:t>
            </a:r>
            <a:r>
              <a:rPr lang="en-US" sz="1700" b="1" dirty="0">
                <a:solidFill>
                  <a:schemeClr val="tx1"/>
                </a:solidFill>
              </a:rPr>
              <a:t>(iv)</a:t>
            </a:r>
            <a:r>
              <a:rPr lang="en-US" sz="1700" dirty="0">
                <a:solidFill>
                  <a:schemeClr val="tx1"/>
                </a:solidFill>
              </a:rPr>
              <a:t> where local values cross, the best plan jumps</a:t>
            </a:r>
            <a:endParaRPr lang="en-US" sz="1700" dirty="0"/>
          </a:p>
          <a:p>
            <a:pPr marL="228600" indent="-228600">
              <a:spcAft>
                <a:spcPts val="800"/>
              </a:spcAft>
              <a:buSzPct val="100000"/>
              <a:buChar char="•"/>
            </a:pPr>
            <a:r>
              <a:rPr lang="en-US" sz="1700" dirty="0">
                <a:solidFill>
                  <a:schemeClr val="tx1"/>
                </a:solidFill>
              </a:rPr>
              <a:t>A price read at nine years understates the value of credit at twelve: say which plan a report describes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§4.4 · TABLE 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Local methods return a KKT point</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71298"/>
                <a:gridCol w="4018450"/>
                <a:gridCol w="2533370"/>
                <a:gridCol w="2271298"/>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Each iteration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Returns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When to use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SQP</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solves a quadratic model of the Lagrangian with linearized commitments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KKT point; fast near a certified one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moderate size; good starting plans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interior point (IPOPT)</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Newton step on barrier-perturbed KKT conditions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KKT point</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large, sparse, smooth instances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augmented Lagrangian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maximizes a penalized Lagrangian, then raises prices of violated commitments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KKT point and its prices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hard equalities; divisions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multistart</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local method from many starting plans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an inventory of local maxima, with no proof</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always, with a bound</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spatial branch-and-bound</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convex relaxations on shrinking boxes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best plan, with a gap</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few nonconvex terms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branch-and-cut</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relaxations, branching, and valid inequalities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best lumpy plan, with a gap</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lumpy decisions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Lagrangian relaxation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prices shared commitments; solves divisions apart</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ceiling</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many divisions sharing resources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Benders decomposition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lumpy master; convex subproblems return price cuts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best plan, with converging bounds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lumpy outside, convex inside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§4.4 · THE PRODUCTION DISCIPLINE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Search, audit, bound, then close the gap</a:t>
            </a:r>
            <a:endParaRPr lang="en-US" sz="3200" dirty="0"/>
          </a:p>
        </p:txBody>
      </p:sp>
      <p:sp>
        <p:nvSpPr>
          <p:cNvPr id="5" name="Lead"/>
          <p:cNvSpPr txBox="1"/>
          <p:nvPr/>
        </p:nvSpPr>
        <p:spPr>
          <a:xfrm>
            <a:off x="548640" y="1645920"/>
            <a:ext cx="11094415" cy="457200"/>
          </a:xfrm>
          <a:prstGeom prst="rect">
            <a:avLst/>
          </a:prstGeom>
          <a:noFill/>
          <a:ln/>
        </p:spPr>
        <p:txBody>
          <a:bodyPr wrap="square" lIns="0" tIns="0" rIns="0" bIns="0" rtlCol="0" anchor="ctr"/>
          <a:lstStyle/>
          <a:p>
            <a:pPr indent="0" marL="0">
              <a:buNone/>
            </a:pPr>
            <a:r>
              <a:rPr lang="en-US" sz="1600" dirty="0">
                <a:solidFill>
                  <a:schemeClr val="tx1"/>
                </a:solidFill>
              </a:rPr>
              <a:t>Five steps for a nonconvex answer, with Worked Example 4.1's numbers.</a:t>
            </a:r>
            <a:endParaRPr lang="en-US" sz="1600" dirty="0"/>
          </a:p>
        </p:txBody>
      </p:sp>
      <p:sp>
        <p:nvSpPr>
          <p:cNvPr id="6" name="Step card"/>
          <p:cNvSpPr/>
          <p:nvPr/>
        </p:nvSpPr>
        <p:spPr>
          <a:xfrm>
            <a:off x="548640" y="2240280"/>
            <a:ext cx="3515258" cy="1828800"/>
          </a:xfrm>
          <a:prstGeom prst="roundRect">
            <a:avLst>
              <a:gd name="adj" fmla="val 4000"/>
            </a:avLst>
          </a:prstGeom>
          <a:solidFill>
            <a:schemeClr val="bg2"/>
          </a:solidFill>
          <a:ln w="9525">
            <a:solidFill>
              <a:srgbClr val="C4CBD8"/>
            </a:solidFill>
            <a:prstDash val="solid"/>
          </a:ln>
        </p:spPr>
      </p:sp>
      <p:sp>
        <p:nvSpPr>
          <p:cNvPr id="7" name="Number"/>
          <p:cNvSpPr/>
          <p:nvPr/>
        </p:nvSpPr>
        <p:spPr>
          <a:xfrm>
            <a:off x="731520" y="2423160"/>
            <a:ext cx="457200" cy="457200"/>
          </a:xfrm>
          <a:prstGeom prst="ellipse">
            <a:avLst/>
          </a:prstGeom>
          <a:solidFill>
            <a:schemeClr val="accent1"/>
          </a:solidFill>
          <a:ln w="6350">
            <a:solidFill>
              <a:schemeClr val="accent1"/>
            </a:solidFill>
            <a:prstDash val="solid"/>
          </a:ln>
        </p:spPr>
      </p:sp>
      <p:sp>
        <p:nvSpPr>
          <p:cNvPr id="8" name="Text 5"/>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9" name="Step head"/>
          <p:cNvSpPr txBox="1"/>
          <p:nvPr/>
        </p:nvSpPr>
        <p:spPr>
          <a:xfrm>
            <a:off x="1325880"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the source</a:t>
            </a:r>
            <a:endParaRPr lang="en-US" sz="1700" dirty="0"/>
          </a:p>
        </p:txBody>
      </p:sp>
      <p:sp>
        <p:nvSpPr>
          <p:cNvPr id="10" name="Step text"/>
          <p:cNvSpPr txBox="1"/>
          <p:nvPr/>
        </p:nvSpPr>
        <p:spPr>
          <a:xfrm>
            <a:off x="731520"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Products of decisions, economies of scale or lumpy choices (Proposition 4.1).</a:t>
            </a:r>
            <a:endParaRPr lang="en-US" sz="1500" dirty="0"/>
          </a:p>
        </p:txBody>
      </p:sp>
      <p:sp>
        <p:nvSpPr>
          <p:cNvPr id="11" name="Step card"/>
          <p:cNvSpPr/>
          <p:nvPr/>
        </p:nvSpPr>
        <p:spPr>
          <a:xfrm>
            <a:off x="4338218" y="2240280"/>
            <a:ext cx="3515258" cy="1828800"/>
          </a:xfrm>
          <a:prstGeom prst="roundRect">
            <a:avLst>
              <a:gd name="adj" fmla="val 4000"/>
            </a:avLst>
          </a:prstGeom>
          <a:solidFill>
            <a:schemeClr val="bg2"/>
          </a:solidFill>
          <a:ln w="9525">
            <a:solidFill>
              <a:srgbClr val="C4CBD8"/>
            </a:solidFill>
            <a:prstDash val="solid"/>
          </a:ln>
        </p:spPr>
      </p:sp>
      <p:sp>
        <p:nvSpPr>
          <p:cNvPr id="12" name="Number"/>
          <p:cNvSpPr/>
          <p:nvPr/>
        </p:nvSpPr>
        <p:spPr>
          <a:xfrm>
            <a:off x="4521098" y="2423160"/>
            <a:ext cx="457200" cy="457200"/>
          </a:xfrm>
          <a:prstGeom prst="ellipse">
            <a:avLst/>
          </a:prstGeom>
          <a:solidFill>
            <a:schemeClr val="accent1"/>
          </a:solidFill>
          <a:ln w="6350">
            <a:solidFill>
              <a:schemeClr val="accent1"/>
            </a:solidFill>
            <a:prstDash val="solid"/>
          </a:ln>
        </p:spPr>
      </p:sp>
      <p:sp>
        <p:nvSpPr>
          <p:cNvPr id="13" name="Text 10"/>
          <p:cNvSpPr txBox="1"/>
          <p:nvPr/>
        </p:nvSpPr>
        <p:spPr>
          <a:xfrm>
            <a:off x="4521098"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4" name="Step head"/>
          <p:cNvSpPr txBox="1"/>
          <p:nvPr/>
        </p:nvSpPr>
        <p:spPr>
          <a:xfrm>
            <a:off x="5115458"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Run a multistart</a:t>
            </a:r>
            <a:endParaRPr lang="en-US" sz="1700" dirty="0"/>
          </a:p>
        </p:txBody>
      </p:sp>
      <p:sp>
        <p:nvSpPr>
          <p:cNvPr id="15" name="Step text"/>
          <p:cNvSpPr txBox="1"/>
          <p:nvPr/>
        </p:nvSpPr>
        <p:spPr>
          <a:xfrm>
            <a:off x="4521098"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With a recorded seed, and report the inventory: three basins, reached by 87, 11 and 2 of 100 runs.</a:t>
            </a:r>
            <a:endParaRPr lang="en-US" sz="1500" dirty="0"/>
          </a:p>
        </p:txBody>
      </p:sp>
      <p:sp>
        <p:nvSpPr>
          <p:cNvPr id="16" name="Step card"/>
          <p:cNvSpPr/>
          <p:nvPr/>
        </p:nvSpPr>
        <p:spPr>
          <a:xfrm>
            <a:off x="8127797" y="2240280"/>
            <a:ext cx="3515258" cy="1828800"/>
          </a:xfrm>
          <a:prstGeom prst="roundRect">
            <a:avLst>
              <a:gd name="adj" fmla="val 4000"/>
            </a:avLst>
          </a:prstGeom>
          <a:solidFill>
            <a:schemeClr val="bg2"/>
          </a:solidFill>
          <a:ln w="9525">
            <a:solidFill>
              <a:srgbClr val="C4CBD8"/>
            </a:solidFill>
            <a:prstDash val="solid"/>
          </a:ln>
        </p:spPr>
      </p:sp>
      <p:sp>
        <p:nvSpPr>
          <p:cNvPr id="17" name="Number"/>
          <p:cNvSpPr/>
          <p:nvPr/>
        </p:nvSpPr>
        <p:spPr>
          <a:xfrm>
            <a:off x="8310677" y="2423160"/>
            <a:ext cx="457200" cy="457200"/>
          </a:xfrm>
          <a:prstGeom prst="ellipse">
            <a:avLst/>
          </a:prstGeom>
          <a:solidFill>
            <a:schemeClr val="accent1"/>
          </a:solidFill>
          <a:ln w="6350">
            <a:solidFill>
              <a:schemeClr val="accent1"/>
            </a:solidFill>
            <a:prstDash val="solid"/>
          </a:ln>
        </p:spPr>
      </p:sp>
      <p:sp>
        <p:nvSpPr>
          <p:cNvPr id="18" name="Text 15"/>
          <p:cNvSpPr txBox="1"/>
          <p:nvPr/>
        </p:nvSpPr>
        <p:spPr>
          <a:xfrm>
            <a:off x="8310677"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Step head"/>
          <p:cNvSpPr txBox="1"/>
          <p:nvPr/>
        </p:nvSpPr>
        <p:spPr>
          <a:xfrm>
            <a:off x="8905037"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each answer</a:t>
            </a:r>
            <a:endParaRPr lang="en-US" sz="1700" dirty="0"/>
          </a:p>
        </p:txBody>
      </p:sp>
      <p:sp>
        <p:nvSpPr>
          <p:cNvPr id="20" name="Step text"/>
          <p:cNvSpPr txBox="1"/>
          <p:nvPr/>
        </p:nvSpPr>
        <p:spPr>
          <a:xfrm>
            <a:off x="8310677"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First and second order (Theorems 4.1 and 4.2): three strict local maxima and a saddle.</a:t>
            </a:r>
            <a:endParaRPr lang="en-US" sz="1500" dirty="0"/>
          </a:p>
        </p:txBody>
      </p:sp>
      <p:sp>
        <p:nvSpPr>
          <p:cNvPr id="21" name="Step card"/>
          <p:cNvSpPr/>
          <p:nvPr/>
        </p:nvSpPr>
        <p:spPr>
          <a:xfrm>
            <a:off x="548640" y="4343400"/>
            <a:ext cx="3515258" cy="1828800"/>
          </a:xfrm>
          <a:prstGeom prst="roundRect">
            <a:avLst>
              <a:gd name="adj" fmla="val 4000"/>
            </a:avLst>
          </a:prstGeom>
          <a:solidFill>
            <a:schemeClr val="bg2"/>
          </a:solidFill>
          <a:ln w="9525">
            <a:solidFill>
              <a:srgbClr val="C4CBD8"/>
            </a:solidFill>
            <a:prstDash val="solid"/>
          </a:ln>
        </p:spPr>
      </p:sp>
      <p:sp>
        <p:nvSpPr>
          <p:cNvPr id="22" name="Number"/>
          <p:cNvSpPr/>
          <p:nvPr/>
        </p:nvSpPr>
        <p:spPr>
          <a:xfrm>
            <a:off x="731520" y="4526280"/>
            <a:ext cx="457200" cy="457200"/>
          </a:xfrm>
          <a:prstGeom prst="ellipse">
            <a:avLst/>
          </a:prstGeom>
          <a:solidFill>
            <a:schemeClr val="accent1"/>
          </a:solidFill>
          <a:ln w="6350">
            <a:solidFill>
              <a:schemeClr val="accent1"/>
            </a:solidFill>
            <a:prstDash val="solid"/>
          </a:ln>
        </p:spPr>
      </p:sp>
      <p:sp>
        <p:nvSpPr>
          <p:cNvPr id="23" name="Text 20"/>
          <p:cNvSpPr txBox="1"/>
          <p:nvPr/>
        </p:nvSpPr>
        <p:spPr>
          <a:xfrm>
            <a:off x="731520"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4" name="Step head"/>
          <p:cNvSpPr txBox="1"/>
          <p:nvPr/>
        </p:nvSpPr>
        <p:spPr>
          <a:xfrm>
            <a:off x="1325880" y="450799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Bound the inventory</a:t>
            </a:r>
            <a:endParaRPr lang="en-US" sz="1700" dirty="0"/>
          </a:p>
        </p:txBody>
      </p:sp>
      <p:sp>
        <p:nvSpPr>
          <p:cNvPr id="25" name="Step text"/>
          <p:cNvSpPr txBox="1"/>
          <p:nvPr/>
        </p:nvSpPr>
        <p:spPr>
          <a:xfrm>
            <a:off x="731520" y="5120640"/>
            <a:ext cx="3149498" cy="960120"/>
          </a:xfrm>
          <a:prstGeom prst="rect">
            <a:avLst/>
          </a:prstGeom>
          <a:noFill/>
          <a:ln/>
        </p:spPr>
        <p:txBody>
          <a:bodyPr wrap="square" lIns="0" tIns="0" rIns="0" bIns="0" rtlCol="0" anchor="t"/>
          <a:lstStyle/>
          <a:p>
            <a:pPr indent="0" marL="0">
              <a:buNone/>
            </a:pPr>
            <a:r>
              <a:rPr lang="en-US" sz="1500" dirty="0">
                <a:solidFill>
                  <a:schemeClr val="tx1"/>
                </a:solidFill>
              </a:rPr>
              <a:t>With a relaxation or a price list: a ceiling of $2,987.26m, a gap of $1.01m.</a:t>
            </a:r>
            <a:endParaRPr lang="en-US" sz="1500" dirty="0"/>
          </a:p>
        </p:txBody>
      </p:sp>
      <p:sp>
        <p:nvSpPr>
          <p:cNvPr id="26" name="Step card"/>
          <p:cNvSpPr/>
          <p:nvPr/>
        </p:nvSpPr>
        <p:spPr>
          <a:xfrm>
            <a:off x="4338218" y="4343400"/>
            <a:ext cx="3515258" cy="1828800"/>
          </a:xfrm>
          <a:prstGeom prst="roundRect">
            <a:avLst>
              <a:gd name="adj" fmla="val 4000"/>
            </a:avLst>
          </a:prstGeom>
          <a:solidFill>
            <a:schemeClr val="bg2"/>
          </a:solidFill>
          <a:ln w="9525">
            <a:solidFill>
              <a:srgbClr val="C4CBD8"/>
            </a:solidFill>
            <a:prstDash val="solid"/>
          </a:ln>
        </p:spPr>
      </p:sp>
      <p:sp>
        <p:nvSpPr>
          <p:cNvPr id="27" name="Number"/>
          <p:cNvSpPr/>
          <p:nvPr/>
        </p:nvSpPr>
        <p:spPr>
          <a:xfrm>
            <a:off x="4521098" y="4526280"/>
            <a:ext cx="457200" cy="457200"/>
          </a:xfrm>
          <a:prstGeom prst="ellipse">
            <a:avLst/>
          </a:prstGeom>
          <a:solidFill>
            <a:schemeClr val="accent1"/>
          </a:solidFill>
          <a:ln w="6350">
            <a:solidFill>
              <a:schemeClr val="accent1"/>
            </a:solidFill>
            <a:prstDash val="solid"/>
          </a:ln>
        </p:spPr>
      </p:sp>
      <p:sp>
        <p:nvSpPr>
          <p:cNvPr id="28" name="Text 25"/>
          <p:cNvSpPr txBox="1"/>
          <p:nvPr/>
        </p:nvSpPr>
        <p:spPr>
          <a:xfrm>
            <a:off x="4521098"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9" name="Step head"/>
          <p:cNvSpPr txBox="1"/>
          <p:nvPr/>
        </p:nvSpPr>
        <p:spPr>
          <a:xfrm>
            <a:off x="5115458" y="450799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Close the gap</a:t>
            </a:r>
            <a:endParaRPr lang="en-US" sz="1700" dirty="0"/>
          </a:p>
        </p:txBody>
      </p:sp>
      <p:sp>
        <p:nvSpPr>
          <p:cNvPr id="30" name="Step text"/>
          <p:cNvSpPr txBox="1"/>
          <p:nvPr/>
        </p:nvSpPr>
        <p:spPr>
          <a:xfrm>
            <a:off x="4521098" y="5120640"/>
            <a:ext cx="3149498" cy="960120"/>
          </a:xfrm>
          <a:prstGeom prst="rect">
            <a:avLst/>
          </a:prstGeom>
          <a:noFill/>
          <a:ln/>
        </p:spPr>
        <p:txBody>
          <a:bodyPr wrap="square" lIns="0" tIns="0" rIns="0" bIns="0" rtlCol="0" anchor="t"/>
          <a:lstStyle/>
          <a:p>
            <a:pPr indent="0" marL="0">
              <a:buNone/>
            </a:pPr>
            <a:r>
              <a:rPr lang="en-US" sz="1500" dirty="0">
                <a:solidFill>
                  <a:schemeClr val="tx1"/>
                </a:solidFill>
              </a:rPr>
              <a:t>By branch-and-bound, only if the gap exceeds the decision's materiality: five convex solves.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§4.5 · TABLE 4.3 · PROPOSITION 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Write lumpy choices with true ranges</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10011"/>
                <a:gridCol w="4001264"/>
                <a:gridCol w="4183140"/>
              </a:tblGrid>
              <a:tr h="42976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Declaration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Formulation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yes-or-no program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value v·y, cost c·y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an automation round (Worked Example 2.1)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tranches; whole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x = 50n, n integer, 0 ≤ n ≤ 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standby line; the build's delay (Worked Example 1.1)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set-up charge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cost F·y + c·x, with x ≤ U·y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opening a route; starting a line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minimum scale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L·y ≤ x ≤ U·y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legacy platform: shut, or 60 to 100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at most k of n programs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sum of the n binaries ≤ 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transformation portfolio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if A, then B</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y(A) ≤ y(B)</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round only past the capability gate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either-or commitments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g₁(x) ≤ M·y, g₂(x) ≤ M(1 − 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hire or lay off in a quarter, not both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piecewise-linear cost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one binary per segment, segments filled in order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volume discounts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4.3:</a:t>
            </a:r>
            <a:r>
              <a:rPr lang="en-US" sz="1600" dirty="0">
                <a:solidFill>
                  <a:schemeClr val="accent2"/>
                </a:solidFill>
              </a:rPr>
              <a:t> each row is exact; true ranges give set-up charges and minimum scales their convex hull.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§4.5 · THEOREM 4.4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Branch-and-bound certifies at every stage</a:t>
            </a:r>
            <a:endParaRPr lang="en-US" sz="3200" dirty="0"/>
          </a:p>
        </p:txBody>
      </p:sp>
      <p:sp>
        <p:nvSpPr>
          <p:cNvPr id="5" name="Bullets"/>
          <p:cNvSpPr txBox="1"/>
          <p:nvPr/>
        </p:nvSpPr>
        <p:spPr>
          <a:xfrm>
            <a:off x="548640" y="1691640"/>
            <a:ext cx="4365830"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a:t>
            </a:r>
            <a:r>
              <a:rPr lang="en-US" sz="1500" dirty="0">
                <a:solidFill>
                  <a:schemeClr val="tx1"/>
                </a:solidFill>
              </a:rPr>
              <a:t> The best value lies between the incumbent and the largest open bound: a valid gap</a:t>
            </a:r>
            <a:endParaRPr lang="en-US" sz="1500" dirty="0"/>
          </a:p>
          <a:p>
            <a:pPr marL="228600" indent="-228600">
              <a:spcAft>
                <a:spcPts val="800"/>
              </a:spcAft>
              <a:buSzPct val="100000"/>
              <a:buChar char="•"/>
            </a:pPr>
            <a:r>
              <a:rPr lang="en-US" sz="1500" b="1" dirty="0">
                <a:solidFill>
                  <a:schemeClr val="tx1"/>
                </a:solidFill>
              </a:rPr>
              <a:t>(ii)</a:t>
            </a:r>
            <a:r>
              <a:rPr lang="en-US" sz="1500" dirty="0">
                <a:solidFill>
                  <a:schemeClr val="tx1"/>
                </a:solidFill>
              </a:rPr>
              <a:t> A node whose bound cannot beat the incumbent is pruned safely; </a:t>
            </a:r>
            <a:r>
              <a:rPr lang="en-US" sz="1500" b="1" dirty="0">
                <a:solidFill>
                  <a:schemeClr val="tx1"/>
                </a:solidFill>
              </a:rPr>
              <a:t>(iii)</a:t>
            </a:r>
            <a:r>
              <a:rPr lang="en-US" sz="1500" dirty="0">
                <a:solidFill>
                  <a:schemeClr val="tx1"/>
                </a:solidFill>
              </a:rPr>
              <a:t> a lumpy answer settles it</a:t>
            </a:r>
            <a:endParaRPr lang="en-US" sz="1500" dirty="0"/>
          </a:p>
          <a:p>
            <a:pPr marL="228600" indent="-228600">
              <a:spcAft>
                <a:spcPts val="800"/>
              </a:spcAft>
              <a:buSzPct val="100000"/>
              <a:buChar char="•"/>
            </a:pPr>
            <a:r>
              <a:rPr lang="en-US" sz="1500" b="1" dirty="0">
                <a:solidFill>
                  <a:schemeClr val="tx1"/>
                </a:solidFill>
              </a:rPr>
              <a:t>(iv)</a:t>
            </a:r>
            <a:r>
              <a:rPr lang="en-US" sz="1500" dirty="0">
                <a:solidFill>
                  <a:schemeClr val="tx1"/>
                </a:solidFill>
              </a:rPr>
              <a:t> The search ends with a best plan, or stops within a declared gap; </a:t>
            </a:r>
            <a:r>
              <a:rPr lang="en-US" sz="1500" b="1" dirty="0">
                <a:solidFill>
                  <a:schemeClr val="tx1"/>
                </a:solidFill>
              </a:rPr>
              <a:t>(v)</a:t>
            </a:r>
            <a:r>
              <a:rPr lang="en-US" sz="1500" dirty="0">
                <a:solidFill>
                  <a:schemeClr val="tx1"/>
                </a:solidFill>
              </a:rPr>
              <a:t> tighter bounds prune more</a:t>
            </a:r>
            <a:endParaRPr lang="en-US" sz="1500" dirty="0"/>
          </a:p>
          <a:p>
            <a:pPr marL="228600" indent="-228600">
              <a:spcAft>
                <a:spcPts val="800"/>
              </a:spcAft>
              <a:buSzPct val="100000"/>
              <a:buChar char="•"/>
            </a:pPr>
            <a:r>
              <a:rPr lang="en-US" sz="1500" dirty="0">
                <a:solidFill>
                  <a:schemeClr val="tx1"/>
                </a:solidFill>
              </a:rPr>
              <a:t>Worked Example 1.1's package: </a:t>
            </a:r>
            <a:r>
              <a:rPr lang="en-US" sz="1500" b="1" dirty="0">
                <a:solidFill>
                  <a:schemeClr val="tx1"/>
                </a:solidFill>
              </a:rPr>
              <a:t>five nodes</a:t>
            </a:r>
            <a:r>
              <a:rPr lang="en-US" sz="1500" dirty="0">
                <a:solidFill>
                  <a:schemeClr val="tx1"/>
                </a:solidFill>
              </a:rPr>
              <a:t>, not 63 packages; the lumps cost </a:t>
            </a:r>
            <a:r>
              <a:rPr lang="en-US" sz="1500" b="1" dirty="0">
                <a:solidFill>
                  <a:schemeClr val="tx1"/>
                </a:solidFill>
              </a:rPr>
              <a:t>$2.06m</a:t>
            </a:r>
            <a:endParaRPr lang="en-US" sz="1500" dirty="0"/>
          </a:p>
          <a:p>
            <a:pPr marL="228600" indent="-228600">
              <a:spcAft>
                <a:spcPts val="800"/>
              </a:spcAft>
              <a:buSzPct val="100000"/>
              <a:buChar char="•"/>
            </a:pPr>
            <a:r>
              <a:rPr lang="en-US" sz="1500" dirty="0">
                <a:solidFill>
                  <a:schemeClr val="tx1"/>
                </a:solidFill>
              </a:rPr>
              <a:t>The cut 'delay at least one quarter' closes $1.19m of that gap before any branching</a:t>
            </a:r>
            <a:endParaRPr lang="en-US" sz="1500" dirty="0"/>
          </a:p>
        </p:txBody>
      </p:sp>
      <p:pic>
        <p:nvPicPr>
          <p:cNvPr id="6" name="Figure" descr="Figure 4.2: branch-and-bound on Worked Example 1.1's package">    </p:cNvPr>
          <p:cNvPicPr>
            <a:picLocks noChangeAspect="1"/>
          </p:cNvPicPr>
          <p:nvPr/>
        </p:nvPicPr>
        <p:blipFill>
          <a:blip r:embed="rId1"/>
          <a:stretch>
            <a:fillRect/>
          </a:stretch>
        </p:blipFill>
        <p:spPr>
          <a:xfrm>
            <a:off x="5280230" y="1853388"/>
            <a:ext cx="6362825" cy="3590136"/>
          </a:xfrm>
          <a:prstGeom prst="rect">
            <a:avLst/>
          </a:prstGeom>
        </p:spPr>
      </p:pic>
      <p:sp>
        <p:nvSpPr>
          <p:cNvPr id="7" name="Caption"/>
          <p:cNvSpPr txBox="1"/>
          <p:nvPr/>
        </p:nvSpPr>
        <p:spPr>
          <a:xfrm>
            <a:off x="5280230" y="5516676"/>
            <a:ext cx="6362825" cy="502920"/>
          </a:xfrm>
          <a:prstGeom prst="rect">
            <a:avLst/>
          </a:prstGeom>
          <a:noFill/>
          <a:ln/>
        </p:spPr>
        <p:txBody>
          <a:bodyPr wrap="square" lIns="0" tIns="0" rIns="0" bIns="0" rtlCol="0" anchor="t"/>
          <a:lstStyle/>
          <a:p>
            <a:pPr indent="0" marL="0">
              <a:buNone/>
            </a:pPr>
            <a:r>
              <a:rPr lang="en-US" sz="1100" i="1" dirty="0">
                <a:solidFill>
                  <a:schemeClr val="tx2"/>
                </a:solidFill>
              </a:rPr>
              <a:t>Figure 4.2. Line fees and delay at breach odds of at most 5 percent, the line in $50m tranches, the delay in whole quarters. Node 2 is infeasible; node 5 settles at $12.50m; node 4 is pruned.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§4.6 · THEOREM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Lumpy outside, convex inside: decompose</a:t>
            </a:r>
            <a:endParaRPr lang="en-US" sz="3200" dirty="0"/>
          </a:p>
        </p:txBody>
      </p:sp>
      <p:sp>
        <p:nvSpPr>
          <p:cNvPr id="5" name="Result card"/>
          <p:cNvSpPr/>
          <p:nvPr/>
        </p:nvSpPr>
        <p:spPr>
          <a:xfrm>
            <a:off x="548640" y="1691640"/>
            <a:ext cx="57607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212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4.5</a:t>
            </a:r>
            <a:endParaRPr lang="en-US" sz="1200" dirty="0"/>
          </a:p>
        </p:txBody>
      </p:sp>
      <p:sp>
        <p:nvSpPr>
          <p:cNvPr id="7" name="Text 4"/>
          <p:cNvSpPr txBox="1"/>
          <p:nvPr/>
        </p:nvSpPr>
        <p:spPr>
          <a:xfrm>
            <a:off x="822960" y="2194560"/>
            <a:ext cx="52120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Decomposition Theorem</a:t>
            </a:r>
            <a:endParaRPr lang="en-US" sz="2100" dirty="0"/>
          </a:p>
        </p:txBody>
      </p:sp>
      <p:sp>
        <p:nvSpPr>
          <p:cNvPr id="8" name="Bullets"/>
          <p:cNvSpPr txBox="1"/>
          <p:nvPr/>
        </p:nvSpPr>
        <p:spPr>
          <a:xfrm>
            <a:off x="822960" y="2743200"/>
            <a:ext cx="521208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Lagrangian bounds separate.</a:t>
            </a:r>
            <a:r>
              <a:rPr lang="en-US" sz="1600" dirty="0">
                <a:solidFill>
                  <a:schemeClr val="tx1"/>
                </a:solidFill>
              </a:rPr>
              <a:t> Priced coupling commitments give a ceiling, division by division</a:t>
            </a:r>
            <a:endParaRPr lang="en-US" sz="1600" dirty="0"/>
          </a:p>
          <a:p>
            <a:pPr marL="228600" indent="-228600">
              <a:spcAft>
                <a:spcPts val="600"/>
              </a:spcAft>
              <a:buSzPct val="100000"/>
              <a:buChar char="•"/>
            </a:pPr>
            <a:r>
              <a:rPr lang="en-US" sz="1600" b="1" dirty="0">
                <a:solidFill>
                  <a:schemeClr val="tx1"/>
                </a:solidFill>
              </a:rPr>
              <a:t>(ii) Their strength.</a:t>
            </a:r>
            <a:r>
              <a:rPr lang="en-US" sz="1600" dirty="0">
                <a:solidFill>
                  <a:schemeClr val="tx1"/>
                </a:solidFill>
              </a:rPr>
              <a:t> The best such ceiling is never weaker than the continuous relaxation, often stronger</a:t>
            </a:r>
            <a:endParaRPr lang="en-US" sz="1600" dirty="0"/>
          </a:p>
          <a:p>
            <a:pPr marL="228600" indent="-228600">
              <a:spcAft>
                <a:spcPts val="600"/>
              </a:spcAft>
              <a:buSzPct val="100000"/>
              <a:buChar char="•"/>
            </a:pPr>
            <a:r>
              <a:rPr lang="en-US" sz="1600" b="1" dirty="0">
                <a:solidFill>
                  <a:schemeClr val="tx1"/>
                </a:solidFill>
              </a:rPr>
              <a:t>(iii) Benders.</a:t>
            </a:r>
            <a:r>
              <a:rPr lang="en-US" sz="1600" dirty="0">
                <a:solidFill>
                  <a:schemeClr val="tx1"/>
                </a:solidFill>
              </a:rPr>
              <a:t> A lumpy master with price cuts from convex subproblems ends with a best plan</a:t>
            </a:r>
            <a:endParaRPr lang="en-US" sz="1600" dirty="0"/>
          </a:p>
        </p:txBody>
      </p:sp>
      <p:sp>
        <p:nvSpPr>
          <p:cNvPr id="9" name="Text 6"/>
          <p:cNvSpPr txBox="1"/>
          <p:nvPr/>
        </p:nvSpPr>
        <p:spPr>
          <a:xfrm>
            <a:off x="6720840" y="1737360"/>
            <a:ext cx="492221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720840" y="2194560"/>
            <a:ext cx="49222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dozen plants deciding every quarter for six years: 288 choices, 2</a:t>
            </a:r>
            <a:r>
              <a:rPr lang="en-US" sz="1500" baseline="30000" dirty="0">
                <a:solidFill>
                  <a:schemeClr val="tx1"/>
                </a:solidFill>
              </a:rPr>
              <a:t>288</a:t>
            </a:r>
            <a:r>
              <a:rPr lang="en-US" sz="1500" dirty="0">
                <a:solidFill>
                  <a:schemeClr val="tx1"/>
                </a:solidFill>
              </a:rPr>
              <a:t> schedules</a:t>
            </a:r>
            <a:endParaRPr lang="en-US" sz="1500" dirty="0"/>
          </a:p>
          <a:p>
            <a:pPr marL="228600" indent="-228600">
              <a:spcAft>
                <a:spcPts val="800"/>
              </a:spcAft>
              <a:buSzPct val="100000"/>
              <a:buChar char="•"/>
            </a:pPr>
            <a:r>
              <a:rPr lang="en-US" sz="1500" dirty="0">
                <a:solidFill>
                  <a:schemeClr val="tx1"/>
                </a:solidFill>
              </a:rPr>
              <a:t>The $60m cap: the best price list's $650m is tighter than Chapter 3's $746m, yet far above $150m</a:t>
            </a:r>
            <a:endParaRPr lang="en-US" sz="1500" dirty="0"/>
          </a:p>
          <a:p>
            <a:pPr marL="228600" indent="-228600">
              <a:spcAft>
                <a:spcPts val="800"/>
              </a:spcAft>
              <a:buSzPct val="100000"/>
              <a:buChar char="•"/>
            </a:pPr>
            <a:r>
              <a:rPr lang="en-US" sz="1500" dirty="0">
                <a:solidFill>
                  <a:schemeClr val="tx1"/>
                </a:solidFill>
              </a:rPr>
              <a:t>Benders keeps the liquidity plan out of the search over schedules and returns its prices as cuts</a:t>
            </a:r>
            <a:endParaRPr lang="en-US" sz="1500" dirty="0"/>
          </a:p>
          <a:p>
            <a:pPr marL="228600" indent="-228600">
              <a:spcAft>
                <a:spcPts val="800"/>
              </a:spcAft>
              <a:buSzPct val="100000"/>
              <a:buChar char="•"/>
            </a:pPr>
            <a:r>
              <a:rPr lang="en-US" sz="1500" dirty="0">
                <a:solidFill>
                  <a:schemeClr val="tx1"/>
                </a:solidFill>
              </a:rPr>
              <a:t>Rules with parameters turn policy design into a NEO problem; Part II exploits time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Meridian automate part of a line?</a:t>
            </a:r>
            <a:endParaRPr lang="en-US" sz="3200" dirty="0"/>
          </a:p>
        </p:txBody>
      </p:sp>
      <p:sp>
        <p:nvSpPr>
          <p:cNvPr id="5" name="Card"/>
          <p:cNvSpPr/>
          <p:nvPr/>
        </p:nvSpPr>
        <p:spPr>
          <a:xfrm>
            <a:off x="548640" y="1691640"/>
            <a:ext cx="3515258" cy="2514600"/>
          </a:xfrm>
          <a:prstGeom prst="roundRect">
            <a:avLst>
              <a:gd name="adj" fmla="val 290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Part rounds</a:t>
            </a:r>
            <a:endParaRPr lang="en-US" sz="1300" dirty="0"/>
          </a:p>
        </p:txBody>
      </p:sp>
      <p:sp>
        <p:nvSpPr>
          <p:cNvPr id="7" name="Card head"/>
          <p:cNvSpPr txBox="1"/>
          <p:nvPr/>
        </p:nvSpPr>
        <p:spPr>
          <a:xfrm>
            <a:off x="731520"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Is part of a round worth running?</a:t>
            </a:r>
            <a:endParaRPr lang="en-US" sz="1800" dirty="0"/>
          </a:p>
        </p:txBody>
      </p:sp>
      <p:sp>
        <p:nvSpPr>
          <p:cNvPr id="8" name="Card text"/>
          <p:cNvSpPr txBox="1"/>
          <p:nvPr/>
        </p:nvSpPr>
        <p:spPr>
          <a:xfrm>
            <a:off x="731520"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A fraction z of a round costs $120m × z and closes z/2 of the remaining gap.</a:t>
            </a:r>
            <a:endParaRPr lang="en-US" sz="1500" dirty="0"/>
          </a:p>
        </p:txBody>
      </p:sp>
      <p:sp>
        <p:nvSpPr>
          <p:cNvPr id="9" name="Card"/>
          <p:cNvSpPr/>
          <p:nvPr/>
        </p:nvSpPr>
        <p:spPr>
          <a:xfrm>
            <a:off x="4338218" y="1691640"/>
            <a:ext cx="3515258" cy="2514600"/>
          </a:xfrm>
          <a:prstGeom prst="roundRect">
            <a:avLst>
              <a:gd name="adj" fmla="val 290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Many answers</a:t>
            </a:r>
            <a:endParaRPr lang="en-US" sz="1300" dirty="0"/>
          </a:p>
        </p:txBody>
      </p:sp>
      <p:sp>
        <p:nvSpPr>
          <p:cNvPr id="11" name="Card head"/>
          <p:cNvSpPr txBox="1"/>
          <p:nvPr/>
        </p:nvSpPr>
        <p:spPr>
          <a:xfrm>
            <a:off x="4521098"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Which of the optimizer's answers should the board trust?</a:t>
            </a:r>
            <a:endParaRPr lang="en-US" sz="1800" dirty="0"/>
          </a:p>
        </p:txBody>
      </p:sp>
      <p:sp>
        <p:nvSpPr>
          <p:cNvPr id="12" name="Card text"/>
          <p:cNvSpPr txBox="1"/>
          <p:nvPr/>
        </p:nvSpPr>
        <p:spPr>
          <a:xfrm>
            <a:off x="4521098"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Her planners' optimizer, started from different plans, returns different answers.</a:t>
            </a:r>
            <a:endParaRPr lang="en-US" sz="1500" dirty="0"/>
          </a:p>
        </p:txBody>
      </p:sp>
      <p:sp>
        <p:nvSpPr>
          <p:cNvPr id="13" name="Card"/>
          <p:cNvSpPr/>
          <p:nvPr/>
        </p:nvSpPr>
        <p:spPr>
          <a:xfrm>
            <a:off x="8127797" y="1691640"/>
            <a:ext cx="3515258" cy="2514600"/>
          </a:xfrm>
          <a:prstGeom prst="roundRect">
            <a:avLst>
              <a:gd name="adj" fmla="val 290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A proof</a:t>
            </a:r>
            <a:endParaRPr lang="en-US" sz="1300" dirty="0"/>
          </a:p>
        </p:txBody>
      </p:sp>
      <p:sp>
        <p:nvSpPr>
          <p:cNvPr id="15" name="Card head"/>
          <p:cNvSpPr txBox="1"/>
          <p:nvPr/>
        </p:nvSpPr>
        <p:spPr>
          <a:xfrm>
            <a:off x="8310677" y="2148840"/>
            <a:ext cx="3149498" cy="94183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Can the best plan be proved without enumerating every plan?</a:t>
            </a:r>
            <a:endParaRPr lang="en-US" sz="1800" dirty="0"/>
          </a:p>
        </p:txBody>
      </p:sp>
      <p:sp>
        <p:nvSpPr>
          <p:cNvPr id="16" name="Card text"/>
          <p:cNvSpPr txBox="1"/>
          <p:nvPr/>
        </p:nvSpPr>
        <p:spPr>
          <a:xfrm>
            <a:off x="8310677" y="3163824"/>
            <a:ext cx="3149498" cy="914400"/>
          </a:xfrm>
          <a:prstGeom prst="rect">
            <a:avLst/>
          </a:prstGeom>
          <a:noFill/>
          <a:ln/>
        </p:spPr>
        <p:txBody>
          <a:bodyPr wrap="square" lIns="0" tIns="0" rIns="0" bIns="0" rtlCol="0" anchor="t"/>
          <a:lstStyle/>
          <a:p>
            <a:pPr indent="0" marL="0">
              <a:buNone/>
            </a:pPr>
            <a:r>
              <a:rPr lang="en-US" sz="1500" dirty="0">
                <a:solidFill>
                  <a:schemeClr val="bg2"/>
                </a:solidFill>
              </a:rPr>
              <a:t>At twenty years' credit the relaxation runs 0.15 of a year-5 round.</a:t>
            </a:r>
            <a:endParaRPr lang="en-US" sz="1500" dirty="0"/>
          </a:p>
        </p:txBody>
      </p:sp>
      <p:sp>
        <p:nvSpPr>
          <p:cNvPr id="17" name="Lead"/>
          <p:cNvSpPr txBox="1"/>
          <p:nvPr/>
        </p:nvSpPr>
        <p:spPr>
          <a:xfrm>
            <a:off x="548640" y="44805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chief operating officer's three questions, now that the board credits twenty years of year-6 savings.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Rounds multiply: affine in each round</a:t>
            </a:r>
            <a:endParaRPr lang="en-US" sz="3200" dirty="0"/>
          </a:p>
        </p:txBody>
      </p:sp>
      <p:pic>
        <p:nvPicPr>
          <p:cNvPr id="5" name="Equation" descr="Equation: V(\mathbf{z}) \;=\; 150 \;+\; \sum_{k=1}^{6} S_k \;-\; 120\sum_{k=1}^{6} z_k \;+\; 20\,S_6, \qquad S_k \;=\; 140 \;-\; 140\prod_{j \le k}\Bigl(1 - \frac{z_j}{2}\Bigr)">    </p:cNvPr>
          <p:cNvPicPr>
            <a:picLocks noChangeAspect="1"/>
          </p:cNvPicPr>
          <p:nvPr/>
        </p:nvPicPr>
        <p:blipFill>
          <a:blip r:embed="rId1"/>
          <a:stretch>
            <a:fillRect/>
          </a:stretch>
        </p:blipFill>
        <p:spPr>
          <a:xfrm>
            <a:off x="1447838" y="1828800"/>
            <a:ext cx="9296019"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cash freed above $470m plus twenty years of the year-6 savings; payouts wait, so the floors keep $85m</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part of a round is a blend of none and a whole one: Chapter 3's 0.15 of a year-5 round is worth $2,982.61m, $3.64m less than none</a:t>
            </a:r>
            <a:endParaRPr lang="en-US" sz="1700" dirty="0"/>
          </a:p>
          <a:p>
            <a:pPr marL="228600" indent="-228600">
              <a:spcAft>
                <a:spcPts val="800"/>
              </a:spcAft>
              <a:buSzPct val="100000"/>
              <a:buChar char="•"/>
            </a:pPr>
            <a:r>
              <a:rPr lang="en-US" sz="1700" dirty="0">
                <a:solidFill>
                  <a:schemeClr val="bg1"/>
                </a:solidFill>
              </a:rPr>
              <a:t>Chapter 3's exponential form overstates part rounds, 2</a:t>
            </a:r>
            <a:r>
              <a:rPr lang="en-US" sz="1700" baseline="30000" dirty="0">
                <a:solidFill>
                  <a:schemeClr val="bg1"/>
                </a:solidFill>
              </a:rPr>
              <a:t>−z</a:t>
            </a:r>
            <a:r>
              <a:rPr lang="en-US" sz="1700" dirty="0">
                <a:solidFill>
                  <a:schemeClr val="bg1"/>
                </a:solidFill>
              </a:rPr>
              <a:t> ≤ 1 − z/2: its relaxation is a ceiling, not a plan</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SLSQP from 100 random starts ends at three plans, each passing the KKT audit with zero residuals</a:t>
            </a:r>
            <a:endParaRPr lang="en-US" sz="1700" dirty="0"/>
          </a:p>
          <a:p>
            <a:pPr marL="228600" indent="-228600">
              <a:spcAft>
                <a:spcPts val="800"/>
              </a:spcAft>
              <a:buSzPct val="100000"/>
              <a:buChar char="•"/>
            </a:pPr>
            <a:r>
              <a:rPr lang="en-US" sz="1700" dirty="0">
                <a:solidFill>
                  <a:schemeClr val="bg1"/>
                </a:solidFill>
              </a:rPr>
              <a:t>A fourth candidate is a saddle: moving t of a round from year 5 to year 4 adds 96.25t</a:t>
            </a:r>
            <a:r>
              <a:rPr lang="en-US" sz="1700" baseline="30000" dirty="0">
                <a:solidFill>
                  <a:schemeClr val="bg1"/>
                </a:solidFill>
              </a:rPr>
              <a:t>2</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TABLE 4.4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answers pass every local test</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843734"/>
                <a:gridCol w="873576"/>
                <a:gridCol w="1310364"/>
                <a:gridCol w="1397722"/>
                <a:gridCol w="2183940"/>
                <a:gridCol w="1485079"/>
              </a:tblGrid>
              <a:tr h="5029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Runs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First order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Second order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Below ceiling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0292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years 1–4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2,986.25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strict local maximum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029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1–3 and 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2,977.50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strict local maximum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9.76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029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1–3 and 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2,968.75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strict local maximum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18.51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1–3; 0.75 in year 4; 0.84 in year 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2,966.20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saddle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21.06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029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ceiling (Chapter 3's relaxation)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2,987.26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48920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Where 100 local searches end at twenty years' credit, $ million, undiscounted. SciPy's SLSQP from 100 random starts (seed 2026, Online Appendix 4.B.3). Ceiling: Chapter 3's relaxation.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best local answer lies within $1.01m, or 0.03 percent, of the ceiling; no run stops at the saddle.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STEPS 3–5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Prices differ by basin; a bound decides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Step 3:</a:t>
            </a:r>
            <a:r>
              <a:rPr lang="en-US" sz="1500" dirty="0">
                <a:solidFill>
                  <a:schemeClr val="tx1"/>
                </a:solidFill>
              </a:rPr>
              <a:t> at years 1–4 the year-4 round earns $81.25m over its cost</a:t>
            </a:r>
            <a:endParaRPr lang="en-US" sz="1500" dirty="0"/>
          </a:p>
          <a:p>
            <a:pPr marL="228600" indent="-228600">
              <a:spcAft>
                <a:spcPts val="800"/>
              </a:spcAft>
              <a:buSzPct val="100000"/>
              <a:buChar char="•"/>
            </a:pPr>
            <a:r>
              <a:rPr lang="en-US" sz="1500" dirty="0">
                <a:solidFill>
                  <a:schemeClr val="tx1"/>
                </a:solidFill>
              </a:rPr>
              <a:t>Forcing a round into year 5 or 6 there loses $23.75m or $28.13m</a:t>
            </a:r>
            <a:endParaRPr lang="en-US" sz="1500" dirty="0"/>
          </a:p>
          <a:p>
            <a:pPr marL="228600" indent="-228600">
              <a:spcAft>
                <a:spcPts val="800"/>
              </a:spcAft>
              <a:buSzPct val="100000"/>
              <a:buChar char="•"/>
            </a:pPr>
            <a:r>
              <a:rPr lang="en-US" sz="1500" dirty="0">
                <a:solidFill>
                  <a:schemeClr val="tx1"/>
                </a:solidFill>
              </a:rPr>
              <a:t>At years 1–3 and 5 a year-4 round loses $15.00m, yet the swap gains </a:t>
            </a:r>
            <a:r>
              <a:rPr lang="en-US" sz="1500" b="1" dirty="0">
                <a:solidFill>
                  <a:schemeClr val="tx1"/>
                </a:solidFill>
              </a:rPr>
              <a:t>$8.75m</a:t>
            </a:r>
            <a:r>
              <a:rPr lang="en-US" sz="1500" dirty="0">
                <a:solidFill>
                  <a:schemeClr val="tx1"/>
                </a:solidFill>
              </a:rPr>
              <a:t>: an interaction of $96.25m</a:t>
            </a:r>
            <a:endParaRPr lang="en-US" sz="1500" dirty="0"/>
          </a:p>
          <a:p>
            <a:pPr marL="228600" indent="-228600">
              <a:spcAft>
                <a:spcPts val="800"/>
              </a:spcAft>
              <a:buSzPct val="100000"/>
              <a:buChar char="•"/>
            </a:pPr>
            <a:r>
              <a:rPr lang="en-US" sz="1500" b="1" dirty="0">
                <a:solidFill>
                  <a:schemeClr val="tx1"/>
                </a:solidFill>
              </a:rPr>
              <a:t>Step 5:</a:t>
            </a:r>
            <a:r>
              <a:rPr lang="en-US" sz="1500" dirty="0">
                <a:solidFill>
                  <a:schemeClr val="tx1"/>
                </a:solidFill>
              </a:rPr>
              <a:t> without a year-5 round, 0.09 of a year-6 round ($2,986.56m); without either, years 1–4</a:t>
            </a:r>
            <a:endParaRPr lang="en-US" sz="1500" dirty="0"/>
          </a:p>
          <a:p>
            <a:pPr marL="228600" indent="-228600">
              <a:spcAft>
                <a:spcPts val="800"/>
              </a:spcAft>
              <a:buSzPct val="100000"/>
              <a:buChar char="•"/>
            </a:pPr>
            <a:r>
              <a:rPr lang="en-US" sz="1500" dirty="0">
                <a:solidFill>
                  <a:schemeClr val="tx1"/>
                </a:solidFill>
              </a:rPr>
              <a:t>Ceilings of $2,973.88m and $2,980.95m are pruned: </a:t>
            </a:r>
            <a:r>
              <a:rPr lang="en-US" sz="1500" b="1" dirty="0">
                <a:solidFill>
                  <a:schemeClr val="tx1"/>
                </a:solidFill>
              </a:rPr>
              <a:t>five convex solves</a:t>
            </a:r>
            <a:r>
              <a:rPr lang="en-US" sz="1500" dirty="0">
                <a:solidFill>
                  <a:schemeClr val="tx1"/>
                </a:solidFill>
              </a:rPr>
              <a:t>, gap zero</a:t>
            </a:r>
            <a:endParaRPr lang="en-US" sz="1500" dirty="0"/>
          </a:p>
        </p:txBody>
      </p:sp>
      <p:pic>
        <p:nvPicPr>
          <p:cNvPr id="6" name="Figure" descr="Figure 4.3: branch-and-bound over whole rounds at twenty years' credit">    </p:cNvPr>
          <p:cNvPicPr>
            <a:picLocks noChangeAspect="1"/>
          </p:cNvPicPr>
          <p:nvPr/>
        </p:nvPicPr>
        <p:blipFill>
          <a:blip r:embed="rId1"/>
          <a:stretch>
            <a:fillRect/>
          </a:stretch>
        </p:blipFill>
        <p:spPr>
          <a:xfrm>
            <a:off x="5391174" y="2204879"/>
            <a:ext cx="6251881" cy="2887153"/>
          </a:xfrm>
          <a:prstGeom prst="rect">
            <a:avLst/>
          </a:prstGeom>
        </p:spPr>
      </p:pic>
      <p:sp>
        <p:nvSpPr>
          <p:cNvPr id="7" name="Caption"/>
          <p:cNvSpPr txBox="1"/>
          <p:nvPr/>
        </p:nvSpPr>
        <p:spPr>
          <a:xfrm>
            <a:off x="5391174" y="5165185"/>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4.3. Branch-and-bound over whole rounds at twenty years' credit, Chapter 3's relaxation as each node's ceiling: years 1–4 at node 3 is the incumbent; nodes 4 and 5 are pruned.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whole rounds, and ask for the gap</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3800" b="1" dirty="0">
                <a:solidFill>
                  <a:schemeClr val="accent1"/>
                </a:solidFill>
                <a:latin typeface="Cambria" pitchFamily="34" charset="0"/>
                <a:ea typeface="Cambria" pitchFamily="34" charset="-122"/>
                <a:cs typeface="Cambria" pitchFamily="34" charset="-120"/>
              </a:rPr>
              <a:t>$2,986.25m</a:t>
            </a:r>
            <a:endParaRPr lang="en-US" sz="38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four whole rounds in years 1–4: proved best of whole or partial rounds</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convex solves prove it: no enumeration, gap zero</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10.71–25.43</a:t>
            </a:r>
            <a:endParaRPr lang="en-US" sz="36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years of credit for which the answer holds (Step 6)</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Part rounds are not worth running: when rounds multiply, a fraction of a round earns the same fraction of the difference between none and a whole one</a:t>
            </a:r>
            <a:endParaRPr lang="en-US" sz="1700" dirty="0"/>
          </a:p>
          <a:p>
            <a:pPr marL="228600" indent="-228600">
              <a:spcAft>
                <a:spcPts val="800"/>
              </a:spcAft>
              <a:buSzPct val="100000"/>
              <a:buChar char="•"/>
            </a:pPr>
            <a:r>
              <a:rPr lang="en-US" sz="1700" dirty="0">
                <a:solidFill>
                  <a:schemeClr val="tx1"/>
                </a:solidFill>
              </a:rPr>
              <a:t>An optimizer's answer depends on where it starts; only a bound settles which is best. Ask for the ceiling and the gap with every optimizer's answer</a:t>
            </a:r>
            <a:endParaRPr lang="en-US" sz="1700" dirty="0"/>
          </a:p>
          <a:p>
            <a:pPr marL="228600" indent="-228600">
              <a:spcAft>
                <a:spcPts val="800"/>
              </a:spcAft>
              <a:buSzPct val="100000"/>
              <a:buChar char="•"/>
            </a:pPr>
            <a:r>
              <a:rPr lang="en-US" sz="1700" dirty="0">
                <a:solidFill>
                  <a:schemeClr val="tx1"/>
                </a:solidFill>
              </a:rPr>
              <a:t>For discussion: if a line's first stations were the most valuable to automate, would part rounds pay?</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2.4 · MODULE AXIOM-04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Search, bound and branch,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chief operating officer can automate plant lines in part, and her planners' optimizer returns different plans from different starts. The chief financial officer wants the inventory, an audit of each plan and a proof of the best before the board meets. Open AXIOM, choose Lab 2.4 and load the Meridian partial-round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Explore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Draw the value where only years 4 and 5 vary: two corner peaks, the saddle, the Hessian.</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Search</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SLSQP and the interior-point solver from 100 seeded starts; compare inventories and iterations.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Audit</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Verify the KKT conditions at each answer and the saddle: residuals, LICQ, the reduced Hessian.</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Bound</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Solve Lab 2.3's relaxation and compute each answer's distance from the ceiling.</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Branch</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Fix the year-5 round at none and at whole, re-solve, and continue until every node settles.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inventory of local answers with their audits, the ceiling and each answer's distance from it, the branch-and-bound certificate, and a recommendation on partial automation.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Beyond convexity the questions stay and the guarantees go: several local maxima, KKT points that are saddles, prices that hold only nearby, and gaps that no price list closes.</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local answer is audited in two steps, first order and second order; the audit proves a plan best among its neighbors, never overall.</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Multipliers exist under a constraint qualification and are local prices: under the second-order certificate and strict complementarity plans and prices move smoothly, and where local values cross the best plan jumps.</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Search from many starts, report the inventory, and bound it: a convex relaxation or a price list bounds what no start reached, and when decisions multiply, part measures never pay.</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Lumpy decisions are formulated with binaries and true ranges and solved by branch-and-bound, which certifies a gap at every stage; cutting planes and decomposition scale it, and five convex solves prove Meridian's four-round plan best.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69</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61</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26204</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AXIOM-04</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2.4</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DCT_V2_Ch04_Lab.ipynb: Worked Example 4.1 and the lab's five steps in ten panels, with the $60m cap and the package,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DCT_V2_Ch04_Lab.xlsx: the partial-round model, the 64 plans, the saddle, the audit, the relaxation and every node of both trees,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5 puts time into the instance</a:t>
            </a:r>
            <a:endParaRPr lang="en-US" sz="3200" dirty="0"/>
          </a:p>
        </p:txBody>
      </p:sp>
      <p:pic>
        <p:nvPicPr>
          <p:cNvPr id="5" name="Equation" descr="Equation: \max_{u_0,\ldots,u_{K-1}}\; \sum_{k=0}^{K-1} \beta^{k}\,\ell_k(x_k,u_k) \;+\; \beta^{K}\,\Phi(x_K), \qquad x_{k+1} = f_k(x_k,u_k)">    </p:cNvPr>
          <p:cNvPicPr>
            <a:picLocks noChangeAspect="1"/>
          </p:cNvPicPr>
          <p:nvPr/>
        </p:nvPicPr>
        <p:blipFill>
          <a:blip r:embed="rId1"/>
          <a:stretch>
            <a:fillRect/>
          </a:stretch>
        </p:blipFill>
        <p:spPr>
          <a:xfrm>
            <a:off x="2537194" y="1691640"/>
            <a:ext cx="7117307" cy="914400"/>
          </a:xfrm>
          <a:prstGeom prst="rect">
            <a:avLst/>
          </a:prstGeom>
        </p:spPr>
      </p:pic>
      <p:sp>
        <p:nvSpPr>
          <p:cNvPr id="6" name="Bullets"/>
          <p:cNvSpPr txBox="1"/>
          <p:nvPr/>
        </p:nvSpPr>
        <p:spPr>
          <a:xfrm>
            <a:off x="548640" y="2926080"/>
            <a:ext cx="11094415" cy="32461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Today's decisions build stocks that later years inherit, payoffs arrive after their costs, and commitments must hold on every date</a:t>
            </a:r>
            <a:endParaRPr lang="en-US" sz="1800" dirty="0"/>
          </a:p>
          <a:p>
            <a:pPr marL="228600" indent="-228600">
              <a:spcAft>
                <a:spcPts val="800"/>
              </a:spcAft>
              <a:buSzPct val="100000"/>
              <a:buChar char="•"/>
            </a:pPr>
            <a:r>
              <a:rPr lang="en-US" sz="1800" dirty="0">
                <a:solidFill>
                  <a:schemeClr val="bg1"/>
                </a:solidFill>
              </a:rPr>
              <a:t>Transcription turns the path into one large program: every method of Part I applies, and the multipliers of the dynamics become prices over time</a:t>
            </a:r>
            <a:endParaRPr lang="en-US" sz="1800" dirty="0"/>
          </a:p>
          <a:p>
            <a:pPr marL="228600" indent="-228600">
              <a:spcAft>
                <a:spcPts val="800"/>
              </a:spcAft>
              <a:buSzPct val="100000"/>
              <a:buChar char="•"/>
            </a:pPr>
            <a:r>
              <a:rPr lang="en-US" sz="1800" dirty="0">
                <a:solidFill>
                  <a:schemeClr val="bg1"/>
                </a:solidFill>
              </a:rPr>
              <a:t>Its Worked Example asks when Meridian should pay its shareholders while it automates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4: Nonlinear and Mixed-Integer Enterprise Optimization</dc:title>
  <dc:subject>Slides for Volume II, Chapter 4 (V56)</dc:subject>
  <dc:creator>Samir Asaf</dc:creator>
  <cp:lastModifiedBy>Samir Asaf</cp:lastModifiedBy>
  <cp:revision>1</cp:revision>
  <dcterms:created xsi:type="dcterms:W3CDTF">2026-10-05T09:46:57Z</dcterms:created>
  <dcterms:modified xsi:type="dcterms:W3CDTF">2026-10-05T09:46:57Z</dcterms:modified>
</cp:coreProperties>
</file>