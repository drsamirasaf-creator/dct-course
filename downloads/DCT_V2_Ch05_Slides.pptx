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769d29e-f396-1f48-0fe3-d1638a06e99a}">
          <p14:sldIdLst>
            <p14:sldId id="256"/>
            <p14:sldId id="257"/>
            <p14:sldId id="258"/>
            <p14:sldId id="259"/>
          </p14:sldIdLst>
        </p14:section>
        <p14:section name="5.1 What Time Adds" id="{d6c358ca-3685-ca1b-d772-86bcf1da86a7}">
          <p14:sldIdLst>
            <p14:sldId id="260"/>
            <p14:sldId id="261"/>
          </p14:sldIdLst>
        </p14:section>
        <p14:section name="5.2 Dynamic Instances" id="{0d664825-4ee7-3604-ad4a-ab48eca3a510}">
          <p14:sldIdLst>
            <p14:sldId id="262"/>
            <p14:sldId id="263"/>
          </p14:sldIdLst>
        </p14:section>
        <p14:section name="5.3 Transcription" id="{98b29b6d-b7f4-1828-1088-cb57fae834ba}">
          <p14:sldIdLst>
            <p14:sldId id="264"/>
            <p14:sldId id="265"/>
          </p14:sldIdLst>
        </p14:section>
        <p14:section name="5.4 Prices over Time" id="{a2f4ff2b-21a6-090d-1200-d836be5f0496}">
          <p14:sldIdLst>
            <p14:sldId id="266"/>
            <p14:sldId id="267"/>
          </p14:sldIdLst>
        </p14:section>
        <p14:section name="5.5 Horizons and Terminal Values" id="{97bec828-103e-95c7-9c9f-f4411cd65170}">
          <p14:sldIdLst>
            <p14:sldId id="268"/>
          </p14:sldIdLst>
        </p14:section>
        <p14:section name="5.6 Plans, Rules, and Re-planning" id="{88808493-e1db-ac28-5e06-98d047d64afe}">
          <p14:sldIdLst>
            <p14:sldId id="269"/>
            <p14:sldId id="270"/>
          </p14:sldIdLst>
        </p14:section>
        <p14:section name="Worked Example 5.1" id="{9816609e-fea6-8e54-e669-c0c8b4797aa2}">
          <p14:sldIdLst>
            <p14:sldId id="271"/>
            <p14:sldId id="272"/>
            <p14:sldId id="273"/>
            <p14:sldId id="274"/>
            <p14:sldId id="275"/>
          </p14:sldIdLst>
        </p14:section>
        <p14:section name="AXIOM Lab 2.5" id="{ac8cbc0d-8fa3-7e61-02d9-403489e1f1c7}">
          <p14:sldIdLst>
            <p14:sldId id="276"/>
          </p14:sldIdLst>
        </p14:section>
        <p14:section name="Close" id="{d7563de0-9558-c602-6a17-09beb4b0d1a1}">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E3D"/>
                </a:solidFill>
                <a:latin typeface="+mn-lt"/>
              </a:defRPr>
            </a:pPr>
            <a:r>
              <a:rPr sz="1400" b="0" i="0" u="none" strike="noStrike">
                <a:solidFill>
                  <a:srgbClr val="0F1E3D"/>
                </a:solidFill>
                <a:latin typeface="+mn-lt"/>
              </a:rPr>
              <a:t>Price today of one more dollar of cash at each year end</a:t>
            </a:r>
          </a:p>
        </c:rich>
      </c:tx>
      <c:layout/>
      <c:overlay val="0"/>
    </c:title>
    <c:autoTitleDeleted val="0"/>
    <c:plotArea>
      <c:layout/>
      <c:barChart>
        <c:barDir val="col"/>
        <c:grouping val="clustered"/>
        <c:varyColors val="0"/>
        <c:ser>
          <c:idx val="0"/>
          <c:order val="0"/>
          <c:tx>
            <c:strRef>
              <c:f>Sheet1!$B$1</c:f>
              <c:strCache>
                <c:ptCount val="1"/>
                <c:pt idx="0">
                  <c:v>Price of cash</c:v>
                </c:pt>
              </c:strCache>
            </c:strRef>
          </c:tx>
          <c:spPr>
            <a:solidFill>
              <a:srgbClr val="2F6F6B"/>
            </a:solidFill>
            <a:effectLst/>
          </c:spPr>
          <c:invertIfNegative val="0"/>
          <c:dLbls>
            <c:numFmt formatCode="0.00" sourceLinked="0"/>
            <c:txPr>
              <a:bodyPr/>
              <a:lstStyle/>
              <a:p>
                <a:pPr>
                  <a:defRPr b="0" i="0" strike="noStrike" sz="1300" u="none">
                    <a:solidFill>
                      <a:srgbClr val="0F1E3D"/>
                    </a:solidFill>
                    <a:latin typeface="+mn-lt"/>
                  </a:defRPr>
                </a:pPr>
              </a:p>
            </c:txPr>
            <c:showLegendKey val="0"/>
            <c:showVal val="1"/>
            <c:showCatName val="0"/>
            <c:showSerName val="0"/>
            <c:showPercent val="0"/>
            <c:showBubbleSize val="0"/>
            <c:showLeaderLines val="0"/>
          </c:dLbls>
          <c:cat>
            <c:multiLvlStrRef>
              <c:f>Sheet1!$A$2:$A$7</c:f>
              <c:multiLvlStrCache>
                <c:ptCount val="6"/>
                <c:lvl>
                  <c:pt idx="0">
                    <c:v>Year 1</c:v>
                  </c:pt>
                  <c:pt idx="1">
                    <c:v>Year 2</c:v>
                  </c:pt>
                  <c:pt idx="2">
                    <c:v>Year 3</c:v>
                  </c:pt>
                  <c:pt idx="3">
                    <c:v>Year 4</c:v>
                  </c:pt>
                  <c:pt idx="4">
                    <c:v>Year 5</c:v>
                  </c:pt>
                  <c:pt idx="5">
                    <c:v>Year 6</c:v>
                  </c:pt>
                </c:lvl>
              </c:multiLvlStrCache>
            </c:multiLvlStrRef>
          </c:cat>
          <c:val>
            <c:numRef>
              <c:f>Sheet1!$B$2:$B$7</c:f>
              <c:numCache>
                <c:formatCode>General</c:formatCode>
                <c:ptCount val="6"/>
                <c:pt idx="0">
                  <c:v>0.9091</c:v>
                </c:pt>
                <c:pt idx="1">
                  <c:v>0.9091</c:v>
                </c:pt>
                <c:pt idx="2">
                  <c:v>0.7513</c:v>
                </c:pt>
                <c:pt idx="3">
                  <c:v>0.683</c:v>
                </c:pt>
                <c:pt idx="4">
                  <c:v>0.6209</c:v>
                </c:pt>
                <c:pt idx="5">
                  <c:v>0.5645</c:v>
                </c:pt>
              </c:numCache>
            </c:numRef>
          </c:val>
        </c:ser>
        <c:dLbls>
          <c:numFmt formatCode="0.00" sourceLinked="0"/>
          <c:txPr>
            <a:bodyPr/>
            <a:lstStyle/>
            <a:p>
              <a:pPr>
                <a:defRPr b="0" i="0" strike="noStrike" sz="1300" u="none">
                  <a:solidFill>
                    <a:srgbClr val="0F1E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A6B82"/>
                </a:solidFill>
                <a:latin typeface="+mn-lt"/>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E3E7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5, opens Part II. Part I chose Meridian's plans as single decisions; time changes the problem in three ways: decisions build stocks that later years inherit, payoffs arrive later than costs, and commitments must hold on every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Akerlof's procrastination, at board level: a board that weighs this year above all later years means to act next year, every year (Section 5.6, Theorem 5.3(iv)).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5.1-5.3 are in Appendix 5.A; Propositions 5.1-5.3 in Online Appendix 5.B, with Worked Example 5.1 in numbers (Example 5.B.3).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5.1. Stocks: decisions move quantities that persist, so a decision is worth what it leaves to later periods. Delays: an automation round costs $120 million in its year and saves for every year after. Commitments: a floor every year, cash before a round, an end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5.1; formal statement and proof in Online Appendix 5.B. The CFO's rule is Worked Example 5.1, Step 2. Part (iii) names the repair, Theorem 5.1(iii).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5.1 and Proposition 5.2. Three declarations are new relative to Part I: the period, the discount, and the terminal value. Leaving the terminal value implicit declares it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5.2. Commitments take more forms over time than at one date. Proposition 5.2(iii): a lever that can only run flat out or stand idle can approach half speed by alternating ever faster, a value no plan attains.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5.1; formal statement and proof in Appendix 5.A. The multipliers are Volume I's costates (Volume I, Theorem 15.4(ii)). The simultaneous form is large but sparse: each equation touches only two consecutive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5.1, the transcribed program (Theorem 5.1(iii)). Under the year-1 and year-2 states, the war chest: the cash held for the rounds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5.4 and Figure 5.1's price row. Each binding floor in years 3 to 5 costs about $0.06 a dollar, one year of discounting. A point in year 1 is worth less because the two later rounds would have closed half of it each. Online Appendix 5.B.3 lists every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5.3, equation (5.3); proof in Online Appendix 5.B. Ramsey's rule for saving, Hotelling's for exhaustible resources, the economist's Euler equation. Smoothing payouts is worth something only if shareholders value steady payouts above early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5.2; formal statement and proof in Appendix 5.A. A lower hurdle rate buys more rounds: four at 5 percent, matching Chapter 4's twenty years of credit; the third round pays only below about 14.5 percent, the fourth below 7.3, the fifth below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5.2 and Theorem 5.3; formal statement and proof in Appendix 5.A. The theorem is deterministic: when the future is uncertain, a rule can use information that a plan cannot, and the difference is the value of information (Volume I, Theorem 15.4(iii)).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5.6 and Theorem 5.3(iv). Shareholders discount at 10 percent throughout. The plans the 90 percent board makes at each date are in Online Appendix 5.B.3; the plan it carries out is Table 5.3's present-biased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the situation. Worked Examples 2.1 and 3.1 settled the program: three rounds, in years 1 to 3, with ten years of the year-6 savings credited and every amount undiscounted.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Steps 1-3. At 10 percent the perpetuity is ten years of the year-6 savings, the credit Part I used, so Part I's answer is this instance with the discounting removed. The value is $330.5m of payouts and $691.5m of savings after year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5.3. The CFO's rule pays out the program's future; a plan without a terminal value runs the company down; a present-biased board postpones the third round; and when the rounds fall short the schedule breaches the floor and the end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Step 6, and Theorem 5.3 with its scope note. The war-chest rule pays $60m, 0, 105, 105, 90 and 0 million. A schedule is only as good as its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what the board should take away, and the discussion questions. What would have to be true of Meridian's shareholders for the CFO's old pledge to pay out half of each year's savings to be worth 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2.5. What to look for: a myopic rule that stops the program; a transcription whose multipliers are the prices of cash and efficiency; a war chest that front-loads payouts; rounds that appear and disappear with the horizon and the rate; a rule that survives the shortfall that breaks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Optimal Control of Enterprise Systems, develops the repair of myopia that Theorem 5.1(iii) names: the maximum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5 · WEEK 10</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Dynamic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Decide over time with prices that carry each stock's value backward, and a terminal value that stands for continuing</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26205 · AXIOM Lab 2.5 (AXIOM-05, AXIOM-04)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“Each morning for over eight months I woke up and decided that the next morning would be the day to send the Stiglitz box.”</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George A. Akerlof</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2001; “Procrastination and Obedience” (1991)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time adds to an enterprise optimization problem—stocks carried between periods, payoffs that arrive after their costs, commitments on whole paths—and why deciding period by period loses value or breaks commitments.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a dynamic instance in discrete or continuous time, with its state, decisions, dynamics, discounting, running and terminal value, and commitments, and say when a best plan exists.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Transcribe a dynamic instance into a finite program, read the multipliers of its dynamics as prices of stocks over time, and audit intertemporal trade-offs with the rule of equal discounted marginal values.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Choose a horizon and a terminal value, bound what truncation costs, and recognize the end effects of a missing or inconsistent terminal value.</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plans from rules, explain when re-planning confirms a plan and when it reverses it, and judge when a rule is worth more than a plan.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§5.1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What Time Adds</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5.1 · Table 5.1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§5.2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Dynamic Instances</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5.1 · Proposition 5.2</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§5.3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Transcription: From Paths to Programs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5.1 · Figure 5.1</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§5.4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Prices over Time</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5.3</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§5.5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Horizons and Terminal Values</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5.2 · Figure 5.2</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§5.6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Plans, Rules, and Re-planning</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5.2 · Theorem 5.3</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5.1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When Should Meridian Pay Its Shareholders?</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5.3 · Figure 5.3</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2.5</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Planning over Time: Plans, Rules, and Horizons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AXIOM-05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§5.1 · TABLE 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changes when an instance unfolds over time</a:t>
            </a:r>
            <a:endParaRPr lang="en-US" sz="3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42098"/>
                <a:gridCol w="3209128"/>
                <a:gridCol w="6143189"/>
              </a:tblGrid>
              <a:tr h="566928">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Part I instance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Dynamic instance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vector, chosen once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plan (a path of decisions) or a rule (decisions as functions of the state)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Commitments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check each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check per period, plus conditions before decisions and at the end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number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running values discounted period by period, plus a terminal 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Prices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per binding commitment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per commitment per period, and one for each stock at each date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Typical failure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local or lumpy answer reported as best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myopic decision; a plan that runs the company down at its horizon; a plan reversed when re-made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Time adds stocks, delays, and commitments on whole paths, and takes away the right to decide everything at once.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§5.1 · PROPOSITION 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Deciding year by year breaks commitments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5.1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Myopia Fails</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Deciding each period for that period alone can break a later commitment, even when plans that keep every commitment exist</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It can lose any share of the best value, even when it keeps every commitment</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It is optimal when no decision moves the stocks on which later periods depend</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CFO's rule pays out all cash above the $350m floor: $220m in year 1</a:t>
            </a:r>
            <a:endParaRPr lang="en-US" sz="1600" dirty="0"/>
          </a:p>
          <a:p>
            <a:pPr marL="228600" indent="-228600">
              <a:spcAft>
                <a:spcPts val="800"/>
              </a:spcAft>
              <a:buSzPct val="100000"/>
              <a:buChar char="•"/>
            </a:pPr>
            <a:r>
              <a:rPr lang="en-US" sz="1600" dirty="0">
                <a:solidFill>
                  <a:schemeClr val="tx1"/>
                </a:solidFill>
              </a:rPr>
              <a:t>A round needs $470m on hand, so the program stops after one round</a:t>
            </a:r>
            <a:endParaRPr lang="en-US" sz="1600" dirty="0"/>
          </a:p>
          <a:p>
            <a:pPr marL="228600" indent="-228600">
              <a:spcAft>
                <a:spcPts val="800"/>
              </a:spcAft>
              <a:buSzPct val="100000"/>
              <a:buChar char="•"/>
            </a:pPr>
            <a:r>
              <a:rPr lang="en-US" sz="1600" dirty="0">
                <a:solidFill>
                  <a:schemeClr val="tx1"/>
                </a:solidFill>
              </a:rPr>
              <a:t>Year 6 ends $120m short of the board's end condition</a:t>
            </a:r>
            <a:endParaRPr lang="en-US" sz="1600" dirty="0"/>
          </a:p>
          <a:p>
            <a:pPr marL="228600" indent="-228600">
              <a:spcAft>
                <a:spcPts val="800"/>
              </a:spcAft>
              <a:buSzPct val="100000"/>
              <a:buChar char="•"/>
            </a:pPr>
            <a:r>
              <a:rPr lang="en-US" sz="1600" dirty="0">
                <a:solidFill>
                  <a:schemeClr val="tx1"/>
                </a:solidFill>
              </a:rPr>
              <a:t>Judged year by year, no round is ever run: at most $70m of savings in its year against $120m</a:t>
            </a:r>
            <a:endParaRPr lang="en-US" sz="1600" dirty="0"/>
          </a:p>
          <a:p>
            <a:pPr marL="228600" indent="-228600">
              <a:spcAft>
                <a:spcPts val="800"/>
              </a:spcAft>
              <a:buSzPct val="100000"/>
              <a:buChar char="•"/>
            </a:pPr>
            <a:r>
              <a:rPr lang="en-US" sz="1600" dirty="0">
                <a:solidFill>
                  <a:schemeClr val="tx1"/>
                </a:solidFill>
              </a:rPr>
              <a:t>The repair: charge each year for the stocks it changes, at their prices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§5.2 · DEFINITION 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Declare the period, the discount and the end</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5.1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Dynamic Enterprise Optimization</a:t>
            </a:r>
            <a:endParaRPr lang="en-US" sz="2100" dirty="0"/>
          </a:p>
        </p:txBody>
      </p:sp>
      <p:pic>
        <p:nvPicPr>
          <p:cNvPr id="8" name="Equation" descr="Equation: \max_{u_0,\ldots,u_{K-1}}\ \sum_{k=0}^{K-1}\beta^{k}\,\ell_k(x_k,u_k)\;+\;\beta^{K}\,\Phi(x_K)">    </p:cNvPr>
          <p:cNvPicPr>
            <a:picLocks noChangeAspect="1"/>
          </p:cNvPicPr>
          <p:nvPr/>
        </p:nvPicPr>
        <p:blipFill>
          <a:blip r:embed="rId1"/>
          <a:stretch>
            <a:fillRect/>
          </a:stretch>
        </p:blipFill>
        <p:spPr>
          <a:xfrm>
            <a:off x="822960" y="2743200"/>
            <a:ext cx="3633034" cy="731520"/>
          </a:xfrm>
          <a:prstGeom prst="rect">
            <a:avLst/>
          </a:prstGeom>
        </p:spPr>
      </p:pic>
      <p:sp>
        <p:nvSpPr>
          <p:cNvPr id="9" name="Bullets"/>
          <p:cNvSpPr txBox="1"/>
          <p:nvPr/>
        </p:nvSpPr>
        <p:spPr>
          <a:xfrm>
            <a:off x="822960" y="3639312"/>
            <a:ext cx="5394960" cy="239572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Dynamics</a:t>
            </a:r>
            <a:r>
              <a:rPr lang="en-US" sz="1500" dirty="0">
                <a:solidFill>
                  <a:schemeClr val="tx1"/>
                </a:solidFill>
              </a:rPr>
              <a:t> carry the state from each date to the next</a:t>
            </a:r>
            <a:endParaRPr lang="en-US" sz="1500" dirty="0"/>
          </a:p>
          <a:p>
            <a:pPr marL="228600" indent="-228600">
              <a:spcAft>
                <a:spcPts val="600"/>
              </a:spcAft>
              <a:buSzPct val="100000"/>
              <a:buChar char="•"/>
            </a:pPr>
            <a:r>
              <a:rPr lang="en-US" sz="1500" b="1" dirty="0">
                <a:solidFill>
                  <a:schemeClr val="tx1"/>
                </a:solidFill>
              </a:rPr>
              <a:t>Commitments</a:t>
            </a:r>
            <a:r>
              <a:rPr lang="en-US" sz="1500" dirty="0">
                <a:solidFill>
                  <a:schemeClr val="tx1"/>
                </a:solidFill>
              </a:rPr>
              <a:t> hold on every date: limits, floors, preconditions, and an end set</a:t>
            </a:r>
            <a:endParaRPr lang="en-US" sz="1500" dirty="0"/>
          </a:p>
          <a:p>
            <a:pPr marL="228600" indent="-228600">
              <a:spcAft>
                <a:spcPts val="600"/>
              </a:spcAft>
              <a:buSzPct val="100000"/>
              <a:buChar char="•"/>
            </a:pPr>
            <a:r>
              <a:rPr lang="en-US" sz="1500" b="1" dirty="0">
                <a:solidFill>
                  <a:schemeClr val="tx1"/>
                </a:solidFill>
              </a:rPr>
              <a:t>Discount</a:t>
            </a:r>
            <a:r>
              <a:rPr lang="en-US" sz="1500" dirty="0">
                <a:solidFill>
                  <a:schemeClr val="tx1"/>
                </a:solidFill>
              </a:rPr>
              <a:t> β = 1/(1 + r) at the hurdle rate r; in continuous time ρ = ln(1 + r)</a:t>
            </a:r>
            <a:endParaRPr lang="en-US" sz="1500" dirty="0"/>
          </a:p>
          <a:p>
            <a:pPr marL="228600" indent="-228600">
              <a:spcAft>
                <a:spcPts val="600"/>
              </a:spcAft>
              <a:buSzPct val="100000"/>
              <a:buChar char="•"/>
            </a:pPr>
            <a:r>
              <a:rPr lang="en-US" sz="1500" b="1" dirty="0">
                <a:solidFill>
                  <a:schemeClr val="tx1"/>
                </a:solidFill>
              </a:rPr>
              <a:t>Terminal value</a:t>
            </a:r>
            <a:r>
              <a:rPr lang="en-US" sz="1500" dirty="0">
                <a:solidFill>
                  <a:schemeClr val="tx1"/>
                </a:solidFill>
              </a:rPr>
              <a:t> Φ: what the position the plan leaves is worth to the board</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State: year-end cash and efficiency; decisions: a round and a payout</a:t>
            </a:r>
            <a:endParaRPr lang="en-US" sz="1600" dirty="0"/>
          </a:p>
          <a:p>
            <a:pPr marL="228600" indent="-228600">
              <a:spcAft>
                <a:spcPts val="800"/>
              </a:spcAft>
              <a:buSzPct val="100000"/>
              <a:buChar char="•"/>
            </a:pPr>
            <a:r>
              <a:rPr lang="en-US" sz="1600" dirty="0">
                <a:solidFill>
                  <a:schemeClr val="tx1"/>
                </a:solidFill>
              </a:rPr>
              <a:t>A round costs $120m and closes half the gap to 85; a point saves $10m a year</a:t>
            </a:r>
            <a:endParaRPr lang="en-US" sz="1600" dirty="0"/>
          </a:p>
          <a:p>
            <a:pPr marL="228600" indent="-228600">
              <a:spcAft>
                <a:spcPts val="800"/>
              </a:spcAft>
              <a:buSzPct val="100000"/>
              <a:buChar char="•"/>
            </a:pPr>
            <a:r>
              <a:rPr lang="en-US" sz="1600" dirty="0">
                <a:solidFill>
                  <a:schemeClr val="tx1"/>
                </a:solidFill>
              </a:rPr>
              <a:t>The board declares a 10 percent hurdle rate and savings that continue forever</a:t>
            </a:r>
            <a:endParaRPr lang="en-US" sz="1600" dirty="0"/>
          </a:p>
          <a:p>
            <a:pPr marL="228600" indent="-228600">
              <a:spcAft>
                <a:spcPts val="800"/>
              </a:spcAft>
              <a:buSzPct val="100000"/>
              <a:buChar char="•"/>
            </a:pPr>
            <a:r>
              <a:rPr lang="en-US" sz="1600" dirty="0">
                <a:solidFill>
                  <a:schemeClr val="tx1"/>
                </a:solidFill>
              </a:rPr>
              <a:t>A best plan exists on any calendar; in continuous time it needs convexity (Proposition 5.2)</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§5.2 · TABLE 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Commitments take six forms over time</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742098"/>
                <a:gridCol w="5776431"/>
                <a:gridCol w="3575886"/>
              </a:tblGrid>
              <a:tr h="51206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Kind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Meridian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 the program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Path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 of at least $350 million at every year end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one constraint per period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Precondition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round needs $470 million on hand when it starts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links a decision to the state before 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$470 million at the end of year 6, cash for another round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constraint on the last state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Cumulative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total automation spending under a capital cap (Worked Example 3.1)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sum over periods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capability rebuilt by at most 2.5 points a quarter (Volume I, Chapter 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bound on the change between periods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Sequence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digital build needs capability of at least 55 first (Volume I, Chapter 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logical, often lumpy, constraint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Proposition 5.2: a best plan exists on any calendar of review dates; in continuous time only with convexity.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§5.3 · THEOREM 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Transcribe the path into one program</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5.1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Transcription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Floors.</a:t>
            </a:r>
            <a:r>
              <a:rPr lang="en-US" sz="1600" dirty="0">
                <a:solidFill>
                  <a:schemeClr val="tx1"/>
                </a:solidFill>
              </a:rPr>
              <a:t> A calendar's best value is a floor on the true one, and a finer calendar never lowers it</a:t>
            </a:r>
            <a:endParaRPr lang="en-US" sz="1600" dirty="0"/>
          </a:p>
          <a:p>
            <a:pPr marL="228600" indent="-228600">
              <a:spcAft>
                <a:spcPts val="600"/>
              </a:spcAft>
              <a:buSzPct val="100000"/>
              <a:buChar char="•"/>
            </a:pPr>
            <a:r>
              <a:rPr lang="en-US" sz="1600" b="1" dirty="0">
                <a:solidFill>
                  <a:schemeClr val="tx1"/>
                </a:solidFill>
              </a:rPr>
              <a:t>(ii) Convergence.</a:t>
            </a:r>
            <a:r>
              <a:rPr lang="en-US" sz="1600" dirty="0">
                <a:solidFill>
                  <a:schemeClr val="tx1"/>
                </a:solidFill>
              </a:rPr>
              <a:t> The floors approach the true value when near-best plans keep the commitments with room to spare</a:t>
            </a:r>
            <a:endParaRPr lang="en-US" sz="1600" dirty="0"/>
          </a:p>
          <a:p>
            <a:pPr marL="228600" indent="-228600">
              <a:spcAft>
                <a:spcPts val="600"/>
              </a:spcAft>
              <a:buSzPct val="100000"/>
              <a:buChar char="•"/>
            </a:pPr>
            <a:r>
              <a:rPr lang="en-US" sz="1600" b="1" dirty="0">
                <a:solidFill>
                  <a:schemeClr val="tx1"/>
                </a:solidFill>
              </a:rPr>
              <a:t>(iii) Prices.</a:t>
            </a:r>
            <a:r>
              <a:rPr lang="en-US" sz="1600" dirty="0">
                <a:solidFill>
                  <a:schemeClr val="tx1"/>
                </a:solidFill>
              </a:rPr>
              <a:t> The multipliers of the dynamics price every stock at every date, computed backward from the end</a:t>
            </a:r>
            <a:endParaRPr lang="en-US" sz="1600" dirty="0"/>
          </a:p>
          <a:p>
            <a:pPr marL="228600" indent="-228600">
              <a:spcAft>
                <a:spcPts val="600"/>
              </a:spcAft>
              <a:buSzPct val="100000"/>
              <a:buChar char="•"/>
            </a:pPr>
            <a:r>
              <a:rPr lang="en-US" sz="1600" b="1" dirty="0">
                <a:solidFill>
                  <a:schemeClr val="tx1"/>
                </a:solidFill>
              </a:rPr>
              <a:t>(iv) Methods.</a:t>
            </a:r>
            <a:r>
              <a:rPr lang="en-US" sz="1600" dirty="0">
                <a:solidFill>
                  <a:schemeClr val="tx1"/>
                </a:solidFill>
              </a:rPr>
              <a:t> Linear dynamics give a convex program; nonlinear dynamics a nonlinear one; lumpy decisions a mixed-integer one</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plan on a quarterly calendar is one the company can carry out; monthly reviews can only help</a:t>
            </a:r>
            <a:endParaRPr lang="en-US" sz="1600" dirty="0"/>
          </a:p>
          <a:p>
            <a:pPr marL="228600" indent="-228600">
              <a:spcAft>
                <a:spcPts val="800"/>
              </a:spcAft>
              <a:buSzPct val="100000"/>
              <a:buChar char="•"/>
            </a:pPr>
            <a:r>
              <a:rPr lang="en-US" sz="1600" dirty="0">
                <a:solidFill>
                  <a:schemeClr val="tx1"/>
                </a:solidFill>
              </a:rPr>
              <a:t>With prices, judge each year on its own: its value plus the priced change in the stocks</a:t>
            </a:r>
            <a:endParaRPr lang="en-US" sz="1600" dirty="0"/>
          </a:p>
          <a:p>
            <a:pPr marL="228600" indent="-228600">
              <a:spcAft>
                <a:spcPts val="800"/>
              </a:spcAft>
              <a:buSzPct val="100000"/>
              <a:buChar char="•"/>
            </a:pPr>
            <a:r>
              <a:rPr lang="en-US" sz="1600" dirty="0">
                <a:solidFill>
                  <a:schemeClr val="tx1"/>
                </a:solidFill>
              </a:rPr>
              <a:t>That is myopia repaired, the idea Chapter 6 develops as the maximum principle</a:t>
            </a:r>
            <a:endParaRPr lang="en-US" sz="1600" dirty="0"/>
          </a:p>
          <a:p>
            <a:pPr marL="228600" indent="-228600">
              <a:spcAft>
                <a:spcPts val="800"/>
              </a:spcAft>
              <a:buSzPct val="100000"/>
              <a:buChar char="•"/>
            </a:pPr>
            <a:r>
              <a:rPr lang="en-US" sz="1600" dirty="0">
                <a:solidFill>
                  <a:schemeClr val="tx1"/>
                </a:solidFill>
              </a:rPr>
              <a:t>Meridian: six lumpy rounds with a linear payout program inside, 64 schedules in all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§5.3 · FIGURE 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States forward, prices backward</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Each year a round and a payout carry the state, cash and efficiency, forward</a:t>
            </a:r>
            <a:endParaRPr lang="en-US" sz="1500" dirty="0"/>
          </a:p>
          <a:p>
            <a:pPr marL="228600" indent="-228600">
              <a:spcAft>
                <a:spcPts val="800"/>
              </a:spcAft>
              <a:buSzPct val="100000"/>
              <a:buChar char="•"/>
            </a:pPr>
            <a:r>
              <a:rPr lang="en-US" sz="1500" dirty="0">
                <a:solidFill>
                  <a:schemeClr val="tx1"/>
                </a:solidFill>
              </a:rPr>
              <a:t>Transcription stacks the six years into one program</a:t>
            </a:r>
            <a:endParaRPr lang="en-US" sz="1500" dirty="0"/>
          </a:p>
          <a:p>
            <a:pPr marL="228600" indent="-228600">
              <a:spcAft>
                <a:spcPts val="800"/>
              </a:spcAft>
              <a:buSzPct val="100000"/>
              <a:buChar char="•"/>
            </a:pPr>
            <a:r>
              <a:rPr lang="en-US" sz="1500" dirty="0">
                <a:solidFill>
                  <a:schemeClr val="tx1"/>
                </a:solidFill>
              </a:rPr>
              <a:t>Its multipliers carry prices backward: one more dollar, one more point, valued today</a:t>
            </a:r>
            <a:endParaRPr lang="en-US" sz="1500" dirty="0"/>
          </a:p>
          <a:p>
            <a:pPr marL="228600" indent="-228600">
              <a:spcAft>
                <a:spcPts val="800"/>
              </a:spcAft>
              <a:buSzPct val="100000"/>
              <a:buChar char="•"/>
            </a:pPr>
            <a:r>
              <a:rPr lang="en-US" sz="1500" dirty="0">
                <a:solidFill>
                  <a:schemeClr val="tx1"/>
                </a:solidFill>
              </a:rPr>
              <a:t>The terminal value credits the year-6 savings forever: </a:t>
            </a:r>
            <a:r>
              <a:rPr lang="en-US" sz="1500" b="1" dirty="0">
                <a:solidFill>
                  <a:schemeClr val="tx1"/>
                </a:solidFill>
              </a:rPr>
              <a:t>$1,225m</a:t>
            </a:r>
            <a:r>
              <a:rPr lang="en-US" sz="1500" dirty="0">
                <a:solidFill>
                  <a:schemeClr val="tx1"/>
                </a:solidFill>
              </a:rPr>
              <a:t> at year 6, </a:t>
            </a:r>
            <a:r>
              <a:rPr lang="en-US" sz="1500" b="1" dirty="0">
                <a:solidFill>
                  <a:schemeClr val="tx1"/>
                </a:solidFill>
              </a:rPr>
              <a:t>$691.5m</a:t>
            </a:r>
            <a:r>
              <a:rPr lang="en-US" sz="1500" dirty="0">
                <a:solidFill>
                  <a:schemeClr val="tx1"/>
                </a:solidFill>
              </a:rPr>
              <a:t> today</a:t>
            </a:r>
            <a:endParaRPr lang="en-US" sz="1500" dirty="0"/>
          </a:p>
        </p:txBody>
      </p:sp>
      <p:pic>
        <p:nvPicPr>
          <p:cNvPr id="6" name="Figure" descr="Figure 5.1: Meridian's automation program as a dynamic instance">    </p:cNvPr>
          <p:cNvPicPr>
            <a:picLocks noChangeAspect="1"/>
          </p:cNvPicPr>
          <p:nvPr/>
        </p:nvPicPr>
        <p:blipFill>
          <a:blip r:embed="rId1"/>
          <a:stretch>
            <a:fillRect/>
          </a:stretch>
        </p:blipFill>
        <p:spPr>
          <a:xfrm>
            <a:off x="4725509" y="1874033"/>
            <a:ext cx="6917546" cy="3548845"/>
          </a:xfrm>
          <a:prstGeom prst="rect">
            <a:avLst/>
          </a:prstGeom>
        </p:spPr>
      </p:pic>
      <p:sp>
        <p:nvSpPr>
          <p:cNvPr id="7" name="Caption"/>
          <p:cNvSpPr txBox="1"/>
          <p:nvPr/>
        </p:nvSpPr>
        <p:spPr>
          <a:xfrm>
            <a:off x="4725509" y="5496031"/>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5.1. Meridian's automation program at a 10 percent hurdle rate: states carried forward by the decisions, prices carried backward by the multipliers.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§5.4 · PRICES OVER TIME</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dollar in year 2 is worth one in year 1</a:t>
            </a:r>
            <a:endParaRPr lang="en-US" sz="3200" dirty="0"/>
          </a:p>
        </p:txBody>
      </p:sp>
      <p:graphicFrame>
        <p:nvGraphicFramePr>
          <p:cNvPr id="5" name="Chart" descr=""/>
          <p:cNvGraphicFramePr/>
          <p:nvPr/>
        </p:nvGraphicFramePr>
        <p:xfrm>
          <a:off x="548640" y="1691640"/>
          <a:ext cx="5547208" cy="4480560"/>
        </p:xfrm>
        <a:graphic xmlns:a="http://schemas.openxmlformats.org/drawingml/2006/main">
          <a:graphicData uri="http://schemas.openxmlformats.org/drawingml/2006/chart">
            <c:chart xmlns:c="http://schemas.openxmlformats.org/drawingml/2006/chart" r:id="rId1"/>
          </a:graphicData>
        </a:graphic>
      </p:graphicFrame>
      <p:sp>
        <p:nvSpPr>
          <p:cNvPr id="6" name="Bullets"/>
          <p:cNvSpPr txBox="1"/>
          <p:nvPr/>
        </p:nvSpPr>
        <p:spPr>
          <a:xfrm>
            <a:off x="6461608" y="1691640"/>
            <a:ext cx="5181448"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Paid out at once, a dollar at the end of year k is worth β</a:t>
            </a:r>
            <a:r>
              <a:rPr lang="en-US" sz="1600" baseline="30000" dirty="0">
                <a:solidFill>
                  <a:schemeClr val="tx1"/>
                </a:solidFill>
              </a:rPr>
              <a:t>k</a:t>
            </a:r>
            <a:r>
              <a:rPr lang="en-US" sz="1600" dirty="0">
                <a:solidFill>
                  <a:schemeClr val="tx1"/>
                </a:solidFill>
              </a:rPr>
              <a:t> today: $0.75 in year 3, $0.56 in year 6</a:t>
            </a:r>
            <a:endParaRPr lang="en-US" sz="1600" dirty="0"/>
          </a:p>
          <a:p>
            <a:pPr marL="228600" indent="-228600">
              <a:spcAft>
                <a:spcPts val="800"/>
              </a:spcAft>
              <a:buSzPct val="100000"/>
              <a:buChar char="•"/>
            </a:pPr>
            <a:r>
              <a:rPr lang="en-US" sz="1600" dirty="0">
                <a:solidFill>
                  <a:schemeClr val="tx1"/>
                </a:solidFill>
              </a:rPr>
              <a:t>A dollar arriving in year 2 is worth $0.91, as much as one in year 1: it shrinks the year-1 war chest</a:t>
            </a:r>
            <a:endParaRPr lang="en-US" sz="1600" dirty="0"/>
          </a:p>
          <a:p>
            <a:pPr marL="228600" indent="-228600">
              <a:spcAft>
                <a:spcPts val="800"/>
              </a:spcAft>
              <a:buSzPct val="100000"/>
              <a:buChar char="•"/>
            </a:pPr>
            <a:r>
              <a:rPr lang="en-US" sz="1600" dirty="0">
                <a:solidFill>
                  <a:schemeClr val="tx1"/>
                </a:solidFill>
              </a:rPr>
              <a:t>Commitments cost what idle cash costs: round 3's war chest $0.16 a dollar, the end condition $0.56</a:t>
            </a:r>
            <a:endParaRPr lang="en-US" sz="1600" dirty="0"/>
          </a:p>
          <a:p>
            <a:pPr marL="228600" indent="-228600">
              <a:spcAft>
                <a:spcPts val="800"/>
              </a:spcAft>
              <a:buSzPct val="100000"/>
              <a:buChar char="•"/>
            </a:pPr>
            <a:r>
              <a:rPr lang="en-US" sz="1600" dirty="0">
                <a:solidFill>
                  <a:schemeClr val="tx1"/>
                </a:solidFill>
              </a:rPr>
              <a:t>A point of efficiency is worth $82.6m in year 3, ten a year forever, but $34.3m in year 1</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§5.4 · PROPOSITION 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Discounted marginal values are equal</a:t>
            </a:r>
            <a:endParaRPr lang="en-US" sz="3200" dirty="0"/>
          </a:p>
        </p:txBody>
      </p:sp>
      <p:pic>
        <p:nvPicPr>
          <p:cNvPr id="5" name="Equation" descr="Equation: \frac{v'_{k+1}(u_{k+1})}{v'_{k}(u_{k})} \;=\; \frac{1+r}{1+g}">    </p:cNvPr>
          <p:cNvPicPr>
            <a:picLocks noChangeAspect="1"/>
          </p:cNvPicPr>
          <p:nvPr/>
        </p:nvPicPr>
        <p:blipFill>
          <a:blip r:embed="rId1"/>
          <a:stretch>
            <a:fillRect/>
          </a:stretch>
        </p:blipFill>
        <p:spPr>
          <a:xfrm>
            <a:off x="4492755" y="1828800"/>
            <a:ext cx="3206185" cy="1051560"/>
          </a:xfrm>
          <a:prstGeom prst="rect">
            <a:avLst/>
          </a:prstGeom>
        </p:spPr>
      </p:pic>
      <p:sp>
        <p:nvSpPr>
          <p:cNvPr id="6" name="Text 2"/>
          <p:cNvSpPr txBox="1"/>
          <p:nvPr/>
        </p:nvSpPr>
        <p:spPr>
          <a:xfrm>
            <a:off x="914400" y="301752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wherever a resource can move freely between two periods; g is the growth of what is carried over</a:t>
            </a:r>
            <a:endParaRPr lang="en-US" sz="1600" dirty="0"/>
          </a:p>
        </p:txBody>
      </p:sp>
      <p:sp>
        <p:nvSpPr>
          <p:cNvPr id="7" name="Bullets"/>
          <p:cNvSpPr txBox="1"/>
          <p:nvPr/>
        </p:nvSpPr>
        <p:spPr>
          <a:xfrm>
            <a:off x="914400" y="3611880"/>
            <a:ext cx="10362895" cy="256032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(i)</a:t>
            </a:r>
            <a:r>
              <a:rPr lang="en-US" sz="1700" dirty="0">
                <a:solidFill>
                  <a:schemeClr val="bg1"/>
                </a:solidFill>
              </a:rPr>
              <a:t> With the same concave value, use is smoothed when r = g, tilted toward the present when r &gt; g</a:t>
            </a:r>
            <a:endParaRPr lang="en-US" sz="1700" dirty="0"/>
          </a:p>
          <a:p>
            <a:pPr marL="228600" indent="-228600">
              <a:spcAft>
                <a:spcPts val="800"/>
              </a:spcAft>
              <a:buSzPct val="100000"/>
              <a:buChar char="•"/>
            </a:pPr>
            <a:r>
              <a:rPr lang="en-US" sz="1700" b="1" dirty="0">
                <a:solidFill>
                  <a:schemeClr val="bg1"/>
                </a:solidFill>
              </a:rPr>
              <a:t>(ii)</a:t>
            </a:r>
            <a:r>
              <a:rPr lang="en-US" sz="1700" dirty="0">
                <a:solidFill>
                  <a:schemeClr val="bg1"/>
                </a:solidFill>
              </a:rPr>
              <a:t> With linear value and r &gt; g, the resource is used as early as the commitments allow</a:t>
            </a:r>
            <a:endParaRPr lang="en-US" sz="1700" dirty="0"/>
          </a:p>
          <a:p>
            <a:pPr marL="228600" indent="-228600">
              <a:spcAft>
                <a:spcPts val="800"/>
              </a:spcAft>
              <a:buSzPct val="100000"/>
              <a:buChar char="•"/>
            </a:pPr>
            <a:r>
              <a:rPr lang="en-US" sz="1700" b="1" dirty="0">
                <a:solidFill>
                  <a:schemeClr val="bg1"/>
                </a:solidFill>
              </a:rPr>
              <a:t>(iii)</a:t>
            </a:r>
            <a:r>
              <a:rPr lang="en-US" sz="1700" dirty="0">
                <a:solidFill>
                  <a:schemeClr val="bg1"/>
                </a:solidFill>
              </a:rPr>
              <a:t> A commitment that binds between two periods breaks the equality by exactly its price</a:t>
            </a:r>
            <a:endParaRPr lang="en-US" sz="1700" dirty="0"/>
          </a:p>
          <a:p>
            <a:pPr marL="228600" indent="-228600">
              <a:spcAft>
                <a:spcPts val="800"/>
              </a:spcAft>
              <a:buSzPct val="100000"/>
              <a:buChar char="•"/>
            </a:pPr>
            <a:r>
              <a:rPr lang="en-US" sz="1700" dirty="0">
                <a:solidFill>
                  <a:schemeClr val="bg1"/>
                </a:solidFill>
              </a:rPr>
              <a:t>Meridian's cash earns nothing: pay out early and keep only the war chest; the same $455m paid at the end of year 6 is worth $73.6m less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§5.5 · THEOREM 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terminal value must stand for continuing</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(i) Exact.</a:t>
            </a:r>
            <a:r>
              <a:rPr lang="en-US" sz="1500" dirty="0">
                <a:solidFill>
                  <a:schemeClr val="tx1"/>
                </a:solidFill>
              </a:rPr>
              <a:t> With the true value of continuing, any horizon makes the long-run plan's decisions</a:t>
            </a:r>
            <a:endParaRPr lang="en-US" sz="1500" dirty="0"/>
          </a:p>
          <a:p>
            <a:pPr marL="228600" indent="-228600">
              <a:spcAft>
                <a:spcPts val="800"/>
              </a:spcAft>
              <a:buSzPct val="100000"/>
              <a:buChar char="•"/>
            </a:pPr>
            <a:r>
              <a:rPr lang="en-US" sz="1500" b="1" dirty="0">
                <a:solidFill>
                  <a:schemeClr val="tx1"/>
                </a:solidFill>
              </a:rPr>
              <a:t>(ii) Bounded.</a:t>
            </a:r>
            <a:r>
              <a:rPr lang="en-US" sz="1500" dirty="0">
                <a:solidFill>
                  <a:schemeClr val="tx1"/>
                </a:solidFill>
              </a:rPr>
              <a:t> Off by ε, it costs at most 2β</a:t>
            </a:r>
            <a:r>
              <a:rPr lang="en-US" sz="1500" baseline="30000" dirty="0">
                <a:solidFill>
                  <a:schemeClr val="tx1"/>
                </a:solidFill>
              </a:rPr>
              <a:t>T</a:t>
            </a:r>
            <a:r>
              <a:rPr lang="en-US" sz="1500" dirty="0">
                <a:solidFill>
                  <a:schemeClr val="tx1"/>
                </a:solidFill>
              </a:rPr>
              <a:t>ε</a:t>
            </a:r>
            <a:endParaRPr lang="en-US" sz="1500" dirty="0"/>
          </a:p>
          <a:p>
            <a:pPr marL="228600" indent="-228600">
              <a:spcAft>
                <a:spcPts val="800"/>
              </a:spcAft>
              <a:buSzPct val="100000"/>
              <a:buChar char="•"/>
            </a:pPr>
            <a:r>
              <a:rPr lang="en-US" sz="1500" b="1" dirty="0">
                <a:solidFill>
                  <a:schemeClr val="tx1"/>
                </a:solidFill>
              </a:rPr>
              <a:t>(iii) Zero.</a:t>
            </a:r>
            <a:r>
              <a:rPr lang="en-US" sz="1500" dirty="0">
                <a:solidFill>
                  <a:schemeClr val="tx1"/>
                </a:solidFill>
              </a:rPr>
              <a:t> Only payoffs inside the window count: the six-year plan drops round 3, </a:t>
            </a:r>
            <a:r>
              <a:rPr lang="en-US" sz="1500" b="1" dirty="0">
                <a:solidFill>
                  <a:schemeClr val="tx1"/>
                </a:solidFill>
              </a:rPr>
              <a:t>$45.1m</a:t>
            </a:r>
            <a:r>
              <a:rPr lang="en-US" sz="1500" dirty="0">
                <a:solidFill>
                  <a:schemeClr val="tx1"/>
                </a:solidFill>
              </a:rPr>
              <a:t> less</a:t>
            </a:r>
            <a:endParaRPr lang="en-US" sz="1500" dirty="0"/>
          </a:p>
          <a:p>
            <a:pPr marL="228600" indent="-228600">
              <a:spcAft>
                <a:spcPts val="800"/>
              </a:spcAft>
              <a:buSzPct val="100000"/>
              <a:buChar char="•"/>
            </a:pPr>
            <a:r>
              <a:rPr lang="en-US" sz="1500" dirty="0">
                <a:solidFill>
                  <a:schemeClr val="tx1"/>
                </a:solidFill>
              </a:rPr>
              <a:t>The window must reach </a:t>
            </a:r>
            <a:r>
              <a:rPr lang="en-US" sz="1500" b="1" dirty="0">
                <a:solidFill>
                  <a:schemeClr val="tx1"/>
                </a:solidFill>
              </a:rPr>
              <a:t>fifteen years</a:t>
            </a:r>
            <a:r>
              <a:rPr lang="en-US" sz="1500" dirty="0">
                <a:solidFill>
                  <a:schemeClr val="tx1"/>
                </a:solidFill>
              </a:rPr>
              <a:t> before the third round appears</a:t>
            </a:r>
            <a:endParaRPr lang="en-US" sz="1500" dirty="0"/>
          </a:p>
          <a:p>
            <a:pPr marL="228600" indent="-228600">
              <a:spcAft>
                <a:spcPts val="800"/>
              </a:spcAft>
              <a:buSzPct val="100000"/>
              <a:buChar char="•"/>
            </a:pPr>
            <a:r>
              <a:rPr lang="en-US" sz="1500" dirty="0">
                <a:solidFill>
                  <a:schemeClr val="tx1"/>
                </a:solidFill>
              </a:rPr>
              <a:t>Part I's credits were perpetuities: ten years at 10 percent, twenty at 5</a:t>
            </a:r>
            <a:endParaRPr lang="en-US" sz="1500" dirty="0"/>
          </a:p>
          <a:p>
            <a:pPr marL="228600" indent="-228600">
              <a:spcAft>
                <a:spcPts val="800"/>
              </a:spcAft>
              <a:buSzPct val="100000"/>
              <a:buChar char="•"/>
            </a:pPr>
            <a:r>
              <a:rPr lang="en-US" sz="1500" dirty="0">
                <a:solidFill>
                  <a:schemeClr val="tx1"/>
                </a:solidFill>
              </a:rPr>
              <a:t>The end condition costs </a:t>
            </a:r>
            <a:r>
              <a:rPr lang="en-US" sz="1500" b="1" dirty="0">
                <a:solidFill>
                  <a:schemeClr val="tx1"/>
                </a:solidFill>
              </a:rPr>
              <a:t>$67.7m</a:t>
            </a:r>
            <a:r>
              <a:rPr lang="en-US" sz="1500" dirty="0">
                <a:solidFill>
                  <a:schemeClr val="tx1"/>
                </a:solidFill>
              </a:rPr>
              <a:t> for a round the 10 percent rate rejects</a:t>
            </a:r>
            <a:endParaRPr lang="en-US" sz="1500" dirty="0"/>
          </a:p>
        </p:txBody>
      </p:sp>
      <p:pic>
        <p:nvPicPr>
          <p:cNvPr id="6" name="Figure" descr="Figure 5.2: horizon, terminal value, and discounting">    </p:cNvPr>
          <p:cNvPicPr>
            <a:picLocks noChangeAspect="1"/>
          </p:cNvPicPr>
          <p:nvPr/>
        </p:nvPicPr>
        <p:blipFill>
          <a:blip r:embed="rId1"/>
          <a:stretch>
            <a:fillRect/>
          </a:stretch>
        </p:blipFill>
        <p:spPr>
          <a:xfrm>
            <a:off x="5391174" y="2204879"/>
            <a:ext cx="6251881" cy="2887153"/>
          </a:xfrm>
          <a:prstGeom prst="rect">
            <a:avLst/>
          </a:prstGeom>
        </p:spPr>
      </p:pic>
      <p:sp>
        <p:nvSpPr>
          <p:cNvPr id="7" name="Caption"/>
          <p:cNvSpPr txBox="1"/>
          <p:nvPr/>
        </p:nvSpPr>
        <p:spPr>
          <a:xfrm>
            <a:off x="5391174" y="5165185"/>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5.2. (a) Rounds against the planning window at 10 percent. (b) Rounds against the hurdle rate: each further round pays only below about half the rate for the round before.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§5.6 · THEOREM 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When re-planning confirms the plan</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5.3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Plans and Rules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Every rule induces a plan with the same path and value, so the best plan is as good as the best rule</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Every best plan is time consistent</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Re-planning every period from where the company stands follows a best plan</a:t>
            </a:r>
            <a:endParaRPr lang="en-US" sz="1600" dirty="0"/>
          </a:p>
          <a:p>
            <a:pPr marL="228600" indent="-228600">
              <a:spcAft>
                <a:spcPts val="600"/>
              </a:spcAft>
              <a:buSzPct val="100000"/>
              <a:buChar char="•"/>
            </a:pPr>
            <a:r>
              <a:rPr lang="en-US" sz="1600" b="1" dirty="0">
                <a:solidFill>
                  <a:schemeClr val="tx1"/>
                </a:solidFill>
              </a:rPr>
              <a:t>(iv)</a:t>
            </a:r>
            <a:r>
              <a:rPr lang="en-US" sz="1600" dirty="0">
                <a:solidFill>
                  <a:schemeClr val="tx1"/>
                </a:solidFill>
              </a:rPr>
              <a:t> Re-planning can depart from every best plan when weights are not exponential, or a window ignores what follows it</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Plans and rules (Definition 5.2)</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a:t>
            </a:r>
            <a:r>
              <a:rPr lang="en-US" sz="1600" b="1" dirty="0">
                <a:solidFill>
                  <a:schemeClr val="tx1"/>
                </a:solidFill>
              </a:rPr>
              <a:t>plan</a:t>
            </a:r>
            <a:r>
              <a:rPr lang="en-US" sz="1600" dirty="0">
                <a:solidFill>
                  <a:schemeClr val="tx1"/>
                </a:solidFill>
              </a:rPr>
              <a:t> fixes decisions as functions of time; a </a:t>
            </a:r>
            <a:r>
              <a:rPr lang="en-US" sz="1600" b="1" dirty="0">
                <a:solidFill>
                  <a:schemeClr val="tx1"/>
                </a:solidFill>
              </a:rPr>
              <a:t>rule</a:t>
            </a:r>
            <a:r>
              <a:rPr lang="en-US" sz="1600" dirty="0">
                <a:solidFill>
                  <a:schemeClr val="tx1"/>
                </a:solidFill>
              </a:rPr>
              <a:t> as functions of the state</a:t>
            </a:r>
            <a:endParaRPr lang="en-US" sz="1600" dirty="0"/>
          </a:p>
          <a:p>
            <a:pPr marL="228600" indent="-228600">
              <a:spcAft>
                <a:spcPts val="800"/>
              </a:spcAft>
              <a:buSzPct val="100000"/>
              <a:buChar char="•"/>
            </a:pPr>
            <a:r>
              <a:rPr lang="en-US" sz="1600" dirty="0">
                <a:solidFill>
                  <a:schemeClr val="tx1"/>
                </a:solidFill>
              </a:rPr>
              <a:t>A best plan is </a:t>
            </a:r>
            <a:r>
              <a:rPr lang="en-US" sz="1600" b="1" dirty="0">
                <a:solidFill>
                  <a:schemeClr val="tx1"/>
                </a:solidFill>
              </a:rPr>
              <a:t>time consistent</a:t>
            </a:r>
            <a:r>
              <a:rPr lang="en-US" sz="1600" dirty="0">
                <a:solidFill>
                  <a:schemeClr val="tx1"/>
                </a:solidFill>
              </a:rPr>
              <a:t> if its rest stays best when the problem is posed afresh</a:t>
            </a:r>
            <a:endParaRPr lang="en-US" sz="1600" dirty="0"/>
          </a:p>
          <a:p>
            <a:pPr marL="228600" indent="-228600">
              <a:spcAft>
                <a:spcPts val="800"/>
              </a:spcAft>
              <a:buSzPct val="100000"/>
              <a:buChar char="•"/>
            </a:pPr>
            <a:r>
              <a:rPr lang="en-US" sz="1600" dirty="0">
                <a:solidFill>
                  <a:schemeClr val="tx1"/>
                </a:solidFill>
              </a:rPr>
              <a:t>With no news, re-planning confirms Meridian's three rounds in years 1 to 3</a:t>
            </a:r>
            <a:endParaRPr lang="en-US" sz="1600" dirty="0"/>
          </a:p>
          <a:p>
            <a:pPr marL="228600" indent="-228600">
              <a:spcAft>
                <a:spcPts val="800"/>
              </a:spcAft>
              <a:buSzPct val="100000"/>
              <a:buChar char="•"/>
            </a:pPr>
            <a:r>
              <a:rPr lang="en-US" sz="1600" dirty="0">
                <a:solidFill>
                  <a:schemeClr val="tx1"/>
                </a:solidFill>
              </a:rPr>
              <a:t>Rolling six-year windows without a terminal value never run the third round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§5.6 · AKERLOF'S BOX AT BOARD LEVEL</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present-biased board postpones every year</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$14.4m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lost by a board that weighs later years at 90 percent: the third round slips to year 6</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$102.4m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lost by a board at 60 percent: it completes only two rounds</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94.3%</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weight above which the board carries out the plan it approved</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A round's war chest is withheld from this year's payout while its savings come later, so a round always looks better a year on</a:t>
            </a:r>
            <a:endParaRPr lang="en-US" sz="1700" dirty="0"/>
          </a:p>
          <a:p>
            <a:pPr marL="228600" indent="-228600">
              <a:spcAft>
                <a:spcPts val="800"/>
              </a:spcAft>
              <a:buSzPct val="100000"/>
              <a:buChar char="•"/>
            </a:pPr>
            <a:r>
              <a:rPr lang="en-US" sz="1700" dirty="0">
                <a:solidFill>
                  <a:schemeClr val="tx1"/>
                </a:solidFill>
              </a:rPr>
              <a:t>The 90 percent board approves rounds in years 1 to 3, then moves the third to year 4, 5 and finally 6, where the end condition makes it hold the cash anyway</a:t>
            </a:r>
            <a:endParaRPr lang="en-US" sz="1700" dirty="0"/>
          </a:p>
          <a:p>
            <a:pPr marL="228600" indent="-228600">
              <a:spcAft>
                <a:spcPts val="800"/>
              </a:spcAft>
              <a:buSzPct val="100000"/>
              <a:buChar char="•"/>
            </a:pPr>
            <a:r>
              <a:rPr lang="en-US" sz="1700" dirty="0">
                <a:solidFill>
                  <a:schemeClr val="tx1"/>
                </a:solidFill>
              </a:rPr>
              <a:t>The repair is a commitment: approve the program as a whole, ring-fence its war chest, or contract the rounds in advance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When should Meridian pay its shareholders?</a:t>
            </a:r>
            <a:endParaRPr lang="en-US" sz="3200" dirty="0"/>
          </a:p>
        </p:txBody>
      </p:sp>
      <p:sp>
        <p:nvSpPr>
          <p:cNvPr id="5" name="Card"/>
          <p:cNvSpPr/>
          <p:nvPr/>
        </p:nvSpPr>
        <p:spPr>
          <a:xfrm>
            <a:off x="548640" y="1691640"/>
            <a:ext cx="3515258" cy="2514600"/>
          </a:xfrm>
          <a:prstGeom prst="roundRect">
            <a:avLst>
              <a:gd name="adj" fmla="val 2909"/>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7" name="Card head"/>
          <p:cNvSpPr txBox="1"/>
          <p:nvPr/>
        </p:nvSpPr>
        <p:spPr>
          <a:xfrm>
            <a:off x="731520"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Pay out everything above the floor?</a:t>
            </a:r>
            <a:endParaRPr lang="en-US" sz="1800" dirty="0"/>
          </a:p>
        </p:txBody>
      </p:sp>
      <p:sp>
        <p:nvSpPr>
          <p:cNvPr id="8" name="Card text"/>
          <p:cNvSpPr txBox="1"/>
          <p:nvPr/>
        </p:nvSpPr>
        <p:spPr>
          <a:xfrm>
            <a:off x="731520"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Every year, whatever cash exceeds the $350m floor.</a:t>
            </a:r>
            <a:endParaRPr lang="en-US" sz="1500" dirty="0"/>
          </a:p>
        </p:txBody>
      </p:sp>
      <p:sp>
        <p:nvSpPr>
          <p:cNvPr id="9" name="Card"/>
          <p:cNvSpPr/>
          <p:nvPr/>
        </p:nvSpPr>
        <p:spPr>
          <a:xfrm>
            <a:off x="4338218" y="1691640"/>
            <a:ext cx="3515258" cy="2514600"/>
          </a:xfrm>
          <a:prstGeom prst="roundRect">
            <a:avLst>
              <a:gd name="adj" fmla="val 2909"/>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board's declarations</a:t>
            </a:r>
            <a:endParaRPr lang="en-US" sz="1300" dirty="0"/>
          </a:p>
        </p:txBody>
      </p:sp>
      <p:sp>
        <p:nvSpPr>
          <p:cNvPr id="11" name="Card head"/>
          <p:cNvSpPr txBox="1"/>
          <p:nvPr/>
        </p:nvSpPr>
        <p:spPr>
          <a:xfrm>
            <a:off x="4521098"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Discount the payouts; value the savings forever</a:t>
            </a:r>
            <a:endParaRPr lang="en-US" sz="1800" dirty="0"/>
          </a:p>
        </p:txBody>
      </p:sp>
      <p:sp>
        <p:nvSpPr>
          <p:cNvPr id="12" name="Card text"/>
          <p:cNvSpPr txBox="1"/>
          <p:nvPr/>
        </p:nvSpPr>
        <p:spPr>
          <a:xfrm>
            <a:off x="4521098"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A 10 percent hurdle rate; the lines are maintained after year 6.</a:t>
            </a:r>
            <a:endParaRPr lang="en-US" sz="1500" dirty="0"/>
          </a:p>
        </p:txBody>
      </p:sp>
      <p:sp>
        <p:nvSpPr>
          <p:cNvPr id="13" name="Card"/>
          <p:cNvSpPr/>
          <p:nvPr/>
        </p:nvSpPr>
        <p:spPr>
          <a:xfrm>
            <a:off x="8127797" y="1691640"/>
            <a:ext cx="3515258" cy="2514600"/>
          </a:xfrm>
          <a:prstGeom prst="roundRect">
            <a:avLst>
              <a:gd name="adj" fmla="val 2909"/>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board's commitments</a:t>
            </a:r>
            <a:endParaRPr lang="en-US" sz="1300" dirty="0"/>
          </a:p>
        </p:txBody>
      </p:sp>
      <p:sp>
        <p:nvSpPr>
          <p:cNvPr id="15" name="Card head"/>
          <p:cNvSpPr txBox="1"/>
          <p:nvPr/>
        </p:nvSpPr>
        <p:spPr>
          <a:xfrm>
            <a:off x="8310677" y="2148840"/>
            <a:ext cx="3149498" cy="94183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Keep the floor and the end condition</a:t>
            </a:r>
            <a:endParaRPr lang="en-US" sz="1800" dirty="0"/>
          </a:p>
        </p:txBody>
      </p:sp>
      <p:sp>
        <p:nvSpPr>
          <p:cNvPr id="16" name="Card text"/>
          <p:cNvSpPr txBox="1"/>
          <p:nvPr/>
        </p:nvSpPr>
        <p:spPr>
          <a:xfrm>
            <a:off x="8310677" y="3163824"/>
            <a:ext cx="3149498" cy="914400"/>
          </a:xfrm>
          <a:prstGeom prst="rect">
            <a:avLst/>
          </a:prstGeom>
          <a:noFill/>
          <a:ln/>
        </p:spPr>
        <p:txBody>
          <a:bodyPr wrap="square" lIns="0" tIns="0" rIns="0" bIns="0" rtlCol="0" anchor="t"/>
          <a:lstStyle/>
          <a:p>
            <a:pPr indent="0" marL="0">
              <a:buNone/>
            </a:pPr>
            <a:r>
              <a:rPr lang="en-US" sz="1500" dirty="0">
                <a:solidFill>
                  <a:schemeClr val="bg2"/>
                </a:solidFill>
              </a:rPr>
              <a:t>$350m at every year end; $470m to start a round and at the end of year 6.</a:t>
            </a:r>
            <a:endParaRPr lang="en-US" sz="1500" dirty="0"/>
          </a:p>
        </p:txBody>
      </p:sp>
      <p:sp>
        <p:nvSpPr>
          <p:cNvPr id="17" name="Lead"/>
          <p:cNvSpPr txBox="1"/>
          <p:nvPr/>
        </p:nvSpPr>
        <p:spPr>
          <a:xfrm>
            <a:off x="548640" y="44805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Is the CFO's rule right? When, and how much, to pay? What do the commitments cost? Would it survive a shortfall?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the instance in time, then solve it</a:t>
            </a:r>
            <a:endParaRPr lang="en-US" sz="3200" dirty="0"/>
          </a:p>
        </p:txBody>
      </p:sp>
      <p:pic>
        <p:nvPicPr>
          <p:cNvPr id="5" name="Equation" descr="Equation: \max_{z,\,p}\;\sum_{k=1}^{6}\beta^{k}p_k+\beta^{6}\,\frac{S_6}{r}\qquad q_k = q_{k-1}-120\,z_k+S_k-p_k">    </p:cNvPr>
          <p:cNvPicPr>
            <a:picLocks noChangeAspect="1"/>
          </p:cNvPicPr>
          <p:nvPr/>
        </p:nvPicPr>
        <p:blipFill>
          <a:blip r:embed="rId1"/>
          <a:stretch>
            <a:fillRect/>
          </a:stretch>
        </p:blipFill>
        <p:spPr>
          <a:xfrm>
            <a:off x="2885212" y="1828800"/>
            <a:ext cx="6421272"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β = 1/1.1; a round costs $120m and closes half the gap to 85; savings are $10m a year a point</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state, cash and efficiency; floor $350m; $470m to start a round and to end year 6</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the CFO's rule stops the program after one round and misses the end condition; even waived, it is worth </a:t>
            </a:r>
            <a:r>
              <a:rPr lang="en-US" sz="1700" b="1" dirty="0">
                <a:solidFill>
                  <a:schemeClr val="bg1"/>
                </a:solidFill>
              </a:rPr>
              <a:t>$185.6m</a:t>
            </a:r>
            <a:r>
              <a:rPr lang="en-US" sz="1700" dirty="0">
                <a:solidFill>
                  <a:schemeClr val="bg1"/>
                </a:solidFill>
              </a:rPr>
              <a:t> less</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64 schedules of rounds, each with a linear payout program: rounds in years 1 to 3, worth </a:t>
            </a:r>
            <a:r>
              <a:rPr lang="en-US" sz="1700" b="1" dirty="0">
                <a:solidFill>
                  <a:schemeClr val="bg1"/>
                </a:solidFill>
              </a:rPr>
              <a:t>$1,021.9m</a:t>
            </a:r>
            <a:endParaRPr lang="en-US" sz="1700" dirty="0"/>
          </a:p>
          <a:p>
            <a:pPr marL="228600" indent="-228600">
              <a:spcAft>
                <a:spcPts val="800"/>
              </a:spcAft>
              <a:buSzPct val="100000"/>
              <a:buChar char="•"/>
            </a:pPr>
            <a:r>
              <a:rPr lang="en-US" sz="1700" b="1" dirty="0">
                <a:solidFill>
                  <a:schemeClr val="bg1"/>
                </a:solidFill>
              </a:rPr>
              <a:t>The plan:</a:t>
            </a:r>
            <a:r>
              <a:rPr lang="en-US" sz="1700" dirty="0">
                <a:solidFill>
                  <a:schemeClr val="bg1"/>
                </a:solidFill>
              </a:rPr>
              <a:t> pay out, every year, whatever exceeds a war chest: $485m, then $470m, the floor, and $470m at the end</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TABLE 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Pay above a war chest; keep every commitment</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283947"/>
                <a:gridCol w="1420085"/>
                <a:gridCol w="3283947"/>
                <a:gridCol w="1242575"/>
                <a:gridCol w="1863862"/>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Rounds (years)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Payouts, years 1–6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Commitments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CFO's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220, 70, 70, 70, 70, 70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836.36*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end missed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Best 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85, 0, 122.5, 122.5, 122.5, 2.5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1,021.93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kept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 terminal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100, 105, 105, 105, 90, 0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976.87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kept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Present-biased board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1, 2, 6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85, 105, 105, 105, 0, 2.5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1,007.55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kept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point short: Step 3's schedule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85, 0, 122.5, 122.5, 122.5, 2.5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floor, end breached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point short: war-chest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60, 0, 105, 105, 90, 0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853.73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kept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578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Value at 10 percent: payouts plus the year-6 savings forever, $ million, to the cent as in Online Appendix 5.B.3. *If the board waived its end condition. The present-biased board weighs later years at 90 percent.</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When each round falls a point short, the war-chest rule runs all three rounds; the schedule blocks the third.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STEP 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rule keeps commitments the schedule breaks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Each round may close a point less of the gap than planned (Volume I, Worked Example 6.1)</a:t>
            </a:r>
            <a:endParaRPr lang="en-US" sz="1600" dirty="0"/>
          </a:p>
          <a:p>
            <a:pPr marL="228600" indent="-228600">
              <a:spcAft>
                <a:spcPts val="800"/>
              </a:spcAft>
              <a:buSzPct val="100000"/>
              <a:buChar char="•"/>
            </a:pPr>
            <a:r>
              <a:rPr lang="en-US" sz="1600" dirty="0">
                <a:solidFill>
                  <a:schemeClr val="tx1"/>
                </a:solidFill>
              </a:rPr>
              <a:t>Paid regardless, Step 3's schedule leaves </a:t>
            </a:r>
            <a:r>
              <a:rPr lang="en-US" sz="1600" b="1" dirty="0">
                <a:solidFill>
                  <a:schemeClr val="tx1"/>
                </a:solidFill>
              </a:rPr>
              <a:t>$445m</a:t>
            </a:r>
            <a:r>
              <a:rPr lang="en-US" sz="1600" dirty="0">
                <a:solidFill>
                  <a:schemeClr val="tx1"/>
                </a:solidFill>
              </a:rPr>
              <a:t> at the end of year 2: the third round cannot start</a:t>
            </a:r>
            <a:endParaRPr lang="en-US" sz="1600" dirty="0"/>
          </a:p>
          <a:p>
            <a:pPr marL="228600" indent="-228600">
              <a:spcAft>
                <a:spcPts val="800"/>
              </a:spcAft>
              <a:buSzPct val="100000"/>
              <a:buChar char="•"/>
            </a:pPr>
            <a:r>
              <a:rPr lang="en-US" sz="1600" dirty="0">
                <a:solidFill>
                  <a:schemeClr val="tx1"/>
                </a:solidFill>
              </a:rPr>
              <a:t>The floor is then breached in year 5, and the end condition is missed</a:t>
            </a:r>
            <a:endParaRPr lang="en-US" sz="1600" dirty="0"/>
          </a:p>
          <a:p>
            <a:pPr marL="228600" indent="-228600">
              <a:spcAft>
                <a:spcPts val="800"/>
              </a:spcAft>
              <a:buSzPct val="100000"/>
              <a:buChar char="•"/>
            </a:pPr>
            <a:r>
              <a:rPr lang="en-US" sz="1600" dirty="0">
                <a:solidFill>
                  <a:schemeClr val="tx1"/>
                </a:solidFill>
              </a:rPr>
              <a:t>The war-chest rule recomputes the war chest every year end and pays out the rest</a:t>
            </a:r>
            <a:endParaRPr lang="en-US" sz="1600" dirty="0"/>
          </a:p>
          <a:p>
            <a:pPr marL="228600" indent="-228600">
              <a:spcAft>
                <a:spcPts val="800"/>
              </a:spcAft>
              <a:buSzPct val="100000"/>
              <a:buChar char="•"/>
            </a:pPr>
            <a:r>
              <a:rPr lang="en-US" sz="1600" dirty="0">
                <a:solidFill>
                  <a:schemeClr val="tx1"/>
                </a:solidFill>
              </a:rPr>
              <a:t>It runs all three rounds, worth </a:t>
            </a:r>
            <a:r>
              <a:rPr lang="en-US" sz="1600" b="1" dirty="0">
                <a:solidFill>
                  <a:schemeClr val="tx1"/>
                </a:solidFill>
              </a:rPr>
              <a:t>$853.7m</a:t>
            </a:r>
            <a:r>
              <a:rPr lang="en-US" sz="1600" dirty="0">
                <a:solidFill>
                  <a:schemeClr val="tx1"/>
                </a:solidFill>
              </a:rPr>
              <a:t>: the best plan had the shortfall been known</a:t>
            </a:r>
            <a:endParaRPr lang="en-US" sz="1600" dirty="0"/>
          </a:p>
        </p:txBody>
      </p:sp>
      <p:pic>
        <p:nvPicPr>
          <p:cNvPr id="6" name="Figure" descr="Figure 5.3: year-end cash under four payout plans">    </p:cNvPr>
          <p:cNvPicPr>
            <a:picLocks noChangeAspect="1"/>
          </p:cNvPicPr>
          <p:nvPr/>
        </p:nvPicPr>
        <p:blipFill>
          <a:blip r:embed="rId1"/>
          <a:stretch>
            <a:fillRect/>
          </a:stretch>
        </p:blipFill>
        <p:spPr>
          <a:xfrm>
            <a:off x="5391174" y="2150610"/>
            <a:ext cx="6251881" cy="2995693"/>
          </a:xfrm>
          <a:prstGeom prst="rect">
            <a:avLst/>
          </a:prstGeom>
        </p:spPr>
      </p:pic>
      <p:sp>
        <p:nvSpPr>
          <p:cNvPr id="7" name="Caption"/>
          <p:cNvSpPr txBox="1"/>
          <p:nvPr/>
        </p:nvSpPr>
        <p:spPr>
          <a:xfrm>
            <a:off x="5391174" y="521945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5.3. Year-end cash, $ million. (a) The CFO's rule against the best plan. (b) Each round a point short: Step 3's schedule against the war-chest rule; crosses mark breaches.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Pay out early, but only above the war chest</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3800" b="1" dirty="0">
                <a:solidFill>
                  <a:schemeClr val="accent1"/>
                </a:solidFill>
                <a:latin typeface="Cambria" pitchFamily="34" charset="0"/>
                <a:ea typeface="Cambria" pitchFamily="34" charset="-122"/>
                <a:cs typeface="Cambria" pitchFamily="34" charset="-120"/>
              </a:rPr>
              <a:t>$1,021.9m</a:t>
            </a:r>
            <a:endParaRPr lang="en-US" sz="38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pay out everything above a war chest recomputed every year</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$73.6m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what paying early adds, against paying the same $455m at the end of year 6</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$67.7m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end condition's cost, for a round the board's own hurdle rate rejects</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Discounting makes the timing of payouts a decision; the CFO's rule pays out the program's future</a:t>
            </a:r>
            <a:endParaRPr lang="en-US" sz="1700" dirty="0"/>
          </a:p>
          <a:p>
            <a:pPr marL="228600" indent="-228600">
              <a:spcAft>
                <a:spcPts val="800"/>
              </a:spcAft>
              <a:buSzPct val="100000"/>
              <a:buChar char="•"/>
            </a:pPr>
            <a:r>
              <a:rPr lang="en-US" sz="1700" dirty="0">
                <a:solidFill>
                  <a:schemeClr val="tx1"/>
                </a:solidFill>
              </a:rPr>
              <a:t>Lower the end condition to the floor, or justify it by something the terminal value misses</a:t>
            </a:r>
            <a:endParaRPr lang="en-US" sz="1700" dirty="0"/>
          </a:p>
          <a:p>
            <a:pPr marL="228600" indent="-228600">
              <a:spcAft>
                <a:spcPts val="800"/>
              </a:spcAft>
              <a:buSzPct val="100000"/>
              <a:buChar char="•"/>
            </a:pPr>
            <a:r>
              <a:rPr lang="en-US" sz="1700" dirty="0">
                <a:solidFill>
                  <a:schemeClr val="tx1"/>
                </a:solidFill>
              </a:rPr>
              <a:t>For discussion: if the hurdle rate rose with financial conditions, how would the war chest and the number of rounds move?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2.5 · MODULE AXIOM-05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Planning over time,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has asked when the automation program's cash should go to shareholders. The CFO favors paying out everything above the floor; the program office wants cash held for the rounds. Open AXIOM, choose Lab 2.5 and load the Meridian automation instance.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Simulate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CFO's rule and the war-chest rule; watch cash against the floor and the $470m line.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Transcribe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Transcribe the six years and hand the program to the AXIOM-04 solvers; record the best plan.</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Read the prices of cash and efficiency by year; check two by perturbing the instance.</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Move the horizon and the rate</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Vary the hurdle rate from 3 to 30 percent, switch the terminal value, lengthen the window.</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Stress</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Make each round a point short; run Step 3's schedule and the war-chest rule side by side.</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recommending a payout rule, with its value, the war chest by year, the price of the end condition, and the plan's behavior when the rounds fall short.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Time adds stocks, delays, and commitments on whole paths; deciding period by period ignores them and can break commitments or lose any share of the value.</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dynamic instance declares its period, its discount, and its terminal value as well as its dynamics and commitments (Definition 5.1); a best plan exists under compactness, and in continuous time under convexity in the decisions.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Transcription turns the path into one program: a calendar's value is a floor that rises as the calendar is refined, and the multipliers of the dynamics are the prices of stocks over time (Theorem 5.1); at a best plan discounted marginal values are equal wherever a resource can move.</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terminal value must stand for the value of continuing: without it a plan runs the company down, and an end condition must agree with it.</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With exponential discounting re-planning confirms the best plan; present bias and windows without terminal values reverse it (Theorem 5.3); and when the forecast fails, a rule keeps commitments that a schedule breaks.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36</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46</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26205</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AXIOM-05, AXIOM-04</a:t>
            </a:r>
            <a:endParaRPr lang="en-US" sz="22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2.5</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DCT_V2_Ch05_Lab.ipynb: Worked Example 5.1 and the lab's five steps in six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DCT_V2_Ch05_Lab.xlsx: all 64 schedules with their war chests, the prices, horizons and rates, re-planning and the shortfall,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6 lets the reviews come continuously</a:t>
            </a:r>
            <a:endParaRPr lang="en-US" sz="3200" dirty="0"/>
          </a:p>
        </p:txBody>
      </p:sp>
      <p:pic>
        <p:nvPicPr>
          <p:cNvPr id="5" name="Equation" descr="Equation: H \;=\; \ell(x,u,t) \;+\; \lambda^{\top} f(x,u,t), \qquad u^{*}(t) \in \arg\max_{u \in U} H">    </p:cNvPr>
          <p:cNvPicPr>
            <a:picLocks noChangeAspect="1"/>
          </p:cNvPicPr>
          <p:nvPr/>
        </p:nvPicPr>
        <p:blipFill>
          <a:blip r:embed="rId1"/>
          <a:stretch>
            <a:fillRect/>
          </a:stretch>
        </p:blipFill>
        <p:spPr>
          <a:xfrm>
            <a:off x="1629056" y="1691640"/>
            <a:ext cx="8933584" cy="868680"/>
          </a:xfrm>
          <a:prstGeom prst="rect">
            <a:avLst/>
          </a:prstGeom>
        </p:spPr>
      </p:pic>
      <p:sp>
        <p:nvSpPr>
          <p:cNvPr id="6" name="Bullets"/>
          <p:cNvSpPr txBox="1"/>
          <p:nvPr/>
        </p:nvSpPr>
        <p:spPr>
          <a:xfrm>
            <a:off x="548640" y="2880360"/>
            <a:ext cx="11094415" cy="32918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Let the review dates come together and this chapter's prices become the costates of optimal control</a:t>
            </a:r>
            <a:endParaRPr lang="en-US" sz="1800" dirty="0"/>
          </a:p>
          <a:p>
            <a:pPr marL="228600" indent="-228600">
              <a:spcAft>
                <a:spcPts val="800"/>
              </a:spcAft>
              <a:buSzPct val="100000"/>
              <a:buChar char="•"/>
            </a:pPr>
            <a:r>
              <a:rPr lang="en-US" sz="1800" dirty="0">
                <a:solidFill>
                  <a:schemeClr val="bg1"/>
                </a:solidFill>
              </a:rPr>
              <a:t>One rule replaces the whole program: at every moment, maximize the Hamiltonian, the value earned now plus the value banked in the stocks at their prices</a:t>
            </a:r>
            <a:endParaRPr lang="en-US" sz="1800" dirty="0"/>
          </a:p>
          <a:p>
            <a:pPr marL="228600" indent="-228600">
              <a:spcAft>
                <a:spcPts val="800"/>
              </a:spcAft>
              <a:buSzPct val="100000"/>
              <a:buChar char="•"/>
            </a:pPr>
            <a:r>
              <a:rPr lang="en-US" sz="1800" dirty="0">
                <a:solidFill>
                  <a:schemeClr val="bg1"/>
                </a:solidFill>
              </a:rPr>
              <a:t>Chapter 6 proves Pontryagin's maximum principle and asks what Meridian's engineering team is worth</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5: Dynamic Enterprise Optimization</dc:title>
  <dc:subject>Slides for Volume II, Chapter 5 (V56)</dc:subject>
  <dc:creator>Samir Asaf</dc:creator>
  <cp:lastModifiedBy>Samir Asaf</cp:lastModifiedBy>
  <cp:revision>1</cp:revision>
  <dcterms:created xsi:type="dcterms:W3CDTF">2026-10-05T09:46:58Z</dcterms:created>
  <dcterms:modified xsi:type="dcterms:W3CDTF">2026-10-05T09:46:58Z</dcterms:modified>
</cp:coreProperties>
</file>