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a0c3b66d-203d-3b39-73c3-ec9b26a80f52}">
          <p14:sldIdLst>
            <p14:sldId id="256"/>
            <p14:sldId id="257"/>
            <p14:sldId id="258"/>
            <p14:sldId id="259"/>
          </p14:sldIdLst>
        </p14:section>
        <p14:section name="5.1 What Time Adds" id="{0d564c07-ae50-594b-3ea8-0f98c1ed87da}">
          <p14:sldIdLst>
            <p14:sldId id="260"/>
            <p14:sldId id="261"/>
          </p14:sldIdLst>
        </p14:section>
        <p14:section name="5.2 Dynamic Instances" id="{b139b1bc-d951-4ca1-9d94-a4eff876da7e}">
          <p14:sldIdLst>
            <p14:sldId id="262"/>
            <p14:sldId id="263"/>
          </p14:sldIdLst>
        </p14:section>
        <p14:section name="5.3 Transcription" id="{b715f1a1-f1e9-1902-aca3-2a334936feec}">
          <p14:sldIdLst>
            <p14:sldId id="264"/>
            <p14:sldId id="265"/>
          </p14:sldIdLst>
        </p14:section>
        <p14:section name="5.4 Prices over Time" id="{5b06543e-1d9f-a1b5-5a05-ff311f6d837d}">
          <p14:sldIdLst>
            <p14:sldId id="266"/>
            <p14:sldId id="267"/>
          </p14:sldIdLst>
        </p14:section>
        <p14:section name="5.5 Horizons and Terminal Values" id="{495e00ef-8cca-1ad6-7e9a-064d2b988929}">
          <p14:sldIdLst>
            <p14:sldId id="268"/>
          </p14:sldIdLst>
        </p14:section>
        <p14:section name="5.6 Plans, Rules, and Re-planning" id="{1abed9d1-15e1-b2c1-6367-24ae77d27441}">
          <p14:sldIdLst>
            <p14:sldId id="269"/>
            <p14:sldId id="270"/>
          </p14:sldIdLst>
        </p14:section>
        <p14:section name="Worked Example 5.1" id="{39ee31ed-cf17-dadf-186e-65d59cb258ab}">
          <p14:sldIdLst>
            <p14:sldId id="271"/>
            <p14:sldId id="272"/>
            <p14:sldId id="273"/>
            <p14:sldId id="274"/>
            <p14:sldId id="275"/>
          </p14:sldIdLst>
        </p14:section>
        <p14:section name="In Practice" id="{54e25bf4-21b6-a397-1b6c-37ee5cf8a8fd}">
          <p14:sldIdLst>
            <p14:sldId id="276"/>
          </p14:sldIdLst>
        </p14:section>
        <p14:section name="AXIOM Lab 2.5" id="{a6498945-9d29-0fb2-551e-67adf8ef3cea}">
          <p14:sldIdLst>
            <p14:sldId id="277"/>
          </p14:sldIdLst>
        </p14:section>
        <p14:section name="Close" id="{ee945344-675a-83c5-248e-772977dde666}">
          <p14:sldIdLst>
            <p14:sldId id="278"/>
            <p14:sldId id="279"/>
            <p14:sldId id="28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F1E3D"/>
                </a:solidFill>
                <a:latin typeface="+mn-lt"/>
              </a:defRPr>
            </a:pPr>
            <a:r>
              <a:rPr sz="1400" b="0" i="0" u="none" strike="noStrike">
                <a:solidFill>
                  <a:srgbClr val="0F1E3D"/>
                </a:solidFill>
                <a:latin typeface="+mn-lt"/>
              </a:rPr>
              <a:t>Price today of one more dollar of cash at each year end</a:t>
            </a:r>
          </a:p>
        </c:rich>
      </c:tx>
      <c:layout/>
      <c:overlay val="0"/>
    </c:title>
    <c:autoTitleDeleted val="0"/>
    <c:plotArea>
      <c:layout/>
      <c:barChart>
        <c:barDir val="col"/>
        <c:grouping val="clustered"/>
        <c:varyColors val="0"/>
        <c:ser>
          <c:idx val="0"/>
          <c:order val="0"/>
          <c:tx>
            <c:strRef>
              <c:f>Sheet1!$B$1</c:f>
              <c:strCache>
                <c:ptCount val="1"/>
                <c:pt idx="0">
                  <c:v>Price of cash</c:v>
                </c:pt>
              </c:strCache>
            </c:strRef>
          </c:tx>
          <c:spPr>
            <a:solidFill>
              <a:srgbClr val="2F6F6B"/>
            </a:solidFill>
            <a:effectLst/>
          </c:spPr>
          <c:invertIfNegative val="0"/>
          <c:dLbls>
            <c:numFmt formatCode="0.00" sourceLinked="0"/>
            <c:txPr>
              <a:bodyPr/>
              <a:lstStyle/>
              <a:p>
                <a:pPr>
                  <a:defRPr b="0" i="0" strike="noStrike" sz="1300" u="none">
                    <a:solidFill>
                      <a:srgbClr val="0F1E3D"/>
                    </a:solidFill>
                    <a:latin typeface="+mn-lt"/>
                  </a:defRPr>
                </a:pPr>
              </a:p>
            </c:txPr>
            <c:showLegendKey val="0"/>
            <c:showVal val="1"/>
            <c:showCatName val="0"/>
            <c:showSerName val="0"/>
            <c:showPercent val="0"/>
            <c:showBubbleSize val="0"/>
            <c:showLeaderLines val="0"/>
          </c:dLbls>
          <c:cat>
            <c:multiLvlStrRef>
              <c:f>Sheet1!$A$2:$A$7</c:f>
              <c:multiLvlStrCache>
                <c:ptCount val="6"/>
                <c:lvl>
                  <c:pt idx="0">
                    <c:v>Year 1</c:v>
                  </c:pt>
                  <c:pt idx="1">
                    <c:v>Year 2</c:v>
                  </c:pt>
                  <c:pt idx="2">
                    <c:v>Year 3</c:v>
                  </c:pt>
                  <c:pt idx="3">
                    <c:v>Year 4</c:v>
                  </c:pt>
                  <c:pt idx="4">
                    <c:v>Year 5</c:v>
                  </c:pt>
                  <c:pt idx="5">
                    <c:v>Year 6</c:v>
                  </c:pt>
                </c:lvl>
              </c:multiLvlStrCache>
            </c:multiLvlStrRef>
          </c:cat>
          <c:val>
            <c:numRef>
              <c:f>Sheet1!$B$2:$B$7</c:f>
              <c:numCache>
                <c:formatCode>General</c:formatCode>
                <c:ptCount val="6"/>
                <c:pt idx="0">
                  <c:v>0.9091</c:v>
                </c:pt>
                <c:pt idx="1">
                  <c:v>0.9091</c:v>
                </c:pt>
                <c:pt idx="2">
                  <c:v>0.7513</c:v>
                </c:pt>
                <c:pt idx="3">
                  <c:v>0.683</c:v>
                </c:pt>
                <c:pt idx="4">
                  <c:v>0.6209</c:v>
                </c:pt>
                <c:pt idx="5">
                  <c:v>0.5645</c:v>
                </c:pt>
              </c:numCache>
            </c:numRef>
          </c:val>
        </c:ser>
        <c:dLbls>
          <c:numFmt formatCode="0.00" sourceLinked="0"/>
          <c:txPr>
            <a:bodyPr/>
            <a:lstStyle/>
            <a:p>
              <a:pPr>
                <a:defRPr b="0" i="0" strike="noStrike" sz="1300" u="none">
                  <a:solidFill>
                    <a:srgbClr val="0F1E3D"/>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5A6B82"/>
                </a:solidFill>
                <a:latin typeface="+mn-lt"/>
              </a:defRPr>
            </a:pPr>
            <a:endParaRPr lang="en-US"/>
          </a:p>
        </c:txPr>
        <c:crossAx val="2094734552"/>
        <c:crosses val="autoZero"/>
        <c:auto val="1"/>
        <c:lblAlgn val="ctr"/>
        <c:noMultiLvlLbl val="1"/>
      </c:catAx>
      <c:valAx>
        <c:axId val="2094734552"/>
        <c:scaling>
          <c:orientation val="minMax"/>
          <c:max val="1"/>
        </c:scaling>
        <c:delete val="0"/>
        <c:axPos val="l"/>
        <c:majorGridlines>
          <c:spPr>
            <a:ln w="6350" cap="flat">
              <a:solidFill>
                <a:srgbClr val="E3E7EE"/>
              </a:solidFill>
              <a:prstDash val="solid"/>
              <a:round/>
            </a:ln>
          </c:spPr>
        </c:majorGridlines>
        <c:numFmt formatCode="0.0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A6B82"/>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Volume II, Chapter 5, opens Part II. Part I chose Meridian's plans as single decisions; time changes the problem in three ways: decisions build stocks that later years inherit, payoffs arrive later than costs, and commitments must hold on every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Akerlof's procrastination, at board level: a board that weighs this year above all later years means to act next year, every year (Section 5.6, Theorem 5.3(iv)).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learning outcome statements; LOS Guidance at the end of the chapter.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Formal statements and proofs of Theorems 5.1-5.3 are in Appendix 5.A; Propositions 5.1-5.3 in Online Appendix 5.B, with Worked Example 5.1 in numbers (Example 5.B.3).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5.1. Stocks: decisions move quantities that persist, so a decision is worth what it leaves to later periods. Delays: an automation round costs $120 million in its year and saves for every year after. Commitments: a floor every year, cash before a round, an end condition.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Proposition 5.1; formal statement and proof in Online Appendix 5.B. The CFO's rule is Worked Example 5.1, Step 2. Part (iii) names the repair, Theorem 5.1(iii).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 5.1 and Proposition 5.2. Three declarations are new relative to Part I: the period, the discount, and the terminal value. Leaving the terminal value implicit declares it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5.2. Commitments take more forms over time than at one date. Proposition 5.2(iii): a lever that can only run flat out or stand idle can approach half speed by alternating ever faster, a value no plan attains.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5.1; formal statement and proof in Appendix 5.A. The multipliers are Volume I's costates (Volume I, Theorem 15.4(ii)). The simultaneous form is large but sparse: each equation touches only two consecutive dates.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5.1, the transcribed program (Theorem 5.1(iii)). Under the year-1 and year-2 states, the war chest: the cash held for the rounds still to 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5.4 and Figure 5.1's price row. Each binding floor in years 3 to 5 costs about $0.06 a dollar, one year of discounting. A point in year 1 is worth less because the two later rounds would have closed half of it each. Online Appendix 5.B.3 lists every price.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Proposition 5.3, equation (5.3); proof in Online Appendix 5.B. Ramsey's rule for saving, Hotelling's for exhaustible resources, the economist's Euler equation. Smoothing payouts is worth something only if shareholders value steady payouts above early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5.2; formal statement and proof in Appendix 5.A. A lower hurdle rate buys more rounds: four at 5 percent, matching Chapter 4's twenty years of credit; the third round pays only below about 14.5 percent, the fourth below 7.3, the fifth below 3.6.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 5.2 and Theorem 5.3; formal statement and proof in Appendix 5.A. The theorem is deterministic: when the future is uncertain, a rule can use information that a plan cannot, and the difference is the value of information (Volume I, Theorem 15.4(iii)).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5.6 and Theorem 5.3(iv). Shareholders discount at 10 percent throughout. The plans the 90 percent board makes at each date are in Online Appendix 5.B.3; the plan it carries out is Table 5.3's present-biased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5.1, the situation. Worked Examples 2.1 and 3.1 settled the program: three rounds, in years 1 to 3, with ten years of the year-6 savings credited and every amount undiscounted.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5.1, Steps 1-3. At 10 percent the perpetuity is ten years of the year-6 savings, the credit Part I used, so Part I's answer is this instance with the discounting removed. The value is $330.5m of payouts and $691.5m of savings after year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5.3. The CFO's rule pays out the program's future; a plan without a terminal value runs the company down; a present-biased board postpones the third round; and when the rounds fall short the schedule breaches the floor and the end condition.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5.1, Step 6, and Theorem 5.3 with its scope note. The war-chest rule pays $60m, 0, 105, 105, 90 and 0 million. A schedule is only as good as its forecast.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5.1, what the board should take away, and the discussion questions. What would have to be true of Meridian's shareholders for the CFO's old pledge to pay out half of each year's savings to be worth keeping?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Practice, Chapter 5: Zara Re-plans Its Clearance Every Week. A real organization's decision of this chapter's kind, told from its published record; every figure is cited in the book. The lesson for Meridian: Re-planning from the measured state is a rule, and a terminal value says what the leftover stock is worth. Sources: Caro and Gallien (2011, 2012), Operations Research; Carboni Borrasé (2009), MIT thesis; Caro, Babio and Peña (2019).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AXIOM Lab 2.5. What to look for: a myopic rule that stops the program; a transcription whose multipliers are the prices of cash and efficiency; a war chest that front-loads payouts; rounds that appear and disappear with the horizon and the rate; a rule that survives the shortfall that breaks the schedule.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Takeaways, Chapter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notebook and workbook are on the course website, www.dynamiccorporatetransformation.com.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6, Optimal Control of Enterprise Systems, develops the repair of myopia that Theorem 5.1(iii) names: the maximum principle.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CT Title">
    <p:bg>
      <p:bgPr>
        <a:solidFill>
          <a:srgbClr val="0F1E3D"/>
        </a:solidFill>
      </p:bgPr>
    </p:bg>
    <p:spTree>
      <p:nvGrpSpPr>
        <p:cNvPr id="1" name=""/>
        <p:cNvGrpSpPr/>
        <p:nvPr/>
      </p:nvGrpSpPr>
      <p:grpSpPr>
        <a:xfrm>
          <a:off x="0" y="0"/>
          <a:ext cx="0" cy="0"/>
          <a:chOff x="0" y="0"/>
          <a:chExt cx="0" cy="0"/>
        </a:xfrm>
      </p:grpSpPr>
      <p:pic>
        <p:nvPicPr>
          <p:cNvPr id="2" name="Image 0" descr="/home/claude/pixel-perfect-show-8533/public/brand/dct-logo-dark.png">    </p:cNvPr>
          <p:cNvPicPr>
            <a:picLocks noChangeAspect="1"/>
          </p:cNvPicPr>
          <p:nvPr/>
        </p:nvPicPr>
        <p:blipFill>
          <a:blip r:embed="rId1"/>
          <a:stretch>
            <a:fillRect/>
          </a:stretch>
        </p:blipFill>
        <p:spPr>
          <a:xfrm>
            <a:off x="731520" y="640080"/>
            <a:ext cx="4389120" cy="363931"/>
          </a:xfrm>
          <a:prstGeom prst="rect">
            <a:avLst/>
          </a:prstGeom>
        </p:spPr>
      </p:pic>
      <p:sp>
        <p:nvSpPr>
          <p:cNvPr id="3" name="Text 0"/>
          <p:cNvSpPr/>
          <p:nvPr>
            <p:ph idx="101" type="body" hasCustomPrompt="1"/>
          </p:nvPr>
        </p:nvSpPr>
        <p:spPr>
          <a:xfrm>
            <a:off x="731520" y="1874520"/>
            <a:ext cx="10607040" cy="411480"/>
          </a:xfrm>
          <a:prstGeom prst="rect">
            <a:avLst/>
          </a:prstGeom>
          <a:noFill/>
          <a:ln/>
        </p:spPr>
        <p:txBody>
          <a:bodyPr wrap="square" rtlCol="0"/>
          <a:lstStyle>
            <a:lvl1pPr indent="0" marL="0">
              <a:buNone/>
              <a:defRPr lang="en-US" sz="1500" b="1" spc="300" kern="0" dirty="0">
                <a:solidFill>
                  <a:schemeClr val="accent1"/>
                </a:solidFill>
              </a:defRPr>
            </a:lvl1pPr>
          </a:lstStyle>
          <a:p>
            <a:pPr indent="0" marL="0">
              <a:buNone/>
            </a:pPr>
            <a:endParaRPr lang="en-US" sz="1500" dirty="0"/>
          </a:p>
        </p:txBody>
      </p:sp>
      <p:sp>
        <p:nvSpPr>
          <p:cNvPr id="4" name="Text 0"/>
          <p:cNvSpPr/>
          <p:nvPr>
            <p:ph idx="102" type="title" hasCustomPrompt="1"/>
          </p:nvPr>
        </p:nvSpPr>
        <p:spPr>
          <a:xfrm>
            <a:off x="731520" y="2331720"/>
            <a:ext cx="10607040" cy="1737360"/>
          </a:xfrm>
          <a:prstGeom prst="rect">
            <a:avLst/>
          </a:prstGeom>
          <a:noFill/>
          <a:ln/>
        </p:spPr>
        <p:txBody>
          <a:bodyPr wrap="square" rtlCol="0"/>
          <a:lstStyle>
            <a:lvl1pPr algn="l" indent="0" marL="0">
              <a:buNone/>
              <a:defRPr lang="en-US" sz="44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5" name="Text 0"/>
          <p:cNvSpPr/>
          <p:nvPr>
            <p:ph idx="103" type="body" hasCustomPrompt="1"/>
          </p:nvPr>
        </p:nvSpPr>
        <p:spPr>
          <a:xfrm>
            <a:off x="731520" y="4160520"/>
            <a:ext cx="10241280" cy="914400"/>
          </a:xfrm>
          <a:prstGeom prst="rect">
            <a:avLst/>
          </a:prstGeom>
          <a:noFill/>
          <a:ln/>
        </p:spPr>
        <p:txBody>
          <a:bodyPr wrap="square" rtlCol="0"/>
          <a:lstStyle>
            <a:lvl1pPr indent="0" marL="0">
              <a:buNone/>
              <a:defRPr lang="en-US" sz="2000" dirty="0">
                <a:solidFill>
                  <a:schemeClr val="bg2"/>
                </a:solidFill>
              </a:defRPr>
            </a:lvl1pPr>
          </a:lstStyle>
          <a:p>
            <a:pPr indent="0" marL="0">
              <a:buNone/>
            </a:pPr>
            <a:endParaRPr lang="en-US" sz="2000" dirty="0"/>
          </a:p>
        </p:txBody>
      </p:sp>
      <p:sp>
        <p:nvSpPr>
          <p:cNvPr id="6" name="Text 0"/>
          <p:cNvSpPr/>
          <p:nvPr>
            <p:ph idx="104" type="body" hasCustomPrompt="1"/>
          </p:nvPr>
        </p:nvSpPr>
        <p:spPr>
          <a:xfrm>
            <a:off x="731520" y="5897880"/>
            <a:ext cx="10607040" cy="365760"/>
          </a:xfrm>
          <a:prstGeom prst="rect">
            <a:avLst/>
          </a:prstGeom>
          <a:noFill/>
          <a:ln/>
        </p:spPr>
        <p:txBody>
          <a:bodyPr wrap="square" rtlCol="0"/>
          <a:lstStyle>
            <a:lvl1pPr indent="0" marL="0">
              <a:buNone/>
              <a:defRPr lang="en-US" sz="1200" dirty="0">
                <a:solidFill>
                  <a:schemeClr val="accent4"/>
                </a:solidFill>
              </a:defRPr>
            </a:lvl1pPr>
          </a:lstStyle>
          <a:p>
            <a:pPr indent="0" marL="0">
              <a:buNone/>
            </a:pP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CT Quote">
    <p:bg>
      <p:bgPr>
        <a:solidFill>
          <a:srgbClr val="0F1E3D"/>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1280160" y="1371600"/>
            <a:ext cx="9601200" cy="3017520"/>
          </a:xfrm>
          <a:prstGeom prst="rect">
            <a:avLst/>
          </a:prstGeom>
          <a:noFill/>
          <a:ln/>
        </p:spPr>
        <p:txBody>
          <a:bodyPr wrap="square" rtlCol="0"/>
          <a:lstStyle>
            <a:lvl1pPr indent="0" marL="0">
              <a:buNone/>
              <a:defRPr lang="en-US" sz="3000" i="1" dirty="0">
                <a:solidFill>
                  <a:schemeClr val="bg1"/>
                </a:solidFill>
                <a:latin typeface="Cambria" pitchFamily="34" charset="0"/>
                <a:ea typeface="Cambria" pitchFamily="34" charset="-122"/>
                <a:cs typeface="Cambria" pitchFamily="34" charset="-120"/>
              </a:defRPr>
            </a:lvl1pPr>
          </a:lstStyle>
          <a:p>
            <a:pPr indent="0" marL="0">
              <a:buNone/>
            </a:pPr>
            <a:endParaRPr lang="en-US" sz="3000" dirty="0"/>
          </a:p>
        </p:txBody>
      </p:sp>
      <p:sp>
        <p:nvSpPr>
          <p:cNvPr id="3" name="Text 0"/>
          <p:cNvSpPr/>
          <p:nvPr>
            <p:ph idx="101" type="body" hasCustomPrompt="1"/>
          </p:nvPr>
        </p:nvSpPr>
        <p:spPr>
          <a:xfrm>
            <a:off x="1280160" y="4617720"/>
            <a:ext cx="9601200" cy="457200"/>
          </a:xfrm>
          <a:prstGeom prst="rect">
            <a:avLst/>
          </a:prstGeom>
          <a:noFill/>
          <a:ln/>
        </p:spPr>
        <p:txBody>
          <a:bodyPr wrap="square" rtlCol="0"/>
          <a:lstStyle>
            <a:lvl1pPr indent="0" marL="0">
              <a:buNone/>
              <a:defRPr lang="en-US" sz="1800" b="1" dirty="0">
                <a:solidFill>
                  <a:schemeClr val="accent1"/>
                </a:solidFill>
              </a:defRPr>
            </a:lvl1pPr>
          </a:lstStyle>
          <a:p>
            <a:pPr indent="0" marL="0">
              <a:buNone/>
            </a:pPr>
            <a:endParaRPr lang="en-US" sz="1800" dirty="0"/>
          </a:p>
        </p:txBody>
      </p:sp>
      <p:sp>
        <p:nvSpPr>
          <p:cNvPr id="4" name="Text 0"/>
          <p:cNvSpPr/>
          <p:nvPr>
            <p:ph idx="102" type="body" hasCustomPrompt="1"/>
          </p:nvPr>
        </p:nvSpPr>
        <p:spPr>
          <a:xfrm>
            <a:off x="1280160" y="5074920"/>
            <a:ext cx="9601200" cy="731520"/>
          </a:xfrm>
          <a:prstGeom prst="rect">
            <a:avLst/>
          </a:prstGeom>
          <a:noFill/>
          <a:ln/>
        </p:spPr>
        <p:txBody>
          <a:bodyPr wrap="square" rtlCol="0"/>
          <a:lstStyle>
            <a:lvl1pPr indent="0" marL="0">
              <a:buNone/>
              <a:defRPr lang="en-US" sz="1400" dirty="0">
                <a:solidFill>
                  <a:schemeClr val="accent4"/>
                </a:solidFill>
              </a:defRPr>
            </a:lvl1pPr>
          </a:lstStyle>
          <a:p>
            <a:pPr indent="0" marL="0">
              <a:buNone/>
            </a:pPr>
            <a:endParaRPr lang="en-US" sz="1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CT Content">
    <p:bg>
      <p:bgPr>
        <a:solidFill>
          <a:srgbClr val="FFFFFF"/>
        </a:solidFill>
      </p:bgPr>
    </p:bg>
    <p:spTree>
      <p:nvGrpSpPr>
        <p:cNvPr id="1" name=""/>
        <p:cNvGrpSpPr/>
        <p:nvPr/>
      </p:nvGrpSpPr>
      <p:grpSpPr>
        <a:xfrm>
          <a:off x="0" y="0"/>
          <a:ext cx="0" cy="0"/>
          <a:chOff x="0" y="0"/>
          <a:chExt cx="0" cy="0"/>
        </a:xfrm>
      </p:grpSpPr>
      <p:pic>
        <p:nvPicPr>
          <p:cNvPr id="2" name="Image 0" descr="/home/claude/pixel-perfect-show-8533/public/brand/dct-mark.png">    </p:cNvPr>
          <p:cNvPicPr>
            <a:picLocks noChangeAspect="1"/>
          </p:cNvPicPr>
          <p:nvPr/>
        </p:nvPicPr>
        <p:blipFill>
          <a:blip r:embed="rId1"/>
          <a:stretch>
            <a:fillRect/>
          </a:stretch>
        </p:blipFill>
        <p:spPr>
          <a:xfrm>
            <a:off x="548640" y="6391656"/>
            <a:ext cx="155448" cy="188390"/>
          </a:xfrm>
          <a:prstGeom prst="rect">
            <a:avLst/>
          </a:prstGeom>
        </p:spPr>
      </p:pic>
      <p:sp>
        <p:nvSpPr>
          <p:cNvPr id="3" name="Text 0"/>
          <p:cNvSpPr/>
          <p:nvPr/>
        </p:nvSpPr>
        <p:spPr>
          <a:xfrm>
            <a:off x="822960" y="6382512"/>
            <a:ext cx="8686800" cy="237744"/>
          </a:xfrm>
          <a:prstGeom prst="rect">
            <a:avLst/>
          </a:prstGeom>
          <a:noFill/>
          <a:ln/>
        </p:spPr>
        <p:txBody>
          <a:bodyPr wrap="square" lIns="0" tIns="0" rIns="0" bIns="0" rtlCol="0" anchor="ctr"/>
          <a:lstStyle/>
          <a:p>
            <a:pPr indent="0" marL="0">
              <a:buNone/>
            </a:pPr>
            <a:r>
              <a:rPr lang="en-US" sz="1000" dirty="0">
                <a:solidFill>
                  <a:schemeClr val="tx2"/>
                </a:solidFill>
              </a:rPr>
              <a:t>Dynamic Corporate Transformation · Volume II · Chapter 5</a:t>
            </a:r>
            <a:endParaRPr lang="en-US" sz="1000" dirty="0"/>
          </a:p>
        </p:txBody>
      </p:sp>
      <p:sp>
        <p:nvSpPr>
          <p:cNvPr id="4" name="Text 1"/>
          <p:cNvSpPr/>
          <p:nvPr>
            <p:ph idx="102" type="body" hasCustomPrompt="1"/>
          </p:nvPr>
        </p:nvSpPr>
        <p:spPr>
          <a:xfrm>
            <a:off x="548640" y="347472"/>
            <a:ext cx="11094415"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5" name="Text 1"/>
          <p:cNvSpPr/>
          <p:nvPr>
            <p:ph idx="103" type="title" hasCustomPrompt="1"/>
          </p:nvPr>
        </p:nvSpPr>
        <p:spPr>
          <a:xfrm>
            <a:off x="548640" y="658368"/>
            <a:ext cx="11094415" cy="868680"/>
          </a:xfrm>
          <a:prstGeom prst="rect">
            <a:avLst/>
          </a:prstGeom>
          <a:noFill/>
          <a:ln/>
        </p:spPr>
        <p:txBody>
          <a:bodyPr wrap="square" rtlCol="0"/>
          <a:lstStyle>
            <a:lvl1pPr algn="l" indent="0" marL="0">
              <a:buNone/>
              <a:defRPr lang="en-US" sz="32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DCT Dark Content">
    <p:bg>
      <p:bgPr>
        <a:solidFill>
          <a:srgbClr val="0F1E3D"/>
        </a:solidFill>
      </p:bgPr>
    </p:bg>
    <p:spTree>
      <p:nvGrpSpPr>
        <p:cNvPr id="1" name=""/>
        <p:cNvGrpSpPr/>
        <p:nvPr/>
      </p:nvGrpSpPr>
      <p:grpSpPr>
        <a:xfrm>
          <a:off x="0" y="0"/>
          <a:ext cx="0" cy="0"/>
          <a:chOff x="0" y="0"/>
          <a:chExt cx="0" cy="0"/>
        </a:xfrm>
      </p:grpSpPr>
      <p:pic>
        <p:nvPicPr>
          <p:cNvPr id="2" name="Image 0" descr="/home/claude/pixel-perfect-show-8533/public/brand/dct-mark-dark.png">    </p:cNvPr>
          <p:cNvPicPr>
            <a:picLocks noChangeAspect="1"/>
          </p:cNvPicPr>
          <p:nvPr/>
        </p:nvPicPr>
        <p:blipFill>
          <a:blip r:embed="rId1"/>
          <a:stretch>
            <a:fillRect/>
          </a:stretch>
        </p:blipFill>
        <p:spPr>
          <a:xfrm>
            <a:off x="548640" y="6391656"/>
            <a:ext cx="155448" cy="188390"/>
          </a:xfrm>
          <a:prstGeom prst="rect">
            <a:avLst/>
          </a:prstGeom>
        </p:spPr>
      </p:pic>
      <p:sp>
        <p:nvSpPr>
          <p:cNvPr id="3" name="Text 0"/>
          <p:cNvSpPr/>
          <p:nvPr/>
        </p:nvSpPr>
        <p:spPr>
          <a:xfrm>
            <a:off x="822960" y="6382512"/>
            <a:ext cx="8686800" cy="237744"/>
          </a:xfrm>
          <a:prstGeom prst="rect">
            <a:avLst/>
          </a:prstGeom>
          <a:noFill/>
          <a:ln/>
        </p:spPr>
        <p:txBody>
          <a:bodyPr wrap="square" lIns="0" tIns="0" rIns="0" bIns="0" rtlCol="0" anchor="ctr"/>
          <a:lstStyle/>
          <a:p>
            <a:pPr indent="0" marL="0">
              <a:buNone/>
            </a:pPr>
            <a:r>
              <a:rPr lang="en-US" sz="1000" dirty="0">
                <a:solidFill>
                  <a:schemeClr val="accent4"/>
                </a:solidFill>
              </a:rPr>
              <a:t>Dynamic Corporate Transformation · Volume II · Chapter 5</a:t>
            </a:r>
            <a:endParaRPr lang="en-US" sz="1000" dirty="0"/>
          </a:p>
        </p:txBody>
      </p:sp>
      <p:sp>
        <p:nvSpPr>
          <p:cNvPr id="4" name="Text 1"/>
          <p:cNvSpPr/>
          <p:nvPr>
            <p:ph idx="102" type="body" hasCustomPrompt="1"/>
          </p:nvPr>
        </p:nvSpPr>
        <p:spPr>
          <a:xfrm>
            <a:off x="548640" y="347472"/>
            <a:ext cx="11094415"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5" name="Text 1"/>
          <p:cNvSpPr/>
          <p:nvPr>
            <p:ph idx="103" type="title" hasCustomPrompt="1"/>
          </p:nvPr>
        </p:nvSpPr>
        <p:spPr>
          <a:xfrm>
            <a:off x="548640" y="658368"/>
            <a:ext cx="11094415" cy="868680"/>
          </a:xfrm>
          <a:prstGeom prst="rect">
            <a:avLst/>
          </a:prstGeom>
          <a:noFill/>
          <a:ln/>
        </p:spPr>
        <p:txBody>
          <a:bodyPr wrap="square" rtlCol="0"/>
          <a:lstStyle>
            <a:lvl1pPr algn="l" indent="0" marL="0">
              <a:buNone/>
              <a:defRPr lang="en-US" sz="32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5.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5.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4.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4.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5.xml"/><Relationship Id="rId3"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p:nvPr>
            <p:ph idx="101" type="body" hasCustomPrompt="1"/>
          </p:nvPr>
        </p:nvSpPr>
        <p:spPr>
          <a:xfrm>
            <a:off x="731520" y="1874520"/>
            <a:ext cx="10607040" cy="411480"/>
          </a:xfrm>
          <a:prstGeom prst="rect">
            <a:avLst/>
          </a:prstGeom>
          <a:noFill/>
          <a:ln/>
        </p:spPr>
        <p:txBody>
          <a:bodyPr wrap="square" lIns="0" tIns="0" rIns="0" bIns="0" rtlCol="0"/>
          <a:lstStyle/>
          <a:p>
            <a:pPr indent="0" marL="0">
              <a:buNone/>
            </a:pPr>
            <a:r>
              <a:rPr lang="en-US" sz="1500" b="1" spc="300" kern="0" dirty="0">
                <a:solidFill>
                  <a:schemeClr val="accent1"/>
                </a:solidFill>
              </a:rPr>
              <a:t>VOLUME II · CHAPTER 5 · WEEK 10</a:t>
            </a:r>
            <a:endParaRPr lang="en-US" sz="1500" dirty="0"/>
          </a:p>
        </p:txBody>
      </p:sp>
      <p:sp>
        <p:nvSpPr>
          <p:cNvPr id="4" name="Text 0"/>
          <p:cNvSpPr/>
          <p:nvPr>
            <p:ph idx="102" type="title" hasCustomPrompt="1"/>
          </p:nvPr>
        </p:nvSpPr>
        <p:spPr>
          <a:xfrm>
            <a:off x="731520" y="2331720"/>
            <a:ext cx="10607040" cy="1737360"/>
          </a:xfrm>
          <a:prstGeom prst="rect">
            <a:avLst/>
          </a:prstGeom>
          <a:noFill/>
          <a:ln/>
        </p:spPr>
        <p:txBody>
          <a:bodyPr wrap="square" lIns="0" tIns="0" rIns="0" bIns="0" rtlCol="0" anchor="t"/>
          <a:lstStyle/>
          <a:p>
            <a:pPr algn="l" indent="0" marL="0">
              <a:buNone/>
            </a:pPr>
            <a:r>
              <a:rPr lang="en-US" sz="4400" b="1" dirty="0">
                <a:solidFill>
                  <a:schemeClr val="bg1"/>
                </a:solidFill>
                <a:latin typeface="Cambria" pitchFamily="34" charset="0"/>
                <a:ea typeface="Cambria" pitchFamily="34" charset="-122"/>
                <a:cs typeface="Cambria" pitchFamily="34" charset="-120"/>
              </a:rPr>
              <a:t>Dynamic Enterprise Optimization</a:t>
            </a:r>
            <a:endParaRPr lang="en-US" sz="4400" dirty="0"/>
          </a:p>
        </p:txBody>
      </p:sp>
      <p:sp>
        <p:nvSpPr>
          <p:cNvPr id="5" name="Text 0"/>
          <p:cNvSpPr/>
          <p:nvPr>
            <p:ph idx="103" type="body" hasCustomPrompt="1"/>
          </p:nvPr>
        </p:nvSpPr>
        <p:spPr>
          <a:xfrm>
            <a:off x="731520" y="4160520"/>
            <a:ext cx="10241280" cy="914400"/>
          </a:xfrm>
          <a:prstGeom prst="rect">
            <a:avLst/>
          </a:prstGeom>
          <a:noFill/>
          <a:ln/>
        </p:spPr>
        <p:txBody>
          <a:bodyPr wrap="square" lIns="0" tIns="0" rIns="0" bIns="0" rtlCol="0" anchor="t"/>
          <a:lstStyle/>
          <a:p>
            <a:pPr indent="0" marL="0">
              <a:buNone/>
            </a:pPr>
            <a:r>
              <a:rPr lang="en-US" sz="2000" dirty="0">
                <a:solidFill>
                  <a:schemeClr val="bg2"/>
                </a:solidFill>
              </a:rPr>
              <a:t>Decide over time with prices that carry each stock's value backward, and a terminal value that stands for continuing</a:t>
            </a:r>
            <a:endParaRPr lang="en-US" sz="2000" dirty="0"/>
          </a:p>
        </p:txBody>
      </p:sp>
      <p:sp>
        <p:nvSpPr>
          <p:cNvPr id="6" name="Text 0"/>
          <p:cNvSpPr/>
          <p:nvPr>
            <p:ph idx="104" type="body" hasCustomPrompt="1"/>
          </p:nvPr>
        </p:nvSpPr>
        <p:spPr>
          <a:xfrm>
            <a:off x="731520" y="5897880"/>
            <a:ext cx="10607040" cy="365760"/>
          </a:xfrm>
          <a:prstGeom prst="rect">
            <a:avLst/>
          </a:prstGeom>
          <a:noFill/>
          <a:ln/>
        </p:spPr>
        <p:txBody>
          <a:bodyPr wrap="square" lIns="0" tIns="0" rIns="0" bIns="0" rtlCol="0"/>
          <a:lstStyle/>
          <a:p>
            <a:pPr indent="0" marL="0">
              <a:buNone/>
            </a:pPr>
            <a:r>
              <a:rPr lang="en-US" sz="1200" dirty="0">
                <a:solidFill>
                  <a:schemeClr val="accent4"/>
                </a:solidFill>
              </a:rPr>
              <a:t>Graduate course companion · Lab seed 26205 · AXIOM Lab 2.5 (AXIOM-05, AXIOM-04)</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ext 0"/>
          <p:cNvSpPr/>
          <p:nvPr>
            <p:ph idx="100" type="body" hasCustomPrompt="1"/>
          </p:nvPr>
        </p:nvSpPr>
        <p:spPr>
          <a:xfrm>
            <a:off x="1280160" y="1371600"/>
            <a:ext cx="9601200" cy="3017520"/>
          </a:xfrm>
          <a:prstGeom prst="rect">
            <a:avLst/>
          </a:prstGeom>
          <a:noFill/>
          <a:ln/>
        </p:spPr>
        <p:txBody>
          <a:bodyPr wrap="square" lIns="0" tIns="0" rIns="0" bIns="0" rtlCol="0" anchor="b"/>
          <a:lstStyle/>
          <a:p>
            <a:pPr indent="0" marL="0">
              <a:buNone/>
            </a:pPr>
            <a:r>
              <a:rPr lang="en-US" sz="3000" i="1" dirty="0">
                <a:solidFill>
                  <a:schemeClr val="bg1"/>
                </a:solidFill>
                <a:latin typeface="Cambria" pitchFamily="34" charset="0"/>
                <a:ea typeface="Cambria" pitchFamily="34" charset="-122"/>
                <a:cs typeface="Cambria" pitchFamily="34" charset="-120"/>
              </a:rPr>
              <a:t>“Each morning for over eight months I woke up and decided that the next morning would be the day to send the Stiglitz box.”</a:t>
            </a:r>
            <a:endParaRPr lang="en-US" sz="3000" dirty="0"/>
          </a:p>
        </p:txBody>
      </p:sp>
      <p:sp>
        <p:nvSpPr>
          <p:cNvPr id="4" name="Text 0"/>
          <p:cNvSpPr/>
          <p:nvPr>
            <p:ph idx="101" type="body" hasCustomPrompt="1"/>
          </p:nvPr>
        </p:nvSpPr>
        <p:spPr>
          <a:xfrm>
            <a:off x="1280160" y="4617720"/>
            <a:ext cx="9601200" cy="457200"/>
          </a:xfrm>
          <a:prstGeom prst="rect">
            <a:avLst/>
          </a:prstGeom>
          <a:noFill/>
          <a:ln/>
        </p:spPr>
        <p:txBody>
          <a:bodyPr wrap="square" lIns="0" tIns="0" rIns="0" bIns="0" rtlCol="0"/>
          <a:lstStyle/>
          <a:p>
            <a:pPr indent="0" marL="0">
              <a:buNone/>
            </a:pPr>
            <a:r>
              <a:rPr lang="en-US" sz="1800" b="1" dirty="0">
                <a:solidFill>
                  <a:schemeClr val="accent1"/>
                </a:solidFill>
              </a:rPr>
              <a:t>George A. Akerlof</a:t>
            </a:r>
            <a:endParaRPr lang="en-US" sz="1800" dirty="0"/>
          </a:p>
        </p:txBody>
      </p:sp>
      <p:sp>
        <p:nvSpPr>
          <p:cNvPr id="5" name="Text 0"/>
          <p:cNvSpPr/>
          <p:nvPr>
            <p:ph idx="102" type="body" hasCustomPrompt="1"/>
          </p:nvPr>
        </p:nvSpPr>
        <p:spPr>
          <a:xfrm>
            <a:off x="1280160" y="5074920"/>
            <a:ext cx="9601200" cy="731520"/>
          </a:xfrm>
          <a:prstGeom prst="rect">
            <a:avLst/>
          </a:prstGeom>
          <a:noFill/>
          <a:ln/>
        </p:spPr>
        <p:txBody>
          <a:bodyPr wrap="square" lIns="0" tIns="0" rIns="0" bIns="0" rtlCol="0" anchor="t"/>
          <a:lstStyle/>
          <a:p>
            <a:pPr indent="0" marL="0">
              <a:buNone/>
            </a:pPr>
            <a:r>
              <a:rPr lang="en-US" sz="1400" dirty="0">
                <a:solidFill>
                  <a:schemeClr val="accent4"/>
                </a:solidFill>
              </a:rPr>
              <a:t>Nobel Memorial Prize in Economic Sciences 2001; “Procrastination and Obedience” (1991)</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LEARNING OUTCOME STATEMENTS</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After this chapter, you can</a:t>
            </a:r>
            <a:endParaRPr lang="en-US" sz="3200" dirty="0"/>
          </a:p>
        </p:txBody>
      </p:sp>
      <p:sp>
        <p:nvSpPr>
          <p:cNvPr id="5" name="Number"/>
          <p:cNvSpPr/>
          <p:nvPr/>
        </p:nvSpPr>
        <p:spPr>
          <a:xfrm>
            <a:off x="548640" y="1737360"/>
            <a:ext cx="566928" cy="566928"/>
          </a:xfrm>
          <a:prstGeom prst="ellipse">
            <a:avLst/>
          </a:prstGeom>
          <a:solidFill>
            <a:schemeClr val="accent1"/>
          </a:solidFill>
          <a:ln w="6350">
            <a:solidFill>
              <a:schemeClr val="accent1"/>
            </a:solidFill>
            <a:prstDash val="solid"/>
          </a:ln>
        </p:spPr>
      </p:sp>
      <p:sp>
        <p:nvSpPr>
          <p:cNvPr id="6" name="Text 3"/>
          <p:cNvSpPr txBox="1"/>
          <p:nvPr/>
        </p:nvSpPr>
        <p:spPr>
          <a:xfrm>
            <a:off x="548640" y="1737360"/>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5.1</a:t>
            </a:r>
            <a:endParaRPr lang="en-US" sz="1500" dirty="0"/>
          </a:p>
        </p:txBody>
      </p:sp>
      <p:sp>
        <p:nvSpPr>
          <p:cNvPr id="7" name="Row text"/>
          <p:cNvSpPr txBox="1"/>
          <p:nvPr/>
        </p:nvSpPr>
        <p:spPr>
          <a:xfrm>
            <a:off x="1325880" y="1691640"/>
            <a:ext cx="10317175" cy="841248"/>
          </a:xfrm>
          <a:prstGeom prst="rect">
            <a:avLst/>
          </a:prstGeom>
          <a:noFill/>
          <a:ln/>
        </p:spPr>
        <p:txBody>
          <a:bodyPr wrap="square" lIns="0" tIns="0" rIns="0" bIns="0" rtlCol="0" anchor="ctr"/>
          <a:lstStyle/>
          <a:p>
            <a:pPr indent="0" marL="0">
              <a:buNone/>
            </a:pPr>
            <a:r>
              <a:rPr lang="en-US" sz="1600" dirty="0">
                <a:solidFill>
                  <a:schemeClr val="tx1"/>
                </a:solidFill>
              </a:rPr>
              <a:t>Explain what time adds to an enterprise optimization problem—stocks carried between periods, payoffs that arrive after their costs, commitments on whole paths—and why deciding period by period loses value or breaks commitments.</a:t>
            </a:r>
            <a:endParaRPr lang="en-US" sz="1600" dirty="0"/>
          </a:p>
        </p:txBody>
      </p:sp>
      <p:sp>
        <p:nvSpPr>
          <p:cNvPr id="8" name="Number"/>
          <p:cNvSpPr/>
          <p:nvPr/>
        </p:nvSpPr>
        <p:spPr>
          <a:xfrm>
            <a:off x="548640" y="2633472"/>
            <a:ext cx="566928" cy="566928"/>
          </a:xfrm>
          <a:prstGeom prst="ellipse">
            <a:avLst/>
          </a:prstGeom>
          <a:solidFill>
            <a:schemeClr val="accent1"/>
          </a:solidFill>
          <a:ln w="6350">
            <a:solidFill>
              <a:schemeClr val="accent1"/>
            </a:solidFill>
            <a:prstDash val="solid"/>
          </a:ln>
        </p:spPr>
      </p:sp>
      <p:sp>
        <p:nvSpPr>
          <p:cNvPr id="9" name="Text 6"/>
          <p:cNvSpPr txBox="1"/>
          <p:nvPr/>
        </p:nvSpPr>
        <p:spPr>
          <a:xfrm>
            <a:off x="548640" y="2633472"/>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5.2</a:t>
            </a:r>
            <a:endParaRPr lang="en-US" sz="1500" dirty="0"/>
          </a:p>
        </p:txBody>
      </p:sp>
      <p:sp>
        <p:nvSpPr>
          <p:cNvPr id="10" name="Row text"/>
          <p:cNvSpPr txBox="1"/>
          <p:nvPr/>
        </p:nvSpPr>
        <p:spPr>
          <a:xfrm>
            <a:off x="1325880" y="2587752"/>
            <a:ext cx="10317175" cy="841248"/>
          </a:xfrm>
          <a:prstGeom prst="rect">
            <a:avLst/>
          </a:prstGeom>
          <a:noFill/>
          <a:ln/>
        </p:spPr>
        <p:txBody>
          <a:bodyPr wrap="square" lIns="0" tIns="0" rIns="0" bIns="0" rtlCol="0" anchor="ctr"/>
          <a:lstStyle/>
          <a:p>
            <a:pPr indent="0" marL="0">
              <a:buNone/>
            </a:pPr>
            <a:r>
              <a:rPr lang="en-US" sz="1600" dirty="0">
                <a:solidFill>
                  <a:schemeClr val="tx1"/>
                </a:solidFill>
              </a:rPr>
              <a:t>Formulate a dynamic instance in discrete or continuous time, with its state, decisions, dynamics, discounting, running and terminal value, and commitments, and say when a best plan exists.</a:t>
            </a:r>
            <a:endParaRPr lang="en-US" sz="1600" dirty="0"/>
          </a:p>
        </p:txBody>
      </p:sp>
      <p:sp>
        <p:nvSpPr>
          <p:cNvPr id="11" name="Number"/>
          <p:cNvSpPr/>
          <p:nvPr/>
        </p:nvSpPr>
        <p:spPr>
          <a:xfrm>
            <a:off x="548640" y="3529584"/>
            <a:ext cx="566928" cy="566928"/>
          </a:xfrm>
          <a:prstGeom prst="ellipse">
            <a:avLst/>
          </a:prstGeom>
          <a:solidFill>
            <a:schemeClr val="accent1"/>
          </a:solidFill>
          <a:ln w="6350">
            <a:solidFill>
              <a:schemeClr val="accent1"/>
            </a:solidFill>
            <a:prstDash val="solid"/>
          </a:ln>
        </p:spPr>
      </p:sp>
      <p:sp>
        <p:nvSpPr>
          <p:cNvPr id="12" name="Text 9"/>
          <p:cNvSpPr txBox="1"/>
          <p:nvPr/>
        </p:nvSpPr>
        <p:spPr>
          <a:xfrm>
            <a:off x="548640" y="3529584"/>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5.3</a:t>
            </a:r>
            <a:endParaRPr lang="en-US" sz="1500" dirty="0"/>
          </a:p>
        </p:txBody>
      </p:sp>
      <p:sp>
        <p:nvSpPr>
          <p:cNvPr id="13" name="Row text"/>
          <p:cNvSpPr txBox="1"/>
          <p:nvPr/>
        </p:nvSpPr>
        <p:spPr>
          <a:xfrm>
            <a:off x="1325880" y="3483864"/>
            <a:ext cx="10317175" cy="841248"/>
          </a:xfrm>
          <a:prstGeom prst="rect">
            <a:avLst/>
          </a:prstGeom>
          <a:noFill/>
          <a:ln/>
        </p:spPr>
        <p:txBody>
          <a:bodyPr wrap="square" lIns="0" tIns="0" rIns="0" bIns="0" rtlCol="0" anchor="ctr"/>
          <a:lstStyle/>
          <a:p>
            <a:pPr indent="0" marL="0">
              <a:buNone/>
            </a:pPr>
            <a:r>
              <a:rPr lang="en-US" sz="1600" dirty="0">
                <a:solidFill>
                  <a:schemeClr val="tx1"/>
                </a:solidFill>
              </a:rPr>
              <a:t>Transcribe a dynamic instance into a finite program, read the multipliers of its dynamics as prices of stocks over time, and audit intertemporal trade-offs with the rule of equal discounted marginal values.</a:t>
            </a:r>
            <a:endParaRPr lang="en-US" sz="1600" dirty="0"/>
          </a:p>
        </p:txBody>
      </p:sp>
      <p:sp>
        <p:nvSpPr>
          <p:cNvPr id="14" name="Number"/>
          <p:cNvSpPr/>
          <p:nvPr/>
        </p:nvSpPr>
        <p:spPr>
          <a:xfrm>
            <a:off x="548640" y="4425696"/>
            <a:ext cx="566928" cy="566928"/>
          </a:xfrm>
          <a:prstGeom prst="ellipse">
            <a:avLst/>
          </a:prstGeom>
          <a:solidFill>
            <a:schemeClr val="accent1"/>
          </a:solidFill>
          <a:ln w="6350">
            <a:solidFill>
              <a:schemeClr val="accent1"/>
            </a:solidFill>
            <a:prstDash val="solid"/>
          </a:ln>
        </p:spPr>
      </p:sp>
      <p:sp>
        <p:nvSpPr>
          <p:cNvPr id="15" name="Text 12"/>
          <p:cNvSpPr txBox="1"/>
          <p:nvPr/>
        </p:nvSpPr>
        <p:spPr>
          <a:xfrm>
            <a:off x="548640" y="4425696"/>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5.4</a:t>
            </a:r>
            <a:endParaRPr lang="en-US" sz="1500" dirty="0"/>
          </a:p>
        </p:txBody>
      </p:sp>
      <p:sp>
        <p:nvSpPr>
          <p:cNvPr id="16" name="Row text"/>
          <p:cNvSpPr txBox="1"/>
          <p:nvPr/>
        </p:nvSpPr>
        <p:spPr>
          <a:xfrm>
            <a:off x="1325880" y="4379976"/>
            <a:ext cx="10317175" cy="841248"/>
          </a:xfrm>
          <a:prstGeom prst="rect">
            <a:avLst/>
          </a:prstGeom>
          <a:noFill/>
          <a:ln/>
        </p:spPr>
        <p:txBody>
          <a:bodyPr wrap="square" lIns="0" tIns="0" rIns="0" bIns="0" rtlCol="0" anchor="ctr"/>
          <a:lstStyle/>
          <a:p>
            <a:pPr indent="0" marL="0">
              <a:buNone/>
            </a:pPr>
            <a:r>
              <a:rPr lang="en-US" sz="1600" dirty="0">
                <a:solidFill>
                  <a:schemeClr val="tx1"/>
                </a:solidFill>
              </a:rPr>
              <a:t>Choose a horizon and a terminal value, bound what truncation costs, and recognize the end effects of a missing or inconsistent terminal value.</a:t>
            </a:r>
            <a:endParaRPr lang="en-US" sz="1600" dirty="0"/>
          </a:p>
        </p:txBody>
      </p:sp>
      <p:sp>
        <p:nvSpPr>
          <p:cNvPr id="17" name="Number"/>
          <p:cNvSpPr/>
          <p:nvPr/>
        </p:nvSpPr>
        <p:spPr>
          <a:xfrm>
            <a:off x="548640" y="5321808"/>
            <a:ext cx="566928" cy="566928"/>
          </a:xfrm>
          <a:prstGeom prst="ellipse">
            <a:avLst/>
          </a:prstGeom>
          <a:solidFill>
            <a:schemeClr val="accent1"/>
          </a:solidFill>
          <a:ln w="6350">
            <a:solidFill>
              <a:schemeClr val="accent1"/>
            </a:solidFill>
            <a:prstDash val="solid"/>
          </a:ln>
        </p:spPr>
      </p:sp>
      <p:sp>
        <p:nvSpPr>
          <p:cNvPr id="18" name="Text 15"/>
          <p:cNvSpPr txBox="1"/>
          <p:nvPr/>
        </p:nvSpPr>
        <p:spPr>
          <a:xfrm>
            <a:off x="548640" y="5321808"/>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5.5</a:t>
            </a:r>
            <a:endParaRPr lang="en-US" sz="1500" dirty="0"/>
          </a:p>
        </p:txBody>
      </p:sp>
      <p:sp>
        <p:nvSpPr>
          <p:cNvPr id="19" name="Row text"/>
          <p:cNvSpPr txBox="1"/>
          <p:nvPr/>
        </p:nvSpPr>
        <p:spPr>
          <a:xfrm>
            <a:off x="1325880" y="5276088"/>
            <a:ext cx="10317175" cy="841248"/>
          </a:xfrm>
          <a:prstGeom prst="rect">
            <a:avLst/>
          </a:prstGeom>
          <a:noFill/>
          <a:ln/>
        </p:spPr>
        <p:txBody>
          <a:bodyPr wrap="square" lIns="0" tIns="0" rIns="0" bIns="0" rtlCol="0" anchor="ctr"/>
          <a:lstStyle/>
          <a:p>
            <a:pPr indent="0" marL="0">
              <a:buNone/>
            </a:pPr>
            <a:r>
              <a:rPr lang="en-US" sz="1600" dirty="0">
                <a:solidFill>
                  <a:schemeClr val="tx1"/>
                </a:solidFill>
              </a:rPr>
              <a:t>Distinguish plans from rules, explain when re-planning confirms a plan and when it reverses it, and judge when a rule is worth more than a plan.</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ROADMAP</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Six sections, a worked example, a case and a lab</a:t>
            </a:r>
            <a:endParaRPr lang="en-US" sz="3200" dirty="0"/>
          </a:p>
        </p:txBody>
      </p:sp>
      <p:sp>
        <p:nvSpPr>
          <p:cNvPr id="5" name="Card"/>
          <p:cNvSpPr/>
          <p:nvPr/>
        </p:nvSpPr>
        <p:spPr>
          <a:xfrm>
            <a:off x="548640" y="1691640"/>
            <a:ext cx="1999427" cy="2103120"/>
          </a:xfrm>
          <a:prstGeom prst="roundRect">
            <a:avLst>
              <a:gd name="adj" fmla="val 3659"/>
            </a:avLst>
          </a:prstGeom>
          <a:solidFill>
            <a:schemeClr val="bg2"/>
          </a:solidFill>
          <a:ln w="9525">
            <a:solidFill>
              <a:srgbClr val="C4CBD8"/>
            </a:solidFill>
            <a:prstDash val="solid"/>
          </a:ln>
        </p:spPr>
      </p:sp>
      <p:sp>
        <p:nvSpPr>
          <p:cNvPr id="6" name="Card label"/>
          <p:cNvSpPr txBox="1"/>
          <p:nvPr/>
        </p:nvSpPr>
        <p:spPr>
          <a:xfrm>
            <a:off x="731520"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§5.1</a:t>
            </a:r>
            <a:endParaRPr lang="en-US" sz="1300" dirty="0"/>
          </a:p>
        </p:txBody>
      </p:sp>
      <p:sp>
        <p:nvSpPr>
          <p:cNvPr id="7" name="Card head"/>
          <p:cNvSpPr txBox="1"/>
          <p:nvPr/>
        </p:nvSpPr>
        <p:spPr>
          <a:xfrm>
            <a:off x="731520" y="214884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What Time Adds</a:t>
            </a:r>
            <a:endParaRPr lang="en-US" sz="1300" dirty="0"/>
          </a:p>
        </p:txBody>
      </p:sp>
      <p:sp>
        <p:nvSpPr>
          <p:cNvPr id="8" name="Card text"/>
          <p:cNvSpPr txBox="1"/>
          <p:nvPr/>
        </p:nvSpPr>
        <p:spPr>
          <a:xfrm>
            <a:off x="731520" y="3282696"/>
            <a:ext cx="1633667" cy="384048"/>
          </a:xfrm>
          <a:prstGeom prst="rect">
            <a:avLst/>
          </a:prstGeom>
          <a:noFill/>
          <a:ln/>
        </p:spPr>
        <p:txBody>
          <a:bodyPr wrap="square" lIns="0" tIns="0" rIns="0" bIns="0" rtlCol="0" anchor="t"/>
          <a:lstStyle/>
          <a:p>
            <a:pPr indent="0" marL="0">
              <a:buNone/>
            </a:pPr>
            <a:r>
              <a:rPr lang="en-US" sz="1200" dirty="0">
                <a:solidFill>
                  <a:schemeClr val="tx2"/>
                </a:solidFill>
              </a:rPr>
              <a:t>Proposition 5.1 · Table 5.1</a:t>
            </a:r>
            <a:endParaRPr lang="en-US" sz="1200" dirty="0"/>
          </a:p>
        </p:txBody>
      </p:sp>
      <p:sp>
        <p:nvSpPr>
          <p:cNvPr id="9" name="Card"/>
          <p:cNvSpPr/>
          <p:nvPr/>
        </p:nvSpPr>
        <p:spPr>
          <a:xfrm>
            <a:off x="2822387" y="1691640"/>
            <a:ext cx="1999427" cy="2103120"/>
          </a:xfrm>
          <a:prstGeom prst="roundRect">
            <a:avLst>
              <a:gd name="adj" fmla="val 3659"/>
            </a:avLst>
          </a:prstGeom>
          <a:solidFill>
            <a:schemeClr val="bg2"/>
          </a:solidFill>
          <a:ln w="9525">
            <a:solidFill>
              <a:srgbClr val="C4CBD8"/>
            </a:solidFill>
            <a:prstDash val="solid"/>
          </a:ln>
        </p:spPr>
      </p:sp>
      <p:sp>
        <p:nvSpPr>
          <p:cNvPr id="10" name="Card label"/>
          <p:cNvSpPr txBox="1"/>
          <p:nvPr/>
        </p:nvSpPr>
        <p:spPr>
          <a:xfrm>
            <a:off x="3005267"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§5.2</a:t>
            </a:r>
            <a:endParaRPr lang="en-US" sz="1300" dirty="0"/>
          </a:p>
        </p:txBody>
      </p:sp>
      <p:sp>
        <p:nvSpPr>
          <p:cNvPr id="11" name="Card head"/>
          <p:cNvSpPr txBox="1"/>
          <p:nvPr/>
        </p:nvSpPr>
        <p:spPr>
          <a:xfrm>
            <a:off x="3005267" y="214884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Dynamic Instances</a:t>
            </a:r>
            <a:endParaRPr lang="en-US" sz="1300" dirty="0"/>
          </a:p>
        </p:txBody>
      </p:sp>
      <p:sp>
        <p:nvSpPr>
          <p:cNvPr id="12" name="Card text"/>
          <p:cNvSpPr txBox="1"/>
          <p:nvPr/>
        </p:nvSpPr>
        <p:spPr>
          <a:xfrm>
            <a:off x="3005267" y="3282696"/>
            <a:ext cx="1633667" cy="384048"/>
          </a:xfrm>
          <a:prstGeom prst="rect">
            <a:avLst/>
          </a:prstGeom>
          <a:noFill/>
          <a:ln/>
        </p:spPr>
        <p:txBody>
          <a:bodyPr wrap="square" lIns="0" tIns="0" rIns="0" bIns="0" rtlCol="0" anchor="t"/>
          <a:lstStyle/>
          <a:p>
            <a:pPr indent="0" marL="0">
              <a:buNone/>
            </a:pPr>
            <a:r>
              <a:rPr lang="en-US" sz="1200" dirty="0">
                <a:solidFill>
                  <a:schemeClr val="tx2"/>
                </a:solidFill>
              </a:rPr>
              <a:t>Definition 5.1 · Proposition 5.2</a:t>
            </a:r>
            <a:endParaRPr lang="en-US" sz="1200" dirty="0"/>
          </a:p>
        </p:txBody>
      </p:sp>
      <p:sp>
        <p:nvSpPr>
          <p:cNvPr id="13" name="Card"/>
          <p:cNvSpPr/>
          <p:nvPr/>
        </p:nvSpPr>
        <p:spPr>
          <a:xfrm>
            <a:off x="5096134" y="1691640"/>
            <a:ext cx="1999427" cy="2103120"/>
          </a:xfrm>
          <a:prstGeom prst="roundRect">
            <a:avLst>
              <a:gd name="adj" fmla="val 3659"/>
            </a:avLst>
          </a:prstGeom>
          <a:solidFill>
            <a:schemeClr val="bg2"/>
          </a:solidFill>
          <a:ln w="9525">
            <a:solidFill>
              <a:srgbClr val="C4CBD8"/>
            </a:solidFill>
            <a:prstDash val="solid"/>
          </a:ln>
        </p:spPr>
      </p:sp>
      <p:sp>
        <p:nvSpPr>
          <p:cNvPr id="14" name="Card label"/>
          <p:cNvSpPr txBox="1"/>
          <p:nvPr/>
        </p:nvSpPr>
        <p:spPr>
          <a:xfrm>
            <a:off x="5279014"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§5.3</a:t>
            </a:r>
            <a:endParaRPr lang="en-US" sz="1300" dirty="0"/>
          </a:p>
        </p:txBody>
      </p:sp>
      <p:sp>
        <p:nvSpPr>
          <p:cNvPr id="15" name="Card head"/>
          <p:cNvSpPr txBox="1"/>
          <p:nvPr/>
        </p:nvSpPr>
        <p:spPr>
          <a:xfrm>
            <a:off x="5279014" y="214884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Transcription: From Paths to Programs</a:t>
            </a:r>
            <a:endParaRPr lang="en-US" sz="1300" dirty="0"/>
          </a:p>
        </p:txBody>
      </p:sp>
      <p:sp>
        <p:nvSpPr>
          <p:cNvPr id="16" name="Card text"/>
          <p:cNvSpPr txBox="1"/>
          <p:nvPr/>
        </p:nvSpPr>
        <p:spPr>
          <a:xfrm>
            <a:off x="5279014" y="3282696"/>
            <a:ext cx="1633667" cy="384048"/>
          </a:xfrm>
          <a:prstGeom prst="rect">
            <a:avLst/>
          </a:prstGeom>
          <a:noFill/>
          <a:ln/>
        </p:spPr>
        <p:txBody>
          <a:bodyPr wrap="square" lIns="0" tIns="0" rIns="0" bIns="0" rtlCol="0" anchor="t"/>
          <a:lstStyle/>
          <a:p>
            <a:pPr indent="0" marL="0">
              <a:buNone/>
            </a:pPr>
            <a:r>
              <a:rPr lang="en-US" sz="1200" dirty="0">
                <a:solidFill>
                  <a:schemeClr val="tx2"/>
                </a:solidFill>
              </a:rPr>
              <a:t>Theorem 5.1 · Figure 5.1</a:t>
            </a:r>
            <a:endParaRPr lang="en-US" sz="1200" dirty="0"/>
          </a:p>
        </p:txBody>
      </p:sp>
      <p:sp>
        <p:nvSpPr>
          <p:cNvPr id="17" name="Card"/>
          <p:cNvSpPr/>
          <p:nvPr/>
        </p:nvSpPr>
        <p:spPr>
          <a:xfrm>
            <a:off x="7369881" y="1691640"/>
            <a:ext cx="1999427" cy="2103120"/>
          </a:xfrm>
          <a:prstGeom prst="roundRect">
            <a:avLst>
              <a:gd name="adj" fmla="val 3659"/>
            </a:avLst>
          </a:prstGeom>
          <a:solidFill>
            <a:schemeClr val="bg2"/>
          </a:solidFill>
          <a:ln w="9525">
            <a:solidFill>
              <a:srgbClr val="C4CBD8"/>
            </a:solidFill>
            <a:prstDash val="solid"/>
          </a:ln>
        </p:spPr>
      </p:sp>
      <p:sp>
        <p:nvSpPr>
          <p:cNvPr id="18" name="Card label"/>
          <p:cNvSpPr txBox="1"/>
          <p:nvPr/>
        </p:nvSpPr>
        <p:spPr>
          <a:xfrm>
            <a:off x="7552761"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§5.4</a:t>
            </a:r>
            <a:endParaRPr lang="en-US" sz="1300" dirty="0"/>
          </a:p>
        </p:txBody>
      </p:sp>
      <p:sp>
        <p:nvSpPr>
          <p:cNvPr id="19" name="Card head"/>
          <p:cNvSpPr txBox="1"/>
          <p:nvPr/>
        </p:nvSpPr>
        <p:spPr>
          <a:xfrm>
            <a:off x="7552761" y="214884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Prices over Time</a:t>
            </a:r>
            <a:endParaRPr lang="en-US" sz="1300" dirty="0"/>
          </a:p>
        </p:txBody>
      </p:sp>
      <p:sp>
        <p:nvSpPr>
          <p:cNvPr id="20" name="Card text"/>
          <p:cNvSpPr txBox="1"/>
          <p:nvPr/>
        </p:nvSpPr>
        <p:spPr>
          <a:xfrm>
            <a:off x="7552761" y="3282696"/>
            <a:ext cx="1633667" cy="384048"/>
          </a:xfrm>
          <a:prstGeom prst="rect">
            <a:avLst/>
          </a:prstGeom>
          <a:noFill/>
          <a:ln/>
        </p:spPr>
        <p:txBody>
          <a:bodyPr wrap="square" lIns="0" tIns="0" rIns="0" bIns="0" rtlCol="0" anchor="t"/>
          <a:lstStyle/>
          <a:p>
            <a:pPr indent="0" marL="0">
              <a:buNone/>
            </a:pPr>
            <a:r>
              <a:rPr lang="en-US" sz="1200" dirty="0">
                <a:solidFill>
                  <a:schemeClr val="tx2"/>
                </a:solidFill>
              </a:rPr>
              <a:t>Proposition 5.3</a:t>
            </a:r>
            <a:endParaRPr lang="en-US" sz="1200" dirty="0"/>
          </a:p>
        </p:txBody>
      </p:sp>
      <p:sp>
        <p:nvSpPr>
          <p:cNvPr id="21" name="Card"/>
          <p:cNvSpPr/>
          <p:nvPr/>
        </p:nvSpPr>
        <p:spPr>
          <a:xfrm>
            <a:off x="9643628" y="1691640"/>
            <a:ext cx="1999427" cy="2103120"/>
          </a:xfrm>
          <a:prstGeom prst="roundRect">
            <a:avLst>
              <a:gd name="adj" fmla="val 3659"/>
            </a:avLst>
          </a:prstGeom>
          <a:solidFill>
            <a:schemeClr val="bg2"/>
          </a:solidFill>
          <a:ln w="9525">
            <a:solidFill>
              <a:srgbClr val="C4CBD8"/>
            </a:solidFill>
            <a:prstDash val="solid"/>
          </a:ln>
        </p:spPr>
      </p:sp>
      <p:sp>
        <p:nvSpPr>
          <p:cNvPr id="22" name="Card label"/>
          <p:cNvSpPr txBox="1"/>
          <p:nvPr/>
        </p:nvSpPr>
        <p:spPr>
          <a:xfrm>
            <a:off x="9826508"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§5.5</a:t>
            </a:r>
            <a:endParaRPr lang="en-US" sz="1300" dirty="0"/>
          </a:p>
        </p:txBody>
      </p:sp>
      <p:sp>
        <p:nvSpPr>
          <p:cNvPr id="23" name="Card head"/>
          <p:cNvSpPr txBox="1"/>
          <p:nvPr/>
        </p:nvSpPr>
        <p:spPr>
          <a:xfrm>
            <a:off x="9826508" y="214884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Horizons and Terminal Values</a:t>
            </a:r>
            <a:endParaRPr lang="en-US" sz="1300" dirty="0"/>
          </a:p>
        </p:txBody>
      </p:sp>
      <p:sp>
        <p:nvSpPr>
          <p:cNvPr id="24" name="Card text"/>
          <p:cNvSpPr txBox="1"/>
          <p:nvPr/>
        </p:nvSpPr>
        <p:spPr>
          <a:xfrm>
            <a:off x="9826508" y="3282696"/>
            <a:ext cx="1633667" cy="384048"/>
          </a:xfrm>
          <a:prstGeom prst="rect">
            <a:avLst/>
          </a:prstGeom>
          <a:noFill/>
          <a:ln/>
        </p:spPr>
        <p:txBody>
          <a:bodyPr wrap="square" lIns="0" tIns="0" rIns="0" bIns="0" rtlCol="0" anchor="t"/>
          <a:lstStyle/>
          <a:p>
            <a:pPr indent="0" marL="0">
              <a:buNone/>
            </a:pPr>
            <a:r>
              <a:rPr lang="en-US" sz="1200" dirty="0">
                <a:solidFill>
                  <a:schemeClr val="tx2"/>
                </a:solidFill>
              </a:rPr>
              <a:t>Theorem 5.2 · Figure 5.2</a:t>
            </a:r>
            <a:endParaRPr lang="en-US" sz="1200" dirty="0"/>
          </a:p>
        </p:txBody>
      </p:sp>
      <p:sp>
        <p:nvSpPr>
          <p:cNvPr id="25" name="Card"/>
          <p:cNvSpPr/>
          <p:nvPr/>
        </p:nvSpPr>
        <p:spPr>
          <a:xfrm>
            <a:off x="548640" y="4069080"/>
            <a:ext cx="1999427" cy="2103120"/>
          </a:xfrm>
          <a:prstGeom prst="roundRect">
            <a:avLst>
              <a:gd name="adj" fmla="val 3659"/>
            </a:avLst>
          </a:prstGeom>
          <a:solidFill>
            <a:schemeClr val="bg2"/>
          </a:solidFill>
          <a:ln w="9525">
            <a:solidFill>
              <a:srgbClr val="C4CBD8"/>
            </a:solidFill>
            <a:prstDash val="solid"/>
          </a:ln>
        </p:spPr>
      </p:sp>
      <p:sp>
        <p:nvSpPr>
          <p:cNvPr id="26" name="Card label"/>
          <p:cNvSpPr txBox="1"/>
          <p:nvPr/>
        </p:nvSpPr>
        <p:spPr>
          <a:xfrm>
            <a:off x="731520" y="419709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§5.6</a:t>
            </a:r>
            <a:endParaRPr lang="en-US" sz="1300" dirty="0"/>
          </a:p>
        </p:txBody>
      </p:sp>
      <p:sp>
        <p:nvSpPr>
          <p:cNvPr id="27" name="Card head"/>
          <p:cNvSpPr txBox="1"/>
          <p:nvPr/>
        </p:nvSpPr>
        <p:spPr>
          <a:xfrm>
            <a:off x="731520" y="452628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Plans, Rules, and Re-planning</a:t>
            </a:r>
            <a:endParaRPr lang="en-US" sz="1300" dirty="0"/>
          </a:p>
        </p:txBody>
      </p:sp>
      <p:sp>
        <p:nvSpPr>
          <p:cNvPr id="28" name="Card text"/>
          <p:cNvSpPr txBox="1"/>
          <p:nvPr/>
        </p:nvSpPr>
        <p:spPr>
          <a:xfrm>
            <a:off x="731520" y="5660136"/>
            <a:ext cx="1633667" cy="384048"/>
          </a:xfrm>
          <a:prstGeom prst="rect">
            <a:avLst/>
          </a:prstGeom>
          <a:noFill/>
          <a:ln/>
        </p:spPr>
        <p:txBody>
          <a:bodyPr wrap="square" lIns="0" tIns="0" rIns="0" bIns="0" rtlCol="0" anchor="t"/>
          <a:lstStyle/>
          <a:p>
            <a:pPr indent="0" marL="0">
              <a:buNone/>
            </a:pPr>
            <a:r>
              <a:rPr lang="en-US" sz="1200" dirty="0">
                <a:solidFill>
                  <a:schemeClr val="tx2"/>
                </a:solidFill>
              </a:rPr>
              <a:t>Definition 5.2 · Theorem 5.3</a:t>
            </a:r>
            <a:endParaRPr lang="en-US" sz="1200" dirty="0"/>
          </a:p>
        </p:txBody>
      </p:sp>
      <p:sp>
        <p:nvSpPr>
          <p:cNvPr id="29" name="Card"/>
          <p:cNvSpPr/>
          <p:nvPr/>
        </p:nvSpPr>
        <p:spPr>
          <a:xfrm>
            <a:off x="2822387" y="4069080"/>
            <a:ext cx="1999427" cy="2103120"/>
          </a:xfrm>
          <a:prstGeom prst="roundRect">
            <a:avLst>
              <a:gd name="adj" fmla="val 3659"/>
            </a:avLst>
          </a:prstGeom>
          <a:solidFill>
            <a:schemeClr val="tx1"/>
          </a:solidFill>
          <a:ln w="9525">
            <a:solidFill>
              <a:srgbClr val="0F1E3D"/>
            </a:solidFill>
            <a:prstDash val="solid"/>
          </a:ln>
        </p:spPr>
      </p:sp>
      <p:sp>
        <p:nvSpPr>
          <p:cNvPr id="30" name="Card label"/>
          <p:cNvSpPr txBox="1"/>
          <p:nvPr/>
        </p:nvSpPr>
        <p:spPr>
          <a:xfrm>
            <a:off x="3005267" y="419709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Worked Example 5.1</a:t>
            </a:r>
            <a:endParaRPr lang="en-US" sz="1300" dirty="0"/>
          </a:p>
        </p:txBody>
      </p:sp>
      <p:sp>
        <p:nvSpPr>
          <p:cNvPr id="31" name="Card head"/>
          <p:cNvSpPr txBox="1"/>
          <p:nvPr/>
        </p:nvSpPr>
        <p:spPr>
          <a:xfrm>
            <a:off x="3005267" y="4526280"/>
            <a:ext cx="1633667" cy="1060704"/>
          </a:xfrm>
          <a:prstGeom prst="rect">
            <a:avLst/>
          </a:prstGeom>
          <a:noFill/>
          <a:ln/>
        </p:spPr>
        <p:txBody>
          <a:bodyPr wrap="square" lIns="0" tIns="0" rIns="0" bIns="0" rtlCol="0" anchor="t"/>
          <a:lstStyle/>
          <a:p>
            <a:pPr indent="0" marL="0">
              <a:buNone/>
            </a:pPr>
            <a:r>
              <a:rPr lang="en-US" sz="1300" b="1" dirty="0">
                <a:solidFill>
                  <a:schemeClr val="bg1"/>
                </a:solidFill>
                <a:latin typeface="Cambria" pitchFamily="34" charset="0"/>
                <a:ea typeface="Cambria" pitchFamily="34" charset="-122"/>
                <a:cs typeface="Cambria" pitchFamily="34" charset="-120"/>
              </a:rPr>
              <a:t>When Should Meridian Pay Its Shareholders?</a:t>
            </a:r>
            <a:endParaRPr lang="en-US" sz="1300" dirty="0"/>
          </a:p>
        </p:txBody>
      </p:sp>
      <p:sp>
        <p:nvSpPr>
          <p:cNvPr id="32" name="Card text"/>
          <p:cNvSpPr txBox="1"/>
          <p:nvPr/>
        </p:nvSpPr>
        <p:spPr>
          <a:xfrm>
            <a:off x="3005267" y="5660136"/>
            <a:ext cx="1633667" cy="384048"/>
          </a:xfrm>
          <a:prstGeom prst="rect">
            <a:avLst/>
          </a:prstGeom>
          <a:noFill/>
          <a:ln/>
        </p:spPr>
        <p:txBody>
          <a:bodyPr wrap="square" lIns="0" tIns="0" rIns="0" bIns="0" rtlCol="0" anchor="t"/>
          <a:lstStyle/>
          <a:p>
            <a:pPr indent="0" marL="0">
              <a:buNone/>
            </a:pPr>
            <a:r>
              <a:rPr lang="en-US" sz="1200" dirty="0">
                <a:solidFill>
                  <a:schemeClr val="bg2"/>
                </a:solidFill>
              </a:rPr>
              <a:t>Table 5.3 · Figure 5.3</a:t>
            </a:r>
            <a:endParaRPr lang="en-US" sz="1200" dirty="0"/>
          </a:p>
        </p:txBody>
      </p:sp>
      <p:sp>
        <p:nvSpPr>
          <p:cNvPr id="33" name="Card"/>
          <p:cNvSpPr/>
          <p:nvPr/>
        </p:nvSpPr>
        <p:spPr>
          <a:xfrm>
            <a:off x="5096134" y="4069080"/>
            <a:ext cx="1999427" cy="2103120"/>
          </a:xfrm>
          <a:prstGeom prst="roundRect">
            <a:avLst>
              <a:gd name="adj" fmla="val 3659"/>
            </a:avLst>
          </a:prstGeom>
          <a:solidFill>
            <a:schemeClr val="bg2"/>
          </a:solidFill>
          <a:ln w="9525">
            <a:solidFill>
              <a:srgbClr val="C4CBD8"/>
            </a:solidFill>
            <a:prstDash val="solid"/>
          </a:ln>
        </p:spPr>
      </p:sp>
      <p:sp>
        <p:nvSpPr>
          <p:cNvPr id="34" name="Card label"/>
          <p:cNvSpPr txBox="1"/>
          <p:nvPr/>
        </p:nvSpPr>
        <p:spPr>
          <a:xfrm>
            <a:off x="5279014" y="419709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In Practice</a:t>
            </a:r>
            <a:endParaRPr lang="en-US" sz="1300" dirty="0"/>
          </a:p>
        </p:txBody>
      </p:sp>
      <p:sp>
        <p:nvSpPr>
          <p:cNvPr id="35" name="Card head"/>
          <p:cNvSpPr txBox="1"/>
          <p:nvPr/>
        </p:nvSpPr>
        <p:spPr>
          <a:xfrm>
            <a:off x="5279014" y="452628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Zara Re-plans Its Clearance Every Week</a:t>
            </a:r>
            <a:endParaRPr lang="en-US" sz="1300" dirty="0"/>
          </a:p>
        </p:txBody>
      </p:sp>
      <p:sp>
        <p:nvSpPr>
          <p:cNvPr id="36" name="Card text"/>
          <p:cNvSpPr txBox="1"/>
          <p:nvPr/>
        </p:nvSpPr>
        <p:spPr>
          <a:xfrm>
            <a:off x="5279014" y="5660136"/>
            <a:ext cx="1633667" cy="384048"/>
          </a:xfrm>
          <a:prstGeom prst="rect">
            <a:avLst/>
          </a:prstGeom>
          <a:noFill/>
          <a:ln/>
        </p:spPr>
        <p:txBody>
          <a:bodyPr wrap="square" lIns="0" tIns="0" rIns="0" bIns="0" rtlCol="0" anchor="t"/>
          <a:lstStyle/>
          <a:p>
            <a:pPr indent="0" marL="0">
              <a:buNone/>
            </a:pPr>
            <a:r>
              <a:rPr lang="en-US" sz="1200" dirty="0">
                <a:solidFill>
                  <a:schemeClr val="tx2"/>
                </a:solidFill>
              </a:rPr>
              <a:t>At a Glance · board questions</a:t>
            </a:r>
            <a:endParaRPr lang="en-US" sz="1200" dirty="0"/>
          </a:p>
        </p:txBody>
      </p:sp>
      <p:sp>
        <p:nvSpPr>
          <p:cNvPr id="37" name="Card"/>
          <p:cNvSpPr/>
          <p:nvPr/>
        </p:nvSpPr>
        <p:spPr>
          <a:xfrm>
            <a:off x="7369881" y="4069080"/>
            <a:ext cx="1999427" cy="2103120"/>
          </a:xfrm>
          <a:prstGeom prst="roundRect">
            <a:avLst>
              <a:gd name="adj" fmla="val 3659"/>
            </a:avLst>
          </a:prstGeom>
          <a:solidFill>
            <a:schemeClr val="bg2"/>
          </a:solidFill>
          <a:ln w="9525">
            <a:solidFill>
              <a:srgbClr val="C4CBD8"/>
            </a:solidFill>
            <a:prstDash val="solid"/>
          </a:ln>
        </p:spPr>
      </p:sp>
      <p:sp>
        <p:nvSpPr>
          <p:cNvPr id="38" name="Card label"/>
          <p:cNvSpPr txBox="1"/>
          <p:nvPr/>
        </p:nvSpPr>
        <p:spPr>
          <a:xfrm>
            <a:off x="7552761" y="419709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AXIOM Lab 2.5</a:t>
            </a:r>
            <a:endParaRPr lang="en-US" sz="1300" dirty="0"/>
          </a:p>
        </p:txBody>
      </p:sp>
      <p:sp>
        <p:nvSpPr>
          <p:cNvPr id="39" name="Card head"/>
          <p:cNvSpPr txBox="1"/>
          <p:nvPr/>
        </p:nvSpPr>
        <p:spPr>
          <a:xfrm>
            <a:off x="7552761" y="452628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Planning over Time: Plans, Rules, and Horizons</a:t>
            </a:r>
            <a:endParaRPr lang="en-US" sz="1300" dirty="0"/>
          </a:p>
        </p:txBody>
      </p:sp>
      <p:sp>
        <p:nvSpPr>
          <p:cNvPr id="40" name="Card text"/>
          <p:cNvSpPr txBox="1"/>
          <p:nvPr/>
        </p:nvSpPr>
        <p:spPr>
          <a:xfrm>
            <a:off x="7552761" y="5660136"/>
            <a:ext cx="1633667" cy="384048"/>
          </a:xfrm>
          <a:prstGeom prst="rect">
            <a:avLst/>
          </a:prstGeom>
          <a:noFill/>
          <a:ln/>
        </p:spPr>
        <p:txBody>
          <a:bodyPr wrap="square" lIns="0" tIns="0" rIns="0" bIns="0" rtlCol="0" anchor="t"/>
          <a:lstStyle/>
          <a:p>
            <a:pPr indent="0" marL="0">
              <a:buNone/>
            </a:pPr>
            <a:r>
              <a:rPr lang="en-US" sz="1200" dirty="0">
                <a:solidFill>
                  <a:schemeClr val="tx2"/>
                </a:solidFill>
              </a:rPr>
              <a:t>AXIOM-05 · five steps</a:t>
            </a:r>
            <a:endParaRPr lang="en-US" sz="12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§5.1 · TABLE 5.1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What changes when an instance unfolds over time</a:t>
            </a:r>
            <a:endParaRPr lang="en-US" sz="3200" dirty="0"/>
          </a:p>
        </p:txBody>
      </p:sp>
      <p:graphicFrame>
        <p:nvGraphicFramePr>
          <p:cNvPr id="6"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1742098"/>
                <a:gridCol w="3209128"/>
                <a:gridCol w="6143189"/>
              </a:tblGrid>
              <a:tr h="566928">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Part I instance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Dynamic instance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566928">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Decision</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a vector, chosen once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a plan (a path of decisions) or a rule (decisions as functions of the state)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66928">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Commitments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one check each</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one check per period, plus conditions before decisions and at the end</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566928">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Value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one number</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running values discounted period by period, plus a terminal value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66928">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Prices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one per binding commitment</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one per commitment per period, and one for each stock at each date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566928">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Typical failure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a local or lumpy answer reported as best</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a myopic decision; a plan that runs the company down at its horizon; a plan reversed when re-made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bl>
          </a:graphicData>
        </a:graphic>
      </p:graphicFrame>
      <p:sp>
        <p:nvSpPr>
          <p:cNvPr id="6"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Time adds stocks, delays, and commitments on whole paths, and takes away the right to decide everything at once.</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§5.1 · PROPOSITION 5.1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Deciding year by year breaks commitments</a:t>
            </a:r>
            <a:endParaRPr lang="en-US" sz="3200" dirty="0"/>
          </a:p>
        </p:txBody>
      </p:sp>
      <p:sp>
        <p:nvSpPr>
          <p:cNvPr id="5" name="Result card"/>
          <p:cNvSpPr/>
          <p:nvPr/>
        </p:nvSpPr>
        <p:spPr>
          <a:xfrm>
            <a:off x="548640" y="1691640"/>
            <a:ext cx="594360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39496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PROPOSITION 5.1</a:t>
            </a:r>
            <a:endParaRPr lang="en-US" sz="1200" dirty="0"/>
          </a:p>
        </p:txBody>
      </p:sp>
      <p:sp>
        <p:nvSpPr>
          <p:cNvPr id="7" name="Text 4"/>
          <p:cNvSpPr txBox="1"/>
          <p:nvPr/>
        </p:nvSpPr>
        <p:spPr>
          <a:xfrm>
            <a:off x="822960" y="2194560"/>
            <a:ext cx="539496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Myopia Fails</a:t>
            </a:r>
            <a:endParaRPr lang="en-US" sz="2100" dirty="0"/>
          </a:p>
        </p:txBody>
      </p:sp>
      <p:sp>
        <p:nvSpPr>
          <p:cNvPr id="8" name="Bullets"/>
          <p:cNvSpPr txBox="1"/>
          <p:nvPr/>
        </p:nvSpPr>
        <p:spPr>
          <a:xfrm>
            <a:off x="822960" y="2743200"/>
            <a:ext cx="5394960" cy="3291840"/>
          </a:xfrm>
          <a:prstGeom prst="rect">
            <a:avLst/>
          </a:prstGeom>
          <a:noFill/>
          <a:ln/>
        </p:spPr>
        <p:txBody>
          <a:bodyPr wrap="square" lIns="635" tIns="635" rIns="635" bIns="635" rtlCol="0" anchor="t"/>
          <a:lstStyle/>
          <a:p>
            <a:pPr marL="228600" indent="-228600">
              <a:spcAft>
                <a:spcPts val="600"/>
              </a:spcAft>
              <a:buSzPct val="100000"/>
              <a:buChar char="•"/>
            </a:pPr>
            <a:r>
              <a:rPr lang="en-US" sz="1600" b="1" dirty="0">
                <a:solidFill>
                  <a:schemeClr val="tx1"/>
                </a:solidFill>
              </a:rPr>
              <a:t>(i)</a:t>
            </a:r>
            <a:r>
              <a:rPr lang="en-US" sz="1600" dirty="0">
                <a:solidFill>
                  <a:schemeClr val="tx1"/>
                </a:solidFill>
              </a:rPr>
              <a:t> Deciding each period for that period alone can break a later commitment, even when plans that keep every commitment exist</a:t>
            </a:r>
            <a:endParaRPr lang="en-US" sz="1600" dirty="0"/>
          </a:p>
          <a:p>
            <a:pPr marL="228600" indent="-228600">
              <a:spcAft>
                <a:spcPts val="600"/>
              </a:spcAft>
              <a:buSzPct val="100000"/>
              <a:buChar char="•"/>
            </a:pPr>
            <a:r>
              <a:rPr lang="en-US" sz="1600" b="1" dirty="0">
                <a:solidFill>
                  <a:schemeClr val="tx1"/>
                </a:solidFill>
              </a:rPr>
              <a:t>(ii)</a:t>
            </a:r>
            <a:r>
              <a:rPr lang="en-US" sz="1600" dirty="0">
                <a:solidFill>
                  <a:schemeClr val="tx1"/>
                </a:solidFill>
              </a:rPr>
              <a:t> It can lose any share of the best value, even when it keeps every commitment</a:t>
            </a:r>
            <a:endParaRPr lang="en-US" sz="1600" dirty="0"/>
          </a:p>
          <a:p>
            <a:pPr marL="228600" indent="-228600">
              <a:spcAft>
                <a:spcPts val="600"/>
              </a:spcAft>
              <a:buSzPct val="100000"/>
              <a:buChar char="•"/>
            </a:pPr>
            <a:r>
              <a:rPr lang="en-US" sz="1600" b="1" dirty="0">
                <a:solidFill>
                  <a:schemeClr val="tx1"/>
                </a:solidFill>
              </a:rPr>
              <a:t>(iii)</a:t>
            </a:r>
            <a:r>
              <a:rPr lang="en-US" sz="1600" dirty="0">
                <a:solidFill>
                  <a:schemeClr val="tx1"/>
                </a:solidFill>
              </a:rPr>
              <a:t> It is optimal when no decision moves the stocks on which later periods depend</a:t>
            </a:r>
            <a:endParaRPr lang="en-US" sz="1600" dirty="0"/>
          </a:p>
        </p:txBody>
      </p:sp>
      <p:sp>
        <p:nvSpPr>
          <p:cNvPr id="9" name="Text 6"/>
          <p:cNvSpPr txBox="1"/>
          <p:nvPr/>
        </p:nvSpPr>
        <p:spPr>
          <a:xfrm>
            <a:off x="6903720" y="1737360"/>
            <a:ext cx="4739335" cy="365760"/>
          </a:xfrm>
          <a:prstGeom prst="rect">
            <a:avLst/>
          </a:prstGeom>
          <a:noFill/>
          <a:ln/>
        </p:spPr>
        <p:txBody>
          <a:bodyPr wrap="square" lIns="0" tIns="0" rIns="0" bIns="0" rtlCol="0" anchor="ctr"/>
          <a:lstStyle/>
          <a:p>
            <a:pPr indent="0" marL="0">
              <a:buNone/>
            </a:pPr>
            <a:r>
              <a:rPr lang="en-US" sz="1600" b="1" dirty="0">
                <a:solidFill>
                  <a:schemeClr val="accent2"/>
                </a:solidFill>
              </a:rPr>
              <a:t>For Meridian</a:t>
            </a:r>
            <a:endParaRPr lang="en-US" sz="1600" dirty="0"/>
          </a:p>
        </p:txBody>
      </p:sp>
      <p:sp>
        <p:nvSpPr>
          <p:cNvPr id="10" name="Bullets"/>
          <p:cNvSpPr txBox="1"/>
          <p:nvPr/>
        </p:nvSpPr>
        <p:spPr>
          <a:xfrm>
            <a:off x="6903720" y="2194560"/>
            <a:ext cx="4739335" cy="397764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The CFO's rule pays out all cash above the $350m floor: $220m in year 1</a:t>
            </a:r>
            <a:endParaRPr lang="en-US" sz="1600" dirty="0"/>
          </a:p>
          <a:p>
            <a:pPr marL="228600" indent="-228600">
              <a:spcAft>
                <a:spcPts val="800"/>
              </a:spcAft>
              <a:buSzPct val="100000"/>
              <a:buChar char="•"/>
            </a:pPr>
            <a:r>
              <a:rPr lang="en-US" sz="1600" dirty="0">
                <a:solidFill>
                  <a:schemeClr val="tx1"/>
                </a:solidFill>
              </a:rPr>
              <a:t>A round needs $470m on hand, so the program stops after one round</a:t>
            </a:r>
            <a:endParaRPr lang="en-US" sz="1600" dirty="0"/>
          </a:p>
          <a:p>
            <a:pPr marL="228600" indent="-228600">
              <a:spcAft>
                <a:spcPts val="800"/>
              </a:spcAft>
              <a:buSzPct val="100000"/>
              <a:buChar char="•"/>
            </a:pPr>
            <a:r>
              <a:rPr lang="en-US" sz="1600" dirty="0">
                <a:solidFill>
                  <a:schemeClr val="tx1"/>
                </a:solidFill>
              </a:rPr>
              <a:t>Year 6 ends $120m short of the board's end condition</a:t>
            </a:r>
            <a:endParaRPr lang="en-US" sz="1600" dirty="0"/>
          </a:p>
          <a:p>
            <a:pPr marL="228600" indent="-228600">
              <a:spcAft>
                <a:spcPts val="800"/>
              </a:spcAft>
              <a:buSzPct val="100000"/>
              <a:buChar char="•"/>
            </a:pPr>
            <a:r>
              <a:rPr lang="en-US" sz="1600" dirty="0">
                <a:solidFill>
                  <a:schemeClr val="tx1"/>
                </a:solidFill>
              </a:rPr>
              <a:t>Judged year by year, no round is ever run: at most $70m of savings in its year against $120m</a:t>
            </a:r>
            <a:endParaRPr lang="en-US" sz="1600" dirty="0"/>
          </a:p>
          <a:p>
            <a:pPr marL="228600" indent="-228600">
              <a:spcAft>
                <a:spcPts val="800"/>
              </a:spcAft>
              <a:buSzPct val="100000"/>
              <a:buChar char="•"/>
            </a:pPr>
            <a:r>
              <a:rPr lang="en-US" sz="1600" dirty="0">
                <a:solidFill>
                  <a:schemeClr val="tx1"/>
                </a:solidFill>
              </a:rPr>
              <a:t>The repair: charge each year for the stocks it changes, at their prices</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§5.2 · DEFINITION 5.1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Declare the period, the discount and the end</a:t>
            </a:r>
            <a:endParaRPr lang="en-US" sz="3200" dirty="0"/>
          </a:p>
        </p:txBody>
      </p:sp>
      <p:sp>
        <p:nvSpPr>
          <p:cNvPr id="5" name="Result card"/>
          <p:cNvSpPr/>
          <p:nvPr/>
        </p:nvSpPr>
        <p:spPr>
          <a:xfrm>
            <a:off x="548640" y="1691640"/>
            <a:ext cx="594360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39496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DEFINITION 5.1</a:t>
            </a:r>
            <a:endParaRPr lang="en-US" sz="1200" dirty="0"/>
          </a:p>
        </p:txBody>
      </p:sp>
      <p:sp>
        <p:nvSpPr>
          <p:cNvPr id="7" name="Text 4"/>
          <p:cNvSpPr txBox="1"/>
          <p:nvPr/>
        </p:nvSpPr>
        <p:spPr>
          <a:xfrm>
            <a:off x="822960" y="2194560"/>
            <a:ext cx="539496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Dynamic Enterprise Optimization</a:t>
            </a:r>
            <a:endParaRPr lang="en-US" sz="2100" dirty="0"/>
          </a:p>
        </p:txBody>
      </p:sp>
      <p:pic>
        <p:nvPicPr>
          <p:cNvPr id="8" name="Equation" descr="Equation: \max_{u_0,\ldots,u_{K-1}}\ \sum_{k=0}^{K-1}\beta^{k}\,\ell_k(x_k,u_k)\;+\;\beta^{K}\,\Phi(x_K)">    </p:cNvPr>
          <p:cNvPicPr>
            <a:picLocks noChangeAspect="1"/>
          </p:cNvPicPr>
          <p:nvPr/>
        </p:nvPicPr>
        <p:blipFill>
          <a:blip r:embed="rId1"/>
          <a:stretch>
            <a:fillRect/>
          </a:stretch>
        </p:blipFill>
        <p:spPr>
          <a:xfrm>
            <a:off x="822960" y="2743200"/>
            <a:ext cx="3633034" cy="731520"/>
          </a:xfrm>
          <a:prstGeom prst="rect">
            <a:avLst/>
          </a:prstGeom>
        </p:spPr>
      </p:pic>
      <p:sp>
        <p:nvSpPr>
          <p:cNvPr id="9" name="Bullets"/>
          <p:cNvSpPr txBox="1"/>
          <p:nvPr/>
        </p:nvSpPr>
        <p:spPr>
          <a:xfrm>
            <a:off x="822960" y="3639312"/>
            <a:ext cx="5394960" cy="2395728"/>
          </a:xfrm>
          <a:prstGeom prst="rect">
            <a:avLst/>
          </a:prstGeom>
          <a:noFill/>
          <a:ln/>
        </p:spPr>
        <p:txBody>
          <a:bodyPr wrap="square" lIns="635" tIns="635" rIns="635" bIns="635" rtlCol="0" anchor="t"/>
          <a:lstStyle/>
          <a:p>
            <a:pPr marL="228600" indent="-228600">
              <a:spcAft>
                <a:spcPts val="600"/>
              </a:spcAft>
              <a:buSzPct val="100000"/>
              <a:buChar char="•"/>
            </a:pPr>
            <a:r>
              <a:rPr lang="en-US" sz="1500" b="1" dirty="0">
                <a:solidFill>
                  <a:schemeClr val="tx1"/>
                </a:solidFill>
              </a:rPr>
              <a:t>Dynamics</a:t>
            </a:r>
            <a:r>
              <a:rPr lang="en-US" sz="1500" dirty="0">
                <a:solidFill>
                  <a:schemeClr val="tx1"/>
                </a:solidFill>
              </a:rPr>
              <a:t> carry the state from each date to the next</a:t>
            </a:r>
            <a:endParaRPr lang="en-US" sz="1500" dirty="0"/>
          </a:p>
          <a:p>
            <a:pPr marL="228600" indent="-228600">
              <a:spcAft>
                <a:spcPts val="600"/>
              </a:spcAft>
              <a:buSzPct val="100000"/>
              <a:buChar char="•"/>
            </a:pPr>
            <a:r>
              <a:rPr lang="en-US" sz="1500" b="1" dirty="0">
                <a:solidFill>
                  <a:schemeClr val="tx1"/>
                </a:solidFill>
              </a:rPr>
              <a:t>Commitments</a:t>
            </a:r>
            <a:r>
              <a:rPr lang="en-US" sz="1500" dirty="0">
                <a:solidFill>
                  <a:schemeClr val="tx1"/>
                </a:solidFill>
              </a:rPr>
              <a:t> hold on every date: limits, floors, preconditions, and an end set</a:t>
            </a:r>
            <a:endParaRPr lang="en-US" sz="1500" dirty="0"/>
          </a:p>
          <a:p>
            <a:pPr marL="228600" indent="-228600">
              <a:spcAft>
                <a:spcPts val="600"/>
              </a:spcAft>
              <a:buSzPct val="100000"/>
              <a:buChar char="•"/>
            </a:pPr>
            <a:r>
              <a:rPr lang="en-US" sz="1500" b="1" dirty="0">
                <a:solidFill>
                  <a:schemeClr val="tx1"/>
                </a:solidFill>
              </a:rPr>
              <a:t>Discount</a:t>
            </a:r>
            <a:r>
              <a:rPr lang="en-US" sz="1500" dirty="0">
                <a:solidFill>
                  <a:schemeClr val="tx1"/>
                </a:solidFill>
              </a:rPr>
              <a:t> β = 1/(1 + r) at the hurdle rate r; in continuous time ρ = ln(1 + r)</a:t>
            </a:r>
            <a:endParaRPr lang="en-US" sz="1500" dirty="0"/>
          </a:p>
          <a:p>
            <a:pPr marL="228600" indent="-228600">
              <a:spcAft>
                <a:spcPts val="600"/>
              </a:spcAft>
              <a:buSzPct val="100000"/>
              <a:buChar char="•"/>
            </a:pPr>
            <a:r>
              <a:rPr lang="en-US" sz="1500" b="1" dirty="0">
                <a:solidFill>
                  <a:schemeClr val="tx1"/>
                </a:solidFill>
              </a:rPr>
              <a:t>Terminal value</a:t>
            </a:r>
            <a:r>
              <a:rPr lang="en-US" sz="1500" dirty="0">
                <a:solidFill>
                  <a:schemeClr val="tx1"/>
                </a:solidFill>
              </a:rPr>
              <a:t> Φ: what the position the plan leaves is worth to the board</a:t>
            </a:r>
            <a:endParaRPr lang="en-US" sz="1500" dirty="0"/>
          </a:p>
        </p:txBody>
      </p:sp>
      <p:sp>
        <p:nvSpPr>
          <p:cNvPr id="10" name="Text 6"/>
          <p:cNvSpPr txBox="1"/>
          <p:nvPr/>
        </p:nvSpPr>
        <p:spPr>
          <a:xfrm>
            <a:off x="6903720" y="1737360"/>
            <a:ext cx="4739335" cy="365760"/>
          </a:xfrm>
          <a:prstGeom prst="rect">
            <a:avLst/>
          </a:prstGeom>
          <a:noFill/>
          <a:ln/>
        </p:spPr>
        <p:txBody>
          <a:bodyPr wrap="square" lIns="0" tIns="0" rIns="0" bIns="0" rtlCol="0" anchor="ctr"/>
          <a:lstStyle/>
          <a:p>
            <a:pPr indent="0" marL="0">
              <a:buNone/>
            </a:pPr>
            <a:r>
              <a:rPr lang="en-US" sz="1600" b="1" dirty="0">
                <a:solidFill>
                  <a:schemeClr val="accent2"/>
                </a:solidFill>
              </a:rPr>
              <a:t>For Meridian</a:t>
            </a:r>
            <a:endParaRPr lang="en-US" sz="1600" dirty="0"/>
          </a:p>
        </p:txBody>
      </p:sp>
      <p:sp>
        <p:nvSpPr>
          <p:cNvPr id="11" name="Bullets"/>
          <p:cNvSpPr txBox="1"/>
          <p:nvPr/>
        </p:nvSpPr>
        <p:spPr>
          <a:xfrm>
            <a:off x="6903720" y="2194560"/>
            <a:ext cx="4739335" cy="397764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State: year-end cash and efficiency; decisions: a round and a payout</a:t>
            </a:r>
            <a:endParaRPr lang="en-US" sz="1600" dirty="0"/>
          </a:p>
          <a:p>
            <a:pPr marL="228600" indent="-228600">
              <a:spcAft>
                <a:spcPts val="800"/>
              </a:spcAft>
              <a:buSzPct val="100000"/>
              <a:buChar char="•"/>
            </a:pPr>
            <a:r>
              <a:rPr lang="en-US" sz="1600" dirty="0">
                <a:solidFill>
                  <a:schemeClr val="tx1"/>
                </a:solidFill>
              </a:rPr>
              <a:t>A round costs $120m and closes half the gap to 85; a point saves $10m a year</a:t>
            </a:r>
            <a:endParaRPr lang="en-US" sz="1600" dirty="0"/>
          </a:p>
          <a:p>
            <a:pPr marL="228600" indent="-228600">
              <a:spcAft>
                <a:spcPts val="800"/>
              </a:spcAft>
              <a:buSzPct val="100000"/>
              <a:buChar char="•"/>
            </a:pPr>
            <a:r>
              <a:rPr lang="en-US" sz="1600" dirty="0">
                <a:solidFill>
                  <a:schemeClr val="tx1"/>
                </a:solidFill>
              </a:rPr>
              <a:t>The board declares a 10 percent hurdle rate and savings that continue forever</a:t>
            </a:r>
            <a:endParaRPr lang="en-US" sz="1600" dirty="0"/>
          </a:p>
          <a:p>
            <a:pPr marL="228600" indent="-228600">
              <a:spcAft>
                <a:spcPts val="800"/>
              </a:spcAft>
              <a:buSzPct val="100000"/>
              <a:buChar char="•"/>
            </a:pPr>
            <a:r>
              <a:rPr lang="en-US" sz="1600" dirty="0">
                <a:solidFill>
                  <a:schemeClr val="tx1"/>
                </a:solidFill>
              </a:rPr>
              <a:t>A best plan exists on any calendar; in continuous time it needs convexity (Proposition 5.2)</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§5.2 · TABLE 5.2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Commitments take six forms over time</a:t>
            </a:r>
            <a:endParaRPr lang="en-US" sz="3200" dirty="0"/>
          </a:p>
        </p:txBody>
      </p:sp>
      <p:graphicFrame>
        <p:nvGraphicFramePr>
          <p:cNvPr id="9"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1742098"/>
                <a:gridCol w="5776431"/>
                <a:gridCol w="3575886"/>
              </a:tblGrid>
              <a:tr h="512064">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Kind</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Meridian</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In the program</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512064">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Path</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liquidity of at least $350 million at every year end</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one constraint per period</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12064">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Precondition</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 round needs $470 million on hand when it starts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links a decision to the state before it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512064">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End</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$470 million at the end of year 6, cash for another round</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 constraint on the last state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12064">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Cumulative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total automation spending under a capital cap (Worked Example 3.1)</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 sum over periods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512064">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Rate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capability rebuilt by at most 2.5 points a quarter (Volume I, Chapter 10)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 bound on the change between periods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12064">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Sequence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the digital build needs capability of at least 55 first (Volume I, Chapter 3)</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 logical, often lumpy, constraint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bl>
          </a:graphicData>
        </a:graphic>
      </p:graphicFrame>
      <p:sp>
        <p:nvSpPr>
          <p:cNvPr id="6"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Proposition 5.2: a best plan exists on any calendar of review dates; in continuous time only with convexity.</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§5.3 · THEOREM 5.1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Transcribe the path into one program</a:t>
            </a:r>
            <a:endParaRPr lang="en-US" sz="3200" dirty="0"/>
          </a:p>
        </p:txBody>
      </p:sp>
      <p:sp>
        <p:nvSpPr>
          <p:cNvPr id="5" name="Result card"/>
          <p:cNvSpPr/>
          <p:nvPr/>
        </p:nvSpPr>
        <p:spPr>
          <a:xfrm>
            <a:off x="548640" y="1691640"/>
            <a:ext cx="594360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39496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THEOREM 5.1</a:t>
            </a:r>
            <a:endParaRPr lang="en-US" sz="1200" dirty="0"/>
          </a:p>
        </p:txBody>
      </p:sp>
      <p:sp>
        <p:nvSpPr>
          <p:cNvPr id="7" name="Text 4"/>
          <p:cNvSpPr txBox="1"/>
          <p:nvPr/>
        </p:nvSpPr>
        <p:spPr>
          <a:xfrm>
            <a:off x="822960" y="2194560"/>
            <a:ext cx="539496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Transcription Theorem</a:t>
            </a:r>
            <a:endParaRPr lang="en-US" sz="2100" dirty="0"/>
          </a:p>
        </p:txBody>
      </p:sp>
      <p:sp>
        <p:nvSpPr>
          <p:cNvPr id="8" name="Bullets"/>
          <p:cNvSpPr txBox="1"/>
          <p:nvPr/>
        </p:nvSpPr>
        <p:spPr>
          <a:xfrm>
            <a:off x="822960" y="2743200"/>
            <a:ext cx="5394960" cy="3291840"/>
          </a:xfrm>
          <a:prstGeom prst="rect">
            <a:avLst/>
          </a:prstGeom>
          <a:noFill/>
          <a:ln/>
        </p:spPr>
        <p:txBody>
          <a:bodyPr wrap="square" lIns="635" tIns="635" rIns="635" bIns="635" rtlCol="0" anchor="t"/>
          <a:lstStyle/>
          <a:p>
            <a:pPr marL="228600" indent="-228600">
              <a:spcAft>
                <a:spcPts val="600"/>
              </a:spcAft>
              <a:buSzPct val="100000"/>
              <a:buChar char="•"/>
            </a:pPr>
            <a:r>
              <a:rPr lang="en-US" sz="1600" b="1" dirty="0">
                <a:solidFill>
                  <a:schemeClr val="tx1"/>
                </a:solidFill>
              </a:rPr>
              <a:t>(i) Floors.</a:t>
            </a:r>
            <a:r>
              <a:rPr lang="en-US" sz="1600" dirty="0">
                <a:solidFill>
                  <a:schemeClr val="tx1"/>
                </a:solidFill>
              </a:rPr>
              <a:t> A calendar's best value is a floor on the true one, and a finer calendar never lowers it</a:t>
            </a:r>
            <a:endParaRPr lang="en-US" sz="1600" dirty="0"/>
          </a:p>
          <a:p>
            <a:pPr marL="228600" indent="-228600">
              <a:spcAft>
                <a:spcPts val="600"/>
              </a:spcAft>
              <a:buSzPct val="100000"/>
              <a:buChar char="•"/>
            </a:pPr>
            <a:r>
              <a:rPr lang="en-US" sz="1600" b="1" dirty="0">
                <a:solidFill>
                  <a:schemeClr val="tx1"/>
                </a:solidFill>
              </a:rPr>
              <a:t>(ii) Convergence.</a:t>
            </a:r>
            <a:r>
              <a:rPr lang="en-US" sz="1600" dirty="0">
                <a:solidFill>
                  <a:schemeClr val="tx1"/>
                </a:solidFill>
              </a:rPr>
              <a:t> The floors approach the true value when near-best plans keep the commitments with room to spare</a:t>
            </a:r>
            <a:endParaRPr lang="en-US" sz="1600" dirty="0"/>
          </a:p>
          <a:p>
            <a:pPr marL="228600" indent="-228600">
              <a:spcAft>
                <a:spcPts val="600"/>
              </a:spcAft>
              <a:buSzPct val="100000"/>
              <a:buChar char="•"/>
            </a:pPr>
            <a:r>
              <a:rPr lang="en-US" sz="1600" b="1" dirty="0">
                <a:solidFill>
                  <a:schemeClr val="tx1"/>
                </a:solidFill>
              </a:rPr>
              <a:t>(iii) Prices.</a:t>
            </a:r>
            <a:r>
              <a:rPr lang="en-US" sz="1600" dirty="0">
                <a:solidFill>
                  <a:schemeClr val="tx1"/>
                </a:solidFill>
              </a:rPr>
              <a:t> The multipliers of the dynamics price every stock at every date, computed backward from the end</a:t>
            </a:r>
            <a:endParaRPr lang="en-US" sz="1600" dirty="0"/>
          </a:p>
          <a:p>
            <a:pPr marL="228600" indent="-228600">
              <a:spcAft>
                <a:spcPts val="600"/>
              </a:spcAft>
              <a:buSzPct val="100000"/>
              <a:buChar char="•"/>
            </a:pPr>
            <a:r>
              <a:rPr lang="en-US" sz="1600" b="1" dirty="0">
                <a:solidFill>
                  <a:schemeClr val="tx1"/>
                </a:solidFill>
              </a:rPr>
              <a:t>(iv) Methods.</a:t>
            </a:r>
            <a:r>
              <a:rPr lang="en-US" sz="1600" dirty="0">
                <a:solidFill>
                  <a:schemeClr val="tx1"/>
                </a:solidFill>
              </a:rPr>
              <a:t> Linear dynamics give a convex program; nonlinear dynamics a nonlinear one; lumpy decisions a mixed-integer one</a:t>
            </a:r>
            <a:endParaRPr lang="en-US" sz="1600" dirty="0"/>
          </a:p>
        </p:txBody>
      </p:sp>
      <p:sp>
        <p:nvSpPr>
          <p:cNvPr id="9" name="Text 6"/>
          <p:cNvSpPr txBox="1"/>
          <p:nvPr/>
        </p:nvSpPr>
        <p:spPr>
          <a:xfrm>
            <a:off x="6903720" y="1737360"/>
            <a:ext cx="4739335" cy="365760"/>
          </a:xfrm>
          <a:prstGeom prst="rect">
            <a:avLst/>
          </a:prstGeom>
          <a:noFill/>
          <a:ln/>
        </p:spPr>
        <p:txBody>
          <a:bodyPr wrap="square" lIns="0" tIns="0" rIns="0" bIns="0" rtlCol="0" anchor="ctr"/>
          <a:lstStyle/>
          <a:p>
            <a:pPr indent="0" marL="0">
              <a:buNone/>
            </a:pPr>
            <a:r>
              <a:rPr lang="en-US" sz="1600" b="1" dirty="0">
                <a:solidFill>
                  <a:schemeClr val="accent2"/>
                </a:solidFill>
              </a:rPr>
              <a:t>What it means</a:t>
            </a:r>
            <a:endParaRPr lang="en-US" sz="1600" dirty="0"/>
          </a:p>
        </p:txBody>
      </p:sp>
      <p:sp>
        <p:nvSpPr>
          <p:cNvPr id="10" name="Bullets"/>
          <p:cNvSpPr txBox="1"/>
          <p:nvPr/>
        </p:nvSpPr>
        <p:spPr>
          <a:xfrm>
            <a:off x="6903720" y="2194560"/>
            <a:ext cx="4739335" cy="397764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A plan on a quarterly calendar is one the company can carry out; monthly reviews can only help</a:t>
            </a:r>
            <a:endParaRPr lang="en-US" sz="1600" dirty="0"/>
          </a:p>
          <a:p>
            <a:pPr marL="228600" indent="-228600">
              <a:spcAft>
                <a:spcPts val="800"/>
              </a:spcAft>
              <a:buSzPct val="100000"/>
              <a:buChar char="•"/>
            </a:pPr>
            <a:r>
              <a:rPr lang="en-US" sz="1600" dirty="0">
                <a:solidFill>
                  <a:schemeClr val="tx1"/>
                </a:solidFill>
              </a:rPr>
              <a:t>With prices, judge each year on its own: its value plus the priced change in the stocks</a:t>
            </a:r>
            <a:endParaRPr lang="en-US" sz="1600" dirty="0"/>
          </a:p>
          <a:p>
            <a:pPr marL="228600" indent="-228600">
              <a:spcAft>
                <a:spcPts val="800"/>
              </a:spcAft>
              <a:buSzPct val="100000"/>
              <a:buChar char="•"/>
            </a:pPr>
            <a:r>
              <a:rPr lang="en-US" sz="1600" dirty="0">
                <a:solidFill>
                  <a:schemeClr val="tx1"/>
                </a:solidFill>
              </a:rPr>
              <a:t>That is myopia repaired, the idea Chapter 6 develops as the maximum principle</a:t>
            </a:r>
            <a:endParaRPr lang="en-US" sz="1600" dirty="0"/>
          </a:p>
          <a:p>
            <a:pPr marL="228600" indent="-228600">
              <a:spcAft>
                <a:spcPts val="800"/>
              </a:spcAft>
              <a:buSzPct val="100000"/>
              <a:buChar char="•"/>
            </a:pPr>
            <a:r>
              <a:rPr lang="en-US" sz="1600" dirty="0">
                <a:solidFill>
                  <a:schemeClr val="tx1"/>
                </a:solidFill>
              </a:rPr>
              <a:t>Meridian: six lumpy rounds with a linear payout program inside, 64 schedules in all</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§5.3 · FIGURE 5.1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States forward, prices backward</a:t>
            </a:r>
            <a:endParaRPr lang="en-US" sz="3200" dirty="0"/>
          </a:p>
        </p:txBody>
      </p:sp>
      <p:sp>
        <p:nvSpPr>
          <p:cNvPr id="5" name="Bullets"/>
          <p:cNvSpPr txBox="1"/>
          <p:nvPr/>
        </p:nvSpPr>
        <p:spPr>
          <a:xfrm>
            <a:off x="548640" y="1691640"/>
            <a:ext cx="3811109" cy="4480560"/>
          </a:xfrm>
          <a:prstGeom prst="rect">
            <a:avLst/>
          </a:prstGeom>
          <a:noFill/>
          <a:ln/>
        </p:spPr>
        <p:txBody>
          <a:bodyPr wrap="square" lIns="635" tIns="635" rIns="635" bIns="635" rtlCol="0" anchor="t"/>
          <a:lstStyle/>
          <a:p>
            <a:pPr marL="228600" indent="-228600">
              <a:spcAft>
                <a:spcPts val="800"/>
              </a:spcAft>
              <a:buSzPct val="100000"/>
              <a:buChar char="•"/>
            </a:pPr>
            <a:r>
              <a:rPr lang="en-US" sz="1500" dirty="0">
                <a:solidFill>
                  <a:schemeClr val="tx1"/>
                </a:solidFill>
              </a:rPr>
              <a:t>Each year a round and a payout carry the state, cash and efficiency, forward</a:t>
            </a:r>
            <a:endParaRPr lang="en-US" sz="1500" dirty="0"/>
          </a:p>
          <a:p>
            <a:pPr marL="228600" indent="-228600">
              <a:spcAft>
                <a:spcPts val="800"/>
              </a:spcAft>
              <a:buSzPct val="100000"/>
              <a:buChar char="•"/>
            </a:pPr>
            <a:r>
              <a:rPr lang="en-US" sz="1500" dirty="0">
                <a:solidFill>
                  <a:schemeClr val="tx1"/>
                </a:solidFill>
              </a:rPr>
              <a:t>Transcription stacks the six years into one program</a:t>
            </a:r>
            <a:endParaRPr lang="en-US" sz="1500" dirty="0"/>
          </a:p>
          <a:p>
            <a:pPr marL="228600" indent="-228600">
              <a:spcAft>
                <a:spcPts val="800"/>
              </a:spcAft>
              <a:buSzPct val="100000"/>
              <a:buChar char="•"/>
            </a:pPr>
            <a:r>
              <a:rPr lang="en-US" sz="1500" dirty="0">
                <a:solidFill>
                  <a:schemeClr val="tx1"/>
                </a:solidFill>
              </a:rPr>
              <a:t>Its multipliers carry prices backward: one more dollar, one more point, valued today</a:t>
            </a:r>
            <a:endParaRPr lang="en-US" sz="1500" dirty="0"/>
          </a:p>
          <a:p>
            <a:pPr marL="228600" indent="-228600">
              <a:spcAft>
                <a:spcPts val="800"/>
              </a:spcAft>
              <a:buSzPct val="100000"/>
              <a:buChar char="•"/>
            </a:pPr>
            <a:r>
              <a:rPr lang="en-US" sz="1500" dirty="0">
                <a:solidFill>
                  <a:schemeClr val="tx1"/>
                </a:solidFill>
              </a:rPr>
              <a:t>The terminal value credits the year-6 savings forever: </a:t>
            </a:r>
            <a:r>
              <a:rPr lang="en-US" sz="1500" b="1" dirty="0">
                <a:solidFill>
                  <a:schemeClr val="tx1"/>
                </a:solidFill>
              </a:rPr>
              <a:t>$1,225m</a:t>
            </a:r>
            <a:r>
              <a:rPr lang="en-US" sz="1500" dirty="0">
                <a:solidFill>
                  <a:schemeClr val="tx1"/>
                </a:solidFill>
              </a:rPr>
              <a:t> at year 6, </a:t>
            </a:r>
            <a:r>
              <a:rPr lang="en-US" sz="1500" b="1" dirty="0">
                <a:solidFill>
                  <a:schemeClr val="tx1"/>
                </a:solidFill>
              </a:rPr>
              <a:t>$691.5m</a:t>
            </a:r>
            <a:r>
              <a:rPr lang="en-US" sz="1500" dirty="0">
                <a:solidFill>
                  <a:schemeClr val="tx1"/>
                </a:solidFill>
              </a:rPr>
              <a:t> today</a:t>
            </a:r>
            <a:endParaRPr lang="en-US" sz="1500" dirty="0"/>
          </a:p>
        </p:txBody>
      </p:sp>
      <p:pic>
        <p:nvPicPr>
          <p:cNvPr id="6" name="Figure" descr="Figure 5.1: Meridian's automation program as a dynamic instance">    </p:cNvPr>
          <p:cNvPicPr>
            <a:picLocks noChangeAspect="1"/>
          </p:cNvPicPr>
          <p:nvPr/>
        </p:nvPicPr>
        <p:blipFill>
          <a:blip r:embed="rId1"/>
          <a:stretch>
            <a:fillRect/>
          </a:stretch>
        </p:blipFill>
        <p:spPr>
          <a:xfrm>
            <a:off x="4725509" y="1874033"/>
            <a:ext cx="6917546" cy="3548845"/>
          </a:xfrm>
          <a:prstGeom prst="rect">
            <a:avLst/>
          </a:prstGeom>
        </p:spPr>
      </p:pic>
      <p:sp>
        <p:nvSpPr>
          <p:cNvPr id="7" name="Caption"/>
          <p:cNvSpPr txBox="1"/>
          <p:nvPr/>
        </p:nvSpPr>
        <p:spPr>
          <a:xfrm>
            <a:off x="4725509" y="5496031"/>
            <a:ext cx="6917546" cy="502920"/>
          </a:xfrm>
          <a:prstGeom prst="rect">
            <a:avLst/>
          </a:prstGeom>
          <a:noFill/>
          <a:ln/>
        </p:spPr>
        <p:txBody>
          <a:bodyPr wrap="square" lIns="0" tIns="0" rIns="0" bIns="0" rtlCol="0" anchor="t"/>
          <a:lstStyle/>
          <a:p>
            <a:pPr indent="0" marL="0">
              <a:buNone/>
            </a:pPr>
            <a:r>
              <a:rPr lang="en-US" sz="1100" i="1" dirty="0">
                <a:solidFill>
                  <a:schemeClr val="tx2"/>
                </a:solidFill>
              </a:rPr>
              <a:t>Figure 5.1. Meridian's automation program at a 10 percent hurdle rate: states carried forward by the decisions, prices carried backward by the multipliers.</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§5.4 · PRICES OVER TIME</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 dollar in year 2 is worth one in year 1</a:t>
            </a:r>
            <a:endParaRPr lang="en-US" sz="3200" dirty="0"/>
          </a:p>
        </p:txBody>
      </p:sp>
      <p:graphicFrame>
        <p:nvGraphicFramePr>
          <p:cNvPr id="5" name="Chart" descr=""/>
          <p:cNvGraphicFramePr/>
          <p:nvPr/>
        </p:nvGraphicFramePr>
        <p:xfrm>
          <a:off x="548640" y="1691640"/>
          <a:ext cx="5547208" cy="4480560"/>
        </p:xfrm>
        <a:graphic xmlns:a="http://schemas.openxmlformats.org/drawingml/2006/main">
          <a:graphicData uri="http://schemas.openxmlformats.org/drawingml/2006/chart">
            <c:chart xmlns:c="http://schemas.openxmlformats.org/drawingml/2006/chart" r:id="rId1"/>
          </a:graphicData>
        </a:graphic>
      </p:graphicFrame>
      <p:sp>
        <p:nvSpPr>
          <p:cNvPr id="6" name="Bullets"/>
          <p:cNvSpPr txBox="1"/>
          <p:nvPr/>
        </p:nvSpPr>
        <p:spPr>
          <a:xfrm>
            <a:off x="6461608" y="1691640"/>
            <a:ext cx="5181448" cy="448056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Paid out at once, a dollar at the end of year k is worth β</a:t>
            </a:r>
            <a:r>
              <a:rPr lang="en-US" sz="1600" baseline="30000" dirty="0">
                <a:solidFill>
                  <a:schemeClr val="tx1"/>
                </a:solidFill>
              </a:rPr>
              <a:t>k</a:t>
            </a:r>
            <a:r>
              <a:rPr lang="en-US" sz="1600" dirty="0">
                <a:solidFill>
                  <a:schemeClr val="tx1"/>
                </a:solidFill>
              </a:rPr>
              <a:t> today: $0.75 in year 3, $0.56 in year 6</a:t>
            </a:r>
            <a:endParaRPr lang="en-US" sz="1600" dirty="0"/>
          </a:p>
          <a:p>
            <a:pPr marL="228600" indent="-228600">
              <a:spcAft>
                <a:spcPts val="800"/>
              </a:spcAft>
              <a:buSzPct val="100000"/>
              <a:buChar char="•"/>
            </a:pPr>
            <a:r>
              <a:rPr lang="en-US" sz="1600" dirty="0">
                <a:solidFill>
                  <a:schemeClr val="tx1"/>
                </a:solidFill>
              </a:rPr>
              <a:t>A dollar arriving in year 2 is worth $0.91, as much as one in year 1: it shrinks the year-1 war chest</a:t>
            </a:r>
            <a:endParaRPr lang="en-US" sz="1600" dirty="0"/>
          </a:p>
          <a:p>
            <a:pPr marL="228600" indent="-228600">
              <a:spcAft>
                <a:spcPts val="800"/>
              </a:spcAft>
              <a:buSzPct val="100000"/>
              <a:buChar char="•"/>
            </a:pPr>
            <a:r>
              <a:rPr lang="en-US" sz="1600" dirty="0">
                <a:solidFill>
                  <a:schemeClr val="tx1"/>
                </a:solidFill>
              </a:rPr>
              <a:t>Commitments cost what idle cash costs: round 3's war chest $0.16 a dollar, the end condition $0.56</a:t>
            </a:r>
            <a:endParaRPr lang="en-US" sz="1600" dirty="0"/>
          </a:p>
          <a:p>
            <a:pPr marL="228600" indent="-228600">
              <a:spcAft>
                <a:spcPts val="800"/>
              </a:spcAft>
              <a:buSzPct val="100000"/>
              <a:buChar char="•"/>
            </a:pPr>
            <a:r>
              <a:rPr lang="en-US" sz="1600" dirty="0">
                <a:solidFill>
                  <a:schemeClr val="tx1"/>
                </a:solidFill>
              </a:rPr>
              <a:t>A point of efficiency is worth $82.6m in year 3, ten a year forever, but $34.3m in year 1</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§5.4 · PROPOSITION 5.3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Discounted marginal values are equal</a:t>
            </a:r>
            <a:endParaRPr lang="en-US" sz="3200" dirty="0"/>
          </a:p>
        </p:txBody>
      </p:sp>
      <p:pic>
        <p:nvPicPr>
          <p:cNvPr id="5" name="Equation" descr="Equation: \frac{v'_{k+1}(u_{k+1})}{v'_{k}(u_{k})} \;=\; \frac{1+r}{1+g}">    </p:cNvPr>
          <p:cNvPicPr>
            <a:picLocks noChangeAspect="1"/>
          </p:cNvPicPr>
          <p:nvPr/>
        </p:nvPicPr>
        <p:blipFill>
          <a:blip r:embed="rId1"/>
          <a:stretch>
            <a:fillRect/>
          </a:stretch>
        </p:blipFill>
        <p:spPr>
          <a:xfrm>
            <a:off x="4492755" y="1828800"/>
            <a:ext cx="3206185" cy="1051560"/>
          </a:xfrm>
          <a:prstGeom prst="rect">
            <a:avLst/>
          </a:prstGeom>
        </p:spPr>
      </p:pic>
      <p:sp>
        <p:nvSpPr>
          <p:cNvPr id="6" name="Text 2"/>
          <p:cNvSpPr txBox="1"/>
          <p:nvPr/>
        </p:nvSpPr>
        <p:spPr>
          <a:xfrm>
            <a:off x="914400" y="3017520"/>
            <a:ext cx="10362895" cy="411480"/>
          </a:xfrm>
          <a:prstGeom prst="rect">
            <a:avLst/>
          </a:prstGeom>
          <a:noFill/>
          <a:ln/>
        </p:spPr>
        <p:txBody>
          <a:bodyPr wrap="square" lIns="0" tIns="0" rIns="0" bIns="0" rtlCol="0" anchor="ctr"/>
          <a:lstStyle/>
          <a:p>
            <a:pPr algn="ctr" indent="0" marL="0">
              <a:buNone/>
            </a:pPr>
            <a:r>
              <a:rPr lang="en-US" sz="1600" i="1" dirty="0">
                <a:solidFill>
                  <a:schemeClr val="accent4"/>
                </a:solidFill>
              </a:rPr>
              <a:t>wherever a resource can move freely between two periods; g is the growth of what is carried over</a:t>
            </a:r>
            <a:endParaRPr lang="en-US" sz="1600" dirty="0"/>
          </a:p>
        </p:txBody>
      </p:sp>
      <p:sp>
        <p:nvSpPr>
          <p:cNvPr id="7" name="Bullets"/>
          <p:cNvSpPr txBox="1"/>
          <p:nvPr/>
        </p:nvSpPr>
        <p:spPr>
          <a:xfrm>
            <a:off x="914400" y="3611880"/>
            <a:ext cx="10362895" cy="256032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bg1"/>
                </a:solidFill>
              </a:rPr>
              <a:t>(i)</a:t>
            </a:r>
            <a:r>
              <a:rPr lang="en-US" sz="1700" dirty="0">
                <a:solidFill>
                  <a:schemeClr val="bg1"/>
                </a:solidFill>
              </a:rPr>
              <a:t> With the same concave value, use is smoothed when r = g, tilted toward the present when r &gt; g</a:t>
            </a:r>
            <a:endParaRPr lang="en-US" sz="1700" dirty="0"/>
          </a:p>
          <a:p>
            <a:pPr marL="228600" indent="-228600">
              <a:spcAft>
                <a:spcPts val="800"/>
              </a:spcAft>
              <a:buSzPct val="100000"/>
              <a:buChar char="•"/>
            </a:pPr>
            <a:r>
              <a:rPr lang="en-US" sz="1700" b="1" dirty="0">
                <a:solidFill>
                  <a:schemeClr val="bg1"/>
                </a:solidFill>
              </a:rPr>
              <a:t>(ii)</a:t>
            </a:r>
            <a:r>
              <a:rPr lang="en-US" sz="1700" dirty="0">
                <a:solidFill>
                  <a:schemeClr val="bg1"/>
                </a:solidFill>
              </a:rPr>
              <a:t> With linear value and r &gt; g, the resource is used as early as the commitments allow</a:t>
            </a:r>
            <a:endParaRPr lang="en-US" sz="1700" dirty="0"/>
          </a:p>
          <a:p>
            <a:pPr marL="228600" indent="-228600">
              <a:spcAft>
                <a:spcPts val="800"/>
              </a:spcAft>
              <a:buSzPct val="100000"/>
              <a:buChar char="•"/>
            </a:pPr>
            <a:r>
              <a:rPr lang="en-US" sz="1700" b="1" dirty="0">
                <a:solidFill>
                  <a:schemeClr val="bg1"/>
                </a:solidFill>
              </a:rPr>
              <a:t>(iii)</a:t>
            </a:r>
            <a:r>
              <a:rPr lang="en-US" sz="1700" dirty="0">
                <a:solidFill>
                  <a:schemeClr val="bg1"/>
                </a:solidFill>
              </a:rPr>
              <a:t> A commitment that binds between two periods breaks the equality by exactly its price</a:t>
            </a:r>
            <a:endParaRPr lang="en-US" sz="1700" dirty="0"/>
          </a:p>
          <a:p>
            <a:pPr marL="228600" indent="-228600">
              <a:spcAft>
                <a:spcPts val="800"/>
              </a:spcAft>
              <a:buSzPct val="100000"/>
              <a:buChar char="•"/>
            </a:pPr>
            <a:r>
              <a:rPr lang="en-US" sz="1700" dirty="0">
                <a:solidFill>
                  <a:schemeClr val="bg1"/>
                </a:solidFill>
              </a:rPr>
              <a:t>Meridian's cash earns nothing: pay out early and keep only the war chest; the same $455m paid at the end of year 6 is worth $73.6m less</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§5.5 · THEOREM 5.2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The terminal value must stand for continuing</a:t>
            </a:r>
            <a:endParaRPr lang="en-US" sz="3200" dirty="0"/>
          </a:p>
        </p:txBody>
      </p:sp>
      <p:sp>
        <p:nvSpPr>
          <p:cNvPr id="5" name="Bullets"/>
          <p:cNvSpPr txBox="1"/>
          <p:nvPr/>
        </p:nvSpPr>
        <p:spPr>
          <a:xfrm>
            <a:off x="548640" y="1691640"/>
            <a:ext cx="4476774" cy="4480560"/>
          </a:xfrm>
          <a:prstGeom prst="rect">
            <a:avLst/>
          </a:prstGeom>
          <a:noFill/>
          <a:ln/>
        </p:spPr>
        <p:txBody>
          <a:bodyPr wrap="square" lIns="635" tIns="635" rIns="635" bIns="635" rtlCol="0" anchor="t"/>
          <a:lstStyle/>
          <a:p>
            <a:pPr marL="228600" indent="-228600">
              <a:spcAft>
                <a:spcPts val="800"/>
              </a:spcAft>
              <a:buSzPct val="100000"/>
              <a:buChar char="•"/>
            </a:pPr>
            <a:r>
              <a:rPr lang="en-US" sz="1500" b="1" dirty="0">
                <a:solidFill>
                  <a:schemeClr val="tx1"/>
                </a:solidFill>
              </a:rPr>
              <a:t>(i) Exact.</a:t>
            </a:r>
            <a:r>
              <a:rPr lang="en-US" sz="1500" dirty="0">
                <a:solidFill>
                  <a:schemeClr val="tx1"/>
                </a:solidFill>
              </a:rPr>
              <a:t> With the true value of continuing, any horizon makes the long-run plan's decisions</a:t>
            </a:r>
            <a:endParaRPr lang="en-US" sz="1500" dirty="0"/>
          </a:p>
          <a:p>
            <a:pPr marL="228600" indent="-228600">
              <a:spcAft>
                <a:spcPts val="800"/>
              </a:spcAft>
              <a:buSzPct val="100000"/>
              <a:buChar char="•"/>
            </a:pPr>
            <a:r>
              <a:rPr lang="en-US" sz="1500" b="1" dirty="0">
                <a:solidFill>
                  <a:schemeClr val="tx1"/>
                </a:solidFill>
              </a:rPr>
              <a:t>(ii) Bounded.</a:t>
            </a:r>
            <a:r>
              <a:rPr lang="en-US" sz="1500" dirty="0">
                <a:solidFill>
                  <a:schemeClr val="tx1"/>
                </a:solidFill>
              </a:rPr>
              <a:t> Off by ε, it costs at most 2β</a:t>
            </a:r>
            <a:r>
              <a:rPr lang="en-US" sz="1500" baseline="30000" dirty="0">
                <a:solidFill>
                  <a:schemeClr val="tx1"/>
                </a:solidFill>
              </a:rPr>
              <a:t>T</a:t>
            </a:r>
            <a:r>
              <a:rPr lang="en-US" sz="1500" dirty="0">
                <a:solidFill>
                  <a:schemeClr val="tx1"/>
                </a:solidFill>
              </a:rPr>
              <a:t>ε</a:t>
            </a:r>
            <a:endParaRPr lang="en-US" sz="1500" dirty="0"/>
          </a:p>
          <a:p>
            <a:pPr marL="228600" indent="-228600">
              <a:spcAft>
                <a:spcPts val="800"/>
              </a:spcAft>
              <a:buSzPct val="100000"/>
              <a:buChar char="•"/>
            </a:pPr>
            <a:r>
              <a:rPr lang="en-US" sz="1500" b="1" dirty="0">
                <a:solidFill>
                  <a:schemeClr val="tx1"/>
                </a:solidFill>
              </a:rPr>
              <a:t>(iii) Zero.</a:t>
            </a:r>
            <a:r>
              <a:rPr lang="en-US" sz="1500" dirty="0">
                <a:solidFill>
                  <a:schemeClr val="tx1"/>
                </a:solidFill>
              </a:rPr>
              <a:t> Only payoffs inside the window count: the six-year plan drops round 3, </a:t>
            </a:r>
            <a:r>
              <a:rPr lang="en-US" sz="1500" b="1" dirty="0">
                <a:solidFill>
                  <a:schemeClr val="tx1"/>
                </a:solidFill>
              </a:rPr>
              <a:t>$45.1m</a:t>
            </a:r>
            <a:r>
              <a:rPr lang="en-US" sz="1500" dirty="0">
                <a:solidFill>
                  <a:schemeClr val="tx1"/>
                </a:solidFill>
              </a:rPr>
              <a:t> less</a:t>
            </a:r>
            <a:endParaRPr lang="en-US" sz="1500" dirty="0"/>
          </a:p>
          <a:p>
            <a:pPr marL="228600" indent="-228600">
              <a:spcAft>
                <a:spcPts val="800"/>
              </a:spcAft>
              <a:buSzPct val="100000"/>
              <a:buChar char="•"/>
            </a:pPr>
            <a:r>
              <a:rPr lang="en-US" sz="1500" dirty="0">
                <a:solidFill>
                  <a:schemeClr val="tx1"/>
                </a:solidFill>
              </a:rPr>
              <a:t>The window must reach </a:t>
            </a:r>
            <a:r>
              <a:rPr lang="en-US" sz="1500" b="1" dirty="0">
                <a:solidFill>
                  <a:schemeClr val="tx1"/>
                </a:solidFill>
              </a:rPr>
              <a:t>fifteen years</a:t>
            </a:r>
            <a:r>
              <a:rPr lang="en-US" sz="1500" dirty="0">
                <a:solidFill>
                  <a:schemeClr val="tx1"/>
                </a:solidFill>
              </a:rPr>
              <a:t> before the third round appears</a:t>
            </a:r>
            <a:endParaRPr lang="en-US" sz="1500" dirty="0"/>
          </a:p>
          <a:p>
            <a:pPr marL="228600" indent="-228600">
              <a:spcAft>
                <a:spcPts val="800"/>
              </a:spcAft>
              <a:buSzPct val="100000"/>
              <a:buChar char="•"/>
            </a:pPr>
            <a:r>
              <a:rPr lang="en-US" sz="1500" dirty="0">
                <a:solidFill>
                  <a:schemeClr val="tx1"/>
                </a:solidFill>
              </a:rPr>
              <a:t>Part I's credits were perpetuities: ten years at 10 percent, twenty at 5</a:t>
            </a:r>
            <a:endParaRPr lang="en-US" sz="1500" dirty="0"/>
          </a:p>
          <a:p>
            <a:pPr marL="228600" indent="-228600">
              <a:spcAft>
                <a:spcPts val="800"/>
              </a:spcAft>
              <a:buSzPct val="100000"/>
              <a:buChar char="•"/>
            </a:pPr>
            <a:r>
              <a:rPr lang="en-US" sz="1500" dirty="0">
                <a:solidFill>
                  <a:schemeClr val="tx1"/>
                </a:solidFill>
              </a:rPr>
              <a:t>The end condition costs </a:t>
            </a:r>
            <a:r>
              <a:rPr lang="en-US" sz="1500" b="1" dirty="0">
                <a:solidFill>
                  <a:schemeClr val="tx1"/>
                </a:solidFill>
              </a:rPr>
              <a:t>$67.7m</a:t>
            </a:r>
            <a:r>
              <a:rPr lang="en-US" sz="1500" dirty="0">
                <a:solidFill>
                  <a:schemeClr val="tx1"/>
                </a:solidFill>
              </a:rPr>
              <a:t> for a round the 10 percent rate rejects</a:t>
            </a:r>
            <a:endParaRPr lang="en-US" sz="1500" dirty="0"/>
          </a:p>
        </p:txBody>
      </p:sp>
      <p:pic>
        <p:nvPicPr>
          <p:cNvPr id="6" name="Figure" descr="Figure 5.2: horizon, terminal value, and discounting">    </p:cNvPr>
          <p:cNvPicPr>
            <a:picLocks noChangeAspect="1"/>
          </p:cNvPicPr>
          <p:nvPr/>
        </p:nvPicPr>
        <p:blipFill>
          <a:blip r:embed="rId1"/>
          <a:stretch>
            <a:fillRect/>
          </a:stretch>
        </p:blipFill>
        <p:spPr>
          <a:xfrm>
            <a:off x="5391174" y="2204879"/>
            <a:ext cx="6251881" cy="2887153"/>
          </a:xfrm>
          <a:prstGeom prst="rect">
            <a:avLst/>
          </a:prstGeom>
        </p:spPr>
      </p:pic>
      <p:sp>
        <p:nvSpPr>
          <p:cNvPr id="7" name="Caption"/>
          <p:cNvSpPr txBox="1"/>
          <p:nvPr/>
        </p:nvSpPr>
        <p:spPr>
          <a:xfrm>
            <a:off x="5391174" y="5165185"/>
            <a:ext cx="6251881" cy="502920"/>
          </a:xfrm>
          <a:prstGeom prst="rect">
            <a:avLst/>
          </a:prstGeom>
          <a:noFill/>
          <a:ln/>
        </p:spPr>
        <p:txBody>
          <a:bodyPr wrap="square" lIns="0" tIns="0" rIns="0" bIns="0" rtlCol="0" anchor="t"/>
          <a:lstStyle/>
          <a:p>
            <a:pPr indent="0" marL="0">
              <a:buNone/>
            </a:pPr>
            <a:r>
              <a:rPr lang="en-US" sz="1100" i="1" dirty="0">
                <a:solidFill>
                  <a:schemeClr val="tx2"/>
                </a:solidFill>
              </a:rPr>
              <a:t>Figure 5.2. (a) Rounds against the planning window at 10 percent. (b) Rounds against the hurdle rate: each further round pays only below about half the rate for the round before.</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§5.6 · THEOREM 5.3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When re-planning confirms the plan</a:t>
            </a:r>
            <a:endParaRPr lang="en-US" sz="3200" dirty="0"/>
          </a:p>
        </p:txBody>
      </p:sp>
      <p:sp>
        <p:nvSpPr>
          <p:cNvPr id="5" name="Result card"/>
          <p:cNvSpPr/>
          <p:nvPr/>
        </p:nvSpPr>
        <p:spPr>
          <a:xfrm>
            <a:off x="548640" y="1691640"/>
            <a:ext cx="594360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39496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THEOREM 5.3</a:t>
            </a:r>
            <a:endParaRPr lang="en-US" sz="1200" dirty="0"/>
          </a:p>
        </p:txBody>
      </p:sp>
      <p:sp>
        <p:nvSpPr>
          <p:cNvPr id="7" name="Text 4"/>
          <p:cNvSpPr txBox="1"/>
          <p:nvPr/>
        </p:nvSpPr>
        <p:spPr>
          <a:xfrm>
            <a:off x="822960" y="2194560"/>
            <a:ext cx="539496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Plans and Rules Theorem</a:t>
            </a:r>
            <a:endParaRPr lang="en-US" sz="2100" dirty="0"/>
          </a:p>
        </p:txBody>
      </p:sp>
      <p:sp>
        <p:nvSpPr>
          <p:cNvPr id="8" name="Bullets"/>
          <p:cNvSpPr txBox="1"/>
          <p:nvPr/>
        </p:nvSpPr>
        <p:spPr>
          <a:xfrm>
            <a:off x="822960" y="2743200"/>
            <a:ext cx="5394960" cy="3291840"/>
          </a:xfrm>
          <a:prstGeom prst="rect">
            <a:avLst/>
          </a:prstGeom>
          <a:noFill/>
          <a:ln/>
        </p:spPr>
        <p:txBody>
          <a:bodyPr wrap="square" lIns="635" tIns="635" rIns="635" bIns="635" rtlCol="0" anchor="t"/>
          <a:lstStyle/>
          <a:p>
            <a:pPr marL="228600" indent="-228600">
              <a:spcAft>
                <a:spcPts val="600"/>
              </a:spcAft>
              <a:buSzPct val="100000"/>
              <a:buChar char="•"/>
            </a:pPr>
            <a:r>
              <a:rPr lang="en-US" sz="1600" b="1" dirty="0">
                <a:solidFill>
                  <a:schemeClr val="tx1"/>
                </a:solidFill>
              </a:rPr>
              <a:t>(i)</a:t>
            </a:r>
            <a:r>
              <a:rPr lang="en-US" sz="1600" dirty="0">
                <a:solidFill>
                  <a:schemeClr val="tx1"/>
                </a:solidFill>
              </a:rPr>
              <a:t> Every rule induces a plan with the same path and value, so the best plan is as good as the best rule</a:t>
            </a:r>
            <a:endParaRPr lang="en-US" sz="1600" dirty="0"/>
          </a:p>
          <a:p>
            <a:pPr marL="228600" indent="-228600">
              <a:spcAft>
                <a:spcPts val="600"/>
              </a:spcAft>
              <a:buSzPct val="100000"/>
              <a:buChar char="•"/>
            </a:pPr>
            <a:r>
              <a:rPr lang="en-US" sz="1600" b="1" dirty="0">
                <a:solidFill>
                  <a:schemeClr val="tx1"/>
                </a:solidFill>
              </a:rPr>
              <a:t>(ii)</a:t>
            </a:r>
            <a:r>
              <a:rPr lang="en-US" sz="1600" dirty="0">
                <a:solidFill>
                  <a:schemeClr val="tx1"/>
                </a:solidFill>
              </a:rPr>
              <a:t> Every best plan is time consistent</a:t>
            </a:r>
            <a:endParaRPr lang="en-US" sz="1600" dirty="0"/>
          </a:p>
          <a:p>
            <a:pPr marL="228600" indent="-228600">
              <a:spcAft>
                <a:spcPts val="600"/>
              </a:spcAft>
              <a:buSzPct val="100000"/>
              <a:buChar char="•"/>
            </a:pPr>
            <a:r>
              <a:rPr lang="en-US" sz="1600" b="1" dirty="0">
                <a:solidFill>
                  <a:schemeClr val="tx1"/>
                </a:solidFill>
              </a:rPr>
              <a:t>(iii)</a:t>
            </a:r>
            <a:r>
              <a:rPr lang="en-US" sz="1600" dirty="0">
                <a:solidFill>
                  <a:schemeClr val="tx1"/>
                </a:solidFill>
              </a:rPr>
              <a:t> Re-planning every period from where the company stands follows a best plan</a:t>
            </a:r>
            <a:endParaRPr lang="en-US" sz="1600" dirty="0"/>
          </a:p>
          <a:p>
            <a:pPr marL="228600" indent="-228600">
              <a:spcAft>
                <a:spcPts val="600"/>
              </a:spcAft>
              <a:buSzPct val="100000"/>
              <a:buChar char="•"/>
            </a:pPr>
            <a:r>
              <a:rPr lang="en-US" sz="1600" b="1" dirty="0">
                <a:solidFill>
                  <a:schemeClr val="tx1"/>
                </a:solidFill>
              </a:rPr>
              <a:t>(iv)</a:t>
            </a:r>
            <a:r>
              <a:rPr lang="en-US" sz="1600" dirty="0">
                <a:solidFill>
                  <a:schemeClr val="tx1"/>
                </a:solidFill>
              </a:rPr>
              <a:t> Re-planning can depart from every best plan when weights are not exponential, or a window ignores what follows it</a:t>
            </a:r>
            <a:endParaRPr lang="en-US" sz="1600" dirty="0"/>
          </a:p>
        </p:txBody>
      </p:sp>
      <p:sp>
        <p:nvSpPr>
          <p:cNvPr id="9" name="Text 6"/>
          <p:cNvSpPr txBox="1"/>
          <p:nvPr/>
        </p:nvSpPr>
        <p:spPr>
          <a:xfrm>
            <a:off x="6903720" y="1737360"/>
            <a:ext cx="4739335" cy="365760"/>
          </a:xfrm>
          <a:prstGeom prst="rect">
            <a:avLst/>
          </a:prstGeom>
          <a:noFill/>
          <a:ln/>
        </p:spPr>
        <p:txBody>
          <a:bodyPr wrap="square" lIns="0" tIns="0" rIns="0" bIns="0" rtlCol="0" anchor="ctr"/>
          <a:lstStyle/>
          <a:p>
            <a:pPr indent="0" marL="0">
              <a:buNone/>
            </a:pPr>
            <a:r>
              <a:rPr lang="en-US" sz="1600" b="1" dirty="0">
                <a:solidFill>
                  <a:schemeClr val="accent2"/>
                </a:solidFill>
              </a:rPr>
              <a:t>Plans and rules (Definition 5.2)</a:t>
            </a:r>
            <a:endParaRPr lang="en-US" sz="1600" dirty="0"/>
          </a:p>
        </p:txBody>
      </p:sp>
      <p:sp>
        <p:nvSpPr>
          <p:cNvPr id="10" name="Bullets"/>
          <p:cNvSpPr txBox="1"/>
          <p:nvPr/>
        </p:nvSpPr>
        <p:spPr>
          <a:xfrm>
            <a:off x="6903720" y="2194560"/>
            <a:ext cx="4739335" cy="397764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A </a:t>
            </a:r>
            <a:r>
              <a:rPr lang="en-US" sz="1600" b="1" dirty="0">
                <a:solidFill>
                  <a:schemeClr val="tx1"/>
                </a:solidFill>
              </a:rPr>
              <a:t>plan</a:t>
            </a:r>
            <a:r>
              <a:rPr lang="en-US" sz="1600" dirty="0">
                <a:solidFill>
                  <a:schemeClr val="tx1"/>
                </a:solidFill>
              </a:rPr>
              <a:t> fixes decisions as functions of time; a </a:t>
            </a:r>
            <a:r>
              <a:rPr lang="en-US" sz="1600" b="1" dirty="0">
                <a:solidFill>
                  <a:schemeClr val="tx1"/>
                </a:solidFill>
              </a:rPr>
              <a:t>rule</a:t>
            </a:r>
            <a:r>
              <a:rPr lang="en-US" sz="1600" dirty="0">
                <a:solidFill>
                  <a:schemeClr val="tx1"/>
                </a:solidFill>
              </a:rPr>
              <a:t> as functions of the state</a:t>
            </a:r>
            <a:endParaRPr lang="en-US" sz="1600" dirty="0"/>
          </a:p>
          <a:p>
            <a:pPr marL="228600" indent="-228600">
              <a:spcAft>
                <a:spcPts val="800"/>
              </a:spcAft>
              <a:buSzPct val="100000"/>
              <a:buChar char="•"/>
            </a:pPr>
            <a:r>
              <a:rPr lang="en-US" sz="1600" dirty="0">
                <a:solidFill>
                  <a:schemeClr val="tx1"/>
                </a:solidFill>
              </a:rPr>
              <a:t>A best plan is </a:t>
            </a:r>
            <a:r>
              <a:rPr lang="en-US" sz="1600" b="1" dirty="0">
                <a:solidFill>
                  <a:schemeClr val="tx1"/>
                </a:solidFill>
              </a:rPr>
              <a:t>time consistent</a:t>
            </a:r>
            <a:r>
              <a:rPr lang="en-US" sz="1600" dirty="0">
                <a:solidFill>
                  <a:schemeClr val="tx1"/>
                </a:solidFill>
              </a:rPr>
              <a:t> if its rest stays best when the problem is posed afresh</a:t>
            </a:r>
            <a:endParaRPr lang="en-US" sz="1600" dirty="0"/>
          </a:p>
          <a:p>
            <a:pPr marL="228600" indent="-228600">
              <a:spcAft>
                <a:spcPts val="800"/>
              </a:spcAft>
              <a:buSzPct val="100000"/>
              <a:buChar char="•"/>
            </a:pPr>
            <a:r>
              <a:rPr lang="en-US" sz="1600" dirty="0">
                <a:solidFill>
                  <a:schemeClr val="tx1"/>
                </a:solidFill>
              </a:rPr>
              <a:t>With no news, re-planning confirms Meridian's three rounds in years 1 to 3</a:t>
            </a:r>
            <a:endParaRPr lang="en-US" sz="1600" dirty="0"/>
          </a:p>
          <a:p>
            <a:pPr marL="228600" indent="-228600">
              <a:spcAft>
                <a:spcPts val="800"/>
              </a:spcAft>
              <a:buSzPct val="100000"/>
              <a:buChar char="•"/>
            </a:pPr>
            <a:r>
              <a:rPr lang="en-US" sz="1600" dirty="0">
                <a:solidFill>
                  <a:schemeClr val="tx1"/>
                </a:solidFill>
              </a:rPr>
              <a:t>Rolling six-year windows without a terminal value never run the third round</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§5.6 · AKERLOF'S BOX AT BOARD LEVEL</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 present-biased board postpones every year</a:t>
            </a:r>
            <a:endParaRPr lang="en-US" sz="3200" dirty="0"/>
          </a:p>
        </p:txBody>
      </p:sp>
      <p:sp>
        <p:nvSpPr>
          <p:cNvPr id="5" name="Stat card"/>
          <p:cNvSpPr/>
          <p:nvPr/>
        </p:nvSpPr>
        <p:spPr>
          <a:xfrm>
            <a:off x="548640" y="1691640"/>
            <a:ext cx="3515258" cy="1828800"/>
          </a:xfrm>
          <a:prstGeom prst="roundRect">
            <a:avLst>
              <a:gd name="adj" fmla="val 4000"/>
            </a:avLst>
          </a:prstGeom>
          <a:solidFill>
            <a:schemeClr val="tx1"/>
          </a:solidFill>
          <a:ln w="9525">
            <a:solidFill>
              <a:srgbClr val="0F1E3D"/>
            </a:solidFill>
            <a:prstDash val="solid"/>
          </a:ln>
        </p:spPr>
      </p:sp>
      <p:sp>
        <p:nvSpPr>
          <p:cNvPr id="6" name="Stat value"/>
          <p:cNvSpPr txBox="1"/>
          <p:nvPr/>
        </p:nvSpPr>
        <p:spPr>
          <a:xfrm>
            <a:off x="685800" y="1801368"/>
            <a:ext cx="3240938"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$14.4m</a:t>
            </a:r>
            <a:endParaRPr lang="en-US" sz="4400" dirty="0"/>
          </a:p>
        </p:txBody>
      </p:sp>
      <p:sp>
        <p:nvSpPr>
          <p:cNvPr id="7" name="Stat label"/>
          <p:cNvSpPr txBox="1"/>
          <p:nvPr/>
        </p:nvSpPr>
        <p:spPr>
          <a:xfrm>
            <a:off x="685800" y="2697480"/>
            <a:ext cx="3240938" cy="749808"/>
          </a:xfrm>
          <a:prstGeom prst="rect">
            <a:avLst/>
          </a:prstGeom>
          <a:noFill/>
          <a:ln/>
        </p:spPr>
        <p:txBody>
          <a:bodyPr wrap="square" lIns="0" tIns="0" rIns="0" bIns="0" rtlCol="0" anchor="t"/>
          <a:lstStyle/>
          <a:p>
            <a:pPr algn="ctr" indent="0" marL="0">
              <a:buNone/>
            </a:pPr>
            <a:r>
              <a:rPr lang="en-US" sz="1400" dirty="0">
                <a:solidFill>
                  <a:schemeClr val="bg2"/>
                </a:solidFill>
              </a:rPr>
              <a:t>lost by a board that weighs later years at 90 percent: the third round slips to year 6</a:t>
            </a:r>
            <a:endParaRPr lang="en-US" sz="1400" dirty="0"/>
          </a:p>
        </p:txBody>
      </p:sp>
      <p:sp>
        <p:nvSpPr>
          <p:cNvPr id="8" name="Stat card"/>
          <p:cNvSpPr/>
          <p:nvPr/>
        </p:nvSpPr>
        <p:spPr>
          <a:xfrm>
            <a:off x="4338218" y="1691640"/>
            <a:ext cx="3515258" cy="1828800"/>
          </a:xfrm>
          <a:prstGeom prst="roundRect">
            <a:avLst>
              <a:gd name="adj" fmla="val 4000"/>
            </a:avLst>
          </a:prstGeom>
          <a:solidFill>
            <a:schemeClr val="bg2"/>
          </a:solidFill>
          <a:ln w="9525">
            <a:solidFill>
              <a:srgbClr val="C4CBD8"/>
            </a:solidFill>
            <a:prstDash val="solid"/>
          </a:ln>
        </p:spPr>
      </p:sp>
      <p:sp>
        <p:nvSpPr>
          <p:cNvPr id="9" name="Stat value"/>
          <p:cNvSpPr txBox="1"/>
          <p:nvPr/>
        </p:nvSpPr>
        <p:spPr>
          <a:xfrm>
            <a:off x="4475378" y="1801368"/>
            <a:ext cx="3240938"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$102.4m</a:t>
            </a:r>
            <a:endParaRPr lang="en-US" sz="4400" dirty="0"/>
          </a:p>
        </p:txBody>
      </p:sp>
      <p:sp>
        <p:nvSpPr>
          <p:cNvPr id="10" name="Stat label"/>
          <p:cNvSpPr txBox="1"/>
          <p:nvPr/>
        </p:nvSpPr>
        <p:spPr>
          <a:xfrm>
            <a:off x="4475378" y="2697480"/>
            <a:ext cx="3240938" cy="749808"/>
          </a:xfrm>
          <a:prstGeom prst="rect">
            <a:avLst/>
          </a:prstGeom>
          <a:noFill/>
          <a:ln/>
        </p:spPr>
        <p:txBody>
          <a:bodyPr wrap="square" lIns="0" tIns="0" rIns="0" bIns="0" rtlCol="0" anchor="t"/>
          <a:lstStyle/>
          <a:p>
            <a:pPr algn="ctr" indent="0" marL="0">
              <a:buNone/>
            </a:pPr>
            <a:r>
              <a:rPr lang="en-US" sz="1400" dirty="0">
                <a:solidFill>
                  <a:schemeClr val="tx2"/>
                </a:solidFill>
              </a:rPr>
              <a:t>lost by a board at 60 percent: it completes only two rounds</a:t>
            </a:r>
            <a:endParaRPr lang="en-US" sz="1400" dirty="0"/>
          </a:p>
        </p:txBody>
      </p:sp>
      <p:sp>
        <p:nvSpPr>
          <p:cNvPr id="11" name="Stat card"/>
          <p:cNvSpPr/>
          <p:nvPr/>
        </p:nvSpPr>
        <p:spPr>
          <a:xfrm>
            <a:off x="8127797" y="1691640"/>
            <a:ext cx="3515258" cy="1828800"/>
          </a:xfrm>
          <a:prstGeom prst="roundRect">
            <a:avLst>
              <a:gd name="adj" fmla="val 4000"/>
            </a:avLst>
          </a:prstGeom>
          <a:solidFill>
            <a:schemeClr val="bg2"/>
          </a:solidFill>
          <a:ln w="9525">
            <a:solidFill>
              <a:srgbClr val="C4CBD8"/>
            </a:solidFill>
            <a:prstDash val="solid"/>
          </a:ln>
        </p:spPr>
      </p:sp>
      <p:sp>
        <p:nvSpPr>
          <p:cNvPr id="12" name="Stat value"/>
          <p:cNvSpPr txBox="1"/>
          <p:nvPr/>
        </p:nvSpPr>
        <p:spPr>
          <a:xfrm>
            <a:off x="8264957" y="1801368"/>
            <a:ext cx="3240938"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94.3%</a:t>
            </a:r>
            <a:endParaRPr lang="en-US" sz="4400" dirty="0"/>
          </a:p>
        </p:txBody>
      </p:sp>
      <p:sp>
        <p:nvSpPr>
          <p:cNvPr id="13" name="Stat label"/>
          <p:cNvSpPr txBox="1"/>
          <p:nvPr/>
        </p:nvSpPr>
        <p:spPr>
          <a:xfrm>
            <a:off x="8264957" y="2697480"/>
            <a:ext cx="3240938" cy="749808"/>
          </a:xfrm>
          <a:prstGeom prst="rect">
            <a:avLst/>
          </a:prstGeom>
          <a:noFill/>
          <a:ln/>
        </p:spPr>
        <p:txBody>
          <a:bodyPr wrap="square" lIns="0" tIns="0" rIns="0" bIns="0" rtlCol="0" anchor="t"/>
          <a:lstStyle/>
          <a:p>
            <a:pPr algn="ctr" indent="0" marL="0">
              <a:buNone/>
            </a:pPr>
            <a:r>
              <a:rPr lang="en-US" sz="1400" dirty="0">
                <a:solidFill>
                  <a:schemeClr val="tx2"/>
                </a:solidFill>
              </a:rPr>
              <a:t>the weight above which the board carries out the plan it approved</a:t>
            </a:r>
            <a:endParaRPr lang="en-US" sz="1400" dirty="0"/>
          </a:p>
        </p:txBody>
      </p:sp>
      <p:sp>
        <p:nvSpPr>
          <p:cNvPr id="14" name="Bullets"/>
          <p:cNvSpPr txBox="1"/>
          <p:nvPr/>
        </p:nvSpPr>
        <p:spPr>
          <a:xfrm>
            <a:off x="548640" y="3840480"/>
            <a:ext cx="11094415" cy="2331720"/>
          </a:xfrm>
          <a:prstGeom prst="rect">
            <a:avLst/>
          </a:prstGeom>
          <a:noFill/>
          <a:ln/>
        </p:spPr>
        <p:txBody>
          <a:bodyPr wrap="square" lIns="635" tIns="635" rIns="635" bIns="635" rtlCol="0" anchor="t"/>
          <a:lstStyle/>
          <a:p>
            <a:pPr marL="228600" indent="-228600">
              <a:spcAft>
                <a:spcPts val="800"/>
              </a:spcAft>
              <a:buSzPct val="100000"/>
              <a:buChar char="•"/>
            </a:pPr>
            <a:r>
              <a:rPr lang="en-US" sz="1700" dirty="0">
                <a:solidFill>
                  <a:schemeClr val="tx1"/>
                </a:solidFill>
              </a:rPr>
              <a:t>A round's war chest is withheld from this year's payout while its savings come later, so a round always looks better a year on</a:t>
            </a:r>
            <a:endParaRPr lang="en-US" sz="1700" dirty="0"/>
          </a:p>
          <a:p>
            <a:pPr marL="228600" indent="-228600">
              <a:spcAft>
                <a:spcPts val="800"/>
              </a:spcAft>
              <a:buSzPct val="100000"/>
              <a:buChar char="•"/>
            </a:pPr>
            <a:r>
              <a:rPr lang="en-US" sz="1700" dirty="0">
                <a:solidFill>
                  <a:schemeClr val="tx1"/>
                </a:solidFill>
              </a:rPr>
              <a:t>The 90 percent board approves rounds in years 1 to 3, then moves the third to year 4, 5 and finally 6, where the end condition makes it hold the cash anyway</a:t>
            </a:r>
            <a:endParaRPr lang="en-US" sz="1700" dirty="0"/>
          </a:p>
          <a:p>
            <a:pPr marL="228600" indent="-228600">
              <a:spcAft>
                <a:spcPts val="800"/>
              </a:spcAft>
              <a:buSzPct val="100000"/>
              <a:buChar char="•"/>
            </a:pPr>
            <a:r>
              <a:rPr lang="en-US" sz="1700" dirty="0">
                <a:solidFill>
                  <a:schemeClr val="tx1"/>
                </a:solidFill>
              </a:rPr>
              <a:t>The repair is a commitment: approve the program as a whole, ring-fence its war chest, or contract the rounds in advance</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5.1 · THE SITUATION</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When should Meridian pay its shareholders?</a:t>
            </a:r>
            <a:endParaRPr lang="en-US" sz="3200" dirty="0"/>
          </a:p>
        </p:txBody>
      </p:sp>
      <p:sp>
        <p:nvSpPr>
          <p:cNvPr id="5" name="Card"/>
          <p:cNvSpPr/>
          <p:nvPr/>
        </p:nvSpPr>
        <p:spPr>
          <a:xfrm>
            <a:off x="548640" y="1691640"/>
            <a:ext cx="3515258" cy="2514600"/>
          </a:xfrm>
          <a:prstGeom prst="roundRect">
            <a:avLst>
              <a:gd name="adj" fmla="val 2909"/>
            </a:avLst>
          </a:prstGeom>
          <a:solidFill>
            <a:schemeClr val="bg2"/>
          </a:solidFill>
          <a:ln w="9525">
            <a:solidFill>
              <a:srgbClr val="C4CBD8"/>
            </a:solidFill>
            <a:prstDash val="solid"/>
          </a:ln>
        </p:spPr>
      </p:sp>
      <p:sp>
        <p:nvSpPr>
          <p:cNvPr id="6" name="Card label"/>
          <p:cNvSpPr txBox="1"/>
          <p:nvPr/>
        </p:nvSpPr>
        <p:spPr>
          <a:xfrm>
            <a:off x="731520"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Chief financial officer</a:t>
            </a:r>
            <a:endParaRPr lang="en-US" sz="1300" dirty="0"/>
          </a:p>
        </p:txBody>
      </p:sp>
      <p:sp>
        <p:nvSpPr>
          <p:cNvPr id="7" name="Card head"/>
          <p:cNvSpPr txBox="1"/>
          <p:nvPr/>
        </p:nvSpPr>
        <p:spPr>
          <a:xfrm>
            <a:off x="731520" y="2148840"/>
            <a:ext cx="3149498" cy="941832"/>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Pay out everything above the floor?</a:t>
            </a:r>
            <a:endParaRPr lang="en-US" sz="1800" dirty="0"/>
          </a:p>
        </p:txBody>
      </p:sp>
      <p:sp>
        <p:nvSpPr>
          <p:cNvPr id="8" name="Card text"/>
          <p:cNvSpPr txBox="1"/>
          <p:nvPr/>
        </p:nvSpPr>
        <p:spPr>
          <a:xfrm>
            <a:off x="731520" y="3163824"/>
            <a:ext cx="3149498" cy="914400"/>
          </a:xfrm>
          <a:prstGeom prst="rect">
            <a:avLst/>
          </a:prstGeom>
          <a:noFill/>
          <a:ln/>
        </p:spPr>
        <p:txBody>
          <a:bodyPr wrap="square" lIns="0" tIns="0" rIns="0" bIns="0" rtlCol="0" anchor="t"/>
          <a:lstStyle/>
          <a:p>
            <a:pPr indent="0" marL="0">
              <a:buNone/>
            </a:pPr>
            <a:r>
              <a:rPr lang="en-US" sz="1500" dirty="0">
                <a:solidFill>
                  <a:schemeClr val="tx2"/>
                </a:solidFill>
              </a:rPr>
              <a:t>Every year, whatever cash exceeds the $350m floor.</a:t>
            </a:r>
            <a:endParaRPr lang="en-US" sz="1500" dirty="0"/>
          </a:p>
        </p:txBody>
      </p:sp>
      <p:sp>
        <p:nvSpPr>
          <p:cNvPr id="9" name="Card"/>
          <p:cNvSpPr/>
          <p:nvPr/>
        </p:nvSpPr>
        <p:spPr>
          <a:xfrm>
            <a:off x="4338218" y="1691640"/>
            <a:ext cx="3515258" cy="2514600"/>
          </a:xfrm>
          <a:prstGeom prst="roundRect">
            <a:avLst>
              <a:gd name="adj" fmla="val 2909"/>
            </a:avLst>
          </a:prstGeom>
          <a:solidFill>
            <a:schemeClr val="bg2"/>
          </a:solidFill>
          <a:ln w="9525">
            <a:solidFill>
              <a:srgbClr val="C4CBD8"/>
            </a:solidFill>
            <a:prstDash val="solid"/>
          </a:ln>
        </p:spPr>
      </p:sp>
      <p:sp>
        <p:nvSpPr>
          <p:cNvPr id="10" name="Card label"/>
          <p:cNvSpPr txBox="1"/>
          <p:nvPr/>
        </p:nvSpPr>
        <p:spPr>
          <a:xfrm>
            <a:off x="4521098"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The board's declarations</a:t>
            </a:r>
            <a:endParaRPr lang="en-US" sz="1300" dirty="0"/>
          </a:p>
        </p:txBody>
      </p:sp>
      <p:sp>
        <p:nvSpPr>
          <p:cNvPr id="11" name="Card head"/>
          <p:cNvSpPr txBox="1"/>
          <p:nvPr/>
        </p:nvSpPr>
        <p:spPr>
          <a:xfrm>
            <a:off x="4521098" y="2148840"/>
            <a:ext cx="3149498" cy="941832"/>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Discount the payouts; value the savings forever</a:t>
            </a:r>
            <a:endParaRPr lang="en-US" sz="1800" dirty="0"/>
          </a:p>
        </p:txBody>
      </p:sp>
      <p:sp>
        <p:nvSpPr>
          <p:cNvPr id="12" name="Card text"/>
          <p:cNvSpPr txBox="1"/>
          <p:nvPr/>
        </p:nvSpPr>
        <p:spPr>
          <a:xfrm>
            <a:off x="4521098" y="3163824"/>
            <a:ext cx="3149498" cy="914400"/>
          </a:xfrm>
          <a:prstGeom prst="rect">
            <a:avLst/>
          </a:prstGeom>
          <a:noFill/>
          <a:ln/>
        </p:spPr>
        <p:txBody>
          <a:bodyPr wrap="square" lIns="0" tIns="0" rIns="0" bIns="0" rtlCol="0" anchor="t"/>
          <a:lstStyle/>
          <a:p>
            <a:pPr indent="0" marL="0">
              <a:buNone/>
            </a:pPr>
            <a:r>
              <a:rPr lang="en-US" sz="1500" dirty="0">
                <a:solidFill>
                  <a:schemeClr val="tx2"/>
                </a:solidFill>
              </a:rPr>
              <a:t>A 10 percent hurdle rate; the lines are maintained after year 6.</a:t>
            </a:r>
            <a:endParaRPr lang="en-US" sz="1500" dirty="0"/>
          </a:p>
        </p:txBody>
      </p:sp>
      <p:sp>
        <p:nvSpPr>
          <p:cNvPr id="13" name="Card"/>
          <p:cNvSpPr/>
          <p:nvPr/>
        </p:nvSpPr>
        <p:spPr>
          <a:xfrm>
            <a:off x="8127797" y="1691640"/>
            <a:ext cx="3515258" cy="2514600"/>
          </a:xfrm>
          <a:prstGeom prst="roundRect">
            <a:avLst>
              <a:gd name="adj" fmla="val 2909"/>
            </a:avLst>
          </a:prstGeom>
          <a:solidFill>
            <a:schemeClr val="tx1"/>
          </a:solidFill>
          <a:ln w="9525">
            <a:solidFill>
              <a:srgbClr val="0F1E3D"/>
            </a:solidFill>
            <a:prstDash val="solid"/>
          </a:ln>
        </p:spPr>
      </p:sp>
      <p:sp>
        <p:nvSpPr>
          <p:cNvPr id="14" name="Card label"/>
          <p:cNvSpPr txBox="1"/>
          <p:nvPr/>
        </p:nvSpPr>
        <p:spPr>
          <a:xfrm>
            <a:off x="8310677"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The board's commitments</a:t>
            </a:r>
            <a:endParaRPr lang="en-US" sz="1300" dirty="0"/>
          </a:p>
        </p:txBody>
      </p:sp>
      <p:sp>
        <p:nvSpPr>
          <p:cNvPr id="15" name="Card head"/>
          <p:cNvSpPr txBox="1"/>
          <p:nvPr/>
        </p:nvSpPr>
        <p:spPr>
          <a:xfrm>
            <a:off x="8310677" y="2148840"/>
            <a:ext cx="3149498" cy="941832"/>
          </a:xfrm>
          <a:prstGeom prst="rect">
            <a:avLst/>
          </a:prstGeom>
          <a:noFill/>
          <a:ln/>
        </p:spPr>
        <p:txBody>
          <a:bodyPr wrap="square" lIns="0" tIns="0" rIns="0" bIns="0" rtlCol="0" anchor="t"/>
          <a:lstStyle/>
          <a:p>
            <a:pPr indent="0" marL="0">
              <a:buNone/>
            </a:pPr>
            <a:r>
              <a:rPr lang="en-US" sz="1800" b="1" dirty="0">
                <a:solidFill>
                  <a:schemeClr val="bg1"/>
                </a:solidFill>
                <a:latin typeface="Cambria" pitchFamily="34" charset="0"/>
                <a:ea typeface="Cambria" pitchFamily="34" charset="-122"/>
                <a:cs typeface="Cambria" pitchFamily="34" charset="-120"/>
              </a:rPr>
              <a:t>Keep the floor and the end condition</a:t>
            </a:r>
            <a:endParaRPr lang="en-US" sz="1800" dirty="0"/>
          </a:p>
        </p:txBody>
      </p:sp>
      <p:sp>
        <p:nvSpPr>
          <p:cNvPr id="16" name="Card text"/>
          <p:cNvSpPr txBox="1"/>
          <p:nvPr/>
        </p:nvSpPr>
        <p:spPr>
          <a:xfrm>
            <a:off x="8310677" y="3163824"/>
            <a:ext cx="3149498" cy="914400"/>
          </a:xfrm>
          <a:prstGeom prst="rect">
            <a:avLst/>
          </a:prstGeom>
          <a:noFill/>
          <a:ln/>
        </p:spPr>
        <p:txBody>
          <a:bodyPr wrap="square" lIns="0" tIns="0" rIns="0" bIns="0" rtlCol="0" anchor="t"/>
          <a:lstStyle/>
          <a:p>
            <a:pPr indent="0" marL="0">
              <a:buNone/>
            </a:pPr>
            <a:r>
              <a:rPr lang="en-US" sz="1500" dirty="0">
                <a:solidFill>
                  <a:schemeClr val="bg2"/>
                </a:solidFill>
              </a:rPr>
              <a:t>$350m at every year end; $470m to start a round and at the end of year 6.</a:t>
            </a:r>
            <a:endParaRPr lang="en-US" sz="1500" dirty="0"/>
          </a:p>
        </p:txBody>
      </p:sp>
      <p:sp>
        <p:nvSpPr>
          <p:cNvPr id="17" name="Lead"/>
          <p:cNvSpPr txBox="1"/>
          <p:nvPr/>
        </p:nvSpPr>
        <p:spPr>
          <a:xfrm>
            <a:off x="548640" y="4480560"/>
            <a:ext cx="11094415" cy="457200"/>
          </a:xfrm>
          <a:prstGeom prst="rect">
            <a:avLst/>
          </a:prstGeom>
          <a:noFill/>
          <a:ln/>
        </p:spPr>
        <p:txBody>
          <a:bodyPr wrap="square" lIns="0" tIns="0" rIns="0" bIns="0" rtlCol="0" anchor="ctr"/>
          <a:lstStyle/>
          <a:p>
            <a:pPr indent="0" marL="0">
              <a:buNone/>
            </a:pPr>
            <a:r>
              <a:rPr lang="en-US" sz="1600" i="1" dirty="0">
                <a:solidFill>
                  <a:schemeClr val="accent2"/>
                </a:solidFill>
              </a:rPr>
              <a:t>Is the CFO's rule right? When, and how much, to pay? What do the commitments cost? Would it survive a shortfall?</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5.1 · STEPS 1–3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Write the instance in time, then solve it</a:t>
            </a:r>
            <a:endParaRPr lang="en-US" sz="3200" dirty="0"/>
          </a:p>
        </p:txBody>
      </p:sp>
      <p:pic>
        <p:nvPicPr>
          <p:cNvPr id="5" name="Equation" descr="Equation: \max_{z,\,p}\;\sum_{k=1}^{6}\beta^{k}p_k+\beta^{6}\,\frac{S_6}{r}\qquad q_k = q_{k-1}-120\,z_k+S_k-p_k">    </p:cNvPr>
          <p:cNvPicPr>
            <a:picLocks noChangeAspect="1"/>
          </p:cNvPicPr>
          <p:nvPr/>
        </p:nvPicPr>
        <p:blipFill>
          <a:blip r:embed="rId1"/>
          <a:stretch>
            <a:fillRect/>
          </a:stretch>
        </p:blipFill>
        <p:spPr>
          <a:xfrm>
            <a:off x="2885212" y="1828800"/>
            <a:ext cx="6421272" cy="914400"/>
          </a:xfrm>
          <a:prstGeom prst="rect">
            <a:avLst/>
          </a:prstGeom>
        </p:spPr>
      </p:pic>
      <p:sp>
        <p:nvSpPr>
          <p:cNvPr id="6" name="Text 2"/>
          <p:cNvSpPr txBox="1"/>
          <p:nvPr/>
        </p:nvSpPr>
        <p:spPr>
          <a:xfrm>
            <a:off x="914400" y="2880360"/>
            <a:ext cx="10362895" cy="411480"/>
          </a:xfrm>
          <a:prstGeom prst="rect">
            <a:avLst/>
          </a:prstGeom>
          <a:noFill/>
          <a:ln/>
        </p:spPr>
        <p:txBody>
          <a:bodyPr wrap="square" lIns="0" tIns="0" rIns="0" bIns="0" rtlCol="0" anchor="ctr"/>
          <a:lstStyle/>
          <a:p>
            <a:pPr algn="ctr" indent="0" marL="0">
              <a:buNone/>
            </a:pPr>
            <a:r>
              <a:rPr lang="en-US" sz="1600" i="1" dirty="0">
                <a:solidFill>
                  <a:schemeClr val="accent4"/>
                </a:solidFill>
              </a:rPr>
              <a:t>β = 1/1.1; a round costs $120m and closes half the gap to 85; savings are $10m a year a point</a:t>
            </a:r>
            <a:endParaRPr lang="en-US" sz="1600" dirty="0"/>
          </a:p>
        </p:txBody>
      </p:sp>
      <p:sp>
        <p:nvSpPr>
          <p:cNvPr id="7" name="Bullets"/>
          <p:cNvSpPr txBox="1"/>
          <p:nvPr/>
        </p:nvSpPr>
        <p:spPr>
          <a:xfrm>
            <a:off x="914400" y="3474720"/>
            <a:ext cx="10362895" cy="269748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bg1"/>
                </a:solidFill>
              </a:rPr>
              <a:t>Step 1:</a:t>
            </a:r>
            <a:r>
              <a:rPr lang="en-US" sz="1700" dirty="0">
                <a:solidFill>
                  <a:schemeClr val="bg1"/>
                </a:solidFill>
              </a:rPr>
              <a:t> state, cash and efficiency; floor $350m; $470m to start a round and to end year 6</a:t>
            </a:r>
            <a:endParaRPr lang="en-US" sz="1700" dirty="0"/>
          </a:p>
          <a:p>
            <a:pPr marL="228600" indent="-228600">
              <a:spcAft>
                <a:spcPts val="800"/>
              </a:spcAft>
              <a:buSzPct val="100000"/>
              <a:buChar char="•"/>
            </a:pPr>
            <a:r>
              <a:rPr lang="en-US" sz="1700" b="1" dirty="0">
                <a:solidFill>
                  <a:schemeClr val="bg1"/>
                </a:solidFill>
              </a:rPr>
              <a:t>Step 2:</a:t>
            </a:r>
            <a:r>
              <a:rPr lang="en-US" sz="1700" dirty="0">
                <a:solidFill>
                  <a:schemeClr val="bg1"/>
                </a:solidFill>
              </a:rPr>
              <a:t> the CFO's rule stops the program after one round and misses the end condition; even waived, it is worth </a:t>
            </a:r>
            <a:r>
              <a:rPr lang="en-US" sz="1700" b="1" dirty="0">
                <a:solidFill>
                  <a:schemeClr val="bg1"/>
                </a:solidFill>
              </a:rPr>
              <a:t>$185.6m</a:t>
            </a:r>
            <a:r>
              <a:rPr lang="en-US" sz="1700" dirty="0">
                <a:solidFill>
                  <a:schemeClr val="bg1"/>
                </a:solidFill>
              </a:rPr>
              <a:t> less</a:t>
            </a:r>
            <a:endParaRPr lang="en-US" sz="1700" dirty="0"/>
          </a:p>
          <a:p>
            <a:pPr marL="228600" indent="-228600">
              <a:spcAft>
                <a:spcPts val="800"/>
              </a:spcAft>
              <a:buSzPct val="100000"/>
              <a:buChar char="•"/>
            </a:pPr>
            <a:r>
              <a:rPr lang="en-US" sz="1700" b="1" dirty="0">
                <a:solidFill>
                  <a:schemeClr val="bg1"/>
                </a:solidFill>
              </a:rPr>
              <a:t>Step 3:</a:t>
            </a:r>
            <a:r>
              <a:rPr lang="en-US" sz="1700" dirty="0">
                <a:solidFill>
                  <a:schemeClr val="bg1"/>
                </a:solidFill>
              </a:rPr>
              <a:t> 64 schedules of rounds, each with a linear payout program: rounds in years 1 to 3, worth </a:t>
            </a:r>
            <a:r>
              <a:rPr lang="en-US" sz="1700" b="1" dirty="0">
                <a:solidFill>
                  <a:schemeClr val="bg1"/>
                </a:solidFill>
              </a:rPr>
              <a:t>$1,021.9m</a:t>
            </a:r>
            <a:endParaRPr lang="en-US" sz="1700" dirty="0"/>
          </a:p>
          <a:p>
            <a:pPr marL="228600" indent="-228600">
              <a:spcAft>
                <a:spcPts val="800"/>
              </a:spcAft>
              <a:buSzPct val="100000"/>
              <a:buChar char="•"/>
            </a:pPr>
            <a:r>
              <a:rPr lang="en-US" sz="1700" b="1" dirty="0">
                <a:solidFill>
                  <a:schemeClr val="bg1"/>
                </a:solidFill>
              </a:rPr>
              <a:t>The plan:</a:t>
            </a:r>
            <a:r>
              <a:rPr lang="en-US" sz="1700" dirty="0">
                <a:solidFill>
                  <a:schemeClr val="bg1"/>
                </a:solidFill>
              </a:rPr>
              <a:t> pay out, every year, whatever exceeds a war chest: $485m, then $470m, the floor, and $470m at the end</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5.1 · TABLE 5.3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Pay above a war chest; keep every commitment</a:t>
            </a:r>
            <a:endParaRPr lang="en-US" sz="3200" dirty="0"/>
          </a:p>
        </p:txBody>
      </p:sp>
      <p:graphicFrame>
        <p:nvGraphicFramePr>
          <p:cNvPr id="19"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3283947"/>
                <a:gridCol w="1420085"/>
                <a:gridCol w="3283947"/>
                <a:gridCol w="1242575"/>
                <a:gridCol w="1863862"/>
              </a:tblGrid>
              <a:tr h="45720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Plan</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Rounds (years)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Payouts, years 1–6</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500" b="1" dirty="0">
                          <a:solidFill>
                            <a:srgbClr val="FFFFFF"/>
                          </a:solidFill>
                          <a:latin typeface="Calibri" pitchFamily="34" charset="0"/>
                          <a:ea typeface="Calibri" pitchFamily="34" charset="-122"/>
                          <a:cs typeface="Calibri" pitchFamily="34" charset="-120"/>
                        </a:rPr>
                        <a:t>Value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Commitments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45720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CFO's rule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220, 70, 70, 70, 70, 70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836.36*</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end missed</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57200">
                <a:tc>
                  <a:txBody>
                    <a:bodyPr/>
                    <a:lstStyle/>
                    <a:p>
                      <a:pPr algn="l" indent="0" marL="0">
                        <a:buNone/>
                      </a:pPr>
                      <a:r>
                        <a:rPr lang="en-US" sz="1500" b="1" dirty="0">
                          <a:solidFill>
                            <a:srgbClr val="0F1E3D"/>
                          </a:solidFill>
                          <a:latin typeface="Calibri" pitchFamily="34" charset="0"/>
                          <a:ea typeface="Calibri" pitchFamily="34" charset="-122"/>
                          <a:cs typeface="Calibri" pitchFamily="34" charset="-120"/>
                        </a:rPr>
                        <a:t>Best plan</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1–3</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85, 0, 122.5, 122.5, 122.5, 2.5</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1,021.93</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kept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r>
              <a:tr h="45720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No terminal value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1–2</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100, 105, 105, 105, 90, 0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976.87</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kept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5720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Present-biased board</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1, 2, 6</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85, 105, 105, 105, 0, 2.5</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1,007.55</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kept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5720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 point short: Step 3's schedule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1–2</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85, 0, 122.5, 122.5, 122.5, 2.5</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floor, end breached</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5720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 point short: war-chest rule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1–3</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60, 0, 105, 105, 90, 0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853.73</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kept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bl>
          </a:graphicData>
        </a:graphic>
      </p:graphicFrame>
      <p:sp>
        <p:nvSpPr>
          <p:cNvPr id="6" name="Table note"/>
          <p:cNvSpPr txBox="1"/>
          <p:nvPr/>
        </p:nvSpPr>
        <p:spPr>
          <a:xfrm>
            <a:off x="548640" y="5257800"/>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Value at 10 percent: payouts plus the year-6 savings forever, $ million, to the cent as in Online Appendix 5.B.3. *If the board waived its end condition. The present-biased board weighs later years at 90 percent.</a:t>
            </a:r>
            <a:endParaRPr lang="en-US" sz="1100" dirty="0"/>
          </a:p>
        </p:txBody>
      </p:sp>
      <p:sp>
        <p:nvSpPr>
          <p:cNvPr id="7"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When each round falls a point short, the war-chest rule runs all three rounds; the schedule blocks the third.</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5.1 · STEP 6</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The rule keeps commitments the schedule breaks</a:t>
            </a:r>
            <a:endParaRPr lang="en-US" sz="3200" dirty="0"/>
          </a:p>
        </p:txBody>
      </p:sp>
      <p:sp>
        <p:nvSpPr>
          <p:cNvPr id="5" name="Bullets"/>
          <p:cNvSpPr txBox="1"/>
          <p:nvPr/>
        </p:nvSpPr>
        <p:spPr>
          <a:xfrm>
            <a:off x="548640" y="1691640"/>
            <a:ext cx="4476774" cy="448056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Each round may close a point less of the gap than planned (Volume I, Worked Example 6.1)</a:t>
            </a:r>
            <a:endParaRPr lang="en-US" sz="1600" dirty="0"/>
          </a:p>
          <a:p>
            <a:pPr marL="228600" indent="-228600">
              <a:spcAft>
                <a:spcPts val="800"/>
              </a:spcAft>
              <a:buSzPct val="100000"/>
              <a:buChar char="•"/>
            </a:pPr>
            <a:r>
              <a:rPr lang="en-US" sz="1600" dirty="0">
                <a:solidFill>
                  <a:schemeClr val="tx1"/>
                </a:solidFill>
              </a:rPr>
              <a:t>Paid regardless, Step 3's schedule leaves </a:t>
            </a:r>
            <a:r>
              <a:rPr lang="en-US" sz="1600" b="1" dirty="0">
                <a:solidFill>
                  <a:schemeClr val="tx1"/>
                </a:solidFill>
              </a:rPr>
              <a:t>$445m</a:t>
            </a:r>
            <a:r>
              <a:rPr lang="en-US" sz="1600" dirty="0">
                <a:solidFill>
                  <a:schemeClr val="tx1"/>
                </a:solidFill>
              </a:rPr>
              <a:t> at the end of year 2: the third round cannot start</a:t>
            </a:r>
            <a:endParaRPr lang="en-US" sz="1600" dirty="0"/>
          </a:p>
          <a:p>
            <a:pPr marL="228600" indent="-228600">
              <a:spcAft>
                <a:spcPts val="800"/>
              </a:spcAft>
              <a:buSzPct val="100000"/>
              <a:buChar char="•"/>
            </a:pPr>
            <a:r>
              <a:rPr lang="en-US" sz="1600" dirty="0">
                <a:solidFill>
                  <a:schemeClr val="tx1"/>
                </a:solidFill>
              </a:rPr>
              <a:t>The floor is then breached in year 5, and the end condition is missed</a:t>
            </a:r>
            <a:endParaRPr lang="en-US" sz="1600" dirty="0"/>
          </a:p>
          <a:p>
            <a:pPr marL="228600" indent="-228600">
              <a:spcAft>
                <a:spcPts val="800"/>
              </a:spcAft>
              <a:buSzPct val="100000"/>
              <a:buChar char="•"/>
            </a:pPr>
            <a:r>
              <a:rPr lang="en-US" sz="1600" dirty="0">
                <a:solidFill>
                  <a:schemeClr val="tx1"/>
                </a:solidFill>
              </a:rPr>
              <a:t>The war-chest rule recomputes the war chest every year end and pays out the rest</a:t>
            </a:r>
            <a:endParaRPr lang="en-US" sz="1600" dirty="0"/>
          </a:p>
          <a:p>
            <a:pPr marL="228600" indent="-228600">
              <a:spcAft>
                <a:spcPts val="800"/>
              </a:spcAft>
              <a:buSzPct val="100000"/>
              <a:buChar char="•"/>
            </a:pPr>
            <a:r>
              <a:rPr lang="en-US" sz="1600" dirty="0">
                <a:solidFill>
                  <a:schemeClr val="tx1"/>
                </a:solidFill>
              </a:rPr>
              <a:t>It runs all three rounds, worth </a:t>
            </a:r>
            <a:r>
              <a:rPr lang="en-US" sz="1600" b="1" dirty="0">
                <a:solidFill>
                  <a:schemeClr val="tx1"/>
                </a:solidFill>
              </a:rPr>
              <a:t>$853.7m</a:t>
            </a:r>
            <a:r>
              <a:rPr lang="en-US" sz="1600" dirty="0">
                <a:solidFill>
                  <a:schemeClr val="tx1"/>
                </a:solidFill>
              </a:rPr>
              <a:t>: the best plan had the shortfall been known</a:t>
            </a:r>
            <a:endParaRPr lang="en-US" sz="1600" dirty="0"/>
          </a:p>
        </p:txBody>
      </p:sp>
      <p:pic>
        <p:nvPicPr>
          <p:cNvPr id="6" name="Figure" descr="Figure 5.3: year-end cash under four payout plans">    </p:cNvPr>
          <p:cNvPicPr>
            <a:picLocks noChangeAspect="1"/>
          </p:cNvPicPr>
          <p:nvPr/>
        </p:nvPicPr>
        <p:blipFill>
          <a:blip r:embed="rId1"/>
          <a:stretch>
            <a:fillRect/>
          </a:stretch>
        </p:blipFill>
        <p:spPr>
          <a:xfrm>
            <a:off x="5391174" y="2150610"/>
            <a:ext cx="6251881" cy="2995693"/>
          </a:xfrm>
          <a:prstGeom prst="rect">
            <a:avLst/>
          </a:prstGeom>
        </p:spPr>
      </p:pic>
      <p:sp>
        <p:nvSpPr>
          <p:cNvPr id="7" name="Caption"/>
          <p:cNvSpPr txBox="1"/>
          <p:nvPr/>
        </p:nvSpPr>
        <p:spPr>
          <a:xfrm>
            <a:off x="5391174" y="5219454"/>
            <a:ext cx="6251881" cy="502920"/>
          </a:xfrm>
          <a:prstGeom prst="rect">
            <a:avLst/>
          </a:prstGeom>
          <a:noFill/>
          <a:ln/>
        </p:spPr>
        <p:txBody>
          <a:bodyPr wrap="square" lIns="0" tIns="0" rIns="0" bIns="0" rtlCol="0" anchor="t"/>
          <a:lstStyle/>
          <a:p>
            <a:pPr indent="0" marL="0">
              <a:buNone/>
            </a:pPr>
            <a:r>
              <a:rPr lang="en-US" sz="1100" i="1" dirty="0">
                <a:solidFill>
                  <a:schemeClr val="tx2"/>
                </a:solidFill>
              </a:rPr>
              <a:t>Figure 5.3. Year-end cash, $ million. (a) The CFO's rule against the best plan. (b) Each round a point short: Step 3's schedule against the war-chest rule; crosses mark breaches.</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5.1 · WHAT THE BOARD SHOULD TAKE AWAY</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Pay out early, but only above the war chest</a:t>
            </a:r>
            <a:endParaRPr lang="en-US" sz="3200" dirty="0"/>
          </a:p>
        </p:txBody>
      </p:sp>
      <p:sp>
        <p:nvSpPr>
          <p:cNvPr id="5" name="Stat card"/>
          <p:cNvSpPr/>
          <p:nvPr/>
        </p:nvSpPr>
        <p:spPr>
          <a:xfrm>
            <a:off x="548640" y="1691640"/>
            <a:ext cx="3515258" cy="1828800"/>
          </a:xfrm>
          <a:prstGeom prst="roundRect">
            <a:avLst>
              <a:gd name="adj" fmla="val 4000"/>
            </a:avLst>
          </a:prstGeom>
          <a:solidFill>
            <a:schemeClr val="tx1"/>
          </a:solidFill>
          <a:ln w="9525">
            <a:solidFill>
              <a:srgbClr val="0F1E3D"/>
            </a:solidFill>
            <a:prstDash val="solid"/>
          </a:ln>
        </p:spPr>
      </p:sp>
      <p:sp>
        <p:nvSpPr>
          <p:cNvPr id="6" name="Stat value"/>
          <p:cNvSpPr txBox="1"/>
          <p:nvPr/>
        </p:nvSpPr>
        <p:spPr>
          <a:xfrm>
            <a:off x="685800" y="1801368"/>
            <a:ext cx="3240938" cy="914400"/>
          </a:xfrm>
          <a:prstGeom prst="rect">
            <a:avLst/>
          </a:prstGeom>
          <a:noFill/>
          <a:ln/>
        </p:spPr>
        <p:txBody>
          <a:bodyPr wrap="square" lIns="0" tIns="0" rIns="0" bIns="0" rtlCol="0" anchor="ctr"/>
          <a:lstStyle/>
          <a:p>
            <a:pPr algn="ctr" indent="0" marL="0">
              <a:buNone/>
            </a:pPr>
            <a:r>
              <a:rPr lang="en-US" sz="3800" b="1" dirty="0">
                <a:solidFill>
                  <a:schemeClr val="accent1"/>
                </a:solidFill>
                <a:latin typeface="Cambria" pitchFamily="34" charset="0"/>
                <a:ea typeface="Cambria" pitchFamily="34" charset="-122"/>
                <a:cs typeface="Cambria" pitchFamily="34" charset="-120"/>
              </a:rPr>
              <a:t>$1,021.9m</a:t>
            </a:r>
            <a:endParaRPr lang="en-US" sz="3800" dirty="0"/>
          </a:p>
        </p:txBody>
      </p:sp>
      <p:sp>
        <p:nvSpPr>
          <p:cNvPr id="7" name="Stat label"/>
          <p:cNvSpPr txBox="1"/>
          <p:nvPr/>
        </p:nvSpPr>
        <p:spPr>
          <a:xfrm>
            <a:off x="685800" y="2697480"/>
            <a:ext cx="3240938" cy="749808"/>
          </a:xfrm>
          <a:prstGeom prst="rect">
            <a:avLst/>
          </a:prstGeom>
          <a:noFill/>
          <a:ln/>
        </p:spPr>
        <p:txBody>
          <a:bodyPr wrap="square" lIns="0" tIns="0" rIns="0" bIns="0" rtlCol="0" anchor="t"/>
          <a:lstStyle/>
          <a:p>
            <a:pPr algn="ctr" indent="0" marL="0">
              <a:buNone/>
            </a:pPr>
            <a:r>
              <a:rPr lang="en-US" sz="1400" dirty="0">
                <a:solidFill>
                  <a:schemeClr val="bg2"/>
                </a:solidFill>
              </a:rPr>
              <a:t>pay out everything above a war chest recomputed every year</a:t>
            </a:r>
            <a:endParaRPr lang="en-US" sz="1400" dirty="0"/>
          </a:p>
        </p:txBody>
      </p:sp>
      <p:sp>
        <p:nvSpPr>
          <p:cNvPr id="8" name="Stat card"/>
          <p:cNvSpPr/>
          <p:nvPr/>
        </p:nvSpPr>
        <p:spPr>
          <a:xfrm>
            <a:off x="4338218" y="1691640"/>
            <a:ext cx="3515258" cy="1828800"/>
          </a:xfrm>
          <a:prstGeom prst="roundRect">
            <a:avLst>
              <a:gd name="adj" fmla="val 4000"/>
            </a:avLst>
          </a:prstGeom>
          <a:solidFill>
            <a:schemeClr val="bg2"/>
          </a:solidFill>
          <a:ln w="9525">
            <a:solidFill>
              <a:srgbClr val="C4CBD8"/>
            </a:solidFill>
            <a:prstDash val="solid"/>
          </a:ln>
        </p:spPr>
      </p:sp>
      <p:sp>
        <p:nvSpPr>
          <p:cNvPr id="9" name="Stat value"/>
          <p:cNvSpPr txBox="1"/>
          <p:nvPr/>
        </p:nvSpPr>
        <p:spPr>
          <a:xfrm>
            <a:off x="4475378" y="1801368"/>
            <a:ext cx="3240938"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$73.6m</a:t>
            </a:r>
            <a:endParaRPr lang="en-US" sz="4400" dirty="0"/>
          </a:p>
        </p:txBody>
      </p:sp>
      <p:sp>
        <p:nvSpPr>
          <p:cNvPr id="10" name="Stat label"/>
          <p:cNvSpPr txBox="1"/>
          <p:nvPr/>
        </p:nvSpPr>
        <p:spPr>
          <a:xfrm>
            <a:off x="4475378" y="2697480"/>
            <a:ext cx="3240938" cy="749808"/>
          </a:xfrm>
          <a:prstGeom prst="rect">
            <a:avLst/>
          </a:prstGeom>
          <a:noFill/>
          <a:ln/>
        </p:spPr>
        <p:txBody>
          <a:bodyPr wrap="square" lIns="0" tIns="0" rIns="0" bIns="0" rtlCol="0" anchor="t"/>
          <a:lstStyle/>
          <a:p>
            <a:pPr algn="ctr" indent="0" marL="0">
              <a:buNone/>
            </a:pPr>
            <a:r>
              <a:rPr lang="en-US" sz="1400" dirty="0">
                <a:solidFill>
                  <a:schemeClr val="tx2"/>
                </a:solidFill>
              </a:rPr>
              <a:t>what paying early adds, against paying the same $455m at the end of year 6</a:t>
            </a:r>
            <a:endParaRPr lang="en-US" sz="1400" dirty="0"/>
          </a:p>
        </p:txBody>
      </p:sp>
      <p:sp>
        <p:nvSpPr>
          <p:cNvPr id="11" name="Stat card"/>
          <p:cNvSpPr/>
          <p:nvPr/>
        </p:nvSpPr>
        <p:spPr>
          <a:xfrm>
            <a:off x="8127797" y="1691640"/>
            <a:ext cx="3515258" cy="1828800"/>
          </a:xfrm>
          <a:prstGeom prst="roundRect">
            <a:avLst>
              <a:gd name="adj" fmla="val 4000"/>
            </a:avLst>
          </a:prstGeom>
          <a:solidFill>
            <a:schemeClr val="bg2"/>
          </a:solidFill>
          <a:ln w="9525">
            <a:solidFill>
              <a:srgbClr val="C4CBD8"/>
            </a:solidFill>
            <a:prstDash val="solid"/>
          </a:ln>
        </p:spPr>
      </p:sp>
      <p:sp>
        <p:nvSpPr>
          <p:cNvPr id="12" name="Stat value"/>
          <p:cNvSpPr txBox="1"/>
          <p:nvPr/>
        </p:nvSpPr>
        <p:spPr>
          <a:xfrm>
            <a:off x="8264957" y="1801368"/>
            <a:ext cx="3240938"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$67.7m</a:t>
            </a:r>
            <a:endParaRPr lang="en-US" sz="4400" dirty="0"/>
          </a:p>
        </p:txBody>
      </p:sp>
      <p:sp>
        <p:nvSpPr>
          <p:cNvPr id="13" name="Stat label"/>
          <p:cNvSpPr txBox="1"/>
          <p:nvPr/>
        </p:nvSpPr>
        <p:spPr>
          <a:xfrm>
            <a:off x="8264957" y="2697480"/>
            <a:ext cx="3240938" cy="749808"/>
          </a:xfrm>
          <a:prstGeom prst="rect">
            <a:avLst/>
          </a:prstGeom>
          <a:noFill/>
          <a:ln/>
        </p:spPr>
        <p:txBody>
          <a:bodyPr wrap="square" lIns="0" tIns="0" rIns="0" bIns="0" rtlCol="0" anchor="t"/>
          <a:lstStyle/>
          <a:p>
            <a:pPr algn="ctr" indent="0" marL="0">
              <a:buNone/>
            </a:pPr>
            <a:r>
              <a:rPr lang="en-US" sz="1400" dirty="0">
                <a:solidFill>
                  <a:schemeClr val="tx2"/>
                </a:solidFill>
              </a:rPr>
              <a:t>the end condition's cost, for a round the board's own hurdle rate rejects</a:t>
            </a:r>
            <a:endParaRPr lang="en-US" sz="1400" dirty="0"/>
          </a:p>
        </p:txBody>
      </p:sp>
      <p:sp>
        <p:nvSpPr>
          <p:cNvPr id="14" name="Bullets"/>
          <p:cNvSpPr txBox="1"/>
          <p:nvPr/>
        </p:nvSpPr>
        <p:spPr>
          <a:xfrm>
            <a:off x="548640" y="3840480"/>
            <a:ext cx="11094415" cy="2331720"/>
          </a:xfrm>
          <a:prstGeom prst="rect">
            <a:avLst/>
          </a:prstGeom>
          <a:noFill/>
          <a:ln/>
        </p:spPr>
        <p:txBody>
          <a:bodyPr wrap="square" lIns="635" tIns="635" rIns="635" bIns="635" rtlCol="0" anchor="t"/>
          <a:lstStyle/>
          <a:p>
            <a:pPr marL="228600" indent="-228600">
              <a:spcAft>
                <a:spcPts val="800"/>
              </a:spcAft>
              <a:buSzPct val="100000"/>
              <a:buChar char="•"/>
            </a:pPr>
            <a:r>
              <a:rPr lang="en-US" sz="1700" dirty="0">
                <a:solidFill>
                  <a:schemeClr val="tx1"/>
                </a:solidFill>
              </a:rPr>
              <a:t>Discounting makes the timing of payouts a decision; the CFO's rule pays out the program's future</a:t>
            </a:r>
            <a:endParaRPr lang="en-US" sz="1700" dirty="0"/>
          </a:p>
          <a:p>
            <a:pPr marL="228600" indent="-228600">
              <a:spcAft>
                <a:spcPts val="800"/>
              </a:spcAft>
              <a:buSzPct val="100000"/>
              <a:buChar char="•"/>
            </a:pPr>
            <a:r>
              <a:rPr lang="en-US" sz="1700" dirty="0">
                <a:solidFill>
                  <a:schemeClr val="tx1"/>
                </a:solidFill>
              </a:rPr>
              <a:t>Lower the end condition to the floor, or justify it by something the terminal value misses</a:t>
            </a:r>
            <a:endParaRPr lang="en-US" sz="1700" dirty="0"/>
          </a:p>
          <a:p>
            <a:pPr marL="228600" indent="-228600">
              <a:spcAft>
                <a:spcPts val="800"/>
              </a:spcAft>
              <a:buSzPct val="100000"/>
              <a:buChar char="•"/>
            </a:pPr>
            <a:r>
              <a:rPr lang="en-US" sz="1700" dirty="0">
                <a:solidFill>
                  <a:schemeClr val="tx1"/>
                </a:solidFill>
              </a:rPr>
              <a:t>For discussion: if the hurdle rate rose with financial conditions, how would the war chest and the number of rounds move?</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IN PRACTICE · ZARA</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Zara re-plans its markdowns every week</a:t>
            </a:r>
            <a:endParaRPr lang="en-US" sz="3200" dirty="0"/>
          </a:p>
        </p:txBody>
      </p:sp>
      <p:sp>
        <p:nvSpPr>
          <p:cNvPr id="5" name="Card"/>
          <p:cNvSpPr/>
          <p:nvPr/>
        </p:nvSpPr>
        <p:spPr>
          <a:xfrm>
            <a:off x="548640" y="1691640"/>
            <a:ext cx="3515258" cy="2103120"/>
          </a:xfrm>
          <a:prstGeom prst="roundRect">
            <a:avLst>
              <a:gd name="adj" fmla="val 3478"/>
            </a:avLst>
          </a:prstGeom>
          <a:solidFill>
            <a:schemeClr val="bg2"/>
          </a:solidFill>
          <a:ln w="9525">
            <a:solidFill>
              <a:srgbClr val="C4CBD8"/>
            </a:solidFill>
            <a:prstDash val="solid"/>
          </a:ln>
        </p:spPr>
      </p:sp>
      <p:sp>
        <p:nvSpPr>
          <p:cNvPr id="6" name="Card label"/>
          <p:cNvSpPr txBox="1"/>
          <p:nvPr/>
        </p:nvSpPr>
        <p:spPr>
          <a:xfrm>
            <a:off x="731520"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The decision</a:t>
            </a:r>
            <a:endParaRPr lang="en-US" sz="1300" dirty="0"/>
          </a:p>
        </p:txBody>
      </p:sp>
      <p:sp>
        <p:nvSpPr>
          <p:cNvPr id="7" name="Card head"/>
          <p:cNvSpPr txBox="1"/>
          <p:nvPr/>
        </p:nvSpPr>
        <p:spPr>
          <a:xfrm>
            <a:off x="731520" y="2148840"/>
            <a:ext cx="3149498" cy="576072"/>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Clearance prices, week by week</a:t>
            </a:r>
            <a:endParaRPr lang="en-US" sz="1600" dirty="0"/>
          </a:p>
        </p:txBody>
      </p:sp>
      <p:sp>
        <p:nvSpPr>
          <p:cNvPr id="8" name="Card text"/>
          <p:cNvSpPr txBox="1"/>
          <p:nvPr/>
        </p:nvSpPr>
        <p:spPr>
          <a:xfrm>
            <a:off x="731520" y="2798064"/>
            <a:ext cx="3149498" cy="868680"/>
          </a:xfrm>
          <a:prstGeom prst="rect">
            <a:avLst/>
          </a:prstGeom>
          <a:noFill/>
          <a:ln/>
        </p:spPr>
        <p:txBody>
          <a:bodyPr wrap="square" lIns="0" tIns="0" rIns="0" bIns="0" rtlCol="0" anchor="t"/>
          <a:lstStyle/>
          <a:p>
            <a:pPr indent="0" marL="0">
              <a:buNone/>
            </a:pPr>
            <a:r>
              <a:rPr lang="en-US" sz="1300" dirty="0">
                <a:solidFill>
                  <a:schemeClr val="tx2"/>
                </a:solidFill>
              </a:rPr>
              <a:t>The price of each cluster of unsold articles in each country, for about two months after each season.</a:t>
            </a:r>
            <a:endParaRPr lang="en-US" sz="1300" dirty="0"/>
          </a:p>
        </p:txBody>
      </p:sp>
      <p:sp>
        <p:nvSpPr>
          <p:cNvPr id="9" name="Card"/>
          <p:cNvSpPr/>
          <p:nvPr/>
        </p:nvSpPr>
        <p:spPr>
          <a:xfrm>
            <a:off x="4338218" y="1691640"/>
            <a:ext cx="3515258" cy="2103120"/>
          </a:xfrm>
          <a:prstGeom prst="roundRect">
            <a:avLst>
              <a:gd name="adj" fmla="val 3478"/>
            </a:avLst>
          </a:prstGeom>
          <a:solidFill>
            <a:schemeClr val="bg2"/>
          </a:solidFill>
          <a:ln w="9525">
            <a:solidFill>
              <a:srgbClr val="C4CBD8"/>
            </a:solidFill>
            <a:prstDash val="solid"/>
          </a:ln>
        </p:spPr>
      </p:sp>
      <p:sp>
        <p:nvSpPr>
          <p:cNvPr id="10" name="Card label"/>
          <p:cNvSpPr txBox="1"/>
          <p:nvPr/>
        </p:nvSpPr>
        <p:spPr>
          <a:xfrm>
            <a:off x="4521098"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The method</a:t>
            </a:r>
            <a:endParaRPr lang="en-US" sz="1300" dirty="0"/>
          </a:p>
        </p:txBody>
      </p:sp>
      <p:sp>
        <p:nvSpPr>
          <p:cNvPr id="11" name="Card head"/>
          <p:cNvSpPr txBox="1"/>
          <p:nvPr/>
        </p:nvSpPr>
        <p:spPr>
          <a:xfrm>
            <a:off x="4521098" y="2148840"/>
            <a:ext cx="3149498" cy="576072"/>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Plan to the end, carry out one week</a:t>
            </a:r>
            <a:endParaRPr lang="en-US" sz="1600" dirty="0"/>
          </a:p>
        </p:txBody>
      </p:sp>
      <p:sp>
        <p:nvSpPr>
          <p:cNvPr id="12" name="Card text"/>
          <p:cNvSpPr txBox="1"/>
          <p:nvPr/>
        </p:nvSpPr>
        <p:spPr>
          <a:xfrm>
            <a:off x="4521098" y="2798064"/>
            <a:ext cx="3149498" cy="868680"/>
          </a:xfrm>
          <a:prstGeom prst="rect">
            <a:avLst/>
          </a:prstGeom>
          <a:noFill/>
          <a:ln/>
        </p:spPr>
        <p:txBody>
          <a:bodyPr wrap="square" lIns="0" tIns="0" rIns="0" bIns="0" rtlCol="0" anchor="t"/>
          <a:lstStyle/>
          <a:p>
            <a:pPr indent="0" marL="0">
              <a:buNone/>
            </a:pPr>
            <a:r>
              <a:rPr lang="en-US" sz="1300" dirty="0">
                <a:solidFill>
                  <a:schemeClr val="tx2"/>
                </a:solidFill>
              </a:rPr>
              <a:t>A forecast feeding a mixed-integer program over all remaining weeks, with liquidation at the end, re-solved weekly.</a:t>
            </a:r>
            <a:endParaRPr lang="en-US" sz="1300" dirty="0"/>
          </a:p>
        </p:txBody>
      </p:sp>
      <p:sp>
        <p:nvSpPr>
          <p:cNvPr id="13" name="Card"/>
          <p:cNvSpPr/>
          <p:nvPr/>
        </p:nvSpPr>
        <p:spPr>
          <a:xfrm>
            <a:off x="8127797" y="1691640"/>
            <a:ext cx="3515258" cy="2103120"/>
          </a:xfrm>
          <a:prstGeom prst="roundRect">
            <a:avLst>
              <a:gd name="adj" fmla="val 3478"/>
            </a:avLst>
          </a:prstGeom>
          <a:solidFill>
            <a:schemeClr val="tx1"/>
          </a:solidFill>
          <a:ln w="9525">
            <a:solidFill>
              <a:srgbClr val="0F1E3D"/>
            </a:solidFill>
            <a:prstDash val="solid"/>
          </a:ln>
        </p:spPr>
      </p:sp>
      <p:sp>
        <p:nvSpPr>
          <p:cNvPr id="14" name="Card label"/>
          <p:cNvSpPr txBox="1"/>
          <p:nvPr/>
        </p:nvSpPr>
        <p:spPr>
          <a:xfrm>
            <a:off x="8310677"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The result</a:t>
            </a:r>
            <a:endParaRPr lang="en-US" sz="1300" dirty="0"/>
          </a:p>
        </p:txBody>
      </p:sp>
      <p:sp>
        <p:nvSpPr>
          <p:cNvPr id="15" name="Card head"/>
          <p:cNvSpPr txBox="1"/>
          <p:nvPr/>
        </p:nvSpPr>
        <p:spPr>
          <a:xfrm>
            <a:off x="8310677" y="2148840"/>
            <a:ext cx="3149498" cy="576072"/>
          </a:xfrm>
          <a:prstGeom prst="rect">
            <a:avLst/>
          </a:prstGeom>
          <a:noFill/>
          <a:ln/>
        </p:spPr>
        <p:txBody>
          <a:bodyPr wrap="square" lIns="0" tIns="0" rIns="0" bIns="0" rtlCol="0" anchor="t"/>
          <a:lstStyle/>
          <a:p>
            <a:pPr indent="0" marL="0">
              <a:buNone/>
            </a:pPr>
            <a:r>
              <a:rPr lang="en-US" sz="1600" b="1" dirty="0">
                <a:solidFill>
                  <a:schemeClr val="bg1"/>
                </a:solidFill>
                <a:latin typeface="Cambria" pitchFamily="34" charset="0"/>
                <a:ea typeface="Cambria" pitchFamily="34" charset="-122"/>
                <a:cs typeface="Cambria" pitchFamily="34" charset="-120"/>
              </a:rPr>
              <a:t>About 6% more clearance revenue</a:t>
            </a:r>
            <a:endParaRPr lang="en-US" sz="1600" dirty="0"/>
          </a:p>
        </p:txBody>
      </p:sp>
      <p:sp>
        <p:nvSpPr>
          <p:cNvPr id="16" name="Card text"/>
          <p:cNvSpPr txBox="1"/>
          <p:nvPr/>
        </p:nvSpPr>
        <p:spPr>
          <a:xfrm>
            <a:off x="8310677" y="2798064"/>
            <a:ext cx="3149498" cy="868680"/>
          </a:xfrm>
          <a:prstGeom prst="rect">
            <a:avLst/>
          </a:prstGeom>
          <a:noFill/>
          <a:ln/>
        </p:spPr>
        <p:txBody>
          <a:bodyPr wrap="square" lIns="0" tIns="0" rIns="0" bIns="0" rtlCol="0" anchor="t"/>
          <a:lstStyle/>
          <a:p>
            <a:pPr indent="0" marL="0">
              <a:buNone/>
            </a:pPr>
            <a:r>
              <a:rPr lang="en-US" sz="1300" dirty="0">
                <a:solidFill>
                  <a:schemeClr val="bg2"/>
                </a:solidFill>
              </a:rPr>
              <a:t>In a controlled 2009 pilot in Belgium and Ireland; the model became Zara's standard markdown tool.</a:t>
            </a:r>
            <a:endParaRPr lang="en-US" sz="1300" dirty="0"/>
          </a:p>
        </p:txBody>
      </p:sp>
      <p:sp>
        <p:nvSpPr>
          <p:cNvPr id="17" name="Card"/>
          <p:cNvSpPr/>
          <p:nvPr/>
        </p:nvSpPr>
        <p:spPr>
          <a:xfrm>
            <a:off x="548640" y="4069080"/>
            <a:ext cx="3515258" cy="2103120"/>
          </a:xfrm>
          <a:prstGeom prst="roundRect">
            <a:avLst>
              <a:gd name="adj" fmla="val 3478"/>
            </a:avLst>
          </a:prstGeom>
          <a:solidFill>
            <a:schemeClr val="bg2"/>
          </a:solidFill>
          <a:ln w="9525">
            <a:solidFill>
              <a:srgbClr val="C4CBD8"/>
            </a:solidFill>
            <a:prstDash val="solid"/>
          </a:ln>
        </p:spPr>
      </p:sp>
      <p:sp>
        <p:nvSpPr>
          <p:cNvPr id="18" name="Card label"/>
          <p:cNvSpPr txBox="1"/>
          <p:nvPr/>
        </p:nvSpPr>
        <p:spPr>
          <a:xfrm>
            <a:off x="731520" y="419709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Making it work</a:t>
            </a:r>
            <a:endParaRPr lang="en-US" sz="1300" dirty="0"/>
          </a:p>
        </p:txBody>
      </p:sp>
      <p:sp>
        <p:nvSpPr>
          <p:cNvPr id="19" name="Card head"/>
          <p:cNvSpPr txBox="1"/>
          <p:nvPr/>
        </p:nvSpPr>
        <p:spPr>
          <a:xfrm>
            <a:off x="731520" y="4526280"/>
            <a:ext cx="3149498" cy="576072"/>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Trust is earned week by week</a:t>
            </a:r>
            <a:endParaRPr lang="en-US" sz="1600" dirty="0"/>
          </a:p>
        </p:txBody>
      </p:sp>
      <p:sp>
        <p:nvSpPr>
          <p:cNvPr id="20" name="Card text"/>
          <p:cNvSpPr txBox="1"/>
          <p:nvPr/>
        </p:nvSpPr>
        <p:spPr>
          <a:xfrm>
            <a:off x="731520" y="5175504"/>
            <a:ext cx="3149498" cy="868680"/>
          </a:xfrm>
          <a:prstGeom prst="rect">
            <a:avLst/>
          </a:prstGeom>
          <a:noFill/>
          <a:ln/>
        </p:spPr>
        <p:txBody>
          <a:bodyPr wrap="square" lIns="0" tIns="0" rIns="0" bIns="0" rtlCol="0" anchor="t"/>
          <a:lstStyle/>
          <a:p>
            <a:pPr indent="0" marL="0">
              <a:buNone/>
            </a:pPr>
            <a:r>
              <a:rPr lang="en-US" sz="1300" dirty="0">
                <a:solidFill>
                  <a:schemeClr val="tx2"/>
                </a:solidFill>
              </a:rPr>
              <a:t>After a forecast miss, managers overrode the model on one group; elsewhere they followed it closely.</a:t>
            </a:r>
            <a:endParaRPr lang="en-US" sz="1300" dirty="0"/>
          </a:p>
        </p:txBody>
      </p:sp>
      <p:sp>
        <p:nvSpPr>
          <p:cNvPr id="21" name="Card"/>
          <p:cNvSpPr/>
          <p:nvPr/>
        </p:nvSpPr>
        <p:spPr>
          <a:xfrm>
            <a:off x="4338218" y="4069080"/>
            <a:ext cx="3515258" cy="2103120"/>
          </a:xfrm>
          <a:prstGeom prst="roundRect">
            <a:avLst>
              <a:gd name="adj" fmla="val 3478"/>
            </a:avLst>
          </a:prstGeom>
          <a:solidFill>
            <a:schemeClr val="bg2"/>
          </a:solidFill>
          <a:ln w="9525">
            <a:solidFill>
              <a:srgbClr val="C4CBD8"/>
            </a:solidFill>
            <a:prstDash val="solid"/>
          </a:ln>
        </p:spPr>
      </p:sp>
      <p:sp>
        <p:nvSpPr>
          <p:cNvPr id="22" name="Card label"/>
          <p:cNvSpPr txBox="1"/>
          <p:nvPr/>
        </p:nvSpPr>
        <p:spPr>
          <a:xfrm>
            <a:off x="4521098" y="419709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What Meridian takes</a:t>
            </a:r>
            <a:endParaRPr lang="en-US" sz="1300" dirty="0"/>
          </a:p>
        </p:txBody>
      </p:sp>
      <p:sp>
        <p:nvSpPr>
          <p:cNvPr id="23" name="Card head"/>
          <p:cNvSpPr txBox="1"/>
          <p:nvPr/>
        </p:nvSpPr>
        <p:spPr>
          <a:xfrm>
            <a:off x="4521098" y="4526280"/>
            <a:ext cx="3149498" cy="576072"/>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The war-chest rule</a:t>
            </a:r>
            <a:endParaRPr lang="en-US" sz="1600" dirty="0"/>
          </a:p>
        </p:txBody>
      </p:sp>
      <p:sp>
        <p:nvSpPr>
          <p:cNvPr id="24" name="Card text"/>
          <p:cNvSpPr txBox="1"/>
          <p:nvPr/>
        </p:nvSpPr>
        <p:spPr>
          <a:xfrm>
            <a:off x="4521098" y="5175504"/>
            <a:ext cx="3149498" cy="868680"/>
          </a:xfrm>
          <a:prstGeom prst="rect">
            <a:avLst/>
          </a:prstGeom>
          <a:noFill/>
          <a:ln/>
        </p:spPr>
        <p:txBody>
          <a:bodyPr wrap="square" lIns="0" tIns="0" rIns="0" bIns="0" rtlCol="0" anchor="t"/>
          <a:lstStyle/>
          <a:p>
            <a:pPr indent="0" marL="0">
              <a:buNone/>
            </a:pPr>
            <a:r>
              <a:rPr lang="en-US" sz="1300" dirty="0">
                <a:solidFill>
                  <a:schemeClr val="tx2"/>
                </a:solidFill>
              </a:rPr>
              <a:t>Plan to the end, carry out the first step, and plan again from the measured state: Worked Example 5.1.</a:t>
            </a:r>
            <a:endParaRPr lang="en-US" sz="1300" dirty="0"/>
          </a:p>
        </p:txBody>
      </p:sp>
      <p:sp>
        <p:nvSpPr>
          <p:cNvPr id="25" name="Card"/>
          <p:cNvSpPr/>
          <p:nvPr/>
        </p:nvSpPr>
        <p:spPr>
          <a:xfrm>
            <a:off x="8127797" y="4069080"/>
            <a:ext cx="3515258" cy="2103120"/>
          </a:xfrm>
          <a:prstGeom prst="roundRect">
            <a:avLst>
              <a:gd name="adj" fmla="val 3478"/>
            </a:avLst>
          </a:prstGeom>
          <a:solidFill>
            <a:schemeClr val="bg2"/>
          </a:solidFill>
          <a:ln w="9525">
            <a:solidFill>
              <a:srgbClr val="C4CBD8"/>
            </a:solidFill>
            <a:prstDash val="solid"/>
          </a:ln>
        </p:spPr>
      </p:sp>
      <p:sp>
        <p:nvSpPr>
          <p:cNvPr id="26" name="Card label"/>
          <p:cNvSpPr txBox="1"/>
          <p:nvPr/>
        </p:nvSpPr>
        <p:spPr>
          <a:xfrm>
            <a:off x="8310677" y="419709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For the board</a:t>
            </a:r>
            <a:endParaRPr lang="en-US" sz="1300" dirty="0"/>
          </a:p>
        </p:txBody>
      </p:sp>
      <p:sp>
        <p:nvSpPr>
          <p:cNvPr id="27" name="Card head"/>
          <p:cNvSpPr txBox="1"/>
          <p:nvPr/>
        </p:nvSpPr>
        <p:spPr>
          <a:xfrm>
            <a:off x="8310677" y="4526280"/>
            <a:ext cx="3149498" cy="576072"/>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What is the control?</a:t>
            </a:r>
            <a:endParaRPr lang="en-US" sz="1600" dirty="0"/>
          </a:p>
        </p:txBody>
      </p:sp>
      <p:sp>
        <p:nvSpPr>
          <p:cNvPr id="28" name="Card text"/>
          <p:cNvSpPr txBox="1"/>
          <p:nvPr/>
        </p:nvSpPr>
        <p:spPr>
          <a:xfrm>
            <a:off x="8310677" y="5175504"/>
            <a:ext cx="3149498" cy="868680"/>
          </a:xfrm>
          <a:prstGeom prst="rect">
            <a:avLst/>
          </a:prstGeom>
          <a:noFill/>
          <a:ln/>
        </p:spPr>
        <p:txBody>
          <a:bodyPr wrap="square" lIns="0" tIns="0" rIns="0" bIns="0" rtlCol="0" anchor="t"/>
          <a:lstStyle/>
          <a:p>
            <a:pPr indent="0" marL="0">
              <a:buNone/>
            </a:pPr>
            <a:r>
              <a:rPr lang="en-US" sz="1300" dirty="0">
                <a:solidFill>
                  <a:schemeClr val="tx2"/>
                </a:solidFill>
              </a:rPr>
              <a:t>Before we adopt a new decision method, how will we compare it with the current one?</a:t>
            </a:r>
            <a:endParaRPr lang="en-US" sz="13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AXIOM LAB 2.5 · MODULE AXIOM-05</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Planning over time, in AXIOM</a:t>
            </a:r>
            <a:endParaRPr lang="en-US" sz="3200" dirty="0"/>
          </a:p>
        </p:txBody>
      </p:sp>
      <p:pic>
        <p:nvPicPr>
          <p:cNvPr id="5" name="AXIOM logo" descr="AXIOM">    </p:cNvPr>
          <p:cNvPicPr>
            <a:picLocks noChangeAspect="1"/>
          </p:cNvPicPr>
          <p:nvPr/>
        </p:nvPicPr>
        <p:blipFill>
          <a:blip r:embed="rId1"/>
          <a:stretch>
            <a:fillRect/>
          </a:stretch>
        </p:blipFill>
        <p:spPr>
          <a:xfrm>
            <a:off x="9539935" y="310896"/>
            <a:ext cx="2103120" cy="420624"/>
          </a:xfrm>
          <a:prstGeom prst="rect">
            <a:avLst/>
          </a:prstGeom>
        </p:spPr>
      </p:pic>
      <p:sp>
        <p:nvSpPr>
          <p:cNvPr id="6" name="Situation"/>
          <p:cNvSpPr txBox="1"/>
          <p:nvPr/>
        </p:nvSpPr>
        <p:spPr>
          <a:xfrm>
            <a:off x="548640" y="1645920"/>
            <a:ext cx="11094415" cy="777240"/>
          </a:xfrm>
          <a:prstGeom prst="rect">
            <a:avLst/>
          </a:prstGeom>
          <a:noFill/>
          <a:ln/>
        </p:spPr>
        <p:txBody>
          <a:bodyPr wrap="square" lIns="0" tIns="0" rIns="0" bIns="0" rtlCol="0" anchor="t"/>
          <a:lstStyle/>
          <a:p>
            <a:pPr indent="0" marL="0">
              <a:buNone/>
            </a:pPr>
            <a:r>
              <a:rPr lang="en-US" sz="1500" dirty="0">
                <a:solidFill>
                  <a:schemeClr val="tx1"/>
                </a:solidFill>
              </a:rPr>
              <a:t>Meridian's board has asked when the automation program's cash should go to shareholders. The CFO favors paying out everything above the floor; the program office wants cash held for the rounds. Open AXIOM, choose Lab 2.5 and load the Meridian automation instance.</a:t>
            </a:r>
            <a:endParaRPr lang="en-US" sz="1500" dirty="0"/>
          </a:p>
        </p:txBody>
      </p:sp>
      <p:sp>
        <p:nvSpPr>
          <p:cNvPr id="7" name="Flow line"/>
          <p:cNvSpPr/>
          <p:nvPr/>
        </p:nvSpPr>
        <p:spPr>
          <a:xfrm>
            <a:off x="1658082" y="2880360"/>
            <a:ext cx="8875532" cy="0"/>
          </a:xfrm>
          <a:prstGeom prst="line">
            <a:avLst/>
          </a:prstGeom>
          <a:noFill/>
          <a:ln w="25400">
            <a:solidFill>
              <a:srgbClr val="C4CBD8"/>
            </a:solidFill>
            <a:prstDash val="solid"/>
          </a:ln>
        </p:spPr>
      </p:sp>
      <p:sp>
        <p:nvSpPr>
          <p:cNvPr id="8" name="Number"/>
          <p:cNvSpPr/>
          <p:nvPr/>
        </p:nvSpPr>
        <p:spPr>
          <a:xfrm>
            <a:off x="1383762" y="2606040"/>
            <a:ext cx="548640" cy="548640"/>
          </a:xfrm>
          <a:prstGeom prst="ellipse">
            <a:avLst/>
          </a:prstGeom>
          <a:solidFill>
            <a:schemeClr val="accent1"/>
          </a:solidFill>
          <a:ln w="6350">
            <a:solidFill>
              <a:schemeClr val="accent1"/>
            </a:solidFill>
            <a:prstDash val="solid"/>
          </a:ln>
        </p:spPr>
      </p:sp>
      <p:sp>
        <p:nvSpPr>
          <p:cNvPr id="9" name="Text 5"/>
          <p:cNvSpPr txBox="1"/>
          <p:nvPr/>
        </p:nvSpPr>
        <p:spPr>
          <a:xfrm>
            <a:off x="1383762"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1</a:t>
            </a:r>
            <a:endParaRPr lang="en-US" sz="1600" dirty="0"/>
          </a:p>
        </p:txBody>
      </p:sp>
      <p:sp>
        <p:nvSpPr>
          <p:cNvPr id="10" name="Flow head"/>
          <p:cNvSpPr txBox="1"/>
          <p:nvPr/>
        </p:nvSpPr>
        <p:spPr>
          <a:xfrm>
            <a:off x="621792"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Simulate</a:t>
            </a:r>
            <a:endParaRPr lang="en-US" sz="1600" dirty="0"/>
          </a:p>
        </p:txBody>
      </p:sp>
      <p:sp>
        <p:nvSpPr>
          <p:cNvPr id="11" name="Flow text"/>
          <p:cNvSpPr txBox="1"/>
          <p:nvPr/>
        </p:nvSpPr>
        <p:spPr>
          <a:xfrm>
            <a:off x="640080"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Run the CFO's rule and the war-chest rule; watch cash against the floor and the $470m line.</a:t>
            </a:r>
            <a:endParaRPr lang="en-US" sz="1400" dirty="0"/>
          </a:p>
        </p:txBody>
      </p:sp>
      <p:sp>
        <p:nvSpPr>
          <p:cNvPr id="12" name="Number"/>
          <p:cNvSpPr/>
          <p:nvPr/>
        </p:nvSpPr>
        <p:spPr>
          <a:xfrm>
            <a:off x="3602645" y="2606040"/>
            <a:ext cx="548640" cy="548640"/>
          </a:xfrm>
          <a:prstGeom prst="ellipse">
            <a:avLst/>
          </a:prstGeom>
          <a:solidFill>
            <a:schemeClr val="accent1"/>
          </a:solidFill>
          <a:ln w="6350">
            <a:solidFill>
              <a:schemeClr val="accent1"/>
            </a:solidFill>
            <a:prstDash val="solid"/>
          </a:ln>
        </p:spPr>
      </p:sp>
      <p:sp>
        <p:nvSpPr>
          <p:cNvPr id="13" name="Text 9"/>
          <p:cNvSpPr txBox="1"/>
          <p:nvPr/>
        </p:nvSpPr>
        <p:spPr>
          <a:xfrm>
            <a:off x="3602645"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2</a:t>
            </a:r>
            <a:endParaRPr lang="en-US" sz="1600" dirty="0"/>
          </a:p>
        </p:txBody>
      </p:sp>
      <p:sp>
        <p:nvSpPr>
          <p:cNvPr id="14" name="Flow head"/>
          <p:cNvSpPr txBox="1"/>
          <p:nvPr/>
        </p:nvSpPr>
        <p:spPr>
          <a:xfrm>
            <a:off x="2840675"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Transcribe</a:t>
            </a:r>
            <a:endParaRPr lang="en-US" sz="1600" dirty="0"/>
          </a:p>
        </p:txBody>
      </p:sp>
      <p:sp>
        <p:nvSpPr>
          <p:cNvPr id="15" name="Flow text"/>
          <p:cNvSpPr txBox="1"/>
          <p:nvPr/>
        </p:nvSpPr>
        <p:spPr>
          <a:xfrm>
            <a:off x="2858963"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Transcribe the six years and hand the program to the AXIOM-04 solvers; record the best plan.</a:t>
            </a:r>
            <a:endParaRPr lang="en-US" sz="1400" dirty="0"/>
          </a:p>
        </p:txBody>
      </p:sp>
      <p:sp>
        <p:nvSpPr>
          <p:cNvPr id="16" name="Number"/>
          <p:cNvSpPr/>
          <p:nvPr/>
        </p:nvSpPr>
        <p:spPr>
          <a:xfrm>
            <a:off x="5821528" y="2606040"/>
            <a:ext cx="548640" cy="548640"/>
          </a:xfrm>
          <a:prstGeom prst="ellipse">
            <a:avLst/>
          </a:prstGeom>
          <a:solidFill>
            <a:schemeClr val="accent1"/>
          </a:solidFill>
          <a:ln w="6350">
            <a:solidFill>
              <a:schemeClr val="accent1"/>
            </a:solidFill>
            <a:prstDash val="solid"/>
          </a:ln>
        </p:spPr>
      </p:sp>
      <p:sp>
        <p:nvSpPr>
          <p:cNvPr id="17" name="Text 13"/>
          <p:cNvSpPr txBox="1"/>
          <p:nvPr/>
        </p:nvSpPr>
        <p:spPr>
          <a:xfrm>
            <a:off x="5821528"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3</a:t>
            </a:r>
            <a:endParaRPr lang="en-US" sz="1600" dirty="0"/>
          </a:p>
        </p:txBody>
      </p:sp>
      <p:sp>
        <p:nvSpPr>
          <p:cNvPr id="18" name="Flow head"/>
          <p:cNvSpPr txBox="1"/>
          <p:nvPr/>
        </p:nvSpPr>
        <p:spPr>
          <a:xfrm>
            <a:off x="5059558"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Price</a:t>
            </a:r>
            <a:endParaRPr lang="en-US" sz="1600" dirty="0"/>
          </a:p>
        </p:txBody>
      </p:sp>
      <p:sp>
        <p:nvSpPr>
          <p:cNvPr id="19" name="Flow text"/>
          <p:cNvSpPr txBox="1"/>
          <p:nvPr/>
        </p:nvSpPr>
        <p:spPr>
          <a:xfrm>
            <a:off x="5077846"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Read the prices of cash and efficiency by year; check two by perturbing the instance.</a:t>
            </a:r>
            <a:endParaRPr lang="en-US" sz="1400" dirty="0"/>
          </a:p>
        </p:txBody>
      </p:sp>
      <p:sp>
        <p:nvSpPr>
          <p:cNvPr id="20" name="Number"/>
          <p:cNvSpPr/>
          <p:nvPr/>
        </p:nvSpPr>
        <p:spPr>
          <a:xfrm>
            <a:off x="8040411" y="2606040"/>
            <a:ext cx="548640" cy="548640"/>
          </a:xfrm>
          <a:prstGeom prst="ellipse">
            <a:avLst/>
          </a:prstGeom>
          <a:solidFill>
            <a:schemeClr val="accent1"/>
          </a:solidFill>
          <a:ln w="6350">
            <a:solidFill>
              <a:schemeClr val="accent1"/>
            </a:solidFill>
            <a:prstDash val="solid"/>
          </a:ln>
        </p:spPr>
      </p:sp>
      <p:sp>
        <p:nvSpPr>
          <p:cNvPr id="21" name="Text 17"/>
          <p:cNvSpPr txBox="1"/>
          <p:nvPr/>
        </p:nvSpPr>
        <p:spPr>
          <a:xfrm>
            <a:off x="8040411"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4</a:t>
            </a:r>
            <a:endParaRPr lang="en-US" sz="1600" dirty="0"/>
          </a:p>
        </p:txBody>
      </p:sp>
      <p:sp>
        <p:nvSpPr>
          <p:cNvPr id="22" name="Flow head"/>
          <p:cNvSpPr txBox="1"/>
          <p:nvPr/>
        </p:nvSpPr>
        <p:spPr>
          <a:xfrm>
            <a:off x="7278441"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Move the horizon and the rate</a:t>
            </a:r>
            <a:endParaRPr lang="en-US" sz="1600" dirty="0"/>
          </a:p>
        </p:txBody>
      </p:sp>
      <p:sp>
        <p:nvSpPr>
          <p:cNvPr id="23" name="Flow text"/>
          <p:cNvSpPr txBox="1"/>
          <p:nvPr/>
        </p:nvSpPr>
        <p:spPr>
          <a:xfrm>
            <a:off x="7296729"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Vary the hurdle rate from 3 to 30 percent, switch the terminal value, lengthen the window.</a:t>
            </a:r>
            <a:endParaRPr lang="en-US" sz="1400" dirty="0"/>
          </a:p>
        </p:txBody>
      </p:sp>
      <p:sp>
        <p:nvSpPr>
          <p:cNvPr id="24" name="Number"/>
          <p:cNvSpPr/>
          <p:nvPr/>
        </p:nvSpPr>
        <p:spPr>
          <a:xfrm>
            <a:off x="10259294" y="2606040"/>
            <a:ext cx="548640" cy="548640"/>
          </a:xfrm>
          <a:prstGeom prst="ellipse">
            <a:avLst/>
          </a:prstGeom>
          <a:solidFill>
            <a:schemeClr val="accent1"/>
          </a:solidFill>
          <a:ln w="6350">
            <a:solidFill>
              <a:schemeClr val="accent1"/>
            </a:solidFill>
            <a:prstDash val="solid"/>
          </a:ln>
        </p:spPr>
      </p:sp>
      <p:sp>
        <p:nvSpPr>
          <p:cNvPr id="25" name="Text 21"/>
          <p:cNvSpPr txBox="1"/>
          <p:nvPr/>
        </p:nvSpPr>
        <p:spPr>
          <a:xfrm>
            <a:off x="10259294"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5</a:t>
            </a:r>
            <a:endParaRPr lang="en-US" sz="1600" dirty="0"/>
          </a:p>
        </p:txBody>
      </p:sp>
      <p:sp>
        <p:nvSpPr>
          <p:cNvPr id="26" name="Flow head"/>
          <p:cNvSpPr txBox="1"/>
          <p:nvPr/>
        </p:nvSpPr>
        <p:spPr>
          <a:xfrm>
            <a:off x="9497324"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Stress</a:t>
            </a:r>
            <a:endParaRPr lang="en-US" sz="1600" dirty="0"/>
          </a:p>
        </p:txBody>
      </p:sp>
      <p:sp>
        <p:nvSpPr>
          <p:cNvPr id="27" name="Flow text"/>
          <p:cNvSpPr txBox="1"/>
          <p:nvPr/>
        </p:nvSpPr>
        <p:spPr>
          <a:xfrm>
            <a:off x="9515612"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Make each round a point short; run Step 3's schedule and the war-chest rule side by side.</a:t>
            </a:r>
            <a:endParaRPr lang="en-US" sz="1400" dirty="0"/>
          </a:p>
        </p:txBody>
      </p:sp>
      <p:sp>
        <p:nvSpPr>
          <p:cNvPr id="28" name="Deliverable card"/>
          <p:cNvSpPr/>
          <p:nvPr/>
        </p:nvSpPr>
        <p:spPr>
          <a:xfrm>
            <a:off x="548640" y="5486400"/>
            <a:ext cx="11094415" cy="685800"/>
          </a:xfrm>
          <a:prstGeom prst="roundRect">
            <a:avLst>
              <a:gd name="adj" fmla="val 10667"/>
            </a:avLst>
          </a:prstGeom>
          <a:solidFill>
            <a:schemeClr val="bg2"/>
          </a:solidFill>
          <a:ln w="9525">
            <a:solidFill>
              <a:srgbClr val="C4CBD8"/>
            </a:solidFill>
            <a:prstDash val="solid"/>
          </a:ln>
        </p:spPr>
      </p:sp>
      <p:sp>
        <p:nvSpPr>
          <p:cNvPr id="29" name="Deliverable"/>
          <p:cNvSpPr txBox="1"/>
          <p:nvPr/>
        </p:nvSpPr>
        <p:spPr>
          <a:xfrm>
            <a:off x="777240" y="5559552"/>
            <a:ext cx="10637215" cy="539496"/>
          </a:xfrm>
          <a:prstGeom prst="rect">
            <a:avLst/>
          </a:prstGeom>
          <a:noFill/>
          <a:ln/>
        </p:spPr>
        <p:txBody>
          <a:bodyPr wrap="square" lIns="0" tIns="0" rIns="0" bIns="0" rtlCol="0" anchor="ctr"/>
          <a:lstStyle/>
          <a:p>
            <a:pPr indent="0" marL="0">
              <a:buNone/>
            </a:pPr>
            <a:r>
              <a:rPr lang="en-US" sz="1400" b="1" dirty="0">
                <a:solidFill>
                  <a:schemeClr val="tx1"/>
                </a:solidFill>
              </a:rPr>
              <a:t>Deliverable:</a:t>
            </a:r>
            <a:r>
              <a:rPr lang="en-US" sz="1400" dirty="0">
                <a:solidFill>
                  <a:schemeClr val="tx1"/>
                </a:solidFill>
              </a:rPr>
              <a:t> a one-page note to the board recommending a payout rule, with its value, the war chest by year, the price of the end condition, and the plan's behavior when the rounds fall short. About 75 minutes.</a:t>
            </a:r>
            <a:endParaRPr lang="en-US" sz="14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KEY TAKEAWAYS</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What to carry forward</a:t>
            </a:r>
            <a:endParaRPr lang="en-US" sz="3200" dirty="0"/>
          </a:p>
        </p:txBody>
      </p:sp>
      <p:sp>
        <p:nvSpPr>
          <p:cNvPr id="5" name="Number"/>
          <p:cNvSpPr/>
          <p:nvPr/>
        </p:nvSpPr>
        <p:spPr>
          <a:xfrm>
            <a:off x="548640" y="1737360"/>
            <a:ext cx="566928" cy="566928"/>
          </a:xfrm>
          <a:prstGeom prst="ellipse">
            <a:avLst/>
          </a:prstGeom>
          <a:solidFill>
            <a:schemeClr val="accent1"/>
          </a:solidFill>
          <a:ln w="6350">
            <a:solidFill>
              <a:schemeClr val="accent1"/>
            </a:solidFill>
            <a:prstDash val="solid"/>
          </a:ln>
        </p:spPr>
      </p:sp>
      <p:sp>
        <p:nvSpPr>
          <p:cNvPr id="6" name="Text 3"/>
          <p:cNvSpPr txBox="1"/>
          <p:nvPr/>
        </p:nvSpPr>
        <p:spPr>
          <a:xfrm>
            <a:off x="548640" y="1737360"/>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1</a:t>
            </a:r>
            <a:endParaRPr lang="en-US" sz="1500" dirty="0"/>
          </a:p>
        </p:txBody>
      </p:sp>
      <p:sp>
        <p:nvSpPr>
          <p:cNvPr id="7" name="Row text"/>
          <p:cNvSpPr txBox="1"/>
          <p:nvPr/>
        </p:nvSpPr>
        <p:spPr>
          <a:xfrm>
            <a:off x="1325880" y="1691640"/>
            <a:ext cx="10317175" cy="841248"/>
          </a:xfrm>
          <a:prstGeom prst="rect">
            <a:avLst/>
          </a:prstGeom>
          <a:noFill/>
          <a:ln/>
        </p:spPr>
        <p:txBody>
          <a:bodyPr wrap="square" lIns="0" tIns="0" rIns="0" bIns="0" rtlCol="0" anchor="ctr"/>
          <a:lstStyle/>
          <a:p>
            <a:pPr indent="0" marL="0">
              <a:buNone/>
            </a:pPr>
            <a:r>
              <a:rPr lang="en-US" sz="1500" dirty="0">
                <a:solidFill>
                  <a:schemeClr val="tx1"/>
                </a:solidFill>
              </a:rPr>
              <a:t>Time adds stocks, delays, and commitments on whole paths; deciding period by period ignores them and can break commitments or lose any share of the value.</a:t>
            </a:r>
            <a:endParaRPr lang="en-US" sz="1500" dirty="0"/>
          </a:p>
        </p:txBody>
      </p:sp>
      <p:sp>
        <p:nvSpPr>
          <p:cNvPr id="8" name="Number"/>
          <p:cNvSpPr/>
          <p:nvPr/>
        </p:nvSpPr>
        <p:spPr>
          <a:xfrm>
            <a:off x="548640" y="2633472"/>
            <a:ext cx="566928" cy="566928"/>
          </a:xfrm>
          <a:prstGeom prst="ellipse">
            <a:avLst/>
          </a:prstGeom>
          <a:solidFill>
            <a:schemeClr val="accent1"/>
          </a:solidFill>
          <a:ln w="6350">
            <a:solidFill>
              <a:schemeClr val="accent1"/>
            </a:solidFill>
            <a:prstDash val="solid"/>
          </a:ln>
        </p:spPr>
      </p:sp>
      <p:sp>
        <p:nvSpPr>
          <p:cNvPr id="9" name="Text 6"/>
          <p:cNvSpPr txBox="1"/>
          <p:nvPr/>
        </p:nvSpPr>
        <p:spPr>
          <a:xfrm>
            <a:off x="548640" y="2633472"/>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2</a:t>
            </a:r>
            <a:endParaRPr lang="en-US" sz="1500" dirty="0"/>
          </a:p>
        </p:txBody>
      </p:sp>
      <p:sp>
        <p:nvSpPr>
          <p:cNvPr id="10" name="Row text"/>
          <p:cNvSpPr txBox="1"/>
          <p:nvPr/>
        </p:nvSpPr>
        <p:spPr>
          <a:xfrm>
            <a:off x="1325880" y="2587752"/>
            <a:ext cx="10317175" cy="841248"/>
          </a:xfrm>
          <a:prstGeom prst="rect">
            <a:avLst/>
          </a:prstGeom>
          <a:noFill/>
          <a:ln/>
        </p:spPr>
        <p:txBody>
          <a:bodyPr wrap="square" lIns="0" tIns="0" rIns="0" bIns="0" rtlCol="0" anchor="ctr"/>
          <a:lstStyle/>
          <a:p>
            <a:pPr indent="0" marL="0">
              <a:buNone/>
            </a:pPr>
            <a:r>
              <a:rPr lang="en-US" sz="1500" dirty="0">
                <a:solidFill>
                  <a:schemeClr val="tx1"/>
                </a:solidFill>
              </a:rPr>
              <a:t>A dynamic instance declares its period, its discount, and its terminal value as well as its dynamics and commitments (Definition 5.1); a best plan exists under compactness, and in continuous time under convexity in the decisions.</a:t>
            </a:r>
            <a:endParaRPr lang="en-US" sz="1500" dirty="0"/>
          </a:p>
        </p:txBody>
      </p:sp>
      <p:sp>
        <p:nvSpPr>
          <p:cNvPr id="11" name="Number"/>
          <p:cNvSpPr/>
          <p:nvPr/>
        </p:nvSpPr>
        <p:spPr>
          <a:xfrm>
            <a:off x="548640" y="3529584"/>
            <a:ext cx="566928" cy="566928"/>
          </a:xfrm>
          <a:prstGeom prst="ellipse">
            <a:avLst/>
          </a:prstGeom>
          <a:solidFill>
            <a:schemeClr val="accent1"/>
          </a:solidFill>
          <a:ln w="6350">
            <a:solidFill>
              <a:schemeClr val="accent1"/>
            </a:solidFill>
            <a:prstDash val="solid"/>
          </a:ln>
        </p:spPr>
      </p:sp>
      <p:sp>
        <p:nvSpPr>
          <p:cNvPr id="12" name="Text 9"/>
          <p:cNvSpPr txBox="1"/>
          <p:nvPr/>
        </p:nvSpPr>
        <p:spPr>
          <a:xfrm>
            <a:off x="548640" y="3529584"/>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3</a:t>
            </a:r>
            <a:endParaRPr lang="en-US" sz="1500" dirty="0"/>
          </a:p>
        </p:txBody>
      </p:sp>
      <p:sp>
        <p:nvSpPr>
          <p:cNvPr id="13" name="Row text"/>
          <p:cNvSpPr txBox="1"/>
          <p:nvPr/>
        </p:nvSpPr>
        <p:spPr>
          <a:xfrm>
            <a:off x="1325880" y="3483864"/>
            <a:ext cx="10317175" cy="841248"/>
          </a:xfrm>
          <a:prstGeom prst="rect">
            <a:avLst/>
          </a:prstGeom>
          <a:noFill/>
          <a:ln/>
        </p:spPr>
        <p:txBody>
          <a:bodyPr wrap="square" lIns="0" tIns="0" rIns="0" bIns="0" rtlCol="0" anchor="ctr"/>
          <a:lstStyle/>
          <a:p>
            <a:pPr indent="0" marL="0">
              <a:buNone/>
            </a:pPr>
            <a:r>
              <a:rPr lang="en-US" sz="1500" dirty="0">
                <a:solidFill>
                  <a:schemeClr val="tx1"/>
                </a:solidFill>
              </a:rPr>
              <a:t>Transcription turns the path into one program: a calendar's value is a floor that rises as the calendar is refined, and the multipliers of the dynamics are the prices of stocks over time (Theorem 5.1); at a best plan discounted marginal values are equal wherever a resource can move.</a:t>
            </a:r>
            <a:endParaRPr lang="en-US" sz="1500" dirty="0"/>
          </a:p>
        </p:txBody>
      </p:sp>
      <p:sp>
        <p:nvSpPr>
          <p:cNvPr id="14" name="Number"/>
          <p:cNvSpPr/>
          <p:nvPr/>
        </p:nvSpPr>
        <p:spPr>
          <a:xfrm>
            <a:off x="548640" y="4425696"/>
            <a:ext cx="566928" cy="566928"/>
          </a:xfrm>
          <a:prstGeom prst="ellipse">
            <a:avLst/>
          </a:prstGeom>
          <a:solidFill>
            <a:schemeClr val="accent1"/>
          </a:solidFill>
          <a:ln w="6350">
            <a:solidFill>
              <a:schemeClr val="accent1"/>
            </a:solidFill>
            <a:prstDash val="solid"/>
          </a:ln>
        </p:spPr>
      </p:sp>
      <p:sp>
        <p:nvSpPr>
          <p:cNvPr id="15" name="Text 12"/>
          <p:cNvSpPr txBox="1"/>
          <p:nvPr/>
        </p:nvSpPr>
        <p:spPr>
          <a:xfrm>
            <a:off x="548640" y="4425696"/>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4</a:t>
            </a:r>
            <a:endParaRPr lang="en-US" sz="1500" dirty="0"/>
          </a:p>
        </p:txBody>
      </p:sp>
      <p:sp>
        <p:nvSpPr>
          <p:cNvPr id="16" name="Row text"/>
          <p:cNvSpPr txBox="1"/>
          <p:nvPr/>
        </p:nvSpPr>
        <p:spPr>
          <a:xfrm>
            <a:off x="1325880" y="4379976"/>
            <a:ext cx="10317175" cy="841248"/>
          </a:xfrm>
          <a:prstGeom prst="rect">
            <a:avLst/>
          </a:prstGeom>
          <a:noFill/>
          <a:ln/>
        </p:spPr>
        <p:txBody>
          <a:bodyPr wrap="square" lIns="0" tIns="0" rIns="0" bIns="0" rtlCol="0" anchor="ctr"/>
          <a:lstStyle/>
          <a:p>
            <a:pPr indent="0" marL="0">
              <a:buNone/>
            </a:pPr>
            <a:r>
              <a:rPr lang="en-US" sz="1500" dirty="0">
                <a:solidFill>
                  <a:schemeClr val="tx1"/>
                </a:solidFill>
              </a:rPr>
              <a:t>The terminal value must stand for the value of continuing: without it a plan runs the company down, and an end condition must agree with it.</a:t>
            </a:r>
            <a:endParaRPr lang="en-US" sz="1500" dirty="0"/>
          </a:p>
        </p:txBody>
      </p:sp>
      <p:sp>
        <p:nvSpPr>
          <p:cNvPr id="17" name="Number"/>
          <p:cNvSpPr/>
          <p:nvPr/>
        </p:nvSpPr>
        <p:spPr>
          <a:xfrm>
            <a:off x="548640" y="5321808"/>
            <a:ext cx="566928" cy="566928"/>
          </a:xfrm>
          <a:prstGeom prst="ellipse">
            <a:avLst/>
          </a:prstGeom>
          <a:solidFill>
            <a:schemeClr val="accent1"/>
          </a:solidFill>
          <a:ln w="6350">
            <a:solidFill>
              <a:schemeClr val="accent1"/>
            </a:solidFill>
            <a:prstDash val="solid"/>
          </a:ln>
        </p:spPr>
      </p:sp>
      <p:sp>
        <p:nvSpPr>
          <p:cNvPr id="18" name="Text 15"/>
          <p:cNvSpPr txBox="1"/>
          <p:nvPr/>
        </p:nvSpPr>
        <p:spPr>
          <a:xfrm>
            <a:off x="548640" y="5321808"/>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5</a:t>
            </a:r>
            <a:endParaRPr lang="en-US" sz="1500" dirty="0"/>
          </a:p>
        </p:txBody>
      </p:sp>
      <p:sp>
        <p:nvSpPr>
          <p:cNvPr id="19" name="Row text"/>
          <p:cNvSpPr txBox="1"/>
          <p:nvPr/>
        </p:nvSpPr>
        <p:spPr>
          <a:xfrm>
            <a:off x="1325880" y="5276088"/>
            <a:ext cx="10317175" cy="841248"/>
          </a:xfrm>
          <a:prstGeom prst="rect">
            <a:avLst/>
          </a:prstGeom>
          <a:noFill/>
          <a:ln/>
        </p:spPr>
        <p:txBody>
          <a:bodyPr wrap="square" lIns="0" tIns="0" rIns="0" bIns="0" rtlCol="0" anchor="ctr"/>
          <a:lstStyle/>
          <a:p>
            <a:pPr indent="0" marL="0">
              <a:buNone/>
            </a:pPr>
            <a:r>
              <a:rPr lang="en-US" sz="1500" dirty="0">
                <a:solidFill>
                  <a:schemeClr val="tx1"/>
                </a:solidFill>
              </a:rPr>
              <a:t>With exponential discounting re-planning confirms the best plan; present bias and windows without terminal values reverse it (Theorem 5.3); and when the forecast fails, a rule keeps commitments that a schedule breaks.</a:t>
            </a:r>
            <a:endParaRPr lang="en-US" sz="15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THIS WEEK'S LABORATORY</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Notebook and workbook reproduce the book</a:t>
            </a:r>
            <a:endParaRPr lang="en-US" sz="3200" dirty="0"/>
          </a:p>
        </p:txBody>
      </p:sp>
      <p:sp>
        <p:nvSpPr>
          <p:cNvPr id="5" name="Stat card"/>
          <p:cNvSpPr/>
          <p:nvPr/>
        </p:nvSpPr>
        <p:spPr>
          <a:xfrm>
            <a:off x="548640" y="1691640"/>
            <a:ext cx="2567864" cy="1691640"/>
          </a:xfrm>
          <a:prstGeom prst="roundRect">
            <a:avLst>
              <a:gd name="adj" fmla="val 4324"/>
            </a:avLst>
          </a:prstGeom>
          <a:solidFill>
            <a:schemeClr val="tx1"/>
          </a:solidFill>
          <a:ln w="9525">
            <a:solidFill>
              <a:srgbClr val="0F1E3D"/>
            </a:solidFill>
            <a:prstDash val="solid"/>
          </a:ln>
        </p:spPr>
      </p:sp>
      <p:sp>
        <p:nvSpPr>
          <p:cNvPr id="6" name="Stat value"/>
          <p:cNvSpPr txBox="1"/>
          <p:nvPr/>
        </p:nvSpPr>
        <p:spPr>
          <a:xfrm>
            <a:off x="685800" y="1801368"/>
            <a:ext cx="2293544"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36</a:t>
            </a:r>
            <a:endParaRPr lang="en-US" sz="4400" dirty="0"/>
          </a:p>
        </p:txBody>
      </p:sp>
      <p:sp>
        <p:nvSpPr>
          <p:cNvPr id="7" name="Stat label"/>
          <p:cNvSpPr txBox="1"/>
          <p:nvPr/>
        </p:nvSpPr>
        <p:spPr>
          <a:xfrm>
            <a:off x="685800" y="2697480"/>
            <a:ext cx="2293544" cy="612648"/>
          </a:xfrm>
          <a:prstGeom prst="rect">
            <a:avLst/>
          </a:prstGeom>
          <a:noFill/>
          <a:ln/>
        </p:spPr>
        <p:txBody>
          <a:bodyPr wrap="square" lIns="0" tIns="0" rIns="0" bIns="0" rtlCol="0" anchor="t"/>
          <a:lstStyle/>
          <a:p>
            <a:pPr algn="ctr" indent="0" marL="0">
              <a:buNone/>
            </a:pPr>
            <a:r>
              <a:rPr lang="en-US" sz="1400" dirty="0">
                <a:solidFill>
                  <a:schemeClr val="bg2"/>
                </a:solidFill>
              </a:rPr>
              <a:t>notebook checkpoints, every one PASS</a:t>
            </a:r>
            <a:endParaRPr lang="en-US" sz="1400" dirty="0"/>
          </a:p>
        </p:txBody>
      </p:sp>
      <p:sp>
        <p:nvSpPr>
          <p:cNvPr id="8" name="Stat card"/>
          <p:cNvSpPr/>
          <p:nvPr/>
        </p:nvSpPr>
        <p:spPr>
          <a:xfrm>
            <a:off x="3390824" y="1691640"/>
            <a:ext cx="2567864" cy="1691640"/>
          </a:xfrm>
          <a:prstGeom prst="roundRect">
            <a:avLst>
              <a:gd name="adj" fmla="val 4324"/>
            </a:avLst>
          </a:prstGeom>
          <a:solidFill>
            <a:schemeClr val="bg2"/>
          </a:solidFill>
          <a:ln w="9525">
            <a:solidFill>
              <a:srgbClr val="C4CBD8"/>
            </a:solidFill>
            <a:prstDash val="solid"/>
          </a:ln>
        </p:spPr>
      </p:sp>
      <p:sp>
        <p:nvSpPr>
          <p:cNvPr id="9" name="Stat value"/>
          <p:cNvSpPr txBox="1"/>
          <p:nvPr/>
        </p:nvSpPr>
        <p:spPr>
          <a:xfrm>
            <a:off x="3527984" y="1801368"/>
            <a:ext cx="2293544"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46</a:t>
            </a:r>
            <a:endParaRPr lang="en-US" sz="4400" dirty="0"/>
          </a:p>
        </p:txBody>
      </p:sp>
      <p:sp>
        <p:nvSpPr>
          <p:cNvPr id="10" name="Stat label"/>
          <p:cNvSpPr txBox="1"/>
          <p:nvPr/>
        </p:nvSpPr>
        <p:spPr>
          <a:xfrm>
            <a:off x="3527984"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workbook checks against the engine, ALL PASS</a:t>
            </a:r>
            <a:endParaRPr lang="en-US" sz="1400" dirty="0"/>
          </a:p>
        </p:txBody>
      </p:sp>
      <p:sp>
        <p:nvSpPr>
          <p:cNvPr id="11" name="Stat card"/>
          <p:cNvSpPr/>
          <p:nvPr/>
        </p:nvSpPr>
        <p:spPr>
          <a:xfrm>
            <a:off x="6233008" y="1691640"/>
            <a:ext cx="2567864" cy="1691640"/>
          </a:xfrm>
          <a:prstGeom prst="roundRect">
            <a:avLst>
              <a:gd name="adj" fmla="val 4324"/>
            </a:avLst>
          </a:prstGeom>
          <a:solidFill>
            <a:schemeClr val="bg2"/>
          </a:solidFill>
          <a:ln w="9525">
            <a:solidFill>
              <a:srgbClr val="C4CBD8"/>
            </a:solidFill>
            <a:prstDash val="solid"/>
          </a:ln>
        </p:spPr>
      </p:sp>
      <p:sp>
        <p:nvSpPr>
          <p:cNvPr id="12" name="Stat value"/>
          <p:cNvSpPr txBox="1"/>
          <p:nvPr/>
        </p:nvSpPr>
        <p:spPr>
          <a:xfrm>
            <a:off x="6370168" y="1801368"/>
            <a:ext cx="2293544"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26205</a:t>
            </a:r>
            <a:endParaRPr lang="en-US" sz="4400" dirty="0"/>
          </a:p>
        </p:txBody>
      </p:sp>
      <p:sp>
        <p:nvSpPr>
          <p:cNvPr id="13" name="Stat label"/>
          <p:cNvSpPr txBox="1"/>
          <p:nvPr/>
        </p:nvSpPr>
        <p:spPr>
          <a:xfrm>
            <a:off x="6370168"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the lab's seed</a:t>
            </a:r>
            <a:endParaRPr lang="en-US" sz="1400" dirty="0"/>
          </a:p>
        </p:txBody>
      </p:sp>
      <p:sp>
        <p:nvSpPr>
          <p:cNvPr id="14" name="Stat card"/>
          <p:cNvSpPr/>
          <p:nvPr/>
        </p:nvSpPr>
        <p:spPr>
          <a:xfrm>
            <a:off x="9075191" y="1691640"/>
            <a:ext cx="2567864" cy="1691640"/>
          </a:xfrm>
          <a:prstGeom prst="roundRect">
            <a:avLst>
              <a:gd name="adj" fmla="val 4324"/>
            </a:avLst>
          </a:prstGeom>
          <a:solidFill>
            <a:schemeClr val="bg2"/>
          </a:solidFill>
          <a:ln w="9525">
            <a:solidFill>
              <a:srgbClr val="C4CBD8"/>
            </a:solidFill>
            <a:prstDash val="solid"/>
          </a:ln>
        </p:spPr>
      </p:sp>
      <p:sp>
        <p:nvSpPr>
          <p:cNvPr id="15" name="Stat value"/>
          <p:cNvSpPr txBox="1"/>
          <p:nvPr/>
        </p:nvSpPr>
        <p:spPr>
          <a:xfrm>
            <a:off x="9212351" y="1801368"/>
            <a:ext cx="2293544" cy="914400"/>
          </a:xfrm>
          <a:prstGeom prst="rect">
            <a:avLst/>
          </a:prstGeom>
          <a:noFill/>
          <a:ln/>
        </p:spPr>
        <p:txBody>
          <a:bodyPr wrap="square" lIns="0" tIns="0" rIns="0" bIns="0" rtlCol="0" anchor="ctr"/>
          <a:lstStyle/>
          <a:p>
            <a:pPr algn="ctr" indent="0" marL="0">
              <a:buNone/>
            </a:pPr>
            <a:r>
              <a:rPr lang="en-US" sz="2200" b="1" dirty="0">
                <a:solidFill>
                  <a:schemeClr val="tx1"/>
                </a:solidFill>
                <a:latin typeface="Cambria" pitchFamily="34" charset="0"/>
                <a:ea typeface="Cambria" pitchFamily="34" charset="-122"/>
                <a:cs typeface="Cambria" pitchFamily="34" charset="-120"/>
              </a:rPr>
              <a:t>AXIOM-05, AXIOM-04</a:t>
            </a:r>
            <a:endParaRPr lang="en-US" sz="2200" dirty="0"/>
          </a:p>
        </p:txBody>
      </p:sp>
      <p:sp>
        <p:nvSpPr>
          <p:cNvPr id="16" name="Stat label"/>
          <p:cNvSpPr txBox="1"/>
          <p:nvPr/>
        </p:nvSpPr>
        <p:spPr>
          <a:xfrm>
            <a:off x="9212351"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AXIOM Lab 2.5</a:t>
            </a:r>
            <a:endParaRPr lang="en-US" sz="1400" dirty="0"/>
          </a:p>
        </p:txBody>
      </p:sp>
      <p:sp>
        <p:nvSpPr>
          <p:cNvPr id="17" name="Bullets"/>
          <p:cNvSpPr txBox="1"/>
          <p:nvPr/>
        </p:nvSpPr>
        <p:spPr>
          <a:xfrm>
            <a:off x="548640" y="3703320"/>
            <a:ext cx="11094415" cy="246888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tx1"/>
                </a:solidFill>
              </a:rPr>
              <a:t>Notebook</a:t>
            </a:r>
            <a:r>
              <a:rPr lang="en-US" sz="1700" dirty="0">
                <a:solidFill>
                  <a:schemeClr val="tx1"/>
                </a:solidFill>
              </a:rPr>
              <a:t> DCT_V2_Ch05_Lab.ipynb: Worked Example 5.1 and the lab's five steps in six panels, ready for Colab</a:t>
            </a:r>
            <a:endParaRPr lang="en-US" sz="1700" dirty="0"/>
          </a:p>
          <a:p>
            <a:pPr marL="228600" indent="-228600">
              <a:spcAft>
                <a:spcPts val="800"/>
              </a:spcAft>
              <a:buSzPct val="100000"/>
              <a:buChar char="•"/>
            </a:pPr>
            <a:r>
              <a:rPr lang="en-US" sz="1700" b="1" dirty="0">
                <a:solidFill>
                  <a:schemeClr val="tx1"/>
                </a:solidFill>
              </a:rPr>
              <a:t>Workbook</a:t>
            </a:r>
            <a:r>
              <a:rPr lang="en-US" sz="1700" dirty="0">
                <a:solidFill>
                  <a:schemeClr val="tx1"/>
                </a:solidFill>
              </a:rPr>
              <a:t> DCT_V2_Ch05_Lab.xlsx: all 64 schedules with their war chests, the prices, horizons and rates, re-planning and the shortfall, in formulas</a:t>
            </a:r>
            <a:endParaRPr lang="en-US" sz="1700" dirty="0"/>
          </a:p>
          <a:p>
            <a:pPr marL="228600" indent="-228600">
              <a:spcAft>
                <a:spcPts val="800"/>
              </a:spcAft>
              <a:buSzPct val="100000"/>
              <a:buChar char="•"/>
            </a:pPr>
            <a:r>
              <a:rPr lang="en-US" sz="1700" dirty="0">
                <a:solidFill>
                  <a:schemeClr val="tx1"/>
                </a:solidFill>
              </a:rPr>
              <a:t>Every number on these slides is the book's, and both companions check it</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NEXT · CHAPTER 6</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Chapter 6 lets the reviews come continuously</a:t>
            </a:r>
            <a:endParaRPr lang="en-US" sz="3200" dirty="0"/>
          </a:p>
        </p:txBody>
      </p:sp>
      <p:pic>
        <p:nvPicPr>
          <p:cNvPr id="5" name="Equation" descr="Equation: H \;=\; \ell(x,u,t) \;+\; \lambda^{\top} f(x,u,t), \qquad u^{*}(t) \in \arg\max_{u \in U} H">    </p:cNvPr>
          <p:cNvPicPr>
            <a:picLocks noChangeAspect="1"/>
          </p:cNvPicPr>
          <p:nvPr/>
        </p:nvPicPr>
        <p:blipFill>
          <a:blip r:embed="rId1"/>
          <a:stretch>
            <a:fillRect/>
          </a:stretch>
        </p:blipFill>
        <p:spPr>
          <a:xfrm>
            <a:off x="1629056" y="1691640"/>
            <a:ext cx="8933584" cy="868680"/>
          </a:xfrm>
          <a:prstGeom prst="rect">
            <a:avLst/>
          </a:prstGeom>
        </p:spPr>
      </p:pic>
      <p:sp>
        <p:nvSpPr>
          <p:cNvPr id="6" name="Bullets"/>
          <p:cNvSpPr txBox="1"/>
          <p:nvPr/>
        </p:nvSpPr>
        <p:spPr>
          <a:xfrm>
            <a:off x="548640" y="2880360"/>
            <a:ext cx="11094415" cy="3291840"/>
          </a:xfrm>
          <a:prstGeom prst="rect">
            <a:avLst/>
          </a:prstGeom>
          <a:noFill/>
          <a:ln/>
        </p:spPr>
        <p:txBody>
          <a:bodyPr wrap="square" lIns="635" tIns="635" rIns="635" bIns="635" rtlCol="0" anchor="t"/>
          <a:lstStyle/>
          <a:p>
            <a:pPr marL="228600" indent="-228600">
              <a:spcAft>
                <a:spcPts val="800"/>
              </a:spcAft>
              <a:buSzPct val="100000"/>
              <a:buChar char="•"/>
            </a:pPr>
            <a:r>
              <a:rPr lang="en-US" sz="1800" dirty="0">
                <a:solidFill>
                  <a:schemeClr val="bg1"/>
                </a:solidFill>
              </a:rPr>
              <a:t>Let the review dates come together and this chapter's prices become the costates of optimal control</a:t>
            </a:r>
            <a:endParaRPr lang="en-US" sz="1800" dirty="0"/>
          </a:p>
          <a:p>
            <a:pPr marL="228600" indent="-228600">
              <a:spcAft>
                <a:spcPts val="800"/>
              </a:spcAft>
              <a:buSzPct val="100000"/>
              <a:buChar char="•"/>
            </a:pPr>
            <a:r>
              <a:rPr lang="en-US" sz="1800" dirty="0">
                <a:solidFill>
                  <a:schemeClr val="bg1"/>
                </a:solidFill>
              </a:rPr>
              <a:t>One rule replaces the whole program: at every moment, maximize the Hamiltonian, the value earned now plus the value banked in the stocks at their prices</a:t>
            </a:r>
            <a:endParaRPr lang="en-US" sz="1800" dirty="0"/>
          </a:p>
          <a:p>
            <a:pPr marL="228600" indent="-228600">
              <a:spcAft>
                <a:spcPts val="800"/>
              </a:spcAft>
              <a:buSzPct val="100000"/>
              <a:buChar char="•"/>
            </a:pPr>
            <a:r>
              <a:rPr lang="en-US" sz="1800" dirty="0">
                <a:solidFill>
                  <a:schemeClr val="bg1"/>
                </a:solidFill>
              </a:rPr>
              <a:t>Chapter 6 proves Pontryagin's maximum principle and asks what Meridian's engineering team is worth</a:t>
            </a:r>
            <a:endParaRPr lang="en-US" sz="18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25</a:t>
            </a:fld>
            <a:endParaRPr lang="en-US"/>
          </a:p>
        </p:txBody>
      </p:sp>
    </p:spTree>
  </p:cSld>
  <p:clrMapOvr>
    <a:masterClrMapping/>
  </p:clrMapOvr>
</p:sld>
</file>

<file path=ppt/theme/theme1.xml><?xml version="1.0" encoding="utf-8"?>
<a:theme xmlns:a="http://schemas.openxmlformats.org/drawingml/2006/main" name="Dynamic Corporate Transformation">
  <a:themeElements>
    <a:clrScheme name="Dynamic Corporate Transformation">
      <a:dk1>
        <a:srgbClr val="0F1E3D"/>
      </a:dk1>
      <a:lt1>
        <a:srgbClr val="FFFFFF"/>
      </a:lt1>
      <a:dk2>
        <a:srgbClr val="5A6B82"/>
      </a:dk2>
      <a:lt2>
        <a:srgbClr val="F7F4ED"/>
      </a:lt2>
      <a:accent1>
        <a:srgbClr val="B4884A"/>
      </a:accent1>
      <a:accent2>
        <a:srgbClr val="2F6F6B"/>
      </a:accent2>
      <a:accent3>
        <a:srgbClr val="8A6A33"/>
      </a:accent3>
      <a:accent4>
        <a:srgbClr val="C4CBD8"/>
      </a:accent4>
      <a:accent5>
        <a:srgbClr val="1F4FD8"/>
      </a:accent5>
      <a:accent6>
        <a:srgbClr val="16263F"/>
      </a:accent6>
      <a:hlink>
        <a:srgbClr val="1F4FD8"/>
      </a:hlink>
      <a:folHlink>
        <a:srgbClr val="5A6B82"/>
      </a:folHlink>
    </a:clrScheme>
    <a:fontScheme name="Dynamic Corporate Transformation">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Dynamic Corporate Transformation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Dynamic Corporate Transformation, Volume II, Chapter 5: Dynamic Enterprise Optimization</dc:title>
  <dc:subject>Slides for Volume II, Chapter 5 (V56)</dc:subject>
  <dc:creator>Samir Asaf</dc:creator>
  <cp:lastModifiedBy>Samir Asaf</cp:lastModifiedBy>
  <cp:revision>1</cp:revision>
  <dcterms:created xsi:type="dcterms:W3CDTF">2026-10-06T07:09:08Z</dcterms:created>
  <dcterms:modified xsi:type="dcterms:W3CDTF">2026-10-06T07:09:08Z</dcterms:modified>
</cp:coreProperties>
</file>