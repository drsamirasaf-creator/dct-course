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b8d5d51-c909-f2a4-a2ec-aedcb52ba9c8}">
          <p14:sldIdLst>
            <p14:sldId id="256"/>
            <p14:sldId id="257"/>
            <p14:sldId id="258"/>
            <p14:sldId id="259"/>
          </p14:sldIdLst>
        </p14:section>
        <p14:section name="6.1 From Prices to Optimal Control" id="{a0c36765-d890-ea4f-454b-b59825d6b13b}">
          <p14:sldIdLst>
            <p14:sldId id="260"/>
            <p14:sldId id="261"/>
          </p14:sldIdLst>
        </p14:section>
        <p14:section name="6.2 The Hamiltonian and Prices of Stocks" id="{7acd21ca-906d-a1fb-9c03-cad383837dab}">
          <p14:sldIdLst>
            <p14:sldId id="262"/>
            <p14:sldId id="263"/>
          </p14:sldIdLst>
        </p14:section>
        <p14:section name="6.3 The Maximum Principle" id="{80ef0e39-7837-833b-5c0c-5f81b24927c3}">
          <p14:sldIdLst>
            <p14:sldId id="264"/>
            <p14:sldId id="265"/>
          </p14:sldIdLst>
        </p14:section>
        <p14:section name="6.4 Shapes of Optimal Plans" id="{bd07e6da-ea95-3a97-a22b-b15fa100dc93}">
          <p14:sldIdLst>
            <p14:sldId id="266"/>
          </p14:sldIdLst>
        </p14:section>
        <p14:section name="6.5 Ends, Floors, and Certificates" id="{88dae7ee-8183-b21a-c5fb-51f958ac2ab1}">
          <p14:sldIdLst>
            <p14:sldId id="267"/>
            <p14:sldId id="268"/>
          </p14:sldIdLst>
        </p14:section>
        <p14:section name="6.6 Computing Optimal Plans" id="{fb130562-f47c-8f6f-1c7d-24882aee348c}">
          <p14:sldIdLst>
            <p14:sldId id="269"/>
          </p14:sldIdLst>
        </p14:section>
        <p14:section name="Worked Example 6.1" id="{88ac68c0-cb55-66a1-826e-b88e83590111}">
          <p14:sldIdLst>
            <p14:sldId id="270"/>
            <p14:sldId id="271"/>
            <p14:sldId id="272"/>
            <p14:sldId id="273"/>
            <p14:sldId id="274"/>
          </p14:sldIdLst>
        </p14:section>
        <p14:section name="AXIOM Lab 2.6" id="{fa63761b-ff26-6029-fb83-fd24afcb8c7b}">
          <p14:sldIdLst>
            <p14:sldId id="275"/>
          </p14:sldIdLst>
        </p14:section>
        <p14:section name="Close" id="{96dd8d2b-4607-8373-70c2-ad71d273ca9e}">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6. Chapter 5 priced every stock at every review date; this chapter lets the reviews come continuously, so the prices become costates and one condition, the maximum principle, replaces a whole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Shaw's maxim returns in Section 6.4: the level at which a maintained stock is held, the modified golden rule, is no fixed number; it moves whenever the hurdle rate, the decay, or the price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6.1-6.3 are in Appendix 6.A; Propositions 6.1-6.3 in Online Appendix 6.B, with the numbers behind Worked Example 6.1 (Example 6.B.3).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6.1 and Section 6.1. An optimal control problem is Chapter 5's dynamic instance in continuous time with its discounting explicit. The prices become paths, the period-by-period judgment one condition at every moment, and the answers take shapes a coarse calendar can blur.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6.1. Read it row by row: the price of a stock, how prices move, how a decision is judged, the end of the horizon, floors on the path, and what can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6.2, Equations 6.2 and 6.3. The current-value Hamiltonian; the costate equation runs backward from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6.1; formal statement and proof in Appendix 6.A. The theorem gives a price to every stock that never reaches the balance sheet; Meridian's workforce capability is the case in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6.2; formal statement and proof (a needle variation) in Appendix 6.A. Part (ii) needs data that do not change with time: the plan ends when the maximized Hamiltonian, the value rate of continuing, falls to the hurdle return on the terminal value. Maximizing the running value moment by moment fails because it ignores the stocks (Proposition 5.1); maximizing the Hamiltonian adds their change at their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6.1 (Hamiltonian Accounting) and the computational box of Section 6.3: (i) the value equals the discounted terminal value plus the discounted Hamiltonian less the priced change in the stocks; (ii) maximizing the Hamiltonian is Chapter 5's period-by-period rule with the running value replaced by the value earned now plus the value banked; (iii) the drift of the maximized Hamiltonian. The gradient of the value with respect to every decision costs one forward and one backward pass: the adjoint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6.2; formal statement and proof in Online Appendix 6.B. Each shape is a declaration, not an accident: hiring at a known cost per point and automation at $120 million a round give linear Hamiltonians; overtime, agency fees and the capacity to onboard give rising costs. The race is Volume I's time to build read as an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6.3; formal statement and proof in Online Appendix 6.B. Worked Example 6.1, Step 3: holding capability exactly at 55 costs the rent, and the floor's price is the user cost of 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6.3; formal statement and proof in Appendix 6.A. Concavity is the certificate Chapter 3 promised, now on paths. Part (ii) is Arrow's refinement of Mangasarian's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6.2 and Section 6.6. In enterprise practice the direct method finds the plan and the indirect conditions audit it. Solved as a linear program with HiGHS, the transcription's floor multipliers reproduce the floor's price to four decimals.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6.1, the situation. The transformation office values a quarter of delay at $8 million (Volume I, Chapter 15) and the board discounts at 10 percent a year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6.1, Steps 1-3. The automation program needs 55 only at its annual round decisions, and the race restores 55 within half a year, so the value found is, if anything,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6.1, Step 4. The moment the build starts, the price falls to the cost of 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6.3 and Step 5. The team-kept plan is certified by Theorem 6.3; the race by its closed form, which satisfies the dynamic-programming condition at every level above 43.4. A transcription solved as a linear program starts the build in week 23 and costs $0.38 million more, the price of deciding by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6.1, Step 6 and what the board should take away. For discussion: if the digital build could run at a reduced pace below 55, how would the shape of the rebuild change? Who should own the margin over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2.6. What to look for: prices that grow at the hurdle rate plus the attrition rate off the floor and sit at the cost of a point on it (Theorem 6.1); decisions at the cap or at zero according to the sign of the switching function (Theorem 6.2, Proposition 6.2); a floor priced at the user cost (Proposition 6.3); and a certificate that holds where the problem is concave and must be argued directly where it is not (Theorem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6.6's bridge to Chapters 7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6</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6</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6 · WEEK 10</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Optimal Control of Enterprise Systems</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Price every stock, and at every moment choose the decision that maximizes the value earned now plus the value banked in the stocks</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26206 · AXIOM Lab 2.6 (AXIOM-06, AXIOM-04)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“The golden rule is that there are no golden rules.”</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George Bernard Shaw</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1925; Man and Superman, “Maxims for Revolutionists” (1903)</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how the maximum principle extends Chapter 5's prices to continuous time, and read the Hamiltonian as the value earned now plus the value banked in the stocks.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Formulate an optimal control problem—state, decisions, dynamics, discounting, running and terminal value, end and path conditions—and write its Hamiltonian and costate equation.</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Read costates as prices of stocks: the marginal value of a unit, the present value of what it earns net of decay, its user cost, and the ratio of its price to its replacement cost.</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Apply the maximum principle to derive candidate plans, recognize their shapes—smooth, bang-bang, singular, the race to a level—and close them with end conditions and floors.</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Certify a candidate by concavity, recognize when the necessary conditions are not enough, and choose and audit an indirect or a direct method of computation.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sections, a worked example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§6.1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From Prices at Review Dates to Optimal Control</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6.1 · Table 6.1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§6.2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The Hamiltonian and the Prices of Stocks</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6.2 · Theorem 6.1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§6.3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The Maximum Principle</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6.2 · Proposition 6.1</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§6.4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Shapes of Optimal Plans</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6.2 · Figure 6.2</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§6.5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Ends, Floors, and Certificates</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6.3 · Theorem 6.3</a:t>
            </a:r>
            <a:endParaRPr lang="en-US" sz="1300" dirty="0"/>
          </a:p>
        </p:txBody>
      </p:sp>
      <p:sp>
        <p:nvSpPr>
          <p:cNvPr id="25" name="Card"/>
          <p:cNvSpPr/>
          <p:nvPr/>
        </p:nvSpPr>
        <p:spPr>
          <a:xfrm>
            <a:off x="3390824" y="4069080"/>
            <a:ext cx="2567864"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§6.6</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Computing Optimal Plans</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Table 6.2</a:t>
            </a:r>
            <a:endParaRPr lang="en-US" sz="1300" dirty="0"/>
          </a:p>
        </p:txBody>
      </p:sp>
      <p:sp>
        <p:nvSpPr>
          <p:cNvPr id="29" name="Card"/>
          <p:cNvSpPr/>
          <p:nvPr/>
        </p:nvSpPr>
        <p:spPr>
          <a:xfrm>
            <a:off x="6233008" y="4069080"/>
            <a:ext cx="2567864" cy="2103120"/>
          </a:xfrm>
          <a:prstGeom prst="roundRect">
            <a:avLst>
              <a:gd name="adj" fmla="val 3478"/>
            </a:avLst>
          </a:prstGeom>
          <a:solidFill>
            <a:schemeClr val="tx1"/>
          </a:solidFill>
          <a:ln w="9525">
            <a:solidFill>
              <a:srgbClr val="0F1E3D"/>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6.1</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What Is Meridian's Engineering Team Worth?</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6.3 · Figure 6.3</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2.6</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Steering a Stock: Prices, Switches, and Floors</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AXIOM-06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§6.1 · DEFINITION 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Prices at review dates become paths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DEFINITION 6.1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Optimal Control Problem</a:t>
            </a:r>
            <a:endParaRPr lang="en-US" sz="2100" dirty="0"/>
          </a:p>
        </p:txBody>
      </p:sp>
      <p:pic>
        <p:nvPicPr>
          <p:cNvPr id="8" name="Equation" descr="Equation: \max_{u}\; J(u) = \int_0^T e^{-\rho t}\,\ell(x,u,t)\,dt + e^{-\rho T}\,\Phi\bigl(x(T)\bigr)">    </p:cNvPr>
          <p:cNvPicPr>
            <a:picLocks noChangeAspect="1"/>
          </p:cNvPicPr>
          <p:nvPr/>
        </p:nvPicPr>
        <p:blipFill>
          <a:blip r:embed="rId1"/>
          <a:stretch>
            <a:fillRect/>
          </a:stretch>
        </p:blipFill>
        <p:spPr>
          <a:xfrm>
            <a:off x="822960" y="2749949"/>
            <a:ext cx="5394960" cy="718023"/>
          </a:xfrm>
          <a:prstGeom prst="rect">
            <a:avLst/>
          </a:prstGeom>
        </p:spPr>
      </p:pic>
      <p:sp>
        <p:nvSpPr>
          <p:cNvPr id="9" name="Bullets"/>
          <p:cNvSpPr txBox="1"/>
          <p:nvPr/>
        </p:nvSpPr>
        <p:spPr>
          <a:xfrm>
            <a:off x="822960" y="3632563"/>
            <a:ext cx="5394960" cy="2402477"/>
          </a:xfrm>
          <a:prstGeom prst="rect">
            <a:avLst/>
          </a:prstGeom>
          <a:noFill/>
          <a:ln/>
        </p:spPr>
        <p:txBody>
          <a:bodyPr wrap="square" lIns="635" tIns="635" rIns="635" bIns="635" rtlCol="0" anchor="t"/>
          <a:lstStyle/>
          <a:p>
            <a:pPr marL="228600" indent="-228600">
              <a:spcAft>
                <a:spcPts val="600"/>
              </a:spcAft>
              <a:buSzPct val="100000"/>
              <a:buChar char="•"/>
            </a:pPr>
            <a:r>
              <a:rPr lang="en-US" sz="1500" dirty="0">
                <a:solidFill>
                  <a:schemeClr val="tx1"/>
                </a:solidFill>
              </a:rPr>
              <a:t>A </a:t>
            </a:r>
            <a:r>
              <a:rPr lang="en-US" sz="1500" b="1" dirty="0">
                <a:solidFill>
                  <a:schemeClr val="tx1"/>
                </a:solidFill>
              </a:rPr>
              <a:t>state</a:t>
            </a:r>
            <a:r>
              <a:rPr lang="en-US" sz="1500" dirty="0">
                <a:solidFill>
                  <a:schemeClr val="tx1"/>
                </a:solidFill>
              </a:rPr>
              <a:t> x that collects the stocks, and </a:t>
            </a:r>
            <a:r>
              <a:rPr lang="en-US" sz="1500" b="1" dirty="0">
                <a:solidFill>
                  <a:schemeClr val="tx1"/>
                </a:solidFill>
              </a:rPr>
              <a:t>decisions</a:t>
            </a:r>
            <a:r>
              <a:rPr lang="en-US" sz="1500" dirty="0">
                <a:solidFill>
                  <a:schemeClr val="tx1"/>
                </a:solidFill>
              </a:rPr>
              <a:t> u(t), rates in a set U that carries the limits of authority</a:t>
            </a:r>
            <a:endParaRPr lang="en-US" sz="1500" dirty="0"/>
          </a:p>
          <a:p>
            <a:pPr marL="228600" indent="-228600">
              <a:spcAft>
                <a:spcPts val="600"/>
              </a:spcAft>
              <a:buSzPct val="100000"/>
              <a:buChar char="•"/>
            </a:pPr>
            <a:r>
              <a:rPr lang="en-US" sz="1500" b="1" dirty="0">
                <a:solidFill>
                  <a:schemeClr val="tx1"/>
                </a:solidFill>
              </a:rPr>
              <a:t>Dynamics</a:t>
            </a:r>
            <a:r>
              <a:rPr lang="en-US" sz="1500" dirty="0">
                <a:solidFill>
                  <a:schemeClr val="tx1"/>
                </a:solidFill>
              </a:rPr>
              <a:t> ẋ = f(x, u, t) from a declared start, with the end and path commitments of Definition 5.1</a:t>
            </a:r>
            <a:endParaRPr lang="en-US" sz="1500" dirty="0"/>
          </a:p>
          <a:p>
            <a:pPr marL="228600" indent="-228600">
              <a:spcAft>
                <a:spcPts val="600"/>
              </a:spcAft>
              <a:buSzPct val="100000"/>
              <a:buChar char="•"/>
            </a:pPr>
            <a:r>
              <a:rPr lang="en-US" sz="1500" dirty="0">
                <a:solidFill>
                  <a:schemeClr val="tx1"/>
                </a:solidFill>
              </a:rPr>
              <a:t>Discounting at </a:t>
            </a:r>
            <a:r>
              <a:rPr lang="en-US" sz="1500" b="1" dirty="0">
                <a:solidFill>
                  <a:schemeClr val="tx1"/>
                </a:solidFill>
              </a:rPr>
              <a:t>ρ = ln(1 + r)</a:t>
            </a:r>
            <a:r>
              <a:rPr lang="en-US" sz="1500" dirty="0">
                <a:solidFill>
                  <a:schemeClr val="tx1"/>
                </a:solidFill>
              </a:rPr>
              <a:t>: 9.5 percent for a hurdle rate of 10 percent a year</a:t>
            </a:r>
            <a:endParaRPr lang="en-US" sz="1500" dirty="0"/>
          </a:p>
          <a:p>
            <a:pPr marL="228600" indent="-228600">
              <a:spcAft>
                <a:spcPts val="600"/>
              </a:spcAft>
              <a:buSzPct val="100000"/>
              <a:buChar char="•"/>
            </a:pPr>
            <a:r>
              <a:rPr lang="en-US" sz="1500" dirty="0">
                <a:solidFill>
                  <a:schemeClr val="tx1"/>
                </a:solidFill>
              </a:rPr>
              <a:t>With T = ∞ there is no terminal value and ρ &gt; 0; a plan is </a:t>
            </a:r>
            <a:r>
              <a:rPr lang="en-US" sz="1500" b="1" dirty="0">
                <a:solidFill>
                  <a:schemeClr val="tx1"/>
                </a:solidFill>
              </a:rPr>
              <a:t>feasible</a:t>
            </a:r>
            <a:r>
              <a:rPr lang="en-US" sz="1500" dirty="0">
                <a:solidFill>
                  <a:schemeClr val="tx1"/>
                </a:solidFill>
              </a:rPr>
              <a:t> if its path keeps every commitment</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continuous time changes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Let Chapter 5's review dates come continuously, and its prices become paths: the </a:t>
            </a:r>
            <a:r>
              <a:rPr lang="en-US" sz="1600" b="1" dirty="0">
                <a:solidFill>
                  <a:schemeClr val="tx1"/>
                </a:solidFill>
              </a:rPr>
              <a:t>costates</a:t>
            </a:r>
            <a:endParaRPr lang="en-US" sz="1600" dirty="0"/>
          </a:p>
          <a:p>
            <a:pPr marL="228600" indent="-228600">
              <a:spcAft>
                <a:spcPts val="800"/>
              </a:spcAft>
              <a:buSzPct val="100000"/>
              <a:buChar char="•"/>
            </a:pPr>
            <a:r>
              <a:rPr lang="en-US" sz="1600" dirty="0">
                <a:solidFill>
                  <a:schemeClr val="tx1"/>
                </a:solidFill>
              </a:rPr>
              <a:t>Stocks move only through rates: capability cannot be set, only built or lost</a:t>
            </a:r>
            <a:endParaRPr lang="en-US" sz="1600" dirty="0"/>
          </a:p>
          <a:p>
            <a:pPr marL="228600" indent="-228600">
              <a:spcAft>
                <a:spcPts val="800"/>
              </a:spcAft>
              <a:buSzPct val="100000"/>
              <a:buChar char="•"/>
            </a:pPr>
            <a:r>
              <a:rPr lang="en-US" sz="1600" dirty="0">
                <a:solidFill>
                  <a:schemeClr val="tx1"/>
                </a:solidFill>
              </a:rPr>
              <a:t>Volume I's cap of 2.5 capability points a quarter is a bound on a rate, not on a level</a:t>
            </a:r>
            <a:endParaRPr lang="en-US" sz="1600" dirty="0"/>
          </a:p>
          <a:p>
            <a:pPr marL="228600" indent="-228600">
              <a:spcAft>
                <a:spcPts val="800"/>
              </a:spcAft>
              <a:buSzPct val="100000"/>
              <a:buChar char="•"/>
            </a:pPr>
            <a:r>
              <a:rPr lang="en-US" sz="1600" dirty="0">
                <a:solidFill>
                  <a:schemeClr val="tx1"/>
                </a:solidFill>
              </a:rPr>
              <a:t>Each plan produces one path, and a rule the same path as its plan: conditions on paths bind both</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§6.1 · TABLE 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Chapter 5's prices, in continuous time</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108856"/>
                <a:gridCol w="4217712"/>
                <a:gridCol w="4767848"/>
              </a:tblGrid>
              <a:tr h="566928">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On a calendar (Chapter 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In continuous time (this chapter)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Price of a stock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multiplier of the dynamics at each date, in today's dollars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costate m(t), in dollars of date t (Theorem 6.1)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How prices move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backward recursion (Theorem 5.1(iii))</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costate equation, backward from the end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Judging a decision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period's value plus the priced change in the stocks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Hamiltonian, maximized at every moment (Theorem 6.2)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End of the horizon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discounted gradient of the terminal value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m(T) = ∇Φ, plus the price of any end condition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Floors on the path</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multiplier for each period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price per unit of time on the arcs where the floor binds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What can go wrong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lumpy or local answer reported as best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candidate that meets every condition and is not best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§6.2 · DEFINITION 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The Hamiltonian: value earned plus value banked</a:t>
            </a:r>
            <a:endParaRPr lang="en-US" sz="3200" dirty="0"/>
          </a:p>
        </p:txBody>
      </p:sp>
      <p:pic>
        <p:nvPicPr>
          <p:cNvPr id="5" name="Equation" descr="Equation: H(x,u,m,t) = \ell(x,u,t) + m^{\top} f(x,u,t), \qquad \dot m = \rho\, m - \nabla_{x} H, \quad m(T) = \nabla\Phi\bigl(x(T)\bigr)">    </p:cNvPr>
          <p:cNvPicPr>
            <a:picLocks noChangeAspect="1"/>
          </p:cNvPicPr>
          <p:nvPr/>
        </p:nvPicPr>
        <p:blipFill>
          <a:blip r:embed="rId1"/>
          <a:stretch>
            <a:fillRect/>
          </a:stretch>
        </p:blipFill>
        <p:spPr>
          <a:xfrm>
            <a:off x="914400" y="2000027"/>
            <a:ext cx="10362895" cy="526226"/>
          </a:xfrm>
          <a:prstGeom prst="rect">
            <a:avLst/>
          </a:prstGeom>
        </p:spPr>
      </p:pic>
      <p:sp>
        <p:nvSpPr>
          <p:cNvPr id="6" name="Text 2"/>
          <p:cNvSpPr txBox="1"/>
          <p:nvPr/>
        </p:nvSpPr>
        <p:spPr>
          <a:xfrm>
            <a:off x="914400" y="2663413"/>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value a decision earns now plus the value it banks in the stocks, each unit of change priced at m</a:t>
            </a:r>
            <a:endParaRPr lang="en-US" sz="1600" dirty="0"/>
          </a:p>
        </p:txBody>
      </p:sp>
      <p:sp>
        <p:nvSpPr>
          <p:cNvPr id="7" name="Bullets"/>
          <p:cNvSpPr txBox="1"/>
          <p:nvPr/>
        </p:nvSpPr>
        <p:spPr>
          <a:xfrm>
            <a:off x="914400" y="3257773"/>
            <a:ext cx="10362895" cy="2914427"/>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bg1"/>
                </a:solidFill>
              </a:rPr>
              <a:t>The </a:t>
            </a:r>
            <a:r>
              <a:rPr lang="en-US" sz="1700" b="1" dirty="0">
                <a:solidFill>
                  <a:schemeClr val="bg1"/>
                </a:solidFill>
              </a:rPr>
              <a:t>costate</a:t>
            </a:r>
            <a:r>
              <a:rPr lang="en-US" sz="1700" dirty="0">
                <a:solidFill>
                  <a:schemeClr val="bg1"/>
                </a:solidFill>
              </a:rPr>
              <a:t> m(t) prices one more unit of each stock at date t, in dollars of that date; in today's dollars, e</a:t>
            </a:r>
            <a:r>
              <a:rPr lang="en-US" sz="1700" baseline="30000" dirty="0">
                <a:solidFill>
                  <a:schemeClr val="bg1"/>
                </a:solidFill>
              </a:rPr>
              <a:t>−ρt</a:t>
            </a:r>
            <a:r>
              <a:rPr lang="en-US" sz="1700" dirty="0">
                <a:solidFill>
                  <a:schemeClr val="bg1"/>
                </a:solidFill>
              </a:rPr>
              <a:t>m(t), it is Chapter 5's multiplier</a:t>
            </a:r>
            <a:endParaRPr lang="en-US" sz="1700" dirty="0"/>
          </a:p>
          <a:p>
            <a:pPr marL="228600" indent="-228600">
              <a:spcAft>
                <a:spcPts val="800"/>
              </a:spcAft>
              <a:buSzPct val="100000"/>
              <a:buChar char="•"/>
            </a:pPr>
            <a:r>
              <a:rPr lang="en-US" sz="1700" dirty="0">
                <a:solidFill>
                  <a:schemeClr val="bg1"/>
                </a:solidFill>
              </a:rPr>
              <a:t>The costate equation is an asset-pricing condition: a stock's price earns the hurdle rate, through what a unit earns now, its effect on the stocks and the change in its price</a:t>
            </a:r>
            <a:endParaRPr lang="en-US" sz="1700" dirty="0"/>
          </a:p>
          <a:p>
            <a:pPr marL="228600" indent="-228600">
              <a:spcAft>
                <a:spcPts val="800"/>
              </a:spcAft>
              <a:buSzPct val="100000"/>
              <a:buChar char="•"/>
            </a:pPr>
            <a:r>
              <a:rPr lang="en-US" sz="1700" dirty="0">
                <a:solidFill>
                  <a:schemeClr val="bg1"/>
                </a:solidFill>
              </a:rPr>
              <a:t>For one stock that decays at δ, with decisions that add to it one for one: ṁ = (ρ + δ)m − ∂ℓ/∂x</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§6.2 · THEOREM 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stock's price: what one more unit will earn</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6.1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Prices of Stocks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a:t>
            </a:r>
            <a:r>
              <a:rPr lang="en-US" sz="1600" dirty="0">
                <a:solidFill>
                  <a:schemeClr val="tx1"/>
                </a:solidFill>
              </a:rPr>
              <a:t> Along any plan, the costate is the marginal value of the state, the plan's decisions held fixed</a:t>
            </a:r>
            <a:endParaRPr lang="en-US" sz="1600" dirty="0"/>
          </a:p>
          <a:p>
            <a:pPr marL="228600" indent="-228600">
              <a:spcAft>
                <a:spcPts val="600"/>
              </a:spcAft>
              <a:buSzPct val="100000"/>
              <a:buChar char="•"/>
            </a:pPr>
            <a:r>
              <a:rPr lang="en-US" sz="1600" b="1" dirty="0">
                <a:solidFill>
                  <a:schemeClr val="tx1"/>
                </a:solidFill>
              </a:rPr>
              <a:t>(ii)</a:t>
            </a:r>
            <a:r>
              <a:rPr lang="en-US" sz="1600" dirty="0">
                <a:solidFill>
                  <a:schemeClr val="tx1"/>
                </a:solidFill>
              </a:rPr>
              <a:t> It is the present value of what one more unit earns, net of decay: at ρ + δ, a binding floor's price included</a:t>
            </a:r>
            <a:endParaRPr lang="en-US" sz="1600" dirty="0"/>
          </a:p>
          <a:p>
            <a:pPr marL="228600" indent="-228600">
              <a:spcAft>
                <a:spcPts val="600"/>
              </a:spcAft>
              <a:buSzPct val="100000"/>
              <a:buChar char="•"/>
            </a:pPr>
            <a:r>
              <a:rPr lang="en-US" sz="1600" b="1" dirty="0">
                <a:solidFill>
                  <a:schemeClr val="tx1"/>
                </a:solidFill>
              </a:rPr>
              <a:t>(iii)</a:t>
            </a:r>
            <a:r>
              <a:rPr lang="en-US" sz="1600" dirty="0">
                <a:solidFill>
                  <a:schemeClr val="tx1"/>
                </a:solidFill>
              </a:rPr>
              <a:t> Along a best plan it is the slope of the best value: a unit priced to the best plan, not only the plan in hand</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point costs </a:t>
            </a:r>
            <a:r>
              <a:rPr lang="en-US" sz="1600" b="1" dirty="0">
                <a:solidFill>
                  <a:schemeClr val="tx1"/>
                </a:solidFill>
              </a:rPr>
              <a:t>$4m</a:t>
            </a:r>
            <a:r>
              <a:rPr lang="en-US" sz="1600" dirty="0">
                <a:solidFill>
                  <a:schemeClr val="tx1"/>
                </a:solidFill>
              </a:rPr>
              <a:t> and decays at 10.1 percent a year: a user cost of about </a:t>
            </a:r>
            <a:r>
              <a:rPr lang="en-US" sz="1600" b="1" dirty="0">
                <a:solidFill>
                  <a:schemeClr val="tx1"/>
                </a:solidFill>
              </a:rPr>
              <a:t>$0.79m</a:t>
            </a:r>
            <a:r>
              <a:rPr lang="en-US" sz="1600" dirty="0">
                <a:solidFill>
                  <a:schemeClr val="tx1"/>
                </a:solidFill>
              </a:rPr>
              <a:t> a year</a:t>
            </a:r>
            <a:endParaRPr lang="en-US" sz="1600" dirty="0"/>
          </a:p>
          <a:p>
            <a:pPr marL="228600" indent="-228600">
              <a:spcAft>
                <a:spcPts val="800"/>
              </a:spcAft>
              <a:buSzPct val="100000"/>
              <a:buChar char="•"/>
            </a:pPr>
            <a:r>
              <a:rPr lang="en-US" sz="1600" dirty="0">
                <a:solidFill>
                  <a:schemeClr val="tx1"/>
                </a:solidFill>
              </a:rPr>
              <a:t>Above the floor a point earns nothing until capability drifts to 55: at 58 it is worth </a:t>
            </a:r>
            <a:r>
              <a:rPr lang="en-US" sz="1600" b="1" dirty="0">
                <a:solidFill>
                  <a:schemeClr val="tx1"/>
                </a:solidFill>
              </a:rPr>
              <a:t>$3.6m</a:t>
            </a:r>
            <a:endParaRPr lang="en-US" sz="1600" dirty="0"/>
          </a:p>
          <a:p>
            <a:pPr marL="228600" indent="-228600">
              <a:spcAft>
                <a:spcPts val="800"/>
              </a:spcAft>
              <a:buSzPct val="100000"/>
              <a:buChar char="•"/>
            </a:pPr>
            <a:r>
              <a:rPr lang="en-US" sz="1600" dirty="0">
                <a:solidFill>
                  <a:schemeClr val="tx1"/>
                </a:solidFill>
              </a:rPr>
              <a:t>Below the floor a point brings the build forward: at 53 it is worth </a:t>
            </a:r>
            <a:r>
              <a:rPr lang="en-US" sz="1600" b="1" dirty="0">
                <a:solidFill>
                  <a:schemeClr val="tx1"/>
                </a:solidFill>
              </a:rPr>
              <a:t>$10.1m</a:t>
            </a:r>
            <a:r>
              <a:rPr lang="en-US" sz="1600" dirty="0">
                <a:solidFill>
                  <a:schemeClr val="tx1"/>
                </a:solidFill>
              </a:rPr>
              <a:t>, 2.5 times its cost</a:t>
            </a:r>
            <a:endParaRPr lang="en-US" sz="1600" dirty="0"/>
          </a:p>
          <a:p>
            <a:pPr marL="228600" indent="-228600">
              <a:spcAft>
                <a:spcPts val="800"/>
              </a:spcAft>
              <a:buSzPct val="100000"/>
              <a:buChar char="•"/>
            </a:pPr>
            <a:r>
              <a:rPr lang="en-US" sz="1600" dirty="0">
                <a:solidFill>
                  <a:schemeClr val="tx1"/>
                </a:solidFill>
              </a:rPr>
              <a:t>Tobin's q, price over replacement cost: above one, build the stock; below one, let it run down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§6.3 · THEOREM 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Maximize the Hamiltonian at every moment</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(i)</a:t>
            </a:r>
            <a:r>
              <a:rPr lang="en-US" sz="1500" dirty="0">
                <a:solidFill>
                  <a:schemeClr val="tx1"/>
                </a:solidFill>
              </a:rPr>
              <a:t> A best plan's decision maximizes the Hamiltonian at almost every moment: myopia repaired</a:t>
            </a:r>
            <a:endParaRPr lang="en-US" sz="1500" dirty="0"/>
          </a:p>
          <a:p>
            <a:pPr marL="228600" indent="-228600">
              <a:spcAft>
                <a:spcPts val="800"/>
              </a:spcAft>
              <a:buSzPct val="100000"/>
              <a:buChar char="•"/>
            </a:pPr>
            <a:r>
              <a:rPr lang="en-US" sz="1500" b="1" dirty="0">
                <a:solidFill>
                  <a:schemeClr val="tx1"/>
                </a:solidFill>
              </a:rPr>
              <a:t>(ii)</a:t>
            </a:r>
            <a:r>
              <a:rPr lang="en-US" sz="1500" dirty="0">
                <a:solidFill>
                  <a:schemeClr val="tx1"/>
                </a:solidFill>
              </a:rPr>
              <a:t> With a free end date, stop when the value rate of continuing falls to ρ × the terminal value</a:t>
            </a:r>
            <a:endParaRPr lang="en-US" sz="1500" dirty="0"/>
          </a:p>
          <a:p>
            <a:pPr marL="228600" indent="-228600">
              <a:spcAft>
                <a:spcPts val="800"/>
              </a:spcAft>
              <a:buSzPct val="100000"/>
              <a:buChar char="•"/>
            </a:pPr>
            <a:r>
              <a:rPr lang="en-US" sz="1500" dirty="0">
                <a:solidFill>
                  <a:schemeClr val="tx1"/>
                </a:solidFill>
              </a:rPr>
              <a:t>Meridian's hiring enters H only through (m − 4)u: the cap when a point is worth more than </a:t>
            </a:r>
            <a:r>
              <a:rPr lang="en-US" sz="1500" b="1" dirty="0">
                <a:solidFill>
                  <a:schemeClr val="tx1"/>
                </a:solidFill>
              </a:rPr>
              <a:t>$4m</a:t>
            </a:r>
            <a:endParaRPr lang="en-US" sz="1500" dirty="0"/>
          </a:p>
          <a:p>
            <a:pPr marL="228600" indent="-228600">
              <a:spcAft>
                <a:spcPts val="800"/>
              </a:spcAft>
              <a:buSzPct val="100000"/>
              <a:buChar char="•"/>
            </a:pPr>
            <a:r>
              <a:rPr lang="en-US" sz="1500" dirty="0">
                <a:solidFill>
                  <a:schemeClr val="tx1"/>
                </a:solidFill>
              </a:rPr>
              <a:t>Nothing when it is worth less; at exactly $4m any rate, </a:t>
            </a:r>
            <a:r>
              <a:rPr lang="en-US" sz="1500" b="1" dirty="0">
                <a:solidFill>
                  <a:schemeClr val="tx1"/>
                </a:solidFill>
              </a:rPr>
              <a:t>the rent</a:t>
            </a:r>
            <a:r>
              <a:rPr lang="en-US" sz="1500" dirty="0">
                <a:solidFill>
                  <a:schemeClr val="tx1"/>
                </a:solidFill>
              </a:rPr>
              <a:t> among them</a:t>
            </a:r>
            <a:endParaRPr lang="en-US" sz="1500" dirty="0"/>
          </a:p>
          <a:p>
            <a:pPr marL="228600" indent="-228600">
              <a:spcAft>
                <a:spcPts val="800"/>
              </a:spcAft>
              <a:buSzPct val="100000"/>
              <a:buChar char="•"/>
            </a:pPr>
            <a:r>
              <a:rPr lang="en-US" sz="1500" dirty="0">
                <a:solidFill>
                  <a:schemeClr val="tx1"/>
                </a:solidFill>
              </a:rPr>
              <a:t>Volume I's time to build is part (i) at work; part (ii) is the stopping rule of an asset with a sale value</a:t>
            </a:r>
            <a:endParaRPr lang="en-US" sz="1500" dirty="0"/>
          </a:p>
        </p:txBody>
      </p:sp>
      <p:pic>
        <p:nvPicPr>
          <p:cNvPr id="6" name="Figure" descr="Figure 6.1: prices and the maximum condition in Meridian's capability problem">    </p:cNvPr>
          <p:cNvPicPr>
            <a:picLocks noChangeAspect="1"/>
          </p:cNvPicPr>
          <p:nvPr/>
        </p:nvPicPr>
        <p:blipFill>
          <a:blip r:embed="rId1"/>
          <a:stretch>
            <a:fillRect/>
          </a:stretch>
        </p:blipFill>
        <p:spPr>
          <a:xfrm>
            <a:off x="5391174" y="2150610"/>
            <a:ext cx="6251881" cy="2995693"/>
          </a:xfrm>
          <a:prstGeom prst="rect">
            <a:avLst/>
          </a:prstGeom>
        </p:spPr>
      </p:pic>
      <p:sp>
        <p:nvSpPr>
          <p:cNvPr id="7" name="Caption"/>
          <p:cNvSpPr txBox="1"/>
          <p:nvPr/>
        </p:nvSpPr>
        <p:spPr>
          <a:xfrm>
            <a:off x="5391174" y="5219454"/>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6.1. (a) The PV of hiring and delay from each capability level; the price is minus the slope: $11.0m just below 55, $4m once the build runs. (b) (m − 4)u at three prices: the cap, any rate, or zero.</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§6.3 · PROPOSITION 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audits every computed plan must pass</a:t>
            </a:r>
            <a:endParaRPr lang="en-US" sz="3200" dirty="0"/>
          </a:p>
        </p:txBody>
      </p:sp>
      <p:sp>
        <p:nvSpPr>
          <p:cNvPr id="5" name="Lead"/>
          <p:cNvSpPr txBox="1"/>
          <p:nvPr/>
        </p:nvSpPr>
        <p:spPr>
          <a:xfrm>
            <a:off x="548640" y="1645920"/>
            <a:ext cx="11094415" cy="457200"/>
          </a:xfrm>
          <a:prstGeom prst="rect">
            <a:avLst/>
          </a:prstGeom>
          <a:noFill/>
          <a:ln/>
        </p:spPr>
        <p:txBody>
          <a:bodyPr wrap="square" lIns="0" tIns="0" rIns="0" bIns="0" rtlCol="0" anchor="ctr"/>
          <a:lstStyle/>
          <a:p>
            <a:pPr indent="0" marL="0">
              <a:buNone/>
            </a:pPr>
            <a:r>
              <a:rPr lang="en-US" sz="1600" b="1" dirty="0">
                <a:solidFill>
                  <a:schemeClr val="tx1"/>
                </a:solidFill>
              </a:rPr>
              <a:t>Proposition 6.1:</a:t>
            </a:r>
            <a:r>
              <a:rPr lang="en-US" sz="1600" dirty="0">
                <a:solidFill>
                  <a:schemeClr val="tx1"/>
                </a:solidFill>
              </a:rPr>
              <a:t> maximizing the Hamiltonian is Chapter 5's period-by-period rule, value banked included.</a:t>
            </a:r>
            <a:endParaRPr lang="en-US" sz="1600" dirty="0"/>
          </a:p>
        </p:txBody>
      </p:sp>
      <p:sp>
        <p:nvSpPr>
          <p:cNvPr id="6" name="Step card"/>
          <p:cNvSpPr/>
          <p:nvPr/>
        </p:nvSpPr>
        <p:spPr>
          <a:xfrm>
            <a:off x="548640" y="2240280"/>
            <a:ext cx="3515258" cy="1828800"/>
          </a:xfrm>
          <a:prstGeom prst="roundRect">
            <a:avLst>
              <a:gd name="adj" fmla="val 4000"/>
            </a:avLst>
          </a:prstGeom>
          <a:solidFill>
            <a:schemeClr val="bg2"/>
          </a:solidFill>
          <a:ln w="9525">
            <a:solidFill>
              <a:srgbClr val="C4CBD8"/>
            </a:solidFill>
            <a:prstDash val="solid"/>
          </a:ln>
        </p:spPr>
      </p:sp>
      <p:sp>
        <p:nvSpPr>
          <p:cNvPr id="7" name="Number"/>
          <p:cNvSpPr/>
          <p:nvPr/>
        </p:nvSpPr>
        <p:spPr>
          <a:xfrm>
            <a:off x="731520" y="2423160"/>
            <a:ext cx="457200" cy="457200"/>
          </a:xfrm>
          <a:prstGeom prst="ellipse">
            <a:avLst/>
          </a:prstGeom>
          <a:solidFill>
            <a:schemeClr val="accent1"/>
          </a:solidFill>
          <a:ln w="6350">
            <a:solidFill>
              <a:schemeClr val="accent1"/>
            </a:solidFill>
            <a:prstDash val="solid"/>
          </a:ln>
        </p:spPr>
      </p:sp>
      <p:sp>
        <p:nvSpPr>
          <p:cNvPr id="8" name="Text 5"/>
          <p:cNvSpPr txBox="1"/>
          <p:nvPr/>
        </p:nvSpPr>
        <p:spPr>
          <a:xfrm>
            <a:off x="731520"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9" name="Step head"/>
          <p:cNvSpPr txBox="1"/>
          <p:nvPr/>
        </p:nvSpPr>
        <p:spPr>
          <a:xfrm>
            <a:off x="1325880" y="24048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State forward</a:t>
            </a:r>
            <a:endParaRPr lang="en-US" sz="1700" dirty="0"/>
          </a:p>
        </p:txBody>
      </p:sp>
      <p:sp>
        <p:nvSpPr>
          <p:cNvPr id="10" name="Step text"/>
          <p:cNvSpPr txBox="1"/>
          <p:nvPr/>
        </p:nvSpPr>
        <p:spPr>
          <a:xfrm>
            <a:off x="731520" y="3017520"/>
            <a:ext cx="3149498" cy="960120"/>
          </a:xfrm>
          <a:prstGeom prst="rect">
            <a:avLst/>
          </a:prstGeom>
          <a:noFill/>
          <a:ln/>
        </p:spPr>
        <p:txBody>
          <a:bodyPr wrap="square" lIns="0" tIns="0" rIns="0" bIns="0" rtlCol="0" anchor="t"/>
          <a:lstStyle/>
          <a:p>
            <a:pPr indent="0" marL="0">
              <a:buNone/>
            </a:pPr>
            <a:r>
              <a:rPr lang="en-US" sz="1500" dirty="0">
                <a:solidFill>
                  <a:schemeClr val="tx1"/>
                </a:solidFill>
              </a:rPr>
              <a:t>Run the state equation forward from the starting stocks, under the plan's decisions.</a:t>
            </a:r>
            <a:endParaRPr lang="en-US" sz="1500" dirty="0"/>
          </a:p>
        </p:txBody>
      </p:sp>
      <p:sp>
        <p:nvSpPr>
          <p:cNvPr id="11" name="Step card"/>
          <p:cNvSpPr/>
          <p:nvPr/>
        </p:nvSpPr>
        <p:spPr>
          <a:xfrm>
            <a:off x="4338218" y="2240280"/>
            <a:ext cx="3515258" cy="1828800"/>
          </a:xfrm>
          <a:prstGeom prst="roundRect">
            <a:avLst>
              <a:gd name="adj" fmla="val 4000"/>
            </a:avLst>
          </a:prstGeom>
          <a:solidFill>
            <a:schemeClr val="bg2"/>
          </a:solidFill>
          <a:ln w="9525">
            <a:solidFill>
              <a:srgbClr val="C4CBD8"/>
            </a:solidFill>
            <a:prstDash val="solid"/>
          </a:ln>
        </p:spPr>
      </p:sp>
      <p:sp>
        <p:nvSpPr>
          <p:cNvPr id="12" name="Number"/>
          <p:cNvSpPr/>
          <p:nvPr/>
        </p:nvSpPr>
        <p:spPr>
          <a:xfrm>
            <a:off x="4521098" y="2423160"/>
            <a:ext cx="457200" cy="457200"/>
          </a:xfrm>
          <a:prstGeom prst="ellipse">
            <a:avLst/>
          </a:prstGeom>
          <a:solidFill>
            <a:schemeClr val="accent1"/>
          </a:solidFill>
          <a:ln w="6350">
            <a:solidFill>
              <a:schemeClr val="accent1"/>
            </a:solidFill>
            <a:prstDash val="solid"/>
          </a:ln>
        </p:spPr>
      </p:sp>
      <p:sp>
        <p:nvSpPr>
          <p:cNvPr id="13" name="Text 10"/>
          <p:cNvSpPr txBox="1"/>
          <p:nvPr/>
        </p:nvSpPr>
        <p:spPr>
          <a:xfrm>
            <a:off x="4521098"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4" name="Step head"/>
          <p:cNvSpPr txBox="1"/>
          <p:nvPr/>
        </p:nvSpPr>
        <p:spPr>
          <a:xfrm>
            <a:off x="5115458" y="24048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Costate backward</a:t>
            </a:r>
            <a:endParaRPr lang="en-US" sz="1700" dirty="0"/>
          </a:p>
        </p:txBody>
      </p:sp>
      <p:sp>
        <p:nvSpPr>
          <p:cNvPr id="15" name="Step text"/>
          <p:cNvSpPr txBox="1"/>
          <p:nvPr/>
        </p:nvSpPr>
        <p:spPr>
          <a:xfrm>
            <a:off x="4521098" y="3017520"/>
            <a:ext cx="3149498" cy="960120"/>
          </a:xfrm>
          <a:prstGeom prst="rect">
            <a:avLst/>
          </a:prstGeom>
          <a:noFill/>
          <a:ln/>
        </p:spPr>
        <p:txBody>
          <a:bodyPr wrap="square" lIns="0" tIns="0" rIns="0" bIns="0" rtlCol="0" anchor="t"/>
          <a:lstStyle/>
          <a:p>
            <a:pPr indent="0" marL="0">
              <a:buNone/>
            </a:pPr>
            <a:r>
              <a:rPr lang="en-US" sz="1500" dirty="0">
                <a:solidFill>
                  <a:schemeClr val="tx1"/>
                </a:solidFill>
              </a:rPr>
              <a:t>Run the costate equation backward from the end condition: the prices of the stocks along the plan.</a:t>
            </a:r>
            <a:endParaRPr lang="en-US" sz="1500" dirty="0"/>
          </a:p>
        </p:txBody>
      </p:sp>
      <p:sp>
        <p:nvSpPr>
          <p:cNvPr id="16" name="Step card"/>
          <p:cNvSpPr/>
          <p:nvPr/>
        </p:nvSpPr>
        <p:spPr>
          <a:xfrm>
            <a:off x="8127797" y="2240280"/>
            <a:ext cx="3515258" cy="1828800"/>
          </a:xfrm>
          <a:prstGeom prst="roundRect">
            <a:avLst>
              <a:gd name="adj" fmla="val 4000"/>
            </a:avLst>
          </a:prstGeom>
          <a:solidFill>
            <a:schemeClr val="bg2"/>
          </a:solidFill>
          <a:ln w="9525">
            <a:solidFill>
              <a:srgbClr val="C4CBD8"/>
            </a:solidFill>
            <a:prstDash val="solid"/>
          </a:ln>
        </p:spPr>
      </p:sp>
      <p:sp>
        <p:nvSpPr>
          <p:cNvPr id="17" name="Number"/>
          <p:cNvSpPr/>
          <p:nvPr/>
        </p:nvSpPr>
        <p:spPr>
          <a:xfrm>
            <a:off x="8310677" y="2423160"/>
            <a:ext cx="457200" cy="457200"/>
          </a:xfrm>
          <a:prstGeom prst="ellipse">
            <a:avLst/>
          </a:prstGeom>
          <a:solidFill>
            <a:schemeClr val="accent1"/>
          </a:solidFill>
          <a:ln w="6350">
            <a:solidFill>
              <a:schemeClr val="accent1"/>
            </a:solidFill>
            <a:prstDash val="solid"/>
          </a:ln>
        </p:spPr>
      </p:sp>
      <p:sp>
        <p:nvSpPr>
          <p:cNvPr id="18" name="Text 15"/>
          <p:cNvSpPr txBox="1"/>
          <p:nvPr/>
        </p:nvSpPr>
        <p:spPr>
          <a:xfrm>
            <a:off x="8310677"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9" name="Step head"/>
          <p:cNvSpPr txBox="1"/>
          <p:nvPr/>
        </p:nvSpPr>
        <p:spPr>
          <a:xfrm>
            <a:off x="8905037" y="24048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Maximum condition</a:t>
            </a:r>
            <a:endParaRPr lang="en-US" sz="1700" dirty="0"/>
          </a:p>
        </p:txBody>
      </p:sp>
      <p:sp>
        <p:nvSpPr>
          <p:cNvPr id="20" name="Step text"/>
          <p:cNvSpPr txBox="1"/>
          <p:nvPr/>
        </p:nvSpPr>
        <p:spPr>
          <a:xfrm>
            <a:off x="8310677" y="3017520"/>
            <a:ext cx="3149498" cy="960120"/>
          </a:xfrm>
          <a:prstGeom prst="rect">
            <a:avLst/>
          </a:prstGeom>
          <a:noFill/>
          <a:ln/>
        </p:spPr>
        <p:txBody>
          <a:bodyPr wrap="square" lIns="0" tIns="0" rIns="0" bIns="0" rtlCol="0" anchor="t"/>
          <a:lstStyle/>
          <a:p>
            <a:pPr indent="0" marL="0">
              <a:buNone/>
            </a:pPr>
            <a:r>
              <a:rPr lang="en-US" sz="1500" dirty="0">
                <a:solidFill>
                  <a:schemeClr val="tx1"/>
                </a:solidFill>
              </a:rPr>
              <a:t>Check, moment by moment and on a grid of decision values, that the plan's decision maximizes the Hamiltonian.</a:t>
            </a:r>
            <a:endParaRPr lang="en-US" sz="1500" dirty="0"/>
          </a:p>
        </p:txBody>
      </p:sp>
      <p:sp>
        <p:nvSpPr>
          <p:cNvPr id="21" name="Step card"/>
          <p:cNvSpPr/>
          <p:nvPr/>
        </p:nvSpPr>
        <p:spPr>
          <a:xfrm>
            <a:off x="548640" y="4343400"/>
            <a:ext cx="3515258" cy="1828800"/>
          </a:xfrm>
          <a:prstGeom prst="roundRect">
            <a:avLst>
              <a:gd name="adj" fmla="val 4000"/>
            </a:avLst>
          </a:prstGeom>
          <a:solidFill>
            <a:schemeClr val="bg2"/>
          </a:solidFill>
          <a:ln w="9525">
            <a:solidFill>
              <a:srgbClr val="C4CBD8"/>
            </a:solidFill>
            <a:prstDash val="solid"/>
          </a:ln>
        </p:spPr>
      </p:sp>
      <p:sp>
        <p:nvSpPr>
          <p:cNvPr id="22" name="Number"/>
          <p:cNvSpPr/>
          <p:nvPr/>
        </p:nvSpPr>
        <p:spPr>
          <a:xfrm>
            <a:off x="731520" y="4526280"/>
            <a:ext cx="457200" cy="457200"/>
          </a:xfrm>
          <a:prstGeom prst="ellipse">
            <a:avLst/>
          </a:prstGeom>
          <a:solidFill>
            <a:schemeClr val="accent1"/>
          </a:solidFill>
          <a:ln w="6350">
            <a:solidFill>
              <a:schemeClr val="accent1"/>
            </a:solidFill>
            <a:prstDash val="solid"/>
          </a:ln>
        </p:spPr>
      </p:sp>
      <p:sp>
        <p:nvSpPr>
          <p:cNvPr id="23" name="Text 20"/>
          <p:cNvSpPr txBox="1"/>
          <p:nvPr/>
        </p:nvSpPr>
        <p:spPr>
          <a:xfrm>
            <a:off x="731520" y="4526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4" name="Step head"/>
          <p:cNvSpPr txBox="1"/>
          <p:nvPr/>
        </p:nvSpPr>
        <p:spPr>
          <a:xfrm>
            <a:off x="1325880" y="450799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End conditions</a:t>
            </a:r>
            <a:endParaRPr lang="en-US" sz="1700" dirty="0"/>
          </a:p>
        </p:txBody>
      </p:sp>
      <p:sp>
        <p:nvSpPr>
          <p:cNvPr id="25" name="Step text"/>
          <p:cNvSpPr txBox="1"/>
          <p:nvPr/>
        </p:nvSpPr>
        <p:spPr>
          <a:xfrm>
            <a:off x="731520" y="5120640"/>
            <a:ext cx="3149498" cy="960120"/>
          </a:xfrm>
          <a:prstGeom prst="rect">
            <a:avLst/>
          </a:prstGeom>
          <a:noFill/>
          <a:ln/>
        </p:spPr>
        <p:txBody>
          <a:bodyPr wrap="square" lIns="0" tIns="0" rIns="0" bIns="0" rtlCol="0" anchor="t"/>
          <a:lstStyle/>
          <a:p>
            <a:pPr indent="0" marL="0">
              <a:buNone/>
            </a:pPr>
            <a:r>
              <a:rPr lang="en-US" sz="1500" dirty="0">
                <a:solidFill>
                  <a:schemeClr val="tx1"/>
                </a:solidFill>
              </a:rPr>
              <a:t>The end state, and the price at the end: the terminal value's gradient plus the price of any end condition.</a:t>
            </a:r>
            <a:endParaRPr lang="en-US" sz="1500" dirty="0"/>
          </a:p>
        </p:txBody>
      </p:sp>
      <p:sp>
        <p:nvSpPr>
          <p:cNvPr id="26" name="Step card"/>
          <p:cNvSpPr/>
          <p:nvPr/>
        </p:nvSpPr>
        <p:spPr>
          <a:xfrm>
            <a:off x="4338218" y="4343400"/>
            <a:ext cx="3515258" cy="1828800"/>
          </a:xfrm>
          <a:prstGeom prst="roundRect">
            <a:avLst>
              <a:gd name="adj" fmla="val 4000"/>
            </a:avLst>
          </a:prstGeom>
          <a:solidFill>
            <a:schemeClr val="bg2"/>
          </a:solidFill>
          <a:ln w="9525">
            <a:solidFill>
              <a:srgbClr val="C4CBD8"/>
            </a:solidFill>
            <a:prstDash val="solid"/>
          </a:ln>
        </p:spPr>
      </p:sp>
      <p:sp>
        <p:nvSpPr>
          <p:cNvPr id="27" name="Number"/>
          <p:cNvSpPr/>
          <p:nvPr/>
        </p:nvSpPr>
        <p:spPr>
          <a:xfrm>
            <a:off x="4521098" y="4526280"/>
            <a:ext cx="457200" cy="457200"/>
          </a:xfrm>
          <a:prstGeom prst="ellipse">
            <a:avLst/>
          </a:prstGeom>
          <a:solidFill>
            <a:schemeClr val="accent1"/>
          </a:solidFill>
          <a:ln w="6350">
            <a:solidFill>
              <a:schemeClr val="accent1"/>
            </a:solidFill>
            <a:prstDash val="solid"/>
          </a:ln>
        </p:spPr>
      </p:sp>
      <p:sp>
        <p:nvSpPr>
          <p:cNvPr id="28" name="Text 25"/>
          <p:cNvSpPr txBox="1"/>
          <p:nvPr/>
        </p:nvSpPr>
        <p:spPr>
          <a:xfrm>
            <a:off x="4521098" y="4526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9" name="Step head"/>
          <p:cNvSpPr txBox="1"/>
          <p:nvPr/>
        </p:nvSpPr>
        <p:spPr>
          <a:xfrm>
            <a:off x="5115458" y="450799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Hamiltonian's drift</a:t>
            </a:r>
            <a:endParaRPr lang="en-US" sz="1700" dirty="0"/>
          </a:p>
        </p:txBody>
      </p:sp>
      <p:sp>
        <p:nvSpPr>
          <p:cNvPr id="30" name="Step text"/>
          <p:cNvSpPr txBox="1"/>
          <p:nvPr/>
        </p:nvSpPr>
        <p:spPr>
          <a:xfrm>
            <a:off x="4521098" y="5120640"/>
            <a:ext cx="3149498" cy="960120"/>
          </a:xfrm>
          <a:prstGeom prst="rect">
            <a:avLst/>
          </a:prstGeom>
          <a:noFill/>
          <a:ln/>
        </p:spPr>
        <p:txBody>
          <a:bodyPr wrap="square" lIns="0" tIns="0" rIns="0" bIns="0" rtlCol="0" anchor="t"/>
          <a:lstStyle/>
          <a:p>
            <a:pPr indent="0" marL="0">
              <a:buNone/>
            </a:pPr>
            <a:r>
              <a:rPr lang="en-US" sz="1500" dirty="0">
                <a:solidFill>
                  <a:schemeClr val="tx1"/>
                </a:solidFill>
              </a:rPr>
              <a:t>Along a best plan the maximized Hamiltonian grows at ρ times the value banked; with no discounting it is constant.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§6.4 · PROPOSITION 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Costs set the shape: smooth, bang-bang, race</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Smooth.</a:t>
            </a:r>
            <a:r>
              <a:rPr lang="en-US" sz="1500" dirty="0">
                <a:solidFill>
                  <a:schemeClr val="tx1"/>
                </a:solidFill>
              </a:rPr>
              <a:t> Costs that rise with the pace make H strictly concave: the decision moves smoothly (q rule)</a:t>
            </a:r>
            <a:endParaRPr lang="en-US" sz="1500" dirty="0"/>
          </a:p>
          <a:p>
            <a:pPr marL="228600" indent="-228600">
              <a:spcAft>
                <a:spcPts val="800"/>
              </a:spcAft>
              <a:buSzPct val="100000"/>
              <a:buChar char="•"/>
            </a:pPr>
            <a:r>
              <a:rPr lang="en-US" sz="1500" b="1" dirty="0">
                <a:solidFill>
                  <a:schemeClr val="tx1"/>
                </a:solidFill>
              </a:rPr>
              <a:t>Bang-bang.</a:t>
            </a:r>
            <a:r>
              <a:rPr lang="en-US" sz="1500" dirty="0">
                <a:solidFill>
                  <a:schemeClr val="tx1"/>
                </a:solidFill>
              </a:rPr>
              <a:t> H linear: the decision sits at a limit set by the sign of the switching function</a:t>
            </a:r>
            <a:endParaRPr lang="en-US" sz="1500" dirty="0"/>
          </a:p>
          <a:p>
            <a:pPr marL="228600" indent="-228600">
              <a:spcAft>
                <a:spcPts val="800"/>
              </a:spcAft>
              <a:buSzPct val="100000"/>
              <a:buChar char="•"/>
            </a:pPr>
            <a:r>
              <a:rPr lang="en-US" sz="1500" b="1" dirty="0">
                <a:solidFill>
                  <a:schemeClr val="tx1"/>
                </a:solidFill>
              </a:rPr>
              <a:t>The race.</a:t>
            </a:r>
            <a:r>
              <a:rPr lang="en-US" sz="1500" dirty="0">
                <a:solidFill>
                  <a:schemeClr val="tx1"/>
                </a:solidFill>
              </a:rPr>
              <a:t> A maintained stock is raced to where its marginal earnings equal its user cost, then held</a:t>
            </a:r>
            <a:endParaRPr lang="en-US" sz="1500" dirty="0"/>
          </a:p>
          <a:p>
            <a:pPr marL="228600" indent="-228600">
              <a:spcAft>
                <a:spcPts val="800"/>
              </a:spcAft>
              <a:buSzPct val="100000"/>
              <a:buChar char="•"/>
            </a:pPr>
            <a:r>
              <a:rPr lang="en-US" sz="1500" dirty="0">
                <a:solidFill>
                  <a:schemeClr val="tx1"/>
                </a:solidFill>
              </a:rPr>
              <a:t>The modified golden rule is no fixed number: it moves with the hurdle rate, decay and price</a:t>
            </a:r>
            <a:endParaRPr lang="en-US" sz="1500" dirty="0"/>
          </a:p>
          <a:p>
            <a:pPr marL="228600" indent="-228600">
              <a:spcAft>
                <a:spcPts val="800"/>
              </a:spcAft>
              <a:buSzPct val="100000"/>
              <a:buChar char="•"/>
            </a:pPr>
            <a:r>
              <a:rPr lang="en-US" sz="1500" dirty="0">
                <a:solidFill>
                  <a:schemeClr val="tx1"/>
                </a:solidFill>
              </a:rPr>
              <a:t>Metered spending gives all-or-nothing plans; spending that strains the organization, smooth ones</a:t>
            </a:r>
            <a:endParaRPr lang="en-US" sz="1500" dirty="0"/>
          </a:p>
        </p:txBody>
      </p:sp>
      <p:pic>
        <p:nvPicPr>
          <p:cNvPr id="6" name="Figure" descr="Figure 6.2: shapes of optimal plans (generic)">    </p:cNvPr>
          <p:cNvPicPr>
            <a:picLocks noChangeAspect="1"/>
          </p:cNvPicPr>
          <p:nvPr/>
        </p:nvPicPr>
        <p:blipFill>
          <a:blip r:embed="rId1"/>
          <a:stretch>
            <a:fillRect/>
          </a:stretch>
        </p:blipFill>
        <p:spPr>
          <a:xfrm>
            <a:off x="5391174" y="2310705"/>
            <a:ext cx="6251881" cy="2675501"/>
          </a:xfrm>
          <a:prstGeom prst="rect">
            <a:avLst/>
          </a:prstGeom>
        </p:spPr>
      </p:pic>
      <p:sp>
        <p:nvSpPr>
          <p:cNvPr id="7" name="Caption"/>
          <p:cNvSpPr txBox="1"/>
          <p:nvPr/>
        </p:nvSpPr>
        <p:spPr>
          <a:xfrm>
            <a:off x="5391174" y="5059359"/>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6.2 (generic; Online Appendix 6.B.2). (a) The price of a unit falls through its cost at 3.69 years. (b) Bang-bang with a linear cost; smooth with a rising one. (c) Race to the level and hold it.</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§6.5 · PROPOSITION 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floor has a price: the user cost</a:t>
            </a:r>
            <a:endParaRPr lang="en-US" sz="3200" dirty="0"/>
          </a:p>
        </p:txBody>
      </p:sp>
      <p:sp>
        <p:nvSpPr>
          <p:cNvPr id="5" name="Stat card"/>
          <p:cNvSpPr/>
          <p:nvPr/>
        </p:nvSpPr>
        <p:spPr>
          <a:xfrm>
            <a:off x="548640" y="1691640"/>
            <a:ext cx="3515258" cy="1874520"/>
          </a:xfrm>
          <a:prstGeom prst="roundRect">
            <a:avLst>
              <a:gd name="adj" fmla="val 3902"/>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$4m</a:t>
            </a:r>
            <a:endParaRPr lang="en-US" sz="4400" dirty="0"/>
          </a:p>
        </p:txBody>
      </p:sp>
      <p:sp>
        <p:nvSpPr>
          <p:cNvPr id="7" name="Stat label"/>
          <p:cNvSpPr txBox="1"/>
          <p:nvPr/>
        </p:nvSpPr>
        <p:spPr>
          <a:xfrm>
            <a:off x="685800"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the price of a point on the floor once the build runs: its cost</a:t>
            </a:r>
            <a:endParaRPr lang="en-US" sz="1400" dirty="0"/>
          </a:p>
        </p:txBody>
      </p:sp>
      <p:sp>
        <p:nvSpPr>
          <p:cNvPr id="8" name="Stat card"/>
          <p:cNvSpPr/>
          <p:nvPr/>
        </p:nvSpPr>
        <p:spPr>
          <a:xfrm>
            <a:off x="4338218" y="1691640"/>
            <a:ext cx="3515258" cy="1874520"/>
          </a:xfrm>
          <a:prstGeom prst="roundRect">
            <a:avLst>
              <a:gd name="adj" fmla="val 3902"/>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5.57</a:t>
            </a:r>
            <a:endParaRPr lang="en-US" sz="4400" dirty="0"/>
          </a:p>
        </p:txBody>
      </p:sp>
      <p:sp>
        <p:nvSpPr>
          <p:cNvPr id="10" name="Stat label"/>
          <p:cNvSpPr txBox="1"/>
          <p:nvPr/>
        </p:nvSpPr>
        <p:spPr>
          <a:xfrm>
            <a:off x="4475378"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points a year of rent hold capability at 55: $22.3m a year</a:t>
            </a:r>
            <a:endParaRPr lang="en-US" sz="1400" dirty="0"/>
          </a:p>
        </p:txBody>
      </p:sp>
      <p:sp>
        <p:nvSpPr>
          <p:cNvPr id="11" name="Stat card"/>
          <p:cNvSpPr/>
          <p:nvPr/>
        </p:nvSpPr>
        <p:spPr>
          <a:xfrm>
            <a:off x="8127797" y="1691640"/>
            <a:ext cx="3515258" cy="1874520"/>
          </a:xfrm>
          <a:prstGeom prst="roundRect">
            <a:avLst>
              <a:gd name="adj" fmla="val 3902"/>
            </a:avLst>
          </a:prstGeom>
          <a:solidFill>
            <a:schemeClr val="tx1"/>
          </a:solidFill>
          <a:ln w="9525">
            <a:solidFill>
              <a:srgbClr val="0F1E3D"/>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$0.79m</a:t>
            </a:r>
            <a:endParaRPr lang="en-US" sz="4400" dirty="0"/>
          </a:p>
        </p:txBody>
      </p:sp>
      <p:sp>
        <p:nvSpPr>
          <p:cNvPr id="13" name="Stat label"/>
          <p:cNvSpPr txBox="1"/>
          <p:nvPr/>
        </p:nvSpPr>
        <p:spPr>
          <a:xfrm>
            <a:off x="8264957" y="2697480"/>
            <a:ext cx="3240938" cy="795528"/>
          </a:xfrm>
          <a:prstGeom prst="rect">
            <a:avLst/>
          </a:prstGeom>
          <a:noFill/>
          <a:ln/>
        </p:spPr>
        <p:txBody>
          <a:bodyPr wrap="square" lIns="0" tIns="0" rIns="0" bIns="0" rtlCol="0" anchor="t"/>
          <a:lstStyle/>
          <a:p>
            <a:pPr algn="ctr" indent="0" marL="0">
              <a:buNone/>
            </a:pPr>
            <a:r>
              <a:rPr lang="en-US" sz="1400" dirty="0">
                <a:solidFill>
                  <a:schemeClr val="bg2"/>
                </a:solidFill>
              </a:rPr>
              <a:t>the floor's price, a point a year: $0.38m of interest plus $0.41m of attrition</a:t>
            </a:r>
            <a:endParaRPr lang="en-US" sz="1400" dirty="0"/>
          </a:p>
        </p:txBody>
      </p:sp>
      <p:sp>
        <p:nvSpPr>
          <p:cNvPr id="14" name="Bullets"/>
          <p:cNvSpPr txBox="1"/>
          <p:nvPr/>
        </p:nvSpPr>
        <p:spPr>
          <a:xfrm>
            <a:off x="548640" y="3886200"/>
            <a:ext cx="11094415" cy="228600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(i) End conditions.</a:t>
            </a:r>
            <a:r>
              <a:rPr lang="en-US" sz="1700" dirty="0">
                <a:solidFill>
                  <a:schemeClr val="tx1"/>
                </a:solidFill>
              </a:rPr>
              <a:t> If the end state must meet a floor, the price at the end exceeds the terminal value's gradient by a nonnegative multiplier</a:t>
            </a:r>
            <a:endParaRPr lang="en-US" sz="1700" dirty="0"/>
          </a:p>
          <a:p>
            <a:pPr marL="228600" indent="-228600">
              <a:spcAft>
                <a:spcPts val="800"/>
              </a:spcAft>
              <a:buSzPct val="100000"/>
              <a:buChar char="•"/>
            </a:pPr>
            <a:r>
              <a:rPr lang="en-US" sz="1700" b="1" dirty="0">
                <a:solidFill>
                  <a:schemeClr val="tx1"/>
                </a:solidFill>
              </a:rPr>
              <a:t>(ii) Floors on the path.</a:t>
            </a:r>
            <a:r>
              <a:rPr lang="en-US" sz="1700" dirty="0">
                <a:solidFill>
                  <a:schemeClr val="tx1"/>
                </a:solidFill>
              </a:rPr>
              <a:t> Where a floor binds and the rent is within the limits, the price stays at the unit cost; the floor's price is the user cost less the marginal earnings</a:t>
            </a:r>
            <a:endParaRPr lang="en-US" sz="1700" dirty="0"/>
          </a:p>
          <a:p>
            <a:pPr marL="228600" indent="-228600">
              <a:spcAft>
                <a:spcPts val="800"/>
              </a:spcAft>
              <a:buSzPct val="100000"/>
              <a:buChar char="•"/>
            </a:pPr>
            <a:r>
              <a:rPr lang="en-US" sz="1700" b="1" dirty="0">
                <a:solidFill>
                  <a:schemeClr val="tx1"/>
                </a:solidFill>
              </a:rPr>
              <a:t>(iii) Infinite horizon.</a:t>
            </a:r>
            <a:r>
              <a:rPr lang="en-US" sz="1700" dirty="0">
                <a:solidFill>
                  <a:schemeClr val="tx1"/>
                </a:solidFill>
              </a:rPr>
              <a:t> Prices need not vanish at infinity: certify with Theorem 6.3's limit condition</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§6.5 · THEOREM 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Concavity turns the conditions into a proof</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6.3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Sufficiency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dirty="0">
                <a:solidFill>
                  <a:schemeClr val="tx1"/>
                </a:solidFill>
              </a:rPr>
              <a:t>A plan that meets the maximum condition, with a costate that solves the costate equation and the end condition, is best if</a:t>
            </a:r>
            <a:endParaRPr lang="en-US" sz="1500" dirty="0"/>
          </a:p>
          <a:p>
            <a:pPr marL="228600" indent="-228600">
              <a:spcAft>
                <a:spcPts val="600"/>
              </a:spcAft>
              <a:buSzPct val="100000"/>
              <a:buChar char="•"/>
            </a:pPr>
            <a:r>
              <a:rPr lang="en-US" sz="1500" b="1" dirty="0">
                <a:solidFill>
                  <a:schemeClr val="tx1"/>
                </a:solidFill>
              </a:rPr>
              <a:t>(i)</a:t>
            </a:r>
            <a:r>
              <a:rPr lang="en-US" sz="1500" dirty="0">
                <a:solidFill>
                  <a:schemeClr val="tx1"/>
                </a:solidFill>
              </a:rPr>
              <a:t> the Hamiltonian is concave in state and decision, the decision set convex, the terminal value concave; or</a:t>
            </a:r>
            <a:endParaRPr lang="en-US" sz="1500" dirty="0"/>
          </a:p>
          <a:p>
            <a:pPr marL="228600" indent="-228600">
              <a:spcAft>
                <a:spcPts val="600"/>
              </a:spcAft>
              <a:buSzPct val="100000"/>
              <a:buChar char="•"/>
            </a:pPr>
            <a:r>
              <a:rPr lang="en-US" sz="1500" b="1" dirty="0">
                <a:solidFill>
                  <a:schemeClr val="tx1"/>
                </a:solidFill>
              </a:rPr>
              <a:t>(ii)</a:t>
            </a:r>
            <a:r>
              <a:rPr lang="en-US" sz="1500" dirty="0">
                <a:solidFill>
                  <a:schemeClr val="tx1"/>
                </a:solidFill>
              </a:rPr>
              <a:t> the maximized Hamiltonian is concave in the state, and the terminal value concave</a:t>
            </a:r>
            <a:endParaRPr lang="en-US" sz="1500" dirty="0"/>
          </a:p>
          <a:p>
            <a:pPr marL="228600" indent="-228600">
              <a:spcAft>
                <a:spcPts val="600"/>
              </a:spcAft>
              <a:buSzPct val="100000"/>
              <a:buChar char="•"/>
            </a:pPr>
            <a:r>
              <a:rPr lang="en-US" sz="1500" b="1" dirty="0">
                <a:solidFill>
                  <a:schemeClr val="tx1"/>
                </a:solidFill>
              </a:rPr>
              <a:t>(iii)</a:t>
            </a:r>
            <a:r>
              <a:rPr lang="en-US" sz="1500" dirty="0">
                <a:solidFill>
                  <a:schemeClr val="tx1"/>
                </a:solidFill>
              </a:rPr>
              <a:t> Floors and other convex state commitments are allowed, with their multipliers</a:t>
            </a:r>
            <a:endParaRPr lang="en-US" sz="1500" dirty="0"/>
          </a:p>
          <a:p>
            <a:pPr marL="228600" indent="-228600">
              <a:spcAft>
                <a:spcPts val="600"/>
              </a:spcAft>
              <a:buSzPct val="100000"/>
              <a:buChar char="•"/>
            </a:pPr>
            <a:r>
              <a:rPr lang="en-US" sz="1500" b="1" dirty="0">
                <a:solidFill>
                  <a:schemeClr val="tx1"/>
                </a:solidFill>
              </a:rPr>
              <a:t>(iv)</a:t>
            </a:r>
            <a:r>
              <a:rPr lang="en-US" sz="1500" dirty="0">
                <a:solidFill>
                  <a:schemeClr val="tx1"/>
                </a:solidFill>
              </a:rPr>
              <a:t> An infinite horizon adds a limit condition on the gap to any feasible path</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Once the build runs the problem is linear: paying exactly the rent is certified best</a:t>
            </a:r>
            <a:endParaRPr lang="en-US" sz="1600" dirty="0"/>
          </a:p>
          <a:p>
            <a:pPr marL="228600" indent="-228600">
              <a:spcAft>
                <a:spcPts val="800"/>
              </a:spcAft>
              <a:buSzPct val="100000"/>
              <a:buChar char="•"/>
            </a:pPr>
            <a:r>
              <a:rPr lang="en-US" sz="1600" dirty="0">
                <a:solidFill>
                  <a:schemeClr val="tx1"/>
                </a:solidFill>
              </a:rPr>
              <a:t>Without concavity several candidates can pass; doing nothing can be one (Example 6.B.1)</a:t>
            </a:r>
            <a:endParaRPr lang="en-US" sz="1600" dirty="0"/>
          </a:p>
          <a:p>
            <a:pPr marL="228600" indent="-228600">
              <a:spcAft>
                <a:spcPts val="800"/>
              </a:spcAft>
              <a:buSzPct val="100000"/>
              <a:buChar char="•"/>
            </a:pPr>
            <a:r>
              <a:rPr lang="en-US" sz="1600" dirty="0">
                <a:solidFill>
                  <a:schemeClr val="tx1"/>
                </a:solidFill>
              </a:rPr>
              <a:t>The race to the floor is lumpy, the delay ending at 55: Worked Example 6.1 certifies it directly</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§6.6 · TABLE 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Direct methods find plans; indirect ones audit</a:t>
            </a:r>
            <a:endParaRPr lang="en-US" sz="32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166878"/>
                <a:gridCol w="3120304"/>
                <a:gridCol w="2686929"/>
                <a:gridCol w="3120304"/>
              </a:tblGrid>
              <a:tr h="60350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Solves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Strength</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Single shooting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maximum principle, by guessing the starting prices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accurate prices and switching times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starting guess; sensitivity grows with the horizon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Multiple shooting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same, with the horizon split into segments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robust; standard boundary-value solvers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arc structure must be guessed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Collocation (indirect)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state and costate equations on a grid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high accuracy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number of switches is fixed in advance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Direct transcription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finite program (Chapter 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floors and limits native; Part I's certificates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prices approximate the costates only on fine calendars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Direct collocation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states and decisions on polynomial elements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large sparse instances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decisions that switch</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Meridian's transcription costs $0.38m more than the closed form weekly, $0.02m daily, and never less.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6.1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is Meridian's engineering team worth?</a:t>
            </a:r>
            <a:endParaRPr lang="en-US" sz="3200" dirty="0"/>
          </a:p>
        </p:txBody>
      </p:sp>
      <p:sp>
        <p:nvSpPr>
          <p:cNvPr id="5" name="Card"/>
          <p:cNvSpPr/>
          <p:nvPr/>
        </p:nvSpPr>
        <p:spPr>
          <a:xfrm>
            <a:off x="548640" y="1691640"/>
            <a:ext cx="3515258" cy="2514600"/>
          </a:xfrm>
          <a:prstGeom prst="roundRect">
            <a:avLst>
              <a:gd name="adj" fmla="val 2909"/>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human resources officer</a:t>
            </a:r>
            <a:endParaRPr lang="en-US" sz="1300" dirty="0"/>
          </a:p>
        </p:txBody>
      </p:sp>
      <p:sp>
        <p:nvSpPr>
          <p:cNvPr id="7" name="Card head"/>
          <p:cNvSpPr txBox="1"/>
          <p:nvPr/>
        </p:nvSpPr>
        <p:spPr>
          <a:xfrm>
            <a:off x="731520" y="2148840"/>
            <a:ext cx="3149498" cy="94183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How fast to rebuild if the team goes?</a:t>
            </a:r>
            <a:endParaRPr lang="en-US" sz="1800" dirty="0"/>
          </a:p>
        </p:txBody>
      </p:sp>
      <p:sp>
        <p:nvSpPr>
          <p:cNvPr id="8" name="Card text"/>
          <p:cNvSpPr txBox="1"/>
          <p:nvPr/>
        </p:nvSpPr>
        <p:spPr>
          <a:xfrm>
            <a:off x="731520" y="3163824"/>
            <a:ext cx="3149498" cy="914400"/>
          </a:xfrm>
          <a:prstGeom prst="rect">
            <a:avLst/>
          </a:prstGeom>
          <a:noFill/>
          <a:ln/>
        </p:spPr>
        <p:txBody>
          <a:bodyPr wrap="square" lIns="0" tIns="0" rIns="0" bIns="0" rtlCol="0" anchor="t"/>
          <a:lstStyle/>
          <a:p>
            <a:pPr indent="0" marL="0">
              <a:buNone/>
            </a:pPr>
            <a:r>
              <a:rPr lang="en-US" sz="1500" dirty="0">
                <a:solidFill>
                  <a:schemeClr val="tx2"/>
                </a:solidFill>
              </a:rPr>
              <a:t>Without the team capability falls from 58 to 53, below the floor of 55 the digital build needs.</a:t>
            </a:r>
            <a:endParaRPr lang="en-US" sz="1500" dirty="0"/>
          </a:p>
        </p:txBody>
      </p:sp>
      <p:sp>
        <p:nvSpPr>
          <p:cNvPr id="9" name="Card"/>
          <p:cNvSpPr/>
          <p:nvPr/>
        </p:nvSpPr>
        <p:spPr>
          <a:xfrm>
            <a:off x="4338218" y="1691640"/>
            <a:ext cx="3515258" cy="2514600"/>
          </a:xfrm>
          <a:prstGeom prst="roundRect">
            <a:avLst>
              <a:gd name="adj" fmla="val 2909"/>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financial officer</a:t>
            </a:r>
            <a:endParaRPr lang="en-US" sz="1300" dirty="0"/>
          </a:p>
        </p:txBody>
      </p:sp>
      <p:sp>
        <p:nvSpPr>
          <p:cNvPr id="11" name="Card head"/>
          <p:cNvSpPr txBox="1"/>
          <p:nvPr/>
        </p:nvSpPr>
        <p:spPr>
          <a:xfrm>
            <a:off x="4521098" y="2148840"/>
            <a:ext cx="3149498" cy="94183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Take the buyer's extra $20m?</a:t>
            </a:r>
            <a:endParaRPr lang="en-US" sz="1800" dirty="0"/>
          </a:p>
        </p:txBody>
      </p:sp>
      <p:sp>
        <p:nvSpPr>
          <p:cNvPr id="12" name="Card text"/>
          <p:cNvSpPr txBox="1"/>
          <p:nvPr/>
        </p:nvSpPr>
        <p:spPr>
          <a:xfrm>
            <a:off x="4521098" y="3163824"/>
            <a:ext cx="3149498" cy="914400"/>
          </a:xfrm>
          <a:prstGeom prst="rect">
            <a:avLst/>
          </a:prstGeom>
          <a:noFill/>
          <a:ln/>
        </p:spPr>
        <p:txBody>
          <a:bodyPr wrap="square" lIns="0" tIns="0" rIns="0" bIns="0" rtlCol="0" anchor="t"/>
          <a:lstStyle/>
          <a:p>
            <a:pPr indent="0" marL="0">
              <a:buNone/>
            </a:pPr>
            <a:r>
              <a:rPr lang="en-US" sz="1500" dirty="0">
                <a:solidFill>
                  <a:schemeClr val="tx2"/>
                </a:solidFill>
              </a:rPr>
              <a:t>The buyer pays $112m net with the team, $92m if Meridian keeps it.</a:t>
            </a:r>
            <a:endParaRPr lang="en-US" sz="1500" dirty="0"/>
          </a:p>
        </p:txBody>
      </p:sp>
      <p:sp>
        <p:nvSpPr>
          <p:cNvPr id="13" name="Card"/>
          <p:cNvSpPr/>
          <p:nvPr/>
        </p:nvSpPr>
        <p:spPr>
          <a:xfrm>
            <a:off x="8127797" y="1691640"/>
            <a:ext cx="3515258" cy="2514600"/>
          </a:xfrm>
          <a:prstGeom prst="roundRect">
            <a:avLst>
              <a:gd name="adj" fmla="val 2909"/>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a:t>
            </a:r>
            <a:endParaRPr lang="en-US" sz="1300" dirty="0"/>
          </a:p>
        </p:txBody>
      </p:sp>
      <p:sp>
        <p:nvSpPr>
          <p:cNvPr id="15" name="Card head"/>
          <p:cNvSpPr txBox="1"/>
          <p:nvPr/>
        </p:nvSpPr>
        <p:spPr>
          <a:xfrm>
            <a:off x="8310677" y="2148840"/>
            <a:ext cx="3149498" cy="941832"/>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What would it pay to keep the team?</a:t>
            </a:r>
            <a:endParaRPr lang="en-US" sz="1800" dirty="0"/>
          </a:p>
        </p:txBody>
      </p:sp>
      <p:sp>
        <p:nvSpPr>
          <p:cNvPr id="16" name="Card text"/>
          <p:cNvSpPr txBox="1"/>
          <p:nvPr/>
        </p:nvSpPr>
        <p:spPr>
          <a:xfrm>
            <a:off x="8310677" y="3163824"/>
            <a:ext cx="3149498" cy="914400"/>
          </a:xfrm>
          <a:prstGeom prst="rect">
            <a:avLst/>
          </a:prstGeom>
          <a:noFill/>
          <a:ln/>
        </p:spPr>
        <p:txBody>
          <a:bodyPr wrap="square" lIns="0" tIns="0" rIns="0" bIns="0" rtlCol="0" anchor="t"/>
          <a:lstStyle/>
          <a:p>
            <a:pPr indent="0" marL="0">
              <a:buNone/>
            </a:pPr>
            <a:r>
              <a:rPr lang="en-US" sz="1500" dirty="0">
                <a:solidFill>
                  <a:schemeClr val="bg2"/>
                </a:solidFill>
              </a:rPr>
              <a:t>If the buyer asked $30m. A quarter of delay is worth $8m; the hurdle rate is 10 percent.</a:t>
            </a:r>
            <a:endParaRPr lang="en-US" sz="1500" dirty="0"/>
          </a:p>
        </p:txBody>
      </p:sp>
      <p:sp>
        <p:nvSpPr>
          <p:cNvPr id="17" name="Lead"/>
          <p:cNvSpPr txBox="1"/>
          <p:nvPr/>
        </p:nvSpPr>
        <p:spPr>
          <a:xfrm>
            <a:off x="548640" y="448056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Volume I, Worked Example 10.1 counted the two options in cash over five quarters and found a wash.</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6.1 · STEPS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Write the problem in time, then the Hamiltonian</a:t>
            </a:r>
            <a:endParaRPr lang="en-US" sz="3200" dirty="0"/>
          </a:p>
        </p:txBody>
      </p:sp>
      <p:pic>
        <p:nvPicPr>
          <p:cNvPr id="5" name="Equation" descr="Equation: H \;=\; -4u \;-\; 32\cdot\mathbf{1}\{c &lt; 55\} \;+\; m\,(u - \delta c), \qquad 0 \le u \le \bar u">    </p:cNvPr>
          <p:cNvPicPr>
            <a:picLocks noChangeAspect="1"/>
          </p:cNvPicPr>
          <p:nvPr/>
        </p:nvPicPr>
        <p:blipFill>
          <a:blip r:embed="rId1"/>
          <a:stretch>
            <a:fillRect/>
          </a:stretch>
        </p:blipFill>
        <p:spPr>
          <a:xfrm>
            <a:off x="914400" y="1957735"/>
            <a:ext cx="10362895" cy="610810"/>
          </a:xfrm>
          <a:prstGeom prst="rect">
            <a:avLst/>
          </a:prstGeom>
        </p:spPr>
      </p:pic>
      <p:sp>
        <p:nvSpPr>
          <p:cNvPr id="6" name="Text 2"/>
          <p:cNvSpPr txBox="1"/>
          <p:nvPr/>
        </p:nvSpPr>
        <p:spPr>
          <a:xfrm>
            <a:off x="914400" y="2705705"/>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capability c decays at δ = 0.101 a year; hiring at $4m a point, at most ū = 10.13 a year; delay $32m a year; ρ = ln 1.1</a:t>
            </a:r>
            <a:endParaRPr lang="en-US" sz="1600" dirty="0"/>
          </a:p>
        </p:txBody>
      </p:sp>
      <p:sp>
        <p:nvSpPr>
          <p:cNvPr id="7" name="Bullets"/>
          <p:cNvSpPr txBox="1"/>
          <p:nvPr/>
        </p:nvSpPr>
        <p:spPr>
          <a:xfrm>
            <a:off x="914400" y="3300065"/>
            <a:ext cx="10362895" cy="2872135"/>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2:</a:t>
            </a:r>
            <a:r>
              <a:rPr lang="en-US" sz="1700" dirty="0">
                <a:solidFill>
                  <a:schemeClr val="bg1"/>
                </a:solidFill>
              </a:rPr>
              <a:t> hire at the cap if m &gt; 4, nothing if m &lt; 4, any rate if m = 4; off the floor the price grows at ρ + δ, 19.7 percent a year</a:t>
            </a:r>
            <a:endParaRPr lang="en-US" sz="1700" dirty="0"/>
          </a:p>
          <a:p>
            <a:pPr marL="228600" indent="-228600">
              <a:spcAft>
                <a:spcPts val="800"/>
              </a:spcAft>
              <a:buSzPct val="100000"/>
              <a:buChar char="•"/>
            </a:pPr>
            <a:r>
              <a:rPr lang="en-US" sz="1700" b="1" dirty="0">
                <a:solidFill>
                  <a:schemeClr val="bg1"/>
                </a:solidFill>
              </a:rPr>
              <a:t>Step 3:</a:t>
            </a:r>
            <a:r>
              <a:rPr lang="en-US" sz="1700" dirty="0">
                <a:solidFill>
                  <a:schemeClr val="bg1"/>
                </a:solidFill>
              </a:rPr>
              <a:t> on the floor pay the rent, δ × 55 = 5.57 points ($22.3m) a year; the price stays at $4m and the floor's price is the user cost, $0.79m a point a year</a:t>
            </a:r>
            <a:endParaRPr lang="en-US" sz="1700" dirty="0"/>
          </a:p>
          <a:p>
            <a:pPr marL="228600" indent="-228600">
              <a:spcAft>
                <a:spcPts val="800"/>
              </a:spcAft>
              <a:buSzPct val="100000"/>
              <a:buChar char="•"/>
            </a:pPr>
            <a:r>
              <a:rPr lang="en-US" sz="1700" dirty="0">
                <a:solidFill>
                  <a:schemeClr val="bg1"/>
                </a:solidFill>
              </a:rPr>
              <a:t>Paying the rent forever is worth −$233.8m</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6.1 · STEP 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Race to the floor or drift to it; then the rent</a:t>
            </a:r>
            <a:endParaRPr lang="en-US" sz="3200" dirty="0"/>
          </a:p>
        </p:txBody>
      </p:sp>
      <p:sp>
        <p:nvSpPr>
          <p:cNvPr id="5" name="Bullets"/>
          <p:cNvSpPr txBox="1"/>
          <p:nvPr/>
        </p:nvSpPr>
        <p:spPr>
          <a:xfrm>
            <a:off x="548640" y="1691640"/>
            <a:ext cx="458771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Team kept:</a:t>
            </a:r>
            <a:r>
              <a:rPr lang="en-US" sz="1500" dirty="0">
                <a:solidFill>
                  <a:schemeClr val="tx1"/>
                </a:solidFill>
              </a:rPr>
              <a:t> a point is worth $3.6m, below cost: hire nothing, drift to 55 in 2.1 quarters, pay the rent</a:t>
            </a:r>
            <a:endParaRPr lang="en-US" sz="1500" dirty="0"/>
          </a:p>
          <a:p>
            <a:pPr marL="228600" indent="-228600">
              <a:spcAft>
                <a:spcPts val="800"/>
              </a:spcAft>
              <a:buSzPct val="100000"/>
              <a:buChar char="•"/>
            </a:pPr>
            <a:r>
              <a:rPr lang="en-US" sz="1500" dirty="0">
                <a:solidFill>
                  <a:schemeClr val="tx1"/>
                </a:solidFill>
              </a:rPr>
              <a:t>Volume I's rent on 58 buys three points of margin the floor does not require, for </a:t>
            </a:r>
            <a:r>
              <a:rPr lang="en-US" sz="1500" b="1" dirty="0">
                <a:solidFill>
                  <a:schemeClr val="tx1"/>
                </a:solidFill>
              </a:rPr>
              <a:t>$24.1m</a:t>
            </a:r>
            <a:endParaRPr lang="en-US" sz="1500" dirty="0"/>
          </a:p>
          <a:p>
            <a:pPr marL="228600" indent="-228600">
              <a:spcAft>
                <a:spcPts val="800"/>
              </a:spcAft>
              <a:buSzPct val="100000"/>
              <a:buChar char="•"/>
            </a:pPr>
            <a:r>
              <a:rPr lang="en-US" sz="1500" b="1" dirty="0">
                <a:solidFill>
                  <a:schemeClr val="tx1"/>
                </a:solidFill>
              </a:rPr>
              <a:t>Team gone:</a:t>
            </a:r>
            <a:r>
              <a:rPr lang="en-US" sz="1500" dirty="0">
                <a:solidFill>
                  <a:schemeClr val="tx1"/>
                </a:solidFill>
              </a:rPr>
              <a:t> a point is worth $10.1m: race at the cap and reach 55 in 1.7 quarters</a:t>
            </a:r>
            <a:endParaRPr lang="en-US" sz="1500" dirty="0"/>
          </a:p>
          <a:p>
            <a:pPr marL="228600" indent="-228600">
              <a:spcAft>
                <a:spcPts val="800"/>
              </a:spcAft>
              <a:buSzPct val="100000"/>
              <a:buChar char="•"/>
            </a:pPr>
            <a:r>
              <a:rPr lang="en-US" sz="1500" dirty="0">
                <a:solidFill>
                  <a:schemeClr val="tx1"/>
                </a:solidFill>
              </a:rPr>
              <a:t>On arrival a point is worth </a:t>
            </a:r>
            <a:r>
              <a:rPr lang="en-US" sz="1500" b="1" dirty="0">
                <a:solidFill>
                  <a:schemeClr val="tx1"/>
                </a:solidFill>
              </a:rPr>
              <a:t>$11.0m</a:t>
            </a:r>
            <a:r>
              <a:rPr lang="en-US" sz="1500" dirty="0">
                <a:solidFill>
                  <a:schemeClr val="tx1"/>
                </a:solidFill>
              </a:rPr>
              <a:t>: its $4m cost plus $7.0m of delay saved, 0.22 years of it</a:t>
            </a:r>
            <a:endParaRPr lang="en-US" sz="1500" dirty="0"/>
          </a:p>
          <a:p>
            <a:pPr marL="228600" indent="-228600">
              <a:spcAft>
                <a:spcPts val="800"/>
              </a:spcAft>
              <a:buSzPct val="100000"/>
              <a:buChar char="•"/>
            </a:pPr>
            <a:r>
              <a:rPr lang="en-US" sz="1500" dirty="0">
                <a:solidFill>
                  <a:schemeClr val="tx1"/>
                </a:solidFill>
              </a:rPr>
              <a:t>Rebuilding to 58 first costs </a:t>
            </a:r>
            <a:r>
              <a:rPr lang="en-US" sz="1500" b="1" dirty="0">
                <a:solidFill>
                  <a:schemeClr val="tx1"/>
                </a:solidFill>
              </a:rPr>
              <a:t>$23.0m</a:t>
            </a:r>
            <a:r>
              <a:rPr lang="en-US" sz="1500" dirty="0">
                <a:solidFill>
                  <a:schemeClr val="tx1"/>
                </a:solidFill>
              </a:rPr>
              <a:t> more</a:t>
            </a:r>
            <a:endParaRPr lang="en-US" sz="1500" dirty="0"/>
          </a:p>
        </p:txBody>
      </p:sp>
      <p:pic>
        <p:nvPicPr>
          <p:cNvPr id="6" name="Figure" descr="Figure 6.3: capability and the price of a point under the best plans">    </p:cNvPr>
          <p:cNvPicPr>
            <a:picLocks noChangeAspect="1"/>
          </p:cNvPicPr>
          <p:nvPr/>
        </p:nvPicPr>
        <p:blipFill>
          <a:blip r:embed="rId1"/>
          <a:stretch>
            <a:fillRect/>
          </a:stretch>
        </p:blipFill>
        <p:spPr>
          <a:xfrm>
            <a:off x="5502119" y="2177190"/>
            <a:ext cx="6140937" cy="2942532"/>
          </a:xfrm>
          <a:prstGeom prst="rect">
            <a:avLst/>
          </a:prstGeom>
        </p:spPr>
      </p:pic>
      <p:sp>
        <p:nvSpPr>
          <p:cNvPr id="7" name="Caption"/>
          <p:cNvSpPr txBox="1"/>
          <p:nvPr/>
        </p:nvSpPr>
        <p:spPr>
          <a:xfrm>
            <a:off x="5502119" y="5192874"/>
            <a:ext cx="6140937" cy="502920"/>
          </a:xfrm>
          <a:prstGeom prst="rect">
            <a:avLst/>
          </a:prstGeom>
          <a:noFill/>
          <a:ln/>
        </p:spPr>
        <p:txBody>
          <a:bodyPr wrap="square" lIns="0" tIns="0" rIns="0" bIns="0" rtlCol="0" anchor="t"/>
          <a:lstStyle/>
          <a:p>
            <a:pPr indent="0" marL="0">
              <a:buNone/>
            </a:pPr>
            <a:r>
              <a:rPr lang="en-US" sz="1100" i="1" dirty="0">
                <a:solidFill>
                  <a:schemeClr val="tx2"/>
                </a:solidFill>
              </a:rPr>
              <a:t>Figure 6.3. (a) Capability under the best plans; dotted, Volume I's schedules, which hold 58. (b) The price of a point: above $4m hire at the cap, below it nothing, at it the rent.</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6.1 · TABLE 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best plans against Volume I's schedules</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402546"/>
                <a:gridCol w="2025171"/>
                <a:gridCol w="1320764"/>
                <a:gridCol w="1320764"/>
                <a:gridCol w="2025171"/>
              </a:tblGrid>
              <a:tr h="585216">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Plan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Build starts (quarters)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Hiring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Delay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Proceeds less costs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85216">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Team kept: drift to 55, pay the rent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222.4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−130.4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585216">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Team gone: race to 55, pay the rent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1.7</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241.4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13.5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−142.9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85216">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Volume I: team kept, hold 58</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246.5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−154.5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85216">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Volume I: team gone, rebuild to 58, hold it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1.7</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264.4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13.5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−165.9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475488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Present values at 10 percent over an open horizon, $ million. Proceeds: $92m with the team kept, $112m with it gone.</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team is worth $32.5m: $17.0m of hiring, $13.5m of delay and $2.0m because the rent starts later.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6.1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Price the stock, not the cash</a:t>
            </a:r>
            <a:endParaRPr lang="en-US" sz="3200" dirty="0"/>
          </a:p>
        </p:txBody>
      </p:sp>
      <p:sp>
        <p:nvSpPr>
          <p:cNvPr id="5" name="Stat card"/>
          <p:cNvSpPr/>
          <p:nvPr/>
        </p:nvSpPr>
        <p:spPr>
          <a:xfrm>
            <a:off x="548640" y="1691640"/>
            <a:ext cx="3515258" cy="1828800"/>
          </a:xfrm>
          <a:prstGeom prst="roundRect">
            <a:avLst>
              <a:gd name="adj" fmla="val 4000"/>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$10.1m</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a point of capability on the day the team leaves; the buyer charges $4m a point</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$32.5m</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the team's value: keep it at a $20m discount, and still at $30m</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$24m</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cost of holding 58 when the floor is 55: stop defending capability above it</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Step 6:</a:t>
            </a:r>
            <a:r>
              <a:rPr lang="en-US" sz="1700" dirty="0">
                <a:solidFill>
                  <a:schemeClr val="tx1"/>
                </a:solidFill>
              </a:rPr>
              <a:t> attrition of 6 to 11 percent a year, $28.4–35.2m; a cap of 2.0 a quarter, $42.3m; a quarter of delay at $4m or $16m, $25.8m or $46.0m</a:t>
            </a:r>
            <a:endParaRPr lang="en-US" sz="1700" dirty="0"/>
          </a:p>
          <a:p>
            <a:pPr marL="228600" indent="-228600">
              <a:spcAft>
                <a:spcPts val="800"/>
              </a:spcAft>
              <a:buSzPct val="100000"/>
              <a:buChar char="•"/>
            </a:pPr>
            <a:r>
              <a:rPr lang="en-US" sz="1700" dirty="0">
                <a:solidFill>
                  <a:schemeClr val="tx1"/>
                </a:solidFill>
              </a:rPr>
              <a:t>Five points of margin, a floor at 60: $48.5m, and $3.9m a year to hold. A $20m ask is below every figure; a $30m ask, below all but two</a:t>
            </a:r>
            <a:endParaRPr lang="en-US" sz="1700" dirty="0"/>
          </a:p>
          <a:p>
            <a:pPr marL="228600" indent="-228600">
              <a:spcAft>
                <a:spcPts val="800"/>
              </a:spcAft>
              <a:buSzPct val="100000"/>
              <a:buChar char="•"/>
            </a:pPr>
            <a:r>
              <a:rPr lang="en-US" sz="1700" dirty="0">
                <a:solidFill>
                  <a:schemeClr val="tx1"/>
                </a:solidFill>
              </a:rPr>
              <a:t>If the floor needs a margin because the survey is coarse, declare it and price it, at $0.79m a point a year, or tighten the survey</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2.6 · MODULE AXIOM-06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Steering a stock,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The sale of part of Industrial Systems is on the board's agenda: the chief financial officer wants the buyer's extra $20 million, and the chief human resources officer must plan the rebuild if the team goes. Open AXIOM, choose Lab 2.6 and load the Meridian capability instance.</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Simulate</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Volume I's schedules and the race-and-rent plan; compare capability paths and the build's start date.</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Read the Hamiltonian</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Plot it against the hiring rate, and the switching function m − 4 along each plan.</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 capability</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Compute the price of a point along each plan; check it by finite differences.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Solve</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By shooting, and by direct transcription on the AXIOM-04 solvers; cross-audit the two.</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Compare</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Vary attrition, the hiring cap, the value of a quarter of delay and the floor's margin; record the team's value.</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on the sale: the value of the team, the rebuild plan if it goes, the price of the floor and of a margin over it, and the declarations the answer depends on.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In continuous time the prices of Chapter 5 become costates, and the Hamiltonian—value earned now plus value banked in the stocks—is the one quantity a decision must maximize.</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stock's price is its marginal value: the present value of what one more unit earns, net of decay, a binding floor's price counted as earnings, and along a best plan the slope of the best value; its ratio to the replacement cost says whether to build.</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Every best plan maximizes the Hamiltonian at almost every moment, which repairs myopia; with a free end date and data that do not change with time, it stops when the value rate of continuing falls to the hurdle return on the terminal value.</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Rising costs give smooth plans, linear costs give bang-bang plans with switches, and over an open horizon maintained stocks are raced to the level where marginal earnings equal the user cost and held there; ends and floors carry prices.</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maximum principle is necessary; concavity makes it sufficient, and without concavity candidates must be compared or certified directly. Direct methods find plans, indirect conditions audit them.</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44</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49</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26206</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AXIOM-06, AXIOM-04</a:t>
            </a:r>
            <a:endParaRPr lang="en-US" sz="22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2.6</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DCT_V2_Ch06_Lab.ipynb: Worked Example 6.1 and the lab's five steps in nine panels, with Figure 6.2's capital problems,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DCT_V2_Ch06_Lab.xlsx: values and prices, shooting by bisection, the transcription's plan, the certificate and the declarations tested,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7</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7 values every position</a:t>
            </a:r>
            <a:endParaRPr lang="en-US" sz="3200" dirty="0"/>
          </a:p>
        </p:txBody>
      </p:sp>
      <p:pic>
        <p:nvPicPr>
          <p:cNvPr id="5" name="Equation" descr="Equation: V^{*}(x) \;=\; \max_{u \in U(x)} \Bigl\{ \ell(x,u) \;+\; \beta\, \mathrm{E}\bigl[ V^{*}\bigl(f(x,u,w)\bigr) \bigr] \Bigr\}">    </p:cNvPr>
          <p:cNvPicPr>
            <a:picLocks noChangeAspect="1"/>
          </p:cNvPicPr>
          <p:nvPr/>
        </p:nvPicPr>
        <p:blipFill>
          <a:blip r:embed="rId1"/>
          <a:stretch>
            <a:fillRect/>
          </a:stretch>
        </p:blipFill>
        <p:spPr>
          <a:xfrm>
            <a:off x="2710431" y="1691640"/>
            <a:ext cx="6770833" cy="868680"/>
          </a:xfrm>
          <a:prstGeom prst="rect">
            <a:avLst/>
          </a:prstGeom>
        </p:spPr>
      </p:pic>
      <p:sp>
        <p:nvSpPr>
          <p:cNvPr id="6" name="Bullets"/>
          <p:cNvSpPr txBox="1"/>
          <p:nvPr/>
        </p:nvSpPr>
        <p:spPr>
          <a:xfrm>
            <a:off x="548640" y="2880360"/>
            <a:ext cx="11094415" cy="32918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Theorem 6.1(iii) is the bridge: the costate is the slope of the best value along one plan</a:t>
            </a:r>
            <a:endParaRPr lang="en-US" sz="1800" dirty="0"/>
          </a:p>
          <a:p>
            <a:pPr marL="228600" indent="-228600">
              <a:spcAft>
                <a:spcPts val="800"/>
              </a:spcAft>
              <a:buSzPct val="100000"/>
              <a:buChar char="•"/>
            </a:pPr>
            <a:r>
              <a:rPr lang="en-US" sz="1800" dirty="0">
                <a:solidFill>
                  <a:schemeClr val="bg1"/>
                </a:solidFill>
              </a:rPr>
              <a:t>Dynamic programming computes the best value at every state, so its slope prices every position at once, and the maximum condition becomes a rule</a:t>
            </a:r>
            <a:endParaRPr lang="en-US" sz="1800" dirty="0"/>
          </a:p>
          <a:p>
            <a:pPr marL="228600" indent="-228600">
              <a:spcAft>
                <a:spcPts val="800"/>
              </a:spcAft>
              <a:buSzPct val="100000"/>
              <a:buChar char="•"/>
            </a:pPr>
            <a:r>
              <a:rPr lang="en-US" sz="1800" dirty="0">
                <a:solidFill>
                  <a:schemeClr val="bg1"/>
                </a:solidFill>
              </a:rPr>
              <a:t>Chapter 7 does it on a calendar, when capability does not move as planned; Chapter 8 in continuous time, the Hamilton–Jacobi–Bellman equation</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6: Optimal Control of Enterprise Systems</dc:title>
  <dc:subject>Slides for Volume II, Chapter 6 (V56)</dc:subject>
  <dc:creator>Samir Asaf</dc:creator>
  <cp:lastModifiedBy>Samir Asaf</cp:lastModifiedBy>
  <cp:revision>1</cp:revision>
  <dcterms:created xsi:type="dcterms:W3CDTF">2026-10-05T08:40:54Z</dcterms:created>
  <dcterms:modified xsi:type="dcterms:W3CDTF">2026-10-05T08:40:54Z</dcterms:modified>
</cp:coreProperties>
</file>