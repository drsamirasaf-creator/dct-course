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949b8536-4bc6-b721-9bdc-aa4f1667ad22}">
          <p14:sldIdLst>
            <p14:sldId id="256"/>
            <p14:sldId id="257"/>
            <p14:sldId id="258"/>
            <p14:sldId id="259"/>
          </p14:sldIdLst>
        </p14:section>
        <p14:section name="7.1 From Prices to Values" id="{3afb4301-db61-5aad-fd64-8a5d3a77535e}">
          <p14:sldIdLst>
            <p14:sldId id="260"/>
            <p14:sldId id="261"/>
            <p14:sldId id="262"/>
          </p14:sldIdLst>
        </p14:section>
        <p14:section name="7.2 The Bellman Equation" id="{1eba0348-a719-5115-944c-cdb17f756081}">
          <p14:sldIdLst>
            <p14:sldId id="263"/>
            <p14:sldId id="264"/>
            <p14:sldId id="265"/>
          </p14:sldIdLst>
        </p14:section>
        <p14:section name="7.3 Thresholds and Targets" id="{8a351ba3-aa8e-5c97-1ef8-3727791e8be1}">
          <p14:sldIdLst>
            <p14:sldId id="266"/>
          </p14:sldIdLst>
        </p14:section>
        <p14:section name="7.4 Plans, Re-plans, and Rules" id="{5cdfb403-867b-133f-ef70-42cceaa4d7d3}">
          <p14:sldIdLst>
            <p14:sldId id="267"/>
          </p14:sldIdLst>
        </p14:section>
        <p14:section name="7.5 Computing Values and Rules" id="{590ea794-bbb8-05ac-0eed-c994ac5d619f}">
          <p14:sldIdLst>
            <p14:sldId id="268"/>
            <p14:sldId id="269"/>
          </p14:sldIdLst>
        </p14:section>
        <p14:section name="Worked Example 7.1" id="{89efab5e-c2b7-052d-63f2-ee772052a626}">
          <p14:sldIdLst>
            <p14:sldId id="270"/>
            <p14:sldId id="271"/>
            <p14:sldId id="272"/>
            <p14:sldId id="273"/>
            <p14:sldId id="274"/>
          </p14:sldIdLst>
        </p14:section>
        <p14:section name="In Practice" id="{0a3f6532-4ff3-bb1f-04aa-bbeaffec57a1}">
          <p14:sldIdLst>
            <p14:sldId id="275"/>
          </p14:sldIdLst>
        </p14:section>
        <p14:section name="AXIOM Lab 2.7" id="{e81ccdb4-0963-e982-cce7-7d1ece4b02e3}">
          <p14:sldIdLst>
            <p14:sldId id="276"/>
          </p14:sldIdLst>
        </p14:section>
        <p14:section name="Close" id="{d463dc0f-3372-910a-9458-4e2ba3ce1a4a}">
          <p14:sldIdLst>
            <p14:sldId id="277"/>
            <p14:sldId id="278"/>
            <p14:sldId id="2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F1E3D"/>
                </a:solidFill>
                <a:latin typeface="+mn-lt"/>
              </a:defRPr>
            </a:pPr>
            <a:r>
              <a:rPr sz="1400" b="0" i="0" u="none" strike="noStrike">
                <a:solidFill>
                  <a:srgbClr val="0F1E3D"/>
                </a:solidFill>
                <a:latin typeface="+mn-lt"/>
              </a:rPr>
              <a:t>The engineering office's record: capability against plan at a quarter's end</a:t>
            </a:r>
          </a:p>
        </c:rich>
      </c:tx>
      <c:layout/>
      <c:overlay val="0"/>
    </c:title>
    <c:autoTitleDeleted val="0"/>
    <c:plotArea>
      <c:layout/>
      <c:barChart>
        <c:barDir val="col"/>
        <c:grouping val="clustered"/>
        <c:varyColors val="0"/>
        <c:ser>
          <c:idx val="0"/>
          <c:order val="0"/>
          <c:tx>
            <c:strRef>
              <c:f>Sheet1!$B$1</c:f>
              <c:strCache>
                <c:ptCount val="1"/>
                <c:pt idx="0">
                  <c:v>Share of quarters</c:v>
                </c:pt>
              </c:strCache>
            </c:strRef>
          </c:tx>
          <c:spPr>
            <a:solidFill>
              <a:srgbClr val="2F6F6B"/>
            </a:solidFill>
            <a:effectLst/>
          </c:spPr>
          <c:invertIfNegative val="0"/>
          <c:dLbls>
            <c:numFmt formatCode="0%" sourceLinked="0"/>
            <c:txPr>
              <a:bodyPr/>
              <a:lstStyle/>
              <a:p>
                <a:pPr>
                  <a:defRPr b="0" i="0" strike="noStrike" sz="1300" u="none">
                    <a:solidFill>
                      <a:srgbClr val="0F1E3D"/>
                    </a:solidFill>
                    <a:latin typeface="+mn-lt"/>
                  </a:defRPr>
                </a:pPr>
              </a:p>
            </c:txPr>
            <c:showLegendKey val="0"/>
            <c:showVal val="1"/>
            <c:showCatName val="0"/>
            <c:showSerName val="0"/>
            <c:showPercent val="0"/>
            <c:showBubbleSize val="0"/>
            <c:showLeaderLines val="0"/>
          </c:dLbls>
          <c:cat>
            <c:multiLvlStrRef>
              <c:f>Sheet1!$A$2:$A$6</c:f>
              <c:multiLvlStrCache>
                <c:ptCount val="5"/>
                <c:lvl>
                  <c:pt idx="0">
                    <c:v>1.5 below</c:v>
                  </c:pt>
                  <c:pt idx="1">
                    <c:v>0.75 below</c:v>
                  </c:pt>
                  <c:pt idx="2">
                    <c:v>as planned</c:v>
                  </c:pt>
                  <c:pt idx="3">
                    <c:v>0.75 above</c:v>
                  </c:pt>
                  <c:pt idx="4">
                    <c:v>1.5 above</c:v>
                  </c:pt>
                </c:lvl>
              </c:multiLvlStrCache>
            </c:multiLvlStrRef>
          </c:cat>
          <c:val>
            <c:numRef>
              <c:f>Sheet1!$B$2:$B$6</c:f>
              <c:numCache>
                <c:formatCode>General</c:formatCode>
                <c:ptCount val="5"/>
                <c:pt idx="0">
                  <c:v>0.05</c:v>
                </c:pt>
                <c:pt idx="1">
                  <c:v>0.2</c:v>
                </c:pt>
                <c:pt idx="2">
                  <c:v>0.5</c:v>
                </c:pt>
                <c:pt idx="3">
                  <c:v>0.2</c:v>
                </c:pt>
                <c:pt idx="4">
                  <c:v>0.05</c:v>
                </c:pt>
              </c:numCache>
            </c:numRef>
          </c:val>
        </c:ser>
        <c:dLbls>
          <c:numFmt formatCode="0%" sourceLinked="0"/>
          <c:txPr>
            <a:bodyPr/>
            <a:lstStyle/>
            <a:p>
              <a:pPr>
                <a:defRPr b="0" i="0" strike="noStrike" sz="1300" u="none">
                  <a:solidFill>
                    <a:srgbClr val="0F1E3D"/>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5A6B82"/>
                </a:solidFill>
                <a:latin typeface="+mn-lt"/>
              </a:defRPr>
            </a:pPr>
            <a:endParaRPr lang="en-US"/>
          </a:p>
        </c:txPr>
        <c:crossAx val="2094734552"/>
        <c:crosses val="autoZero"/>
        <c:auto val="1"/>
        <c:lblAlgn val="ctr"/>
        <c:noMultiLvlLbl val="1"/>
      </c:catAx>
      <c:valAx>
        <c:axId val="2094734552"/>
        <c:scaling>
          <c:orientation val="minMax"/>
          <c:max val="0.6"/>
        </c:scaling>
        <c:delete val="0"/>
        <c:axPos val="l"/>
        <c:majorGridlines>
          <c:spPr>
            <a:ln w="6350" cap="flat">
              <a:solidFill>
                <a:srgbClr val="E3E7EE"/>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A6B82"/>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Volume II, Chapter 7. Chapters 5 and 6 priced every stock along a plan; this chapter values every position and turns a plan into a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Arrow needed forecasts for planning although they were no good. A rule needs no forecast of the path, only the position the company is in and a declared law of what may happen next (Section 7.1).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five learning outcome statements; LOS Guidance at the end of the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Formal statements and proofs of Theorems 7.1-7.3 are in Appendix 7.A; Propositions 7.1-7.3 in Online Appendix 7.B.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 7.1. With a single event of probability one, a dynamic program is Chapter 5's instance in recursive form. The state must carry everything a rule needs to know.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7.1. Read it row by row: what is computed, how stocks and lumps are priced, how outside events are handled, the optimality condition, the certificate, and what limits each approach.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7.1's Meridian box and Worked Example 7.1, Step 1. The departures are beyond normal attrition: hires who start late or 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 7.2. Look one period ahead: if the value of every position were known, the best decision now would earn the most now plus the discounted expected value of where it leads. Bellman's insight is that the value of a position is exactly that best.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Theorem 7.1; formal statement and proof in Appendix 7.A. Chapter 5's war-chest rule, which recomputed each year what the rest of the program needed, was a rule of this kind.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Proposition 7.1; proof in Online Appendix 7.B. Pricing the team at the price at 53 would overstate it by half.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Theorem 7.2; formal statement and proof in Appendix 7.A. A fixed cost of acting gives an (s, S) rule instead (Scarf). Part (iii)'s condition fails in Meridian's extreme quarters; the recursion certifies the target.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Proposition 7.2; proof and the real-option example in Online Appendix 7.B. The difference for the project is the value of waiting to learn, the heart of real-options analysis.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7.2 and Proposition 7.3. All methods rest on Theorem 7.1; they differ in what they compute and in what they promise.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Theorem 7.3; formal statement and proof in Appendix 7.A. An approximation must be able to take the shape of the value, here the kink the declaration puts at the floor.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7.1, the situation. The engineering office's record and the transformation office's declaration of the reduced-pace delay.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7.1, Steps 1-3. Capability is modeled between 30 and 80; the rules come near neither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7.3. Chapter 6's answer run as a rule leaves capability short in 27.5 percent of quarters; the margin adds $5.9m of hiring and saves $12.5m of delay.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7.1, Steps 5 and 6. A margin that guards against the survey's whole error costs five more planned points, $3.8m a year: a sharper survey is worth up to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7.1, what the board should take away, and the discussion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Practice, Chapter 7: American Airlines Prices Its Last Seat. A real organization's decision of this chapter's kind, told from its published record; every figure is cited in the book. The lesson for Meridian: A margin above a floor is sized like a protection level: by a critical ratio. Sources: Smith, Leimkuhler and Darrow (1992), Interfaces; McGill and van Ryzin (1999); Talluri et al. (2008); INFORMS; Cross (1997).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AXIOM Lab 2.7. What to look for: values that converge from any start; prices that fall as capability grows; a target rule with a margin; error bounds that hold; a recursion that approaches Chapter 6's solution as the period shrinks.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Takeaways, Chapter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notebook and workbook are on the course website, www.dynamiccorporatetransformation.com.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7.5's bridge to Chapter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CT Title">
    <p:bg>
      <p:bgPr>
        <a:solidFill>
          <a:srgbClr val="0F1E3D"/>
        </a:solidFill>
      </p:bgPr>
    </p:bg>
    <p:spTree>
      <p:nvGrpSpPr>
        <p:cNvPr id="1" name=""/>
        <p:cNvGrpSpPr/>
        <p:nvPr/>
      </p:nvGrpSpPr>
      <p:grpSpPr>
        <a:xfrm>
          <a:off x="0" y="0"/>
          <a:ext cx="0" cy="0"/>
          <a:chOff x="0" y="0"/>
          <a:chExt cx="0" cy="0"/>
        </a:xfrm>
      </p:grpSpPr>
      <p:pic>
        <p:nvPicPr>
          <p:cNvPr id="2" name="Image 0" descr="/home/claude/pixel-perfect-show-8533/public/brand/dct-logo-dark.png">    </p:cNvPr>
          <p:cNvPicPr>
            <a:picLocks noChangeAspect="1"/>
          </p:cNvPicPr>
          <p:nvPr/>
        </p:nvPicPr>
        <p:blipFill>
          <a:blip r:embed="rId1"/>
          <a:stretch>
            <a:fillRect/>
          </a:stretch>
        </p:blipFill>
        <p:spPr>
          <a:xfrm>
            <a:off x="731520" y="640080"/>
            <a:ext cx="4389120" cy="363931"/>
          </a:xfrm>
          <a:prstGeom prst="rect">
            <a:avLst/>
          </a:prstGeom>
        </p:spPr>
      </p:pic>
      <p:sp>
        <p:nvSpPr>
          <p:cNvPr id="3" name="Text 0"/>
          <p:cNvSpPr/>
          <p:nvPr>
            <p:ph idx="101" type="body" hasCustomPrompt="1"/>
          </p:nvPr>
        </p:nvSpPr>
        <p:spPr>
          <a:xfrm>
            <a:off x="731520" y="1874520"/>
            <a:ext cx="10607040" cy="411480"/>
          </a:xfrm>
          <a:prstGeom prst="rect">
            <a:avLst/>
          </a:prstGeom>
          <a:noFill/>
          <a:ln/>
        </p:spPr>
        <p:txBody>
          <a:bodyPr wrap="square" rtlCol="0"/>
          <a:lstStyle>
            <a:lvl1pPr indent="0" marL="0">
              <a:buNone/>
              <a:defRPr lang="en-US" sz="1500" b="1" spc="300" kern="0" dirty="0">
                <a:solidFill>
                  <a:schemeClr val="accent1"/>
                </a:solidFill>
              </a:defRPr>
            </a:lvl1pPr>
          </a:lstStyle>
          <a:p>
            <a:pPr indent="0" marL="0">
              <a:buNone/>
            </a:pPr>
            <a:endParaRPr lang="en-US" sz="1500" dirty="0"/>
          </a:p>
        </p:txBody>
      </p:sp>
      <p:sp>
        <p:nvSpPr>
          <p:cNvPr id="4" name="Text 0"/>
          <p:cNvSpPr/>
          <p:nvPr>
            <p:ph idx="102" type="title" hasCustomPrompt="1"/>
          </p:nvPr>
        </p:nvSpPr>
        <p:spPr>
          <a:xfrm>
            <a:off x="731520" y="2331720"/>
            <a:ext cx="10607040" cy="1737360"/>
          </a:xfrm>
          <a:prstGeom prst="rect">
            <a:avLst/>
          </a:prstGeom>
          <a:noFill/>
          <a:ln/>
        </p:spPr>
        <p:txBody>
          <a:bodyPr wrap="square" rtlCol="0"/>
          <a:lstStyle>
            <a:lvl1pPr algn="l" indent="0" marL="0">
              <a:buNone/>
              <a:defRPr lang="en-US" sz="44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5" name="Text 0"/>
          <p:cNvSpPr/>
          <p:nvPr>
            <p:ph idx="103" type="body" hasCustomPrompt="1"/>
          </p:nvPr>
        </p:nvSpPr>
        <p:spPr>
          <a:xfrm>
            <a:off x="731520" y="4160520"/>
            <a:ext cx="10241280" cy="914400"/>
          </a:xfrm>
          <a:prstGeom prst="rect">
            <a:avLst/>
          </a:prstGeom>
          <a:noFill/>
          <a:ln/>
        </p:spPr>
        <p:txBody>
          <a:bodyPr wrap="square" rtlCol="0"/>
          <a:lstStyle>
            <a:lvl1pPr indent="0" marL="0">
              <a:buNone/>
              <a:defRPr lang="en-US" sz="2000" dirty="0">
                <a:solidFill>
                  <a:schemeClr val="bg2"/>
                </a:solidFill>
              </a:defRPr>
            </a:lvl1pPr>
          </a:lstStyle>
          <a:p>
            <a:pPr indent="0" marL="0">
              <a:buNone/>
            </a:pPr>
            <a:endParaRPr lang="en-US" sz="2000" dirty="0"/>
          </a:p>
        </p:txBody>
      </p:sp>
      <p:sp>
        <p:nvSpPr>
          <p:cNvPr id="6" name="Text 0"/>
          <p:cNvSpPr/>
          <p:nvPr>
            <p:ph idx="104" type="body" hasCustomPrompt="1"/>
          </p:nvPr>
        </p:nvSpPr>
        <p:spPr>
          <a:xfrm>
            <a:off x="731520" y="5897880"/>
            <a:ext cx="10607040" cy="365760"/>
          </a:xfrm>
          <a:prstGeom prst="rect">
            <a:avLst/>
          </a:prstGeom>
          <a:noFill/>
          <a:ln/>
        </p:spPr>
        <p:txBody>
          <a:bodyPr wrap="square" rtlCol="0"/>
          <a:lstStyle>
            <a:lvl1pPr indent="0" marL="0">
              <a:buNone/>
              <a:defRPr lang="en-US" sz="1200" dirty="0">
                <a:solidFill>
                  <a:schemeClr val="accent4"/>
                </a:solidFill>
              </a:defRPr>
            </a:lvl1pPr>
          </a:lstStyle>
          <a:p>
            <a:pPr indent="0" marL="0">
              <a:buNone/>
            </a:pP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CT Quote">
    <p:bg>
      <p:bgPr>
        <a:solidFill>
          <a:srgbClr val="0F1E3D"/>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1280160" y="1371600"/>
            <a:ext cx="9601200" cy="3017520"/>
          </a:xfrm>
          <a:prstGeom prst="rect">
            <a:avLst/>
          </a:prstGeom>
          <a:noFill/>
          <a:ln/>
        </p:spPr>
        <p:txBody>
          <a:bodyPr wrap="square" rtlCol="0"/>
          <a:lstStyle>
            <a:lvl1pPr indent="0" marL="0">
              <a:buNone/>
              <a:defRPr lang="en-US" sz="3000" i="1" dirty="0">
                <a:solidFill>
                  <a:schemeClr val="bg1"/>
                </a:solidFill>
                <a:latin typeface="Cambria" pitchFamily="34" charset="0"/>
                <a:ea typeface="Cambria" pitchFamily="34" charset="-122"/>
                <a:cs typeface="Cambria" pitchFamily="34" charset="-120"/>
              </a:defRPr>
            </a:lvl1pPr>
          </a:lstStyle>
          <a:p>
            <a:pPr indent="0" marL="0">
              <a:buNone/>
            </a:pPr>
            <a:endParaRPr lang="en-US" sz="3000" dirty="0"/>
          </a:p>
        </p:txBody>
      </p:sp>
      <p:sp>
        <p:nvSpPr>
          <p:cNvPr id="3" name="Text 0"/>
          <p:cNvSpPr/>
          <p:nvPr>
            <p:ph idx="101" type="body" hasCustomPrompt="1"/>
          </p:nvPr>
        </p:nvSpPr>
        <p:spPr>
          <a:xfrm>
            <a:off x="1280160" y="4617720"/>
            <a:ext cx="9601200" cy="457200"/>
          </a:xfrm>
          <a:prstGeom prst="rect">
            <a:avLst/>
          </a:prstGeom>
          <a:noFill/>
          <a:ln/>
        </p:spPr>
        <p:txBody>
          <a:bodyPr wrap="square" rtlCol="0"/>
          <a:lstStyle>
            <a:lvl1pPr indent="0" marL="0">
              <a:buNone/>
              <a:defRPr lang="en-US" sz="1800" b="1" dirty="0">
                <a:solidFill>
                  <a:schemeClr val="accent1"/>
                </a:solidFill>
              </a:defRPr>
            </a:lvl1pPr>
          </a:lstStyle>
          <a:p>
            <a:pPr indent="0" marL="0">
              <a:buNone/>
            </a:pPr>
            <a:endParaRPr lang="en-US" sz="1800" dirty="0"/>
          </a:p>
        </p:txBody>
      </p:sp>
      <p:sp>
        <p:nvSpPr>
          <p:cNvPr id="4" name="Text 0"/>
          <p:cNvSpPr/>
          <p:nvPr>
            <p:ph idx="102" type="body" hasCustomPrompt="1"/>
          </p:nvPr>
        </p:nvSpPr>
        <p:spPr>
          <a:xfrm>
            <a:off x="1280160" y="5074920"/>
            <a:ext cx="9601200" cy="731520"/>
          </a:xfrm>
          <a:prstGeom prst="rect">
            <a:avLst/>
          </a:prstGeom>
          <a:noFill/>
          <a:ln/>
        </p:spPr>
        <p:txBody>
          <a:bodyPr wrap="square" rtlCol="0"/>
          <a:lstStyle>
            <a:lvl1pPr indent="0" marL="0">
              <a:buNone/>
              <a:defRPr lang="en-US" sz="1400" dirty="0">
                <a:solidFill>
                  <a:schemeClr val="accent4"/>
                </a:solidFill>
              </a:defRPr>
            </a:lvl1pPr>
          </a:lstStyle>
          <a:p>
            <a:pPr indent="0" marL="0">
              <a:buNone/>
            </a:pPr>
            <a:endParaRPr lang="en-US" sz="14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CT Content">
    <p:bg>
      <p:bgPr>
        <a:solidFill>
          <a:srgbClr val="FFFFFF"/>
        </a:solidFill>
      </p:bgPr>
    </p:bg>
    <p:spTree>
      <p:nvGrpSpPr>
        <p:cNvPr id="1" name=""/>
        <p:cNvGrpSpPr/>
        <p:nvPr/>
      </p:nvGrpSpPr>
      <p:grpSpPr>
        <a:xfrm>
          <a:off x="0" y="0"/>
          <a:ext cx="0" cy="0"/>
          <a:chOff x="0" y="0"/>
          <a:chExt cx="0" cy="0"/>
        </a:xfrm>
      </p:grpSpPr>
      <p:pic>
        <p:nvPicPr>
          <p:cNvPr id="2" name="Image 0" descr="/home/claude/pixel-perfect-show-8533/public/brand/dct-mark.png">    </p:cNvPr>
          <p:cNvPicPr>
            <a:picLocks noChangeAspect="1"/>
          </p:cNvPicPr>
          <p:nvPr/>
        </p:nvPicPr>
        <p:blipFill>
          <a:blip r:embed="rId1"/>
          <a:stretch>
            <a:fillRect/>
          </a:stretch>
        </p:blipFill>
        <p:spPr>
          <a:xfrm>
            <a:off x="548640" y="6391656"/>
            <a:ext cx="155448" cy="188390"/>
          </a:xfrm>
          <a:prstGeom prst="rect">
            <a:avLst/>
          </a:prstGeom>
        </p:spPr>
      </p:pic>
      <p:sp>
        <p:nvSpPr>
          <p:cNvPr id="3" name="Text 0"/>
          <p:cNvSpPr/>
          <p:nvPr/>
        </p:nvSpPr>
        <p:spPr>
          <a:xfrm>
            <a:off x="822960" y="6382512"/>
            <a:ext cx="8686800" cy="237744"/>
          </a:xfrm>
          <a:prstGeom prst="rect">
            <a:avLst/>
          </a:prstGeom>
          <a:noFill/>
          <a:ln/>
        </p:spPr>
        <p:txBody>
          <a:bodyPr wrap="square" lIns="0" tIns="0" rIns="0" bIns="0" rtlCol="0" anchor="ctr"/>
          <a:lstStyle/>
          <a:p>
            <a:pPr indent="0" marL="0">
              <a:buNone/>
            </a:pPr>
            <a:r>
              <a:rPr lang="en-US" sz="1000" dirty="0">
                <a:solidFill>
                  <a:schemeClr val="tx2"/>
                </a:solidFill>
              </a:rPr>
              <a:t>Dynamic Corporate Transformation · Volume II · Chapter 7</a:t>
            </a:r>
            <a:endParaRPr lang="en-US" sz="1000" dirty="0"/>
          </a:p>
        </p:txBody>
      </p:sp>
      <p:sp>
        <p:nvSpPr>
          <p:cNvPr id="4" name="Text 1"/>
          <p:cNvSpPr/>
          <p:nvPr>
            <p:ph idx="102" type="body" hasCustomPrompt="1"/>
          </p:nvPr>
        </p:nvSpPr>
        <p:spPr>
          <a:xfrm>
            <a:off x="548640" y="347472"/>
            <a:ext cx="11094415" cy="292608"/>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5" name="Text 1"/>
          <p:cNvSpPr/>
          <p:nvPr>
            <p:ph idx="103" type="title" hasCustomPrompt="1"/>
          </p:nvPr>
        </p:nvSpPr>
        <p:spPr>
          <a:xfrm>
            <a:off x="548640" y="658368"/>
            <a:ext cx="11094415" cy="868680"/>
          </a:xfrm>
          <a:prstGeom prst="rect">
            <a:avLst/>
          </a:prstGeom>
          <a:noFill/>
          <a:ln/>
        </p:spPr>
        <p:txBody>
          <a:bodyPr wrap="square" rtlCol="0"/>
          <a:lstStyle>
            <a:lvl1pPr algn="l" indent="0" marL="0">
              <a:buNone/>
              <a:defRPr lang="en-US" sz="32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DCT Dark Content">
    <p:bg>
      <p:bgPr>
        <a:solidFill>
          <a:srgbClr val="0F1E3D"/>
        </a:solidFill>
      </p:bgPr>
    </p:bg>
    <p:spTree>
      <p:nvGrpSpPr>
        <p:cNvPr id="1" name=""/>
        <p:cNvGrpSpPr/>
        <p:nvPr/>
      </p:nvGrpSpPr>
      <p:grpSpPr>
        <a:xfrm>
          <a:off x="0" y="0"/>
          <a:ext cx="0" cy="0"/>
          <a:chOff x="0" y="0"/>
          <a:chExt cx="0" cy="0"/>
        </a:xfrm>
      </p:grpSpPr>
      <p:pic>
        <p:nvPicPr>
          <p:cNvPr id="2" name="Image 0" descr="/home/claude/pixel-perfect-show-8533/public/brand/dct-mark-dark.png">    </p:cNvPr>
          <p:cNvPicPr>
            <a:picLocks noChangeAspect="1"/>
          </p:cNvPicPr>
          <p:nvPr/>
        </p:nvPicPr>
        <p:blipFill>
          <a:blip r:embed="rId1"/>
          <a:stretch>
            <a:fillRect/>
          </a:stretch>
        </p:blipFill>
        <p:spPr>
          <a:xfrm>
            <a:off x="548640" y="6391656"/>
            <a:ext cx="155448" cy="188390"/>
          </a:xfrm>
          <a:prstGeom prst="rect">
            <a:avLst/>
          </a:prstGeom>
        </p:spPr>
      </p:pic>
      <p:sp>
        <p:nvSpPr>
          <p:cNvPr id="3" name="Text 0"/>
          <p:cNvSpPr/>
          <p:nvPr/>
        </p:nvSpPr>
        <p:spPr>
          <a:xfrm>
            <a:off x="822960" y="6382512"/>
            <a:ext cx="8686800" cy="237744"/>
          </a:xfrm>
          <a:prstGeom prst="rect">
            <a:avLst/>
          </a:prstGeom>
          <a:noFill/>
          <a:ln/>
        </p:spPr>
        <p:txBody>
          <a:bodyPr wrap="square" lIns="0" tIns="0" rIns="0" bIns="0" rtlCol="0" anchor="ctr"/>
          <a:lstStyle/>
          <a:p>
            <a:pPr indent="0" marL="0">
              <a:buNone/>
            </a:pPr>
            <a:r>
              <a:rPr lang="en-US" sz="1000" dirty="0">
                <a:solidFill>
                  <a:schemeClr val="accent4"/>
                </a:solidFill>
              </a:rPr>
              <a:t>Dynamic Corporate Transformation · Volume II · Chapter 7</a:t>
            </a:r>
            <a:endParaRPr lang="en-US" sz="1000" dirty="0"/>
          </a:p>
        </p:txBody>
      </p:sp>
      <p:sp>
        <p:nvSpPr>
          <p:cNvPr id="4" name="Text 1"/>
          <p:cNvSpPr/>
          <p:nvPr>
            <p:ph idx="102" type="body" hasCustomPrompt="1"/>
          </p:nvPr>
        </p:nvSpPr>
        <p:spPr>
          <a:xfrm>
            <a:off x="548640" y="347472"/>
            <a:ext cx="11094415" cy="292608"/>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5" name="Text 1"/>
          <p:cNvSpPr/>
          <p:nvPr>
            <p:ph idx="103" type="title" hasCustomPrompt="1"/>
          </p:nvPr>
        </p:nvSpPr>
        <p:spPr>
          <a:xfrm>
            <a:off x="548640" y="658368"/>
            <a:ext cx="11094415" cy="868680"/>
          </a:xfrm>
          <a:prstGeom prst="rect">
            <a:avLst/>
          </a:prstGeom>
          <a:noFill/>
          <a:ln/>
        </p:spPr>
        <p:txBody>
          <a:bodyPr wrap="square" rtlCol="0"/>
          <a:lstStyle>
            <a:lvl1pPr algn="l" indent="0" marL="0">
              <a:buNone/>
              <a:defRPr lang="en-US" sz="32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C4CBD8"/>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5.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4.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5.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4.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4.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5.xml"/><Relationship Id="rId3"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p:nvPr>
            <p:ph idx="101" type="body" hasCustomPrompt="1"/>
          </p:nvPr>
        </p:nvSpPr>
        <p:spPr>
          <a:xfrm>
            <a:off x="731520" y="1874520"/>
            <a:ext cx="10607040" cy="411480"/>
          </a:xfrm>
          <a:prstGeom prst="rect">
            <a:avLst/>
          </a:prstGeom>
          <a:noFill/>
          <a:ln/>
        </p:spPr>
        <p:txBody>
          <a:bodyPr wrap="square" lIns="0" tIns="0" rIns="0" bIns="0" rtlCol="0"/>
          <a:lstStyle/>
          <a:p>
            <a:pPr indent="0" marL="0">
              <a:buNone/>
            </a:pPr>
            <a:r>
              <a:rPr lang="en-US" sz="1500" b="1" spc="300" kern="0" dirty="0">
                <a:solidFill>
                  <a:schemeClr val="accent1"/>
                </a:solidFill>
              </a:rPr>
              <a:t>VOLUME II · CHAPTER 7 · WEEK 11</a:t>
            </a:r>
            <a:endParaRPr lang="en-US" sz="1500" dirty="0"/>
          </a:p>
        </p:txBody>
      </p:sp>
      <p:sp>
        <p:nvSpPr>
          <p:cNvPr id="4" name="Text 0"/>
          <p:cNvSpPr/>
          <p:nvPr>
            <p:ph idx="102" type="title" hasCustomPrompt="1"/>
          </p:nvPr>
        </p:nvSpPr>
        <p:spPr>
          <a:xfrm>
            <a:off x="731520" y="2331720"/>
            <a:ext cx="10607040" cy="1737360"/>
          </a:xfrm>
          <a:prstGeom prst="rect">
            <a:avLst/>
          </a:prstGeom>
          <a:noFill/>
          <a:ln/>
        </p:spPr>
        <p:txBody>
          <a:bodyPr wrap="square" lIns="0" tIns="0" rIns="0" bIns="0" rtlCol="0" anchor="t"/>
          <a:lstStyle/>
          <a:p>
            <a:pPr algn="l" indent="0" marL="0">
              <a:buNone/>
            </a:pPr>
            <a:r>
              <a:rPr lang="en-US" sz="4400" b="1" dirty="0">
                <a:solidFill>
                  <a:schemeClr val="bg1"/>
                </a:solidFill>
                <a:latin typeface="Cambria" pitchFamily="34" charset="0"/>
                <a:ea typeface="Cambria" pitchFamily="34" charset="-122"/>
                <a:cs typeface="Cambria" pitchFamily="34" charset="-120"/>
              </a:rPr>
              <a:t>Dynamic Programming for Enterprise Systems</a:t>
            </a:r>
            <a:endParaRPr lang="en-US" sz="4400" dirty="0"/>
          </a:p>
        </p:txBody>
      </p:sp>
      <p:sp>
        <p:nvSpPr>
          <p:cNvPr id="5" name="Text 0"/>
          <p:cNvSpPr/>
          <p:nvPr>
            <p:ph idx="103" type="body" hasCustomPrompt="1"/>
          </p:nvPr>
        </p:nvSpPr>
        <p:spPr>
          <a:xfrm>
            <a:off x="731520" y="4160520"/>
            <a:ext cx="10241280" cy="914400"/>
          </a:xfrm>
          <a:prstGeom prst="rect">
            <a:avLst/>
          </a:prstGeom>
          <a:noFill/>
          <a:ln/>
        </p:spPr>
        <p:txBody>
          <a:bodyPr wrap="square" lIns="0" tIns="0" rIns="0" bIns="0" rtlCol="0" anchor="t"/>
          <a:lstStyle/>
          <a:p>
            <a:pPr indent="0" marL="0">
              <a:buNone/>
            </a:pPr>
            <a:r>
              <a:rPr lang="en-US" sz="2000" dirty="0">
                <a:solidFill>
                  <a:schemeClr val="bg2"/>
                </a:solidFill>
              </a:rPr>
              <a:t>Value every position the company could reach, and let the best decisions form a rule that responds to what happens</a:t>
            </a:r>
            <a:endParaRPr lang="en-US" sz="2000" dirty="0"/>
          </a:p>
        </p:txBody>
      </p:sp>
      <p:sp>
        <p:nvSpPr>
          <p:cNvPr id="6" name="Text 0"/>
          <p:cNvSpPr/>
          <p:nvPr>
            <p:ph idx="104" type="body" hasCustomPrompt="1"/>
          </p:nvPr>
        </p:nvSpPr>
        <p:spPr>
          <a:xfrm>
            <a:off x="731520" y="5897880"/>
            <a:ext cx="10607040" cy="365760"/>
          </a:xfrm>
          <a:prstGeom prst="rect">
            <a:avLst/>
          </a:prstGeom>
          <a:noFill/>
          <a:ln/>
        </p:spPr>
        <p:txBody>
          <a:bodyPr wrap="square" lIns="0" tIns="0" rIns="0" bIns="0" rtlCol="0"/>
          <a:lstStyle/>
          <a:p>
            <a:pPr indent="0" marL="0">
              <a:buNone/>
            </a:pPr>
            <a:r>
              <a:rPr lang="en-US" sz="1200" dirty="0">
                <a:solidFill>
                  <a:schemeClr val="accent4"/>
                </a:solidFill>
              </a:rPr>
              <a:t>Graduate course companion · Lab seed 26207 · AXIOM Lab 2.7 (AXIOM-07)</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0"/>
          <p:cNvSpPr/>
          <p:nvPr>
            <p:ph idx="100" type="body" hasCustomPrompt="1"/>
          </p:nvPr>
        </p:nvSpPr>
        <p:spPr>
          <a:xfrm>
            <a:off x="1280160" y="1371600"/>
            <a:ext cx="9601200" cy="3017520"/>
          </a:xfrm>
          <a:prstGeom prst="rect">
            <a:avLst/>
          </a:prstGeom>
          <a:noFill/>
          <a:ln/>
        </p:spPr>
        <p:txBody>
          <a:bodyPr wrap="square" lIns="0" tIns="0" rIns="0" bIns="0" rtlCol="0" anchor="b"/>
          <a:lstStyle/>
          <a:p>
            <a:pPr indent="0" marL="0">
              <a:buNone/>
            </a:pPr>
            <a:r>
              <a:rPr lang="en-US" sz="3000" i="1" dirty="0">
                <a:solidFill>
                  <a:schemeClr val="bg1"/>
                </a:solidFill>
                <a:latin typeface="Cambria" pitchFamily="34" charset="0"/>
                <a:ea typeface="Cambria" pitchFamily="34" charset="-122"/>
                <a:cs typeface="Cambria" pitchFamily="34" charset="-120"/>
              </a:rPr>
              <a:t>“The Commanding General is well aware that the forecasts are no good. However, he needs them for planning purposes.”</a:t>
            </a:r>
            <a:endParaRPr lang="en-US" sz="3000" dirty="0"/>
          </a:p>
        </p:txBody>
      </p:sp>
      <p:sp>
        <p:nvSpPr>
          <p:cNvPr id="4" name="Text 0"/>
          <p:cNvSpPr/>
          <p:nvPr>
            <p:ph idx="101" type="body" hasCustomPrompt="1"/>
          </p:nvPr>
        </p:nvSpPr>
        <p:spPr>
          <a:xfrm>
            <a:off x="1280160" y="4617720"/>
            <a:ext cx="9601200" cy="457200"/>
          </a:xfrm>
          <a:prstGeom prst="rect">
            <a:avLst/>
          </a:prstGeom>
          <a:noFill/>
          <a:ln/>
        </p:spPr>
        <p:txBody>
          <a:bodyPr wrap="square" lIns="0" tIns="0" rIns="0" bIns="0" rtlCol="0"/>
          <a:lstStyle/>
          <a:p>
            <a:pPr indent="0" marL="0">
              <a:buNone/>
            </a:pPr>
            <a:r>
              <a:rPr lang="en-US" sz="1800" b="1" dirty="0">
                <a:solidFill>
                  <a:schemeClr val="accent1"/>
                </a:solidFill>
              </a:rPr>
              <a:t>Kenneth J. Arrow</a:t>
            </a:r>
            <a:endParaRPr lang="en-US" sz="1800" dirty="0"/>
          </a:p>
        </p:txBody>
      </p:sp>
      <p:sp>
        <p:nvSpPr>
          <p:cNvPr id="5" name="Text 0"/>
          <p:cNvSpPr/>
          <p:nvPr>
            <p:ph idx="102" type="body" hasCustomPrompt="1"/>
          </p:nvPr>
        </p:nvSpPr>
        <p:spPr>
          <a:xfrm>
            <a:off x="1280160" y="5074920"/>
            <a:ext cx="9601200" cy="731520"/>
          </a:xfrm>
          <a:prstGeom prst="rect">
            <a:avLst/>
          </a:prstGeom>
          <a:noFill/>
          <a:ln/>
        </p:spPr>
        <p:txBody>
          <a:bodyPr wrap="square" lIns="0" tIns="0" rIns="0" bIns="0" rtlCol="0" anchor="t"/>
          <a:lstStyle/>
          <a:p>
            <a:pPr indent="0" marL="0">
              <a:buNone/>
            </a:pPr>
            <a:r>
              <a:rPr lang="en-US" sz="1400" dirty="0">
                <a:solidFill>
                  <a:schemeClr val="accent4"/>
                </a:solidFill>
              </a:rPr>
              <a:t>Nobel Memorial Prize in Economic Sciences 1972; recalling his wartime weather service, “I Know a Hawk from a Handsaw” (1992)</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LEARNING OUTCOME STATEMENTS</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After this chapter, you can</a:t>
            </a:r>
            <a:endParaRPr lang="en-US" sz="3200" dirty="0"/>
          </a:p>
        </p:txBody>
      </p:sp>
      <p:sp>
        <p:nvSpPr>
          <p:cNvPr id="5" name="Number"/>
          <p:cNvSpPr/>
          <p:nvPr/>
        </p:nvSpPr>
        <p:spPr>
          <a:xfrm>
            <a:off x="548640" y="1737360"/>
            <a:ext cx="566928" cy="566928"/>
          </a:xfrm>
          <a:prstGeom prst="ellipse">
            <a:avLst/>
          </a:prstGeom>
          <a:solidFill>
            <a:schemeClr val="accent1"/>
          </a:solidFill>
          <a:ln w="6350">
            <a:solidFill>
              <a:schemeClr val="accent1"/>
            </a:solidFill>
            <a:prstDash val="solid"/>
          </a:ln>
        </p:spPr>
      </p:sp>
      <p:sp>
        <p:nvSpPr>
          <p:cNvPr id="6" name="Text 3"/>
          <p:cNvSpPr txBox="1"/>
          <p:nvPr/>
        </p:nvSpPr>
        <p:spPr>
          <a:xfrm>
            <a:off x="548640" y="1737360"/>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7.1</a:t>
            </a:r>
            <a:endParaRPr lang="en-US" sz="1500" dirty="0"/>
          </a:p>
        </p:txBody>
      </p:sp>
      <p:sp>
        <p:nvSpPr>
          <p:cNvPr id="7" name="Row text"/>
          <p:cNvSpPr txBox="1"/>
          <p:nvPr/>
        </p:nvSpPr>
        <p:spPr>
          <a:xfrm>
            <a:off x="1325880" y="1691640"/>
            <a:ext cx="10317175" cy="841248"/>
          </a:xfrm>
          <a:prstGeom prst="rect">
            <a:avLst/>
          </a:prstGeom>
          <a:noFill/>
          <a:ln/>
        </p:spPr>
        <p:txBody>
          <a:bodyPr wrap="square" lIns="0" tIns="0" rIns="0" bIns="0" rtlCol="0" anchor="ctr"/>
          <a:lstStyle/>
          <a:p>
            <a:pPr indent="0" marL="0">
              <a:buNone/>
            </a:pPr>
            <a:r>
              <a:rPr lang="en-US" sz="1600" dirty="0">
                <a:solidFill>
                  <a:schemeClr val="tx1"/>
                </a:solidFill>
              </a:rPr>
              <a:t>Explain how dynamic programming extends the prices of Chapters 5 and 6 to the value of every position, and why a rule can beat a plan when the future is uncertain.</a:t>
            </a:r>
            <a:endParaRPr lang="en-US" sz="1600" dirty="0"/>
          </a:p>
        </p:txBody>
      </p:sp>
      <p:sp>
        <p:nvSpPr>
          <p:cNvPr id="8" name="Number"/>
          <p:cNvSpPr/>
          <p:nvPr/>
        </p:nvSpPr>
        <p:spPr>
          <a:xfrm>
            <a:off x="548640" y="2633472"/>
            <a:ext cx="566928" cy="566928"/>
          </a:xfrm>
          <a:prstGeom prst="ellipse">
            <a:avLst/>
          </a:prstGeom>
          <a:solidFill>
            <a:schemeClr val="accent1"/>
          </a:solidFill>
          <a:ln w="6350">
            <a:solidFill>
              <a:schemeClr val="accent1"/>
            </a:solidFill>
            <a:prstDash val="solid"/>
          </a:ln>
        </p:spPr>
      </p:sp>
      <p:sp>
        <p:nvSpPr>
          <p:cNvPr id="9" name="Text 6"/>
          <p:cNvSpPr txBox="1"/>
          <p:nvPr/>
        </p:nvSpPr>
        <p:spPr>
          <a:xfrm>
            <a:off x="548640" y="2633472"/>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7.2</a:t>
            </a:r>
            <a:endParaRPr lang="en-US" sz="1500" dirty="0"/>
          </a:p>
        </p:txBody>
      </p:sp>
      <p:sp>
        <p:nvSpPr>
          <p:cNvPr id="10" name="Row text"/>
          <p:cNvSpPr txBox="1"/>
          <p:nvPr/>
        </p:nvSpPr>
        <p:spPr>
          <a:xfrm>
            <a:off x="1325880" y="2587752"/>
            <a:ext cx="10317175" cy="841248"/>
          </a:xfrm>
          <a:prstGeom prst="rect">
            <a:avLst/>
          </a:prstGeom>
          <a:noFill/>
          <a:ln/>
        </p:spPr>
        <p:txBody>
          <a:bodyPr wrap="square" lIns="0" tIns="0" rIns="0" bIns="0" rtlCol="0" anchor="ctr"/>
          <a:lstStyle/>
          <a:p>
            <a:pPr indent="0" marL="0">
              <a:buNone/>
            </a:pPr>
            <a:r>
              <a:rPr lang="en-US" sz="1600" dirty="0">
                <a:solidFill>
                  <a:schemeClr val="tx1"/>
                </a:solidFill>
              </a:rPr>
              <a:t>Formulate a dynamic program—states, decisions and their limits, a declared law of outside events, dynamics, the value of each period, discounting, and the horizon—and write its Bellman equation.</a:t>
            </a:r>
            <a:endParaRPr lang="en-US" sz="1600" dirty="0"/>
          </a:p>
        </p:txBody>
      </p:sp>
      <p:sp>
        <p:nvSpPr>
          <p:cNvPr id="11" name="Number"/>
          <p:cNvSpPr/>
          <p:nvPr/>
        </p:nvSpPr>
        <p:spPr>
          <a:xfrm>
            <a:off x="548640" y="3529584"/>
            <a:ext cx="566928" cy="566928"/>
          </a:xfrm>
          <a:prstGeom prst="ellipse">
            <a:avLst/>
          </a:prstGeom>
          <a:solidFill>
            <a:schemeClr val="accent1"/>
          </a:solidFill>
          <a:ln w="6350">
            <a:solidFill>
              <a:schemeClr val="accent1"/>
            </a:solidFill>
            <a:prstDash val="solid"/>
          </a:ln>
        </p:spPr>
      </p:sp>
      <p:sp>
        <p:nvSpPr>
          <p:cNvPr id="12" name="Text 9"/>
          <p:cNvSpPr txBox="1"/>
          <p:nvPr/>
        </p:nvSpPr>
        <p:spPr>
          <a:xfrm>
            <a:off x="548640" y="3529584"/>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7.3</a:t>
            </a:r>
            <a:endParaRPr lang="en-US" sz="1500" dirty="0"/>
          </a:p>
        </p:txBody>
      </p:sp>
      <p:sp>
        <p:nvSpPr>
          <p:cNvPr id="13" name="Row text"/>
          <p:cNvSpPr txBox="1"/>
          <p:nvPr/>
        </p:nvSpPr>
        <p:spPr>
          <a:xfrm>
            <a:off x="1325880" y="3483864"/>
            <a:ext cx="10317175" cy="841248"/>
          </a:xfrm>
          <a:prstGeom prst="rect">
            <a:avLst/>
          </a:prstGeom>
          <a:noFill/>
          <a:ln/>
        </p:spPr>
        <p:txBody>
          <a:bodyPr wrap="square" lIns="0" tIns="0" rIns="0" bIns="0" rtlCol="0" anchor="ctr"/>
          <a:lstStyle/>
          <a:p>
            <a:pPr indent="0" marL="0">
              <a:buNone/>
            </a:pPr>
            <a:r>
              <a:rPr lang="en-US" sz="1600" dirty="0">
                <a:solidFill>
                  <a:schemeClr val="tx1"/>
                </a:solidFill>
              </a:rPr>
              <a:t>Read a value function: its differences value lumps, its slopes price stocks, and a concave value prices a stock lower the more of it there is.</a:t>
            </a:r>
            <a:endParaRPr lang="en-US" sz="1600" dirty="0"/>
          </a:p>
        </p:txBody>
      </p:sp>
      <p:sp>
        <p:nvSpPr>
          <p:cNvPr id="14" name="Number"/>
          <p:cNvSpPr/>
          <p:nvPr/>
        </p:nvSpPr>
        <p:spPr>
          <a:xfrm>
            <a:off x="548640" y="4425696"/>
            <a:ext cx="566928" cy="566928"/>
          </a:xfrm>
          <a:prstGeom prst="ellipse">
            <a:avLst/>
          </a:prstGeom>
          <a:solidFill>
            <a:schemeClr val="accent1"/>
          </a:solidFill>
          <a:ln w="6350">
            <a:solidFill>
              <a:schemeClr val="accent1"/>
            </a:solidFill>
            <a:prstDash val="solid"/>
          </a:ln>
        </p:spPr>
      </p:sp>
      <p:sp>
        <p:nvSpPr>
          <p:cNvPr id="15" name="Text 12"/>
          <p:cNvSpPr txBox="1"/>
          <p:nvPr/>
        </p:nvSpPr>
        <p:spPr>
          <a:xfrm>
            <a:off x="548640" y="4425696"/>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7.4</a:t>
            </a:r>
            <a:endParaRPr lang="en-US" sz="1500" dirty="0"/>
          </a:p>
        </p:txBody>
      </p:sp>
      <p:sp>
        <p:nvSpPr>
          <p:cNvPr id="16" name="Row text"/>
          <p:cNvSpPr txBox="1"/>
          <p:nvPr/>
        </p:nvSpPr>
        <p:spPr>
          <a:xfrm>
            <a:off x="1325880" y="4379976"/>
            <a:ext cx="10317175" cy="841248"/>
          </a:xfrm>
          <a:prstGeom prst="rect">
            <a:avLst/>
          </a:prstGeom>
          <a:noFill/>
          <a:ln/>
        </p:spPr>
        <p:txBody>
          <a:bodyPr wrap="square" lIns="0" tIns="0" rIns="0" bIns="0" rtlCol="0" anchor="ctr"/>
          <a:lstStyle/>
          <a:p>
            <a:pPr indent="0" marL="0">
              <a:buNone/>
            </a:pPr>
            <a:r>
              <a:rPr lang="en-US" sz="1600" dirty="0">
                <a:solidFill>
                  <a:schemeClr val="tx1"/>
                </a:solidFill>
              </a:rPr>
              <a:t>Recognize the shapes of best rules—monotone, threshold, and target rules with a critical-ratio margin—and compare plans, re-plans, and rules, pricing the value of information.</a:t>
            </a:r>
            <a:endParaRPr lang="en-US" sz="1600" dirty="0"/>
          </a:p>
        </p:txBody>
      </p:sp>
      <p:sp>
        <p:nvSpPr>
          <p:cNvPr id="17" name="Number"/>
          <p:cNvSpPr/>
          <p:nvPr/>
        </p:nvSpPr>
        <p:spPr>
          <a:xfrm>
            <a:off x="548640" y="5321808"/>
            <a:ext cx="566928" cy="566928"/>
          </a:xfrm>
          <a:prstGeom prst="ellipse">
            <a:avLst/>
          </a:prstGeom>
          <a:solidFill>
            <a:schemeClr val="accent1"/>
          </a:solidFill>
          <a:ln w="6350">
            <a:solidFill>
              <a:schemeClr val="accent1"/>
            </a:solidFill>
            <a:prstDash val="solid"/>
          </a:ln>
        </p:spPr>
      </p:sp>
      <p:sp>
        <p:nvSpPr>
          <p:cNvPr id="18" name="Text 15"/>
          <p:cNvSpPr txBox="1"/>
          <p:nvPr/>
        </p:nvSpPr>
        <p:spPr>
          <a:xfrm>
            <a:off x="548640" y="5321808"/>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7.5</a:t>
            </a:r>
            <a:endParaRPr lang="en-US" sz="1500" dirty="0"/>
          </a:p>
        </p:txBody>
      </p:sp>
      <p:sp>
        <p:nvSpPr>
          <p:cNvPr id="19" name="Row text"/>
          <p:cNvSpPr txBox="1"/>
          <p:nvPr/>
        </p:nvSpPr>
        <p:spPr>
          <a:xfrm>
            <a:off x="1325880" y="5276088"/>
            <a:ext cx="10317175" cy="841248"/>
          </a:xfrm>
          <a:prstGeom prst="rect">
            <a:avLst/>
          </a:prstGeom>
          <a:noFill/>
          <a:ln/>
        </p:spPr>
        <p:txBody>
          <a:bodyPr wrap="square" lIns="0" tIns="0" rIns="0" bIns="0" rtlCol="0" anchor="ctr"/>
          <a:lstStyle/>
          <a:p>
            <a:pPr indent="0" marL="0">
              <a:buNone/>
            </a:pPr>
            <a:r>
              <a:rPr lang="en-US" sz="1600" dirty="0">
                <a:solidFill>
                  <a:schemeClr val="tx1"/>
                </a:solidFill>
              </a:rPr>
              <a:t>Compute values and rules by backward induction, value and policy iteration, linear programming, and approximation, and certify them with their error bounds.</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ROADMAP</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Five sections, a worked example, a case and a lab</a:t>
            </a:r>
            <a:endParaRPr lang="en-US" sz="3200" dirty="0"/>
          </a:p>
        </p:txBody>
      </p:sp>
      <p:sp>
        <p:nvSpPr>
          <p:cNvPr id="5" name="Card"/>
          <p:cNvSpPr/>
          <p:nvPr/>
        </p:nvSpPr>
        <p:spPr>
          <a:xfrm>
            <a:off x="548640" y="1691640"/>
            <a:ext cx="2567864" cy="2103120"/>
          </a:xfrm>
          <a:prstGeom prst="roundRect">
            <a:avLst>
              <a:gd name="adj" fmla="val 3478"/>
            </a:avLst>
          </a:prstGeom>
          <a:solidFill>
            <a:schemeClr val="bg2"/>
          </a:solidFill>
          <a:ln w="9525">
            <a:solidFill>
              <a:srgbClr val="C4CBD8"/>
            </a:solidFill>
            <a:prstDash val="solid"/>
          </a:ln>
        </p:spPr>
      </p:sp>
      <p:sp>
        <p:nvSpPr>
          <p:cNvPr id="6" name="Card label"/>
          <p:cNvSpPr txBox="1"/>
          <p:nvPr/>
        </p:nvSpPr>
        <p:spPr>
          <a:xfrm>
            <a:off x="731520" y="1819656"/>
            <a:ext cx="2202104" cy="310896"/>
          </a:xfrm>
          <a:prstGeom prst="rect">
            <a:avLst/>
          </a:prstGeom>
          <a:noFill/>
          <a:ln/>
        </p:spPr>
        <p:txBody>
          <a:bodyPr wrap="square" lIns="0" tIns="0" rIns="0" bIns="0" rtlCol="0" anchor="ctr"/>
          <a:lstStyle/>
          <a:p>
            <a:pPr indent="0" marL="0">
              <a:buNone/>
            </a:pPr>
            <a:r>
              <a:rPr lang="en-US" sz="1300" b="1" dirty="0">
                <a:solidFill>
                  <a:schemeClr val="accent1"/>
                </a:solidFill>
              </a:rPr>
              <a:t>§7.1</a:t>
            </a:r>
            <a:endParaRPr lang="en-US" sz="1300" dirty="0"/>
          </a:p>
        </p:txBody>
      </p:sp>
      <p:sp>
        <p:nvSpPr>
          <p:cNvPr id="7" name="Card head"/>
          <p:cNvSpPr txBox="1"/>
          <p:nvPr/>
        </p:nvSpPr>
        <p:spPr>
          <a:xfrm>
            <a:off x="731520" y="2148840"/>
            <a:ext cx="2202104" cy="1060704"/>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From Prices along a Plan to Values at Every Position</a:t>
            </a:r>
            <a:endParaRPr lang="en-US" sz="1500" dirty="0"/>
          </a:p>
        </p:txBody>
      </p:sp>
      <p:sp>
        <p:nvSpPr>
          <p:cNvPr id="8" name="Card text"/>
          <p:cNvSpPr txBox="1"/>
          <p:nvPr/>
        </p:nvSpPr>
        <p:spPr>
          <a:xfrm>
            <a:off x="731520" y="3282696"/>
            <a:ext cx="2202104" cy="384048"/>
          </a:xfrm>
          <a:prstGeom prst="rect">
            <a:avLst/>
          </a:prstGeom>
          <a:noFill/>
          <a:ln/>
        </p:spPr>
        <p:txBody>
          <a:bodyPr wrap="square" lIns="0" tIns="0" rIns="0" bIns="0" rtlCol="0" anchor="t"/>
          <a:lstStyle/>
          <a:p>
            <a:pPr indent="0" marL="0">
              <a:buNone/>
            </a:pPr>
            <a:r>
              <a:rPr lang="en-US" sz="1300" dirty="0">
                <a:solidFill>
                  <a:schemeClr val="tx2"/>
                </a:solidFill>
              </a:rPr>
              <a:t>Definition 7.1 · Table 7.1</a:t>
            </a:r>
            <a:endParaRPr lang="en-US" sz="1300" dirty="0"/>
          </a:p>
        </p:txBody>
      </p:sp>
      <p:sp>
        <p:nvSpPr>
          <p:cNvPr id="9" name="Card"/>
          <p:cNvSpPr/>
          <p:nvPr/>
        </p:nvSpPr>
        <p:spPr>
          <a:xfrm>
            <a:off x="3390824" y="1691640"/>
            <a:ext cx="2567864" cy="2103120"/>
          </a:xfrm>
          <a:prstGeom prst="roundRect">
            <a:avLst>
              <a:gd name="adj" fmla="val 3478"/>
            </a:avLst>
          </a:prstGeom>
          <a:solidFill>
            <a:schemeClr val="bg2"/>
          </a:solidFill>
          <a:ln w="9525">
            <a:solidFill>
              <a:srgbClr val="C4CBD8"/>
            </a:solidFill>
            <a:prstDash val="solid"/>
          </a:ln>
        </p:spPr>
      </p:sp>
      <p:sp>
        <p:nvSpPr>
          <p:cNvPr id="10" name="Card label"/>
          <p:cNvSpPr txBox="1"/>
          <p:nvPr/>
        </p:nvSpPr>
        <p:spPr>
          <a:xfrm>
            <a:off x="3573704" y="1819656"/>
            <a:ext cx="2202104" cy="310896"/>
          </a:xfrm>
          <a:prstGeom prst="rect">
            <a:avLst/>
          </a:prstGeom>
          <a:noFill/>
          <a:ln/>
        </p:spPr>
        <p:txBody>
          <a:bodyPr wrap="square" lIns="0" tIns="0" rIns="0" bIns="0" rtlCol="0" anchor="ctr"/>
          <a:lstStyle/>
          <a:p>
            <a:pPr indent="0" marL="0">
              <a:buNone/>
            </a:pPr>
            <a:r>
              <a:rPr lang="en-US" sz="1300" b="1" dirty="0">
                <a:solidFill>
                  <a:schemeClr val="accent1"/>
                </a:solidFill>
              </a:rPr>
              <a:t>§7.2</a:t>
            </a:r>
            <a:endParaRPr lang="en-US" sz="1300" dirty="0"/>
          </a:p>
        </p:txBody>
      </p:sp>
      <p:sp>
        <p:nvSpPr>
          <p:cNvPr id="11" name="Card head"/>
          <p:cNvSpPr txBox="1"/>
          <p:nvPr/>
        </p:nvSpPr>
        <p:spPr>
          <a:xfrm>
            <a:off x="3573704" y="2148840"/>
            <a:ext cx="2202104" cy="1060704"/>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The Bellman Equation</a:t>
            </a:r>
            <a:endParaRPr lang="en-US" sz="1500" dirty="0"/>
          </a:p>
        </p:txBody>
      </p:sp>
      <p:sp>
        <p:nvSpPr>
          <p:cNvPr id="12" name="Card text"/>
          <p:cNvSpPr txBox="1"/>
          <p:nvPr/>
        </p:nvSpPr>
        <p:spPr>
          <a:xfrm>
            <a:off x="3573704" y="3282696"/>
            <a:ext cx="2202104" cy="384048"/>
          </a:xfrm>
          <a:prstGeom prst="rect">
            <a:avLst/>
          </a:prstGeom>
          <a:noFill/>
          <a:ln/>
        </p:spPr>
        <p:txBody>
          <a:bodyPr wrap="square" lIns="0" tIns="0" rIns="0" bIns="0" rtlCol="0" anchor="t"/>
          <a:lstStyle/>
          <a:p>
            <a:pPr indent="0" marL="0">
              <a:buNone/>
            </a:pPr>
            <a:r>
              <a:rPr lang="en-US" sz="1300" dirty="0">
                <a:solidFill>
                  <a:schemeClr val="tx2"/>
                </a:solidFill>
              </a:rPr>
              <a:t>Theorem 7.1 · Proposition 7.1</a:t>
            </a:r>
            <a:endParaRPr lang="en-US" sz="1300" dirty="0"/>
          </a:p>
        </p:txBody>
      </p:sp>
      <p:sp>
        <p:nvSpPr>
          <p:cNvPr id="13" name="Card"/>
          <p:cNvSpPr/>
          <p:nvPr/>
        </p:nvSpPr>
        <p:spPr>
          <a:xfrm>
            <a:off x="6233008" y="1691640"/>
            <a:ext cx="2567864" cy="2103120"/>
          </a:xfrm>
          <a:prstGeom prst="roundRect">
            <a:avLst>
              <a:gd name="adj" fmla="val 3478"/>
            </a:avLst>
          </a:prstGeom>
          <a:solidFill>
            <a:schemeClr val="bg2"/>
          </a:solidFill>
          <a:ln w="9525">
            <a:solidFill>
              <a:srgbClr val="C4CBD8"/>
            </a:solidFill>
            <a:prstDash val="solid"/>
          </a:ln>
        </p:spPr>
      </p:sp>
      <p:sp>
        <p:nvSpPr>
          <p:cNvPr id="14" name="Card label"/>
          <p:cNvSpPr txBox="1"/>
          <p:nvPr/>
        </p:nvSpPr>
        <p:spPr>
          <a:xfrm>
            <a:off x="6415888" y="1819656"/>
            <a:ext cx="2202104" cy="310896"/>
          </a:xfrm>
          <a:prstGeom prst="rect">
            <a:avLst/>
          </a:prstGeom>
          <a:noFill/>
          <a:ln/>
        </p:spPr>
        <p:txBody>
          <a:bodyPr wrap="square" lIns="0" tIns="0" rIns="0" bIns="0" rtlCol="0" anchor="ctr"/>
          <a:lstStyle/>
          <a:p>
            <a:pPr indent="0" marL="0">
              <a:buNone/>
            </a:pPr>
            <a:r>
              <a:rPr lang="en-US" sz="1300" b="1" dirty="0">
                <a:solidFill>
                  <a:schemeClr val="accent1"/>
                </a:solidFill>
              </a:rPr>
              <a:t>§7.3</a:t>
            </a:r>
            <a:endParaRPr lang="en-US" sz="1300" dirty="0"/>
          </a:p>
        </p:txBody>
      </p:sp>
      <p:sp>
        <p:nvSpPr>
          <p:cNvPr id="15" name="Card head"/>
          <p:cNvSpPr txBox="1"/>
          <p:nvPr/>
        </p:nvSpPr>
        <p:spPr>
          <a:xfrm>
            <a:off x="6415888" y="2148840"/>
            <a:ext cx="2202104" cy="1060704"/>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Thresholds and Targets</a:t>
            </a:r>
            <a:endParaRPr lang="en-US" sz="1500" dirty="0"/>
          </a:p>
        </p:txBody>
      </p:sp>
      <p:sp>
        <p:nvSpPr>
          <p:cNvPr id="16" name="Card text"/>
          <p:cNvSpPr txBox="1"/>
          <p:nvPr/>
        </p:nvSpPr>
        <p:spPr>
          <a:xfrm>
            <a:off x="6415888" y="3282696"/>
            <a:ext cx="2202104" cy="384048"/>
          </a:xfrm>
          <a:prstGeom prst="rect">
            <a:avLst/>
          </a:prstGeom>
          <a:noFill/>
          <a:ln/>
        </p:spPr>
        <p:txBody>
          <a:bodyPr wrap="square" lIns="0" tIns="0" rIns="0" bIns="0" rtlCol="0" anchor="t"/>
          <a:lstStyle/>
          <a:p>
            <a:pPr indent="0" marL="0">
              <a:buNone/>
            </a:pPr>
            <a:r>
              <a:rPr lang="en-US" sz="1300" dirty="0">
                <a:solidFill>
                  <a:schemeClr val="tx2"/>
                </a:solidFill>
              </a:rPr>
              <a:t>Theorem 7.2</a:t>
            </a:r>
            <a:endParaRPr lang="en-US" sz="1300" dirty="0"/>
          </a:p>
        </p:txBody>
      </p:sp>
      <p:sp>
        <p:nvSpPr>
          <p:cNvPr id="17" name="Card"/>
          <p:cNvSpPr/>
          <p:nvPr/>
        </p:nvSpPr>
        <p:spPr>
          <a:xfrm>
            <a:off x="9075191" y="1691640"/>
            <a:ext cx="2567864" cy="2103120"/>
          </a:xfrm>
          <a:prstGeom prst="roundRect">
            <a:avLst>
              <a:gd name="adj" fmla="val 3478"/>
            </a:avLst>
          </a:prstGeom>
          <a:solidFill>
            <a:schemeClr val="bg2"/>
          </a:solidFill>
          <a:ln w="9525">
            <a:solidFill>
              <a:srgbClr val="C4CBD8"/>
            </a:solidFill>
            <a:prstDash val="solid"/>
          </a:ln>
        </p:spPr>
      </p:sp>
      <p:sp>
        <p:nvSpPr>
          <p:cNvPr id="18" name="Card label"/>
          <p:cNvSpPr txBox="1"/>
          <p:nvPr/>
        </p:nvSpPr>
        <p:spPr>
          <a:xfrm>
            <a:off x="9258071" y="1819656"/>
            <a:ext cx="2202104" cy="310896"/>
          </a:xfrm>
          <a:prstGeom prst="rect">
            <a:avLst/>
          </a:prstGeom>
          <a:noFill/>
          <a:ln/>
        </p:spPr>
        <p:txBody>
          <a:bodyPr wrap="square" lIns="0" tIns="0" rIns="0" bIns="0" rtlCol="0" anchor="ctr"/>
          <a:lstStyle/>
          <a:p>
            <a:pPr indent="0" marL="0">
              <a:buNone/>
            </a:pPr>
            <a:r>
              <a:rPr lang="en-US" sz="1300" b="1" dirty="0">
                <a:solidFill>
                  <a:schemeClr val="accent1"/>
                </a:solidFill>
              </a:rPr>
              <a:t>§7.4</a:t>
            </a:r>
            <a:endParaRPr lang="en-US" sz="1300" dirty="0"/>
          </a:p>
        </p:txBody>
      </p:sp>
      <p:sp>
        <p:nvSpPr>
          <p:cNvPr id="19" name="Card head"/>
          <p:cNvSpPr txBox="1"/>
          <p:nvPr/>
        </p:nvSpPr>
        <p:spPr>
          <a:xfrm>
            <a:off x="9258071" y="2148840"/>
            <a:ext cx="2202104" cy="1060704"/>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Plans, Re-plans, and Rules</a:t>
            </a:r>
            <a:endParaRPr lang="en-US" sz="1500" dirty="0"/>
          </a:p>
        </p:txBody>
      </p:sp>
      <p:sp>
        <p:nvSpPr>
          <p:cNvPr id="20" name="Card text"/>
          <p:cNvSpPr txBox="1"/>
          <p:nvPr/>
        </p:nvSpPr>
        <p:spPr>
          <a:xfrm>
            <a:off x="9258071" y="3282696"/>
            <a:ext cx="2202104" cy="384048"/>
          </a:xfrm>
          <a:prstGeom prst="rect">
            <a:avLst/>
          </a:prstGeom>
          <a:noFill/>
          <a:ln/>
        </p:spPr>
        <p:txBody>
          <a:bodyPr wrap="square" lIns="0" tIns="0" rIns="0" bIns="0" rtlCol="0" anchor="t"/>
          <a:lstStyle/>
          <a:p>
            <a:pPr indent="0" marL="0">
              <a:buNone/>
            </a:pPr>
            <a:r>
              <a:rPr lang="en-US" sz="1300" dirty="0">
                <a:solidFill>
                  <a:schemeClr val="tx2"/>
                </a:solidFill>
              </a:rPr>
              <a:t>Proposition 7.2</a:t>
            </a:r>
            <a:endParaRPr lang="en-US" sz="1300" dirty="0"/>
          </a:p>
        </p:txBody>
      </p:sp>
      <p:sp>
        <p:nvSpPr>
          <p:cNvPr id="21" name="Card"/>
          <p:cNvSpPr/>
          <p:nvPr/>
        </p:nvSpPr>
        <p:spPr>
          <a:xfrm>
            <a:off x="548640" y="4069080"/>
            <a:ext cx="2567864" cy="2103120"/>
          </a:xfrm>
          <a:prstGeom prst="roundRect">
            <a:avLst>
              <a:gd name="adj" fmla="val 3478"/>
            </a:avLst>
          </a:prstGeom>
          <a:solidFill>
            <a:schemeClr val="bg2"/>
          </a:solidFill>
          <a:ln w="9525">
            <a:solidFill>
              <a:srgbClr val="C4CBD8"/>
            </a:solidFill>
            <a:prstDash val="solid"/>
          </a:ln>
        </p:spPr>
      </p:sp>
      <p:sp>
        <p:nvSpPr>
          <p:cNvPr id="22" name="Card label"/>
          <p:cNvSpPr txBox="1"/>
          <p:nvPr/>
        </p:nvSpPr>
        <p:spPr>
          <a:xfrm>
            <a:off x="731520" y="4197096"/>
            <a:ext cx="2202104" cy="310896"/>
          </a:xfrm>
          <a:prstGeom prst="rect">
            <a:avLst/>
          </a:prstGeom>
          <a:noFill/>
          <a:ln/>
        </p:spPr>
        <p:txBody>
          <a:bodyPr wrap="square" lIns="0" tIns="0" rIns="0" bIns="0" rtlCol="0" anchor="ctr"/>
          <a:lstStyle/>
          <a:p>
            <a:pPr indent="0" marL="0">
              <a:buNone/>
            </a:pPr>
            <a:r>
              <a:rPr lang="en-US" sz="1300" b="1" dirty="0">
                <a:solidFill>
                  <a:schemeClr val="accent1"/>
                </a:solidFill>
              </a:rPr>
              <a:t>§7.5</a:t>
            </a:r>
            <a:endParaRPr lang="en-US" sz="1300" dirty="0"/>
          </a:p>
        </p:txBody>
      </p:sp>
      <p:sp>
        <p:nvSpPr>
          <p:cNvPr id="23" name="Card head"/>
          <p:cNvSpPr txBox="1"/>
          <p:nvPr/>
        </p:nvSpPr>
        <p:spPr>
          <a:xfrm>
            <a:off x="731520" y="4526280"/>
            <a:ext cx="2202104" cy="1060704"/>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Computing Values and Rules</a:t>
            </a:r>
            <a:endParaRPr lang="en-US" sz="1500" dirty="0"/>
          </a:p>
        </p:txBody>
      </p:sp>
      <p:sp>
        <p:nvSpPr>
          <p:cNvPr id="24" name="Card text"/>
          <p:cNvSpPr txBox="1"/>
          <p:nvPr/>
        </p:nvSpPr>
        <p:spPr>
          <a:xfrm>
            <a:off x="731520" y="5660136"/>
            <a:ext cx="2202104" cy="384048"/>
          </a:xfrm>
          <a:prstGeom prst="rect">
            <a:avLst/>
          </a:prstGeom>
          <a:noFill/>
          <a:ln/>
        </p:spPr>
        <p:txBody>
          <a:bodyPr wrap="square" lIns="0" tIns="0" rIns="0" bIns="0" rtlCol="0" anchor="t"/>
          <a:lstStyle/>
          <a:p>
            <a:pPr indent="0" marL="0">
              <a:buNone/>
            </a:pPr>
            <a:r>
              <a:rPr lang="en-US" sz="1300" dirty="0">
                <a:solidFill>
                  <a:schemeClr val="tx2"/>
                </a:solidFill>
              </a:rPr>
              <a:t>Theorem 7.3 · Proposition 7.3</a:t>
            </a:r>
            <a:endParaRPr lang="en-US" sz="1300" dirty="0"/>
          </a:p>
        </p:txBody>
      </p:sp>
      <p:sp>
        <p:nvSpPr>
          <p:cNvPr id="25" name="Card"/>
          <p:cNvSpPr/>
          <p:nvPr/>
        </p:nvSpPr>
        <p:spPr>
          <a:xfrm>
            <a:off x="3390824" y="4069080"/>
            <a:ext cx="2567864" cy="2103120"/>
          </a:xfrm>
          <a:prstGeom prst="roundRect">
            <a:avLst>
              <a:gd name="adj" fmla="val 3478"/>
            </a:avLst>
          </a:prstGeom>
          <a:solidFill>
            <a:schemeClr val="tx1"/>
          </a:solidFill>
          <a:ln w="9525">
            <a:solidFill>
              <a:srgbClr val="0F1E3D"/>
            </a:solidFill>
            <a:prstDash val="solid"/>
          </a:ln>
        </p:spPr>
      </p:sp>
      <p:sp>
        <p:nvSpPr>
          <p:cNvPr id="26" name="Card label"/>
          <p:cNvSpPr txBox="1"/>
          <p:nvPr/>
        </p:nvSpPr>
        <p:spPr>
          <a:xfrm>
            <a:off x="3573704" y="4197096"/>
            <a:ext cx="2202104" cy="310896"/>
          </a:xfrm>
          <a:prstGeom prst="rect">
            <a:avLst/>
          </a:prstGeom>
          <a:noFill/>
          <a:ln/>
        </p:spPr>
        <p:txBody>
          <a:bodyPr wrap="square" lIns="0" tIns="0" rIns="0" bIns="0" rtlCol="0" anchor="ctr"/>
          <a:lstStyle/>
          <a:p>
            <a:pPr indent="0" marL="0">
              <a:buNone/>
            </a:pPr>
            <a:r>
              <a:rPr lang="en-US" sz="1300" b="1" dirty="0">
                <a:solidFill>
                  <a:schemeClr val="accent1"/>
                </a:solidFill>
              </a:rPr>
              <a:t>Worked Example 7.1</a:t>
            </a:r>
            <a:endParaRPr lang="en-US" sz="1300" dirty="0"/>
          </a:p>
        </p:txBody>
      </p:sp>
      <p:sp>
        <p:nvSpPr>
          <p:cNvPr id="27" name="Card head"/>
          <p:cNvSpPr txBox="1"/>
          <p:nvPr/>
        </p:nvSpPr>
        <p:spPr>
          <a:xfrm>
            <a:off x="3573704" y="4526280"/>
            <a:ext cx="2202104" cy="1060704"/>
          </a:xfrm>
          <a:prstGeom prst="rect">
            <a:avLst/>
          </a:prstGeom>
          <a:noFill/>
          <a:ln/>
        </p:spPr>
        <p:txBody>
          <a:bodyPr wrap="square" lIns="0" tIns="0" rIns="0" bIns="0" rtlCol="0" anchor="t"/>
          <a:lstStyle/>
          <a:p>
            <a:pPr indent="0" marL="0">
              <a:buNone/>
            </a:pPr>
            <a:r>
              <a:rPr lang="en-US" sz="1500" b="1" dirty="0">
                <a:solidFill>
                  <a:schemeClr val="bg1"/>
                </a:solidFill>
                <a:latin typeface="Cambria" pitchFamily="34" charset="0"/>
                <a:ea typeface="Cambria" pitchFamily="34" charset="-122"/>
                <a:cs typeface="Cambria" pitchFamily="34" charset="-120"/>
              </a:rPr>
              <a:t>How Much Margin Should Meridian Hold Above the Capability Floor?</a:t>
            </a:r>
            <a:endParaRPr lang="en-US" sz="1500" dirty="0"/>
          </a:p>
        </p:txBody>
      </p:sp>
      <p:sp>
        <p:nvSpPr>
          <p:cNvPr id="28" name="Card text"/>
          <p:cNvSpPr txBox="1"/>
          <p:nvPr/>
        </p:nvSpPr>
        <p:spPr>
          <a:xfrm>
            <a:off x="3573704" y="5660136"/>
            <a:ext cx="2202104" cy="384048"/>
          </a:xfrm>
          <a:prstGeom prst="rect">
            <a:avLst/>
          </a:prstGeom>
          <a:noFill/>
          <a:ln/>
        </p:spPr>
        <p:txBody>
          <a:bodyPr wrap="square" lIns="0" tIns="0" rIns="0" bIns="0" rtlCol="0" anchor="t"/>
          <a:lstStyle/>
          <a:p>
            <a:pPr indent="0" marL="0">
              <a:buNone/>
            </a:pPr>
            <a:r>
              <a:rPr lang="en-US" sz="1300" dirty="0">
                <a:solidFill>
                  <a:schemeClr val="bg2"/>
                </a:solidFill>
              </a:rPr>
              <a:t>Table 7.3 · Figure 7.3</a:t>
            </a:r>
            <a:endParaRPr lang="en-US" sz="1300" dirty="0"/>
          </a:p>
        </p:txBody>
      </p:sp>
      <p:sp>
        <p:nvSpPr>
          <p:cNvPr id="29" name="Card"/>
          <p:cNvSpPr/>
          <p:nvPr/>
        </p:nvSpPr>
        <p:spPr>
          <a:xfrm>
            <a:off x="6233008" y="4069080"/>
            <a:ext cx="2567864" cy="2103120"/>
          </a:xfrm>
          <a:prstGeom prst="roundRect">
            <a:avLst>
              <a:gd name="adj" fmla="val 3478"/>
            </a:avLst>
          </a:prstGeom>
          <a:solidFill>
            <a:schemeClr val="bg2"/>
          </a:solidFill>
          <a:ln w="9525">
            <a:solidFill>
              <a:srgbClr val="C4CBD8"/>
            </a:solidFill>
            <a:prstDash val="solid"/>
          </a:ln>
        </p:spPr>
      </p:sp>
      <p:sp>
        <p:nvSpPr>
          <p:cNvPr id="30" name="Card label"/>
          <p:cNvSpPr txBox="1"/>
          <p:nvPr/>
        </p:nvSpPr>
        <p:spPr>
          <a:xfrm>
            <a:off x="6415888" y="4197096"/>
            <a:ext cx="2202104" cy="310896"/>
          </a:xfrm>
          <a:prstGeom prst="rect">
            <a:avLst/>
          </a:prstGeom>
          <a:noFill/>
          <a:ln/>
        </p:spPr>
        <p:txBody>
          <a:bodyPr wrap="square" lIns="0" tIns="0" rIns="0" bIns="0" rtlCol="0" anchor="ctr"/>
          <a:lstStyle/>
          <a:p>
            <a:pPr indent="0" marL="0">
              <a:buNone/>
            </a:pPr>
            <a:r>
              <a:rPr lang="en-US" sz="1300" b="1" dirty="0">
                <a:solidFill>
                  <a:schemeClr val="accent1"/>
                </a:solidFill>
              </a:rPr>
              <a:t>In Practice</a:t>
            </a:r>
            <a:endParaRPr lang="en-US" sz="1300" dirty="0"/>
          </a:p>
        </p:txBody>
      </p:sp>
      <p:sp>
        <p:nvSpPr>
          <p:cNvPr id="31" name="Card head"/>
          <p:cNvSpPr txBox="1"/>
          <p:nvPr/>
        </p:nvSpPr>
        <p:spPr>
          <a:xfrm>
            <a:off x="6415888" y="4526280"/>
            <a:ext cx="2202104" cy="1060704"/>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American Airlines Prices Its Last Seat</a:t>
            </a:r>
            <a:endParaRPr lang="en-US" sz="1500" dirty="0"/>
          </a:p>
        </p:txBody>
      </p:sp>
      <p:sp>
        <p:nvSpPr>
          <p:cNvPr id="32" name="Card text"/>
          <p:cNvSpPr txBox="1"/>
          <p:nvPr/>
        </p:nvSpPr>
        <p:spPr>
          <a:xfrm>
            <a:off x="6415888" y="5660136"/>
            <a:ext cx="2202104" cy="384048"/>
          </a:xfrm>
          <a:prstGeom prst="rect">
            <a:avLst/>
          </a:prstGeom>
          <a:noFill/>
          <a:ln/>
        </p:spPr>
        <p:txBody>
          <a:bodyPr wrap="square" lIns="0" tIns="0" rIns="0" bIns="0" rtlCol="0" anchor="t"/>
          <a:lstStyle/>
          <a:p>
            <a:pPr indent="0" marL="0">
              <a:buNone/>
            </a:pPr>
            <a:r>
              <a:rPr lang="en-US" sz="1300" dirty="0">
                <a:solidFill>
                  <a:schemeClr val="tx2"/>
                </a:solidFill>
              </a:rPr>
              <a:t>At a Glance · board questions</a:t>
            </a:r>
            <a:endParaRPr lang="en-US" sz="1300" dirty="0"/>
          </a:p>
        </p:txBody>
      </p:sp>
      <p:sp>
        <p:nvSpPr>
          <p:cNvPr id="33" name="Card"/>
          <p:cNvSpPr/>
          <p:nvPr/>
        </p:nvSpPr>
        <p:spPr>
          <a:xfrm>
            <a:off x="9075191" y="4069080"/>
            <a:ext cx="2567864" cy="2103120"/>
          </a:xfrm>
          <a:prstGeom prst="roundRect">
            <a:avLst>
              <a:gd name="adj" fmla="val 3478"/>
            </a:avLst>
          </a:prstGeom>
          <a:solidFill>
            <a:schemeClr val="bg2"/>
          </a:solidFill>
          <a:ln w="9525">
            <a:solidFill>
              <a:srgbClr val="C4CBD8"/>
            </a:solidFill>
            <a:prstDash val="solid"/>
          </a:ln>
        </p:spPr>
      </p:sp>
      <p:sp>
        <p:nvSpPr>
          <p:cNvPr id="34" name="Card label"/>
          <p:cNvSpPr txBox="1"/>
          <p:nvPr/>
        </p:nvSpPr>
        <p:spPr>
          <a:xfrm>
            <a:off x="9258071" y="4197096"/>
            <a:ext cx="2202104" cy="310896"/>
          </a:xfrm>
          <a:prstGeom prst="rect">
            <a:avLst/>
          </a:prstGeom>
          <a:noFill/>
          <a:ln/>
        </p:spPr>
        <p:txBody>
          <a:bodyPr wrap="square" lIns="0" tIns="0" rIns="0" bIns="0" rtlCol="0" anchor="ctr"/>
          <a:lstStyle/>
          <a:p>
            <a:pPr indent="0" marL="0">
              <a:buNone/>
            </a:pPr>
            <a:r>
              <a:rPr lang="en-US" sz="1300" b="1" dirty="0">
                <a:solidFill>
                  <a:schemeClr val="accent1"/>
                </a:solidFill>
              </a:rPr>
              <a:t>AXIOM Lab 2.7</a:t>
            </a:r>
            <a:endParaRPr lang="en-US" sz="1300" dirty="0"/>
          </a:p>
        </p:txBody>
      </p:sp>
      <p:sp>
        <p:nvSpPr>
          <p:cNvPr id="35" name="Card head"/>
          <p:cNvSpPr txBox="1"/>
          <p:nvPr/>
        </p:nvSpPr>
        <p:spPr>
          <a:xfrm>
            <a:off x="9258071" y="4526280"/>
            <a:ext cx="2202104" cy="1060704"/>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Valuing Every Position: Rules for Meridian's Capability</a:t>
            </a:r>
            <a:endParaRPr lang="en-US" sz="1500" dirty="0"/>
          </a:p>
        </p:txBody>
      </p:sp>
      <p:sp>
        <p:nvSpPr>
          <p:cNvPr id="36" name="Card text"/>
          <p:cNvSpPr txBox="1"/>
          <p:nvPr/>
        </p:nvSpPr>
        <p:spPr>
          <a:xfrm>
            <a:off x="9258071" y="5660136"/>
            <a:ext cx="2202104" cy="384048"/>
          </a:xfrm>
          <a:prstGeom prst="rect">
            <a:avLst/>
          </a:prstGeom>
          <a:noFill/>
          <a:ln/>
        </p:spPr>
        <p:txBody>
          <a:bodyPr wrap="square" lIns="0" tIns="0" rIns="0" bIns="0" rtlCol="0" anchor="t"/>
          <a:lstStyle/>
          <a:p>
            <a:pPr indent="0" marL="0">
              <a:buNone/>
            </a:pPr>
            <a:r>
              <a:rPr lang="en-US" sz="1300" dirty="0">
                <a:solidFill>
                  <a:schemeClr val="tx2"/>
                </a:solidFill>
              </a:rPr>
              <a:t>AXIOM-07 · five steps</a:t>
            </a:r>
            <a:endParaRPr lang="en-US" sz="13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§7.1 · FROM PRICES ALONG A PLAN TO VALUES</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Value every position; act by a rule</a:t>
            </a:r>
            <a:endParaRPr lang="en-US" sz="3200" dirty="0"/>
          </a:p>
        </p:txBody>
      </p:sp>
      <p:sp>
        <p:nvSpPr>
          <p:cNvPr id="5" name="Result card"/>
          <p:cNvSpPr/>
          <p:nvPr/>
        </p:nvSpPr>
        <p:spPr>
          <a:xfrm>
            <a:off x="548640" y="1691640"/>
            <a:ext cx="5943600" cy="4480560"/>
          </a:xfrm>
          <a:prstGeom prst="roundRect">
            <a:avLst>
              <a:gd name="adj" fmla="val 1633"/>
            </a:avLst>
          </a:prstGeom>
          <a:solidFill>
            <a:schemeClr val="bg2"/>
          </a:solidFill>
          <a:ln w="9525">
            <a:solidFill>
              <a:srgbClr val="C4CBD8"/>
            </a:solidFill>
            <a:prstDash val="solid"/>
          </a:ln>
        </p:spPr>
      </p:sp>
      <p:sp>
        <p:nvSpPr>
          <p:cNvPr id="6" name="Text 3"/>
          <p:cNvSpPr txBox="1"/>
          <p:nvPr/>
        </p:nvSpPr>
        <p:spPr>
          <a:xfrm>
            <a:off x="822960" y="1892808"/>
            <a:ext cx="539496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DEFINITION 7.1</a:t>
            </a:r>
            <a:endParaRPr lang="en-US" sz="1200" dirty="0"/>
          </a:p>
        </p:txBody>
      </p:sp>
      <p:sp>
        <p:nvSpPr>
          <p:cNvPr id="7" name="Text 4"/>
          <p:cNvSpPr txBox="1"/>
          <p:nvPr/>
        </p:nvSpPr>
        <p:spPr>
          <a:xfrm>
            <a:off x="822960" y="2194560"/>
            <a:ext cx="5394960" cy="457200"/>
          </a:xfrm>
          <a:prstGeom prst="rect">
            <a:avLst/>
          </a:prstGeom>
          <a:noFill/>
          <a:ln/>
        </p:spPr>
        <p:txBody>
          <a:bodyPr wrap="square" lIns="0" tIns="0" rIns="0" bIns="0" rtlCol="0" anchor="ctr"/>
          <a:lstStyle/>
          <a:p>
            <a:pPr indent="0" marL="0">
              <a:buNone/>
            </a:pPr>
            <a:r>
              <a:rPr lang="en-US" sz="2100" b="1" dirty="0">
                <a:solidFill>
                  <a:schemeClr val="tx1"/>
                </a:solidFill>
                <a:latin typeface="Cambria" pitchFamily="34" charset="0"/>
                <a:ea typeface="Cambria" pitchFamily="34" charset="-122"/>
                <a:cs typeface="Cambria" pitchFamily="34" charset="-120"/>
              </a:rPr>
              <a:t>Dynamic Program</a:t>
            </a:r>
            <a:endParaRPr lang="en-US" sz="2100" dirty="0"/>
          </a:p>
        </p:txBody>
      </p:sp>
      <p:sp>
        <p:nvSpPr>
          <p:cNvPr id="8" name="Bullets"/>
          <p:cNvSpPr txBox="1"/>
          <p:nvPr/>
        </p:nvSpPr>
        <p:spPr>
          <a:xfrm>
            <a:off x="822960" y="2743200"/>
            <a:ext cx="5394960" cy="3291840"/>
          </a:xfrm>
          <a:prstGeom prst="rect">
            <a:avLst/>
          </a:prstGeom>
          <a:noFill/>
          <a:ln/>
        </p:spPr>
        <p:txBody>
          <a:bodyPr wrap="square" lIns="635" tIns="635" rIns="635" bIns="635" rtlCol="0" anchor="t"/>
          <a:lstStyle/>
          <a:p>
            <a:pPr marL="228600" indent="-228600">
              <a:spcAft>
                <a:spcPts val="600"/>
              </a:spcAft>
              <a:buSzPct val="100000"/>
              <a:buChar char="•"/>
            </a:pPr>
            <a:r>
              <a:rPr lang="en-US" sz="1500" b="1" dirty="0">
                <a:solidFill>
                  <a:schemeClr val="tx1"/>
                </a:solidFill>
              </a:rPr>
              <a:t>States</a:t>
            </a:r>
            <a:r>
              <a:rPr lang="en-US" sz="1500" dirty="0">
                <a:solidFill>
                  <a:schemeClr val="tx1"/>
                </a:solidFill>
              </a:rPr>
              <a:t> x, and at each a set of </a:t>
            </a:r>
            <a:r>
              <a:rPr lang="en-US" sz="1500" b="1" dirty="0">
                <a:solidFill>
                  <a:schemeClr val="tx1"/>
                </a:solidFill>
              </a:rPr>
              <a:t>decisions</a:t>
            </a:r>
            <a:r>
              <a:rPr lang="en-US" sz="1500" dirty="0">
                <a:solidFill>
                  <a:schemeClr val="tx1"/>
                </a:solidFill>
              </a:rPr>
              <a:t> U(x) that carries the limits of authority and the commitments</a:t>
            </a:r>
            <a:endParaRPr lang="en-US" sz="1500" dirty="0"/>
          </a:p>
          <a:p>
            <a:pPr marL="228600" indent="-228600">
              <a:spcAft>
                <a:spcPts val="600"/>
              </a:spcAft>
              <a:buSzPct val="100000"/>
              <a:buChar char="•"/>
            </a:pPr>
            <a:r>
              <a:rPr lang="en-US" sz="1500" dirty="0">
                <a:solidFill>
                  <a:schemeClr val="tx1"/>
                </a:solidFill>
              </a:rPr>
              <a:t>A </a:t>
            </a:r>
            <a:r>
              <a:rPr lang="en-US" sz="1500" b="1" dirty="0">
                <a:solidFill>
                  <a:schemeClr val="tx1"/>
                </a:solidFill>
              </a:rPr>
              <a:t>law of outside events</a:t>
            </a:r>
            <a:r>
              <a:rPr lang="en-US" sz="1500" dirty="0">
                <a:solidFill>
                  <a:schemeClr val="tx1"/>
                </a:solidFill>
              </a:rPr>
              <a:t>: finitely many outcomes w with probabilities p(w | x, u)</a:t>
            </a:r>
            <a:endParaRPr lang="en-US" sz="1500" dirty="0"/>
          </a:p>
          <a:p>
            <a:pPr marL="228600" indent="-228600">
              <a:spcAft>
                <a:spcPts val="600"/>
              </a:spcAft>
              <a:buSzPct val="100000"/>
              <a:buChar char="•"/>
            </a:pPr>
            <a:r>
              <a:rPr lang="en-US" sz="1500" b="1" dirty="0">
                <a:solidFill>
                  <a:schemeClr val="tx1"/>
                </a:solidFill>
              </a:rPr>
              <a:t>Dynamics</a:t>
            </a:r>
            <a:r>
              <a:rPr lang="en-US" sz="1500" dirty="0">
                <a:solidFill>
                  <a:schemeClr val="tx1"/>
                </a:solidFill>
              </a:rPr>
              <a:t> x′ = f(x, u, w), a </a:t>
            </a:r>
            <a:r>
              <a:rPr lang="en-US" sz="1500" b="1" dirty="0">
                <a:solidFill>
                  <a:schemeClr val="tx1"/>
                </a:solidFill>
              </a:rPr>
              <a:t>period's value</a:t>
            </a:r>
            <a:r>
              <a:rPr lang="en-US" sz="1500" dirty="0">
                <a:solidFill>
                  <a:schemeClr val="tx1"/>
                </a:solidFill>
              </a:rPr>
              <a:t> ℓ(x, u), and a </a:t>
            </a:r>
            <a:r>
              <a:rPr lang="en-US" sz="1500" b="1" dirty="0">
                <a:solidFill>
                  <a:schemeClr val="tx1"/>
                </a:solidFill>
              </a:rPr>
              <a:t>discount factor</a:t>
            </a:r>
            <a:r>
              <a:rPr lang="en-US" sz="1500" dirty="0">
                <a:solidFill>
                  <a:schemeClr val="tx1"/>
                </a:solidFill>
              </a:rPr>
              <a:t> β for periods of Δ years at the hurdle rate r: β = (1 + r)</a:t>
            </a:r>
            <a:r>
              <a:rPr lang="en-US" sz="1500" baseline="30000" dirty="0">
                <a:solidFill>
                  <a:schemeClr val="tx1"/>
                </a:solidFill>
              </a:rPr>
              <a:t>−Δ</a:t>
            </a:r>
            <a:endParaRPr lang="en-US" sz="1500" dirty="0"/>
          </a:p>
          <a:p>
            <a:pPr marL="228600" indent="-228600">
              <a:spcAft>
                <a:spcPts val="600"/>
              </a:spcAft>
              <a:buSzPct val="100000"/>
              <a:buChar char="•"/>
            </a:pPr>
            <a:r>
              <a:rPr lang="en-US" sz="1500" dirty="0">
                <a:solidFill>
                  <a:schemeClr val="tx1"/>
                </a:solidFill>
              </a:rPr>
              <a:t>A </a:t>
            </a:r>
            <a:r>
              <a:rPr lang="en-US" sz="1500" b="1" dirty="0">
                <a:solidFill>
                  <a:schemeClr val="tx1"/>
                </a:solidFill>
              </a:rPr>
              <a:t>horizon</a:t>
            </a:r>
            <a:r>
              <a:rPr lang="en-US" sz="1500" dirty="0">
                <a:solidFill>
                  <a:schemeClr val="tx1"/>
                </a:solidFill>
              </a:rPr>
              <a:t>: K periods with a terminal value, or open with β &lt; 1</a:t>
            </a:r>
            <a:endParaRPr lang="en-US" sz="1500" dirty="0"/>
          </a:p>
          <a:p>
            <a:pPr marL="228600" indent="-228600">
              <a:spcAft>
                <a:spcPts val="600"/>
              </a:spcAft>
              <a:buSzPct val="100000"/>
              <a:buChar char="•"/>
            </a:pPr>
            <a:r>
              <a:rPr lang="en-US" sz="1500" dirty="0">
                <a:solidFill>
                  <a:schemeClr val="tx1"/>
                </a:solidFill>
              </a:rPr>
              <a:t>A </a:t>
            </a:r>
            <a:r>
              <a:rPr lang="en-US" sz="1500" b="1" dirty="0">
                <a:solidFill>
                  <a:schemeClr val="tx1"/>
                </a:solidFill>
              </a:rPr>
              <a:t>rule</a:t>
            </a:r>
            <a:r>
              <a:rPr lang="en-US" sz="1500" dirty="0">
                <a:solidFill>
                  <a:schemeClr val="tx1"/>
                </a:solidFill>
              </a:rPr>
              <a:t> assigns a decision to every period and state; the </a:t>
            </a:r>
            <a:r>
              <a:rPr lang="en-US" sz="1500" b="1" dirty="0">
                <a:solidFill>
                  <a:schemeClr val="tx1"/>
                </a:solidFill>
              </a:rPr>
              <a:t>value function</a:t>
            </a:r>
            <a:r>
              <a:rPr lang="en-US" sz="1500" dirty="0">
                <a:solidFill>
                  <a:schemeClr val="tx1"/>
                </a:solidFill>
              </a:rPr>
              <a:t> V* is the best value from each state</a:t>
            </a:r>
            <a:endParaRPr lang="en-US" sz="1500" dirty="0"/>
          </a:p>
        </p:txBody>
      </p:sp>
      <p:sp>
        <p:nvSpPr>
          <p:cNvPr id="9" name="Text 6"/>
          <p:cNvSpPr txBox="1"/>
          <p:nvPr/>
        </p:nvSpPr>
        <p:spPr>
          <a:xfrm>
            <a:off x="6903720" y="1737360"/>
            <a:ext cx="4739335" cy="365760"/>
          </a:xfrm>
          <a:prstGeom prst="rect">
            <a:avLst/>
          </a:prstGeom>
          <a:noFill/>
          <a:ln/>
        </p:spPr>
        <p:txBody>
          <a:bodyPr wrap="square" lIns="0" tIns="0" rIns="0" bIns="0" rtlCol="0" anchor="ctr"/>
          <a:lstStyle/>
          <a:p>
            <a:pPr indent="0" marL="0">
              <a:buNone/>
            </a:pPr>
            <a:r>
              <a:rPr lang="en-US" sz="1600" b="1" dirty="0">
                <a:solidFill>
                  <a:schemeClr val="accent2"/>
                </a:solidFill>
              </a:rPr>
              <a:t>What dynamic programming adds</a:t>
            </a:r>
            <a:endParaRPr lang="en-US" sz="1600" dirty="0"/>
          </a:p>
        </p:txBody>
      </p:sp>
      <p:sp>
        <p:nvSpPr>
          <p:cNvPr id="10" name="Bullets"/>
          <p:cNvSpPr txBox="1"/>
          <p:nvPr/>
        </p:nvSpPr>
        <p:spPr>
          <a:xfrm>
            <a:off x="6903720" y="2194560"/>
            <a:ext cx="4739335" cy="3977640"/>
          </a:xfrm>
          <a:prstGeom prst="rect">
            <a:avLst/>
          </a:prstGeom>
          <a:noFill/>
          <a:ln/>
        </p:spPr>
        <p:txBody>
          <a:bodyPr wrap="square" lIns="635" tIns="635" rIns="635" bIns="635" rtlCol="0" anchor="t"/>
          <a:lstStyle/>
          <a:p>
            <a:pPr marL="228600" indent="-228600">
              <a:spcAft>
                <a:spcPts val="800"/>
              </a:spcAft>
              <a:buSzPct val="100000"/>
              <a:buChar char="•"/>
            </a:pPr>
            <a:r>
              <a:rPr lang="en-US" sz="1600" dirty="0">
                <a:solidFill>
                  <a:schemeClr val="tx1"/>
                </a:solidFill>
              </a:rPr>
              <a:t>Chapters 5 and 6 priced stocks along one plan; dynamic programming computes the best value from every position</a:t>
            </a:r>
            <a:endParaRPr lang="en-US" sz="1600" dirty="0"/>
          </a:p>
          <a:p>
            <a:pPr marL="228600" indent="-228600">
              <a:spcAft>
                <a:spcPts val="800"/>
              </a:spcAft>
              <a:buSzPct val="100000"/>
              <a:buChar char="•"/>
            </a:pPr>
            <a:r>
              <a:rPr lang="en-US" sz="1600" dirty="0">
                <a:solidFill>
                  <a:schemeClr val="tx1"/>
                </a:solidFill>
              </a:rPr>
              <a:t>The value function's slope prices every position at once, and its differences value lumps</a:t>
            </a:r>
            <a:endParaRPr lang="en-US" sz="1600" dirty="0"/>
          </a:p>
          <a:p>
            <a:pPr marL="228600" indent="-228600">
              <a:spcAft>
                <a:spcPts val="800"/>
              </a:spcAft>
              <a:buSzPct val="100000"/>
              <a:buChar char="•"/>
            </a:pPr>
            <a:r>
              <a:rPr lang="en-US" sz="1600" dirty="0">
                <a:solidFill>
                  <a:schemeClr val="tx1"/>
                </a:solidFill>
              </a:rPr>
              <a:t>The best decisions form a rule, not a schedule: a rule responds to what happens</a:t>
            </a:r>
            <a:endParaRPr lang="en-US" sz="1600" dirty="0"/>
          </a:p>
          <a:p>
            <a:pPr marL="228600" indent="-228600">
              <a:spcAft>
                <a:spcPts val="800"/>
              </a:spcAft>
              <a:buSzPct val="100000"/>
              <a:buChar char="•"/>
            </a:pPr>
            <a:r>
              <a:rPr lang="en-US" sz="1600" dirty="0">
                <a:solidFill>
                  <a:schemeClr val="tx1"/>
                </a:solidFill>
              </a:rPr>
              <a:t>A rule needs the current position and a declared law of what may happen next, not a forecast of the path</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§7.1 · TABLE 7.1</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What changes when every position is valued</a:t>
            </a:r>
            <a:endParaRPr lang="en-US" sz="3200" dirty="0"/>
          </a:p>
        </p:txBody>
      </p:sp>
      <p:graphicFrame>
        <p:nvGraphicFramePr>
          <p:cNvPr id="7" name="Table"/>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2108856"/>
                <a:gridCol w="4217712"/>
                <a:gridCol w="4767848"/>
              </a:tblGrid>
              <a:tr h="548640">
                <a:tc>
                  <a:txBody>
                    <a:bodyPr/>
                    <a:lstStyle/>
                    <a:p>
                      <a:pPr algn="l" indent="0" marL="0">
                        <a:buNone/>
                      </a:pP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Along a plan (Chapters 5–6)</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At every position (this chapter)</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r>
              <a:tr h="548640">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What is computed</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a best plan from one start</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the value of every position and a best rule</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548640">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Prices of stocks</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multipliers or costates along the plan</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slopes of the value function, wherever the company stands</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548640">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Lumps</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priced only at the margin</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differences of the value function</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548640">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Outside events</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a plan cannot respond; re-planning is a rule</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a rule responds to what happens</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548640">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Optimality condition</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the maximum principle (Theorem 6.2)</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the Bellman equation (Theorem 7.1)</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548640">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Certificate</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concavity (Theorem 6.3) or a direct argument</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the Bellman equation, with computable error bounds</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548640">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What limits it</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the shape of the answer must be guessed</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the number of positions: the curse of dimensionality</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§7.1 · MERIDIAN</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Capability does not move as planned</a:t>
            </a:r>
            <a:endParaRPr lang="en-US" sz="3200" dirty="0"/>
          </a:p>
        </p:txBody>
      </p:sp>
      <p:graphicFrame>
        <p:nvGraphicFramePr>
          <p:cNvPr id="5" name="Chart" descr=""/>
          <p:cNvGraphicFramePr/>
          <p:nvPr/>
        </p:nvGraphicFramePr>
        <p:xfrm>
          <a:off x="548640" y="1691640"/>
          <a:ext cx="5769096" cy="4480560"/>
        </p:xfrm>
        <a:graphic xmlns:a="http://schemas.openxmlformats.org/drawingml/2006/main">
          <a:graphicData uri="http://schemas.openxmlformats.org/drawingml/2006/chart">
            <c:chart xmlns:c="http://schemas.openxmlformats.org/drawingml/2006/chart" r:id="rId1"/>
          </a:graphicData>
        </a:graphic>
      </p:graphicFrame>
      <p:sp>
        <p:nvSpPr>
          <p:cNvPr id="6" name="Bullets"/>
          <p:cNvSpPr txBox="1"/>
          <p:nvPr/>
        </p:nvSpPr>
        <p:spPr>
          <a:xfrm>
            <a:off x="6683496" y="1691640"/>
            <a:ext cx="4959559" cy="4480560"/>
          </a:xfrm>
          <a:prstGeom prst="rect">
            <a:avLst/>
          </a:prstGeom>
          <a:noFill/>
          <a:ln/>
        </p:spPr>
        <p:txBody>
          <a:bodyPr wrap="square" lIns="635" tIns="635" rIns="635" bIns="635" rtlCol="0" anchor="t"/>
          <a:lstStyle/>
          <a:p>
            <a:pPr marL="228600" indent="-228600">
              <a:spcAft>
                <a:spcPts val="800"/>
              </a:spcAft>
              <a:buSzPct val="100000"/>
              <a:buChar char="•"/>
            </a:pPr>
            <a:r>
              <a:rPr lang="en-US" sz="1700" dirty="0">
                <a:solidFill>
                  <a:schemeClr val="tx1"/>
                </a:solidFill>
              </a:rPr>
              <a:t>Chapter 6 let capability drift to the floor of 55 and held it there, as if it moved exactly as planned</a:t>
            </a:r>
            <a:endParaRPr lang="en-US" sz="1700" dirty="0"/>
          </a:p>
          <a:p>
            <a:pPr marL="228600" indent="-228600">
              <a:spcAft>
                <a:spcPts val="800"/>
              </a:spcAft>
              <a:buSzPct val="100000"/>
              <a:buChar char="•"/>
            </a:pPr>
            <a:r>
              <a:rPr lang="en-US" sz="1700" dirty="0">
                <a:solidFill>
                  <a:schemeClr val="tx1"/>
                </a:solidFill>
              </a:rPr>
              <a:t>The record: half of all quarters end where planned, four in ten 0.75 points off, one in ten 1.5 points off</a:t>
            </a:r>
            <a:endParaRPr lang="en-US" sz="1700" dirty="0"/>
          </a:p>
          <a:p>
            <a:pPr marL="228600" indent="-228600">
              <a:spcAft>
                <a:spcPts val="800"/>
              </a:spcAft>
              <a:buSzPct val="100000"/>
              <a:buChar char="•"/>
            </a:pPr>
            <a:r>
              <a:rPr lang="en-US" sz="1700" dirty="0">
                <a:solidFill>
                  <a:schemeClr val="tx1"/>
                </a:solidFill>
              </a:rPr>
              <a:t>Holding exactly 55 then leaves capability short of the floor in 27.5 percent of quarters</a:t>
            </a:r>
            <a:endParaRPr lang="en-US" sz="1700" dirty="0"/>
          </a:p>
          <a:p>
            <a:pPr marL="228600" indent="-228600">
              <a:spcAft>
                <a:spcPts val="800"/>
              </a:spcAft>
              <a:buSzPct val="100000"/>
              <a:buChar char="•"/>
            </a:pPr>
            <a:r>
              <a:rPr lang="en-US" sz="1700" dirty="0">
                <a:solidFill>
                  <a:schemeClr val="tx1"/>
                </a:solidFill>
              </a:rPr>
              <a:t>A rule asks a different question each quarter: given where capability stands now, how much should Meridian hire?</a:t>
            </a:r>
            <a:endParaRPr lang="en-US" sz="17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§7.2 · DEFINITION 7.2</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bg1"/>
                </a:solidFill>
                <a:latin typeface="Cambria" pitchFamily="34" charset="0"/>
                <a:ea typeface="Cambria" pitchFamily="34" charset="-122"/>
                <a:cs typeface="Cambria" pitchFamily="34" charset="-120"/>
              </a:rPr>
              <a:t>The value of a position solves Bellman's equation</a:t>
            </a:r>
            <a:endParaRPr lang="en-US" sz="3200" dirty="0"/>
          </a:p>
        </p:txBody>
      </p:sp>
      <p:pic>
        <p:nvPicPr>
          <p:cNvPr id="5" name="Equation" descr="Equation: V^{*}(x) \;=\; \max_{u \in U(x)} \Bigl\{ \ell(x,u) \;+\; \beta\, \mathrm{E}\bigl[ V^{*}\bigl(f(x,u,w)\bigr) \bigr] \Bigr\}">    </p:cNvPr>
          <p:cNvPicPr>
            <a:picLocks noChangeAspect="1"/>
          </p:cNvPicPr>
          <p:nvPr/>
        </p:nvPicPr>
        <p:blipFill>
          <a:blip r:embed="rId1"/>
          <a:stretch>
            <a:fillRect/>
          </a:stretch>
        </p:blipFill>
        <p:spPr>
          <a:xfrm>
            <a:off x="2354072" y="1828800"/>
            <a:ext cx="7483552" cy="960120"/>
          </a:xfrm>
          <a:prstGeom prst="rect">
            <a:avLst/>
          </a:prstGeom>
        </p:spPr>
      </p:pic>
      <p:sp>
        <p:nvSpPr>
          <p:cNvPr id="6" name="Text 2"/>
          <p:cNvSpPr txBox="1"/>
          <p:nvPr/>
        </p:nvSpPr>
        <p:spPr>
          <a:xfrm>
            <a:off x="914400" y="2926080"/>
            <a:ext cx="10362895" cy="411480"/>
          </a:xfrm>
          <a:prstGeom prst="rect">
            <a:avLst/>
          </a:prstGeom>
          <a:noFill/>
          <a:ln/>
        </p:spPr>
        <p:txBody>
          <a:bodyPr wrap="square" lIns="0" tIns="0" rIns="0" bIns="0" rtlCol="0" anchor="ctr"/>
          <a:lstStyle/>
          <a:p>
            <a:pPr algn="ctr" indent="0" marL="0">
              <a:buNone/>
            </a:pPr>
            <a:r>
              <a:rPr lang="en-US" sz="1600" i="1" dirty="0">
                <a:solidFill>
                  <a:schemeClr val="accent4"/>
                </a:solidFill>
              </a:rPr>
              <a:t>the best a decision can earn now, plus the discounted expected value of the position it leads to</a:t>
            </a:r>
            <a:endParaRPr lang="en-US" sz="1600" dirty="0"/>
          </a:p>
        </p:txBody>
      </p:sp>
      <p:sp>
        <p:nvSpPr>
          <p:cNvPr id="7" name="Bullets"/>
          <p:cNvSpPr txBox="1"/>
          <p:nvPr/>
        </p:nvSpPr>
        <p:spPr>
          <a:xfrm>
            <a:off x="914400" y="3520440"/>
            <a:ext cx="10362895" cy="2651760"/>
          </a:xfrm>
          <a:prstGeom prst="rect">
            <a:avLst/>
          </a:prstGeom>
          <a:noFill/>
          <a:ln/>
        </p:spPr>
        <p:txBody>
          <a:bodyPr wrap="square" lIns="635" tIns="635" rIns="635" bIns="635" rtlCol="0" anchor="t"/>
          <a:lstStyle/>
          <a:p>
            <a:pPr marL="228600" indent="-228600">
              <a:spcAft>
                <a:spcPts val="800"/>
              </a:spcAft>
              <a:buSzPct val="100000"/>
              <a:buChar char="•"/>
            </a:pPr>
            <a:r>
              <a:rPr lang="en-US" sz="1700" dirty="0">
                <a:solidFill>
                  <a:schemeClr val="bg1"/>
                </a:solidFill>
              </a:rPr>
              <a:t>The </a:t>
            </a:r>
            <a:r>
              <a:rPr lang="en-US" sz="1700" b="1" dirty="0">
                <a:solidFill>
                  <a:schemeClr val="bg1"/>
                </a:solidFill>
              </a:rPr>
              <a:t>value of a decision</a:t>
            </a:r>
            <a:r>
              <a:rPr lang="en-US" sz="1700" dirty="0">
                <a:solidFill>
                  <a:schemeClr val="bg1"/>
                </a:solidFill>
              </a:rPr>
              <a:t> Q_V(x, u): what it earns now plus the discounted expected value of where it leads</a:t>
            </a:r>
            <a:endParaRPr lang="en-US" sz="1700" dirty="0"/>
          </a:p>
          <a:p>
            <a:pPr marL="228600" indent="-228600">
              <a:spcAft>
                <a:spcPts val="800"/>
              </a:spcAft>
              <a:buSzPct val="100000"/>
              <a:buChar char="•"/>
            </a:pPr>
            <a:r>
              <a:rPr lang="en-US" sz="1700" dirty="0">
                <a:solidFill>
                  <a:schemeClr val="bg1"/>
                </a:solidFill>
              </a:rPr>
              <a:t>The </a:t>
            </a:r>
            <a:r>
              <a:rPr lang="en-US" sz="1700" b="1" dirty="0">
                <a:solidFill>
                  <a:schemeClr val="bg1"/>
                </a:solidFill>
              </a:rPr>
              <a:t>Bellman operator</a:t>
            </a:r>
            <a:r>
              <a:rPr lang="en-US" sz="1700" dirty="0">
                <a:solidFill>
                  <a:schemeClr val="bg1"/>
                </a:solidFill>
              </a:rPr>
              <a:t> T maps V to the best value of a decision at every state; a rule is </a:t>
            </a:r>
            <a:r>
              <a:rPr lang="en-US" sz="1700" b="1" dirty="0">
                <a:solidFill>
                  <a:schemeClr val="bg1"/>
                </a:solidFill>
              </a:rPr>
              <a:t>greedy</a:t>
            </a:r>
            <a:r>
              <a:rPr lang="en-US" sz="1700" dirty="0">
                <a:solidFill>
                  <a:schemeClr val="bg1"/>
                </a:solidFill>
              </a:rPr>
              <a:t> for V if it attains it</a:t>
            </a:r>
            <a:endParaRPr lang="en-US" sz="1700" dirty="0"/>
          </a:p>
          <a:p>
            <a:pPr marL="228600" indent="-228600">
              <a:spcAft>
                <a:spcPts val="800"/>
              </a:spcAft>
              <a:buSzPct val="100000"/>
              <a:buChar char="•"/>
            </a:pPr>
            <a:r>
              <a:rPr lang="en-US" sz="1700" dirty="0">
                <a:solidFill>
                  <a:schemeClr val="bg1"/>
                </a:solidFill>
              </a:rPr>
              <a:t>Over K periods it is a recursion, solved from the terminal value back to the first period</a:t>
            </a:r>
            <a:endParaRPr lang="en-US" sz="17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C4CBD8"/>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§7.2 · THEOREM 7.1</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The principle of optimality, as a board can use it</a:t>
            </a:r>
            <a:endParaRPr lang="en-US" sz="3200" dirty="0"/>
          </a:p>
        </p:txBody>
      </p:sp>
      <p:sp>
        <p:nvSpPr>
          <p:cNvPr id="5" name="Result card"/>
          <p:cNvSpPr/>
          <p:nvPr/>
        </p:nvSpPr>
        <p:spPr>
          <a:xfrm>
            <a:off x="548640" y="1691640"/>
            <a:ext cx="5943600" cy="4480560"/>
          </a:xfrm>
          <a:prstGeom prst="roundRect">
            <a:avLst>
              <a:gd name="adj" fmla="val 1633"/>
            </a:avLst>
          </a:prstGeom>
          <a:solidFill>
            <a:schemeClr val="bg2"/>
          </a:solidFill>
          <a:ln w="9525">
            <a:solidFill>
              <a:srgbClr val="C4CBD8"/>
            </a:solidFill>
            <a:prstDash val="solid"/>
          </a:ln>
        </p:spPr>
      </p:sp>
      <p:sp>
        <p:nvSpPr>
          <p:cNvPr id="6" name="Text 3"/>
          <p:cNvSpPr txBox="1"/>
          <p:nvPr/>
        </p:nvSpPr>
        <p:spPr>
          <a:xfrm>
            <a:off x="822960" y="1892808"/>
            <a:ext cx="539496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THEOREM 7.1</a:t>
            </a:r>
            <a:endParaRPr lang="en-US" sz="1200" dirty="0"/>
          </a:p>
        </p:txBody>
      </p:sp>
      <p:sp>
        <p:nvSpPr>
          <p:cNvPr id="7" name="Text 4"/>
          <p:cNvSpPr txBox="1"/>
          <p:nvPr/>
        </p:nvSpPr>
        <p:spPr>
          <a:xfrm>
            <a:off x="822960" y="2194560"/>
            <a:ext cx="5394960" cy="457200"/>
          </a:xfrm>
          <a:prstGeom prst="rect">
            <a:avLst/>
          </a:prstGeom>
          <a:noFill/>
          <a:ln/>
        </p:spPr>
        <p:txBody>
          <a:bodyPr wrap="square" lIns="0" tIns="0" rIns="0" bIns="0" rtlCol="0" anchor="ctr"/>
          <a:lstStyle/>
          <a:p>
            <a:pPr indent="0" marL="0">
              <a:buNone/>
            </a:pPr>
            <a:r>
              <a:rPr lang="en-US" sz="2100" b="1" dirty="0">
                <a:solidFill>
                  <a:schemeClr val="tx1"/>
                </a:solidFill>
                <a:latin typeface="Cambria" pitchFamily="34" charset="0"/>
                <a:ea typeface="Cambria" pitchFamily="34" charset="-122"/>
                <a:cs typeface="Cambria" pitchFamily="34" charset="-120"/>
              </a:rPr>
              <a:t>Bellman Equation Theorem</a:t>
            </a:r>
            <a:endParaRPr lang="en-US" sz="2100" dirty="0"/>
          </a:p>
        </p:txBody>
      </p:sp>
      <p:sp>
        <p:nvSpPr>
          <p:cNvPr id="8" name="Bullets"/>
          <p:cNvSpPr txBox="1"/>
          <p:nvPr/>
        </p:nvSpPr>
        <p:spPr>
          <a:xfrm>
            <a:off x="822960" y="2743200"/>
            <a:ext cx="5394960" cy="3291840"/>
          </a:xfrm>
          <a:prstGeom prst="rect">
            <a:avLst/>
          </a:prstGeom>
          <a:noFill/>
          <a:ln/>
        </p:spPr>
        <p:txBody>
          <a:bodyPr wrap="square" lIns="635" tIns="635" rIns="635" bIns="635" rtlCol="0" anchor="t"/>
          <a:lstStyle/>
          <a:p>
            <a:pPr marL="228600" indent="-228600">
              <a:spcAft>
                <a:spcPts val="600"/>
              </a:spcAft>
              <a:buSzPct val="100000"/>
              <a:buChar char="•"/>
            </a:pPr>
            <a:r>
              <a:rPr lang="en-US" sz="1500" b="1" dirty="0">
                <a:solidFill>
                  <a:schemeClr val="tx1"/>
                </a:solidFill>
              </a:rPr>
              <a:t>(i) Finite horizon.</a:t>
            </a:r>
            <a:r>
              <a:rPr lang="en-US" sz="1500" dirty="0">
                <a:solidFill>
                  <a:schemeClr val="tx1"/>
                </a:solidFill>
              </a:rPr>
              <a:t> The recursion gives the best value from every state; the rest of a best rule is best from wherever the company stands. Rules that use the past do no better</a:t>
            </a:r>
            <a:endParaRPr lang="en-US" sz="1500" dirty="0"/>
          </a:p>
          <a:p>
            <a:pPr marL="228600" indent="-228600">
              <a:spcAft>
                <a:spcPts val="600"/>
              </a:spcAft>
              <a:buSzPct val="100000"/>
              <a:buChar char="•"/>
            </a:pPr>
            <a:r>
              <a:rPr lang="en-US" sz="1500" b="1" dirty="0">
                <a:solidFill>
                  <a:schemeClr val="tx1"/>
                </a:solidFill>
              </a:rPr>
              <a:t>(ii) Open horizon.</a:t>
            </a:r>
            <a:r>
              <a:rPr lang="en-US" sz="1500" dirty="0">
                <a:solidFill>
                  <a:schemeClr val="tx1"/>
                </a:solidFill>
              </a:rPr>
              <a:t> The Bellman operator is a contraction by β: the value function is its only bounded fixed point</a:t>
            </a:r>
            <a:endParaRPr lang="en-US" sz="1500" dirty="0"/>
          </a:p>
          <a:p>
            <a:pPr marL="228600" indent="-228600">
              <a:spcAft>
                <a:spcPts val="600"/>
              </a:spcAft>
              <a:buSzPct val="100000"/>
              <a:buChar char="•"/>
            </a:pPr>
            <a:r>
              <a:rPr lang="en-US" sz="1500" b="1" dirty="0">
                <a:solidFill>
                  <a:schemeClr val="tx1"/>
                </a:solidFill>
              </a:rPr>
              <a:t>(iii) Rules.</a:t>
            </a:r>
            <a:r>
              <a:rPr lang="en-US" sz="1500" dirty="0">
                <a:solidFill>
                  <a:schemeClr val="tx1"/>
                </a:solidFill>
              </a:rPr>
              <a:t> A stationary rule is best from every state exactly when it is greedy for the value function</a:t>
            </a:r>
            <a:endParaRPr lang="en-US" sz="1500" dirty="0"/>
          </a:p>
        </p:txBody>
      </p:sp>
      <p:sp>
        <p:nvSpPr>
          <p:cNvPr id="9" name="Text 6"/>
          <p:cNvSpPr txBox="1"/>
          <p:nvPr/>
        </p:nvSpPr>
        <p:spPr>
          <a:xfrm>
            <a:off x="6903720" y="1737360"/>
            <a:ext cx="4739335" cy="365760"/>
          </a:xfrm>
          <a:prstGeom prst="rect">
            <a:avLst/>
          </a:prstGeom>
          <a:noFill/>
          <a:ln/>
        </p:spPr>
        <p:txBody>
          <a:bodyPr wrap="square" lIns="0" tIns="0" rIns="0" bIns="0" rtlCol="0" anchor="ctr"/>
          <a:lstStyle/>
          <a:p>
            <a:pPr indent="0" marL="0">
              <a:buNone/>
            </a:pPr>
            <a:r>
              <a:rPr lang="en-US" sz="1600" b="1" dirty="0">
                <a:solidFill>
                  <a:schemeClr val="accent2"/>
                </a:solidFill>
              </a:rPr>
              <a:t>What it means</a:t>
            </a:r>
            <a:endParaRPr lang="en-US" sz="1600" dirty="0"/>
          </a:p>
        </p:txBody>
      </p:sp>
      <p:sp>
        <p:nvSpPr>
          <p:cNvPr id="10" name="Bullets"/>
          <p:cNvSpPr txBox="1"/>
          <p:nvPr/>
        </p:nvSpPr>
        <p:spPr>
          <a:xfrm>
            <a:off x="6903720" y="2194560"/>
            <a:ext cx="4739335" cy="3977640"/>
          </a:xfrm>
          <a:prstGeom prst="rect">
            <a:avLst/>
          </a:prstGeom>
          <a:noFill/>
          <a:ln/>
        </p:spPr>
        <p:txBody>
          <a:bodyPr wrap="square" lIns="635" tIns="635" rIns="635" bIns="635" rtlCol="0" anchor="t"/>
          <a:lstStyle/>
          <a:p>
            <a:pPr marL="228600" indent="-228600">
              <a:spcAft>
                <a:spcPts val="800"/>
              </a:spcAft>
              <a:buSzPct val="100000"/>
              <a:buChar char="•"/>
            </a:pPr>
            <a:r>
              <a:rPr lang="en-US" sz="1600" dirty="0">
                <a:solidFill>
                  <a:schemeClr val="tx1"/>
                </a:solidFill>
              </a:rPr>
              <a:t>A decision needs the current position and the values of the positions it can lead to, not the history or a forecast</a:t>
            </a:r>
            <a:endParaRPr lang="en-US" sz="1600" dirty="0"/>
          </a:p>
          <a:p>
            <a:pPr marL="228600" indent="-228600">
              <a:spcAft>
                <a:spcPts val="800"/>
              </a:spcAft>
              <a:buSzPct val="100000"/>
              <a:buChar char="•"/>
            </a:pPr>
            <a:r>
              <a:rPr lang="en-US" sz="1600" dirty="0">
                <a:solidFill>
                  <a:schemeClr val="tx1"/>
                </a:solidFill>
              </a:rPr>
              <a:t>The value function is the durable asset: a ledger of what every position is worth</a:t>
            </a:r>
            <a:endParaRPr lang="en-US" sz="1600" dirty="0"/>
          </a:p>
          <a:p>
            <a:pPr marL="228600" indent="-228600">
              <a:spcAft>
                <a:spcPts val="800"/>
              </a:spcAft>
              <a:buSzPct val="100000"/>
              <a:buChar char="•"/>
            </a:pPr>
            <a:r>
              <a:rPr lang="en-US" sz="1600" dirty="0">
                <a:solidFill>
                  <a:schemeClr val="tx1"/>
                </a:solidFill>
              </a:rPr>
              <a:t>Each pass shrinks the largest error by at least β; at Meridian's quarterly β = 0.976, fewer than a hundred passes cut it tenfold</a:t>
            </a:r>
            <a:endParaRPr lang="en-US" sz="1600" dirty="0"/>
          </a:p>
          <a:p>
            <a:pPr marL="228600" indent="-228600">
              <a:spcAft>
                <a:spcPts val="800"/>
              </a:spcAft>
              <a:buSzPct val="100000"/>
              <a:buChar char="•"/>
            </a:pPr>
            <a:r>
              <a:rPr lang="en-US" sz="1600" dirty="0">
                <a:solidFill>
                  <a:schemeClr val="tx1"/>
                </a:solidFill>
              </a:rPr>
              <a:t>The board approves a rule, best from every position, including the ones no one planned for</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§7.2 · PROPOSITION 7.1</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Slopes price stocks; differences value lumps</a:t>
            </a:r>
            <a:endParaRPr lang="en-US" sz="3200" dirty="0"/>
          </a:p>
        </p:txBody>
      </p:sp>
      <p:sp>
        <p:nvSpPr>
          <p:cNvPr id="5" name="Bullets"/>
          <p:cNvSpPr txBox="1"/>
          <p:nvPr/>
        </p:nvSpPr>
        <p:spPr>
          <a:xfrm>
            <a:off x="548640" y="1691640"/>
            <a:ext cx="4254886" cy="4480560"/>
          </a:xfrm>
          <a:prstGeom prst="rect">
            <a:avLst/>
          </a:prstGeom>
          <a:noFill/>
          <a:ln/>
        </p:spPr>
        <p:txBody>
          <a:bodyPr wrap="square" lIns="635" tIns="635" rIns="635" bIns="635" rtlCol="0" anchor="t"/>
          <a:lstStyle/>
          <a:p>
            <a:pPr marL="228600" indent="-228600">
              <a:spcAft>
                <a:spcPts val="800"/>
              </a:spcAft>
              <a:buSzPct val="100000"/>
              <a:buChar char="•"/>
            </a:pPr>
            <a:r>
              <a:rPr lang="en-US" sz="1600" b="1" dirty="0">
                <a:solidFill>
                  <a:schemeClr val="tx1"/>
                </a:solidFill>
              </a:rPr>
              <a:t>Lumps.</a:t>
            </a:r>
            <a:r>
              <a:rPr lang="en-US" sz="1600" dirty="0">
                <a:solidFill>
                  <a:schemeClr val="tx1"/>
                </a:solidFill>
              </a:rPr>
              <a:t> Moving the company from x to x′ is worth V*(x′) − V*(x), each position with its own best continuation</a:t>
            </a:r>
            <a:endParaRPr lang="en-US" sz="1600" dirty="0"/>
          </a:p>
          <a:p>
            <a:pPr marL="228600" indent="-228600">
              <a:spcAft>
                <a:spcPts val="800"/>
              </a:spcAft>
              <a:buSzPct val="100000"/>
              <a:buChar char="•"/>
            </a:pPr>
            <a:r>
              <a:rPr lang="en-US" sz="1600" b="1" dirty="0">
                <a:solidFill>
                  <a:schemeClr val="tx1"/>
                </a:solidFill>
              </a:rPr>
              <a:t>Prices.</a:t>
            </a:r>
            <a:r>
              <a:rPr lang="en-US" sz="1600" dirty="0">
                <a:solidFill>
                  <a:schemeClr val="tx1"/>
                </a:solidFill>
              </a:rPr>
              <a:t> The slope prices each stock and satisfies the price recursion, Chapter 6's costate equation on a calendar, averaged over events</a:t>
            </a:r>
            <a:endParaRPr lang="en-US" sz="1600" dirty="0"/>
          </a:p>
          <a:p>
            <a:pPr marL="228600" indent="-228600">
              <a:spcAft>
                <a:spcPts val="800"/>
              </a:spcAft>
              <a:buSzPct val="100000"/>
              <a:buChar char="•"/>
            </a:pPr>
            <a:r>
              <a:rPr lang="en-US" sz="1600" b="1" dirty="0">
                <a:solidFill>
                  <a:schemeClr val="tx1"/>
                </a:solidFill>
              </a:rPr>
              <a:t>Concavity.</a:t>
            </a:r>
            <a:r>
              <a:rPr lang="en-US" sz="1600" dirty="0">
                <a:solidFill>
                  <a:schemeClr val="tx1"/>
                </a:solidFill>
              </a:rPr>
              <a:t> A stock's price falls as the stock grows</a:t>
            </a:r>
            <a:endParaRPr lang="en-US" sz="1600" dirty="0"/>
          </a:p>
          <a:p>
            <a:pPr marL="228600" indent="-228600">
              <a:spcAft>
                <a:spcPts val="800"/>
              </a:spcAft>
              <a:buSzPct val="100000"/>
              <a:buChar char="•"/>
            </a:pPr>
            <a:r>
              <a:rPr lang="en-US" sz="1600" dirty="0">
                <a:solidFill>
                  <a:schemeClr val="tx1"/>
                </a:solidFill>
              </a:rPr>
              <a:t>Meridian: a point is worth </a:t>
            </a:r>
            <a:r>
              <a:rPr lang="en-US" sz="1600" b="1" dirty="0">
                <a:solidFill>
                  <a:schemeClr val="tx1"/>
                </a:solidFill>
              </a:rPr>
              <a:t>$3.9m</a:t>
            </a:r>
            <a:r>
              <a:rPr lang="en-US" sz="1600" dirty="0">
                <a:solidFill>
                  <a:schemeClr val="tx1"/>
                </a:solidFill>
              </a:rPr>
              <a:t> between 55 and 57.2, the cost of a point net of a quarter's decay; </a:t>
            </a:r>
            <a:r>
              <a:rPr lang="en-US" sz="1600" b="1" dirty="0">
                <a:solidFill>
                  <a:schemeClr val="tx1"/>
                </a:solidFill>
              </a:rPr>
              <a:t>$3.7m</a:t>
            </a:r>
            <a:r>
              <a:rPr lang="en-US" sz="1600" dirty="0">
                <a:solidFill>
                  <a:schemeClr val="tx1"/>
                </a:solidFill>
              </a:rPr>
              <a:t> at 58; </a:t>
            </a:r>
            <a:r>
              <a:rPr lang="en-US" sz="1600" b="1" dirty="0">
                <a:solidFill>
                  <a:schemeClr val="tx1"/>
                </a:solidFill>
              </a:rPr>
              <a:t>$7.2m</a:t>
            </a:r>
            <a:r>
              <a:rPr lang="en-US" sz="1600" dirty="0">
                <a:solidFill>
                  <a:schemeClr val="tx1"/>
                </a:solidFill>
              </a:rPr>
              <a:t> at 53</a:t>
            </a:r>
            <a:endParaRPr lang="en-US" sz="1600" dirty="0"/>
          </a:p>
          <a:p>
            <a:pPr marL="228600" indent="-228600">
              <a:spcAft>
                <a:spcPts val="800"/>
              </a:spcAft>
              <a:buSzPct val="100000"/>
              <a:buChar char="•"/>
            </a:pPr>
            <a:r>
              <a:rPr lang="en-US" sz="1600" dirty="0">
                <a:solidFill>
                  <a:schemeClr val="tx1"/>
                </a:solidFill>
              </a:rPr>
              <a:t>The engineering team is worth </a:t>
            </a:r>
            <a:r>
              <a:rPr lang="en-US" sz="1600" b="1" dirty="0">
                <a:solidFill>
                  <a:schemeClr val="tx1"/>
                </a:solidFill>
              </a:rPr>
              <a:t>$23.8m</a:t>
            </a:r>
            <a:r>
              <a:rPr lang="en-US" sz="1600" dirty="0">
                <a:solidFill>
                  <a:schemeClr val="tx1"/>
                </a:solidFill>
              </a:rPr>
              <a:t>, between $18.4m and $36.0m at the prices at either end</a:t>
            </a:r>
            <a:endParaRPr lang="en-US" sz="1600" dirty="0"/>
          </a:p>
        </p:txBody>
      </p:sp>
      <p:pic>
        <p:nvPicPr>
          <p:cNvPr id="6" name="Figure" descr="Figure 7.1: the price of a capability point and the best rule">    </p:cNvPr>
          <p:cNvPicPr>
            <a:picLocks noChangeAspect="1"/>
          </p:cNvPicPr>
          <p:nvPr/>
        </p:nvPicPr>
        <p:blipFill>
          <a:blip r:embed="rId1"/>
          <a:stretch>
            <a:fillRect/>
          </a:stretch>
        </p:blipFill>
        <p:spPr>
          <a:xfrm>
            <a:off x="5169286" y="2044063"/>
            <a:ext cx="6473769" cy="3208787"/>
          </a:xfrm>
          <a:prstGeom prst="rect">
            <a:avLst/>
          </a:prstGeom>
        </p:spPr>
      </p:pic>
      <p:sp>
        <p:nvSpPr>
          <p:cNvPr id="7" name="Caption"/>
          <p:cNvSpPr txBox="1"/>
          <p:nvPr/>
        </p:nvSpPr>
        <p:spPr>
          <a:xfrm>
            <a:off x="5169286" y="5326001"/>
            <a:ext cx="6473769" cy="502920"/>
          </a:xfrm>
          <a:prstGeom prst="rect">
            <a:avLst/>
          </a:prstGeom>
          <a:noFill/>
          <a:ln/>
        </p:spPr>
        <p:txBody>
          <a:bodyPr wrap="square" lIns="0" tIns="0" rIns="0" bIns="0" rtlCol="0" anchor="t"/>
          <a:lstStyle/>
          <a:p>
            <a:pPr indent="0" marL="0">
              <a:buNone/>
            </a:pPr>
            <a:r>
              <a:rPr lang="en-US" sz="1100" i="1" dirty="0">
                <a:solidFill>
                  <a:schemeClr val="tx2"/>
                </a:solidFill>
              </a:rPr>
              <a:t>Figure 7.1. (a) The price of a capability point, the slope of the value function. (b) The best rule as planned capability after hiring: at the cap below 54.6, the target 55.75, no hiring above 57.2.</a:t>
            </a:r>
            <a:endParaRPr lang="en-US" sz="11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§7.3 · THEOREM 7.2</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The best rule tops capability up to a target</a:t>
            </a:r>
            <a:endParaRPr lang="en-US" sz="3200" dirty="0"/>
          </a:p>
        </p:txBody>
      </p:sp>
      <p:sp>
        <p:nvSpPr>
          <p:cNvPr id="5" name="Stat card"/>
          <p:cNvSpPr/>
          <p:nvPr/>
        </p:nvSpPr>
        <p:spPr>
          <a:xfrm>
            <a:off x="548640" y="1691640"/>
            <a:ext cx="3515258" cy="1965960"/>
          </a:xfrm>
          <a:prstGeom prst="roundRect">
            <a:avLst>
              <a:gd name="adj" fmla="val 3721"/>
            </a:avLst>
          </a:prstGeom>
          <a:solidFill>
            <a:schemeClr val="bg2"/>
          </a:solidFill>
          <a:ln w="9525">
            <a:solidFill>
              <a:srgbClr val="C4CBD8"/>
            </a:solidFill>
            <a:prstDash val="solid"/>
          </a:ln>
        </p:spPr>
      </p:sp>
      <p:sp>
        <p:nvSpPr>
          <p:cNvPr id="6" name="Stat value"/>
          <p:cNvSpPr txBox="1"/>
          <p:nvPr/>
        </p:nvSpPr>
        <p:spPr>
          <a:xfrm>
            <a:off x="685800" y="1801368"/>
            <a:ext cx="3240938" cy="914400"/>
          </a:xfrm>
          <a:prstGeom prst="rect">
            <a:avLst/>
          </a:prstGeom>
          <a:noFill/>
          <a:ln/>
        </p:spPr>
        <p:txBody>
          <a:bodyPr wrap="square" lIns="0" tIns="0" rIns="0" bIns="0" rtlCol="0" anchor="ctr"/>
          <a:lstStyle/>
          <a:p>
            <a:pPr algn="ctr" indent="0" marL="0">
              <a:buNone/>
            </a:pPr>
            <a:r>
              <a:rPr lang="en-US" sz="4400" b="1" dirty="0">
                <a:solidFill>
                  <a:schemeClr val="tx1"/>
                </a:solidFill>
                <a:latin typeface="Cambria" pitchFamily="34" charset="0"/>
                <a:ea typeface="Cambria" pitchFamily="34" charset="-122"/>
                <a:cs typeface="Cambria" pitchFamily="34" charset="-120"/>
              </a:rPr>
              <a:t>12.3%</a:t>
            </a:r>
            <a:endParaRPr lang="en-US" sz="4400" dirty="0"/>
          </a:p>
        </p:txBody>
      </p:sp>
      <p:sp>
        <p:nvSpPr>
          <p:cNvPr id="7" name="Stat label"/>
          <p:cNvSpPr txBox="1"/>
          <p:nvPr/>
        </p:nvSpPr>
        <p:spPr>
          <a:xfrm>
            <a:off x="685800" y="2697480"/>
            <a:ext cx="3240938" cy="886968"/>
          </a:xfrm>
          <a:prstGeom prst="rect">
            <a:avLst/>
          </a:prstGeom>
          <a:noFill/>
          <a:ln/>
        </p:spPr>
        <p:txBody>
          <a:bodyPr wrap="square" lIns="0" tIns="0" rIns="0" bIns="0" rtlCol="0" anchor="t"/>
          <a:lstStyle/>
          <a:p>
            <a:pPr algn="ctr" indent="0" marL="0">
              <a:buNone/>
            </a:pPr>
            <a:r>
              <a:rPr lang="en-US" sz="1400" dirty="0">
                <a:solidFill>
                  <a:schemeClr val="tx2"/>
                </a:solidFill>
              </a:rPr>
              <a:t>critical ratio: holding a planned point, $0.19m a quarter, against a point short next quarter, $1.56m today</a:t>
            </a:r>
            <a:endParaRPr lang="en-US" sz="1400" dirty="0"/>
          </a:p>
        </p:txBody>
      </p:sp>
      <p:sp>
        <p:nvSpPr>
          <p:cNvPr id="8" name="Stat card"/>
          <p:cNvSpPr/>
          <p:nvPr/>
        </p:nvSpPr>
        <p:spPr>
          <a:xfrm>
            <a:off x="4338218" y="1691640"/>
            <a:ext cx="3515258" cy="1965960"/>
          </a:xfrm>
          <a:prstGeom prst="roundRect">
            <a:avLst>
              <a:gd name="adj" fmla="val 3721"/>
            </a:avLst>
          </a:prstGeom>
          <a:solidFill>
            <a:schemeClr val="bg2"/>
          </a:solidFill>
          <a:ln w="9525">
            <a:solidFill>
              <a:srgbClr val="C4CBD8"/>
            </a:solidFill>
            <a:prstDash val="solid"/>
          </a:ln>
        </p:spPr>
      </p:sp>
      <p:sp>
        <p:nvSpPr>
          <p:cNvPr id="9" name="Stat value"/>
          <p:cNvSpPr txBox="1"/>
          <p:nvPr/>
        </p:nvSpPr>
        <p:spPr>
          <a:xfrm>
            <a:off x="4475378" y="1801368"/>
            <a:ext cx="3240938" cy="914400"/>
          </a:xfrm>
          <a:prstGeom prst="rect">
            <a:avLst/>
          </a:prstGeom>
          <a:noFill/>
          <a:ln/>
        </p:spPr>
        <p:txBody>
          <a:bodyPr wrap="square" lIns="0" tIns="0" rIns="0" bIns="0" rtlCol="0" anchor="ctr"/>
          <a:lstStyle/>
          <a:p>
            <a:pPr algn="ctr" indent="0" marL="0">
              <a:buNone/>
            </a:pPr>
            <a:r>
              <a:rPr lang="en-US" sz="4400" b="1" dirty="0">
                <a:solidFill>
                  <a:schemeClr val="tx1"/>
                </a:solidFill>
                <a:latin typeface="Cambria" pitchFamily="34" charset="0"/>
                <a:ea typeface="Cambria" pitchFamily="34" charset="-122"/>
                <a:cs typeface="Cambria" pitchFamily="34" charset="-120"/>
              </a:rPr>
              <a:t>0.75</a:t>
            </a:r>
            <a:endParaRPr lang="en-US" sz="4400" dirty="0"/>
          </a:p>
        </p:txBody>
      </p:sp>
      <p:sp>
        <p:nvSpPr>
          <p:cNvPr id="10" name="Stat label"/>
          <p:cNvSpPr txBox="1"/>
          <p:nvPr/>
        </p:nvSpPr>
        <p:spPr>
          <a:xfrm>
            <a:off x="4475378" y="2697480"/>
            <a:ext cx="3240938" cy="886968"/>
          </a:xfrm>
          <a:prstGeom prst="rect">
            <a:avLst/>
          </a:prstGeom>
          <a:noFill/>
          <a:ln/>
        </p:spPr>
        <p:txBody>
          <a:bodyPr wrap="square" lIns="0" tIns="0" rIns="0" bIns="0" rtlCol="0" anchor="t"/>
          <a:lstStyle/>
          <a:p>
            <a:pPr algn="ctr" indent="0" marL="0">
              <a:buNone/>
            </a:pPr>
            <a:r>
              <a:rPr lang="en-US" sz="1400" dirty="0">
                <a:solidFill>
                  <a:schemeClr val="tx2"/>
                </a:solidFill>
              </a:rPr>
              <a:t>margin: 5% of quarters lose more than 0.75 points, 25% lose 0.75 or more</a:t>
            </a:r>
            <a:endParaRPr lang="en-US" sz="1400" dirty="0"/>
          </a:p>
        </p:txBody>
      </p:sp>
      <p:sp>
        <p:nvSpPr>
          <p:cNvPr id="11" name="Stat card"/>
          <p:cNvSpPr/>
          <p:nvPr/>
        </p:nvSpPr>
        <p:spPr>
          <a:xfrm>
            <a:off x="8127797" y="1691640"/>
            <a:ext cx="3515258" cy="1965960"/>
          </a:xfrm>
          <a:prstGeom prst="roundRect">
            <a:avLst>
              <a:gd name="adj" fmla="val 3721"/>
            </a:avLst>
          </a:prstGeom>
          <a:solidFill>
            <a:schemeClr val="tx1"/>
          </a:solidFill>
          <a:ln w="9525">
            <a:solidFill>
              <a:srgbClr val="0F1E3D"/>
            </a:solidFill>
            <a:prstDash val="solid"/>
          </a:ln>
        </p:spPr>
      </p:sp>
      <p:sp>
        <p:nvSpPr>
          <p:cNvPr id="12" name="Stat value"/>
          <p:cNvSpPr txBox="1"/>
          <p:nvPr/>
        </p:nvSpPr>
        <p:spPr>
          <a:xfrm>
            <a:off x="8264957" y="1801368"/>
            <a:ext cx="3240938" cy="914400"/>
          </a:xfrm>
          <a:prstGeom prst="rect">
            <a:avLst/>
          </a:prstGeom>
          <a:noFill/>
          <a:ln/>
        </p:spPr>
        <p:txBody>
          <a:bodyPr wrap="square" lIns="0" tIns="0" rIns="0" bIns="0" rtlCol="0" anchor="ctr"/>
          <a:lstStyle/>
          <a:p>
            <a:pPr algn="ctr" indent="0" marL="0">
              <a:buNone/>
            </a:pPr>
            <a:r>
              <a:rPr lang="en-US" sz="4400" b="1" dirty="0">
                <a:solidFill>
                  <a:schemeClr val="accent1"/>
                </a:solidFill>
                <a:latin typeface="Cambria" pitchFamily="34" charset="0"/>
                <a:ea typeface="Cambria" pitchFamily="34" charset="-122"/>
                <a:cs typeface="Cambria" pitchFamily="34" charset="-120"/>
              </a:rPr>
              <a:t>55.75</a:t>
            </a:r>
            <a:endParaRPr lang="en-US" sz="4400" dirty="0"/>
          </a:p>
        </p:txBody>
      </p:sp>
      <p:sp>
        <p:nvSpPr>
          <p:cNvPr id="13" name="Stat label"/>
          <p:cNvSpPr txBox="1"/>
          <p:nvPr/>
        </p:nvSpPr>
        <p:spPr>
          <a:xfrm>
            <a:off x="8264957" y="2697480"/>
            <a:ext cx="3240938" cy="886968"/>
          </a:xfrm>
          <a:prstGeom prst="rect">
            <a:avLst/>
          </a:prstGeom>
          <a:noFill/>
          <a:ln/>
        </p:spPr>
        <p:txBody>
          <a:bodyPr wrap="square" lIns="0" tIns="0" rIns="0" bIns="0" rtlCol="0" anchor="t"/>
          <a:lstStyle/>
          <a:p>
            <a:pPr algn="ctr" indent="0" marL="0">
              <a:buNone/>
            </a:pPr>
            <a:r>
              <a:rPr lang="en-US" sz="1400" dirty="0">
                <a:solidFill>
                  <a:schemeClr val="bg2"/>
                </a:solidFill>
              </a:rPr>
              <a:t>target for planned capability: hire at the cap below 54.6, nothing above 57.2</a:t>
            </a:r>
            <a:endParaRPr lang="en-US" sz="1400" dirty="0"/>
          </a:p>
        </p:txBody>
      </p:sp>
      <p:sp>
        <p:nvSpPr>
          <p:cNvPr id="14" name="Bullets"/>
          <p:cNvSpPr txBox="1"/>
          <p:nvPr/>
        </p:nvSpPr>
        <p:spPr>
          <a:xfrm>
            <a:off x="548640" y="3977640"/>
            <a:ext cx="11094415" cy="2194560"/>
          </a:xfrm>
          <a:prstGeom prst="rect">
            <a:avLst/>
          </a:prstGeom>
          <a:noFill/>
          <a:ln/>
        </p:spPr>
        <p:txBody>
          <a:bodyPr wrap="square" lIns="635" tIns="635" rIns="635" bIns="635" rtlCol="0" anchor="t"/>
          <a:lstStyle/>
          <a:p>
            <a:pPr marL="228600" indent="-228600">
              <a:spcAft>
                <a:spcPts val="800"/>
              </a:spcAft>
              <a:buSzPct val="100000"/>
              <a:buChar char="•"/>
            </a:pPr>
            <a:r>
              <a:rPr lang="en-US" sz="1700" b="1" dirty="0">
                <a:solidFill>
                  <a:schemeClr val="tx1"/>
                </a:solidFill>
              </a:rPr>
              <a:t>Theorem 7.2.</a:t>
            </a:r>
            <a:r>
              <a:rPr lang="en-US" sz="1700" dirty="0">
                <a:solidFill>
                  <a:schemeClr val="tx1"/>
                </a:solidFill>
              </a:rPr>
              <a:t> Monotone rules rise with the state; yes-or-no decisions become thresholds; a maintained stock gets a target rule</a:t>
            </a:r>
            <a:endParaRPr lang="en-US" sz="1700" dirty="0"/>
          </a:p>
          <a:p>
            <a:pPr marL="228600" indent="-228600">
              <a:spcAft>
                <a:spcPts val="800"/>
              </a:spcAft>
              <a:buSzPct val="100000"/>
              <a:buChar char="•"/>
            </a:pPr>
            <a:r>
              <a:rPr lang="en-US" sz="1700" dirty="0">
                <a:solidFill>
                  <a:schemeClr val="tx1"/>
                </a:solidFill>
              </a:rPr>
              <a:t>The margin is the smallest m at which the chance of losing more than m in a period does not exceed k(1 − αβ)/(βq)</a:t>
            </a:r>
            <a:endParaRPr lang="en-US" sz="1700" dirty="0"/>
          </a:p>
          <a:p>
            <a:pPr marL="228600" indent="-228600">
              <a:spcAft>
                <a:spcPts val="800"/>
              </a:spcAft>
              <a:buSzPct val="100000"/>
              <a:buChar char="•"/>
            </a:pPr>
            <a:r>
              <a:rPr lang="en-US" sz="1700" dirty="0">
                <a:solidFill>
                  <a:schemeClr val="tx1"/>
                </a:solidFill>
              </a:rPr>
              <a:t>The newsvendor's critical fractile, except that a unit not needed is carried over, net of decay</a:t>
            </a:r>
            <a:endParaRPr lang="en-US" sz="17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§7.4 · PROPOSITION 7.2</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A rule beats a plan when the future is uncertain</a:t>
            </a:r>
            <a:endParaRPr lang="en-US" sz="3200" dirty="0"/>
          </a:p>
        </p:txBody>
      </p:sp>
      <p:sp>
        <p:nvSpPr>
          <p:cNvPr id="5" name="Column card"/>
          <p:cNvSpPr/>
          <p:nvPr/>
        </p:nvSpPr>
        <p:spPr>
          <a:xfrm>
            <a:off x="548640" y="1691640"/>
            <a:ext cx="3515258" cy="2880360"/>
          </a:xfrm>
          <a:prstGeom prst="roundRect">
            <a:avLst>
              <a:gd name="adj" fmla="val 2540"/>
            </a:avLst>
          </a:prstGeom>
          <a:solidFill>
            <a:schemeClr val="bg2"/>
          </a:solidFill>
          <a:ln w="9525">
            <a:solidFill>
              <a:srgbClr val="C4CBD8"/>
            </a:solidFill>
            <a:prstDash val="solid"/>
          </a:ln>
        </p:spPr>
      </p:sp>
      <p:sp>
        <p:nvSpPr>
          <p:cNvPr id="6" name="Text 3"/>
          <p:cNvSpPr txBox="1"/>
          <p:nvPr/>
        </p:nvSpPr>
        <p:spPr>
          <a:xfrm>
            <a:off x="731520" y="1828800"/>
            <a:ext cx="3149498" cy="45720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Best plan fixed today</a:t>
            </a:r>
            <a:endParaRPr lang="en-US" sz="1800" dirty="0"/>
          </a:p>
        </p:txBody>
      </p:sp>
      <p:sp>
        <p:nvSpPr>
          <p:cNvPr id="7" name="Text 4"/>
          <p:cNvSpPr txBox="1"/>
          <p:nvPr/>
        </p:nvSpPr>
        <p:spPr>
          <a:xfrm>
            <a:off x="731520" y="2377440"/>
            <a:ext cx="3149498" cy="548640"/>
          </a:xfrm>
          <a:prstGeom prst="rect">
            <a:avLst/>
          </a:prstGeom>
          <a:noFill/>
          <a:ln/>
        </p:spPr>
        <p:txBody>
          <a:bodyPr wrap="square" lIns="0" tIns="0" rIns="0" bIns="0" rtlCol="0" anchor="ctr"/>
          <a:lstStyle/>
          <a:p>
            <a:pPr indent="0" marL="0">
              <a:buNone/>
            </a:pPr>
            <a:r>
              <a:rPr lang="en-US" sz="3200" b="1" dirty="0">
                <a:solidFill>
                  <a:schemeClr val="tx1"/>
                </a:solidFill>
                <a:latin typeface="Cambria" pitchFamily="34" charset="0"/>
                <a:ea typeface="Cambria" pitchFamily="34" charset="-122"/>
                <a:cs typeface="Cambria" pitchFamily="34" charset="-120"/>
              </a:rPr>
              <a:t>$254.7m</a:t>
            </a:r>
            <a:endParaRPr lang="en-US" sz="3200" dirty="0"/>
          </a:p>
        </p:txBody>
      </p:sp>
      <p:sp>
        <p:nvSpPr>
          <p:cNvPr id="8" name="Text 5"/>
          <p:cNvSpPr txBox="1"/>
          <p:nvPr/>
        </p:nvSpPr>
        <p:spPr>
          <a:xfrm>
            <a:off x="731520" y="2907792"/>
            <a:ext cx="3149498" cy="411480"/>
          </a:xfrm>
          <a:prstGeom prst="rect">
            <a:avLst/>
          </a:prstGeom>
          <a:noFill/>
          <a:ln/>
        </p:spPr>
        <p:txBody>
          <a:bodyPr wrap="square" lIns="0" tIns="0" rIns="0" bIns="0" rtlCol="0" anchor="t"/>
          <a:lstStyle/>
          <a:p>
            <a:pPr indent="0" marL="0">
              <a:buNone/>
            </a:pPr>
            <a:r>
              <a:rPr lang="en-US" sz="1300" dirty="0">
                <a:solidFill>
                  <a:schemeClr val="tx2"/>
                </a:solidFill>
              </a:rPr>
              <a:t>Meridian: cost of hiring and delay from 58</a:t>
            </a:r>
            <a:endParaRPr lang="en-US" sz="1300" dirty="0"/>
          </a:p>
        </p:txBody>
      </p:sp>
      <p:sp>
        <p:nvSpPr>
          <p:cNvPr id="9" name="Text 6"/>
          <p:cNvSpPr txBox="1"/>
          <p:nvPr/>
        </p:nvSpPr>
        <p:spPr>
          <a:xfrm>
            <a:off x="731520" y="3429000"/>
            <a:ext cx="3149498" cy="548640"/>
          </a:xfrm>
          <a:prstGeom prst="rect">
            <a:avLst/>
          </a:prstGeom>
          <a:noFill/>
          <a:ln/>
        </p:spPr>
        <p:txBody>
          <a:bodyPr wrap="square" lIns="0" tIns="0" rIns="0" bIns="0" rtlCol="0" anchor="ctr"/>
          <a:lstStyle/>
          <a:p>
            <a:pPr indent="0" marL="0">
              <a:buNone/>
            </a:pPr>
            <a:r>
              <a:rPr lang="en-US" sz="3200" b="1" dirty="0">
                <a:solidFill>
                  <a:schemeClr val="tx1"/>
                </a:solidFill>
                <a:latin typeface="Cambria" pitchFamily="34" charset="0"/>
                <a:ea typeface="Cambria" pitchFamily="34" charset="-122"/>
                <a:cs typeface="Cambria" pitchFamily="34" charset="-120"/>
              </a:rPr>
              <a:t>$5.0m</a:t>
            </a:r>
            <a:endParaRPr lang="en-US" sz="3200" dirty="0"/>
          </a:p>
        </p:txBody>
      </p:sp>
      <p:sp>
        <p:nvSpPr>
          <p:cNvPr id="10" name="Text 7"/>
          <p:cNvSpPr txBox="1"/>
          <p:nvPr/>
        </p:nvSpPr>
        <p:spPr>
          <a:xfrm>
            <a:off x="731520" y="3959352"/>
            <a:ext cx="3149498" cy="411480"/>
          </a:xfrm>
          <a:prstGeom prst="rect">
            <a:avLst/>
          </a:prstGeom>
          <a:noFill/>
          <a:ln/>
        </p:spPr>
        <p:txBody>
          <a:bodyPr wrap="square" lIns="0" tIns="0" rIns="0" bIns="0" rtlCol="0" anchor="t"/>
          <a:lstStyle/>
          <a:p>
            <a:pPr indent="0" marL="0">
              <a:buNone/>
            </a:pPr>
            <a:r>
              <a:rPr lang="en-US" sz="1300" dirty="0">
                <a:solidFill>
                  <a:schemeClr val="tx2"/>
                </a:solidFill>
              </a:rPr>
              <a:t>the project: build now, expected value</a:t>
            </a:r>
            <a:endParaRPr lang="en-US" sz="1300" dirty="0"/>
          </a:p>
        </p:txBody>
      </p:sp>
      <p:sp>
        <p:nvSpPr>
          <p:cNvPr id="11" name="Column card"/>
          <p:cNvSpPr/>
          <p:nvPr/>
        </p:nvSpPr>
        <p:spPr>
          <a:xfrm>
            <a:off x="4338218" y="1691640"/>
            <a:ext cx="3515258" cy="2880360"/>
          </a:xfrm>
          <a:prstGeom prst="roundRect">
            <a:avLst>
              <a:gd name="adj" fmla="val 2540"/>
            </a:avLst>
          </a:prstGeom>
          <a:solidFill>
            <a:schemeClr val="bg2"/>
          </a:solidFill>
          <a:ln w="9525">
            <a:solidFill>
              <a:srgbClr val="C4CBD8"/>
            </a:solidFill>
            <a:prstDash val="solid"/>
          </a:ln>
        </p:spPr>
      </p:sp>
      <p:sp>
        <p:nvSpPr>
          <p:cNvPr id="12" name="Text 9"/>
          <p:cNvSpPr txBox="1"/>
          <p:nvPr/>
        </p:nvSpPr>
        <p:spPr>
          <a:xfrm>
            <a:off x="4521098" y="1828800"/>
            <a:ext cx="3149498" cy="45720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Re-plan each period</a:t>
            </a:r>
            <a:endParaRPr lang="en-US" sz="1800" dirty="0"/>
          </a:p>
        </p:txBody>
      </p:sp>
      <p:sp>
        <p:nvSpPr>
          <p:cNvPr id="13" name="Text 10"/>
          <p:cNvSpPr txBox="1"/>
          <p:nvPr/>
        </p:nvSpPr>
        <p:spPr>
          <a:xfrm>
            <a:off x="4521098" y="2377440"/>
            <a:ext cx="3149498" cy="548640"/>
          </a:xfrm>
          <a:prstGeom prst="rect">
            <a:avLst/>
          </a:prstGeom>
          <a:noFill/>
          <a:ln/>
        </p:spPr>
        <p:txBody>
          <a:bodyPr wrap="square" lIns="0" tIns="0" rIns="0" bIns="0" rtlCol="0" anchor="ctr"/>
          <a:lstStyle/>
          <a:p>
            <a:pPr indent="0" marL="0">
              <a:buNone/>
            </a:pPr>
            <a:r>
              <a:rPr lang="en-US" sz="3200" b="1" dirty="0">
                <a:solidFill>
                  <a:schemeClr val="tx1"/>
                </a:solidFill>
                <a:latin typeface="Cambria" pitchFamily="34" charset="0"/>
                <a:ea typeface="Cambria" pitchFamily="34" charset="-122"/>
                <a:cs typeface="Cambria" pitchFamily="34" charset="-120"/>
              </a:rPr>
              <a:t>$230.8m</a:t>
            </a:r>
            <a:endParaRPr lang="en-US" sz="3200" dirty="0"/>
          </a:p>
        </p:txBody>
      </p:sp>
      <p:sp>
        <p:nvSpPr>
          <p:cNvPr id="14" name="Text 11"/>
          <p:cNvSpPr txBox="1"/>
          <p:nvPr/>
        </p:nvSpPr>
        <p:spPr>
          <a:xfrm>
            <a:off x="4521098" y="2907792"/>
            <a:ext cx="3149498" cy="411480"/>
          </a:xfrm>
          <a:prstGeom prst="rect">
            <a:avLst/>
          </a:prstGeom>
          <a:noFill/>
          <a:ln/>
        </p:spPr>
        <p:txBody>
          <a:bodyPr wrap="square" lIns="0" tIns="0" rIns="0" bIns="0" rtlCol="0" anchor="t"/>
          <a:lstStyle/>
          <a:p>
            <a:pPr indent="0" marL="0">
              <a:buNone/>
            </a:pPr>
            <a:r>
              <a:rPr lang="en-US" sz="1300" dirty="0">
                <a:solidFill>
                  <a:schemeClr val="tx2"/>
                </a:solidFill>
              </a:rPr>
              <a:t>recovers the best rule for Meridian</a:t>
            </a:r>
            <a:endParaRPr lang="en-US" sz="1300" dirty="0"/>
          </a:p>
        </p:txBody>
      </p:sp>
      <p:sp>
        <p:nvSpPr>
          <p:cNvPr id="15" name="Text 12"/>
          <p:cNvSpPr txBox="1"/>
          <p:nvPr/>
        </p:nvSpPr>
        <p:spPr>
          <a:xfrm>
            <a:off x="4521098" y="3429000"/>
            <a:ext cx="3149498" cy="548640"/>
          </a:xfrm>
          <a:prstGeom prst="rect">
            <a:avLst/>
          </a:prstGeom>
          <a:noFill/>
          <a:ln/>
        </p:spPr>
        <p:txBody>
          <a:bodyPr wrap="square" lIns="0" tIns="0" rIns="0" bIns="0" rtlCol="0" anchor="ctr"/>
          <a:lstStyle/>
          <a:p>
            <a:pPr indent="0" marL="0">
              <a:buNone/>
            </a:pPr>
            <a:r>
              <a:rPr lang="en-US" sz="3200" b="1" dirty="0">
                <a:solidFill>
                  <a:schemeClr val="tx1"/>
                </a:solidFill>
                <a:latin typeface="Cambria" pitchFamily="34" charset="0"/>
                <a:ea typeface="Cambria" pitchFamily="34" charset="-122"/>
                <a:cs typeface="Cambria" pitchFamily="34" charset="-120"/>
              </a:rPr>
              <a:t>$5.0m</a:t>
            </a:r>
            <a:endParaRPr lang="en-US" sz="3200" dirty="0"/>
          </a:p>
        </p:txBody>
      </p:sp>
      <p:sp>
        <p:nvSpPr>
          <p:cNvPr id="16" name="Text 13"/>
          <p:cNvSpPr txBox="1"/>
          <p:nvPr/>
        </p:nvSpPr>
        <p:spPr>
          <a:xfrm>
            <a:off x="4521098" y="3959352"/>
            <a:ext cx="3149498" cy="411480"/>
          </a:xfrm>
          <a:prstGeom prst="rect">
            <a:avLst/>
          </a:prstGeom>
          <a:noFill/>
          <a:ln/>
        </p:spPr>
        <p:txBody>
          <a:bodyPr wrap="square" lIns="0" tIns="0" rIns="0" bIns="0" rtlCol="0" anchor="t"/>
          <a:lstStyle/>
          <a:p>
            <a:pPr indent="0" marL="0">
              <a:buNone/>
            </a:pPr>
            <a:r>
              <a:rPr lang="en-US" sz="1300" dirty="0">
                <a:solidFill>
                  <a:schemeClr val="tx2"/>
                </a:solidFill>
              </a:rPr>
              <a:t>builds now too: no plan can use the news</a:t>
            </a:r>
            <a:endParaRPr lang="en-US" sz="1300" dirty="0"/>
          </a:p>
        </p:txBody>
      </p:sp>
      <p:sp>
        <p:nvSpPr>
          <p:cNvPr id="17" name="Column card"/>
          <p:cNvSpPr/>
          <p:nvPr/>
        </p:nvSpPr>
        <p:spPr>
          <a:xfrm>
            <a:off x="8127797" y="1691640"/>
            <a:ext cx="3515258" cy="2880360"/>
          </a:xfrm>
          <a:prstGeom prst="roundRect">
            <a:avLst>
              <a:gd name="adj" fmla="val 2540"/>
            </a:avLst>
          </a:prstGeom>
          <a:solidFill>
            <a:schemeClr val="tx1"/>
          </a:solidFill>
          <a:ln w="9525">
            <a:solidFill>
              <a:srgbClr val="0F1E3D"/>
            </a:solidFill>
            <a:prstDash val="solid"/>
          </a:ln>
        </p:spPr>
      </p:sp>
      <p:sp>
        <p:nvSpPr>
          <p:cNvPr id="18" name="Text 15"/>
          <p:cNvSpPr txBox="1"/>
          <p:nvPr/>
        </p:nvSpPr>
        <p:spPr>
          <a:xfrm>
            <a:off x="8310677" y="1828800"/>
            <a:ext cx="3149498" cy="457200"/>
          </a:xfrm>
          <a:prstGeom prst="rect">
            <a:avLst/>
          </a:prstGeom>
          <a:noFill/>
          <a:ln/>
        </p:spPr>
        <p:txBody>
          <a:bodyPr wrap="square" lIns="0" tIns="0" rIns="0" bIns="0" rtlCol="0" anchor="ctr"/>
          <a:lstStyle/>
          <a:p>
            <a:pPr indent="0" marL="0">
              <a:buNone/>
            </a:pPr>
            <a:r>
              <a:rPr lang="en-US" sz="1800" b="1" dirty="0">
                <a:solidFill>
                  <a:schemeClr val="bg1"/>
                </a:solidFill>
                <a:latin typeface="Cambria" pitchFamily="34" charset="0"/>
                <a:ea typeface="Cambria" pitchFamily="34" charset="-122"/>
                <a:cs typeface="Cambria" pitchFamily="34" charset="-120"/>
              </a:rPr>
              <a:t>Best rule</a:t>
            </a:r>
            <a:endParaRPr lang="en-US" sz="1800" dirty="0"/>
          </a:p>
        </p:txBody>
      </p:sp>
      <p:sp>
        <p:nvSpPr>
          <p:cNvPr id="19" name="Text 16"/>
          <p:cNvSpPr txBox="1"/>
          <p:nvPr/>
        </p:nvSpPr>
        <p:spPr>
          <a:xfrm>
            <a:off x="8310677" y="2377440"/>
            <a:ext cx="3149498" cy="548640"/>
          </a:xfrm>
          <a:prstGeom prst="rect">
            <a:avLst/>
          </a:prstGeom>
          <a:noFill/>
          <a:ln/>
        </p:spPr>
        <p:txBody>
          <a:bodyPr wrap="square" lIns="0" tIns="0" rIns="0" bIns="0" rtlCol="0" anchor="ctr"/>
          <a:lstStyle/>
          <a:p>
            <a:pPr indent="0" marL="0">
              <a:buNone/>
            </a:pPr>
            <a:r>
              <a:rPr lang="en-US" sz="3200" b="1" dirty="0">
                <a:solidFill>
                  <a:schemeClr val="accent1"/>
                </a:solidFill>
                <a:latin typeface="Cambria" pitchFamily="34" charset="0"/>
                <a:ea typeface="Cambria" pitchFamily="34" charset="-122"/>
                <a:cs typeface="Cambria" pitchFamily="34" charset="-120"/>
              </a:rPr>
              <a:t>$230.8m</a:t>
            </a:r>
            <a:endParaRPr lang="en-US" sz="3200" dirty="0"/>
          </a:p>
        </p:txBody>
      </p:sp>
      <p:sp>
        <p:nvSpPr>
          <p:cNvPr id="20" name="Text 17"/>
          <p:cNvSpPr txBox="1"/>
          <p:nvPr/>
        </p:nvSpPr>
        <p:spPr>
          <a:xfrm>
            <a:off x="8310677" y="2907792"/>
            <a:ext cx="3149498" cy="411480"/>
          </a:xfrm>
          <a:prstGeom prst="rect">
            <a:avLst/>
          </a:prstGeom>
          <a:noFill/>
          <a:ln/>
        </p:spPr>
        <p:txBody>
          <a:bodyPr wrap="square" lIns="0" tIns="0" rIns="0" bIns="0" rtlCol="0" anchor="t"/>
          <a:lstStyle/>
          <a:p>
            <a:pPr indent="0" marL="0">
              <a:buNone/>
            </a:pPr>
            <a:r>
              <a:rPr lang="en-US" sz="1300" dirty="0">
                <a:solidFill>
                  <a:schemeClr val="bg2"/>
                </a:solidFill>
              </a:rPr>
              <a:t>top up to 55.75 each quarter</a:t>
            </a:r>
            <a:endParaRPr lang="en-US" sz="1300" dirty="0"/>
          </a:p>
        </p:txBody>
      </p:sp>
      <p:sp>
        <p:nvSpPr>
          <p:cNvPr id="21" name="Text 18"/>
          <p:cNvSpPr txBox="1"/>
          <p:nvPr/>
        </p:nvSpPr>
        <p:spPr>
          <a:xfrm>
            <a:off x="8310677" y="3429000"/>
            <a:ext cx="3149498" cy="548640"/>
          </a:xfrm>
          <a:prstGeom prst="rect">
            <a:avLst/>
          </a:prstGeom>
          <a:noFill/>
          <a:ln/>
        </p:spPr>
        <p:txBody>
          <a:bodyPr wrap="square" lIns="0" tIns="0" rIns="0" bIns="0" rtlCol="0" anchor="ctr"/>
          <a:lstStyle/>
          <a:p>
            <a:pPr indent="0" marL="0">
              <a:buNone/>
            </a:pPr>
            <a:r>
              <a:rPr lang="en-US" sz="3200" b="1" dirty="0">
                <a:solidFill>
                  <a:schemeClr val="accent1"/>
                </a:solidFill>
                <a:latin typeface="Cambria" pitchFamily="34" charset="0"/>
                <a:ea typeface="Cambria" pitchFamily="34" charset="-122"/>
                <a:cs typeface="Cambria" pitchFamily="34" charset="-120"/>
              </a:rPr>
              <a:t>$22.7m</a:t>
            </a:r>
            <a:endParaRPr lang="en-US" sz="3200" dirty="0"/>
          </a:p>
        </p:txBody>
      </p:sp>
      <p:sp>
        <p:nvSpPr>
          <p:cNvPr id="22" name="Text 19"/>
          <p:cNvSpPr txBox="1"/>
          <p:nvPr/>
        </p:nvSpPr>
        <p:spPr>
          <a:xfrm>
            <a:off x="8310677" y="3959352"/>
            <a:ext cx="3149498" cy="411480"/>
          </a:xfrm>
          <a:prstGeom prst="rect">
            <a:avLst/>
          </a:prstGeom>
          <a:noFill/>
          <a:ln/>
        </p:spPr>
        <p:txBody>
          <a:bodyPr wrap="square" lIns="0" tIns="0" rIns="0" bIns="0" rtlCol="0" anchor="t"/>
          <a:lstStyle/>
          <a:p>
            <a:pPr indent="0" marL="0">
              <a:buNone/>
            </a:pPr>
            <a:r>
              <a:rPr lang="en-US" sz="1300" dirty="0">
                <a:solidFill>
                  <a:schemeClr val="bg2"/>
                </a:solidFill>
              </a:rPr>
              <a:t>wait a year; build only on good news</a:t>
            </a:r>
            <a:endParaRPr lang="en-US" sz="1300" dirty="0"/>
          </a:p>
        </p:txBody>
      </p:sp>
      <p:sp>
        <p:nvSpPr>
          <p:cNvPr id="23" name="Bullets"/>
          <p:cNvSpPr txBox="1"/>
          <p:nvPr/>
        </p:nvSpPr>
        <p:spPr>
          <a:xfrm>
            <a:off x="548640" y="4892040"/>
            <a:ext cx="11094415" cy="1280160"/>
          </a:xfrm>
          <a:prstGeom prst="rect">
            <a:avLst/>
          </a:prstGeom>
          <a:noFill/>
          <a:ln/>
        </p:spPr>
        <p:txBody>
          <a:bodyPr wrap="square" lIns="635" tIns="635" rIns="635" bIns="635" rtlCol="0" anchor="t"/>
          <a:lstStyle/>
          <a:p>
            <a:pPr marL="228600" indent="-228600">
              <a:spcAft>
                <a:spcPts val="800"/>
              </a:spcAft>
              <a:buSzPct val="100000"/>
              <a:buChar char="•"/>
            </a:pPr>
            <a:r>
              <a:rPr lang="en-US" sz="1600" b="1" dirty="0">
                <a:solidFill>
                  <a:schemeClr val="tx1"/>
                </a:solidFill>
              </a:rPr>
              <a:t>Proposition 7.2.</a:t>
            </a:r>
            <a:r>
              <a:rPr lang="en-US" sz="1600" dirty="0">
                <a:solidFill>
                  <a:schemeClr val="tx1"/>
                </a:solidFill>
              </a:rPr>
              <a:t> The best rule is at least as good as re-planning, which is at least as good as the best plan fixed today; the gap between rule and plan is the value of information</a:t>
            </a:r>
            <a:endParaRPr lang="en-US" sz="1600" dirty="0"/>
          </a:p>
          <a:p>
            <a:pPr marL="228600" indent="-228600">
              <a:spcAft>
                <a:spcPts val="800"/>
              </a:spcAft>
              <a:buSzPct val="100000"/>
              <a:buChar char="•"/>
            </a:pPr>
            <a:r>
              <a:rPr lang="en-US" sz="1600" dirty="0">
                <a:solidFill>
                  <a:schemeClr val="tx1"/>
                </a:solidFill>
              </a:rPr>
              <a:t>Meridian's value of responding is $23.9m. The project ($100m, worth $150m or $60m next year) shows where re-planning fails: it values the future as if nothing will be learned</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§7.5 · TABLE 7.2</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Six ways to compute values and rules</a:t>
            </a:r>
            <a:endParaRPr lang="en-US" sz="3200" dirty="0"/>
          </a:p>
        </p:txBody>
      </p:sp>
      <p:sp>
        <p:nvSpPr>
          <p:cNvPr id="5" name="Card"/>
          <p:cNvSpPr/>
          <p:nvPr/>
        </p:nvSpPr>
        <p:spPr>
          <a:xfrm>
            <a:off x="548640" y="1691640"/>
            <a:ext cx="3515258" cy="1783080"/>
          </a:xfrm>
          <a:prstGeom prst="roundRect">
            <a:avLst>
              <a:gd name="adj" fmla="val 4103"/>
            </a:avLst>
          </a:prstGeom>
          <a:solidFill>
            <a:schemeClr val="bg2"/>
          </a:solidFill>
          <a:ln w="9525">
            <a:solidFill>
              <a:srgbClr val="C4CBD8"/>
            </a:solidFill>
            <a:prstDash val="solid"/>
          </a:ln>
        </p:spPr>
      </p:sp>
      <p:sp>
        <p:nvSpPr>
          <p:cNvPr id="6" name="Card label"/>
          <p:cNvSpPr txBox="1"/>
          <p:nvPr/>
        </p:nvSpPr>
        <p:spPr>
          <a:xfrm>
            <a:off x="731520" y="1819656"/>
            <a:ext cx="3149498" cy="310896"/>
          </a:xfrm>
          <a:prstGeom prst="rect">
            <a:avLst/>
          </a:prstGeom>
          <a:noFill/>
          <a:ln/>
        </p:spPr>
        <p:txBody>
          <a:bodyPr wrap="square" lIns="0" tIns="0" rIns="0" bIns="0" rtlCol="0" anchor="ctr"/>
          <a:lstStyle/>
          <a:p>
            <a:pPr indent="0" marL="0">
              <a:buNone/>
            </a:pPr>
            <a:r>
              <a:rPr lang="en-US" sz="1300" b="1" dirty="0">
                <a:solidFill>
                  <a:schemeClr val="accent1"/>
                </a:solidFill>
              </a:rPr>
              <a:t>Exact</a:t>
            </a:r>
            <a:endParaRPr lang="en-US" sz="1300" dirty="0"/>
          </a:p>
        </p:txBody>
      </p:sp>
      <p:sp>
        <p:nvSpPr>
          <p:cNvPr id="7" name="Card head"/>
          <p:cNvSpPr txBox="1"/>
          <p:nvPr/>
        </p:nvSpPr>
        <p:spPr>
          <a:xfrm>
            <a:off x="731520" y="2148840"/>
            <a:ext cx="3149498" cy="557784"/>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Backward induction</a:t>
            </a:r>
            <a:endParaRPr lang="en-US" sz="1700" dirty="0"/>
          </a:p>
        </p:txBody>
      </p:sp>
      <p:sp>
        <p:nvSpPr>
          <p:cNvPr id="8" name="Card text"/>
          <p:cNvSpPr txBox="1"/>
          <p:nvPr/>
        </p:nvSpPr>
        <p:spPr>
          <a:xfrm>
            <a:off x="731520" y="2779776"/>
            <a:ext cx="3149498" cy="566928"/>
          </a:xfrm>
          <a:prstGeom prst="rect">
            <a:avLst/>
          </a:prstGeom>
          <a:noFill/>
          <a:ln/>
        </p:spPr>
        <p:txBody>
          <a:bodyPr wrap="square" lIns="0" tIns="0" rIns="0" bIns="0" rtlCol="0" anchor="t"/>
          <a:lstStyle/>
          <a:p>
            <a:pPr indent="0" marL="0">
              <a:buNone/>
            </a:pPr>
            <a:r>
              <a:rPr lang="en-US" sz="1400" dirty="0">
                <a:solidFill>
                  <a:schemeClr val="tx2"/>
                </a:solidFill>
              </a:rPr>
              <a:t>A finite horizon, period by period from the end.</a:t>
            </a:r>
            <a:endParaRPr lang="en-US" sz="1400" dirty="0"/>
          </a:p>
        </p:txBody>
      </p:sp>
      <p:sp>
        <p:nvSpPr>
          <p:cNvPr id="9" name="Card"/>
          <p:cNvSpPr/>
          <p:nvPr/>
        </p:nvSpPr>
        <p:spPr>
          <a:xfrm>
            <a:off x="4338218" y="1691640"/>
            <a:ext cx="3515258" cy="1783080"/>
          </a:xfrm>
          <a:prstGeom prst="roundRect">
            <a:avLst>
              <a:gd name="adj" fmla="val 4103"/>
            </a:avLst>
          </a:prstGeom>
          <a:solidFill>
            <a:schemeClr val="bg2"/>
          </a:solidFill>
          <a:ln w="9525">
            <a:solidFill>
              <a:srgbClr val="C4CBD8"/>
            </a:solidFill>
            <a:prstDash val="solid"/>
          </a:ln>
        </p:spPr>
      </p:sp>
      <p:sp>
        <p:nvSpPr>
          <p:cNvPr id="10" name="Card label"/>
          <p:cNvSpPr txBox="1"/>
          <p:nvPr/>
        </p:nvSpPr>
        <p:spPr>
          <a:xfrm>
            <a:off x="4521098" y="1819656"/>
            <a:ext cx="3149498" cy="310896"/>
          </a:xfrm>
          <a:prstGeom prst="rect">
            <a:avLst/>
          </a:prstGeom>
          <a:noFill/>
          <a:ln/>
        </p:spPr>
        <p:txBody>
          <a:bodyPr wrap="square" lIns="0" tIns="0" rIns="0" bIns="0" rtlCol="0" anchor="ctr"/>
          <a:lstStyle/>
          <a:p>
            <a:pPr indent="0" marL="0">
              <a:buNone/>
            </a:pPr>
            <a:r>
              <a:rPr lang="en-US" sz="1300" b="1" dirty="0">
                <a:solidFill>
                  <a:schemeClr val="accent1"/>
                </a:solidFill>
              </a:rPr>
              <a:t>Open horizon</a:t>
            </a:r>
            <a:endParaRPr lang="en-US" sz="1300" dirty="0"/>
          </a:p>
        </p:txBody>
      </p:sp>
      <p:sp>
        <p:nvSpPr>
          <p:cNvPr id="11" name="Card head"/>
          <p:cNvSpPr txBox="1"/>
          <p:nvPr/>
        </p:nvSpPr>
        <p:spPr>
          <a:xfrm>
            <a:off x="4521098" y="2148840"/>
            <a:ext cx="3149498" cy="557784"/>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Value iteration</a:t>
            </a:r>
            <a:endParaRPr lang="en-US" sz="1700" dirty="0"/>
          </a:p>
        </p:txBody>
      </p:sp>
      <p:sp>
        <p:nvSpPr>
          <p:cNvPr id="12" name="Card text"/>
          <p:cNvSpPr txBox="1"/>
          <p:nvPr/>
        </p:nvSpPr>
        <p:spPr>
          <a:xfrm>
            <a:off x="4521098" y="2779776"/>
            <a:ext cx="3149498" cy="566928"/>
          </a:xfrm>
          <a:prstGeom prst="rect">
            <a:avLst/>
          </a:prstGeom>
          <a:noFill/>
          <a:ln/>
        </p:spPr>
        <p:txBody>
          <a:bodyPr wrap="square" lIns="0" tIns="0" rIns="0" bIns="0" rtlCol="0" anchor="t"/>
          <a:lstStyle/>
          <a:p>
            <a:pPr indent="0" marL="0">
              <a:buNone/>
            </a:pPr>
            <a:r>
              <a:rPr lang="en-US" sz="1400" dirty="0">
                <a:solidFill>
                  <a:schemeClr val="tx2"/>
                </a:solidFill>
              </a:rPr>
              <a:t>Repeated sweeps; the error shrinks by β a sweep, with a stopping bound.</a:t>
            </a:r>
            <a:endParaRPr lang="en-US" sz="1400" dirty="0"/>
          </a:p>
        </p:txBody>
      </p:sp>
      <p:sp>
        <p:nvSpPr>
          <p:cNvPr id="13" name="Card"/>
          <p:cNvSpPr/>
          <p:nvPr/>
        </p:nvSpPr>
        <p:spPr>
          <a:xfrm>
            <a:off x="8127797" y="1691640"/>
            <a:ext cx="3515258" cy="1783080"/>
          </a:xfrm>
          <a:prstGeom prst="roundRect">
            <a:avLst>
              <a:gd name="adj" fmla="val 4103"/>
            </a:avLst>
          </a:prstGeom>
          <a:solidFill>
            <a:schemeClr val="bg2"/>
          </a:solidFill>
          <a:ln w="9525">
            <a:solidFill>
              <a:srgbClr val="C4CBD8"/>
            </a:solidFill>
            <a:prstDash val="solid"/>
          </a:ln>
        </p:spPr>
      </p:sp>
      <p:sp>
        <p:nvSpPr>
          <p:cNvPr id="14" name="Card label"/>
          <p:cNvSpPr txBox="1"/>
          <p:nvPr/>
        </p:nvSpPr>
        <p:spPr>
          <a:xfrm>
            <a:off x="8310677" y="1819656"/>
            <a:ext cx="3149498" cy="310896"/>
          </a:xfrm>
          <a:prstGeom prst="rect">
            <a:avLst/>
          </a:prstGeom>
          <a:noFill/>
          <a:ln/>
        </p:spPr>
        <p:txBody>
          <a:bodyPr wrap="square" lIns="0" tIns="0" rIns="0" bIns="0" rtlCol="0" anchor="ctr"/>
          <a:lstStyle/>
          <a:p>
            <a:pPr indent="0" marL="0">
              <a:buNone/>
            </a:pPr>
            <a:r>
              <a:rPr lang="en-US" sz="1300" b="1" dirty="0">
                <a:solidFill>
                  <a:schemeClr val="accent1"/>
                </a:solidFill>
              </a:rPr>
              <a:t>Open horizon</a:t>
            </a:r>
            <a:endParaRPr lang="en-US" sz="1300" dirty="0"/>
          </a:p>
        </p:txBody>
      </p:sp>
      <p:sp>
        <p:nvSpPr>
          <p:cNvPr id="15" name="Card head"/>
          <p:cNvSpPr txBox="1"/>
          <p:nvPr/>
        </p:nvSpPr>
        <p:spPr>
          <a:xfrm>
            <a:off x="8310677" y="2148840"/>
            <a:ext cx="3149498" cy="557784"/>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Policy iteration</a:t>
            </a:r>
            <a:endParaRPr lang="en-US" sz="1700" dirty="0"/>
          </a:p>
        </p:txBody>
      </p:sp>
      <p:sp>
        <p:nvSpPr>
          <p:cNvPr id="16" name="Card text"/>
          <p:cNvSpPr txBox="1"/>
          <p:nvPr/>
        </p:nvSpPr>
        <p:spPr>
          <a:xfrm>
            <a:off x="8310677" y="2779776"/>
            <a:ext cx="3149498" cy="566928"/>
          </a:xfrm>
          <a:prstGeom prst="rect">
            <a:avLst/>
          </a:prstGeom>
          <a:noFill/>
          <a:ln/>
        </p:spPr>
        <p:txBody>
          <a:bodyPr wrap="square" lIns="0" tIns="0" rIns="0" bIns="0" rtlCol="0" anchor="t"/>
          <a:lstStyle/>
          <a:p>
            <a:pPr indent="0" marL="0">
              <a:buNone/>
            </a:pPr>
            <a:r>
              <a:rPr lang="en-US" sz="1400" dirty="0">
                <a:solidFill>
                  <a:schemeClr val="tx2"/>
                </a:solidFill>
              </a:rPr>
              <a:t>Evaluate a rule exactly, then improve it; never worse, finite with finite sets.</a:t>
            </a:r>
            <a:endParaRPr lang="en-US" sz="1400" dirty="0"/>
          </a:p>
        </p:txBody>
      </p:sp>
      <p:sp>
        <p:nvSpPr>
          <p:cNvPr id="17" name="Card"/>
          <p:cNvSpPr/>
          <p:nvPr/>
        </p:nvSpPr>
        <p:spPr>
          <a:xfrm>
            <a:off x="548640" y="3749040"/>
            <a:ext cx="3515258" cy="1783080"/>
          </a:xfrm>
          <a:prstGeom prst="roundRect">
            <a:avLst>
              <a:gd name="adj" fmla="val 4103"/>
            </a:avLst>
          </a:prstGeom>
          <a:solidFill>
            <a:schemeClr val="bg2"/>
          </a:solidFill>
          <a:ln w="9525">
            <a:solidFill>
              <a:srgbClr val="C4CBD8"/>
            </a:solidFill>
            <a:prstDash val="solid"/>
          </a:ln>
        </p:spPr>
      </p:sp>
      <p:sp>
        <p:nvSpPr>
          <p:cNvPr id="18" name="Card label"/>
          <p:cNvSpPr txBox="1"/>
          <p:nvPr/>
        </p:nvSpPr>
        <p:spPr>
          <a:xfrm>
            <a:off x="731520" y="3877056"/>
            <a:ext cx="3149498" cy="310896"/>
          </a:xfrm>
          <a:prstGeom prst="rect">
            <a:avLst/>
          </a:prstGeom>
          <a:noFill/>
          <a:ln/>
        </p:spPr>
        <p:txBody>
          <a:bodyPr wrap="square" lIns="0" tIns="0" rIns="0" bIns="0" rtlCol="0" anchor="ctr"/>
          <a:lstStyle/>
          <a:p>
            <a:pPr indent="0" marL="0">
              <a:buNone/>
            </a:pPr>
            <a:r>
              <a:rPr lang="en-US" sz="1300" b="1" dirty="0">
                <a:solidFill>
                  <a:schemeClr val="accent1"/>
                </a:solidFill>
              </a:rPr>
              <a:t>Part I's solvers</a:t>
            </a:r>
            <a:endParaRPr lang="en-US" sz="1300" dirty="0"/>
          </a:p>
        </p:txBody>
      </p:sp>
      <p:sp>
        <p:nvSpPr>
          <p:cNvPr id="19" name="Card head"/>
          <p:cNvSpPr txBox="1"/>
          <p:nvPr/>
        </p:nvSpPr>
        <p:spPr>
          <a:xfrm>
            <a:off x="731520" y="4206240"/>
            <a:ext cx="3149498" cy="557784"/>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Linear programming</a:t>
            </a:r>
            <a:endParaRPr lang="en-US" sz="1700" dirty="0"/>
          </a:p>
        </p:txBody>
      </p:sp>
      <p:sp>
        <p:nvSpPr>
          <p:cNvPr id="20" name="Card text"/>
          <p:cNvSpPr txBox="1"/>
          <p:nvPr/>
        </p:nvSpPr>
        <p:spPr>
          <a:xfrm>
            <a:off x="731520" y="4837176"/>
            <a:ext cx="3149498" cy="566928"/>
          </a:xfrm>
          <a:prstGeom prst="rect">
            <a:avLst/>
          </a:prstGeom>
          <a:noFill/>
          <a:ln/>
        </p:spPr>
        <p:txBody>
          <a:bodyPr wrap="square" lIns="0" tIns="0" rIns="0" bIns="0" rtlCol="0" anchor="t"/>
          <a:lstStyle/>
          <a:p>
            <a:pPr indent="0" marL="0">
              <a:buNone/>
            </a:pPr>
            <a:r>
              <a:rPr lang="en-US" sz="1400" dirty="0">
                <a:solidFill>
                  <a:schemeClr val="tx2"/>
                </a:solidFill>
              </a:rPr>
              <a:t>The value function is the least V with V ≥ TV.</a:t>
            </a:r>
            <a:endParaRPr lang="en-US" sz="1400" dirty="0"/>
          </a:p>
        </p:txBody>
      </p:sp>
      <p:sp>
        <p:nvSpPr>
          <p:cNvPr id="21" name="Card"/>
          <p:cNvSpPr/>
          <p:nvPr/>
        </p:nvSpPr>
        <p:spPr>
          <a:xfrm>
            <a:off x="4338218" y="3749040"/>
            <a:ext cx="3515258" cy="1783080"/>
          </a:xfrm>
          <a:prstGeom prst="roundRect">
            <a:avLst>
              <a:gd name="adj" fmla="val 4103"/>
            </a:avLst>
          </a:prstGeom>
          <a:solidFill>
            <a:schemeClr val="bg2"/>
          </a:solidFill>
          <a:ln w="9525">
            <a:solidFill>
              <a:srgbClr val="C4CBD8"/>
            </a:solidFill>
            <a:prstDash val="solid"/>
          </a:ln>
        </p:spPr>
      </p:sp>
      <p:sp>
        <p:nvSpPr>
          <p:cNvPr id="22" name="Card label"/>
          <p:cNvSpPr txBox="1"/>
          <p:nvPr/>
        </p:nvSpPr>
        <p:spPr>
          <a:xfrm>
            <a:off x="4521098" y="3877056"/>
            <a:ext cx="3149498" cy="310896"/>
          </a:xfrm>
          <a:prstGeom prst="rect">
            <a:avLst/>
          </a:prstGeom>
          <a:noFill/>
          <a:ln/>
        </p:spPr>
        <p:txBody>
          <a:bodyPr wrap="square" lIns="0" tIns="0" rIns="0" bIns="0" rtlCol="0" anchor="ctr"/>
          <a:lstStyle/>
          <a:p>
            <a:pPr indent="0" marL="0">
              <a:buNone/>
            </a:pPr>
            <a:r>
              <a:rPr lang="en-US" sz="1300" b="1" dirty="0">
                <a:solidFill>
                  <a:schemeClr val="accent1"/>
                </a:solidFill>
              </a:rPr>
              <a:t>Scale</a:t>
            </a:r>
            <a:endParaRPr lang="en-US" sz="1300" dirty="0"/>
          </a:p>
        </p:txBody>
      </p:sp>
      <p:sp>
        <p:nvSpPr>
          <p:cNvPr id="23" name="Card head"/>
          <p:cNvSpPr txBox="1"/>
          <p:nvPr/>
        </p:nvSpPr>
        <p:spPr>
          <a:xfrm>
            <a:off x="4521098" y="4206240"/>
            <a:ext cx="3149498" cy="557784"/>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Approximation</a:t>
            </a:r>
            <a:endParaRPr lang="en-US" sz="1700" dirty="0"/>
          </a:p>
        </p:txBody>
      </p:sp>
      <p:sp>
        <p:nvSpPr>
          <p:cNvPr id="24" name="Card text"/>
          <p:cNvSpPr txBox="1"/>
          <p:nvPr/>
        </p:nvSpPr>
        <p:spPr>
          <a:xfrm>
            <a:off x="4521098" y="4837176"/>
            <a:ext cx="3149498" cy="566928"/>
          </a:xfrm>
          <a:prstGeom prst="rect">
            <a:avLst/>
          </a:prstGeom>
          <a:noFill/>
          <a:ln/>
        </p:spPr>
        <p:txBody>
          <a:bodyPr wrap="square" lIns="0" tIns="0" rIns="0" bIns="0" rtlCol="0" anchor="t"/>
          <a:lstStyle/>
          <a:p>
            <a:pPr indent="0" marL="0">
              <a:buNone/>
            </a:pPr>
            <a:r>
              <a:rPr lang="en-US" sz="1400" dirty="0">
                <a:solidFill>
                  <a:schemeClr val="tx2"/>
                </a:solidFill>
              </a:rPr>
              <a:t>Grids and fitted values for many stocks; errors amplified by 1/(1 − β).</a:t>
            </a:r>
            <a:endParaRPr lang="en-US" sz="1400" dirty="0"/>
          </a:p>
        </p:txBody>
      </p:sp>
      <p:sp>
        <p:nvSpPr>
          <p:cNvPr id="25" name="Card"/>
          <p:cNvSpPr/>
          <p:nvPr/>
        </p:nvSpPr>
        <p:spPr>
          <a:xfrm>
            <a:off x="8127797" y="3749040"/>
            <a:ext cx="3515258" cy="1783080"/>
          </a:xfrm>
          <a:prstGeom prst="roundRect">
            <a:avLst>
              <a:gd name="adj" fmla="val 4103"/>
            </a:avLst>
          </a:prstGeom>
          <a:solidFill>
            <a:schemeClr val="bg2"/>
          </a:solidFill>
          <a:ln w="9525">
            <a:solidFill>
              <a:srgbClr val="C4CBD8"/>
            </a:solidFill>
            <a:prstDash val="solid"/>
          </a:ln>
        </p:spPr>
      </p:sp>
      <p:sp>
        <p:nvSpPr>
          <p:cNvPr id="26" name="Card label"/>
          <p:cNvSpPr txBox="1"/>
          <p:nvPr/>
        </p:nvSpPr>
        <p:spPr>
          <a:xfrm>
            <a:off x="8310677" y="3877056"/>
            <a:ext cx="3149498" cy="310896"/>
          </a:xfrm>
          <a:prstGeom prst="rect">
            <a:avLst/>
          </a:prstGeom>
          <a:noFill/>
          <a:ln/>
        </p:spPr>
        <p:txBody>
          <a:bodyPr wrap="square" lIns="0" tIns="0" rIns="0" bIns="0" rtlCol="0" anchor="ctr"/>
          <a:lstStyle/>
          <a:p>
            <a:pPr indent="0" marL="0">
              <a:buNone/>
            </a:pPr>
            <a:r>
              <a:rPr lang="en-US" sz="1300" b="1" dirty="0">
                <a:solidFill>
                  <a:schemeClr val="accent1"/>
                </a:solidFill>
              </a:rPr>
              <a:t>Chapter 14</a:t>
            </a:r>
            <a:endParaRPr lang="en-US" sz="1300" dirty="0"/>
          </a:p>
        </p:txBody>
      </p:sp>
      <p:sp>
        <p:nvSpPr>
          <p:cNvPr id="27" name="Card head"/>
          <p:cNvSpPr txBox="1"/>
          <p:nvPr/>
        </p:nvSpPr>
        <p:spPr>
          <a:xfrm>
            <a:off x="8310677" y="4206240"/>
            <a:ext cx="3149498" cy="557784"/>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Learning from experience</a:t>
            </a:r>
            <a:endParaRPr lang="en-US" sz="1700" dirty="0"/>
          </a:p>
        </p:txBody>
      </p:sp>
      <p:sp>
        <p:nvSpPr>
          <p:cNvPr id="28" name="Card text"/>
          <p:cNvSpPr txBox="1"/>
          <p:nvPr/>
        </p:nvSpPr>
        <p:spPr>
          <a:xfrm>
            <a:off x="8310677" y="4837176"/>
            <a:ext cx="3149498" cy="566928"/>
          </a:xfrm>
          <a:prstGeom prst="rect">
            <a:avLst/>
          </a:prstGeom>
          <a:noFill/>
          <a:ln/>
        </p:spPr>
        <p:txBody>
          <a:bodyPr wrap="square" lIns="0" tIns="0" rIns="0" bIns="0" rtlCol="0" anchor="t"/>
          <a:lstStyle/>
          <a:p>
            <a:pPr indent="0" marL="0">
              <a:buNone/>
            </a:pPr>
            <a:r>
              <a:rPr lang="en-US" sz="1400" dirty="0">
                <a:solidFill>
                  <a:schemeClr val="tx2"/>
                </a:solidFill>
              </a:rPr>
              <a:t>A rule without a declared law, from data and exploration.</a:t>
            </a:r>
            <a:endParaRPr lang="en-US" sz="1400" dirty="0"/>
          </a:p>
        </p:txBody>
      </p:sp>
      <p:sp>
        <p:nvSpPr>
          <p:cNvPr id="29" name="Lead"/>
          <p:cNvSpPr txBox="1"/>
          <p:nvPr/>
        </p:nvSpPr>
        <p:spPr>
          <a:xfrm>
            <a:off x="548640" y="5806440"/>
            <a:ext cx="11094415" cy="457200"/>
          </a:xfrm>
          <a:prstGeom prst="rect">
            <a:avLst/>
          </a:prstGeom>
          <a:noFill/>
          <a:ln/>
        </p:spPr>
        <p:txBody>
          <a:bodyPr wrap="square" lIns="0" tIns="0" rIns="0" bIns="0" rtlCol="0" anchor="ctr"/>
          <a:lstStyle/>
          <a:p>
            <a:pPr indent="0" marL="0">
              <a:buNone/>
            </a:pPr>
            <a:r>
              <a:rPr lang="en-US" sz="1600" i="1" dirty="0">
                <a:solidFill>
                  <a:schemeClr val="accent2"/>
                </a:solidFill>
              </a:rPr>
              <a:t>With n stocks on a grid of G levels each there are G</a:t>
            </a:r>
            <a:r>
              <a:rPr lang="en-US" sz="1600" i="1" baseline="30000" dirty="0">
                <a:solidFill>
                  <a:schemeClr val="accent2"/>
                </a:solidFill>
              </a:rPr>
              <a:t>n</a:t>
            </a:r>
            <a:r>
              <a:rPr lang="en-US" sz="1600" i="1" dirty="0">
                <a:solidFill>
                  <a:schemeClr val="accent2"/>
                </a:solidFill>
              </a:rPr>
              <a:t> positions: the curse of dimensionality (Proposition 7.3).</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§7.5 · THEOREM 7.3</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Error bounds certify the computation</a:t>
            </a:r>
            <a:endParaRPr lang="en-US" sz="3200" dirty="0"/>
          </a:p>
        </p:txBody>
      </p:sp>
      <p:sp>
        <p:nvSpPr>
          <p:cNvPr id="5" name="Bullets"/>
          <p:cNvSpPr txBox="1"/>
          <p:nvPr/>
        </p:nvSpPr>
        <p:spPr>
          <a:xfrm>
            <a:off x="548640" y="1691640"/>
            <a:ext cx="4476774" cy="4480560"/>
          </a:xfrm>
          <a:prstGeom prst="rect">
            <a:avLst/>
          </a:prstGeom>
          <a:noFill/>
          <a:ln/>
        </p:spPr>
        <p:txBody>
          <a:bodyPr wrap="square" lIns="635" tIns="635" rIns="635" bIns="635" rtlCol="0" anchor="t"/>
          <a:lstStyle/>
          <a:p>
            <a:pPr marL="228600" indent="-228600">
              <a:spcAft>
                <a:spcPts val="800"/>
              </a:spcAft>
              <a:buSzPct val="100000"/>
              <a:buChar char="•"/>
            </a:pPr>
            <a:r>
              <a:rPr lang="en-US" sz="1600" b="1" dirty="0">
                <a:solidFill>
                  <a:schemeClr val="tx1"/>
                </a:solidFill>
              </a:rPr>
              <a:t>Value iteration:</a:t>
            </a:r>
            <a:r>
              <a:rPr lang="en-US" sz="1600" dirty="0">
                <a:solidFill>
                  <a:schemeClr val="tx1"/>
                </a:solidFill>
              </a:rPr>
              <a:t> once two sweeps differ by at most d, the values are within βd/(1 − β). Meridian's run stops after 813 sweeps</a:t>
            </a:r>
            <a:endParaRPr lang="en-US" sz="1600" dirty="0"/>
          </a:p>
          <a:p>
            <a:pPr marL="228600" indent="-228600">
              <a:spcAft>
                <a:spcPts val="800"/>
              </a:spcAft>
              <a:buSzPct val="100000"/>
              <a:buChar char="•"/>
            </a:pPr>
            <a:r>
              <a:rPr lang="en-US" sz="1600" b="1" dirty="0">
                <a:solidFill>
                  <a:schemeClr val="tx1"/>
                </a:solidFill>
              </a:rPr>
              <a:t>Policy iteration</a:t>
            </a:r>
            <a:r>
              <a:rPr lang="en-US" sz="1600" dirty="0">
                <a:solidFill>
                  <a:schemeClr val="tx1"/>
                </a:solidFill>
              </a:rPr>
              <a:t> from Volume I's rule, hold 58: three evaluations</a:t>
            </a:r>
            <a:endParaRPr lang="en-US" sz="1600" dirty="0"/>
          </a:p>
          <a:p>
            <a:pPr marL="228600" indent="-228600">
              <a:spcAft>
                <a:spcPts val="800"/>
              </a:spcAft>
              <a:buSzPct val="100000"/>
              <a:buChar char="•"/>
            </a:pPr>
            <a:r>
              <a:rPr lang="en-US" sz="1600" b="1" dirty="0">
                <a:solidFill>
                  <a:schemeClr val="tx1"/>
                </a:solidFill>
              </a:rPr>
              <a:t>Any values</a:t>
            </a:r>
            <a:r>
              <a:rPr lang="en-US" sz="1600" dirty="0">
                <a:solidFill>
                  <a:schemeClr val="tx1"/>
                </a:solidFill>
              </a:rPr>
              <a:t> lie within their Bellman residual over 1 − β: Meridian's residual, 0.0044, puts them within $0.19m</a:t>
            </a:r>
            <a:endParaRPr lang="en-US" sz="1600" dirty="0"/>
          </a:p>
          <a:p>
            <a:pPr marL="228600" indent="-228600">
              <a:spcAft>
                <a:spcPts val="800"/>
              </a:spcAft>
              <a:buSzPct val="100000"/>
              <a:buChar char="•"/>
            </a:pPr>
            <a:r>
              <a:rPr lang="en-US" sz="1600" b="1" dirty="0">
                <a:solidFill>
                  <a:schemeClr val="tx1"/>
                </a:solidFill>
              </a:rPr>
              <a:t>Approximation</a:t>
            </a:r>
            <a:r>
              <a:rPr lang="en-US" sz="1600" dirty="0">
                <a:solidFill>
                  <a:schemeClr val="tx1"/>
                </a:solidFill>
              </a:rPr>
              <a:t> amplifies errors by the effective horizon: a coarse grid loses $2.1m (guaranteed under $22m); a quadratic that cannot bend at the floor loses $82m</a:t>
            </a:r>
            <a:endParaRPr lang="en-US" sz="1600" dirty="0"/>
          </a:p>
        </p:txBody>
      </p:sp>
      <p:pic>
        <p:nvPicPr>
          <p:cNvPr id="6" name="Figure" descr="Figure 7.2: computing the value function">    </p:cNvPr>
          <p:cNvPicPr>
            <a:picLocks noChangeAspect="1"/>
          </p:cNvPicPr>
          <p:nvPr/>
        </p:nvPicPr>
        <p:blipFill>
          <a:blip r:embed="rId1"/>
          <a:stretch>
            <a:fillRect/>
          </a:stretch>
        </p:blipFill>
        <p:spPr>
          <a:xfrm>
            <a:off x="5391174" y="2150610"/>
            <a:ext cx="6251881" cy="2995693"/>
          </a:xfrm>
          <a:prstGeom prst="rect">
            <a:avLst/>
          </a:prstGeom>
        </p:spPr>
      </p:pic>
      <p:sp>
        <p:nvSpPr>
          <p:cNvPr id="7" name="Caption"/>
          <p:cNvSpPr txBox="1"/>
          <p:nvPr/>
        </p:nvSpPr>
        <p:spPr>
          <a:xfrm>
            <a:off x="5391174" y="5219454"/>
            <a:ext cx="6251881" cy="502920"/>
          </a:xfrm>
          <a:prstGeom prst="rect">
            <a:avLst/>
          </a:prstGeom>
          <a:noFill/>
          <a:ln/>
        </p:spPr>
        <p:txBody>
          <a:bodyPr wrap="square" lIns="0" tIns="0" rIns="0" bIns="0" rtlCol="0" anchor="t"/>
          <a:lstStyle/>
          <a:p>
            <a:pPr indent="0" marL="0">
              <a:buNone/>
            </a:pPr>
            <a:r>
              <a:rPr lang="en-US" sz="1100" i="1" dirty="0">
                <a:solidFill>
                  <a:schemeClr val="tx2"/>
                </a:solidFill>
              </a:rPr>
              <a:t>Figure 7.2. (a) Value iteration from zero with its a priori and stopping bounds. (b) Policy iteration from Volume I's rule; value iteration from the same start creeps.</a:t>
            </a:r>
            <a:endParaRPr lang="en-US" sz="11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WORKED EXAMPLE 7.1 · THE SITUATION</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How much margin above the capability floor?</a:t>
            </a:r>
            <a:endParaRPr lang="en-US" sz="3200" dirty="0"/>
          </a:p>
        </p:txBody>
      </p:sp>
      <p:sp>
        <p:nvSpPr>
          <p:cNvPr id="5" name="Card"/>
          <p:cNvSpPr/>
          <p:nvPr/>
        </p:nvSpPr>
        <p:spPr>
          <a:xfrm>
            <a:off x="548640" y="1691640"/>
            <a:ext cx="3515258" cy="2514600"/>
          </a:xfrm>
          <a:prstGeom prst="roundRect">
            <a:avLst>
              <a:gd name="adj" fmla="val 2909"/>
            </a:avLst>
          </a:prstGeom>
          <a:solidFill>
            <a:schemeClr val="bg2"/>
          </a:solidFill>
          <a:ln w="9525">
            <a:solidFill>
              <a:srgbClr val="C4CBD8"/>
            </a:solidFill>
            <a:prstDash val="solid"/>
          </a:ln>
        </p:spPr>
      </p:sp>
      <p:sp>
        <p:nvSpPr>
          <p:cNvPr id="6" name="Card label"/>
          <p:cNvSpPr txBox="1"/>
          <p:nvPr/>
        </p:nvSpPr>
        <p:spPr>
          <a:xfrm>
            <a:off x="731520" y="1819656"/>
            <a:ext cx="3149498" cy="310896"/>
          </a:xfrm>
          <a:prstGeom prst="rect">
            <a:avLst/>
          </a:prstGeom>
          <a:noFill/>
          <a:ln/>
        </p:spPr>
        <p:txBody>
          <a:bodyPr wrap="square" lIns="0" tIns="0" rIns="0" bIns="0" rtlCol="0" anchor="ctr"/>
          <a:lstStyle/>
          <a:p>
            <a:pPr indent="0" marL="0">
              <a:buNone/>
            </a:pPr>
            <a:r>
              <a:rPr lang="en-US" sz="1300" b="1" dirty="0">
                <a:solidFill>
                  <a:schemeClr val="accent1"/>
                </a:solidFill>
              </a:rPr>
              <a:t>Chief human resources officer</a:t>
            </a:r>
            <a:endParaRPr lang="en-US" sz="1300" dirty="0"/>
          </a:p>
        </p:txBody>
      </p:sp>
      <p:sp>
        <p:nvSpPr>
          <p:cNvPr id="7" name="Card head"/>
          <p:cNvSpPr txBox="1"/>
          <p:nvPr/>
        </p:nvSpPr>
        <p:spPr>
          <a:xfrm>
            <a:off x="731520" y="2148840"/>
            <a:ext cx="3149498" cy="941832"/>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How much margin, and how to hold it?</a:t>
            </a:r>
            <a:endParaRPr lang="en-US" sz="1800" dirty="0"/>
          </a:p>
        </p:txBody>
      </p:sp>
      <p:sp>
        <p:nvSpPr>
          <p:cNvPr id="8" name="Card text"/>
          <p:cNvSpPr txBox="1"/>
          <p:nvPr/>
        </p:nvSpPr>
        <p:spPr>
          <a:xfrm>
            <a:off x="731520" y="3163824"/>
            <a:ext cx="3149498" cy="914400"/>
          </a:xfrm>
          <a:prstGeom prst="rect">
            <a:avLst/>
          </a:prstGeom>
          <a:noFill/>
          <a:ln/>
        </p:spPr>
        <p:txBody>
          <a:bodyPr wrap="square" lIns="0" tIns="0" rIns="0" bIns="0" rtlCol="0" anchor="t"/>
          <a:lstStyle/>
          <a:p>
            <a:pPr indent="0" marL="0">
              <a:buNone/>
            </a:pPr>
            <a:r>
              <a:rPr lang="en-US" sz="1500" dirty="0">
                <a:solidFill>
                  <a:schemeClr val="tx2"/>
                </a:solidFill>
              </a:rPr>
              <a:t>Capability ends 0.75 points off plan in four quarters in ten, 1.5 points off in one in ten.</a:t>
            </a:r>
            <a:endParaRPr lang="en-US" sz="1500" dirty="0"/>
          </a:p>
        </p:txBody>
      </p:sp>
      <p:sp>
        <p:nvSpPr>
          <p:cNvPr id="9" name="Card"/>
          <p:cNvSpPr/>
          <p:nvPr/>
        </p:nvSpPr>
        <p:spPr>
          <a:xfrm>
            <a:off x="4338218" y="1691640"/>
            <a:ext cx="3515258" cy="2514600"/>
          </a:xfrm>
          <a:prstGeom prst="roundRect">
            <a:avLst>
              <a:gd name="adj" fmla="val 2909"/>
            </a:avLst>
          </a:prstGeom>
          <a:solidFill>
            <a:schemeClr val="bg2"/>
          </a:solidFill>
          <a:ln w="9525">
            <a:solidFill>
              <a:srgbClr val="C4CBD8"/>
            </a:solidFill>
            <a:prstDash val="solid"/>
          </a:ln>
        </p:spPr>
      </p:sp>
      <p:sp>
        <p:nvSpPr>
          <p:cNvPr id="10" name="Card label"/>
          <p:cNvSpPr txBox="1"/>
          <p:nvPr/>
        </p:nvSpPr>
        <p:spPr>
          <a:xfrm>
            <a:off x="4521098" y="1819656"/>
            <a:ext cx="3149498" cy="310896"/>
          </a:xfrm>
          <a:prstGeom prst="rect">
            <a:avLst/>
          </a:prstGeom>
          <a:noFill/>
          <a:ln/>
        </p:spPr>
        <p:txBody>
          <a:bodyPr wrap="square" lIns="0" tIns="0" rIns="0" bIns="0" rtlCol="0" anchor="ctr"/>
          <a:lstStyle/>
          <a:p>
            <a:pPr indent="0" marL="0">
              <a:buNone/>
            </a:pPr>
            <a:r>
              <a:rPr lang="en-US" sz="1300" b="1" dirty="0">
                <a:solidFill>
                  <a:schemeClr val="accent1"/>
                </a:solidFill>
              </a:rPr>
              <a:t>Chief financial officer</a:t>
            </a:r>
            <a:endParaRPr lang="en-US" sz="1300" dirty="0"/>
          </a:p>
        </p:txBody>
      </p:sp>
      <p:sp>
        <p:nvSpPr>
          <p:cNvPr id="11" name="Card head"/>
          <p:cNvSpPr txBox="1"/>
          <p:nvPr/>
        </p:nvSpPr>
        <p:spPr>
          <a:xfrm>
            <a:off x="4521098" y="2148840"/>
            <a:ext cx="3149498" cy="941832"/>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What does it cost?</a:t>
            </a:r>
            <a:endParaRPr lang="en-US" sz="1800" dirty="0"/>
          </a:p>
        </p:txBody>
      </p:sp>
      <p:sp>
        <p:nvSpPr>
          <p:cNvPr id="12" name="Card text"/>
          <p:cNvSpPr txBox="1"/>
          <p:nvPr/>
        </p:nvSpPr>
        <p:spPr>
          <a:xfrm>
            <a:off x="4521098" y="3163824"/>
            <a:ext cx="3149498" cy="914400"/>
          </a:xfrm>
          <a:prstGeom prst="rect">
            <a:avLst/>
          </a:prstGeom>
          <a:noFill/>
          <a:ln/>
        </p:spPr>
        <p:txBody>
          <a:bodyPr wrap="square" lIns="0" tIns="0" rIns="0" bIns="0" rtlCol="0" anchor="t"/>
          <a:lstStyle/>
          <a:p>
            <a:pPr indent="0" marL="0">
              <a:buNone/>
            </a:pPr>
            <a:r>
              <a:rPr lang="en-US" sz="1500" dirty="0">
                <a:solidFill>
                  <a:schemeClr val="tx2"/>
                </a:solidFill>
              </a:rPr>
              <a:t>Below 55 the build slows by a fifth per point short: $1.6m for a point short for a quarter.</a:t>
            </a:r>
            <a:endParaRPr lang="en-US" sz="1500" dirty="0"/>
          </a:p>
        </p:txBody>
      </p:sp>
      <p:sp>
        <p:nvSpPr>
          <p:cNvPr id="13" name="Card"/>
          <p:cNvSpPr/>
          <p:nvPr/>
        </p:nvSpPr>
        <p:spPr>
          <a:xfrm>
            <a:off x="8127797" y="1691640"/>
            <a:ext cx="3515258" cy="2514600"/>
          </a:xfrm>
          <a:prstGeom prst="roundRect">
            <a:avLst>
              <a:gd name="adj" fmla="val 2909"/>
            </a:avLst>
          </a:prstGeom>
          <a:solidFill>
            <a:schemeClr val="tx1"/>
          </a:solidFill>
          <a:ln w="9525">
            <a:solidFill>
              <a:srgbClr val="0F1E3D"/>
            </a:solidFill>
            <a:prstDash val="solid"/>
          </a:ln>
        </p:spPr>
      </p:sp>
      <p:sp>
        <p:nvSpPr>
          <p:cNvPr id="14" name="Card label"/>
          <p:cNvSpPr txBox="1"/>
          <p:nvPr/>
        </p:nvSpPr>
        <p:spPr>
          <a:xfrm>
            <a:off x="8310677" y="1819656"/>
            <a:ext cx="3149498" cy="310896"/>
          </a:xfrm>
          <a:prstGeom prst="rect">
            <a:avLst/>
          </a:prstGeom>
          <a:noFill/>
          <a:ln/>
        </p:spPr>
        <p:txBody>
          <a:bodyPr wrap="square" lIns="0" tIns="0" rIns="0" bIns="0" rtlCol="0" anchor="ctr"/>
          <a:lstStyle/>
          <a:p>
            <a:pPr indent="0" marL="0">
              <a:buNone/>
            </a:pPr>
            <a:r>
              <a:rPr lang="en-US" sz="1300" b="1" dirty="0">
                <a:solidFill>
                  <a:schemeClr val="accent1"/>
                </a:solidFill>
              </a:rPr>
              <a:t>The board</a:t>
            </a:r>
            <a:endParaRPr lang="en-US" sz="1300" dirty="0"/>
          </a:p>
        </p:txBody>
      </p:sp>
      <p:sp>
        <p:nvSpPr>
          <p:cNvPr id="15" name="Card head"/>
          <p:cNvSpPr txBox="1"/>
          <p:nvPr/>
        </p:nvSpPr>
        <p:spPr>
          <a:xfrm>
            <a:off x="8310677" y="2148840"/>
            <a:ext cx="3149498" cy="941832"/>
          </a:xfrm>
          <a:prstGeom prst="rect">
            <a:avLst/>
          </a:prstGeom>
          <a:noFill/>
          <a:ln/>
        </p:spPr>
        <p:txBody>
          <a:bodyPr wrap="square" lIns="0" tIns="0" rIns="0" bIns="0" rtlCol="0" anchor="t"/>
          <a:lstStyle/>
          <a:p>
            <a:pPr indent="0" marL="0">
              <a:buNone/>
            </a:pPr>
            <a:r>
              <a:rPr lang="en-US" sz="1800" b="1" dirty="0">
                <a:solidFill>
                  <a:schemeClr val="bg1"/>
                </a:solidFill>
                <a:latin typeface="Cambria" pitchFamily="34" charset="0"/>
                <a:ea typeface="Cambria" pitchFamily="34" charset="-122"/>
                <a:cs typeface="Cambria" pitchFamily="34" charset="-120"/>
              </a:rPr>
              <a:t>Can Volume I's budget be retired?</a:t>
            </a:r>
            <a:endParaRPr lang="en-US" sz="1800" dirty="0"/>
          </a:p>
        </p:txBody>
      </p:sp>
      <p:sp>
        <p:nvSpPr>
          <p:cNvPr id="16" name="Card text"/>
          <p:cNvSpPr txBox="1"/>
          <p:nvPr/>
        </p:nvSpPr>
        <p:spPr>
          <a:xfrm>
            <a:off x="8310677" y="3163824"/>
            <a:ext cx="3149498" cy="914400"/>
          </a:xfrm>
          <a:prstGeom prst="rect">
            <a:avLst/>
          </a:prstGeom>
          <a:noFill/>
          <a:ln/>
        </p:spPr>
        <p:txBody>
          <a:bodyPr wrap="square" lIns="0" tIns="0" rIns="0" bIns="0" rtlCol="0" anchor="t"/>
          <a:lstStyle/>
          <a:p>
            <a:pPr indent="0" marL="0">
              <a:buNone/>
            </a:pPr>
            <a:r>
              <a:rPr lang="en-US" sz="1500" dirty="0">
                <a:solidFill>
                  <a:schemeClr val="bg2"/>
                </a:solidFill>
              </a:rPr>
              <a:t>It pays the rent on 58 every quarter, whatever happens.</a:t>
            </a:r>
            <a:endParaRPr lang="en-US" sz="1500" dirty="0"/>
          </a:p>
        </p:txBody>
      </p:sp>
      <p:sp>
        <p:nvSpPr>
          <p:cNvPr id="17" name="Lead"/>
          <p:cNvSpPr txBox="1"/>
          <p:nvPr/>
        </p:nvSpPr>
        <p:spPr>
          <a:xfrm>
            <a:off x="548640" y="4480560"/>
            <a:ext cx="11094415" cy="457200"/>
          </a:xfrm>
          <a:prstGeom prst="rect">
            <a:avLst/>
          </a:prstGeom>
          <a:noFill/>
          <a:ln/>
        </p:spPr>
        <p:txBody>
          <a:bodyPr wrap="square" lIns="0" tIns="0" rIns="0" bIns="0" rtlCol="0" anchor="ctr"/>
          <a:lstStyle/>
          <a:p>
            <a:pPr indent="0" marL="0">
              <a:buNone/>
            </a:pPr>
            <a:r>
              <a:rPr lang="en-US" sz="1600" i="1" dirty="0">
                <a:solidFill>
                  <a:schemeClr val="accent2"/>
                </a:solidFill>
              </a:rPr>
              <a:t>Chapter 6 told the board to stop defending 58 and hold the floor of 55. Two facts it left out have arrived.</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WORKED EXAMPLE 7.1 · STEPS 1–3</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bg1"/>
                </a:solidFill>
                <a:latin typeface="Cambria" pitchFamily="34" charset="0"/>
                <a:ea typeface="Cambria" pitchFamily="34" charset="-122"/>
                <a:cs typeface="Cambria" pitchFamily="34" charset="-120"/>
              </a:rPr>
              <a:t>Write the program, then solve it</a:t>
            </a:r>
            <a:endParaRPr lang="en-US" sz="3200" dirty="0"/>
          </a:p>
        </p:txBody>
      </p:sp>
      <p:pic>
        <p:nvPicPr>
          <p:cNvPr id="5" name="Equation" descr="Equation: V(c) \;=\; \max_{0 \le h \le 2.5} \Bigl\{ -4h \;-\; 1.6\,(55 - c)^{+} \;+\; \beta \sum_{w} p(w)\, V(0.975c + h - w) \Bigr\}">    </p:cNvPr>
          <p:cNvPicPr>
            <a:picLocks noChangeAspect="1"/>
          </p:cNvPicPr>
          <p:nvPr/>
        </p:nvPicPr>
        <p:blipFill>
          <a:blip r:embed="rId1"/>
          <a:stretch>
            <a:fillRect/>
          </a:stretch>
        </p:blipFill>
        <p:spPr>
          <a:xfrm>
            <a:off x="945563" y="1828800"/>
            <a:ext cx="10300570" cy="914400"/>
          </a:xfrm>
          <a:prstGeom prst="rect">
            <a:avLst/>
          </a:prstGeom>
        </p:spPr>
      </p:pic>
      <p:sp>
        <p:nvSpPr>
          <p:cNvPr id="6" name="Text 2"/>
          <p:cNvSpPr txBox="1"/>
          <p:nvPr/>
        </p:nvSpPr>
        <p:spPr>
          <a:xfrm>
            <a:off x="914400" y="2880360"/>
            <a:ext cx="10362895" cy="411480"/>
          </a:xfrm>
          <a:prstGeom prst="rect">
            <a:avLst/>
          </a:prstGeom>
          <a:noFill/>
          <a:ln/>
        </p:spPr>
        <p:txBody>
          <a:bodyPr wrap="square" lIns="0" tIns="0" rIns="0" bIns="0" rtlCol="0" anchor="ctr"/>
          <a:lstStyle/>
          <a:p>
            <a:pPr algn="ctr" indent="0" marL="0">
              <a:buNone/>
            </a:pPr>
            <a:r>
              <a:rPr lang="en-US" sz="1600" i="1" dirty="0">
                <a:solidFill>
                  <a:schemeClr val="accent4"/>
                </a:solidFill>
              </a:rPr>
              <a:t>capability c, points hired h at $4m each, unplanned loss w by the record, β = 1.1</a:t>
            </a:r>
            <a:r>
              <a:rPr lang="en-US" sz="1600" i="1" baseline="30000" dirty="0">
                <a:solidFill>
                  <a:schemeClr val="accent4"/>
                </a:solidFill>
              </a:rPr>
              <a:t>−1/4</a:t>
            </a:r>
            <a:r>
              <a:rPr lang="en-US" sz="1600" i="1" dirty="0">
                <a:solidFill>
                  <a:schemeClr val="accent4"/>
                </a:solidFill>
              </a:rPr>
              <a:t> = 0.976 a quarter</a:t>
            </a:r>
            <a:endParaRPr lang="en-US" sz="1600" dirty="0"/>
          </a:p>
        </p:txBody>
      </p:sp>
      <p:sp>
        <p:nvSpPr>
          <p:cNvPr id="7" name="Bullets"/>
          <p:cNvSpPr txBox="1"/>
          <p:nvPr/>
        </p:nvSpPr>
        <p:spPr>
          <a:xfrm>
            <a:off x="914400" y="3474720"/>
            <a:ext cx="10362895" cy="2697480"/>
          </a:xfrm>
          <a:prstGeom prst="rect">
            <a:avLst/>
          </a:prstGeom>
          <a:noFill/>
          <a:ln/>
        </p:spPr>
        <p:txBody>
          <a:bodyPr wrap="square" lIns="635" tIns="635" rIns="635" bIns="635" rtlCol="0" anchor="t"/>
          <a:lstStyle/>
          <a:p>
            <a:pPr marL="228600" indent="-228600">
              <a:spcAft>
                <a:spcPts val="800"/>
              </a:spcAft>
              <a:buSzPct val="100000"/>
              <a:buChar char="•"/>
            </a:pPr>
            <a:r>
              <a:rPr lang="en-US" sz="1700" b="1" dirty="0">
                <a:solidFill>
                  <a:schemeClr val="bg1"/>
                </a:solidFill>
              </a:rPr>
              <a:t>Step 2:</a:t>
            </a:r>
            <a:r>
              <a:rPr lang="en-US" sz="1700" dirty="0">
                <a:solidFill>
                  <a:schemeClr val="bg1"/>
                </a:solidFill>
              </a:rPr>
              <a:t> in planned capability y = 0.975c + h, Theorem 7.2(ii) applies: the value is concave and the best rule a target</a:t>
            </a:r>
            <a:endParaRPr lang="en-US" sz="1700" dirty="0"/>
          </a:p>
          <a:p>
            <a:pPr marL="228600" indent="-228600">
              <a:spcAft>
                <a:spcPts val="800"/>
              </a:spcAft>
              <a:buSzPct val="100000"/>
              <a:buChar char="•"/>
            </a:pPr>
            <a:r>
              <a:rPr lang="en-US" sz="1700" b="1" dirty="0">
                <a:solidFill>
                  <a:schemeClr val="bg1"/>
                </a:solidFill>
              </a:rPr>
              <a:t>Step 3:</a:t>
            </a:r>
            <a:r>
              <a:rPr lang="en-US" sz="1700" dirty="0">
                <a:solidFill>
                  <a:schemeClr val="bg1"/>
                </a:solidFill>
              </a:rPr>
              <a:t> value iteration certifies every value within a dollar in 813 sweeps; policy iteration needs three evaluations</a:t>
            </a:r>
            <a:endParaRPr lang="en-US" sz="1700" dirty="0"/>
          </a:p>
          <a:p>
            <a:pPr marL="228600" indent="-228600">
              <a:spcAft>
                <a:spcPts val="800"/>
              </a:spcAft>
              <a:buSzPct val="100000"/>
              <a:buChar char="•"/>
            </a:pPr>
            <a:r>
              <a:rPr lang="en-US" sz="1700" b="1" dirty="0">
                <a:solidFill>
                  <a:schemeClr val="bg1"/>
                </a:solidFill>
              </a:rPr>
              <a:t>The rule:</a:t>
            </a:r>
            <a:r>
              <a:rPr lang="en-US" sz="1700" dirty="0">
                <a:solidFill>
                  <a:schemeClr val="bg1"/>
                </a:solidFill>
              </a:rPr>
              <a:t> bring planned capability to 55.75 each quarter; hire at the cap below 54.6, nothing above 57.2</a:t>
            </a:r>
            <a:endParaRPr lang="en-US" sz="1700" dirty="0"/>
          </a:p>
          <a:p>
            <a:pPr marL="228600" indent="-228600">
              <a:spcAft>
                <a:spcPts val="800"/>
              </a:spcAft>
              <a:buSzPct val="100000"/>
              <a:buChar char="•"/>
            </a:pPr>
            <a:r>
              <a:rPr lang="en-US" sz="1700" dirty="0">
                <a:solidFill>
                  <a:schemeClr val="bg1"/>
                </a:solidFill>
              </a:rPr>
              <a:t>The recursion, not the formula, certifies the target: the formula's condition fails in the extreme quarters</a:t>
            </a:r>
            <a:endParaRPr lang="en-US" sz="17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C4CBD8"/>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WORKED EXAMPLE 7.1 · TABLE 7.3</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Rules against plans, from capability 58</a:t>
            </a:r>
            <a:endParaRPr lang="en-US" sz="3200" dirty="0"/>
          </a:p>
        </p:txBody>
      </p:sp>
      <p:graphicFrame>
        <p:nvGraphicFramePr>
          <p:cNvPr id="18" name="Table"/>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3904472"/>
                <a:gridCol w="1142772"/>
                <a:gridCol w="1285619"/>
                <a:gridCol w="1238003"/>
                <a:gridCol w="1142772"/>
                <a:gridCol w="1238003"/>
                <a:gridCol w="1142772"/>
              </a:tblGrid>
              <a:tr h="438912">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Rule or plan</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r" indent="0" marL="0">
                        <a:buNone/>
                      </a:pPr>
                      <a:r>
                        <a:rPr lang="en-US" sz="1500" b="1" dirty="0">
                          <a:solidFill>
                            <a:srgbClr val="FFFFFF"/>
                          </a:solidFill>
                          <a:latin typeface="Calibri" pitchFamily="34" charset="0"/>
                          <a:ea typeface="Calibri" pitchFamily="34" charset="-122"/>
                          <a:cs typeface="Calibri" pitchFamily="34" charset="-120"/>
                        </a:rPr>
                        <a:t>Margin</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r" indent="0" marL="0">
                        <a:buNone/>
                      </a:pPr>
                      <a:r>
                        <a:rPr lang="en-US" sz="1500" b="1" dirty="0">
                          <a:solidFill>
                            <a:srgbClr val="FFFFFF"/>
                          </a:solidFill>
                          <a:latin typeface="Calibri" pitchFamily="34" charset="0"/>
                          <a:ea typeface="Calibri" pitchFamily="34" charset="-122"/>
                          <a:cs typeface="Calibri" pitchFamily="34" charset="-120"/>
                        </a:rPr>
                        <a:t>Short (%)</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r" indent="0" marL="0">
                        <a:buNone/>
                      </a:pPr>
                      <a:r>
                        <a:rPr lang="en-US" sz="1500" b="1" dirty="0">
                          <a:solidFill>
                            <a:srgbClr val="FFFFFF"/>
                          </a:solidFill>
                          <a:latin typeface="Calibri" pitchFamily="34" charset="0"/>
                          <a:ea typeface="Calibri" pitchFamily="34" charset="-122"/>
                          <a:cs typeface="Calibri" pitchFamily="34" charset="-120"/>
                        </a:rPr>
                        <a:t>Hiring</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r" indent="0" marL="0">
                        <a:buNone/>
                      </a:pPr>
                      <a:r>
                        <a:rPr lang="en-US" sz="1500" b="1" dirty="0">
                          <a:solidFill>
                            <a:srgbClr val="FFFFFF"/>
                          </a:solidFill>
                          <a:latin typeface="Calibri" pitchFamily="34" charset="0"/>
                          <a:ea typeface="Calibri" pitchFamily="34" charset="-122"/>
                          <a:cs typeface="Calibri" pitchFamily="34" charset="-120"/>
                        </a:rPr>
                        <a:t>Delay</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r" indent="0" marL="0">
                        <a:buNone/>
                      </a:pPr>
                      <a:r>
                        <a:rPr lang="en-US" sz="1500" b="1" dirty="0">
                          <a:solidFill>
                            <a:srgbClr val="FFFFFF"/>
                          </a:solidFill>
                          <a:latin typeface="Calibri" pitchFamily="34" charset="0"/>
                          <a:ea typeface="Calibri" pitchFamily="34" charset="-122"/>
                          <a:cs typeface="Calibri" pitchFamily="34" charset="-120"/>
                        </a:rPr>
                        <a:t>Total</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r" indent="0" marL="0">
                        <a:buNone/>
                      </a:pPr>
                      <a:r>
                        <a:rPr lang="en-US" sz="1500" b="1" dirty="0">
                          <a:solidFill>
                            <a:srgbClr val="FFFFFF"/>
                          </a:solidFill>
                          <a:latin typeface="Calibri" pitchFamily="34" charset="0"/>
                          <a:ea typeface="Calibri" pitchFamily="34" charset="-122"/>
                          <a:cs typeface="Calibri" pitchFamily="34" charset="-120"/>
                        </a:rPr>
                        <a:t>Extra</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r>
              <a:tr h="438912">
                <a:tc>
                  <a:txBody>
                    <a:bodyPr/>
                    <a:lstStyle/>
                    <a:p>
                      <a:pPr algn="l" indent="0" marL="0">
                        <a:buNone/>
                      </a:pPr>
                      <a:r>
                        <a:rPr lang="en-US" sz="1500" b="1" dirty="0">
                          <a:solidFill>
                            <a:srgbClr val="0F1E3D"/>
                          </a:solidFill>
                          <a:latin typeface="Calibri" pitchFamily="34" charset="0"/>
                          <a:ea typeface="Calibri" pitchFamily="34" charset="-122"/>
                          <a:cs typeface="Calibri" pitchFamily="34" charset="-120"/>
                        </a:rPr>
                        <a:t>Best rule: top up to 55.75</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0.75</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6.0</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228.0</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2.7</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230.8</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r>
              <a:tr h="438912">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Re-plan each quarter</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0.75</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6.0</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228.0</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2.7</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230.8</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0.0</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438912">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Chapter 6's 55, as a rule</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0</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27.5</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222.1</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15.2</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237.4</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6.6</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438912">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Cover the worst quarter: 56.5</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1.5</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0.3</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234.0</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0.1</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234.0</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3.3</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438912">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Volume I's 58, as a rule</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3</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0.0</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246.2</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0.0</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246.2</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15.4</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438912">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Best committed plan</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3.5*</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12.3</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244.9</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9.7</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254.7</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23.9</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438912">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Volume I's budget: rent on 58</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3</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16.0</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246.3</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10.0</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256.3</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25.6</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bl>
          </a:graphicData>
        </a:graphic>
      </p:graphicFrame>
      <p:sp>
        <p:nvSpPr>
          <p:cNvPr id="6" name="Table note"/>
          <p:cNvSpPr txBox="1"/>
          <p:nvPr/>
        </p:nvSpPr>
        <p:spPr>
          <a:xfrm>
            <a:off x="548640" y="5349240"/>
            <a:ext cx="11094415" cy="320040"/>
          </a:xfrm>
          <a:prstGeom prst="rect">
            <a:avLst/>
          </a:prstGeom>
          <a:noFill/>
          <a:ln/>
        </p:spPr>
        <p:txBody>
          <a:bodyPr wrap="square" lIns="0" tIns="0" rIns="0" bIns="0" rtlCol="0" anchor="ctr"/>
          <a:lstStyle/>
          <a:p>
            <a:pPr indent="0" marL="0">
              <a:buNone/>
            </a:pPr>
            <a:r>
              <a:rPr lang="en-US" sz="1100" i="1" dirty="0">
                <a:solidFill>
                  <a:schemeClr val="tx2"/>
                </a:solidFill>
              </a:rPr>
              <a:t>Present values at 10 percent over an open horizon, $ million; components may not add because of rounding. Margin: planned capability above 55. Short: long-run share of quarters that start below 55. *In the long run; the schedule starts lower.</a:t>
            </a:r>
            <a:endParaRPr lang="en-US" sz="1100" dirty="0"/>
          </a:p>
        </p:txBody>
      </p:sp>
      <p:sp>
        <p:nvSpPr>
          <p:cNvPr id="7" name="Lead"/>
          <p:cNvSpPr txBox="1"/>
          <p:nvPr/>
        </p:nvSpPr>
        <p:spPr>
          <a:xfrm>
            <a:off x="548640" y="5760720"/>
            <a:ext cx="11094415" cy="411480"/>
          </a:xfrm>
          <a:prstGeom prst="rect">
            <a:avLst/>
          </a:prstGeom>
          <a:noFill/>
          <a:ln/>
        </p:spPr>
        <p:txBody>
          <a:bodyPr wrap="square" lIns="0" tIns="0" rIns="0" bIns="0" rtlCol="0" anchor="ctr"/>
          <a:lstStyle/>
          <a:p>
            <a:pPr indent="0" marL="0">
              <a:buNone/>
            </a:pPr>
            <a:r>
              <a:rPr lang="en-US" sz="1600" dirty="0">
                <a:solidFill>
                  <a:schemeClr val="accent2"/>
                </a:solidFill>
              </a:rPr>
              <a:t>Replace the budget with a rule: $25.6m less than Volume I's budget, $6.6m less than holding the floor exactly.</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WORKED EXAMPLE 7.1 · STEPS 5–6</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The margin rests on declarations the board owns</a:t>
            </a:r>
            <a:endParaRPr lang="en-US" sz="3200" dirty="0"/>
          </a:p>
        </p:txBody>
      </p:sp>
      <p:sp>
        <p:nvSpPr>
          <p:cNvPr id="5" name="Bullets"/>
          <p:cNvSpPr txBox="1"/>
          <p:nvPr/>
        </p:nvSpPr>
        <p:spPr>
          <a:xfrm>
            <a:off x="548640" y="1691640"/>
            <a:ext cx="4476774" cy="4480560"/>
          </a:xfrm>
          <a:prstGeom prst="rect">
            <a:avLst/>
          </a:prstGeom>
          <a:noFill/>
          <a:ln/>
        </p:spPr>
        <p:txBody>
          <a:bodyPr wrap="square" lIns="635" tIns="635" rIns="635" bIns="635" rtlCol="0" anchor="t"/>
          <a:lstStyle/>
          <a:p>
            <a:pPr marL="228600" indent="-228600">
              <a:spcAft>
                <a:spcPts val="800"/>
              </a:spcAft>
              <a:buSzPct val="100000"/>
              <a:buChar char="•"/>
            </a:pPr>
            <a:r>
              <a:rPr lang="en-US" sz="1600" dirty="0">
                <a:solidFill>
                  <a:schemeClr val="tx1"/>
                </a:solidFill>
              </a:rPr>
              <a:t>If every quarter short stopped the build, the margin would be </a:t>
            </a:r>
            <a:r>
              <a:rPr lang="en-US" sz="1600" b="1" dirty="0">
                <a:solidFill>
                  <a:schemeClr val="tx1"/>
                </a:solidFill>
              </a:rPr>
              <a:t>1.5</a:t>
            </a:r>
            <a:r>
              <a:rPr lang="en-US" sz="1600" dirty="0">
                <a:solidFill>
                  <a:schemeClr val="tx1"/>
                </a:solidFill>
              </a:rPr>
              <a:t> points</a:t>
            </a:r>
            <a:endParaRPr lang="en-US" sz="1600" dirty="0"/>
          </a:p>
          <a:p>
            <a:pPr marL="228600" indent="-228600">
              <a:spcAft>
                <a:spcPts val="800"/>
              </a:spcAft>
              <a:buSzPct val="100000"/>
              <a:buChar char="•"/>
            </a:pPr>
            <a:r>
              <a:rPr lang="en-US" sz="1600" dirty="0">
                <a:solidFill>
                  <a:schemeClr val="tx1"/>
                </a:solidFill>
              </a:rPr>
              <a:t>Delay worth $4m or $16m a quarter: </a:t>
            </a:r>
            <a:r>
              <a:rPr lang="en-US" sz="1600" b="1" dirty="0">
                <a:solidFill>
                  <a:schemeClr val="tx1"/>
                </a:solidFill>
              </a:rPr>
              <a:t>0.70</a:t>
            </a:r>
            <a:r>
              <a:rPr lang="en-US" sz="1600" dirty="0">
                <a:solidFill>
                  <a:schemeClr val="tx1"/>
                </a:solidFill>
              </a:rPr>
              <a:t> or </a:t>
            </a:r>
            <a:r>
              <a:rPr lang="en-US" sz="1600" b="1" dirty="0">
                <a:solidFill>
                  <a:schemeClr val="tx1"/>
                </a:solidFill>
              </a:rPr>
              <a:t>0.75</a:t>
            </a:r>
            <a:r>
              <a:rPr lang="en-US" sz="1600" dirty="0">
                <a:solidFill>
                  <a:schemeClr val="tx1"/>
                </a:solidFill>
              </a:rPr>
              <a:t>; the record's shape sets the margin, not the price of delay</a:t>
            </a:r>
            <a:endParaRPr lang="en-US" sz="1600" dirty="0"/>
          </a:p>
          <a:p>
            <a:pPr marL="228600" indent="-228600">
              <a:spcAft>
                <a:spcPts val="800"/>
              </a:spcAft>
              <a:buSzPct val="100000"/>
              <a:buChar char="•"/>
            </a:pPr>
            <a:r>
              <a:rPr lang="en-US" sz="1600" dirty="0">
                <a:solidFill>
                  <a:schemeClr val="tx1"/>
                </a:solidFill>
              </a:rPr>
              <a:t>Swings twice as wide: </a:t>
            </a:r>
            <a:r>
              <a:rPr lang="en-US" sz="1600" b="1" dirty="0">
                <a:solidFill>
                  <a:schemeClr val="tx1"/>
                </a:solidFill>
              </a:rPr>
              <a:t>1.85</a:t>
            </a:r>
            <a:r>
              <a:rPr lang="en-US" sz="1600" dirty="0">
                <a:solidFill>
                  <a:schemeClr val="tx1"/>
                </a:solidFill>
              </a:rPr>
              <a:t>, more than double; half as wide: </a:t>
            </a:r>
            <a:r>
              <a:rPr lang="en-US" sz="1600" b="1" dirty="0">
                <a:solidFill>
                  <a:schemeClr val="tx1"/>
                </a:solidFill>
              </a:rPr>
              <a:t>0.375</a:t>
            </a:r>
            <a:r>
              <a:rPr lang="en-US" sz="1600" dirty="0">
                <a:solidFill>
                  <a:schemeClr val="tx1"/>
                </a:solidFill>
              </a:rPr>
              <a:t>, the formula's</a:t>
            </a:r>
            <a:endParaRPr lang="en-US" sz="1600" dirty="0"/>
          </a:p>
          <a:p>
            <a:pPr marL="228600" indent="-228600">
              <a:spcAft>
                <a:spcPts val="800"/>
              </a:spcAft>
              <a:buSzPct val="100000"/>
              <a:buChar char="•"/>
            </a:pPr>
            <a:r>
              <a:rPr lang="en-US" sz="1600" dirty="0">
                <a:solidFill>
                  <a:schemeClr val="tx1"/>
                </a:solidFill>
              </a:rPr>
              <a:t>A hiring cap of 2.0 points a quarter: </a:t>
            </a:r>
            <a:r>
              <a:rPr lang="en-US" sz="1600" b="1" dirty="0">
                <a:solidFill>
                  <a:schemeClr val="tx1"/>
                </a:solidFill>
              </a:rPr>
              <a:t>0.85</a:t>
            </a:r>
            <a:endParaRPr lang="en-US" sz="1600" dirty="0"/>
          </a:p>
          <a:p>
            <a:pPr marL="228600" indent="-228600">
              <a:spcAft>
                <a:spcPts val="800"/>
              </a:spcAft>
              <a:buSzPct val="100000"/>
              <a:buChar char="•"/>
            </a:pPr>
            <a:r>
              <a:rPr lang="en-US" sz="1600" dirty="0">
                <a:solidFill>
                  <a:schemeClr val="tx1"/>
                </a:solidFill>
              </a:rPr>
              <a:t>Under this declaration the team is worth </a:t>
            </a:r>
            <a:r>
              <a:rPr lang="en-US" sz="1600" b="1" dirty="0">
                <a:solidFill>
                  <a:schemeClr val="tx1"/>
                </a:solidFill>
              </a:rPr>
              <a:t>$23.8m</a:t>
            </a:r>
            <a:r>
              <a:rPr lang="en-US" sz="1600" dirty="0">
                <a:solidFill>
                  <a:schemeClr val="tx1"/>
                </a:solidFill>
              </a:rPr>
              <a:t>, not Chapter 6's $32.5m</a:t>
            </a:r>
            <a:endParaRPr lang="en-US" sz="1600" dirty="0"/>
          </a:p>
        </p:txBody>
      </p:sp>
      <p:pic>
        <p:nvPicPr>
          <p:cNvPr id="6" name="Figure" descr="Figure 7.3: a rule against a plan, and the price of a margin">    </p:cNvPr>
          <p:cNvPicPr>
            <a:picLocks noChangeAspect="1"/>
          </p:cNvPicPr>
          <p:nvPr/>
        </p:nvPicPr>
        <p:blipFill>
          <a:blip r:embed="rId1"/>
          <a:stretch>
            <a:fillRect/>
          </a:stretch>
        </p:blipFill>
        <p:spPr>
          <a:xfrm>
            <a:off x="5391174" y="2099053"/>
            <a:ext cx="6251881" cy="3098806"/>
          </a:xfrm>
          <a:prstGeom prst="rect">
            <a:avLst/>
          </a:prstGeom>
        </p:spPr>
      </p:pic>
      <p:sp>
        <p:nvSpPr>
          <p:cNvPr id="7" name="Caption"/>
          <p:cNvSpPr txBox="1"/>
          <p:nvPr/>
        </p:nvSpPr>
        <p:spPr>
          <a:xfrm>
            <a:off x="5391174" y="5271011"/>
            <a:ext cx="6251881" cy="502920"/>
          </a:xfrm>
          <a:prstGeom prst="rect">
            <a:avLst/>
          </a:prstGeom>
          <a:noFill/>
          <a:ln/>
        </p:spPr>
        <p:txBody>
          <a:bodyPr wrap="square" lIns="0" tIns="0" rIns="0" bIns="0" rtlCol="0" anchor="t"/>
          <a:lstStyle/>
          <a:p>
            <a:pPr indent="0" marL="0">
              <a:buNone/>
            </a:pPr>
            <a:r>
              <a:rPr lang="en-US" sz="1100" i="1" dirty="0">
                <a:solidFill>
                  <a:schemeClr val="tx2"/>
                </a:solidFill>
              </a:rPr>
              <a:t>Figure 7.3. (a) Capability over five years from 58: the rule's narrow band against the budget's widening one. (b) Every target rule's cost from 58, least at 55.75.</a:t>
            </a:r>
            <a:endParaRPr lang="en-US" sz="11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WORKED EXAMPLE 7.1 · WHAT THE BOARD SHOULD TAKE AWAY</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Replace the budget with a rule</a:t>
            </a:r>
            <a:endParaRPr lang="en-US" sz="3200" dirty="0"/>
          </a:p>
        </p:txBody>
      </p:sp>
      <p:sp>
        <p:nvSpPr>
          <p:cNvPr id="5" name="Stat card"/>
          <p:cNvSpPr/>
          <p:nvPr/>
        </p:nvSpPr>
        <p:spPr>
          <a:xfrm>
            <a:off x="548640" y="1691640"/>
            <a:ext cx="3515258" cy="1828800"/>
          </a:xfrm>
          <a:prstGeom prst="roundRect">
            <a:avLst>
              <a:gd name="adj" fmla="val 4000"/>
            </a:avLst>
          </a:prstGeom>
          <a:solidFill>
            <a:schemeClr val="tx1"/>
          </a:solidFill>
          <a:ln w="9525">
            <a:solidFill>
              <a:srgbClr val="0F1E3D"/>
            </a:solidFill>
            <a:prstDash val="solid"/>
          </a:ln>
        </p:spPr>
      </p:sp>
      <p:sp>
        <p:nvSpPr>
          <p:cNvPr id="6" name="Stat value"/>
          <p:cNvSpPr txBox="1"/>
          <p:nvPr/>
        </p:nvSpPr>
        <p:spPr>
          <a:xfrm>
            <a:off x="685800" y="1801368"/>
            <a:ext cx="3240938" cy="914400"/>
          </a:xfrm>
          <a:prstGeom prst="rect">
            <a:avLst/>
          </a:prstGeom>
          <a:noFill/>
          <a:ln/>
        </p:spPr>
        <p:txBody>
          <a:bodyPr wrap="square" lIns="0" tIns="0" rIns="0" bIns="0" rtlCol="0" anchor="ctr"/>
          <a:lstStyle/>
          <a:p>
            <a:pPr algn="ctr" indent="0" marL="0">
              <a:buNone/>
            </a:pPr>
            <a:r>
              <a:rPr lang="en-US" sz="4400" b="1" dirty="0">
                <a:solidFill>
                  <a:schemeClr val="accent1"/>
                </a:solidFill>
                <a:latin typeface="Cambria" pitchFamily="34" charset="0"/>
                <a:ea typeface="Cambria" pitchFamily="34" charset="-122"/>
                <a:cs typeface="Cambria" pitchFamily="34" charset="-120"/>
              </a:rPr>
              <a:t>55.75</a:t>
            </a:r>
            <a:endParaRPr lang="en-US" sz="4400" dirty="0"/>
          </a:p>
        </p:txBody>
      </p:sp>
      <p:sp>
        <p:nvSpPr>
          <p:cNvPr id="7" name="Stat label"/>
          <p:cNvSpPr txBox="1"/>
          <p:nvPr/>
        </p:nvSpPr>
        <p:spPr>
          <a:xfrm>
            <a:off x="685800" y="2697480"/>
            <a:ext cx="3240938" cy="749808"/>
          </a:xfrm>
          <a:prstGeom prst="rect">
            <a:avLst/>
          </a:prstGeom>
          <a:noFill/>
          <a:ln/>
        </p:spPr>
        <p:txBody>
          <a:bodyPr wrap="square" lIns="0" tIns="0" rIns="0" bIns="0" rtlCol="0" anchor="t"/>
          <a:lstStyle/>
          <a:p>
            <a:pPr algn="ctr" indent="0" marL="0">
              <a:buNone/>
            </a:pPr>
            <a:r>
              <a:rPr lang="en-US" sz="1400" dirty="0">
                <a:solidFill>
                  <a:schemeClr val="bg2"/>
                </a:solidFill>
              </a:rPr>
              <a:t>top planned capability up to 55.75 each quarter; hire nothing above 57.2</a:t>
            </a:r>
            <a:endParaRPr lang="en-US" sz="1400" dirty="0"/>
          </a:p>
        </p:txBody>
      </p:sp>
      <p:sp>
        <p:nvSpPr>
          <p:cNvPr id="8" name="Stat card"/>
          <p:cNvSpPr/>
          <p:nvPr/>
        </p:nvSpPr>
        <p:spPr>
          <a:xfrm>
            <a:off x="4338218" y="1691640"/>
            <a:ext cx="3515258" cy="1828800"/>
          </a:xfrm>
          <a:prstGeom prst="roundRect">
            <a:avLst>
              <a:gd name="adj" fmla="val 4000"/>
            </a:avLst>
          </a:prstGeom>
          <a:solidFill>
            <a:schemeClr val="bg2"/>
          </a:solidFill>
          <a:ln w="9525">
            <a:solidFill>
              <a:srgbClr val="C4CBD8"/>
            </a:solidFill>
            <a:prstDash val="solid"/>
          </a:ln>
        </p:spPr>
      </p:sp>
      <p:sp>
        <p:nvSpPr>
          <p:cNvPr id="9" name="Stat value"/>
          <p:cNvSpPr txBox="1"/>
          <p:nvPr/>
        </p:nvSpPr>
        <p:spPr>
          <a:xfrm>
            <a:off x="4475378" y="1801368"/>
            <a:ext cx="3240938" cy="914400"/>
          </a:xfrm>
          <a:prstGeom prst="rect">
            <a:avLst/>
          </a:prstGeom>
          <a:noFill/>
          <a:ln/>
        </p:spPr>
        <p:txBody>
          <a:bodyPr wrap="square" lIns="0" tIns="0" rIns="0" bIns="0" rtlCol="0" anchor="ctr"/>
          <a:lstStyle/>
          <a:p>
            <a:pPr algn="ctr" indent="0" marL="0">
              <a:buNone/>
            </a:pPr>
            <a:r>
              <a:rPr lang="en-US" sz="4400" b="1" dirty="0">
                <a:solidFill>
                  <a:schemeClr val="tx1"/>
                </a:solidFill>
                <a:latin typeface="Cambria" pitchFamily="34" charset="0"/>
                <a:ea typeface="Cambria" pitchFamily="34" charset="-122"/>
                <a:cs typeface="Cambria" pitchFamily="34" charset="-120"/>
              </a:rPr>
              <a:t>$25.6m</a:t>
            </a:r>
            <a:endParaRPr lang="en-US" sz="4400" dirty="0"/>
          </a:p>
        </p:txBody>
      </p:sp>
      <p:sp>
        <p:nvSpPr>
          <p:cNvPr id="10" name="Stat label"/>
          <p:cNvSpPr txBox="1"/>
          <p:nvPr/>
        </p:nvSpPr>
        <p:spPr>
          <a:xfrm>
            <a:off x="4475378" y="2697480"/>
            <a:ext cx="3240938" cy="749808"/>
          </a:xfrm>
          <a:prstGeom prst="rect">
            <a:avLst/>
          </a:prstGeom>
          <a:noFill/>
          <a:ln/>
        </p:spPr>
        <p:txBody>
          <a:bodyPr wrap="square" lIns="0" tIns="0" rIns="0" bIns="0" rtlCol="0" anchor="t"/>
          <a:lstStyle/>
          <a:p>
            <a:pPr algn="ctr" indent="0" marL="0">
              <a:buNone/>
            </a:pPr>
            <a:r>
              <a:rPr lang="en-US" sz="1400" dirty="0">
                <a:solidFill>
                  <a:schemeClr val="tx2"/>
                </a:solidFill>
              </a:rPr>
              <a:t>less than Volume I's budget, which still falls short one quarter in six</a:t>
            </a:r>
            <a:endParaRPr lang="en-US" sz="1400" dirty="0"/>
          </a:p>
        </p:txBody>
      </p:sp>
      <p:sp>
        <p:nvSpPr>
          <p:cNvPr id="11" name="Stat card"/>
          <p:cNvSpPr/>
          <p:nvPr/>
        </p:nvSpPr>
        <p:spPr>
          <a:xfrm>
            <a:off x="8127797" y="1691640"/>
            <a:ext cx="3515258" cy="1828800"/>
          </a:xfrm>
          <a:prstGeom prst="roundRect">
            <a:avLst>
              <a:gd name="adj" fmla="val 4000"/>
            </a:avLst>
          </a:prstGeom>
          <a:solidFill>
            <a:schemeClr val="bg2"/>
          </a:solidFill>
          <a:ln w="9525">
            <a:solidFill>
              <a:srgbClr val="C4CBD8"/>
            </a:solidFill>
            <a:prstDash val="solid"/>
          </a:ln>
        </p:spPr>
      </p:sp>
      <p:sp>
        <p:nvSpPr>
          <p:cNvPr id="12" name="Stat value"/>
          <p:cNvSpPr txBox="1"/>
          <p:nvPr/>
        </p:nvSpPr>
        <p:spPr>
          <a:xfrm>
            <a:off x="8264957" y="1801368"/>
            <a:ext cx="3240938" cy="914400"/>
          </a:xfrm>
          <a:prstGeom prst="rect">
            <a:avLst/>
          </a:prstGeom>
          <a:noFill/>
          <a:ln/>
        </p:spPr>
        <p:txBody>
          <a:bodyPr wrap="square" lIns="0" tIns="0" rIns="0" bIns="0" rtlCol="0" anchor="ctr"/>
          <a:lstStyle/>
          <a:p>
            <a:pPr algn="ctr" indent="0" marL="0">
              <a:buNone/>
            </a:pPr>
            <a:r>
              <a:rPr lang="en-US" sz="4400" b="1" dirty="0">
                <a:solidFill>
                  <a:schemeClr val="tx1"/>
                </a:solidFill>
                <a:latin typeface="Cambria" pitchFamily="34" charset="0"/>
                <a:ea typeface="Cambria" pitchFamily="34" charset="-122"/>
                <a:cs typeface="Cambria" pitchFamily="34" charset="-120"/>
              </a:rPr>
              <a:t>$6.6m</a:t>
            </a:r>
            <a:endParaRPr lang="en-US" sz="4400" dirty="0"/>
          </a:p>
        </p:txBody>
      </p:sp>
      <p:sp>
        <p:nvSpPr>
          <p:cNvPr id="13" name="Stat label"/>
          <p:cNvSpPr txBox="1"/>
          <p:nvPr/>
        </p:nvSpPr>
        <p:spPr>
          <a:xfrm>
            <a:off x="8264957" y="2697480"/>
            <a:ext cx="3240938" cy="749808"/>
          </a:xfrm>
          <a:prstGeom prst="rect">
            <a:avLst/>
          </a:prstGeom>
          <a:noFill/>
          <a:ln/>
        </p:spPr>
        <p:txBody>
          <a:bodyPr wrap="square" lIns="0" tIns="0" rIns="0" bIns="0" rtlCol="0" anchor="t"/>
          <a:lstStyle/>
          <a:p>
            <a:pPr algn="ctr" indent="0" marL="0">
              <a:buNone/>
            </a:pPr>
            <a:r>
              <a:rPr lang="en-US" sz="1400" dirty="0">
                <a:solidFill>
                  <a:schemeClr val="tx2"/>
                </a:solidFill>
              </a:rPr>
              <a:t>less than holding the floor exactly</a:t>
            </a:r>
            <a:endParaRPr lang="en-US" sz="1400" dirty="0"/>
          </a:p>
        </p:txBody>
      </p:sp>
      <p:sp>
        <p:nvSpPr>
          <p:cNvPr id="14" name="Bullets"/>
          <p:cNvSpPr txBox="1"/>
          <p:nvPr/>
        </p:nvSpPr>
        <p:spPr>
          <a:xfrm>
            <a:off x="548640" y="3840480"/>
            <a:ext cx="11094415" cy="2331720"/>
          </a:xfrm>
          <a:prstGeom prst="rect">
            <a:avLst/>
          </a:prstGeom>
          <a:noFill/>
          <a:ln/>
        </p:spPr>
        <p:txBody>
          <a:bodyPr wrap="square" lIns="635" tIns="635" rIns="635" bIns="635" rtlCol="0" anchor="t"/>
          <a:lstStyle/>
          <a:p>
            <a:pPr marL="228600" indent="-228600">
              <a:spcAft>
                <a:spcPts val="800"/>
              </a:spcAft>
              <a:buSzPct val="100000"/>
              <a:buChar char="•"/>
            </a:pPr>
            <a:r>
              <a:rPr lang="en-US" sz="1700" dirty="0">
                <a:solidFill>
                  <a:schemeClr val="tx1"/>
                </a:solidFill>
              </a:rPr>
              <a:t>The margin of 0.75 points is the insurance that capability which does not move as planned requires, sized by the critical ratio of 12.3 percent</a:t>
            </a:r>
            <a:endParaRPr lang="en-US" sz="1700" dirty="0"/>
          </a:p>
          <a:p>
            <a:pPr marL="228600" indent="-228600">
              <a:spcAft>
                <a:spcPts val="800"/>
              </a:spcAft>
              <a:buSzPct val="100000"/>
              <a:buChar char="•"/>
            </a:pPr>
            <a:r>
              <a:rPr lang="en-US" sz="1700" dirty="0">
                <a:solidFill>
                  <a:schemeClr val="tx1"/>
                </a:solidFill>
              </a:rPr>
              <a:t>Three owners: the engineering office keeps the record of swings, the transformation office declares what a shortfall costs, the chief human resources officer runs the rule</a:t>
            </a:r>
            <a:endParaRPr lang="en-US" sz="1700" dirty="0"/>
          </a:p>
          <a:p>
            <a:pPr marL="228600" indent="-228600">
              <a:spcAft>
                <a:spcPts val="800"/>
              </a:spcAft>
              <a:buSzPct val="100000"/>
              <a:buChar char="•"/>
            </a:pPr>
            <a:r>
              <a:rPr lang="en-US" sz="1700" dirty="0">
                <a:solidFill>
                  <a:schemeClr val="tx1"/>
                </a:solidFill>
              </a:rPr>
              <a:t>For discussion: halving the swings saves $4.4m in present value. What should Meridian pay a year for a retention program that does it?</a:t>
            </a:r>
            <a:endParaRPr lang="en-US" sz="17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IN PRACTICE · AMERICAN AIRLINES</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American Airlines prices its last seat</a:t>
            </a:r>
            <a:endParaRPr lang="en-US" sz="3200" dirty="0"/>
          </a:p>
        </p:txBody>
      </p:sp>
      <p:sp>
        <p:nvSpPr>
          <p:cNvPr id="5" name="Card"/>
          <p:cNvSpPr/>
          <p:nvPr/>
        </p:nvSpPr>
        <p:spPr>
          <a:xfrm>
            <a:off x="548640" y="1691640"/>
            <a:ext cx="3515258" cy="2103120"/>
          </a:xfrm>
          <a:prstGeom prst="roundRect">
            <a:avLst>
              <a:gd name="adj" fmla="val 3478"/>
            </a:avLst>
          </a:prstGeom>
          <a:solidFill>
            <a:schemeClr val="bg2"/>
          </a:solidFill>
          <a:ln w="9525">
            <a:solidFill>
              <a:srgbClr val="C4CBD8"/>
            </a:solidFill>
            <a:prstDash val="solid"/>
          </a:ln>
        </p:spPr>
      </p:sp>
      <p:sp>
        <p:nvSpPr>
          <p:cNvPr id="6" name="Card label"/>
          <p:cNvSpPr txBox="1"/>
          <p:nvPr/>
        </p:nvSpPr>
        <p:spPr>
          <a:xfrm>
            <a:off x="731520" y="1819656"/>
            <a:ext cx="3149498" cy="310896"/>
          </a:xfrm>
          <a:prstGeom prst="rect">
            <a:avLst/>
          </a:prstGeom>
          <a:noFill/>
          <a:ln/>
        </p:spPr>
        <p:txBody>
          <a:bodyPr wrap="square" lIns="0" tIns="0" rIns="0" bIns="0" rtlCol="0" anchor="ctr"/>
          <a:lstStyle/>
          <a:p>
            <a:pPr indent="0" marL="0">
              <a:buNone/>
            </a:pPr>
            <a:r>
              <a:rPr lang="en-US" sz="1300" b="1" dirty="0">
                <a:solidFill>
                  <a:schemeClr val="accent1"/>
                </a:solidFill>
              </a:rPr>
              <a:t>The decision</a:t>
            </a:r>
            <a:endParaRPr lang="en-US" sz="1300" dirty="0"/>
          </a:p>
        </p:txBody>
      </p:sp>
      <p:sp>
        <p:nvSpPr>
          <p:cNvPr id="7" name="Card head"/>
          <p:cNvSpPr txBox="1"/>
          <p:nvPr/>
        </p:nvSpPr>
        <p:spPr>
          <a:xfrm>
            <a:off x="731520" y="2148840"/>
            <a:ext cx="3149498" cy="576072"/>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Which booking, at which fare</a:t>
            </a:r>
            <a:endParaRPr lang="en-US" sz="1600" dirty="0"/>
          </a:p>
        </p:txBody>
      </p:sp>
      <p:sp>
        <p:nvSpPr>
          <p:cNvPr id="8" name="Card text"/>
          <p:cNvSpPr txBox="1"/>
          <p:nvPr/>
        </p:nvSpPr>
        <p:spPr>
          <a:xfrm>
            <a:off x="731520" y="2798064"/>
            <a:ext cx="3149498" cy="868680"/>
          </a:xfrm>
          <a:prstGeom prst="rect">
            <a:avLst/>
          </a:prstGeom>
          <a:noFill/>
          <a:ln/>
        </p:spPr>
        <p:txBody>
          <a:bodyPr wrap="square" lIns="0" tIns="0" rIns="0" bIns="0" rtlCol="0" anchor="t"/>
          <a:lstStyle/>
          <a:p>
            <a:pPr indent="0" marL="0">
              <a:buNone/>
            </a:pPr>
            <a:r>
              <a:rPr lang="en-US" sz="1300" dirty="0">
                <a:solidFill>
                  <a:schemeClr val="tx2"/>
                </a:solidFill>
              </a:rPr>
              <a:t>On every flight, with no-shows to allow for and full-fare passengers still to come.</a:t>
            </a:r>
            <a:endParaRPr lang="en-US" sz="1300" dirty="0"/>
          </a:p>
        </p:txBody>
      </p:sp>
      <p:sp>
        <p:nvSpPr>
          <p:cNvPr id="9" name="Card"/>
          <p:cNvSpPr/>
          <p:nvPr/>
        </p:nvSpPr>
        <p:spPr>
          <a:xfrm>
            <a:off x="4338218" y="1691640"/>
            <a:ext cx="3515258" cy="2103120"/>
          </a:xfrm>
          <a:prstGeom prst="roundRect">
            <a:avLst>
              <a:gd name="adj" fmla="val 3478"/>
            </a:avLst>
          </a:prstGeom>
          <a:solidFill>
            <a:schemeClr val="bg2"/>
          </a:solidFill>
          <a:ln w="9525">
            <a:solidFill>
              <a:srgbClr val="C4CBD8"/>
            </a:solidFill>
            <a:prstDash val="solid"/>
          </a:ln>
        </p:spPr>
      </p:sp>
      <p:sp>
        <p:nvSpPr>
          <p:cNvPr id="10" name="Card label"/>
          <p:cNvSpPr txBox="1"/>
          <p:nvPr/>
        </p:nvSpPr>
        <p:spPr>
          <a:xfrm>
            <a:off x="4521098" y="1819656"/>
            <a:ext cx="3149498" cy="310896"/>
          </a:xfrm>
          <a:prstGeom prst="rect">
            <a:avLst/>
          </a:prstGeom>
          <a:noFill/>
          <a:ln/>
        </p:spPr>
        <p:txBody>
          <a:bodyPr wrap="square" lIns="0" tIns="0" rIns="0" bIns="0" rtlCol="0" anchor="ctr"/>
          <a:lstStyle/>
          <a:p>
            <a:pPr indent="0" marL="0">
              <a:buNone/>
            </a:pPr>
            <a:r>
              <a:rPr lang="en-US" sz="1300" b="1" dirty="0">
                <a:solidFill>
                  <a:schemeClr val="accent1"/>
                </a:solidFill>
              </a:rPr>
              <a:t>The method</a:t>
            </a:r>
            <a:endParaRPr lang="en-US" sz="1300" dirty="0"/>
          </a:p>
        </p:txBody>
      </p:sp>
      <p:sp>
        <p:nvSpPr>
          <p:cNvPr id="11" name="Card head"/>
          <p:cNvSpPr txBox="1"/>
          <p:nvPr/>
        </p:nvSpPr>
        <p:spPr>
          <a:xfrm>
            <a:off x="4521098" y="2148840"/>
            <a:ext cx="3149498" cy="576072"/>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Value a seat by position</a:t>
            </a:r>
            <a:endParaRPr lang="en-US" sz="1600" dirty="0"/>
          </a:p>
        </p:txBody>
      </p:sp>
      <p:sp>
        <p:nvSpPr>
          <p:cNvPr id="12" name="Card text"/>
          <p:cNvSpPr txBox="1"/>
          <p:nvPr/>
        </p:nvSpPr>
        <p:spPr>
          <a:xfrm>
            <a:off x="4521098" y="2798064"/>
            <a:ext cx="3149498" cy="868680"/>
          </a:xfrm>
          <a:prstGeom prst="rect">
            <a:avLst/>
          </a:prstGeom>
          <a:noFill/>
          <a:ln/>
        </p:spPr>
        <p:txBody>
          <a:bodyPr wrap="square" lIns="0" tIns="0" rIns="0" bIns="0" rtlCol="0" anchor="t"/>
          <a:lstStyle/>
          <a:p>
            <a:pPr indent="0" marL="0">
              <a:buNone/>
            </a:pPr>
            <a:r>
              <a:rPr lang="en-US" sz="1300" dirty="0">
                <a:solidFill>
                  <a:schemeClr val="tx2"/>
                </a:solidFill>
              </a:rPr>
              <a:t>Accept a fare only if it covers the seat's value; protection levels; Littlewood's rule.</a:t>
            </a:r>
            <a:endParaRPr lang="en-US" sz="1300" dirty="0"/>
          </a:p>
        </p:txBody>
      </p:sp>
      <p:sp>
        <p:nvSpPr>
          <p:cNvPr id="13" name="Card"/>
          <p:cNvSpPr/>
          <p:nvPr/>
        </p:nvSpPr>
        <p:spPr>
          <a:xfrm>
            <a:off x="8127797" y="1691640"/>
            <a:ext cx="3515258" cy="2103120"/>
          </a:xfrm>
          <a:prstGeom prst="roundRect">
            <a:avLst>
              <a:gd name="adj" fmla="val 3478"/>
            </a:avLst>
          </a:prstGeom>
          <a:solidFill>
            <a:schemeClr val="tx1"/>
          </a:solidFill>
          <a:ln w="9525">
            <a:solidFill>
              <a:srgbClr val="0F1E3D"/>
            </a:solidFill>
            <a:prstDash val="solid"/>
          </a:ln>
        </p:spPr>
      </p:sp>
      <p:sp>
        <p:nvSpPr>
          <p:cNvPr id="14" name="Card label"/>
          <p:cNvSpPr txBox="1"/>
          <p:nvPr/>
        </p:nvSpPr>
        <p:spPr>
          <a:xfrm>
            <a:off x="8310677" y="1819656"/>
            <a:ext cx="3149498" cy="310896"/>
          </a:xfrm>
          <a:prstGeom prst="rect">
            <a:avLst/>
          </a:prstGeom>
          <a:noFill/>
          <a:ln/>
        </p:spPr>
        <p:txBody>
          <a:bodyPr wrap="square" lIns="0" tIns="0" rIns="0" bIns="0" rtlCol="0" anchor="ctr"/>
          <a:lstStyle/>
          <a:p>
            <a:pPr indent="0" marL="0">
              <a:buNone/>
            </a:pPr>
            <a:r>
              <a:rPr lang="en-US" sz="1300" b="1" dirty="0">
                <a:solidFill>
                  <a:schemeClr val="accent1"/>
                </a:solidFill>
              </a:rPr>
              <a:t>The result</a:t>
            </a:r>
            <a:endParaRPr lang="en-US" sz="1300" dirty="0"/>
          </a:p>
        </p:txBody>
      </p:sp>
      <p:sp>
        <p:nvSpPr>
          <p:cNvPr id="15" name="Card head"/>
          <p:cNvSpPr txBox="1"/>
          <p:nvPr/>
        </p:nvSpPr>
        <p:spPr>
          <a:xfrm>
            <a:off x="8310677" y="2148840"/>
            <a:ext cx="3149498" cy="576072"/>
          </a:xfrm>
          <a:prstGeom prst="rect">
            <a:avLst/>
          </a:prstGeom>
          <a:noFill/>
          <a:ln/>
        </p:spPr>
        <p:txBody>
          <a:bodyPr wrap="square" lIns="0" tIns="0" rIns="0" bIns="0" rtlCol="0" anchor="t"/>
          <a:lstStyle/>
          <a:p>
            <a:pPr indent="0" marL="0">
              <a:buNone/>
            </a:pPr>
            <a:r>
              <a:rPr lang="en-US" sz="1600" b="1" dirty="0">
                <a:solidFill>
                  <a:schemeClr val="bg1"/>
                </a:solidFill>
                <a:latin typeface="Cambria" pitchFamily="34" charset="0"/>
                <a:ea typeface="Cambria" pitchFamily="34" charset="-122"/>
                <a:cs typeface="Cambria" pitchFamily="34" charset="-120"/>
              </a:rPr>
              <a:t>$1.4bn over three years</a:t>
            </a:r>
            <a:endParaRPr lang="en-US" sz="1600" dirty="0"/>
          </a:p>
        </p:txBody>
      </p:sp>
      <p:sp>
        <p:nvSpPr>
          <p:cNvPr id="16" name="Card text"/>
          <p:cNvSpPr txBox="1"/>
          <p:nvPr/>
        </p:nvSpPr>
        <p:spPr>
          <a:xfrm>
            <a:off x="8310677" y="2798064"/>
            <a:ext cx="3149498" cy="868680"/>
          </a:xfrm>
          <a:prstGeom prst="rect">
            <a:avLst/>
          </a:prstGeom>
          <a:noFill/>
          <a:ln/>
        </p:spPr>
        <p:txBody>
          <a:bodyPr wrap="square" lIns="0" tIns="0" rIns="0" bIns="0" rtlCol="0" anchor="t"/>
          <a:lstStyle/>
          <a:p>
            <a:pPr indent="0" marL="0">
              <a:buNone/>
            </a:pPr>
            <a:r>
              <a:rPr lang="en-US" sz="1300" dirty="0">
                <a:solidFill>
                  <a:schemeClr val="bg2"/>
                </a:solidFill>
              </a:rPr>
              <a:t>American's quantifiable benefit, with over $500m a year expected; the 1991 Franz Edelman Award.</a:t>
            </a:r>
            <a:endParaRPr lang="en-US" sz="1300" dirty="0"/>
          </a:p>
        </p:txBody>
      </p:sp>
      <p:sp>
        <p:nvSpPr>
          <p:cNvPr id="17" name="Card"/>
          <p:cNvSpPr/>
          <p:nvPr/>
        </p:nvSpPr>
        <p:spPr>
          <a:xfrm>
            <a:off x="548640" y="4069080"/>
            <a:ext cx="3515258" cy="2103120"/>
          </a:xfrm>
          <a:prstGeom prst="roundRect">
            <a:avLst>
              <a:gd name="adj" fmla="val 3478"/>
            </a:avLst>
          </a:prstGeom>
          <a:solidFill>
            <a:schemeClr val="bg2"/>
          </a:solidFill>
          <a:ln w="9525">
            <a:solidFill>
              <a:srgbClr val="C4CBD8"/>
            </a:solidFill>
            <a:prstDash val="solid"/>
          </a:ln>
        </p:spPr>
      </p:sp>
      <p:sp>
        <p:nvSpPr>
          <p:cNvPr id="18" name="Card label"/>
          <p:cNvSpPr txBox="1"/>
          <p:nvPr/>
        </p:nvSpPr>
        <p:spPr>
          <a:xfrm>
            <a:off x="731520" y="4197096"/>
            <a:ext cx="3149498" cy="310896"/>
          </a:xfrm>
          <a:prstGeom prst="rect">
            <a:avLst/>
          </a:prstGeom>
          <a:noFill/>
          <a:ln/>
        </p:spPr>
        <p:txBody>
          <a:bodyPr wrap="square" lIns="0" tIns="0" rIns="0" bIns="0" rtlCol="0" anchor="ctr"/>
          <a:lstStyle/>
          <a:p>
            <a:pPr indent="0" marL="0">
              <a:buNone/>
            </a:pPr>
            <a:r>
              <a:rPr lang="en-US" sz="1300" b="1" dirty="0">
                <a:solidFill>
                  <a:schemeClr val="accent1"/>
                </a:solidFill>
              </a:rPr>
              <a:t>Making it work</a:t>
            </a:r>
            <a:endParaRPr lang="en-US" sz="1300" dirty="0"/>
          </a:p>
        </p:txBody>
      </p:sp>
      <p:sp>
        <p:nvSpPr>
          <p:cNvPr id="19" name="Card head"/>
          <p:cNvSpPr txBox="1"/>
          <p:nvPr/>
        </p:nvSpPr>
        <p:spPr>
          <a:xfrm>
            <a:off x="731520" y="4526280"/>
            <a:ext cx="3149498" cy="576072"/>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Systems and a champion</a:t>
            </a:r>
            <a:endParaRPr lang="en-US" sz="1600" dirty="0"/>
          </a:p>
        </p:txBody>
      </p:sp>
      <p:sp>
        <p:nvSpPr>
          <p:cNvPr id="20" name="Card text"/>
          <p:cNvSpPr txBox="1"/>
          <p:nvPr/>
        </p:nvSpPr>
        <p:spPr>
          <a:xfrm>
            <a:off x="731520" y="5175504"/>
            <a:ext cx="3149498" cy="868680"/>
          </a:xfrm>
          <a:prstGeom prst="rect">
            <a:avLst/>
          </a:prstGeom>
          <a:noFill/>
          <a:ln/>
        </p:spPr>
        <p:txBody>
          <a:bodyPr wrap="square" lIns="0" tIns="0" rIns="0" bIns="0" rtlCol="0" anchor="t"/>
          <a:lstStyle/>
          <a:p>
            <a:pPr indent="0" marL="0">
              <a:buNone/>
            </a:pPr>
            <a:r>
              <a:rPr lang="en-US" sz="1300" dirty="0">
                <a:solidFill>
                  <a:schemeClr val="tx2"/>
                </a:solidFill>
              </a:rPr>
              <a:t>SABRE put bookings in one place; the group grew from 13 people to about 700, with Crandall as its champion.</a:t>
            </a:r>
            <a:endParaRPr lang="en-US" sz="1300" dirty="0"/>
          </a:p>
        </p:txBody>
      </p:sp>
      <p:sp>
        <p:nvSpPr>
          <p:cNvPr id="21" name="Card"/>
          <p:cNvSpPr/>
          <p:nvPr/>
        </p:nvSpPr>
        <p:spPr>
          <a:xfrm>
            <a:off x="4338218" y="4069080"/>
            <a:ext cx="3515258" cy="2103120"/>
          </a:xfrm>
          <a:prstGeom prst="roundRect">
            <a:avLst>
              <a:gd name="adj" fmla="val 3478"/>
            </a:avLst>
          </a:prstGeom>
          <a:solidFill>
            <a:schemeClr val="bg2"/>
          </a:solidFill>
          <a:ln w="9525">
            <a:solidFill>
              <a:srgbClr val="C4CBD8"/>
            </a:solidFill>
            <a:prstDash val="solid"/>
          </a:ln>
        </p:spPr>
      </p:sp>
      <p:sp>
        <p:nvSpPr>
          <p:cNvPr id="22" name="Card label"/>
          <p:cNvSpPr txBox="1"/>
          <p:nvPr/>
        </p:nvSpPr>
        <p:spPr>
          <a:xfrm>
            <a:off x="4521098" y="4197096"/>
            <a:ext cx="3149498" cy="310896"/>
          </a:xfrm>
          <a:prstGeom prst="rect">
            <a:avLst/>
          </a:prstGeom>
          <a:noFill/>
          <a:ln/>
        </p:spPr>
        <p:txBody>
          <a:bodyPr wrap="square" lIns="0" tIns="0" rIns="0" bIns="0" rtlCol="0" anchor="ctr"/>
          <a:lstStyle/>
          <a:p>
            <a:pPr indent="0" marL="0">
              <a:buNone/>
            </a:pPr>
            <a:r>
              <a:rPr lang="en-US" sz="1300" b="1" dirty="0">
                <a:solidFill>
                  <a:schemeClr val="accent1"/>
                </a:solidFill>
              </a:rPr>
              <a:t>What Meridian takes</a:t>
            </a:r>
            <a:endParaRPr lang="en-US" sz="1300" dirty="0"/>
          </a:p>
        </p:txBody>
      </p:sp>
      <p:sp>
        <p:nvSpPr>
          <p:cNvPr id="23" name="Card head"/>
          <p:cNvSpPr txBox="1"/>
          <p:nvPr/>
        </p:nvSpPr>
        <p:spPr>
          <a:xfrm>
            <a:off x="4521098" y="4526280"/>
            <a:ext cx="3149498" cy="576072"/>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A margin by a critical ratio</a:t>
            </a:r>
            <a:endParaRPr lang="en-US" sz="1600" dirty="0"/>
          </a:p>
        </p:txBody>
      </p:sp>
      <p:sp>
        <p:nvSpPr>
          <p:cNvPr id="24" name="Card text"/>
          <p:cNvSpPr txBox="1"/>
          <p:nvPr/>
        </p:nvSpPr>
        <p:spPr>
          <a:xfrm>
            <a:off x="4521098" y="5175504"/>
            <a:ext cx="3149498" cy="868680"/>
          </a:xfrm>
          <a:prstGeom prst="rect">
            <a:avLst/>
          </a:prstGeom>
          <a:noFill/>
          <a:ln/>
        </p:spPr>
        <p:txBody>
          <a:bodyPr wrap="square" lIns="0" tIns="0" rIns="0" bIns="0" rtlCol="0" anchor="t"/>
          <a:lstStyle/>
          <a:p>
            <a:pPr indent="0" marL="0">
              <a:buNone/>
            </a:pPr>
            <a:r>
              <a:rPr lang="en-US" sz="1300" dirty="0">
                <a:solidFill>
                  <a:schemeClr val="tx2"/>
                </a:solidFill>
              </a:rPr>
              <a:t>Worked Example 7.1's capability margin is the airline's protection level.</a:t>
            </a:r>
            <a:endParaRPr lang="en-US" sz="1300" dirty="0"/>
          </a:p>
        </p:txBody>
      </p:sp>
      <p:sp>
        <p:nvSpPr>
          <p:cNvPr id="25" name="Card"/>
          <p:cNvSpPr/>
          <p:nvPr/>
        </p:nvSpPr>
        <p:spPr>
          <a:xfrm>
            <a:off x="8127797" y="4069080"/>
            <a:ext cx="3515258" cy="2103120"/>
          </a:xfrm>
          <a:prstGeom prst="roundRect">
            <a:avLst>
              <a:gd name="adj" fmla="val 3478"/>
            </a:avLst>
          </a:prstGeom>
          <a:solidFill>
            <a:schemeClr val="bg2"/>
          </a:solidFill>
          <a:ln w="9525">
            <a:solidFill>
              <a:srgbClr val="C4CBD8"/>
            </a:solidFill>
            <a:prstDash val="solid"/>
          </a:ln>
        </p:spPr>
      </p:sp>
      <p:sp>
        <p:nvSpPr>
          <p:cNvPr id="26" name="Card label"/>
          <p:cNvSpPr txBox="1"/>
          <p:nvPr/>
        </p:nvSpPr>
        <p:spPr>
          <a:xfrm>
            <a:off x="8310677" y="4197096"/>
            <a:ext cx="3149498" cy="310896"/>
          </a:xfrm>
          <a:prstGeom prst="rect">
            <a:avLst/>
          </a:prstGeom>
          <a:noFill/>
          <a:ln/>
        </p:spPr>
        <p:txBody>
          <a:bodyPr wrap="square" lIns="0" tIns="0" rIns="0" bIns="0" rtlCol="0" anchor="ctr"/>
          <a:lstStyle/>
          <a:p>
            <a:pPr indent="0" marL="0">
              <a:buNone/>
            </a:pPr>
            <a:r>
              <a:rPr lang="en-US" sz="1300" b="1" dirty="0">
                <a:solidFill>
                  <a:schemeClr val="accent1"/>
                </a:solidFill>
              </a:rPr>
              <a:t>For the board</a:t>
            </a:r>
            <a:endParaRPr lang="en-US" sz="1300" dirty="0"/>
          </a:p>
        </p:txBody>
      </p:sp>
      <p:sp>
        <p:nvSpPr>
          <p:cNvPr id="27" name="Card head"/>
          <p:cNvSpPr txBox="1"/>
          <p:nvPr/>
        </p:nvSpPr>
        <p:spPr>
          <a:xfrm>
            <a:off x="8310677" y="4526280"/>
            <a:ext cx="3149498" cy="576072"/>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Do customers understand our rules?</a:t>
            </a:r>
            <a:endParaRPr lang="en-US" sz="1600" dirty="0"/>
          </a:p>
        </p:txBody>
      </p:sp>
      <p:sp>
        <p:nvSpPr>
          <p:cNvPr id="28" name="Card text"/>
          <p:cNvSpPr txBox="1"/>
          <p:nvPr/>
        </p:nvSpPr>
        <p:spPr>
          <a:xfrm>
            <a:off x="8310677" y="5175504"/>
            <a:ext cx="3149498" cy="868680"/>
          </a:xfrm>
          <a:prstGeom prst="rect">
            <a:avLst/>
          </a:prstGeom>
          <a:noFill/>
          <a:ln/>
        </p:spPr>
        <p:txBody>
          <a:bodyPr wrap="square" lIns="0" tIns="0" rIns="0" bIns="0" rtlCol="0" anchor="t"/>
          <a:lstStyle/>
          <a:p>
            <a:pPr indent="0" marL="0">
              <a:buNone/>
            </a:pPr>
            <a:r>
              <a:rPr lang="en-US" sz="1300" dirty="0">
                <a:solidFill>
                  <a:schemeClr val="tx2"/>
                </a:solidFill>
              </a:rPr>
              <a:t>By 1992, 94 percent of travelers bought discount tickets with cumbersome rules.</a:t>
            </a:r>
            <a:endParaRPr lang="en-US" sz="13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AXIOM LAB 2.7 · MODULE AXIOM-07</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Valuing every position, in AXIOM</a:t>
            </a:r>
            <a:endParaRPr lang="en-US" sz="3200" dirty="0"/>
          </a:p>
        </p:txBody>
      </p:sp>
      <p:pic>
        <p:nvPicPr>
          <p:cNvPr id="5" name="AXIOM logo" descr="AXIOM">    </p:cNvPr>
          <p:cNvPicPr>
            <a:picLocks noChangeAspect="1"/>
          </p:cNvPicPr>
          <p:nvPr/>
        </p:nvPicPr>
        <p:blipFill>
          <a:blip r:embed="rId1"/>
          <a:stretch>
            <a:fillRect/>
          </a:stretch>
        </p:blipFill>
        <p:spPr>
          <a:xfrm>
            <a:off x="9539935" y="310896"/>
            <a:ext cx="2103120" cy="420624"/>
          </a:xfrm>
          <a:prstGeom prst="rect">
            <a:avLst/>
          </a:prstGeom>
        </p:spPr>
      </p:pic>
      <p:sp>
        <p:nvSpPr>
          <p:cNvPr id="6" name="Situation"/>
          <p:cNvSpPr txBox="1"/>
          <p:nvPr/>
        </p:nvSpPr>
        <p:spPr>
          <a:xfrm>
            <a:off x="548640" y="1645920"/>
            <a:ext cx="11094415" cy="777240"/>
          </a:xfrm>
          <a:prstGeom prst="rect">
            <a:avLst/>
          </a:prstGeom>
          <a:noFill/>
          <a:ln/>
        </p:spPr>
        <p:txBody>
          <a:bodyPr wrap="square" lIns="0" tIns="0" rIns="0" bIns="0" rtlCol="0" anchor="t"/>
          <a:lstStyle/>
          <a:p>
            <a:pPr indent="0" marL="0">
              <a:buNone/>
            </a:pPr>
            <a:r>
              <a:rPr lang="en-US" sz="1500" dirty="0">
                <a:solidFill>
                  <a:schemeClr val="tx1"/>
                </a:solidFill>
              </a:rPr>
              <a:t>The board has accepted Chapter 6's advice to stop defending 58. Capability does not move as planned, and the chief human resources officer must propose a hiring rule with a margin over the floor. Open AXIOM, choose Lab 2.7 and load the Meridian capability instance with the engineering office's record.</a:t>
            </a:r>
            <a:endParaRPr lang="en-US" sz="1500" dirty="0"/>
          </a:p>
        </p:txBody>
      </p:sp>
      <p:sp>
        <p:nvSpPr>
          <p:cNvPr id="7" name="Flow line"/>
          <p:cNvSpPr/>
          <p:nvPr/>
        </p:nvSpPr>
        <p:spPr>
          <a:xfrm>
            <a:off x="1658082" y="2880360"/>
            <a:ext cx="8875532" cy="0"/>
          </a:xfrm>
          <a:prstGeom prst="line">
            <a:avLst/>
          </a:prstGeom>
          <a:noFill/>
          <a:ln w="25400">
            <a:solidFill>
              <a:srgbClr val="C4CBD8"/>
            </a:solidFill>
            <a:prstDash val="solid"/>
          </a:ln>
        </p:spPr>
      </p:sp>
      <p:sp>
        <p:nvSpPr>
          <p:cNvPr id="8" name="Number"/>
          <p:cNvSpPr/>
          <p:nvPr/>
        </p:nvSpPr>
        <p:spPr>
          <a:xfrm>
            <a:off x="1383762" y="2606040"/>
            <a:ext cx="548640" cy="548640"/>
          </a:xfrm>
          <a:prstGeom prst="ellipse">
            <a:avLst/>
          </a:prstGeom>
          <a:solidFill>
            <a:schemeClr val="accent1"/>
          </a:solidFill>
          <a:ln w="6350">
            <a:solidFill>
              <a:schemeClr val="accent1"/>
            </a:solidFill>
            <a:prstDash val="solid"/>
          </a:ln>
        </p:spPr>
      </p:sp>
      <p:sp>
        <p:nvSpPr>
          <p:cNvPr id="9" name="Text 5"/>
          <p:cNvSpPr txBox="1"/>
          <p:nvPr/>
        </p:nvSpPr>
        <p:spPr>
          <a:xfrm>
            <a:off x="1383762" y="26060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1</a:t>
            </a:r>
            <a:endParaRPr lang="en-US" sz="1600" dirty="0"/>
          </a:p>
        </p:txBody>
      </p:sp>
      <p:sp>
        <p:nvSpPr>
          <p:cNvPr id="10" name="Flow head"/>
          <p:cNvSpPr txBox="1"/>
          <p:nvPr/>
        </p:nvSpPr>
        <p:spPr>
          <a:xfrm>
            <a:off x="621792" y="3291840"/>
            <a:ext cx="2072579" cy="548640"/>
          </a:xfrm>
          <a:prstGeom prst="rect">
            <a:avLst/>
          </a:prstGeom>
          <a:noFill/>
          <a:ln/>
        </p:spPr>
        <p:txBody>
          <a:bodyPr wrap="square" lIns="0" tIns="0" rIns="0" bIns="0" rtlCol="0" anchor="t"/>
          <a:lstStyle/>
          <a:p>
            <a:pPr algn="ctr" indent="0" marL="0">
              <a:buNone/>
            </a:pPr>
            <a:r>
              <a:rPr lang="en-US" sz="1600" b="1" dirty="0">
                <a:solidFill>
                  <a:schemeClr val="tx1"/>
                </a:solidFill>
                <a:latin typeface="Cambria" pitchFamily="34" charset="0"/>
                <a:ea typeface="Cambria" pitchFamily="34" charset="-122"/>
                <a:cs typeface="Cambria" pitchFamily="34" charset="-120"/>
              </a:rPr>
              <a:t>Look one quarter ahead</a:t>
            </a:r>
            <a:endParaRPr lang="en-US" sz="1600" dirty="0"/>
          </a:p>
        </p:txBody>
      </p:sp>
      <p:sp>
        <p:nvSpPr>
          <p:cNvPr id="11" name="Flow text"/>
          <p:cNvSpPr txBox="1"/>
          <p:nvPr/>
        </p:nvSpPr>
        <p:spPr>
          <a:xfrm>
            <a:off x="640080" y="3867912"/>
            <a:ext cx="2036003" cy="1554480"/>
          </a:xfrm>
          <a:prstGeom prst="rect">
            <a:avLst/>
          </a:prstGeom>
          <a:noFill/>
          <a:ln/>
        </p:spPr>
        <p:txBody>
          <a:bodyPr wrap="square" lIns="0" tIns="0" rIns="0" bIns="0" rtlCol="0" anchor="t"/>
          <a:lstStyle/>
          <a:p>
            <a:pPr algn="ctr" indent="0" marL="0">
              <a:buNone/>
            </a:pPr>
            <a:r>
              <a:rPr lang="en-US" sz="1400" dirty="0">
                <a:solidFill>
                  <a:schemeClr val="tx2"/>
                </a:solidFill>
              </a:rPr>
              <a:t>Plot the value of each hiring decision at a capability level and find the best.</a:t>
            </a:r>
            <a:endParaRPr lang="en-US" sz="1400" dirty="0"/>
          </a:p>
        </p:txBody>
      </p:sp>
      <p:sp>
        <p:nvSpPr>
          <p:cNvPr id="12" name="Number"/>
          <p:cNvSpPr/>
          <p:nvPr/>
        </p:nvSpPr>
        <p:spPr>
          <a:xfrm>
            <a:off x="3602645" y="2606040"/>
            <a:ext cx="548640" cy="548640"/>
          </a:xfrm>
          <a:prstGeom prst="ellipse">
            <a:avLst/>
          </a:prstGeom>
          <a:solidFill>
            <a:schemeClr val="accent1"/>
          </a:solidFill>
          <a:ln w="6350">
            <a:solidFill>
              <a:schemeClr val="accent1"/>
            </a:solidFill>
            <a:prstDash val="solid"/>
          </a:ln>
        </p:spPr>
      </p:sp>
      <p:sp>
        <p:nvSpPr>
          <p:cNvPr id="13" name="Text 9"/>
          <p:cNvSpPr txBox="1"/>
          <p:nvPr/>
        </p:nvSpPr>
        <p:spPr>
          <a:xfrm>
            <a:off x="3602645" y="26060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2</a:t>
            </a:r>
            <a:endParaRPr lang="en-US" sz="1600" dirty="0"/>
          </a:p>
        </p:txBody>
      </p:sp>
      <p:sp>
        <p:nvSpPr>
          <p:cNvPr id="14" name="Flow head"/>
          <p:cNvSpPr txBox="1"/>
          <p:nvPr/>
        </p:nvSpPr>
        <p:spPr>
          <a:xfrm>
            <a:off x="2840675" y="3291840"/>
            <a:ext cx="2072579" cy="548640"/>
          </a:xfrm>
          <a:prstGeom prst="rect">
            <a:avLst/>
          </a:prstGeom>
          <a:noFill/>
          <a:ln/>
        </p:spPr>
        <p:txBody>
          <a:bodyPr wrap="square" lIns="0" tIns="0" rIns="0" bIns="0" rtlCol="0" anchor="t"/>
          <a:lstStyle/>
          <a:p>
            <a:pPr algn="ctr" indent="0" marL="0">
              <a:buNone/>
            </a:pPr>
            <a:r>
              <a:rPr lang="en-US" sz="1600" b="1" dirty="0">
                <a:solidFill>
                  <a:schemeClr val="tx1"/>
                </a:solidFill>
                <a:latin typeface="Cambria" pitchFamily="34" charset="0"/>
                <a:ea typeface="Cambria" pitchFamily="34" charset="-122"/>
                <a:cs typeface="Cambria" pitchFamily="34" charset="-120"/>
              </a:rPr>
              <a:t>Solve backward</a:t>
            </a:r>
            <a:endParaRPr lang="en-US" sz="1600" dirty="0"/>
          </a:p>
        </p:txBody>
      </p:sp>
      <p:sp>
        <p:nvSpPr>
          <p:cNvPr id="15" name="Flow text"/>
          <p:cNvSpPr txBox="1"/>
          <p:nvPr/>
        </p:nvSpPr>
        <p:spPr>
          <a:xfrm>
            <a:off x="2858963" y="3867912"/>
            <a:ext cx="2036003" cy="1554480"/>
          </a:xfrm>
          <a:prstGeom prst="rect">
            <a:avLst/>
          </a:prstGeom>
          <a:noFill/>
          <a:ln/>
        </p:spPr>
        <p:txBody>
          <a:bodyPr wrap="square" lIns="0" tIns="0" rIns="0" bIns="0" rtlCol="0" anchor="t"/>
          <a:lstStyle/>
          <a:p>
            <a:pPr algn="ctr" indent="0" marL="0">
              <a:buNone/>
            </a:pPr>
            <a:r>
              <a:rPr lang="en-US" sz="1400" dirty="0">
                <a:solidFill>
                  <a:schemeClr val="tx2"/>
                </a:solidFill>
              </a:rPr>
              <a:t>Solve a twelve-quarter horizon by backward induction and read the rule table.</a:t>
            </a:r>
            <a:endParaRPr lang="en-US" sz="1400" dirty="0"/>
          </a:p>
        </p:txBody>
      </p:sp>
      <p:sp>
        <p:nvSpPr>
          <p:cNvPr id="16" name="Number"/>
          <p:cNvSpPr/>
          <p:nvPr/>
        </p:nvSpPr>
        <p:spPr>
          <a:xfrm>
            <a:off x="5821528" y="2606040"/>
            <a:ext cx="548640" cy="548640"/>
          </a:xfrm>
          <a:prstGeom prst="ellipse">
            <a:avLst/>
          </a:prstGeom>
          <a:solidFill>
            <a:schemeClr val="accent1"/>
          </a:solidFill>
          <a:ln w="6350">
            <a:solidFill>
              <a:schemeClr val="accent1"/>
            </a:solidFill>
            <a:prstDash val="solid"/>
          </a:ln>
        </p:spPr>
      </p:sp>
      <p:sp>
        <p:nvSpPr>
          <p:cNvPr id="17" name="Text 13"/>
          <p:cNvSpPr txBox="1"/>
          <p:nvPr/>
        </p:nvSpPr>
        <p:spPr>
          <a:xfrm>
            <a:off x="5821528" y="26060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3</a:t>
            </a:r>
            <a:endParaRPr lang="en-US" sz="1600" dirty="0"/>
          </a:p>
        </p:txBody>
      </p:sp>
      <p:sp>
        <p:nvSpPr>
          <p:cNvPr id="18" name="Flow head"/>
          <p:cNvSpPr txBox="1"/>
          <p:nvPr/>
        </p:nvSpPr>
        <p:spPr>
          <a:xfrm>
            <a:off x="5059558" y="3291840"/>
            <a:ext cx="2072579" cy="548640"/>
          </a:xfrm>
          <a:prstGeom prst="rect">
            <a:avLst/>
          </a:prstGeom>
          <a:noFill/>
          <a:ln/>
        </p:spPr>
        <p:txBody>
          <a:bodyPr wrap="square" lIns="0" tIns="0" rIns="0" bIns="0" rtlCol="0" anchor="t"/>
          <a:lstStyle/>
          <a:p>
            <a:pPr algn="ctr" indent="0" marL="0">
              <a:buNone/>
            </a:pPr>
            <a:r>
              <a:rPr lang="en-US" sz="1600" b="1" dirty="0">
                <a:solidFill>
                  <a:schemeClr val="tx1"/>
                </a:solidFill>
                <a:latin typeface="Cambria" pitchFamily="34" charset="0"/>
                <a:ea typeface="Cambria" pitchFamily="34" charset="-122"/>
                <a:cs typeface="Cambria" pitchFamily="34" charset="-120"/>
              </a:rPr>
              <a:t>Iterate</a:t>
            </a:r>
            <a:endParaRPr lang="en-US" sz="1600" dirty="0"/>
          </a:p>
        </p:txBody>
      </p:sp>
      <p:sp>
        <p:nvSpPr>
          <p:cNvPr id="19" name="Flow text"/>
          <p:cNvSpPr txBox="1"/>
          <p:nvPr/>
        </p:nvSpPr>
        <p:spPr>
          <a:xfrm>
            <a:off x="5077846" y="3867912"/>
            <a:ext cx="2036003" cy="1554480"/>
          </a:xfrm>
          <a:prstGeom prst="rect">
            <a:avLst/>
          </a:prstGeom>
          <a:noFill/>
          <a:ln/>
        </p:spPr>
        <p:txBody>
          <a:bodyPr wrap="square" lIns="0" tIns="0" rIns="0" bIns="0" rtlCol="0" anchor="t"/>
          <a:lstStyle/>
          <a:p>
            <a:pPr algn="ctr" indent="0" marL="0">
              <a:buNone/>
            </a:pPr>
            <a:r>
              <a:rPr lang="en-US" sz="1400" dirty="0">
                <a:solidFill>
                  <a:schemeClr val="tx2"/>
                </a:solidFill>
              </a:rPr>
              <a:t>Value iteration with its stopping bound, then policy iteration from Volume I's rule.</a:t>
            </a:r>
            <a:endParaRPr lang="en-US" sz="1400" dirty="0"/>
          </a:p>
        </p:txBody>
      </p:sp>
      <p:sp>
        <p:nvSpPr>
          <p:cNvPr id="20" name="Number"/>
          <p:cNvSpPr/>
          <p:nvPr/>
        </p:nvSpPr>
        <p:spPr>
          <a:xfrm>
            <a:off x="8040411" y="2606040"/>
            <a:ext cx="548640" cy="548640"/>
          </a:xfrm>
          <a:prstGeom prst="ellipse">
            <a:avLst/>
          </a:prstGeom>
          <a:solidFill>
            <a:schemeClr val="accent1"/>
          </a:solidFill>
          <a:ln w="6350">
            <a:solidFill>
              <a:schemeClr val="accent1"/>
            </a:solidFill>
            <a:prstDash val="solid"/>
          </a:ln>
        </p:spPr>
      </p:sp>
      <p:sp>
        <p:nvSpPr>
          <p:cNvPr id="21" name="Text 17"/>
          <p:cNvSpPr txBox="1"/>
          <p:nvPr/>
        </p:nvSpPr>
        <p:spPr>
          <a:xfrm>
            <a:off x="8040411" y="26060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4</a:t>
            </a:r>
            <a:endParaRPr lang="en-US" sz="1600" dirty="0"/>
          </a:p>
        </p:txBody>
      </p:sp>
      <p:sp>
        <p:nvSpPr>
          <p:cNvPr id="22" name="Flow head"/>
          <p:cNvSpPr txBox="1"/>
          <p:nvPr/>
        </p:nvSpPr>
        <p:spPr>
          <a:xfrm>
            <a:off x="7278441" y="3291840"/>
            <a:ext cx="2072579" cy="548640"/>
          </a:xfrm>
          <a:prstGeom prst="rect">
            <a:avLst/>
          </a:prstGeom>
          <a:noFill/>
          <a:ln/>
        </p:spPr>
        <p:txBody>
          <a:bodyPr wrap="square" lIns="0" tIns="0" rIns="0" bIns="0" rtlCol="0" anchor="t"/>
          <a:lstStyle/>
          <a:p>
            <a:pPr algn="ctr" indent="0" marL="0">
              <a:buNone/>
            </a:pPr>
            <a:r>
              <a:rPr lang="en-US" sz="1600" b="1" dirty="0">
                <a:solidFill>
                  <a:schemeClr val="tx1"/>
                </a:solidFill>
                <a:latin typeface="Cambria" pitchFamily="34" charset="0"/>
                <a:ea typeface="Cambria" pitchFamily="34" charset="-122"/>
                <a:cs typeface="Cambria" pitchFamily="34" charset="-120"/>
              </a:rPr>
              <a:t>Read values and prices</a:t>
            </a:r>
            <a:endParaRPr lang="en-US" sz="1600" dirty="0"/>
          </a:p>
        </p:txBody>
      </p:sp>
      <p:sp>
        <p:nvSpPr>
          <p:cNvPr id="23" name="Flow text"/>
          <p:cNvSpPr txBox="1"/>
          <p:nvPr/>
        </p:nvSpPr>
        <p:spPr>
          <a:xfrm>
            <a:off x="7296729" y="3867912"/>
            <a:ext cx="2036003" cy="1554480"/>
          </a:xfrm>
          <a:prstGeom prst="rect">
            <a:avLst/>
          </a:prstGeom>
          <a:noFill/>
          <a:ln/>
        </p:spPr>
        <p:txBody>
          <a:bodyPr wrap="square" lIns="0" tIns="0" rIns="0" bIns="0" rtlCol="0" anchor="t"/>
          <a:lstStyle/>
          <a:p>
            <a:pPr algn="ctr" indent="0" marL="0">
              <a:buNone/>
            </a:pPr>
            <a:r>
              <a:rPr lang="en-US" sz="1400" dirty="0">
                <a:solidFill>
                  <a:schemeClr val="tx2"/>
                </a:solidFill>
              </a:rPr>
              <a:t>Plot the value and its slope; value the engineering team as a lump.</a:t>
            </a:r>
            <a:endParaRPr lang="en-US" sz="1400" dirty="0"/>
          </a:p>
        </p:txBody>
      </p:sp>
      <p:sp>
        <p:nvSpPr>
          <p:cNvPr id="24" name="Number"/>
          <p:cNvSpPr/>
          <p:nvPr/>
        </p:nvSpPr>
        <p:spPr>
          <a:xfrm>
            <a:off x="10259294" y="2606040"/>
            <a:ext cx="548640" cy="548640"/>
          </a:xfrm>
          <a:prstGeom prst="ellipse">
            <a:avLst/>
          </a:prstGeom>
          <a:solidFill>
            <a:schemeClr val="accent1"/>
          </a:solidFill>
          <a:ln w="6350">
            <a:solidFill>
              <a:schemeClr val="accent1"/>
            </a:solidFill>
            <a:prstDash val="solid"/>
          </a:ln>
        </p:spPr>
      </p:sp>
      <p:sp>
        <p:nvSpPr>
          <p:cNvPr id="25" name="Text 21"/>
          <p:cNvSpPr txBox="1"/>
          <p:nvPr/>
        </p:nvSpPr>
        <p:spPr>
          <a:xfrm>
            <a:off x="10259294" y="26060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5</a:t>
            </a:r>
            <a:endParaRPr lang="en-US" sz="1600" dirty="0"/>
          </a:p>
        </p:txBody>
      </p:sp>
      <p:sp>
        <p:nvSpPr>
          <p:cNvPr id="26" name="Flow head"/>
          <p:cNvSpPr txBox="1"/>
          <p:nvPr/>
        </p:nvSpPr>
        <p:spPr>
          <a:xfrm>
            <a:off x="9497324" y="3291840"/>
            <a:ext cx="2072579" cy="548640"/>
          </a:xfrm>
          <a:prstGeom prst="rect">
            <a:avLst/>
          </a:prstGeom>
          <a:noFill/>
          <a:ln/>
        </p:spPr>
        <p:txBody>
          <a:bodyPr wrap="square" lIns="0" tIns="0" rIns="0" bIns="0" rtlCol="0" anchor="t"/>
          <a:lstStyle/>
          <a:p>
            <a:pPr algn="ctr" indent="0" marL="0">
              <a:buNone/>
            </a:pPr>
            <a:r>
              <a:rPr lang="en-US" sz="1600" b="1" dirty="0">
                <a:solidFill>
                  <a:schemeClr val="tx1"/>
                </a:solidFill>
                <a:latin typeface="Cambria" pitchFamily="34" charset="0"/>
                <a:ea typeface="Cambria" pitchFamily="34" charset="-122"/>
                <a:cs typeface="Cambria" pitchFamily="34" charset="-120"/>
              </a:rPr>
              <a:t>Approximate and shrink the period</a:t>
            </a:r>
            <a:endParaRPr lang="en-US" sz="1600" dirty="0"/>
          </a:p>
        </p:txBody>
      </p:sp>
      <p:sp>
        <p:nvSpPr>
          <p:cNvPr id="27" name="Flow text"/>
          <p:cNvSpPr txBox="1"/>
          <p:nvPr/>
        </p:nvSpPr>
        <p:spPr>
          <a:xfrm>
            <a:off x="9515612" y="3867912"/>
            <a:ext cx="2036003" cy="1554480"/>
          </a:xfrm>
          <a:prstGeom prst="rect">
            <a:avLst/>
          </a:prstGeom>
          <a:noFill/>
          <a:ln/>
        </p:spPr>
        <p:txBody>
          <a:bodyPr wrap="square" lIns="0" tIns="0" rIns="0" bIns="0" rtlCol="0" anchor="t"/>
          <a:lstStyle/>
          <a:p>
            <a:pPr algn="ctr" indent="0" marL="0">
              <a:buNone/>
            </a:pPr>
            <a:r>
              <a:rPr lang="en-US" sz="1400" dirty="0">
                <a:solidFill>
                  <a:schemeClr val="tx2"/>
                </a:solidFill>
              </a:rPr>
              <a:t>Test a coarse grid and a smooth fit against their bounds; shorten the period and compare with Chapter 6.</a:t>
            </a:r>
            <a:endParaRPr lang="en-US" sz="1400" dirty="0"/>
          </a:p>
        </p:txBody>
      </p:sp>
      <p:sp>
        <p:nvSpPr>
          <p:cNvPr id="28" name="Deliverable card"/>
          <p:cNvSpPr/>
          <p:nvPr/>
        </p:nvSpPr>
        <p:spPr>
          <a:xfrm>
            <a:off x="548640" y="5486400"/>
            <a:ext cx="11094415" cy="685800"/>
          </a:xfrm>
          <a:prstGeom prst="roundRect">
            <a:avLst>
              <a:gd name="adj" fmla="val 10667"/>
            </a:avLst>
          </a:prstGeom>
          <a:solidFill>
            <a:schemeClr val="bg2"/>
          </a:solidFill>
          <a:ln w="9525">
            <a:solidFill>
              <a:srgbClr val="C4CBD8"/>
            </a:solidFill>
            <a:prstDash val="solid"/>
          </a:ln>
        </p:spPr>
      </p:sp>
      <p:sp>
        <p:nvSpPr>
          <p:cNvPr id="29" name="Deliverable"/>
          <p:cNvSpPr txBox="1"/>
          <p:nvPr/>
        </p:nvSpPr>
        <p:spPr>
          <a:xfrm>
            <a:off x="777240" y="5559552"/>
            <a:ext cx="10637215" cy="539496"/>
          </a:xfrm>
          <a:prstGeom prst="rect">
            <a:avLst/>
          </a:prstGeom>
          <a:noFill/>
          <a:ln/>
        </p:spPr>
        <p:txBody>
          <a:bodyPr wrap="square" lIns="0" tIns="0" rIns="0" bIns="0" rtlCol="0" anchor="ctr"/>
          <a:lstStyle/>
          <a:p>
            <a:pPr indent="0" marL="0">
              <a:buNone/>
            </a:pPr>
            <a:r>
              <a:rPr lang="en-US" sz="1400" b="1" dirty="0">
                <a:solidFill>
                  <a:schemeClr val="tx1"/>
                </a:solidFill>
              </a:rPr>
              <a:t>Deliverable:</a:t>
            </a:r>
            <a:r>
              <a:rPr lang="en-US" sz="1400" dirty="0">
                <a:solidFill>
                  <a:schemeClr val="tx1"/>
                </a:solidFill>
              </a:rPr>
              <a:t> a one-page note to the board with the rule, its margin and its cost, the comparison with Volume I's budget and with Chapter 6's answer, and the declarations the rule depends on. About 75 minutes.</a:t>
            </a:r>
            <a:endParaRPr lang="en-US" sz="14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KEY TAKEAWAYS</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What to carry forward</a:t>
            </a:r>
            <a:endParaRPr lang="en-US" sz="3200" dirty="0"/>
          </a:p>
        </p:txBody>
      </p:sp>
      <p:sp>
        <p:nvSpPr>
          <p:cNvPr id="5" name="Number"/>
          <p:cNvSpPr/>
          <p:nvPr/>
        </p:nvSpPr>
        <p:spPr>
          <a:xfrm>
            <a:off x="548640" y="1737360"/>
            <a:ext cx="566928" cy="566928"/>
          </a:xfrm>
          <a:prstGeom prst="ellipse">
            <a:avLst/>
          </a:prstGeom>
          <a:solidFill>
            <a:schemeClr val="accent1"/>
          </a:solidFill>
          <a:ln w="6350">
            <a:solidFill>
              <a:schemeClr val="accent1"/>
            </a:solidFill>
            <a:prstDash val="solid"/>
          </a:ln>
        </p:spPr>
      </p:sp>
      <p:sp>
        <p:nvSpPr>
          <p:cNvPr id="6" name="Text 3"/>
          <p:cNvSpPr txBox="1"/>
          <p:nvPr/>
        </p:nvSpPr>
        <p:spPr>
          <a:xfrm>
            <a:off x="548640" y="1737360"/>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1</a:t>
            </a:r>
            <a:endParaRPr lang="en-US" sz="1500" dirty="0"/>
          </a:p>
        </p:txBody>
      </p:sp>
      <p:sp>
        <p:nvSpPr>
          <p:cNvPr id="7" name="Row text"/>
          <p:cNvSpPr txBox="1"/>
          <p:nvPr/>
        </p:nvSpPr>
        <p:spPr>
          <a:xfrm>
            <a:off x="1325880" y="1691640"/>
            <a:ext cx="10317175" cy="841248"/>
          </a:xfrm>
          <a:prstGeom prst="rect">
            <a:avLst/>
          </a:prstGeom>
          <a:noFill/>
          <a:ln/>
        </p:spPr>
        <p:txBody>
          <a:bodyPr wrap="square" lIns="0" tIns="0" rIns="0" bIns="0" rtlCol="0" anchor="ctr"/>
          <a:lstStyle/>
          <a:p>
            <a:pPr indent="0" marL="0">
              <a:buNone/>
            </a:pPr>
            <a:r>
              <a:rPr lang="en-US" sz="1500" dirty="0">
                <a:solidFill>
                  <a:schemeClr val="tx1"/>
                </a:solidFill>
              </a:rPr>
              <a:t>Dynamic programming values every position, and its best decisions form a rule; when the future is uncertain, a rule can respond to what happens and a plan cannot.</a:t>
            </a:r>
            <a:endParaRPr lang="en-US" sz="1500" dirty="0"/>
          </a:p>
        </p:txBody>
      </p:sp>
      <p:sp>
        <p:nvSpPr>
          <p:cNvPr id="8" name="Number"/>
          <p:cNvSpPr/>
          <p:nvPr/>
        </p:nvSpPr>
        <p:spPr>
          <a:xfrm>
            <a:off x="548640" y="2633472"/>
            <a:ext cx="566928" cy="566928"/>
          </a:xfrm>
          <a:prstGeom prst="ellipse">
            <a:avLst/>
          </a:prstGeom>
          <a:solidFill>
            <a:schemeClr val="accent1"/>
          </a:solidFill>
          <a:ln w="6350">
            <a:solidFill>
              <a:schemeClr val="accent1"/>
            </a:solidFill>
            <a:prstDash val="solid"/>
          </a:ln>
        </p:spPr>
      </p:sp>
      <p:sp>
        <p:nvSpPr>
          <p:cNvPr id="9" name="Text 6"/>
          <p:cNvSpPr txBox="1"/>
          <p:nvPr/>
        </p:nvSpPr>
        <p:spPr>
          <a:xfrm>
            <a:off x="548640" y="2633472"/>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2</a:t>
            </a:r>
            <a:endParaRPr lang="en-US" sz="1500" dirty="0"/>
          </a:p>
        </p:txBody>
      </p:sp>
      <p:sp>
        <p:nvSpPr>
          <p:cNvPr id="10" name="Row text"/>
          <p:cNvSpPr txBox="1"/>
          <p:nvPr/>
        </p:nvSpPr>
        <p:spPr>
          <a:xfrm>
            <a:off x="1325880" y="2587752"/>
            <a:ext cx="10317175" cy="841248"/>
          </a:xfrm>
          <a:prstGeom prst="rect">
            <a:avLst/>
          </a:prstGeom>
          <a:noFill/>
          <a:ln/>
        </p:spPr>
        <p:txBody>
          <a:bodyPr wrap="square" lIns="0" tIns="0" rIns="0" bIns="0" rtlCol="0" anchor="ctr"/>
          <a:lstStyle/>
          <a:p>
            <a:pPr indent="0" marL="0">
              <a:buNone/>
            </a:pPr>
            <a:r>
              <a:rPr lang="en-US" sz="1500" dirty="0">
                <a:solidFill>
                  <a:schemeClr val="tx1"/>
                </a:solidFill>
              </a:rPr>
              <a:t>The value function solves the Bellman equation: the value of a position is the best a decision can earn now plus the discounted expected value of where it leads. Over an open horizon the Bellman operator is a contraction, and a rule is best exactly when it is greedy for the value function.</a:t>
            </a:r>
            <a:endParaRPr lang="en-US" sz="1500" dirty="0"/>
          </a:p>
        </p:txBody>
      </p:sp>
      <p:sp>
        <p:nvSpPr>
          <p:cNvPr id="11" name="Number"/>
          <p:cNvSpPr/>
          <p:nvPr/>
        </p:nvSpPr>
        <p:spPr>
          <a:xfrm>
            <a:off x="548640" y="3529584"/>
            <a:ext cx="566928" cy="566928"/>
          </a:xfrm>
          <a:prstGeom prst="ellipse">
            <a:avLst/>
          </a:prstGeom>
          <a:solidFill>
            <a:schemeClr val="accent1"/>
          </a:solidFill>
          <a:ln w="6350">
            <a:solidFill>
              <a:schemeClr val="accent1"/>
            </a:solidFill>
            <a:prstDash val="solid"/>
          </a:ln>
        </p:spPr>
      </p:sp>
      <p:sp>
        <p:nvSpPr>
          <p:cNvPr id="12" name="Text 9"/>
          <p:cNvSpPr txBox="1"/>
          <p:nvPr/>
        </p:nvSpPr>
        <p:spPr>
          <a:xfrm>
            <a:off x="548640" y="3529584"/>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3</a:t>
            </a:r>
            <a:endParaRPr lang="en-US" sz="1500" dirty="0"/>
          </a:p>
        </p:txBody>
      </p:sp>
      <p:sp>
        <p:nvSpPr>
          <p:cNvPr id="13" name="Row text"/>
          <p:cNvSpPr txBox="1"/>
          <p:nvPr/>
        </p:nvSpPr>
        <p:spPr>
          <a:xfrm>
            <a:off x="1325880" y="3483864"/>
            <a:ext cx="10317175" cy="841248"/>
          </a:xfrm>
          <a:prstGeom prst="rect">
            <a:avLst/>
          </a:prstGeom>
          <a:noFill/>
          <a:ln/>
        </p:spPr>
        <p:txBody>
          <a:bodyPr wrap="square" lIns="0" tIns="0" rIns="0" bIns="0" rtlCol="0" anchor="ctr"/>
          <a:lstStyle/>
          <a:p>
            <a:pPr indent="0" marL="0">
              <a:buNone/>
            </a:pPr>
            <a:r>
              <a:rPr lang="en-US" sz="1500" dirty="0">
                <a:solidFill>
                  <a:schemeClr val="tx1"/>
                </a:solidFill>
              </a:rPr>
              <a:t>Differences of the value function value lumps; its slopes price stocks and satisfy the price recursion, Chapter 6's costate equation on a calendar, averaged over events.</a:t>
            </a:r>
            <a:endParaRPr lang="en-US" sz="1500" dirty="0"/>
          </a:p>
        </p:txBody>
      </p:sp>
      <p:sp>
        <p:nvSpPr>
          <p:cNvPr id="14" name="Number"/>
          <p:cNvSpPr/>
          <p:nvPr/>
        </p:nvSpPr>
        <p:spPr>
          <a:xfrm>
            <a:off x="548640" y="4425696"/>
            <a:ext cx="566928" cy="566928"/>
          </a:xfrm>
          <a:prstGeom prst="ellipse">
            <a:avLst/>
          </a:prstGeom>
          <a:solidFill>
            <a:schemeClr val="accent1"/>
          </a:solidFill>
          <a:ln w="6350">
            <a:solidFill>
              <a:schemeClr val="accent1"/>
            </a:solidFill>
            <a:prstDash val="solid"/>
          </a:ln>
        </p:spPr>
      </p:sp>
      <p:sp>
        <p:nvSpPr>
          <p:cNvPr id="15" name="Text 12"/>
          <p:cNvSpPr txBox="1"/>
          <p:nvPr/>
        </p:nvSpPr>
        <p:spPr>
          <a:xfrm>
            <a:off x="548640" y="4425696"/>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4</a:t>
            </a:r>
            <a:endParaRPr lang="en-US" sz="1500" dirty="0"/>
          </a:p>
        </p:txBody>
      </p:sp>
      <p:sp>
        <p:nvSpPr>
          <p:cNvPr id="16" name="Row text"/>
          <p:cNvSpPr txBox="1"/>
          <p:nvPr/>
        </p:nvSpPr>
        <p:spPr>
          <a:xfrm>
            <a:off x="1325880" y="4379976"/>
            <a:ext cx="10317175" cy="841248"/>
          </a:xfrm>
          <a:prstGeom prst="rect">
            <a:avLst/>
          </a:prstGeom>
          <a:noFill/>
          <a:ln/>
        </p:spPr>
        <p:txBody>
          <a:bodyPr wrap="square" lIns="0" tIns="0" rIns="0" bIns="0" rtlCol="0" anchor="ctr"/>
          <a:lstStyle/>
          <a:p>
            <a:pPr indent="0" marL="0">
              <a:buNone/>
            </a:pPr>
            <a:r>
              <a:rPr lang="en-US" sz="1500" dirty="0">
                <a:solidFill>
                  <a:schemeClr val="tx1"/>
                </a:solidFill>
              </a:rPr>
              <a:t>Best rules take simple shapes: thresholds for yes-or-no decisions, and targets for maintained stocks, with a margin set by the critical ratio. The best rule is at least as good as re-planning, which is at least as good as the best plan; the gap between rule and plan is the value of information.</a:t>
            </a:r>
            <a:endParaRPr lang="en-US" sz="1500" dirty="0"/>
          </a:p>
        </p:txBody>
      </p:sp>
      <p:sp>
        <p:nvSpPr>
          <p:cNvPr id="17" name="Number"/>
          <p:cNvSpPr/>
          <p:nvPr/>
        </p:nvSpPr>
        <p:spPr>
          <a:xfrm>
            <a:off x="548640" y="5321808"/>
            <a:ext cx="566928" cy="566928"/>
          </a:xfrm>
          <a:prstGeom prst="ellipse">
            <a:avLst/>
          </a:prstGeom>
          <a:solidFill>
            <a:schemeClr val="accent1"/>
          </a:solidFill>
          <a:ln w="6350">
            <a:solidFill>
              <a:schemeClr val="accent1"/>
            </a:solidFill>
            <a:prstDash val="solid"/>
          </a:ln>
        </p:spPr>
      </p:sp>
      <p:sp>
        <p:nvSpPr>
          <p:cNvPr id="18" name="Text 15"/>
          <p:cNvSpPr txBox="1"/>
          <p:nvPr/>
        </p:nvSpPr>
        <p:spPr>
          <a:xfrm>
            <a:off x="548640" y="5321808"/>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5</a:t>
            </a:r>
            <a:endParaRPr lang="en-US" sz="1500" dirty="0"/>
          </a:p>
        </p:txBody>
      </p:sp>
      <p:sp>
        <p:nvSpPr>
          <p:cNvPr id="19" name="Row text"/>
          <p:cNvSpPr txBox="1"/>
          <p:nvPr/>
        </p:nvSpPr>
        <p:spPr>
          <a:xfrm>
            <a:off x="1325880" y="5276088"/>
            <a:ext cx="10317175" cy="841248"/>
          </a:xfrm>
          <a:prstGeom prst="rect">
            <a:avLst/>
          </a:prstGeom>
          <a:noFill/>
          <a:ln/>
        </p:spPr>
        <p:txBody>
          <a:bodyPr wrap="square" lIns="0" tIns="0" rIns="0" bIns="0" rtlCol="0" anchor="ctr"/>
          <a:lstStyle/>
          <a:p>
            <a:pPr indent="0" marL="0">
              <a:buNone/>
            </a:pPr>
            <a:r>
              <a:rPr lang="en-US" sz="1500" dirty="0">
                <a:solidFill>
                  <a:schemeClr val="tx1"/>
                </a:solidFill>
              </a:rPr>
              <a:t>Backward induction, value and policy iteration, and linear programming compute values and rules with error bounds that certify them; approximations scale to many stocks, with errors amplified by the effective horizon.</a:t>
            </a:r>
            <a:endParaRPr lang="en-US" sz="15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THIS WEEK'S LABORATORY</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Notebook and workbook reproduce the book</a:t>
            </a:r>
            <a:endParaRPr lang="en-US" sz="3200" dirty="0"/>
          </a:p>
        </p:txBody>
      </p:sp>
      <p:sp>
        <p:nvSpPr>
          <p:cNvPr id="5" name="Stat card"/>
          <p:cNvSpPr/>
          <p:nvPr/>
        </p:nvSpPr>
        <p:spPr>
          <a:xfrm>
            <a:off x="548640" y="1691640"/>
            <a:ext cx="2567864" cy="1691640"/>
          </a:xfrm>
          <a:prstGeom prst="roundRect">
            <a:avLst>
              <a:gd name="adj" fmla="val 4324"/>
            </a:avLst>
          </a:prstGeom>
          <a:solidFill>
            <a:schemeClr val="tx1"/>
          </a:solidFill>
          <a:ln w="9525">
            <a:solidFill>
              <a:srgbClr val="0F1E3D"/>
            </a:solidFill>
            <a:prstDash val="solid"/>
          </a:ln>
        </p:spPr>
      </p:sp>
      <p:sp>
        <p:nvSpPr>
          <p:cNvPr id="6" name="Stat value"/>
          <p:cNvSpPr txBox="1"/>
          <p:nvPr/>
        </p:nvSpPr>
        <p:spPr>
          <a:xfrm>
            <a:off x="685800" y="1801368"/>
            <a:ext cx="2293544" cy="914400"/>
          </a:xfrm>
          <a:prstGeom prst="rect">
            <a:avLst/>
          </a:prstGeom>
          <a:noFill/>
          <a:ln/>
        </p:spPr>
        <p:txBody>
          <a:bodyPr wrap="square" lIns="0" tIns="0" rIns="0" bIns="0" rtlCol="0" anchor="ctr"/>
          <a:lstStyle/>
          <a:p>
            <a:pPr algn="ctr" indent="0" marL="0">
              <a:buNone/>
            </a:pPr>
            <a:r>
              <a:rPr lang="en-US" sz="4400" b="1" dirty="0">
                <a:solidFill>
                  <a:schemeClr val="accent1"/>
                </a:solidFill>
                <a:latin typeface="Cambria" pitchFamily="34" charset="0"/>
                <a:ea typeface="Cambria" pitchFamily="34" charset="-122"/>
                <a:cs typeface="Cambria" pitchFamily="34" charset="-120"/>
              </a:rPr>
              <a:t>25</a:t>
            </a:r>
            <a:endParaRPr lang="en-US" sz="4400" dirty="0"/>
          </a:p>
        </p:txBody>
      </p:sp>
      <p:sp>
        <p:nvSpPr>
          <p:cNvPr id="7" name="Stat label"/>
          <p:cNvSpPr txBox="1"/>
          <p:nvPr/>
        </p:nvSpPr>
        <p:spPr>
          <a:xfrm>
            <a:off x="685800" y="2697480"/>
            <a:ext cx="2293544" cy="612648"/>
          </a:xfrm>
          <a:prstGeom prst="rect">
            <a:avLst/>
          </a:prstGeom>
          <a:noFill/>
          <a:ln/>
        </p:spPr>
        <p:txBody>
          <a:bodyPr wrap="square" lIns="0" tIns="0" rIns="0" bIns="0" rtlCol="0" anchor="t"/>
          <a:lstStyle/>
          <a:p>
            <a:pPr algn="ctr" indent="0" marL="0">
              <a:buNone/>
            </a:pPr>
            <a:r>
              <a:rPr lang="en-US" sz="1400" dirty="0">
                <a:solidFill>
                  <a:schemeClr val="bg2"/>
                </a:solidFill>
              </a:rPr>
              <a:t>notebook checkpoints, every one PASS</a:t>
            </a:r>
            <a:endParaRPr lang="en-US" sz="1400" dirty="0"/>
          </a:p>
        </p:txBody>
      </p:sp>
      <p:sp>
        <p:nvSpPr>
          <p:cNvPr id="8" name="Stat card"/>
          <p:cNvSpPr/>
          <p:nvPr/>
        </p:nvSpPr>
        <p:spPr>
          <a:xfrm>
            <a:off x="3390824" y="1691640"/>
            <a:ext cx="2567864" cy="1691640"/>
          </a:xfrm>
          <a:prstGeom prst="roundRect">
            <a:avLst>
              <a:gd name="adj" fmla="val 4324"/>
            </a:avLst>
          </a:prstGeom>
          <a:solidFill>
            <a:schemeClr val="bg2"/>
          </a:solidFill>
          <a:ln w="9525">
            <a:solidFill>
              <a:srgbClr val="C4CBD8"/>
            </a:solidFill>
            <a:prstDash val="solid"/>
          </a:ln>
        </p:spPr>
      </p:sp>
      <p:sp>
        <p:nvSpPr>
          <p:cNvPr id="9" name="Stat value"/>
          <p:cNvSpPr txBox="1"/>
          <p:nvPr/>
        </p:nvSpPr>
        <p:spPr>
          <a:xfrm>
            <a:off x="3527984" y="1801368"/>
            <a:ext cx="2293544" cy="914400"/>
          </a:xfrm>
          <a:prstGeom prst="rect">
            <a:avLst/>
          </a:prstGeom>
          <a:noFill/>
          <a:ln/>
        </p:spPr>
        <p:txBody>
          <a:bodyPr wrap="square" lIns="0" tIns="0" rIns="0" bIns="0" rtlCol="0" anchor="ctr"/>
          <a:lstStyle/>
          <a:p>
            <a:pPr algn="ctr" indent="0" marL="0">
              <a:buNone/>
            </a:pPr>
            <a:r>
              <a:rPr lang="en-US" sz="4400" b="1" dirty="0">
                <a:solidFill>
                  <a:schemeClr val="tx1"/>
                </a:solidFill>
                <a:latin typeface="Cambria" pitchFamily="34" charset="0"/>
                <a:ea typeface="Cambria" pitchFamily="34" charset="-122"/>
                <a:cs typeface="Cambria" pitchFamily="34" charset="-120"/>
              </a:rPr>
              <a:t>26</a:t>
            </a:r>
            <a:endParaRPr lang="en-US" sz="4400" dirty="0"/>
          </a:p>
        </p:txBody>
      </p:sp>
      <p:sp>
        <p:nvSpPr>
          <p:cNvPr id="10" name="Stat label"/>
          <p:cNvSpPr txBox="1"/>
          <p:nvPr/>
        </p:nvSpPr>
        <p:spPr>
          <a:xfrm>
            <a:off x="3527984" y="2697480"/>
            <a:ext cx="2293544" cy="612648"/>
          </a:xfrm>
          <a:prstGeom prst="rect">
            <a:avLst/>
          </a:prstGeom>
          <a:noFill/>
          <a:ln/>
        </p:spPr>
        <p:txBody>
          <a:bodyPr wrap="square" lIns="0" tIns="0" rIns="0" bIns="0" rtlCol="0" anchor="t"/>
          <a:lstStyle/>
          <a:p>
            <a:pPr algn="ctr" indent="0" marL="0">
              <a:buNone/>
            </a:pPr>
            <a:r>
              <a:rPr lang="en-US" sz="1400" dirty="0">
                <a:solidFill>
                  <a:schemeClr val="tx2"/>
                </a:solidFill>
              </a:rPr>
              <a:t>workbook checks against the engine, ALL PASS</a:t>
            </a:r>
            <a:endParaRPr lang="en-US" sz="1400" dirty="0"/>
          </a:p>
        </p:txBody>
      </p:sp>
      <p:sp>
        <p:nvSpPr>
          <p:cNvPr id="11" name="Stat card"/>
          <p:cNvSpPr/>
          <p:nvPr/>
        </p:nvSpPr>
        <p:spPr>
          <a:xfrm>
            <a:off x="6233008" y="1691640"/>
            <a:ext cx="2567864" cy="1691640"/>
          </a:xfrm>
          <a:prstGeom prst="roundRect">
            <a:avLst>
              <a:gd name="adj" fmla="val 4324"/>
            </a:avLst>
          </a:prstGeom>
          <a:solidFill>
            <a:schemeClr val="bg2"/>
          </a:solidFill>
          <a:ln w="9525">
            <a:solidFill>
              <a:srgbClr val="C4CBD8"/>
            </a:solidFill>
            <a:prstDash val="solid"/>
          </a:ln>
        </p:spPr>
      </p:sp>
      <p:sp>
        <p:nvSpPr>
          <p:cNvPr id="12" name="Stat value"/>
          <p:cNvSpPr txBox="1"/>
          <p:nvPr/>
        </p:nvSpPr>
        <p:spPr>
          <a:xfrm>
            <a:off x="6370168" y="1801368"/>
            <a:ext cx="2293544" cy="914400"/>
          </a:xfrm>
          <a:prstGeom prst="rect">
            <a:avLst/>
          </a:prstGeom>
          <a:noFill/>
          <a:ln/>
        </p:spPr>
        <p:txBody>
          <a:bodyPr wrap="square" lIns="0" tIns="0" rIns="0" bIns="0" rtlCol="0" anchor="ctr"/>
          <a:lstStyle/>
          <a:p>
            <a:pPr algn="ctr" indent="0" marL="0">
              <a:buNone/>
            </a:pPr>
            <a:r>
              <a:rPr lang="en-US" sz="4400" b="1" dirty="0">
                <a:solidFill>
                  <a:schemeClr val="tx1"/>
                </a:solidFill>
                <a:latin typeface="Cambria" pitchFamily="34" charset="0"/>
                <a:ea typeface="Cambria" pitchFamily="34" charset="-122"/>
                <a:cs typeface="Cambria" pitchFamily="34" charset="-120"/>
              </a:rPr>
              <a:t>26207</a:t>
            </a:r>
            <a:endParaRPr lang="en-US" sz="4400" dirty="0"/>
          </a:p>
        </p:txBody>
      </p:sp>
      <p:sp>
        <p:nvSpPr>
          <p:cNvPr id="13" name="Stat label"/>
          <p:cNvSpPr txBox="1"/>
          <p:nvPr/>
        </p:nvSpPr>
        <p:spPr>
          <a:xfrm>
            <a:off x="6370168" y="2697480"/>
            <a:ext cx="2293544" cy="612648"/>
          </a:xfrm>
          <a:prstGeom prst="rect">
            <a:avLst/>
          </a:prstGeom>
          <a:noFill/>
          <a:ln/>
        </p:spPr>
        <p:txBody>
          <a:bodyPr wrap="square" lIns="0" tIns="0" rIns="0" bIns="0" rtlCol="0" anchor="t"/>
          <a:lstStyle/>
          <a:p>
            <a:pPr algn="ctr" indent="0" marL="0">
              <a:buNone/>
            </a:pPr>
            <a:r>
              <a:rPr lang="en-US" sz="1400" dirty="0">
                <a:solidFill>
                  <a:schemeClr val="tx2"/>
                </a:solidFill>
              </a:rPr>
              <a:t>the lab's seed</a:t>
            </a:r>
            <a:endParaRPr lang="en-US" sz="1400" dirty="0"/>
          </a:p>
        </p:txBody>
      </p:sp>
      <p:sp>
        <p:nvSpPr>
          <p:cNvPr id="14" name="Stat card"/>
          <p:cNvSpPr/>
          <p:nvPr/>
        </p:nvSpPr>
        <p:spPr>
          <a:xfrm>
            <a:off x="9075191" y="1691640"/>
            <a:ext cx="2567864" cy="1691640"/>
          </a:xfrm>
          <a:prstGeom prst="roundRect">
            <a:avLst>
              <a:gd name="adj" fmla="val 4324"/>
            </a:avLst>
          </a:prstGeom>
          <a:solidFill>
            <a:schemeClr val="bg2"/>
          </a:solidFill>
          <a:ln w="9525">
            <a:solidFill>
              <a:srgbClr val="C4CBD8"/>
            </a:solidFill>
            <a:prstDash val="solid"/>
          </a:ln>
        </p:spPr>
      </p:sp>
      <p:sp>
        <p:nvSpPr>
          <p:cNvPr id="15" name="Stat value"/>
          <p:cNvSpPr txBox="1"/>
          <p:nvPr/>
        </p:nvSpPr>
        <p:spPr>
          <a:xfrm>
            <a:off x="9212351" y="1801368"/>
            <a:ext cx="2293544" cy="91440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AXIOM-07</a:t>
            </a:r>
            <a:endParaRPr lang="en-US" sz="3000" dirty="0"/>
          </a:p>
        </p:txBody>
      </p:sp>
      <p:sp>
        <p:nvSpPr>
          <p:cNvPr id="16" name="Stat label"/>
          <p:cNvSpPr txBox="1"/>
          <p:nvPr/>
        </p:nvSpPr>
        <p:spPr>
          <a:xfrm>
            <a:off x="9212351" y="2697480"/>
            <a:ext cx="2293544" cy="612648"/>
          </a:xfrm>
          <a:prstGeom prst="rect">
            <a:avLst/>
          </a:prstGeom>
          <a:noFill/>
          <a:ln/>
        </p:spPr>
        <p:txBody>
          <a:bodyPr wrap="square" lIns="0" tIns="0" rIns="0" bIns="0" rtlCol="0" anchor="t"/>
          <a:lstStyle/>
          <a:p>
            <a:pPr algn="ctr" indent="0" marL="0">
              <a:buNone/>
            </a:pPr>
            <a:r>
              <a:rPr lang="en-US" sz="1400" dirty="0">
                <a:solidFill>
                  <a:schemeClr val="tx2"/>
                </a:solidFill>
              </a:rPr>
              <a:t>AXIOM Lab 2.7</a:t>
            </a:r>
            <a:endParaRPr lang="en-US" sz="1400" dirty="0"/>
          </a:p>
        </p:txBody>
      </p:sp>
      <p:sp>
        <p:nvSpPr>
          <p:cNvPr id="17" name="Bullets"/>
          <p:cNvSpPr txBox="1"/>
          <p:nvPr/>
        </p:nvSpPr>
        <p:spPr>
          <a:xfrm>
            <a:off x="548640" y="3703320"/>
            <a:ext cx="11094415" cy="2468880"/>
          </a:xfrm>
          <a:prstGeom prst="rect">
            <a:avLst/>
          </a:prstGeom>
          <a:noFill/>
          <a:ln/>
        </p:spPr>
        <p:txBody>
          <a:bodyPr wrap="square" lIns="635" tIns="635" rIns="635" bIns="635" rtlCol="0" anchor="t"/>
          <a:lstStyle/>
          <a:p>
            <a:pPr marL="228600" indent="-228600">
              <a:spcAft>
                <a:spcPts val="800"/>
              </a:spcAft>
              <a:buSzPct val="100000"/>
              <a:buChar char="•"/>
            </a:pPr>
            <a:r>
              <a:rPr lang="en-US" sz="1700" b="1" dirty="0">
                <a:solidFill>
                  <a:schemeClr val="tx1"/>
                </a:solidFill>
              </a:rPr>
              <a:t>Notebook</a:t>
            </a:r>
            <a:r>
              <a:rPr lang="en-US" sz="1700" dirty="0">
                <a:solidFill>
                  <a:schemeClr val="tx1"/>
                </a:solidFill>
              </a:rPr>
              <a:t> DCT_V2_Ch07_Lab.ipynb: Worked Example 7.1 and the lab's five steps in eight panels, ready for Colab</a:t>
            </a:r>
            <a:endParaRPr lang="en-US" sz="1700" dirty="0"/>
          </a:p>
          <a:p>
            <a:pPr marL="228600" indent="-228600">
              <a:spcAft>
                <a:spcPts val="800"/>
              </a:spcAft>
              <a:buSzPct val="100000"/>
              <a:buChar char="•"/>
            </a:pPr>
            <a:r>
              <a:rPr lang="en-US" sz="1700" b="1" dirty="0">
                <a:solidFill>
                  <a:schemeClr val="tx1"/>
                </a:solidFill>
              </a:rPr>
              <a:t>Workbook</a:t>
            </a:r>
            <a:r>
              <a:rPr lang="en-US" sz="1700" dirty="0">
                <a:solidFill>
                  <a:schemeClr val="tx1"/>
                </a:solidFill>
              </a:rPr>
              <a:t> DCT_V2_Ch07_Lab.xlsx: the critical ratio, a twelve-quarter backward induction, the Bellman certificate, prices and the upper bound, in formulas</a:t>
            </a:r>
            <a:endParaRPr lang="en-US" sz="1700" dirty="0"/>
          </a:p>
          <a:p>
            <a:pPr marL="228600" indent="-228600">
              <a:spcAft>
                <a:spcPts val="800"/>
              </a:spcAft>
              <a:buSzPct val="100000"/>
              <a:buChar char="•"/>
            </a:pPr>
            <a:r>
              <a:rPr lang="en-US" sz="1700" dirty="0">
                <a:solidFill>
                  <a:schemeClr val="tx1"/>
                </a:solidFill>
              </a:rPr>
              <a:t>Every number on these slides is the book's, and both companions check it</a:t>
            </a:r>
            <a:endParaRPr lang="en-US" sz="17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NEXT · CHAPTER 8</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bg1"/>
                </a:solidFill>
                <a:latin typeface="Cambria" pitchFamily="34" charset="0"/>
                <a:ea typeface="Cambria" pitchFamily="34" charset="-122"/>
                <a:cs typeface="Cambria" pitchFamily="34" charset="-120"/>
              </a:rPr>
              <a:t>Chapter 8 lets the periods shrink</a:t>
            </a:r>
            <a:endParaRPr lang="en-US" sz="3200" dirty="0"/>
          </a:p>
        </p:txBody>
      </p:sp>
      <p:pic>
        <p:nvPicPr>
          <p:cNvPr id="5" name="Equation" descr="Equation: \rho V - \partial_t V \;=\; \max_{u \in U}\bigl\{ \ell(x,u,t) + \nabla_{x} V^{\top} f(x,u,t) \bigr\}">    </p:cNvPr>
          <p:cNvPicPr>
            <a:picLocks noChangeAspect="1"/>
          </p:cNvPicPr>
          <p:nvPr/>
        </p:nvPicPr>
        <p:blipFill>
          <a:blip r:embed="rId1"/>
          <a:stretch>
            <a:fillRect/>
          </a:stretch>
        </p:blipFill>
        <p:spPr>
          <a:xfrm>
            <a:off x="2223805" y="1691640"/>
            <a:ext cx="7744085" cy="868680"/>
          </a:xfrm>
          <a:prstGeom prst="rect">
            <a:avLst/>
          </a:prstGeom>
        </p:spPr>
      </p:pic>
      <p:sp>
        <p:nvSpPr>
          <p:cNvPr id="6" name="Bullets"/>
          <p:cNvSpPr txBox="1"/>
          <p:nvPr/>
        </p:nvSpPr>
        <p:spPr>
          <a:xfrm>
            <a:off x="548640" y="2880360"/>
            <a:ext cx="11094415" cy="3291840"/>
          </a:xfrm>
          <a:prstGeom prst="rect">
            <a:avLst/>
          </a:prstGeom>
          <a:noFill/>
          <a:ln/>
        </p:spPr>
        <p:txBody>
          <a:bodyPr wrap="square" lIns="635" tIns="635" rIns="635" bIns="635" rtlCol="0" anchor="t"/>
          <a:lstStyle/>
          <a:p>
            <a:pPr marL="228600" indent="-228600">
              <a:spcAft>
                <a:spcPts val="800"/>
              </a:spcAft>
              <a:buSzPct val="100000"/>
              <a:buChar char="•"/>
            </a:pPr>
            <a:r>
              <a:rPr lang="en-US" sz="1800" dirty="0">
                <a:solidFill>
                  <a:schemeClr val="bg1"/>
                </a:solidFill>
              </a:rPr>
              <a:t>As the period shrinks, Bellman's recursion becomes the Hamilton–Jacobi–Bellman equation (Equation 7.4)</a:t>
            </a:r>
            <a:endParaRPr lang="en-US" sz="1800" dirty="0"/>
          </a:p>
          <a:p>
            <a:pPr marL="228600" indent="-228600">
              <a:spcAft>
                <a:spcPts val="800"/>
              </a:spcAft>
              <a:buSzPct val="100000"/>
              <a:buChar char="•"/>
            </a:pPr>
            <a:r>
              <a:rPr lang="en-US" sz="1800" dirty="0">
                <a:solidFill>
                  <a:schemeClr val="bg1"/>
                </a:solidFill>
              </a:rPr>
              <a:t>The hurdle return on a position equals the best the next moment can earn: Chapter 6's maximized Hamiltonian, with the costate replaced by the slope of the value function</a:t>
            </a:r>
            <a:endParaRPr lang="en-US" sz="1800" dirty="0"/>
          </a:p>
          <a:p>
            <a:pPr marL="228600" indent="-228600">
              <a:spcAft>
                <a:spcPts val="800"/>
              </a:spcAft>
              <a:buSzPct val="100000"/>
              <a:buChar char="•"/>
            </a:pPr>
            <a:r>
              <a:rPr lang="en-US" sz="1800" dirty="0">
                <a:solidFill>
                  <a:schemeClr val="bg1"/>
                </a:solidFill>
              </a:rPr>
              <a:t>Chapter 8 makes it precise, with verification theorems and the linear–quadratic problems</a:t>
            </a:r>
            <a:endParaRPr lang="en-US" sz="18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C4CBD8"/>
                </a:solidFill>
              </a:defRPr>
            </a:lvl1pPr>
          </a:lstStyle>
          <a:p>
            <a:pPr algn="r"/>
            <a:fld id="{F7021451-1387-4CA6-816F-3879F97B5CBC}" type="slidenum">
              <a:rPr b="0" lang="en-US"/>
              <a:t>24</a:t>
            </a:fld>
            <a:endParaRPr lang="en-US"/>
          </a:p>
        </p:txBody>
      </p:sp>
    </p:spTree>
  </p:cSld>
  <p:clrMapOvr>
    <a:masterClrMapping/>
  </p:clrMapOvr>
</p:sld>
</file>

<file path=ppt/theme/theme1.xml><?xml version="1.0" encoding="utf-8"?>
<a:theme xmlns:a="http://schemas.openxmlformats.org/drawingml/2006/main" name="Dynamic Corporate Transformation">
  <a:themeElements>
    <a:clrScheme name="Dynamic Corporate Transformation">
      <a:dk1>
        <a:srgbClr val="0F1E3D"/>
      </a:dk1>
      <a:lt1>
        <a:srgbClr val="FFFFFF"/>
      </a:lt1>
      <a:dk2>
        <a:srgbClr val="5A6B82"/>
      </a:dk2>
      <a:lt2>
        <a:srgbClr val="F7F4ED"/>
      </a:lt2>
      <a:accent1>
        <a:srgbClr val="B4884A"/>
      </a:accent1>
      <a:accent2>
        <a:srgbClr val="2F6F6B"/>
      </a:accent2>
      <a:accent3>
        <a:srgbClr val="8A6A33"/>
      </a:accent3>
      <a:accent4>
        <a:srgbClr val="C4CBD8"/>
      </a:accent4>
      <a:accent5>
        <a:srgbClr val="1F4FD8"/>
      </a:accent5>
      <a:accent6>
        <a:srgbClr val="16263F"/>
      </a:accent6>
      <a:hlink>
        <a:srgbClr val="1F4FD8"/>
      </a:hlink>
      <a:folHlink>
        <a:srgbClr val="5A6B82"/>
      </a:folHlink>
    </a:clrScheme>
    <a:fontScheme name="Dynamic Corporate Transformati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Dynamic Corporate Transformation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Dynamic Corporate Transformation, Volume II, Chapter 7: Dynamic Programming for Enterprise Systems</dc:title>
  <dc:subject>Slides for Volume II, Chapter 7 (V56)</dc:subject>
  <dc:creator>Samir Asaf</dc:creator>
  <cp:lastModifiedBy>Samir Asaf</cp:lastModifiedBy>
  <cp:revision>1</cp:revision>
  <dcterms:created xsi:type="dcterms:W3CDTF">2026-10-06T07:09:10Z</dcterms:created>
  <dcterms:modified xsi:type="dcterms:W3CDTF">2026-10-06T07:09:10Z</dcterms:modified>
</cp:coreProperties>
</file>