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0cdfd1-8879-c2c9-58f3-e34e2175dcb9}">
          <p14:sldIdLst>
            <p14:sldId id="256"/>
            <p14:sldId id="257"/>
            <p14:sldId id="258"/>
            <p14:sldId id="259"/>
          </p14:sldIdLst>
        </p14:section>
        <p14:section name="7.1 From Prices to Values" id="{75595986-d7c0-eb1f-d162-910640511fd7}">
          <p14:sldIdLst>
            <p14:sldId id="260"/>
            <p14:sldId id="261"/>
            <p14:sldId id="262"/>
          </p14:sldIdLst>
        </p14:section>
        <p14:section name="7.2 The Bellman Equation" id="{1c2e4a69-76a3-6535-406e-d6a7acffca42}">
          <p14:sldIdLst>
            <p14:sldId id="263"/>
            <p14:sldId id="264"/>
            <p14:sldId id="265"/>
          </p14:sldIdLst>
        </p14:section>
        <p14:section name="7.3 Thresholds and Targets" id="{a568b5ef-7bef-0062-fc43-7167987cc0ec}">
          <p14:sldIdLst>
            <p14:sldId id="266"/>
          </p14:sldIdLst>
        </p14:section>
        <p14:section name="7.4 Plans, Re-plans, and Rules" id="{9927d48e-92a1-0ca6-6eff-2d2b0e364a6b}">
          <p14:sldIdLst>
            <p14:sldId id="267"/>
          </p14:sldIdLst>
        </p14:section>
        <p14:section name="7.5 Computing Values and Rules" id="{6cf15246-274f-67db-c27d-d37c761d8ee1}">
          <p14:sldIdLst>
            <p14:sldId id="268"/>
            <p14:sldId id="269"/>
          </p14:sldIdLst>
        </p14:section>
        <p14:section name="Worked Example 7.1" id="{27ebedda-34d1-a8f1-7a05-7d649a3b0a8e}">
          <p14:sldIdLst>
            <p14:sldId id="270"/>
            <p14:sldId id="271"/>
            <p14:sldId id="272"/>
            <p14:sldId id="273"/>
            <p14:sldId id="274"/>
          </p14:sldIdLst>
        </p14:section>
        <p14:section name="AXIOM Lab 2.7" id="{8b30a140-de7d-02bd-f0d5-5646d3cb34b0}">
          <p14:sldIdLst>
            <p14:sldId id="275"/>
          </p14:sldIdLst>
        </p14:section>
        <p14:section name="Close" id="{c65176b5-ffab-3241-1351-06e886494cd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The engineering office's record: capability against plan at a quarter's end</a:t>
            </a:r>
          </a:p>
        </c:rich>
      </c:tx>
      <c:layout/>
      <c:overlay val="0"/>
    </c:title>
    <c:autoTitleDeleted val="0"/>
    <c:plotArea>
      <c:layout/>
      <c:barChart>
        <c:barDir val="col"/>
        <c:grouping val="clustered"/>
        <c:varyColors val="0"/>
        <c:ser>
          <c:idx val="0"/>
          <c:order val="0"/>
          <c:tx>
            <c:strRef>
              <c:f>Sheet1!$B$1</c:f>
              <c:strCache>
                <c:ptCount val="1"/>
                <c:pt idx="0">
                  <c:v>Share of quarters</c:v>
                </c:pt>
              </c:strCache>
            </c:strRef>
          </c:tx>
          <c:spPr>
            <a:solidFill>
              <a:srgbClr val="2F6F6B"/>
            </a:solidFill>
            <a:effectLst/>
          </c:spPr>
          <c:invertIfNegative val="0"/>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Sheet1!$A$2:$A$6</c:f>
              <c:multiLvlStrCache>
                <c:ptCount val="5"/>
                <c:lvl>
                  <c:pt idx="0">
                    <c:v>1.5 below</c:v>
                  </c:pt>
                  <c:pt idx="1">
                    <c:v>0.75 below</c:v>
                  </c:pt>
                  <c:pt idx="2">
                    <c:v>as planned</c:v>
                  </c:pt>
                  <c:pt idx="3">
                    <c:v>0.75 above</c:v>
                  </c:pt>
                  <c:pt idx="4">
                    <c:v>1.5 above</c:v>
                  </c:pt>
                </c:lvl>
              </c:multiLvlStrCache>
            </c:multiLvlStrRef>
          </c:cat>
          <c:val>
            <c:numRef>
              <c:f>Sheet1!$B$2:$B$6</c:f>
              <c:numCache>
                <c:formatCode>General</c:formatCode>
                <c:ptCount val="5"/>
                <c:pt idx="0">
                  <c:v>0.05</c:v>
                </c:pt>
                <c:pt idx="1">
                  <c:v>0.2</c:v>
                </c:pt>
                <c:pt idx="2">
                  <c:v>0.5</c:v>
                </c:pt>
                <c:pt idx="3">
                  <c:v>0.2</c:v>
                </c:pt>
                <c:pt idx="4">
                  <c:v>0.05</c:v>
                </c:pt>
              </c:numCache>
            </c:numRef>
          </c:val>
        </c:ser>
        <c:dLbls>
          <c:numFmt formatCode="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7. Chapters 5 and 6 priced every stock along a plan; this chapter values every position and turns a plan into a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Arrow needed forecasts for planning although they were no good. A rule needs no forecast of the path, only the position the company is in and a declared law of what may happen next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7.1-7.3 are in Appendix 7.A; Propositions 7.1-7.3 in Online Appendix 7.B.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7.1. With a single event of probability one, a dynamic program is Chapter 5's instance in recursive form. The state must carry everything a rule needs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7.1. Read it row by row: what is computed, how stocks and lumps are priced, how outside events are handled, the optimality condition, the certificate, and what limits each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7.1's Meridian box and Worked Example 7.1, Step 1. The departures are beyond normal attrition: hires who start late or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7.2. Look one period ahead: if the value of every position were known, the best decision now would earn the most now plus the discounted expected value of where it leads. Bellman's insight is that the value of a position is exactly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7.1; formal statement and proof in Appendix 7.A. Chapter 5's war-chest rule, which recomputed each year what the rest of the program needed, was a rule of this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7.1; proof in Online Appendix 7.B. Pricing the team at the price at 53 would overstate it by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 formal statement and proof in Appendix 7.A. A fixed cost of acting gives an (s, S) rule instead (Scarf). Part (iii)'s condition fails in Meridian's extreme quarters; the recursion certifies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7.2; proof and the real-option example in Online Appendix 7.B. The difference for the project is the value of waiting to learn, the heart of real-options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7.2 and Proposition 7.3. All methods rest on Theorem 7.1; they differ in what they compute and in what they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7.3; formal statement and proof in Appendix 7.A. An approximation must be able to take the shape of the value, here the kink the declaration puts at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the situation. The engineering office's record and the transformation office's declaration of the reduced-pace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1-3. Capability is modeled between 30 and 80; the rules come near neither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7.3. Chapter 6's answer run as a rule leaves capability short in 27.5 percent of quarters; the margin adds $5.9m of hiring and saves $12.5m of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5 and 6. A margin that guards against the survey's whole error costs five more planned points, $3.8m a year: a sharper survey is worth up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what the board should take away, and the discussion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2.7. What to look for: values that converge from any start; prices that fall as capability grows; a target rule with a margin; error bounds that hold; a recursion that approaches Chapter 6's solution as the period shrinks.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7.5's bridge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7 · WEEK 11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Programming for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Value every position the company could reach, and let the best decisions form a rule that responds to what happens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26207 · AXIOM Lab 2.7 (AXIOM-07)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Commanding General is well aware that the forecasts are no good. However, he needs them for planning purposes.”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Kenneth J. Arrow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1972; recalling his wartime weather service, “I Know a Hawk from a Handsaw” (1992)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dynamic programming extends the prices of Chapters 5 and 6 to the value of every position, and why a rule can beat a plan when the future is uncertain.</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program—states, decisions and their limits, a declared law of outside events, dynamics, the value of each period, discounting, and the horizon—and write its Bellman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value function: its differences value lumps, its slopes price stocks, and a concave value prices a stock lower the more of it there is.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the shapes of best rules—monotone, threshold, and target rules with a critical-ratio margin—and compare plans, re-plans, and rules, pricing the value of information.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values and rules by backward induction, value and policy iteration, linear programming, and approximation, and certify them with their error bounds.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Prices along a Plan to Values at Every Position</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7.1 · Table 7.1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Bellman Equation</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7.1 · Proposition 7.1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Thresholds and Targets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Plans, Re-plans, and Rules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7.2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Values and Rules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7.3 · Proposition 7.3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7.1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Much Margin Should Meridian Hold Above the Capability Floor?</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7.3 · Figure 7.3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2.7</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Valuing Every Position: Rules for Meridian's Capability</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AXIOM-07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FROM PRICES ALONG A PLAN TO VALUES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Value every position; act by a rule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Program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States</a:t>
            </a:r>
            <a:r>
              <a:rPr lang="en-US" sz="1500" dirty="0">
                <a:solidFill>
                  <a:schemeClr val="tx1"/>
                </a:solidFill>
              </a:rPr>
              <a:t> x, and at each a set of </a:t>
            </a:r>
            <a:r>
              <a:rPr lang="en-US" sz="1500" b="1" dirty="0">
                <a:solidFill>
                  <a:schemeClr val="tx1"/>
                </a:solidFill>
              </a:rPr>
              <a:t>decisions</a:t>
            </a:r>
            <a:r>
              <a:rPr lang="en-US" sz="1500" dirty="0">
                <a:solidFill>
                  <a:schemeClr val="tx1"/>
                </a:solidFill>
              </a:rPr>
              <a:t> U(x) that carries the limits of authority and the commitments</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law of outside events</a:t>
            </a:r>
            <a:r>
              <a:rPr lang="en-US" sz="1500" dirty="0">
                <a:solidFill>
                  <a:schemeClr val="tx1"/>
                </a:solidFill>
              </a:rPr>
              <a:t>: finitely many outcomes w with probabilities p(w | x, u)</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x′ = f(x, u, w), a </a:t>
            </a:r>
            <a:r>
              <a:rPr lang="en-US" sz="1500" b="1" dirty="0">
                <a:solidFill>
                  <a:schemeClr val="tx1"/>
                </a:solidFill>
              </a:rPr>
              <a:t>period's value</a:t>
            </a:r>
            <a:r>
              <a:rPr lang="en-US" sz="1500" dirty="0">
                <a:solidFill>
                  <a:schemeClr val="tx1"/>
                </a:solidFill>
              </a:rPr>
              <a:t> ℓ(x, u), and a </a:t>
            </a:r>
            <a:r>
              <a:rPr lang="en-US" sz="1500" b="1" dirty="0">
                <a:solidFill>
                  <a:schemeClr val="tx1"/>
                </a:solidFill>
              </a:rPr>
              <a:t>discount factor</a:t>
            </a:r>
            <a:r>
              <a:rPr lang="en-US" sz="1500" dirty="0">
                <a:solidFill>
                  <a:schemeClr val="tx1"/>
                </a:solidFill>
              </a:rPr>
              <a:t> β for periods of Δ years at the hurdle rate r: β = (1 + r)</a:t>
            </a:r>
            <a:r>
              <a:rPr lang="en-US" sz="1500" baseline="30000" dirty="0">
                <a:solidFill>
                  <a:schemeClr val="tx1"/>
                </a:solidFill>
              </a:rPr>
              <a:t>−Δ</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horizon</a:t>
            </a:r>
            <a:r>
              <a:rPr lang="en-US" sz="1500" dirty="0">
                <a:solidFill>
                  <a:schemeClr val="tx1"/>
                </a:solidFill>
              </a:rPr>
              <a:t>: K periods with a terminal value, or open with β &lt; 1</a:t>
            </a:r>
            <a:endParaRPr lang="en-US" sz="1500" dirty="0"/>
          </a:p>
          <a:p>
            <a:pPr marL="228600" indent="-228600">
              <a:spcAft>
                <a:spcPts val="600"/>
              </a:spcAft>
              <a:buSzPct val="100000"/>
              <a:buChar char="•"/>
            </a:pPr>
            <a:r>
              <a:rPr lang="en-US" sz="1500" dirty="0">
                <a:solidFill>
                  <a:schemeClr val="tx1"/>
                </a:solidFill>
              </a:rPr>
              <a:t>A </a:t>
            </a:r>
            <a:r>
              <a:rPr lang="en-US" sz="1500" b="1" dirty="0">
                <a:solidFill>
                  <a:schemeClr val="tx1"/>
                </a:solidFill>
              </a:rPr>
              <a:t>rule</a:t>
            </a:r>
            <a:r>
              <a:rPr lang="en-US" sz="1500" dirty="0">
                <a:solidFill>
                  <a:schemeClr val="tx1"/>
                </a:solidFill>
              </a:rPr>
              <a:t> assigns a decision to every period and state; the </a:t>
            </a:r>
            <a:r>
              <a:rPr lang="en-US" sz="1500" b="1" dirty="0">
                <a:solidFill>
                  <a:schemeClr val="tx1"/>
                </a:solidFill>
              </a:rPr>
              <a:t>value function</a:t>
            </a:r>
            <a:r>
              <a:rPr lang="en-US" sz="1500" dirty="0">
                <a:solidFill>
                  <a:schemeClr val="tx1"/>
                </a:solidFill>
              </a:rPr>
              <a:t> V* is the best value from each state</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dynamic programming adds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Chapters 5 and 6 priced stocks along one plan; dynamic programming computes the best value from every position</a:t>
            </a:r>
            <a:endParaRPr lang="en-US" sz="1600" dirty="0"/>
          </a:p>
          <a:p>
            <a:pPr marL="228600" indent="-228600">
              <a:spcAft>
                <a:spcPts val="800"/>
              </a:spcAft>
              <a:buSzPct val="100000"/>
              <a:buChar char="•"/>
            </a:pPr>
            <a:r>
              <a:rPr lang="en-US" sz="1600" dirty="0">
                <a:solidFill>
                  <a:schemeClr val="tx1"/>
                </a:solidFill>
              </a:rPr>
              <a:t>The value function's slope prices every position at once, and its differences value lumps</a:t>
            </a:r>
            <a:endParaRPr lang="en-US" sz="1600" dirty="0"/>
          </a:p>
          <a:p>
            <a:pPr marL="228600" indent="-228600">
              <a:spcAft>
                <a:spcPts val="800"/>
              </a:spcAft>
              <a:buSzPct val="100000"/>
              <a:buChar char="•"/>
            </a:pPr>
            <a:r>
              <a:rPr lang="en-US" sz="1600" dirty="0">
                <a:solidFill>
                  <a:schemeClr val="tx1"/>
                </a:solidFill>
              </a:rPr>
              <a:t>The best decisions form a rule, not a schedule: a rule responds to what happens</a:t>
            </a:r>
            <a:endParaRPr lang="en-US" sz="1600" dirty="0"/>
          </a:p>
          <a:p>
            <a:pPr marL="228600" indent="-228600">
              <a:spcAft>
                <a:spcPts val="800"/>
              </a:spcAft>
              <a:buSzPct val="100000"/>
              <a:buChar char="•"/>
            </a:pPr>
            <a:r>
              <a:rPr lang="en-US" sz="1600" dirty="0">
                <a:solidFill>
                  <a:schemeClr val="tx1"/>
                </a:solidFill>
              </a:rPr>
              <a:t>A rule needs the current position and a declared law of what may happen next, not a forecast of the path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TABLE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every position is valued</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4864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Along a plan (Chapters 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At every position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is computed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best plan from one start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value of every position and a best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Prices of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multipliers or costates along the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slopes of the value function, wherever the company stands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Lumps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priced only at the 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of the value function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Outside events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plan cannot respond; re-planning is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rule responds to what happens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Optimality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maximum principle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(Theorem 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Certificate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concavity (Theorem 6.3) or a direct argument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Bellman equation, with computable error bounds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limits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shape of the answer must be guessed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number of positions: the curse of dimensionality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MERIDIAN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Capability does not move as planned</a:t>
            </a:r>
            <a:endParaRPr lang="en-US" sz="3200" dirty="0"/>
          </a:p>
        </p:txBody>
      </p:sp>
      <p:graphicFrame>
        <p:nvGraphicFramePr>
          <p:cNvPr id="5" name="Chart" descr=""/>
          <p:cNvGraphicFramePr/>
          <p:nvPr/>
        </p:nvGraphicFramePr>
        <p:xfrm>
          <a:off x="548640" y="1691640"/>
          <a:ext cx="5769096"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683496" y="1691640"/>
            <a:ext cx="4959559"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Chapter 6 let capability drift to the floor of 55 and held it there, as if it moved exactly as planned</a:t>
            </a:r>
            <a:endParaRPr lang="en-US" sz="1700" dirty="0"/>
          </a:p>
          <a:p>
            <a:pPr marL="228600" indent="-228600">
              <a:spcAft>
                <a:spcPts val="800"/>
              </a:spcAft>
              <a:buSzPct val="100000"/>
              <a:buChar char="•"/>
            </a:pPr>
            <a:r>
              <a:rPr lang="en-US" sz="1700" dirty="0">
                <a:solidFill>
                  <a:schemeClr val="tx1"/>
                </a:solidFill>
              </a:rPr>
              <a:t>The record: half of all quarters end where planned, four in ten 0.75 points off, one in ten 1.5 points off</a:t>
            </a:r>
            <a:endParaRPr lang="en-US" sz="1700" dirty="0"/>
          </a:p>
          <a:p>
            <a:pPr marL="228600" indent="-228600">
              <a:spcAft>
                <a:spcPts val="800"/>
              </a:spcAft>
              <a:buSzPct val="100000"/>
              <a:buChar char="•"/>
            </a:pPr>
            <a:r>
              <a:rPr lang="en-US" sz="1700" dirty="0">
                <a:solidFill>
                  <a:schemeClr val="tx1"/>
                </a:solidFill>
              </a:rPr>
              <a:t>Holding exactly 55 then leaves capability short of the floor in 27.5 percent of quarters</a:t>
            </a:r>
            <a:endParaRPr lang="en-US" sz="1700" dirty="0"/>
          </a:p>
          <a:p>
            <a:pPr marL="228600" indent="-228600">
              <a:spcAft>
                <a:spcPts val="800"/>
              </a:spcAft>
              <a:buSzPct val="100000"/>
              <a:buChar char="•"/>
            </a:pPr>
            <a:r>
              <a:rPr lang="en-US" sz="1700" dirty="0">
                <a:solidFill>
                  <a:schemeClr val="tx1"/>
                </a:solidFill>
              </a:rPr>
              <a:t>A rule asks a different question each quarter: given where capability stands now, how much should Meridian hire?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DEFINITION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value of a position solves Bellman's equation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354072" y="1828800"/>
            <a:ext cx="7483552"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best a decision can earn now, plus the discounted expected value of the position it leads to</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value of a decision</a:t>
            </a:r>
            <a:r>
              <a:rPr lang="en-US" sz="1700" dirty="0">
                <a:solidFill>
                  <a:schemeClr val="bg1"/>
                </a:solidFill>
              </a:rPr>
              <a:t> Q_V(x, u): what it earns now plus the discounted expected value of where it leads</a:t>
            </a:r>
            <a:endParaRPr lang="en-US" sz="1700" dirty="0"/>
          </a:p>
          <a:p>
            <a:pPr marL="228600" indent="-228600">
              <a:spcAft>
                <a:spcPts val="800"/>
              </a:spcAft>
              <a:buSzPct val="100000"/>
              <a:buChar char="•"/>
            </a:pPr>
            <a:r>
              <a:rPr lang="en-US" sz="1700" dirty="0">
                <a:solidFill>
                  <a:schemeClr val="bg1"/>
                </a:solidFill>
              </a:rPr>
              <a:t>The </a:t>
            </a:r>
            <a:r>
              <a:rPr lang="en-US" sz="1700" b="1" dirty="0">
                <a:solidFill>
                  <a:schemeClr val="bg1"/>
                </a:solidFill>
              </a:rPr>
              <a:t>Bellman operator</a:t>
            </a:r>
            <a:r>
              <a:rPr lang="en-US" sz="1700" dirty="0">
                <a:solidFill>
                  <a:schemeClr val="bg1"/>
                </a:solidFill>
              </a:rPr>
              <a:t> T maps V to the best value of a decision at every state; a rule is </a:t>
            </a:r>
            <a:r>
              <a:rPr lang="en-US" sz="1700" b="1" dirty="0">
                <a:solidFill>
                  <a:schemeClr val="bg1"/>
                </a:solidFill>
              </a:rPr>
              <a:t>greedy</a:t>
            </a:r>
            <a:r>
              <a:rPr lang="en-US" sz="1700" dirty="0">
                <a:solidFill>
                  <a:schemeClr val="bg1"/>
                </a:solidFill>
              </a:rPr>
              <a:t> for V if it attains it</a:t>
            </a:r>
            <a:endParaRPr lang="en-US" sz="1700" dirty="0"/>
          </a:p>
          <a:p>
            <a:pPr marL="228600" indent="-228600">
              <a:spcAft>
                <a:spcPts val="800"/>
              </a:spcAft>
              <a:buSzPct val="100000"/>
              <a:buChar char="•"/>
            </a:pPr>
            <a:r>
              <a:rPr lang="en-US" sz="1700" dirty="0">
                <a:solidFill>
                  <a:schemeClr val="bg1"/>
                </a:solidFill>
              </a:rPr>
              <a:t>Over K periods it is a recursion, solved from the terminal value back to the first period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THEOREM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principle of optimality, as a board can use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7.1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Bellman Equation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Finite horizon.</a:t>
            </a:r>
            <a:r>
              <a:rPr lang="en-US" sz="1500" dirty="0">
                <a:solidFill>
                  <a:schemeClr val="tx1"/>
                </a:solidFill>
              </a:rPr>
              <a:t> The recursion gives the best value from every state; the rest of a best rule is best from wherever the company stands. Rules that use the past do no better</a:t>
            </a:r>
            <a:endParaRPr lang="en-US" sz="1500" dirty="0"/>
          </a:p>
          <a:p>
            <a:pPr marL="228600" indent="-228600">
              <a:spcAft>
                <a:spcPts val="600"/>
              </a:spcAft>
              <a:buSzPct val="100000"/>
              <a:buChar char="•"/>
            </a:pPr>
            <a:r>
              <a:rPr lang="en-US" sz="1500" b="1" dirty="0">
                <a:solidFill>
                  <a:schemeClr val="tx1"/>
                </a:solidFill>
              </a:rPr>
              <a:t>(ii) Open horizon.</a:t>
            </a:r>
            <a:r>
              <a:rPr lang="en-US" sz="1500" dirty="0">
                <a:solidFill>
                  <a:schemeClr val="tx1"/>
                </a:solidFill>
              </a:rPr>
              <a:t> The Bellman operator is a contraction by β: the value function is its only bounded fixed point</a:t>
            </a:r>
            <a:endParaRPr lang="en-US" sz="1500" dirty="0"/>
          </a:p>
          <a:p>
            <a:pPr marL="228600" indent="-228600">
              <a:spcAft>
                <a:spcPts val="600"/>
              </a:spcAft>
              <a:buSzPct val="100000"/>
              <a:buChar char="•"/>
            </a:pPr>
            <a:r>
              <a:rPr lang="en-US" sz="1500" b="1" dirty="0">
                <a:solidFill>
                  <a:schemeClr val="tx1"/>
                </a:solidFill>
              </a:rPr>
              <a:t>(iii) Rules.</a:t>
            </a:r>
            <a:r>
              <a:rPr lang="en-US" sz="1500" dirty="0">
                <a:solidFill>
                  <a:schemeClr val="tx1"/>
                </a:solidFill>
              </a:rPr>
              <a:t> A stationary rule is best from every state exactly when it is greedy for the value function</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decision needs the current position and the values of the positions it can lead to, not the history or a forecast</a:t>
            </a:r>
            <a:endParaRPr lang="en-US" sz="1600" dirty="0"/>
          </a:p>
          <a:p>
            <a:pPr marL="228600" indent="-228600">
              <a:spcAft>
                <a:spcPts val="800"/>
              </a:spcAft>
              <a:buSzPct val="100000"/>
              <a:buChar char="•"/>
            </a:pPr>
            <a:r>
              <a:rPr lang="en-US" sz="1600" dirty="0">
                <a:solidFill>
                  <a:schemeClr val="tx1"/>
                </a:solidFill>
              </a:rPr>
              <a:t>The value function is the durable asset: a ledger of what every position is worth</a:t>
            </a:r>
            <a:endParaRPr lang="en-US" sz="1600" dirty="0"/>
          </a:p>
          <a:p>
            <a:pPr marL="228600" indent="-228600">
              <a:spcAft>
                <a:spcPts val="800"/>
              </a:spcAft>
              <a:buSzPct val="100000"/>
              <a:buChar char="•"/>
            </a:pPr>
            <a:r>
              <a:rPr lang="en-US" sz="1600" dirty="0">
                <a:solidFill>
                  <a:schemeClr val="tx1"/>
                </a:solidFill>
              </a:rPr>
              <a:t>Each pass shrinks the largest error by at least β; at Meridian's quarterly β = 0.976, fewer than a hundred passes cut it tenfold</a:t>
            </a:r>
            <a:endParaRPr lang="en-US" sz="1600" dirty="0"/>
          </a:p>
          <a:p>
            <a:pPr marL="228600" indent="-228600">
              <a:spcAft>
                <a:spcPts val="800"/>
              </a:spcAft>
              <a:buSzPct val="100000"/>
              <a:buChar char="•"/>
            </a:pPr>
            <a:r>
              <a:rPr lang="en-US" sz="1600" dirty="0">
                <a:solidFill>
                  <a:schemeClr val="tx1"/>
                </a:solidFill>
              </a:rPr>
              <a:t>The board approves a rule, best from every position, including the ones no one planned for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PROPOSITION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Slopes price stocks; differences value lumps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Lumps.</a:t>
            </a:r>
            <a:r>
              <a:rPr lang="en-US" sz="1600" dirty="0">
                <a:solidFill>
                  <a:schemeClr val="tx1"/>
                </a:solidFill>
              </a:rPr>
              <a:t> Moving the company from x to x′ is worth V*(x′) − V*(x), each position with its own best continuation</a:t>
            </a:r>
            <a:endParaRPr lang="en-US" sz="1600" dirty="0"/>
          </a:p>
          <a:p>
            <a:pPr marL="228600" indent="-228600">
              <a:spcAft>
                <a:spcPts val="800"/>
              </a:spcAft>
              <a:buSzPct val="100000"/>
              <a:buChar char="•"/>
            </a:pPr>
            <a:r>
              <a:rPr lang="en-US" sz="1600" b="1" dirty="0">
                <a:solidFill>
                  <a:schemeClr val="tx1"/>
                </a:solidFill>
              </a:rPr>
              <a:t>Prices.</a:t>
            </a:r>
            <a:r>
              <a:rPr lang="en-US" sz="1600" dirty="0">
                <a:solidFill>
                  <a:schemeClr val="tx1"/>
                </a:solidFill>
              </a:rPr>
              <a:t> The slope prices each stock and satisfies the price recursion, Chapter 6's costate equation on a calendar, averaged over events</a:t>
            </a:r>
            <a:endParaRPr lang="en-US" sz="1600" dirty="0"/>
          </a:p>
          <a:p>
            <a:pPr marL="228600" indent="-228600">
              <a:spcAft>
                <a:spcPts val="800"/>
              </a:spcAft>
              <a:buSzPct val="100000"/>
              <a:buChar char="•"/>
            </a:pPr>
            <a:r>
              <a:rPr lang="en-US" sz="1600" b="1" dirty="0">
                <a:solidFill>
                  <a:schemeClr val="tx1"/>
                </a:solidFill>
              </a:rPr>
              <a:t>Concavity.</a:t>
            </a:r>
            <a:r>
              <a:rPr lang="en-US" sz="1600" dirty="0">
                <a:solidFill>
                  <a:schemeClr val="tx1"/>
                </a:solidFill>
              </a:rPr>
              <a:t> A stock's price falls as the stock grows</a:t>
            </a:r>
            <a:endParaRPr lang="en-US" sz="1600" dirty="0"/>
          </a:p>
          <a:p>
            <a:pPr marL="228600" indent="-228600">
              <a:spcAft>
                <a:spcPts val="800"/>
              </a:spcAft>
              <a:buSzPct val="100000"/>
              <a:buChar char="•"/>
            </a:pPr>
            <a:r>
              <a:rPr lang="en-US" sz="1600" dirty="0">
                <a:solidFill>
                  <a:schemeClr val="tx1"/>
                </a:solidFill>
              </a:rPr>
              <a:t>Meridian: a point is worth </a:t>
            </a:r>
            <a:r>
              <a:rPr lang="en-US" sz="1600" b="1" dirty="0">
                <a:solidFill>
                  <a:schemeClr val="tx1"/>
                </a:solidFill>
              </a:rPr>
              <a:t>$3.9m</a:t>
            </a:r>
            <a:r>
              <a:rPr lang="en-US" sz="1600" dirty="0">
                <a:solidFill>
                  <a:schemeClr val="tx1"/>
                </a:solidFill>
              </a:rPr>
              <a:t> between 55 and 57.2, the cost of a point net of a quarter's decay; </a:t>
            </a:r>
            <a:r>
              <a:rPr lang="en-US" sz="1600" b="1" dirty="0">
                <a:solidFill>
                  <a:schemeClr val="tx1"/>
                </a:solidFill>
              </a:rPr>
              <a:t>$3.7m</a:t>
            </a:r>
            <a:r>
              <a:rPr lang="en-US" sz="1600" dirty="0">
                <a:solidFill>
                  <a:schemeClr val="tx1"/>
                </a:solidFill>
              </a:rPr>
              <a:t> at 58; </a:t>
            </a:r>
            <a:r>
              <a:rPr lang="en-US" sz="1600" b="1" dirty="0">
                <a:solidFill>
                  <a:schemeClr val="tx1"/>
                </a:solidFill>
              </a:rPr>
              <a:t>$7.2m</a:t>
            </a:r>
            <a:r>
              <a:rPr lang="en-US" sz="1600" dirty="0">
                <a:solidFill>
                  <a:schemeClr val="tx1"/>
                </a:solidFill>
              </a:rPr>
              <a:t> at 53</a:t>
            </a:r>
            <a:endParaRPr lang="en-US" sz="1600" dirty="0"/>
          </a:p>
          <a:p>
            <a:pPr marL="228600" indent="-228600">
              <a:spcAft>
                <a:spcPts val="800"/>
              </a:spcAft>
              <a:buSzPct val="100000"/>
              <a:buChar char="•"/>
            </a:pPr>
            <a:r>
              <a:rPr lang="en-US" sz="1600" dirty="0">
                <a:solidFill>
                  <a:schemeClr val="tx1"/>
                </a:solidFill>
              </a:rPr>
              <a:t>The engineering team is worth </a:t>
            </a:r>
            <a:r>
              <a:rPr lang="en-US" sz="1600" b="1" dirty="0">
                <a:solidFill>
                  <a:schemeClr val="tx1"/>
                </a:solidFill>
              </a:rPr>
              <a:t>$23.8m</a:t>
            </a:r>
            <a:r>
              <a:rPr lang="en-US" sz="1600" dirty="0">
                <a:solidFill>
                  <a:schemeClr val="tx1"/>
                </a:solidFill>
              </a:rPr>
              <a:t>, between $18.4m and $36.0m at the prices at either end</a:t>
            </a:r>
            <a:endParaRPr lang="en-US" sz="1600" dirty="0"/>
          </a:p>
        </p:txBody>
      </p:sp>
      <p:pic>
        <p:nvPicPr>
          <p:cNvPr id="6" name="Figure" descr="Figure 7.1: the price of a capability point and the best rule">    </p:cNvPr>
          <p:cNvPicPr>
            <a:picLocks noChangeAspect="1"/>
          </p:cNvPicPr>
          <p:nvPr/>
        </p:nvPicPr>
        <p:blipFill>
          <a:blip r:embed="rId1"/>
          <a:stretch>
            <a:fillRect/>
          </a:stretch>
        </p:blipFill>
        <p:spPr>
          <a:xfrm>
            <a:off x="5169286" y="2044063"/>
            <a:ext cx="6473769" cy="3208787"/>
          </a:xfrm>
          <a:prstGeom prst="rect">
            <a:avLst/>
          </a:prstGeom>
        </p:spPr>
      </p:pic>
      <p:sp>
        <p:nvSpPr>
          <p:cNvPr id="7" name="Caption"/>
          <p:cNvSpPr txBox="1"/>
          <p:nvPr/>
        </p:nvSpPr>
        <p:spPr>
          <a:xfrm>
            <a:off x="5169286" y="532600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7.1. (a) The price of a capability point, the slope of the value function. (b) The best rule as planned capability after hiring: at the cap below 54.6, the target 55.75, no hiring above 57.2.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§7.3 · THEOREM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rule tops capability up to a target</a:t>
            </a:r>
            <a:endParaRPr lang="en-US" sz="3200" dirty="0"/>
          </a:p>
        </p:txBody>
      </p:sp>
      <p:sp>
        <p:nvSpPr>
          <p:cNvPr id="5" name="Stat card"/>
          <p:cNvSpPr/>
          <p:nvPr/>
        </p:nvSpPr>
        <p:spPr>
          <a:xfrm>
            <a:off x="548640" y="1691640"/>
            <a:ext cx="3515258" cy="1965960"/>
          </a:xfrm>
          <a:prstGeom prst="roundRect">
            <a:avLst>
              <a:gd name="adj" fmla="val 3721"/>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12.3%</a:t>
            </a:r>
            <a:endParaRPr lang="en-US" sz="4400" dirty="0"/>
          </a:p>
        </p:txBody>
      </p:sp>
      <p:sp>
        <p:nvSpPr>
          <p:cNvPr id="7" name="Stat label"/>
          <p:cNvSpPr txBox="1"/>
          <p:nvPr/>
        </p:nvSpPr>
        <p:spPr>
          <a:xfrm>
            <a:off x="685800"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critical ratio: holding a planned point, $0.19m a quarter, against a point short next quarter, $1.56m today</a:t>
            </a:r>
            <a:endParaRPr lang="en-US" sz="1400" dirty="0"/>
          </a:p>
        </p:txBody>
      </p:sp>
      <p:sp>
        <p:nvSpPr>
          <p:cNvPr id="8" name="Stat card"/>
          <p:cNvSpPr/>
          <p:nvPr/>
        </p:nvSpPr>
        <p:spPr>
          <a:xfrm>
            <a:off x="4338218" y="1691640"/>
            <a:ext cx="3515258" cy="1965960"/>
          </a:xfrm>
          <a:prstGeom prst="roundRect">
            <a:avLst>
              <a:gd name="adj" fmla="val 3721"/>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0.75</a:t>
            </a:r>
            <a:endParaRPr lang="en-US" sz="4400" dirty="0"/>
          </a:p>
        </p:txBody>
      </p:sp>
      <p:sp>
        <p:nvSpPr>
          <p:cNvPr id="10" name="Stat label"/>
          <p:cNvSpPr txBox="1"/>
          <p:nvPr/>
        </p:nvSpPr>
        <p:spPr>
          <a:xfrm>
            <a:off x="4475378"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margin: 5% of quarters lose more than 0.75 points, 25% lose 0.75 or more</a:t>
            </a:r>
            <a:endParaRPr lang="en-US" sz="1400" dirty="0"/>
          </a:p>
        </p:txBody>
      </p:sp>
      <p:sp>
        <p:nvSpPr>
          <p:cNvPr id="11" name="Stat card"/>
          <p:cNvSpPr/>
          <p:nvPr/>
        </p:nvSpPr>
        <p:spPr>
          <a:xfrm>
            <a:off x="8127797" y="1691640"/>
            <a:ext cx="3515258" cy="1965960"/>
          </a:xfrm>
          <a:prstGeom prst="roundRect">
            <a:avLst>
              <a:gd name="adj" fmla="val 3721"/>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13" name="Stat label"/>
          <p:cNvSpPr txBox="1"/>
          <p:nvPr/>
        </p:nvSpPr>
        <p:spPr>
          <a:xfrm>
            <a:off x="8264957" y="2697480"/>
            <a:ext cx="3240938" cy="886968"/>
          </a:xfrm>
          <a:prstGeom prst="rect">
            <a:avLst/>
          </a:prstGeom>
          <a:noFill/>
          <a:ln/>
        </p:spPr>
        <p:txBody>
          <a:bodyPr wrap="square" lIns="0" tIns="0" rIns="0" bIns="0" rtlCol="0" anchor="t"/>
          <a:lstStyle/>
          <a:p>
            <a:pPr algn="ctr" indent="0" marL="0">
              <a:buNone/>
            </a:pPr>
            <a:r>
              <a:rPr lang="en-US" sz="1400" dirty="0">
                <a:solidFill>
                  <a:schemeClr val="bg2"/>
                </a:solidFill>
              </a:rPr>
              <a:t>target for planned capability: hire at the cap below 54.6, nothing above 57.2</a:t>
            </a:r>
            <a:endParaRPr lang="en-US" sz="1400" dirty="0"/>
          </a:p>
        </p:txBody>
      </p:sp>
      <p:sp>
        <p:nvSpPr>
          <p:cNvPr id="14" name="Bullets"/>
          <p:cNvSpPr txBox="1"/>
          <p:nvPr/>
        </p:nvSpPr>
        <p:spPr>
          <a:xfrm>
            <a:off x="548640" y="3977640"/>
            <a:ext cx="11094415" cy="2194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7.2.</a:t>
            </a:r>
            <a:r>
              <a:rPr lang="en-US" sz="1700" dirty="0">
                <a:solidFill>
                  <a:schemeClr val="tx1"/>
                </a:solidFill>
              </a:rPr>
              <a:t> Monotone rules rise with the state; yes-or-no decisions become thresholds; a maintained stock gets a target rule</a:t>
            </a:r>
            <a:endParaRPr lang="en-US" sz="1700" dirty="0"/>
          </a:p>
          <a:p>
            <a:pPr marL="228600" indent="-228600">
              <a:spcAft>
                <a:spcPts val="800"/>
              </a:spcAft>
              <a:buSzPct val="100000"/>
              <a:buChar char="•"/>
            </a:pPr>
            <a:r>
              <a:rPr lang="en-US" sz="1700" dirty="0">
                <a:solidFill>
                  <a:schemeClr val="tx1"/>
                </a:solidFill>
              </a:rPr>
              <a:t>The margin is the smallest m at which the chance of losing more than m in a period does not exceed k(1 − αβ)/(βq)</a:t>
            </a:r>
            <a:endParaRPr lang="en-US" sz="1700" dirty="0"/>
          </a:p>
          <a:p>
            <a:pPr marL="228600" indent="-228600">
              <a:spcAft>
                <a:spcPts val="800"/>
              </a:spcAft>
              <a:buSzPct val="100000"/>
              <a:buChar char="•"/>
            </a:pPr>
            <a:r>
              <a:rPr lang="en-US" sz="1700" dirty="0">
                <a:solidFill>
                  <a:schemeClr val="tx1"/>
                </a:solidFill>
              </a:rPr>
              <a:t>The newsvendor's critical fractile, except that a unit not needed is carried over, net of decay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PROPOSITION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rule beats a plan when the future is uncertain</a:t>
            </a:r>
            <a:endParaRPr lang="en-US" sz="3200" dirty="0"/>
          </a:p>
        </p:txBody>
      </p:sp>
      <p:sp>
        <p:nvSpPr>
          <p:cNvPr id="5" name="Column card"/>
          <p:cNvSpPr/>
          <p:nvPr/>
        </p:nvSpPr>
        <p:spPr>
          <a:xfrm>
            <a:off x="548640" y="1691640"/>
            <a:ext cx="3515258" cy="2880360"/>
          </a:xfrm>
          <a:prstGeom prst="roundRect">
            <a:avLst>
              <a:gd name="adj" fmla="val 2540"/>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Best plan fixed today</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$254.7m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Meridian: cost of hiring and delay from 58</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the project: build now, expected value</a:t>
            </a:r>
            <a:endParaRPr lang="en-US" sz="1300" dirty="0"/>
          </a:p>
        </p:txBody>
      </p:sp>
      <p:sp>
        <p:nvSpPr>
          <p:cNvPr id="11" name="Column card"/>
          <p:cNvSpPr/>
          <p:nvPr/>
        </p:nvSpPr>
        <p:spPr>
          <a:xfrm>
            <a:off x="4338218" y="1691640"/>
            <a:ext cx="3515258" cy="2880360"/>
          </a:xfrm>
          <a:prstGeom prst="roundRect">
            <a:avLst>
              <a:gd name="adj" fmla="val 2540"/>
            </a:avLst>
          </a:prstGeom>
          <a:solidFill>
            <a:schemeClr val="bg2"/>
          </a:solidFill>
          <a:ln w="9525">
            <a:solidFill>
              <a:srgbClr val="C4CBD8"/>
            </a:solidFill>
            <a:prstDash val="solid"/>
          </a:ln>
        </p:spPr>
      </p:sp>
      <p:sp>
        <p:nvSpPr>
          <p:cNvPr id="12" name="Text 9"/>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Re-plan each period</a:t>
            </a:r>
            <a:endParaRPr lang="en-US" sz="1800" dirty="0"/>
          </a:p>
        </p:txBody>
      </p:sp>
      <p:sp>
        <p:nvSpPr>
          <p:cNvPr id="13" name="Text 10"/>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$230.8m</a:t>
            </a:r>
            <a:endParaRPr lang="en-US" sz="3200" dirty="0"/>
          </a:p>
        </p:txBody>
      </p:sp>
      <p:sp>
        <p:nvSpPr>
          <p:cNvPr id="14" name="Text 11"/>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recovers the best rule for Meridian</a:t>
            </a:r>
            <a:endParaRPr lang="en-US" sz="1300" dirty="0"/>
          </a:p>
        </p:txBody>
      </p:sp>
      <p:sp>
        <p:nvSpPr>
          <p:cNvPr id="15" name="Text 12"/>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$5.0m</a:t>
            </a:r>
            <a:endParaRPr lang="en-US" sz="3200" dirty="0"/>
          </a:p>
        </p:txBody>
      </p:sp>
      <p:sp>
        <p:nvSpPr>
          <p:cNvPr id="16" name="Text 13"/>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builds now too: no plan can use the news</a:t>
            </a:r>
            <a:endParaRPr lang="en-US" sz="1300" dirty="0"/>
          </a:p>
        </p:txBody>
      </p:sp>
      <p:sp>
        <p:nvSpPr>
          <p:cNvPr id="17" name="Column card"/>
          <p:cNvSpPr/>
          <p:nvPr/>
        </p:nvSpPr>
        <p:spPr>
          <a:xfrm>
            <a:off x="8127797" y="1691640"/>
            <a:ext cx="3515258" cy="2880360"/>
          </a:xfrm>
          <a:prstGeom prst="roundRect">
            <a:avLst>
              <a:gd name="adj" fmla="val 2540"/>
            </a:avLst>
          </a:prstGeom>
          <a:solidFill>
            <a:schemeClr val="tx1"/>
          </a:solidFill>
          <a:ln w="9525">
            <a:solidFill>
              <a:srgbClr val="0F1E3D"/>
            </a:solidFill>
            <a:prstDash val="solid"/>
          </a:ln>
        </p:spPr>
      </p:sp>
      <p:sp>
        <p:nvSpPr>
          <p:cNvPr id="18" name="Text 15"/>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Best rule</a:t>
            </a:r>
            <a:endParaRPr lang="en-US" sz="1800" dirty="0"/>
          </a:p>
        </p:txBody>
      </p:sp>
      <p:sp>
        <p:nvSpPr>
          <p:cNvPr id="19" name="Text 16"/>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$230.8m</a:t>
            </a:r>
            <a:endParaRPr lang="en-US" sz="3200" dirty="0"/>
          </a:p>
        </p:txBody>
      </p:sp>
      <p:sp>
        <p:nvSpPr>
          <p:cNvPr id="20" name="Text 17"/>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top up to 55.75 each quarter</a:t>
            </a:r>
            <a:endParaRPr lang="en-US" sz="1300" dirty="0"/>
          </a:p>
        </p:txBody>
      </p:sp>
      <p:sp>
        <p:nvSpPr>
          <p:cNvPr id="21" name="Text 18"/>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$22.7m</a:t>
            </a:r>
            <a:endParaRPr lang="en-US" sz="3200" dirty="0"/>
          </a:p>
        </p:txBody>
      </p:sp>
      <p:sp>
        <p:nvSpPr>
          <p:cNvPr id="22" name="Text 19"/>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wait a year; build only on good news</a:t>
            </a:r>
            <a:endParaRPr lang="en-US" sz="1300" dirty="0"/>
          </a:p>
        </p:txBody>
      </p:sp>
      <p:sp>
        <p:nvSpPr>
          <p:cNvPr id="23"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7.2.</a:t>
            </a:r>
            <a:r>
              <a:rPr lang="en-US" sz="1600" dirty="0">
                <a:solidFill>
                  <a:schemeClr val="tx1"/>
                </a:solidFill>
              </a:rPr>
              <a:t> The best rule is at least as good as re-planning, which is at least as good as the best plan fixed today; the gap between rule and plan is the value of information</a:t>
            </a:r>
            <a:endParaRPr lang="en-US" sz="1600" dirty="0"/>
          </a:p>
          <a:p>
            <a:pPr marL="228600" indent="-228600">
              <a:spcAft>
                <a:spcPts val="800"/>
              </a:spcAft>
              <a:buSzPct val="100000"/>
              <a:buChar char="•"/>
            </a:pPr>
            <a:r>
              <a:rPr lang="en-US" sz="1600" dirty="0">
                <a:solidFill>
                  <a:schemeClr val="tx1"/>
                </a:solidFill>
              </a:rPr>
              <a:t>Meridian's value of responding is $23.9m. The project ($100m, worth $150m or $60m next year) shows where re-planning fails: it values the future as if nothing will be learned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TABLE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ways to compute values and rules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Exact</a:t>
            </a:r>
            <a:endParaRPr lang="en-US" sz="1300" dirty="0"/>
          </a:p>
        </p:txBody>
      </p:sp>
      <p:sp>
        <p:nvSpPr>
          <p:cNvPr id="7" name="Card head"/>
          <p:cNvSpPr txBox="1"/>
          <p:nvPr/>
        </p:nvSpPr>
        <p:spPr>
          <a:xfrm>
            <a:off x="731520"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Backward induction</a:t>
            </a:r>
            <a:endParaRPr lang="en-US" sz="1700" dirty="0"/>
          </a:p>
        </p:txBody>
      </p:sp>
      <p:sp>
        <p:nvSpPr>
          <p:cNvPr id="8" name="Card text"/>
          <p:cNvSpPr txBox="1"/>
          <p:nvPr/>
        </p:nvSpPr>
        <p:spPr>
          <a:xfrm>
            <a:off x="731520"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A finite horizon, period by period from the end.</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1" name="Card head"/>
          <p:cNvSpPr txBox="1"/>
          <p:nvPr/>
        </p:nvSpPr>
        <p:spPr>
          <a:xfrm>
            <a:off x="4521098"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Value iteration</a:t>
            </a:r>
            <a:endParaRPr lang="en-US" sz="1700" dirty="0"/>
          </a:p>
        </p:txBody>
      </p:sp>
      <p:sp>
        <p:nvSpPr>
          <p:cNvPr id="12" name="Card text"/>
          <p:cNvSpPr txBox="1"/>
          <p:nvPr/>
        </p:nvSpPr>
        <p:spPr>
          <a:xfrm>
            <a:off x="4521098"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Repeated sweeps; the error shrinks by β a sweep, with a stopping bound.</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Open horizon</a:t>
            </a:r>
            <a:endParaRPr lang="en-US" sz="1300" dirty="0"/>
          </a:p>
        </p:txBody>
      </p:sp>
      <p:sp>
        <p:nvSpPr>
          <p:cNvPr id="15" name="Card head"/>
          <p:cNvSpPr txBox="1"/>
          <p:nvPr/>
        </p:nvSpPr>
        <p:spPr>
          <a:xfrm>
            <a:off x="8310677" y="21488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Policy iteration</a:t>
            </a:r>
            <a:endParaRPr lang="en-US" sz="1700" dirty="0"/>
          </a:p>
        </p:txBody>
      </p:sp>
      <p:sp>
        <p:nvSpPr>
          <p:cNvPr id="16" name="Card text"/>
          <p:cNvSpPr txBox="1"/>
          <p:nvPr/>
        </p:nvSpPr>
        <p:spPr>
          <a:xfrm>
            <a:off x="8310677" y="2779776"/>
            <a:ext cx="3149498" cy="566928"/>
          </a:xfrm>
          <a:prstGeom prst="rect">
            <a:avLst/>
          </a:prstGeom>
          <a:noFill/>
          <a:ln/>
        </p:spPr>
        <p:txBody>
          <a:bodyPr wrap="square" lIns="0" tIns="0" rIns="0" bIns="0" rtlCol="0" anchor="t"/>
          <a:lstStyle/>
          <a:p>
            <a:pPr indent="0" marL="0">
              <a:buNone/>
            </a:pPr>
            <a:r>
              <a:rPr lang="en-US" sz="1400" dirty="0">
                <a:solidFill>
                  <a:schemeClr val="tx2"/>
                </a:solidFill>
              </a:rPr>
              <a:t>Evaluate a rule exactly, then improve it; never worse, finite with finite sets.</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I's solvers</a:t>
            </a:r>
            <a:endParaRPr lang="en-US" sz="1300" dirty="0"/>
          </a:p>
        </p:txBody>
      </p:sp>
      <p:sp>
        <p:nvSpPr>
          <p:cNvPr id="19" name="Card head"/>
          <p:cNvSpPr txBox="1"/>
          <p:nvPr/>
        </p:nvSpPr>
        <p:spPr>
          <a:xfrm>
            <a:off x="731520"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Linear programming</a:t>
            </a:r>
            <a:endParaRPr lang="en-US" sz="1700" dirty="0"/>
          </a:p>
        </p:txBody>
      </p:sp>
      <p:sp>
        <p:nvSpPr>
          <p:cNvPr id="20" name="Card text"/>
          <p:cNvSpPr txBox="1"/>
          <p:nvPr/>
        </p:nvSpPr>
        <p:spPr>
          <a:xfrm>
            <a:off x="731520"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The value function is the least V with V ≥ TV.</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Scale</a:t>
            </a:r>
            <a:endParaRPr lang="en-US" sz="1300" dirty="0"/>
          </a:p>
        </p:txBody>
      </p:sp>
      <p:sp>
        <p:nvSpPr>
          <p:cNvPr id="23" name="Card head"/>
          <p:cNvSpPr txBox="1"/>
          <p:nvPr/>
        </p:nvSpPr>
        <p:spPr>
          <a:xfrm>
            <a:off x="4521098"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Approximation</a:t>
            </a:r>
            <a:endParaRPr lang="en-US" sz="1700" dirty="0"/>
          </a:p>
        </p:txBody>
      </p:sp>
      <p:sp>
        <p:nvSpPr>
          <p:cNvPr id="24" name="Card text"/>
          <p:cNvSpPr txBox="1"/>
          <p:nvPr/>
        </p:nvSpPr>
        <p:spPr>
          <a:xfrm>
            <a:off x="4521098"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Grids and fitted values for many stocks; errors amplified by 1/(1 − β).</a:t>
            </a:r>
            <a:endParaRPr lang="en-US" sz="14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14</a:t>
            </a:r>
            <a:endParaRPr lang="en-US" sz="1300" dirty="0"/>
          </a:p>
        </p:txBody>
      </p:sp>
      <p:sp>
        <p:nvSpPr>
          <p:cNvPr id="27" name="Card head"/>
          <p:cNvSpPr txBox="1"/>
          <p:nvPr/>
        </p:nvSpPr>
        <p:spPr>
          <a:xfrm>
            <a:off x="8310677" y="4206240"/>
            <a:ext cx="3149498" cy="5577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Learning from experience</a:t>
            </a:r>
            <a:endParaRPr lang="en-US" sz="1700" dirty="0"/>
          </a:p>
        </p:txBody>
      </p:sp>
      <p:sp>
        <p:nvSpPr>
          <p:cNvPr id="28" name="Card text"/>
          <p:cNvSpPr txBox="1"/>
          <p:nvPr/>
        </p:nvSpPr>
        <p:spPr>
          <a:xfrm>
            <a:off x="8310677" y="4837176"/>
            <a:ext cx="3149498" cy="566928"/>
          </a:xfrm>
          <a:prstGeom prst="rect">
            <a:avLst/>
          </a:prstGeom>
          <a:noFill/>
          <a:ln/>
        </p:spPr>
        <p:txBody>
          <a:bodyPr wrap="square" lIns="0" tIns="0" rIns="0" bIns="0" rtlCol="0" anchor="t"/>
          <a:lstStyle/>
          <a:p>
            <a:pPr indent="0" marL="0">
              <a:buNone/>
            </a:pPr>
            <a:r>
              <a:rPr lang="en-US" sz="1400" dirty="0">
                <a:solidFill>
                  <a:schemeClr val="tx2"/>
                </a:solidFill>
              </a:rPr>
              <a:t>A rule without a declared law, from data and exploration.</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With n stocks on a grid of G levels each there are G</a:t>
            </a:r>
            <a:r>
              <a:rPr lang="en-US" sz="1600" i="1" baseline="30000" dirty="0">
                <a:solidFill>
                  <a:schemeClr val="accent2"/>
                </a:solidFill>
              </a:rPr>
              <a:t>n</a:t>
            </a:r>
            <a:r>
              <a:rPr lang="en-US" sz="1600" i="1" dirty="0">
                <a:solidFill>
                  <a:schemeClr val="accent2"/>
                </a:solidFill>
              </a:rPr>
              <a:t> positions: the curse of dimensionality (Proposition 7.3).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THEOREM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Error bounds certify the computation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Value iteration:</a:t>
            </a:r>
            <a:r>
              <a:rPr lang="en-US" sz="1600" dirty="0">
                <a:solidFill>
                  <a:schemeClr val="tx1"/>
                </a:solidFill>
              </a:rPr>
              <a:t> once two sweeps differ by at most d, the values are within βd/(1 − β). Meridian's run stops after 813 sweeps</a:t>
            </a:r>
            <a:endParaRPr lang="en-US" sz="1600" dirty="0"/>
          </a:p>
          <a:p>
            <a:pPr marL="228600" indent="-228600">
              <a:spcAft>
                <a:spcPts val="800"/>
              </a:spcAft>
              <a:buSzPct val="100000"/>
              <a:buChar char="•"/>
            </a:pPr>
            <a:r>
              <a:rPr lang="en-US" sz="1600" b="1" dirty="0">
                <a:solidFill>
                  <a:schemeClr val="tx1"/>
                </a:solidFill>
              </a:rPr>
              <a:t>Policy iteration</a:t>
            </a:r>
            <a:r>
              <a:rPr lang="en-US" sz="1600" dirty="0">
                <a:solidFill>
                  <a:schemeClr val="tx1"/>
                </a:solidFill>
              </a:rPr>
              <a:t> from Volume I's rule, hold 58: three evaluations</a:t>
            </a:r>
            <a:endParaRPr lang="en-US" sz="1600" dirty="0"/>
          </a:p>
          <a:p>
            <a:pPr marL="228600" indent="-228600">
              <a:spcAft>
                <a:spcPts val="800"/>
              </a:spcAft>
              <a:buSzPct val="100000"/>
              <a:buChar char="•"/>
            </a:pPr>
            <a:r>
              <a:rPr lang="en-US" sz="1600" b="1" dirty="0">
                <a:solidFill>
                  <a:schemeClr val="tx1"/>
                </a:solidFill>
              </a:rPr>
              <a:t>Any values</a:t>
            </a:r>
            <a:r>
              <a:rPr lang="en-US" sz="1600" dirty="0">
                <a:solidFill>
                  <a:schemeClr val="tx1"/>
                </a:solidFill>
              </a:rPr>
              <a:t> lie within their Bellman residual over 1 − β: Meridian's residual, 0.0044, puts them within $0.19m</a:t>
            </a:r>
            <a:endParaRPr lang="en-US" sz="1600" dirty="0"/>
          </a:p>
          <a:p>
            <a:pPr marL="228600" indent="-228600">
              <a:spcAft>
                <a:spcPts val="800"/>
              </a:spcAft>
              <a:buSzPct val="100000"/>
              <a:buChar char="•"/>
            </a:pPr>
            <a:r>
              <a:rPr lang="en-US" sz="1600" b="1" dirty="0">
                <a:solidFill>
                  <a:schemeClr val="tx1"/>
                </a:solidFill>
              </a:rPr>
              <a:t>Approximation</a:t>
            </a:r>
            <a:r>
              <a:rPr lang="en-US" sz="1600" dirty="0">
                <a:solidFill>
                  <a:schemeClr val="tx1"/>
                </a:solidFill>
              </a:rPr>
              <a:t> amplifies errors by the effective horizon: a coarse grid loses $2.1m (guaranteed under $22m); a quadratic that cannot bend at the floor loses $82m</a:t>
            </a:r>
            <a:endParaRPr lang="en-US" sz="1600" dirty="0"/>
          </a:p>
        </p:txBody>
      </p:sp>
      <p:pic>
        <p:nvPicPr>
          <p:cNvPr id="6" name="Figure" descr="Figure 7.2: computing the value function">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7.2. (a) Value iteration from zero with its a priori and stopping bounds. (b) Policy iteration from Volume I's rule; value iteration from the same start creeps.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much margin above the capability floor?</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much margin, and how to hold it?</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Capability ends 0.75 points off plan in four quarters in ten, 1.5 points off in one in ten.</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does it cost?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Below 55 the build slows by a fifth per point short: $1.6m for a point short for a quarter.</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Volume I's budget be retired?</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It pays the rent on 58 every quarter, whatever happens.</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Chapter 6 told the board to stop defending 58 and hold the floor of 55. Two facts it left out have arrived.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program, then solve it</a:t>
            </a:r>
            <a:endParaRPr lang="en-US" sz="3200" dirty="0"/>
          </a:p>
        </p:txBody>
      </p:sp>
      <p:pic>
        <p:nvPicPr>
          <p:cNvPr id="5" name="Equation" descr="Equation: V(c) \;=\; \max_{0 \le h \le 2.5} \Bigl\{ -4h \;-\; 1.6\,(55 - c)^{+} \;+\; \beta \sum_{w} p(w)\, V(0.975c + h - w) \Bigr\}">    </p:cNvPr>
          <p:cNvPicPr>
            <a:picLocks noChangeAspect="1"/>
          </p:cNvPicPr>
          <p:nvPr/>
        </p:nvPicPr>
        <p:blipFill>
          <a:blip r:embed="rId1"/>
          <a:stretch>
            <a:fillRect/>
          </a:stretch>
        </p:blipFill>
        <p:spPr>
          <a:xfrm>
            <a:off x="945563" y="1828800"/>
            <a:ext cx="10300570"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points hired h at $4m each, unplanned loss w by the record, β = 1.1</a:t>
            </a:r>
            <a:r>
              <a:rPr lang="en-US" sz="1600" i="1" baseline="30000" dirty="0">
                <a:solidFill>
                  <a:schemeClr val="accent4"/>
                </a:solidFill>
              </a:rPr>
              <a:t>−1/4</a:t>
            </a:r>
            <a:r>
              <a:rPr lang="en-US" sz="1600" i="1" dirty="0">
                <a:solidFill>
                  <a:schemeClr val="accent4"/>
                </a:solidFill>
              </a:rPr>
              <a:t> = 0.976 a quarter</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in planned capability y = 0.975c + h, Theorem 7.2(ii) applies: the value is concave and the best rule a target</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value iteration certifies every value within a dollar in 813 sweeps; policy iteration needs three evaluations</a:t>
            </a:r>
            <a:endParaRPr lang="en-US" sz="1700" dirty="0"/>
          </a:p>
          <a:p>
            <a:pPr marL="228600" indent="-228600">
              <a:spcAft>
                <a:spcPts val="800"/>
              </a:spcAft>
              <a:buSzPct val="100000"/>
              <a:buChar char="•"/>
            </a:pPr>
            <a:r>
              <a:rPr lang="en-US" sz="1700" b="1" dirty="0">
                <a:solidFill>
                  <a:schemeClr val="bg1"/>
                </a:solidFill>
              </a:rPr>
              <a:t>The rule:</a:t>
            </a:r>
            <a:r>
              <a:rPr lang="en-US" sz="1700" dirty="0">
                <a:solidFill>
                  <a:schemeClr val="bg1"/>
                </a:solidFill>
              </a:rPr>
              <a:t> bring planned capability to 55.75 each quarter; hire at the cap below 54.6, nothing above 57.2</a:t>
            </a:r>
            <a:endParaRPr lang="en-US" sz="1700" dirty="0"/>
          </a:p>
          <a:p>
            <a:pPr marL="228600" indent="-228600">
              <a:spcAft>
                <a:spcPts val="800"/>
              </a:spcAft>
              <a:buSzPct val="100000"/>
              <a:buChar char="•"/>
            </a:pPr>
            <a:r>
              <a:rPr lang="en-US" sz="1700" dirty="0">
                <a:solidFill>
                  <a:schemeClr val="bg1"/>
                </a:solidFill>
              </a:rPr>
              <a:t>The recursion, not the formula, certifies the target: the formula's condition fails in the extreme quarters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TABLE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Rules against plans, from capability 58</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04472"/>
                <a:gridCol w="1142772"/>
                <a:gridCol w="1285619"/>
                <a:gridCol w="1238003"/>
                <a:gridCol w="1142772"/>
                <a:gridCol w="1238003"/>
                <a:gridCol w="1142772"/>
              </a:tblGrid>
              <a:tr h="43891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Rule or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Margin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Short (%)</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Hiring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Extra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3891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rule: top up to 55.75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Re-plan each quarter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6's 55,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222.1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Cover the worst quarter: 56.5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58, as a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15.4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Best committed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244.9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23.9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3891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Volume I's budget: rent on 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492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components may not add because of rounding. Margin: planned capability above 55. Short: long-run share of quarters that start below 55. *In the long run; the schedule starts lower.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Replace the budget with a rule: $25.6m less than Volume I's budget, $6.6m less than holding the floor exactly.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5–6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margin rests on declarations the board owns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If every quarter short stopped the build, the margin would be </a:t>
            </a:r>
            <a:r>
              <a:rPr lang="en-US" sz="1600" b="1" dirty="0">
                <a:solidFill>
                  <a:schemeClr val="tx1"/>
                </a:solidFill>
              </a:rPr>
              <a:t>1.5</a:t>
            </a:r>
            <a:r>
              <a:rPr lang="en-US" sz="1600" dirty="0">
                <a:solidFill>
                  <a:schemeClr val="tx1"/>
                </a:solidFill>
              </a:rPr>
              <a:t> points</a:t>
            </a:r>
            <a:endParaRPr lang="en-US" sz="1600" dirty="0"/>
          </a:p>
          <a:p>
            <a:pPr marL="228600" indent="-228600">
              <a:spcAft>
                <a:spcPts val="800"/>
              </a:spcAft>
              <a:buSzPct val="100000"/>
              <a:buChar char="•"/>
            </a:pPr>
            <a:r>
              <a:rPr lang="en-US" sz="1600" dirty="0">
                <a:solidFill>
                  <a:schemeClr val="tx1"/>
                </a:solidFill>
              </a:rPr>
              <a:t>Delay worth $4m or $16m a quarter: </a:t>
            </a:r>
            <a:r>
              <a:rPr lang="en-US" sz="1600" b="1" dirty="0">
                <a:solidFill>
                  <a:schemeClr val="tx1"/>
                </a:solidFill>
              </a:rPr>
              <a:t>0.70</a:t>
            </a:r>
            <a:r>
              <a:rPr lang="en-US" sz="1600" dirty="0">
                <a:solidFill>
                  <a:schemeClr val="tx1"/>
                </a:solidFill>
              </a:rPr>
              <a:t> or </a:t>
            </a:r>
            <a:r>
              <a:rPr lang="en-US" sz="1600" b="1" dirty="0">
                <a:solidFill>
                  <a:schemeClr val="tx1"/>
                </a:solidFill>
              </a:rPr>
              <a:t>0.75</a:t>
            </a:r>
            <a:r>
              <a:rPr lang="en-US" sz="1600" dirty="0">
                <a:solidFill>
                  <a:schemeClr val="tx1"/>
                </a:solidFill>
              </a:rPr>
              <a:t>; the record's shape sets the margin, not the price of delay</a:t>
            </a:r>
            <a:endParaRPr lang="en-US" sz="1600" dirty="0"/>
          </a:p>
          <a:p>
            <a:pPr marL="228600" indent="-228600">
              <a:spcAft>
                <a:spcPts val="800"/>
              </a:spcAft>
              <a:buSzPct val="100000"/>
              <a:buChar char="•"/>
            </a:pPr>
            <a:r>
              <a:rPr lang="en-US" sz="1600" dirty="0">
                <a:solidFill>
                  <a:schemeClr val="tx1"/>
                </a:solidFill>
              </a:rPr>
              <a:t>Swings twice as wide: </a:t>
            </a:r>
            <a:r>
              <a:rPr lang="en-US" sz="1600" b="1" dirty="0">
                <a:solidFill>
                  <a:schemeClr val="tx1"/>
                </a:solidFill>
              </a:rPr>
              <a:t>1.85</a:t>
            </a:r>
            <a:r>
              <a:rPr lang="en-US" sz="1600" dirty="0">
                <a:solidFill>
                  <a:schemeClr val="tx1"/>
                </a:solidFill>
              </a:rPr>
              <a:t>, more than double; half as wide: </a:t>
            </a:r>
            <a:r>
              <a:rPr lang="en-US" sz="1600" b="1" dirty="0">
                <a:solidFill>
                  <a:schemeClr val="tx1"/>
                </a:solidFill>
              </a:rPr>
              <a:t>0.375</a:t>
            </a:r>
            <a:r>
              <a:rPr lang="en-US" sz="1600" dirty="0">
                <a:solidFill>
                  <a:schemeClr val="tx1"/>
                </a:solidFill>
              </a:rPr>
              <a:t>, the formula's</a:t>
            </a:r>
            <a:endParaRPr lang="en-US" sz="1600" dirty="0"/>
          </a:p>
          <a:p>
            <a:pPr marL="228600" indent="-228600">
              <a:spcAft>
                <a:spcPts val="800"/>
              </a:spcAft>
              <a:buSzPct val="100000"/>
              <a:buChar char="•"/>
            </a:pPr>
            <a:r>
              <a:rPr lang="en-US" sz="1600" dirty="0">
                <a:solidFill>
                  <a:schemeClr val="tx1"/>
                </a:solidFill>
              </a:rPr>
              <a:t>A hiring cap of 2.0 points a quarter: </a:t>
            </a:r>
            <a:r>
              <a:rPr lang="en-US" sz="1600" b="1" dirty="0">
                <a:solidFill>
                  <a:schemeClr val="tx1"/>
                </a:solidFill>
              </a:rPr>
              <a:t>0.85</a:t>
            </a:r>
            <a:endParaRPr lang="en-US" sz="1600" dirty="0"/>
          </a:p>
          <a:p>
            <a:pPr marL="228600" indent="-228600">
              <a:spcAft>
                <a:spcPts val="800"/>
              </a:spcAft>
              <a:buSzPct val="100000"/>
              <a:buChar char="•"/>
            </a:pPr>
            <a:r>
              <a:rPr lang="en-US" sz="1600" dirty="0">
                <a:solidFill>
                  <a:schemeClr val="tx1"/>
                </a:solidFill>
              </a:rPr>
              <a:t>Under this declaration the team is worth </a:t>
            </a:r>
            <a:r>
              <a:rPr lang="en-US" sz="1600" b="1" dirty="0">
                <a:solidFill>
                  <a:schemeClr val="tx1"/>
                </a:solidFill>
              </a:rPr>
              <a:t>$23.8m</a:t>
            </a:r>
            <a:r>
              <a:rPr lang="en-US" sz="1600" dirty="0">
                <a:solidFill>
                  <a:schemeClr val="tx1"/>
                </a:solidFill>
              </a:rPr>
              <a:t>, not Chapter 6's $32.5m</a:t>
            </a:r>
            <a:endParaRPr lang="en-US" sz="1600" dirty="0"/>
          </a:p>
        </p:txBody>
      </p:sp>
      <p:pic>
        <p:nvPicPr>
          <p:cNvPr id="6" name="Figure" descr="Figure 7.3: a rule against a plan, and the price of a margin">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7.3. (a) Capability over five years from 58: the rule's narrow band against the budget's widening one. (b) Every target rule's cost from 58, least at 55.75.</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Replace the budget with a rule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55.75</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top planned capability up to 55.75 each quarter; hire nothing above 57.2</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$25.6m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Volume I's budget, which still falls short one quarter in six</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less than holding the floor exactly</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margin of 0.75 points is the insurance that capability which does not move as planned requires, sized by the critical ratio of 12.3 percent</a:t>
            </a:r>
            <a:endParaRPr lang="en-US" sz="1700" dirty="0"/>
          </a:p>
          <a:p>
            <a:pPr marL="228600" indent="-228600">
              <a:spcAft>
                <a:spcPts val="800"/>
              </a:spcAft>
              <a:buSzPct val="100000"/>
              <a:buChar char="•"/>
            </a:pPr>
            <a:r>
              <a:rPr lang="en-US" sz="1700" dirty="0">
                <a:solidFill>
                  <a:schemeClr val="tx1"/>
                </a:solidFill>
              </a:rPr>
              <a:t>Three owners: the engineering office keeps the record of swings, the transformation office declares what a shortfall costs, the chief human resources officer runs the rule</a:t>
            </a:r>
            <a:endParaRPr lang="en-US" sz="1700" dirty="0"/>
          </a:p>
          <a:p>
            <a:pPr marL="228600" indent="-228600">
              <a:spcAft>
                <a:spcPts val="800"/>
              </a:spcAft>
              <a:buSzPct val="100000"/>
              <a:buChar char="•"/>
            </a:pPr>
            <a:r>
              <a:rPr lang="en-US" sz="1700" dirty="0">
                <a:solidFill>
                  <a:schemeClr val="tx1"/>
                </a:solidFill>
              </a:rPr>
              <a:t>For discussion: halving the swings saves $4.4m in present value. What should Meridian pay a year for a retention program that does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2.7 · MODULE AXIOM-07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Valuing every position,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has accepted Chapter 6's advice to stop defending 58. Capability does not move as planned, and the chief human resources officer must propose a hiring rule with a margin over the floor. Open AXIOM, choose Lab 2.7 and load the Meridian capability instance with the engineering office's record.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Look one quarter ahead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of each hiring decision at a capability level and find the best.</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 backward</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a twelve-quarter horizon by backward induction and read the rule table.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Iterate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Value iteration with its stopping bound, then policy iteration from Volume I's rule.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values and prices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the value and its slope; value the engineering team as a lump.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Approximate and shrink the period</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Test a coarse grid and a smooth fit against their bounds; shorten the period and compare with Chapter 6.</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with the rule, its margin and its cost, the comparison with Volume I's budget and with Chapter 6's answer, and the declarations the rule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Dynamic programming values every position, and its best decisions form a rule; when the future is uncertain, a rule can respond to what happens and a plan cannot.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value function solves the Bellman equation: the value of a position is the best a decision can earn now plus the discounted expected value of where it leads. Over an open horizon the Bellman operator is a contraction, and a rule is best exactly when it is greedy for the value function.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Differences of the value function value lumps; its slopes price stocks and satisfy the price recursion, Chapter 6's costate equation on a calendar, averaged over events.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Best rules take simple shapes: thresholds for yes-or-no decisions, and targets for maintained stocks, with a margin set by the critical ratio. The best rule is at least as good as re-planning, which is at least as good as the best plan; the gap between rule and plan is the value of information.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Backward induction, value and policy iteration, and linear programming compute values and rules with error bounds that certify them; approximations scale to many stocks, with errors amplified by the effective horizon.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26207</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AXIOM-07</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2.7</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DCT_V2_Ch07_Lab.ipynb: Worked Example 7.1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DCT_V2_Ch07_Lab.xlsx: the critical ratio, a twelve-quarter backward induction, the Bellman certificate, prices and the upper bound,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8 lets the periods shrink</a:t>
            </a:r>
            <a:endParaRPr lang="en-US" sz="3200" dirty="0"/>
          </a:p>
        </p:txBody>
      </p:sp>
      <p:pic>
        <p:nvPicPr>
          <p:cNvPr id="5" name="Equation" descr="Equation: \rho V - \partial_t V \;=\; \max_{u \in U}\bigl\{ \ell(x,u,t) + \nabla_{x} V^{\top} f(x,u,t) \bigr\}">    </p:cNvPr>
          <p:cNvPicPr>
            <a:picLocks noChangeAspect="1"/>
          </p:cNvPicPr>
          <p:nvPr/>
        </p:nvPicPr>
        <p:blipFill>
          <a:blip r:embed="rId1"/>
          <a:stretch>
            <a:fillRect/>
          </a:stretch>
        </p:blipFill>
        <p:spPr>
          <a:xfrm>
            <a:off x="2223805" y="1691640"/>
            <a:ext cx="774408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As the period shrinks, Bellman's recursion becomes the Hamilton–Jacobi–Bellman equation (Equation 7.4)</a:t>
            </a:r>
            <a:endParaRPr lang="en-US" sz="1800" dirty="0"/>
          </a:p>
          <a:p>
            <a:pPr marL="228600" indent="-228600">
              <a:spcAft>
                <a:spcPts val="800"/>
              </a:spcAft>
              <a:buSzPct val="100000"/>
              <a:buChar char="•"/>
            </a:pPr>
            <a:r>
              <a:rPr lang="en-US" sz="1800" dirty="0">
                <a:solidFill>
                  <a:schemeClr val="bg1"/>
                </a:solidFill>
              </a:rPr>
              <a:t>The hurdle return on a position equals the best the next moment can earn: Chapter 6's maximized Hamiltonian, with the costate replaced by the slope of the value function</a:t>
            </a:r>
            <a:endParaRPr lang="en-US" sz="1800" dirty="0"/>
          </a:p>
          <a:p>
            <a:pPr marL="228600" indent="-228600">
              <a:spcAft>
                <a:spcPts val="800"/>
              </a:spcAft>
              <a:buSzPct val="100000"/>
              <a:buChar char="•"/>
            </a:pPr>
            <a:r>
              <a:rPr lang="en-US" sz="1800" dirty="0">
                <a:solidFill>
                  <a:schemeClr val="bg1"/>
                </a:solidFill>
              </a:rPr>
              <a:t>Chapter 8 makes it precise, with verification theorems and the linear–quadratic problems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7: Dynamic Programming for Enterprise Systems</dc:title>
  <dc:subject>Slides for Volume II, Chapter 7 (V56)</dc:subject>
  <dc:creator>Samir Asaf</dc:creator>
  <cp:lastModifiedBy>Samir Asaf</cp:lastModifiedBy>
  <cp:revision>1</cp:revision>
  <dcterms:created xsi:type="dcterms:W3CDTF">2026-10-05T09:46:42Z</dcterms:created>
  <dcterms:modified xsi:type="dcterms:W3CDTF">2026-10-05T09:46:42Z</dcterms:modified>
</cp:coreProperties>
</file>