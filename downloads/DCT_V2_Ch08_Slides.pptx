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b20f68-5ff4-22d2-2233-4abecd8cab9b}">
          <p14:sldIdLst>
            <p14:sldId id="256"/>
            <p14:sldId id="257"/>
            <p14:sldId id="258"/>
            <p14:sldId id="259"/>
          </p14:sldIdLst>
        </p14:section>
        <p14:section name="8.1 From Bellman to the HJB Equation" id="{80519f64-8dce-f66e-a3e0-764a2f40f306}">
          <p14:sldIdLst>
            <p14:sldId id="260"/>
            <p14:sldId id="261"/>
            <p14:sldId id="262"/>
          </p14:sldIdLst>
        </p14:section>
        <p14:section name="8.2 Prices and Rules" id="{d7917824-3b23-6584-aa0e-07451d39b7d7}">
          <p14:sldIdLst>
            <p14:sldId id="263"/>
          </p14:sldIdLst>
        </p14:section>
        <p14:section name="8.3 Certifying a Rule" id="{617782d7-d297-eb4a-b97b-f1e0a7b7b522}">
          <p14:sldIdLst>
            <p14:sldId id="264"/>
          </p14:sldIdLst>
        </p14:section>
        <p14:section name="8.4 Corners in the Value" id="{06aadd8c-dc39-ab1a-dca4-6d09584bfe18}">
          <p14:sldIdLst>
            <p14:sldId id="265"/>
          </p14:sldIdLst>
        </p14:section>
        <p14:section name="8.5 Linear–Quadratic Rules" id="{5b499c6b-1094-705e-2302-a8dc27681b2e}">
          <p14:sldIdLst>
            <p14:sldId id="266"/>
            <p14:sldId id="267"/>
          </p14:sldIdLst>
        </p14:section>
        <p14:section name="8.6 Computing Values and Rules" id="{7ad533de-4942-c478-e0c6-d59b550b0125}">
          <p14:sldIdLst>
            <p14:sldId id="268"/>
            <p14:sldId id="269"/>
          </p14:sldIdLst>
        </p14:section>
        <p14:section name="Worked Example 8.1" id="{76d58980-9dfa-c41f-18cb-d87af1942b53}">
          <p14:sldIdLst>
            <p14:sldId id="270"/>
            <p14:sldId id="271"/>
            <p14:sldId id="272"/>
            <p14:sldId id="273"/>
            <p14:sldId id="274"/>
          </p14:sldIdLst>
        </p14:section>
        <p14:section name="In Practice" id="{36ff509e-4e14-541b-9dcd-60527a94ce3d}">
          <p14:sldIdLst>
            <p14:sldId id="275"/>
          </p14:sldIdLst>
        </p14:section>
        <p14:section name="AXIOM Lab 2.8" id="{01080c37-3c6c-2ab5-89f9-51aab9e0338c}">
          <p14:sldIdLst>
            <p14:sldId id="276"/>
          </p14:sldIdLst>
        </p14:section>
        <p14:section name="Close" id="{62e1dfe8-8a0f-90ad-9672-1a4d050362c0}">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8. Chapter 7 valued every position on a calendar of quarters; this chapter lets the periods shrink and reads the value as prices of stocks and a rule for every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Churchill's advice to the Commons is Bellman's principle: handle one link at a time, valued by where it leaves you (Section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8.1–8.3 are in Appendix 8.A; Propositions 8.1–8.4 and the numbers behind Worked Example 8.1 in Online Appendix 8.B.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8.1 and Equations 8.2–8.3. The definition adds nothing to Chapter 6's declarations; it changes the question from the best plan from one start to a value and a decision for every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8.1. Read it row by row: the equation, the prices of stocks, the best rule, the certificate, what happens where the value has no slope, and the closed forms, on a calendar and in continuous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8.1; formal statement and proof in Appendix 8.A. Part (iii) closes the loop with Chapter 6: along a best plan the price of a stock is the slope of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8.1 and the Enterprise Interpretation of Section 8.2, on Chapter 6's capability problem (Worked Example 6.1): hiring at $4 million a point up to 10.13 points a year, decay at 0.101 a year, the build waiting at $32 million a year until capability first reaches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8.2; formal statement and proof in Appendix 8.A. The Scope and Limits box of Section 8.3: the second root's rule makes the gap grow without limit, its cost is infinite, and part (ii) certifies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8.2; formal statement and proof in Online Appendix 8.B. Holding capability at 43.45 would cost $49.6 million a year, more than the $32 million a year that never starting costs at the hurdle rate; so part (i) certifies Chapter 6's plans across both corners.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8.3 and Equation 8.5; formal statement and proof in Appendix 8.A. Quadratic costs are declarations: small deviations are nearly free and large ones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8.3; formal statement and proof in Online Appendix 8.B. The critical gain of 10.92 a year, 2.73 a quarter, is in Online Appendix 8.B.1. Smith's predictor and Artstein's reduction are the origins of steering by the predicted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8.2 and Proposition 8.4(iii). All methods rest on Theorems 8.1 and 8.2; they differ in what they compute and in what they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8.4 and the Computational Implications box of Section 8.6; Online Appendix 8.B.2. Policy iteration from Volume I's cautious gain of 2 a year ($11.08 million) reaches gains of 5.32, 4.42 and 4.338 a year, at $9.20, $9.04 and $9.037 million (Kleinman).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the situation. Each quarter retraining and internal moves close 10 percent of any gap on their own; with the quarter's delay, Volume I's deadbeat rule made the bench boom and bust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Steps 1–3, and Online Appendix 8.B.1. The other root of the quadratic fails the limit condition (Section 8.3). With the delay the price of an engineer on the bench rises from $181,000 to $287,000.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8.3. Rules on today's gap are proportional and run continuously; costs from simulations of the delay equation (Online Appendix 8.B.1). Step 2's gain on today's gap approves about 400 a year while nothing lands, overshoots to 16 too many and must release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Steps 4 and 5. Doubling the cost of a gap, or halving the premium, raises the gain to 6.33 a year (least costs $24.95 and $12.47 million); the reverse lowers it to 2.84 ($8.36 and $16.71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8.1, what the board should take away, and the discussion questions. The delay itself costs $5.3 million from 100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8: Brokers Pace a Large Sale. A real organization's decision of this chapter's kind, told from its published record; every figure is cited in the book. The lesson for Meridian: Quadratic declarations give linear rules; measure the costs, as Citigroup did when impact followed a 3/5 power law. Sources: Almgren and Chriss (2000/01), Journal of Risk; Almgren et al. (2005), Risk; SEC staff (2020); Lorenz and Almgren (2011); Risk.net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2.8. What to look for: a Riccati coefficient that makes the residual vanish and a second root that fails the limit condition; approvals where the marginal premium equals the value of an approval; a rule on the predicted gap that never overshoots; corners at 43.45 and 55; errors that halve with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and Limits box of Section 8.5 and the Further Reading point ahead to Part III, Enterprise Optimization Under Uncertainty, which Chapter 9, Stochastic Enterprise Optimization,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8</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8</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8 · WEEK 11</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Hamilton–Jacobi–Bellman Enterprise Framework</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As the periods shrink, Bellman's equation becomes the HJB equation: the hurdle return on a position equals the best the next moment can earn</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26208 · AXIOM Lab 2.8 (AXIOM-08)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“It is a mistake to look too far ahead. Only one link in the chain of destiny can be handled at a time.”</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Winston S. Churchill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1953; House of Commons, after Yalta (1945)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the Hamilton–Jacobi–Bellman equation arises from Bellman's equation as the periods shrink, and read it as an asset-pricing statement about positions.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 continuous-time dynamic program—states, decision rates and their limits, dynamics, the value earned each moment, the hurdle rate, and the horizon—write its HJB equation, and read the best rule from the Hamiltonian at the value's slope.</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Certify a value and a rule with the verification theorem, including its limit condition and residual bound, and recognize the corners of a value function and the sense in which it still solves the equation.</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Solve linear–quadratic problems with the Riccati equation, read the rule's gain and the prices of the stocks, test the rule's robustness, and handle delays by predicting the state.</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8.5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Compute values and rules with upwind schemes and policy iteration, judge their convergence, and explain the curse of dimensionality and why linear–quadratic problems escape it.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 case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the Bellman Equation to a Differential Equation</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 8.1 · Theorem 8.1 · Table 8.1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Prices and Rules from the HJB Equation</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8.1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Certifying a Rule</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8.2</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Corners in the Value</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8.2 · Figure 8.1</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Linear–Quadratic Rules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8.3 · Proposition 8.3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§8.6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Computing Values and Rules</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8.4 · Table 8.2</a:t>
            </a:r>
            <a:endParaRPr lang="en-US" sz="1200" dirty="0"/>
          </a:p>
        </p:txBody>
      </p:sp>
      <p:sp>
        <p:nvSpPr>
          <p:cNvPr id="29" name="Card"/>
          <p:cNvSpPr/>
          <p:nvPr/>
        </p:nvSpPr>
        <p:spPr>
          <a:xfrm>
            <a:off x="2822387" y="4069080"/>
            <a:ext cx="1999427" cy="2103120"/>
          </a:xfrm>
          <a:prstGeom prst="roundRect">
            <a:avLst>
              <a:gd name="adj" fmla="val 3659"/>
            </a:avLst>
          </a:prstGeom>
          <a:solidFill>
            <a:schemeClr val="tx1"/>
          </a:solidFill>
          <a:ln w="9525">
            <a:solidFill>
              <a:srgbClr val="0F1E3D"/>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8.1</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How Fast Should Meridian Close Its Engineering Gap?</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8.3 · Figures 8.2–8.3</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Brokers Pace a Large Sale</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At a Glance · board questions</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2.8</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Steering by the Value: Meridian's Hiring Rule and Capability Floor</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AXIOM-08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§8.1 · DEFINITION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hurdle return on a position, moment by moment</a:t>
            </a:r>
            <a:endParaRPr lang="en-US" sz="3200" dirty="0"/>
          </a:p>
        </p:txBody>
      </p:sp>
      <p:pic>
        <p:nvPicPr>
          <p:cNvPr id="5" name="Equation" descr="Equation: \rho V(x) \;=\; \max_{u \in U(x)} \bigl\{\, \ell(x,u) + \nabla V(x)^{\top} f(x,u) \,\bigr\}">    </p:cNvPr>
          <p:cNvPicPr>
            <a:picLocks noChangeAspect="1"/>
          </p:cNvPicPr>
          <p:nvPr/>
        </p:nvPicPr>
        <p:blipFill>
          <a:blip r:embed="rId1"/>
          <a:stretch>
            <a:fillRect/>
          </a:stretch>
        </p:blipFill>
        <p:spPr>
          <a:xfrm>
            <a:off x="2621128" y="1828800"/>
            <a:ext cx="6949440"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hurdle return on a position equals the best of what the next moment earns plus the change in its value</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A </a:t>
            </a:r>
            <a:r>
              <a:rPr lang="en-US" sz="1700" b="1" dirty="0">
                <a:solidFill>
                  <a:schemeClr val="bg1"/>
                </a:solidFill>
              </a:rPr>
              <a:t>continuous-time dynamic program</a:t>
            </a:r>
            <a:r>
              <a:rPr lang="en-US" sz="1700" dirty="0">
                <a:solidFill>
                  <a:schemeClr val="bg1"/>
                </a:solidFill>
              </a:rPr>
              <a:t> declares states, decision rates and their limits, dynamics, the value earned each moment, the hurdle rate ρ = ln(1 + r) and a horizon</a:t>
            </a:r>
            <a:endParaRPr lang="en-US" sz="1700" dirty="0"/>
          </a:p>
          <a:p>
            <a:pPr marL="228600" indent="-228600">
              <a:spcAft>
                <a:spcPts val="800"/>
              </a:spcAft>
              <a:buSzPct val="100000"/>
              <a:buChar char="•"/>
            </a:pPr>
            <a:r>
              <a:rPr lang="en-US" sz="1700" dirty="0">
                <a:solidFill>
                  <a:schemeClr val="bg1"/>
                </a:solidFill>
              </a:rPr>
              <a:t>The Hamiltonian H = ℓ + mᵀf is Chapter 6's, with the costate replaced by the slope of the value</a:t>
            </a:r>
            <a:endParaRPr lang="en-US" sz="1700" dirty="0"/>
          </a:p>
          <a:p>
            <a:pPr marL="228600" indent="-228600">
              <a:spcAft>
                <a:spcPts val="800"/>
              </a:spcAft>
              <a:buSzPct val="100000"/>
              <a:buChar char="•"/>
            </a:pPr>
            <a:r>
              <a:rPr lang="en-US" sz="1700" dirty="0">
                <a:solidFill>
                  <a:schemeClr val="bg1"/>
                </a:solidFill>
              </a:rPr>
              <a:t>Decisions are rates, so a rule can respond at every moment rather than once a quarter</a:t>
            </a:r>
            <a:endParaRPr lang="en-US" sz="1700" dirty="0"/>
          </a:p>
          <a:p>
            <a:pPr marL="228600" indent="-228600">
              <a:spcAft>
                <a:spcPts val="800"/>
              </a:spcAft>
              <a:buSzPct val="100000"/>
              <a:buChar char="•"/>
            </a:pPr>
            <a:r>
              <a:rPr lang="en-US" sz="1700" dirty="0">
                <a:solidFill>
                  <a:schemeClr val="bg1"/>
                </a:solidFill>
              </a:rPr>
              <a:t>Over a finite horizon the value also changes as time passes: ρV − ∂V/∂t = max H, with V = Φ at the horizon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§8.1 · TABLE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From a calendar of periods to continuous time</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8856"/>
                <a:gridCol w="4217712"/>
                <a:gridCol w="4767848"/>
              </a:tblGrid>
              <a:tr h="603504">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On a calendar (Chapter 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 continuous time (this chapter)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equation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best of a period's value plus the discounted value of where it leads (Theorem 7.1)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hurdle return equals the best the next moment earns plus the change in value (Theorem 8.1)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Prices of stocks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slopes of the value; the price recursion (Proposition 7.1)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slopes of the value; along a best plan, Chapter 6's costate (Theorem 8.1(iii))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best rule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greedy for the value function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maximizes the Hamiltonian at the value's slope (Proposition 8.1)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Certificate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contraction; a residual bounds the error by 1/(1 − β) periods' worth (Theorem 7.3)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verification, with a limit condition; a residual bounds the error by 1/ρ years' worth (Theorem 8.2)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Where the value has no slope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differences still value lumps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corners: viscosity solutions with continuous data; for one stock, a direct certificate (Proposition 8.2)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Closed forms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targets and thresholds (Theorem 7.2)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linear rules from a Riccati equation (Theorem 8.3)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§8.1 · THEOREM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Bellman's principle in continuous time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Hamilton–Jacobi–Bellman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Dynamic programming principle.</a:t>
            </a:r>
            <a:r>
              <a:rPr lang="en-US" sz="1600" dirty="0">
                <a:solidFill>
                  <a:schemeClr val="tx1"/>
                </a:solidFill>
              </a:rPr>
              <a:t> A value is the best over any stretch of time plus the discounted value of where it ends</a:t>
            </a:r>
            <a:endParaRPr lang="en-US" sz="1600" dirty="0"/>
          </a:p>
          <a:p>
            <a:pPr marL="228600" indent="-228600">
              <a:spcAft>
                <a:spcPts val="600"/>
              </a:spcAft>
              <a:buSzPct val="100000"/>
              <a:buChar char="•"/>
            </a:pPr>
            <a:r>
              <a:rPr lang="en-US" sz="1600" dirty="0">
                <a:solidFill>
                  <a:schemeClr val="tx1"/>
                </a:solidFill>
              </a:rPr>
              <a:t>The rest of a best plan is best from wherever it stands</a:t>
            </a:r>
            <a:endParaRPr lang="en-US" sz="1600" dirty="0"/>
          </a:p>
          <a:p>
            <a:pPr marL="228600" indent="-228600">
              <a:spcAft>
                <a:spcPts val="600"/>
              </a:spcAft>
              <a:buSzPct val="100000"/>
              <a:buChar char="•"/>
            </a:pPr>
            <a:r>
              <a:rPr lang="en-US" sz="1600" b="1" dirty="0">
                <a:solidFill>
                  <a:schemeClr val="tx1"/>
                </a:solidFill>
              </a:rPr>
              <a:t>(ii) The HJB equation.</a:t>
            </a:r>
            <a:r>
              <a:rPr lang="en-US" sz="1600" dirty="0">
                <a:solidFill>
                  <a:schemeClr val="tx1"/>
                </a:solidFill>
              </a:rPr>
              <a:t> The value is continuous, and wherever it has a slope it solves the equation</a:t>
            </a:r>
            <a:endParaRPr lang="en-US" sz="1600" dirty="0"/>
          </a:p>
          <a:p>
            <a:pPr marL="228600" indent="-228600">
              <a:spcAft>
                <a:spcPts val="600"/>
              </a:spcAft>
              <a:buSzPct val="100000"/>
              <a:buChar char="•"/>
            </a:pPr>
            <a:r>
              <a:rPr lang="en-US" sz="1600" b="1" dirty="0">
                <a:solidFill>
                  <a:schemeClr val="tx1"/>
                </a:solidFill>
              </a:rPr>
              <a:t>(iii) Prices and rules.</a:t>
            </a:r>
            <a:r>
              <a:rPr lang="en-US" sz="1600" dirty="0">
                <a:solidFill>
                  <a:schemeClr val="tx1"/>
                </a:solidFill>
              </a:rPr>
              <a:t> Along a best plan the decision maximizes the Hamiltonian at the value's slope: Chapter 6's costate</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Asset pricing for positions: the hurdle return is the best dividend plus capital gain</a:t>
            </a:r>
            <a:endParaRPr lang="en-US" sz="1600" dirty="0"/>
          </a:p>
          <a:p>
            <a:pPr marL="228600" indent="-228600">
              <a:spcAft>
                <a:spcPts val="800"/>
              </a:spcAft>
              <a:buSzPct val="100000"/>
              <a:buChar char="•"/>
            </a:pPr>
            <a:r>
              <a:rPr lang="en-US" sz="1600" dirty="0">
                <a:solidFill>
                  <a:schemeClr val="tx1"/>
                </a:solidFill>
              </a:rPr>
              <a:t>Each unit of change in the stocks is priced at the value's slope</a:t>
            </a:r>
            <a:endParaRPr lang="en-US" sz="1600" dirty="0"/>
          </a:p>
          <a:p>
            <a:pPr marL="228600" indent="-228600">
              <a:spcAft>
                <a:spcPts val="800"/>
              </a:spcAft>
              <a:buSzPct val="100000"/>
              <a:buChar char="•"/>
            </a:pPr>
            <a:r>
              <a:rPr lang="en-US" sz="1600" dirty="0">
                <a:solidFill>
                  <a:schemeClr val="tx1"/>
                </a:solidFill>
              </a:rPr>
              <a:t>A decision needs the current position and the value of where it leads, not the history or a forecast</a:t>
            </a:r>
            <a:endParaRPr lang="en-US" sz="1600" dirty="0"/>
          </a:p>
          <a:p>
            <a:pPr marL="228600" indent="-228600">
              <a:spcAft>
                <a:spcPts val="800"/>
              </a:spcAft>
              <a:buSzPct val="100000"/>
              <a:buChar char="•"/>
            </a:pPr>
            <a:r>
              <a:rPr lang="en-US" sz="1600" dirty="0">
                <a:solidFill>
                  <a:schemeClr val="tx1"/>
                </a:solidFill>
              </a:rPr>
              <a:t>The maximum principle is the HJB equation read along one path; dynamic programming adds the rule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§8.2 · PROPOSITION 8.1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 the rule from the Hamiltonian</a:t>
            </a:r>
            <a:endParaRPr lang="en-US" sz="3200" dirty="0"/>
          </a:p>
        </p:txBody>
      </p:sp>
      <p:sp>
        <p:nvSpPr>
          <p:cNvPr id="5" name="Stat card"/>
          <p:cNvSpPr/>
          <p:nvPr/>
        </p:nvSpPr>
        <p:spPr>
          <a:xfrm>
            <a:off x="548640" y="1691640"/>
            <a:ext cx="3515258" cy="1783080"/>
          </a:xfrm>
          <a:prstGeom prst="roundRect">
            <a:avLst>
              <a:gd name="adj" fmla="val 4103"/>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$10.13m</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a capability point at 53, more than its $4m cost: hire at the cap</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$4m</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a point on the floor, exactly its cost: hold it there, paying the rent</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$3.61m</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a point at 58, less than its cost: hire nothing</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Proposition 8.1.</a:t>
            </a:r>
            <a:r>
              <a:rPr lang="en-US" sz="1700" dirty="0">
                <a:solidFill>
                  <a:schemeClr val="tx1"/>
                </a:solidFill>
              </a:rPr>
              <a:t> Linear decisions sit at a limit or hold; smooth decisions set marginal cost equal to the value of what they build; a concave value prices a stock lower as it grows</a:t>
            </a:r>
            <a:endParaRPr lang="en-US" sz="1700" dirty="0"/>
          </a:p>
          <a:p>
            <a:pPr marL="228600" indent="-228600">
              <a:spcAft>
                <a:spcPts val="800"/>
              </a:spcAft>
              <a:buSzPct val="100000"/>
              <a:buChar char="•"/>
            </a:pPr>
            <a:r>
              <a:rPr lang="en-US" sz="1700" dirty="0">
                <a:solidFill>
                  <a:schemeClr val="tx1"/>
                </a:solidFill>
              </a:rPr>
              <a:t>At 58, ρV(58) = −δ · 58 · V′(58): carrying the $222.36m liability costs $21.19m a year, exactly the drift of 5.87 points a year at $3.61m a point</a:t>
            </a:r>
            <a:endParaRPr lang="en-US" sz="1700" dirty="0"/>
          </a:p>
          <a:p>
            <a:pPr marL="228600" indent="-228600">
              <a:spcAft>
                <a:spcPts val="800"/>
              </a:spcAft>
              <a:buSzPct val="100000"/>
              <a:buChar char="•"/>
            </a:pPr>
            <a:r>
              <a:rPr lang="en-US" sz="1700" dirty="0">
                <a:solidFill>
                  <a:schemeClr val="tx1"/>
                </a:solidFill>
              </a:rPr>
              <a:t>In the hiring problem the premium grows with its square, so approvals are smooth: HR approves until the premium on one more equals 60 percent of the price of an engineer of gap</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§8.3 · THEOREM 8.2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solution and a limit condition certify a rule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Verification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A bound.</a:t>
            </a:r>
            <a:r>
              <a:rPr lang="en-US" sz="1600" dirty="0">
                <a:solidFill>
                  <a:schemeClr val="tx1"/>
                </a:solidFill>
              </a:rPr>
              <a:t> A function that satisfies the HJB equation as an inequality is worth no less than any plan</a:t>
            </a:r>
            <a:endParaRPr lang="en-US" sz="1600" dirty="0"/>
          </a:p>
          <a:p>
            <a:pPr marL="228600" indent="-228600">
              <a:spcAft>
                <a:spcPts val="600"/>
              </a:spcAft>
              <a:buSzPct val="100000"/>
              <a:buChar char="•"/>
            </a:pPr>
            <a:r>
              <a:rPr lang="en-US" sz="1600" dirty="0">
                <a:solidFill>
                  <a:schemeClr val="tx1"/>
                </a:solidFill>
              </a:rPr>
              <a:t>Over an open horizon this needs a limit condition at the far end of time</a:t>
            </a:r>
            <a:endParaRPr lang="en-US" sz="1600" dirty="0"/>
          </a:p>
          <a:p>
            <a:pPr marL="228600" indent="-228600">
              <a:spcAft>
                <a:spcPts val="600"/>
              </a:spcAft>
              <a:buSzPct val="100000"/>
              <a:buChar char="•"/>
            </a:pPr>
            <a:r>
              <a:rPr lang="en-US" sz="1600" b="1" dirty="0">
                <a:solidFill>
                  <a:schemeClr val="tx1"/>
                </a:solidFill>
              </a:rPr>
              <a:t>(ii) A certificate.</a:t>
            </a:r>
            <a:r>
              <a:rPr lang="en-US" sz="1600" dirty="0">
                <a:solidFill>
                  <a:schemeClr val="tx1"/>
                </a:solidFill>
              </a:rPr>
              <a:t> If it solves the equation, a rule attains it, and its discounted value tends to zero, the rule is best</a:t>
            </a:r>
            <a:endParaRPr lang="en-US" sz="1600" dirty="0"/>
          </a:p>
          <a:p>
            <a:pPr marL="228600" indent="-228600">
              <a:spcAft>
                <a:spcPts val="600"/>
              </a:spcAft>
              <a:buSzPct val="100000"/>
              <a:buChar char="•"/>
            </a:pPr>
            <a:r>
              <a:rPr lang="en-US" sz="1600" b="1" dirty="0">
                <a:solidFill>
                  <a:schemeClr val="tx1"/>
                </a:solidFill>
              </a:rPr>
              <a:t>(iii) A near-certificate.</a:t>
            </a:r>
            <a:r>
              <a:rPr lang="en-US" sz="1600" dirty="0">
                <a:solidFill>
                  <a:schemeClr val="tx1"/>
                </a:solidFill>
              </a:rPr>
              <a:t> A residual of ε a year: within ε/ρ of the value; its rule within 2ε/ρ</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An audit</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effective horizon 1/ρ is 10.5 years: values with a residual of at most $0.1m a year are within $1.05m</a:t>
            </a:r>
            <a:endParaRPr lang="en-US" sz="1600" dirty="0"/>
          </a:p>
          <a:p>
            <a:pPr marL="228600" indent="-228600">
              <a:spcAft>
                <a:spcPts val="800"/>
              </a:spcAft>
              <a:buSzPct val="100000"/>
              <a:buChar char="•"/>
            </a:pPr>
            <a:r>
              <a:rPr lang="en-US" sz="1600" dirty="0">
                <a:solidFill>
                  <a:schemeClr val="tx1"/>
                </a:solidFill>
              </a:rPr>
              <a:t>The theorem certifies; it does not find. Candidates come from guesses, plans or computation</a:t>
            </a:r>
            <a:endParaRPr lang="en-US" sz="1600" dirty="0"/>
          </a:p>
          <a:p>
            <a:pPr marL="228600" indent="-228600">
              <a:spcAft>
                <a:spcPts val="800"/>
              </a:spcAft>
              <a:buSzPct val="100000"/>
              <a:buChar char="•"/>
            </a:pPr>
            <a:r>
              <a:rPr lang="en-US" sz="1600" dirty="0">
                <a:solidFill>
                  <a:schemeClr val="tx1"/>
                </a:solidFill>
              </a:rPr>
              <a:t>The limit condition matters: the second root solves the equation, but its rule releases engineers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§8.4 · PROPOSITION 8.2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Corners: where a declared switch moves the price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Proposition 8.2.</a:t>
            </a:r>
            <a:r>
              <a:rPr lang="en-US" sz="1500" dirty="0">
                <a:solidFill>
                  <a:schemeClr val="tx1"/>
                </a:solidFill>
              </a:rPr>
              <a:t> For one stock, a direct test at each corner extends verification</a:t>
            </a:r>
            <a:endParaRPr lang="en-US" sz="1500" dirty="0"/>
          </a:p>
          <a:p>
            <a:pPr marL="228600" indent="-228600">
              <a:spcAft>
                <a:spcPts val="800"/>
              </a:spcAft>
              <a:buSzPct val="100000"/>
              <a:buChar char="•"/>
            </a:pPr>
            <a:r>
              <a:rPr lang="en-US" sz="1500" dirty="0">
                <a:solidFill>
                  <a:schemeClr val="tx1"/>
                </a:solidFill>
              </a:rPr>
              <a:t>With continuous data the value is the only viscosity solution; almost everywhere is not enough</a:t>
            </a:r>
            <a:endParaRPr lang="en-US" sz="1500" dirty="0"/>
          </a:p>
          <a:p>
            <a:pPr marL="228600" indent="-228600">
              <a:spcAft>
                <a:spcPts val="800"/>
              </a:spcAft>
              <a:buSzPct val="100000"/>
              <a:buChar char="•"/>
            </a:pPr>
            <a:r>
              <a:rPr lang="en-US" sz="1500" dirty="0">
                <a:solidFill>
                  <a:schemeClr val="tx1"/>
                </a:solidFill>
              </a:rPr>
              <a:t>At 43.45 racing to the floor ties with never starting the build: the price jumps from zero to </a:t>
            </a:r>
            <a:r>
              <a:rPr lang="en-US" sz="1500" b="1" dirty="0">
                <a:solidFill>
                  <a:schemeClr val="tx1"/>
                </a:solidFill>
              </a:rPr>
              <a:t>$7.07m</a:t>
            </a:r>
            <a:endParaRPr lang="en-US" sz="1500" dirty="0"/>
          </a:p>
          <a:p>
            <a:pPr marL="228600" indent="-228600">
              <a:spcAft>
                <a:spcPts val="800"/>
              </a:spcAft>
              <a:buSzPct val="100000"/>
              <a:buChar char="•"/>
            </a:pPr>
            <a:r>
              <a:rPr lang="en-US" sz="1500" dirty="0">
                <a:solidFill>
                  <a:schemeClr val="tx1"/>
                </a:solidFill>
              </a:rPr>
              <a:t>At 55 the build starts: a point's price falls from </a:t>
            </a:r>
            <a:r>
              <a:rPr lang="en-US" sz="1500" b="1" dirty="0">
                <a:solidFill>
                  <a:schemeClr val="tx1"/>
                </a:solidFill>
              </a:rPr>
              <a:t>$11.02m</a:t>
            </a:r>
            <a:r>
              <a:rPr lang="en-US" sz="1500" dirty="0">
                <a:solidFill>
                  <a:schemeClr val="tx1"/>
                </a:solidFill>
              </a:rPr>
              <a:t>, its cost plus the delay it saves, to </a:t>
            </a:r>
            <a:r>
              <a:rPr lang="en-US" sz="1500" b="1" dirty="0">
                <a:solidFill>
                  <a:schemeClr val="tx1"/>
                </a:solidFill>
              </a:rPr>
              <a:t>$4m</a:t>
            </a:r>
            <a:endParaRPr lang="en-US" sz="1500" dirty="0"/>
          </a:p>
          <a:p>
            <a:pPr marL="228600" indent="-228600">
              <a:spcAft>
                <a:spcPts val="800"/>
              </a:spcAft>
              <a:buSzPct val="100000"/>
              <a:buChar char="•"/>
            </a:pPr>
            <a:r>
              <a:rPr lang="en-US" sz="1500" dirty="0">
                <a:solidFill>
                  <a:schemeClr val="tx1"/>
                </a:solidFill>
              </a:rPr>
              <a:t>On the floor the rent, $22.28m a year, is 9.5 percent of $233.76m: exactly the hurdle return</a:t>
            </a:r>
            <a:endParaRPr lang="en-US" sz="1500" dirty="0"/>
          </a:p>
        </p:txBody>
      </p:sp>
      <p:pic>
        <p:nvPicPr>
          <p:cNvPr id="6" name="Figure" descr="Figure 8.1: Chapter 6's capability problem solved with the HJB equation">    </p:cNvPr>
          <p:cNvPicPr>
            <a:picLocks noChangeAspect="1"/>
          </p:cNvPicPr>
          <p:nvPr/>
        </p:nvPicPr>
        <p:blipFill>
          <a:blip r:embed="rId1"/>
          <a:stretch>
            <a:fillRect/>
          </a:stretch>
        </p:blipFill>
        <p:spPr>
          <a:xfrm>
            <a:off x="5391174" y="2099053"/>
            <a:ext cx="6251881" cy="3098806"/>
          </a:xfrm>
          <a:prstGeom prst="rect">
            <a:avLst/>
          </a:prstGeom>
        </p:spPr>
      </p:pic>
      <p:sp>
        <p:nvSpPr>
          <p:cNvPr id="7" name="Caption"/>
          <p:cNvSpPr txBox="1"/>
          <p:nvPr/>
        </p:nvSpPr>
        <p:spPr>
          <a:xfrm>
            <a:off x="5391174" y="527101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8.1. (a) The value of each capability level: closed form and the upwind scheme on a grid of one point. (b) The scheme's largest error halves with the spacing, from $1.68m to $0.11m.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§8.5 · THEOREM 8.3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Quadratic costs give linear rules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8.3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Linear–Quadratic Rules</a:t>
            </a:r>
            <a:endParaRPr lang="en-US" sz="2100" dirty="0"/>
          </a:p>
        </p:txBody>
      </p:sp>
      <p:pic>
        <p:nvPicPr>
          <p:cNvPr id="8" name="Equation" descr="Equation: PA_{\rho} + A_{\rho}^{\top}P + Q - PBR^{-1}B^{\top}P \;=\; 0,\qquad A_{\rho} = A - \tfrac{\rho}{2}I">    </p:cNvPr>
          <p:cNvPicPr>
            <a:picLocks noChangeAspect="1"/>
          </p:cNvPicPr>
          <p:nvPr/>
        </p:nvPicPr>
        <p:blipFill>
          <a:blip r:embed="rId1"/>
          <a:stretch>
            <a:fillRect/>
          </a:stretch>
        </p:blipFill>
        <p:spPr>
          <a:xfrm>
            <a:off x="822960" y="2757411"/>
            <a:ext cx="5394960" cy="428777"/>
          </a:xfrm>
          <a:prstGeom prst="rect">
            <a:avLst/>
          </a:prstGeom>
        </p:spPr>
      </p:pic>
      <p:sp>
        <p:nvSpPr>
          <p:cNvPr id="9" name="Bullets"/>
          <p:cNvSpPr txBox="1"/>
          <p:nvPr/>
        </p:nvSpPr>
        <p:spPr>
          <a:xfrm>
            <a:off x="822960" y="3350781"/>
            <a:ext cx="5394960" cy="2684259"/>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a:t>
            </a:r>
            <a:r>
              <a:rPr lang="en-US" sz="1500" dirty="0">
                <a:solidFill>
                  <a:schemeClr val="tx1"/>
                </a:solidFill>
              </a:rPr>
              <a:t> The Riccati equation has one positive semidefinite solution P; the least cost from x is xᵀPx</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The best rule is u = −Kx with K = R⁻¹BᵀP: the marginal cost of the pace equals the value of what it builds</a:t>
            </a:r>
            <a:endParaRPr lang="en-US" sz="1500" dirty="0"/>
          </a:p>
          <a:p>
            <a:pPr marL="228600" indent="-228600">
              <a:spcAft>
                <a:spcPts val="600"/>
              </a:spcAft>
              <a:buSzPct val="100000"/>
              <a:buChar char="•"/>
            </a:pPr>
            <a:r>
              <a:rPr lang="en-US" sz="1500" b="1" dirty="0">
                <a:solidFill>
                  <a:schemeClr val="tx1"/>
                </a:solidFill>
              </a:rPr>
              <a:t>(iii) Policy iteration</a:t>
            </a:r>
            <a:r>
              <a:rPr lang="en-US" sz="1500" dirty="0">
                <a:solidFill>
                  <a:schemeClr val="tx1"/>
                </a:solidFill>
              </a:rPr>
              <a:t> from any stabilizing rule never raises the cost and converges to P</a:t>
            </a:r>
            <a:endParaRPr lang="en-US" sz="1500" dirty="0"/>
          </a:p>
          <a:p>
            <a:pPr marL="228600" indent="-228600">
              <a:spcAft>
                <a:spcPts val="600"/>
              </a:spcAft>
              <a:buSzPct val="100000"/>
              <a:buChar char="•"/>
            </a:pPr>
            <a:r>
              <a:rPr lang="en-US" sz="1500" b="1" dirty="0">
                <a:solidFill>
                  <a:schemeClr val="tx1"/>
                </a:solidFill>
              </a:rPr>
              <a:t>(iv)</a:t>
            </a:r>
            <a:r>
              <a:rPr lang="en-US" sz="1500" dirty="0">
                <a:solidFill>
                  <a:schemeClr val="tx1"/>
                </a:solidFill>
              </a:rPr>
              <a:t> Over a finite horizon, P(t) solves the Riccati differential equation backward</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Meridian's hiring loop</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One stock: (b²/r)p² + (2a + ρ)p − q = 0, and the gain is K = bp/r</a:t>
            </a:r>
            <a:endParaRPr lang="en-US" sz="1600" dirty="0"/>
          </a:p>
          <a:p>
            <a:pPr marL="228600" indent="-228600">
              <a:spcAft>
                <a:spcPts val="800"/>
              </a:spcAft>
              <a:buSzPct val="100000"/>
              <a:buChar char="•"/>
            </a:pPr>
            <a:r>
              <a:rPr lang="en-US" sz="1600" dirty="0">
                <a:solidFill>
                  <a:schemeClr val="tx1"/>
                </a:solidFill>
              </a:rPr>
              <a:t>A gap of d engineers costs 0.0032d² a year; approving v a year costs a premium of 0.000125v²</a:t>
            </a:r>
            <a:endParaRPr lang="en-US" sz="1600" dirty="0"/>
          </a:p>
          <a:p>
            <a:pPr marL="228600" indent="-228600">
              <a:spcAft>
                <a:spcPts val="800"/>
              </a:spcAft>
              <a:buSzPct val="100000"/>
              <a:buChar char="•"/>
            </a:pPr>
            <a:r>
              <a:rPr lang="en-US" sz="1600" dirty="0">
                <a:solidFill>
                  <a:schemeClr val="tx1"/>
                </a:solidFill>
              </a:rPr>
              <a:t>If approvals landed at once: approve </a:t>
            </a:r>
            <a:r>
              <a:rPr lang="en-US" sz="1600" b="1" dirty="0">
                <a:solidFill>
                  <a:schemeClr val="tx1"/>
                </a:solidFill>
              </a:rPr>
              <a:t>4.34</a:t>
            </a:r>
            <a:r>
              <a:rPr lang="en-US" sz="1600" dirty="0">
                <a:solidFill>
                  <a:schemeClr val="tx1"/>
                </a:solidFill>
              </a:rPr>
              <a:t> times the gap a year</a:t>
            </a:r>
            <a:endParaRPr lang="en-US" sz="1600" dirty="0"/>
          </a:p>
          <a:p>
            <a:pPr marL="228600" indent="-228600">
              <a:spcAft>
                <a:spcPts val="800"/>
              </a:spcAft>
              <a:buSzPct val="100000"/>
              <a:buChar char="•"/>
            </a:pPr>
            <a:r>
              <a:rPr lang="en-US" sz="1600" dirty="0">
                <a:solidFill>
                  <a:schemeClr val="tx1"/>
                </a:solidFill>
              </a:rPr>
              <a:t>The gain depends only on q/r: doubling the cost of a gap calls for the same rule as halving the premium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§8.5 · PROPOSITION 8.3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With a delay, steer by the predicted state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(i)</a:t>
            </a:r>
            <a:r>
              <a:rPr lang="en-US" sz="1500" dirty="0">
                <a:solidFill>
                  <a:schemeClr val="tx1"/>
                </a:solidFill>
              </a:rPr>
              <a:t> Without a delay, any stronger gain, or one weaker by less than half, stays stable</a:t>
            </a:r>
            <a:endParaRPr lang="en-US" sz="1500" dirty="0"/>
          </a:p>
          <a:p>
            <a:pPr marL="228600" indent="-228600">
              <a:spcAft>
                <a:spcPts val="800"/>
              </a:spcAft>
              <a:buSzPct val="100000"/>
              <a:buChar char="•"/>
            </a:pPr>
            <a:r>
              <a:rPr lang="en-US" sz="1500" b="1" dirty="0">
                <a:solidFill>
                  <a:schemeClr val="tx1"/>
                </a:solidFill>
              </a:rPr>
              <a:t>(ii)</a:t>
            </a:r>
            <a:r>
              <a:rPr lang="en-US" sz="1500" dirty="0">
                <a:solidFill>
                  <a:schemeClr val="tx1"/>
                </a:solidFill>
              </a:rPr>
              <a:t> With a delay, steer by the position a delay ahead, which counts the decisions in flight</a:t>
            </a:r>
            <a:endParaRPr lang="en-US" sz="1500" dirty="0"/>
          </a:p>
          <a:p>
            <a:pPr marL="228600" indent="-228600">
              <a:spcAft>
                <a:spcPts val="800"/>
              </a:spcAft>
              <a:buSzPct val="100000"/>
              <a:buChar char="•"/>
            </a:pPr>
            <a:r>
              <a:rPr lang="en-US" sz="1500" dirty="0">
                <a:solidFill>
                  <a:schemeClr val="tx1"/>
                </a:solidFill>
              </a:rPr>
              <a:t>Meridian: approve </a:t>
            </a:r>
            <a:r>
              <a:rPr lang="en-US" sz="1500" b="1" dirty="0">
                <a:solidFill>
                  <a:schemeClr val="tx1"/>
                </a:solidFill>
              </a:rPr>
              <a:t>4.28</a:t>
            </a:r>
            <a:r>
              <a:rPr lang="en-US" sz="1500" dirty="0">
                <a:solidFill>
                  <a:schemeClr val="tx1"/>
                </a:solidFill>
              </a:rPr>
              <a:t> times the gap a quarter ahead a year, instead of 4.34; the bench never overshoots</a:t>
            </a:r>
            <a:endParaRPr lang="en-US" sz="1500" dirty="0"/>
          </a:p>
          <a:p>
            <a:pPr marL="228600" indent="-228600">
              <a:spcAft>
                <a:spcPts val="800"/>
              </a:spcAft>
              <a:buSzPct val="100000"/>
              <a:buChar char="•"/>
            </a:pPr>
            <a:r>
              <a:rPr lang="en-US" sz="1500" dirty="0">
                <a:solidFill>
                  <a:schemeClr val="tx1"/>
                </a:solidFill>
              </a:rPr>
              <a:t>A rule on today's gap must be gentle: best at 2.48 a year, swinging ever wider above 10.92</a:t>
            </a:r>
            <a:endParaRPr lang="en-US" sz="1500" dirty="0"/>
          </a:p>
          <a:p>
            <a:pPr marL="228600" indent="-228600">
              <a:spcAft>
                <a:spcPts val="800"/>
              </a:spcAft>
              <a:buSzPct val="100000"/>
              <a:buChar char="•"/>
            </a:pPr>
            <a:r>
              <a:rPr lang="en-US" sz="1500" dirty="0">
                <a:solidFill>
                  <a:schemeClr val="tx1"/>
                </a:solidFill>
              </a:rPr>
              <a:t>Least cost: $9.0m at once, $11.0m a month late, $14.4m a quarter, $18.5m half a year</a:t>
            </a:r>
            <a:endParaRPr lang="en-US" sz="1500" dirty="0"/>
          </a:p>
        </p:txBody>
      </p:sp>
      <p:pic>
        <p:nvPicPr>
          <p:cNvPr id="6" name="Figure" descr="Figure 8.3: the price of steering and of the delay">    </p:cNvPr>
          <p:cNvPicPr>
            <a:picLocks noChangeAspect="1"/>
          </p:cNvPicPr>
          <p:nvPr/>
        </p:nvPicPr>
        <p:blipFill>
          <a:blip r:embed="rId1"/>
          <a:stretch>
            <a:fillRect/>
          </a:stretch>
        </p:blipFill>
        <p:spPr>
          <a:xfrm>
            <a:off x="5391174" y="2099053"/>
            <a:ext cx="6251881" cy="3098806"/>
          </a:xfrm>
          <a:prstGeom prst="rect">
            <a:avLst/>
          </a:prstGeom>
        </p:spPr>
      </p:pic>
      <p:sp>
        <p:nvSpPr>
          <p:cNvPr id="7" name="Caption"/>
          <p:cNvSpPr txBox="1"/>
          <p:nvPr/>
        </p:nvSpPr>
        <p:spPr>
          <a:xfrm>
            <a:off x="5391174" y="527101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8.3. (a) Cost of rules on today's gap against their gain, at once and a quarter late; dashed, the best rule. (b) The least cost against the months approvals take to land.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§8.6 · TABLE 8.2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ways to compute values and rules</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55321"/>
                <a:gridCol w="2728135"/>
                <a:gridCol w="3364700"/>
                <a:gridCol w="2546259"/>
              </a:tblGrid>
              <a:tr h="71323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Computes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Guarantee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Watch for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1323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Guess and verify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value and a rule of a known shape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exact, by verification (Theorem 8.2)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guess that misses a corner (Proposition 8.2)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Riccati equation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linear–quadratic problems, any number of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exact; policy iteration from any stabilizing rule (Theorem 8.3)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limits on the decisions, which it ignores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1323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Upwind scheme with policy iteration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values and rules for one or a few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converges with continuous data, corners included; finitely many steps on each grid (Proposition 8.4)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Gⁿ positions; a linear solve per step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Fitted values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values and rules for many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residual of ε a year costs at most 2ε/ρ (Theorem 8.2(iii))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shape that cannot fit the value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With n stocks and G levels each, a grid has G</a:t>
            </a:r>
            <a:r>
              <a:rPr lang="en-US" sz="1600" baseline="30000" dirty="0">
                <a:solidFill>
                  <a:schemeClr val="accent2"/>
                </a:solidFill>
              </a:rPr>
              <a:t>n</a:t>
            </a:r>
            <a:r>
              <a:rPr lang="en-US" sz="1600" dirty="0">
                <a:solidFill>
                  <a:schemeClr val="accent2"/>
                </a:solidFill>
              </a:rPr>
              <a:t> positions; the Riccati equation has n(n + 1)/2 unknowns, whatever the grid.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§8.6 · PROPOSITION 8.4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Upwind schemes converge, corners included</a:t>
            </a:r>
            <a:endParaRPr lang="en-US" sz="3200" dirty="0"/>
          </a:p>
        </p:txBody>
      </p:sp>
      <p:sp>
        <p:nvSpPr>
          <p:cNvPr id="5" name="Stat 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$1.68m</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largest error on a grid of one point, 51 levels: 15 policy-iteration steps</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$0.11m</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on a sixteenth of a point, 801 levels: the error halves with the spacing</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$9.037m</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hiring problem needs no grid: three Riccati steps from the cautious gain come within a dollar</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Proposition 8.4.</a:t>
            </a:r>
            <a:r>
              <a:rPr lang="en-US" sz="1700" dirty="0">
                <a:solidFill>
                  <a:schemeClr val="tx1"/>
                </a:solidFill>
              </a:rPr>
              <a:t> An upwind scheme is a monotone dynamic program on a grid, solved by policy iteration in finitely many steps; with continuous data it converges to the value</a:t>
            </a:r>
            <a:endParaRPr lang="en-US" sz="1700" dirty="0"/>
          </a:p>
          <a:p>
            <a:pPr marL="228600" indent="-228600">
              <a:spcAft>
                <a:spcPts val="800"/>
              </a:spcAft>
              <a:buSzPct val="100000"/>
              <a:buChar char="•"/>
            </a:pPr>
            <a:r>
              <a:rPr lang="en-US" sz="1700" dirty="0">
                <a:solidFill>
                  <a:schemeClr val="tx1"/>
                </a:solidFill>
              </a:rPr>
              <a:t>The finest grid prices a point at $10.99m just below the floor and $3.99m above it (exactly $11.02m and $4m), and starts the race from 43.44 (exactly 43.45)</a:t>
            </a:r>
            <a:endParaRPr lang="en-US" sz="1700" dirty="0"/>
          </a:p>
          <a:p>
            <a:pPr marL="228600" indent="-228600">
              <a:spcAft>
                <a:spcPts val="800"/>
              </a:spcAft>
              <a:buSzPct val="100000"/>
              <a:buChar char="•"/>
            </a:pPr>
            <a:r>
              <a:rPr lang="en-US" sz="1700" dirty="0">
                <a:solidFill>
                  <a:schemeClr val="tx1"/>
                </a:solidFill>
              </a:rPr>
              <a:t>Two stocks on grids of 801 levels need 641,601 positions; Meridian's eight coordinates about 1.7 × 10</a:t>
            </a:r>
            <a:r>
              <a:rPr lang="en-US" sz="1700" baseline="30000" dirty="0">
                <a:solidFill>
                  <a:schemeClr val="tx1"/>
                </a:solidFill>
              </a:rPr>
              <a:t>23</a:t>
            </a:r>
            <a:r>
              <a:rPr lang="en-US" sz="1700" dirty="0">
                <a:solidFill>
                  <a:schemeClr val="tx1"/>
                </a:solidFill>
              </a:rPr>
              <a:t>; a linear–quadratic model of them, 36 unknowns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fast should Meridian close its gap?</a:t>
            </a:r>
            <a:endParaRPr lang="en-US" sz="3200" dirty="0"/>
          </a:p>
        </p:txBody>
      </p:sp>
      <p:sp>
        <p:nvSpPr>
          <p:cNvPr id="5" name="Card"/>
          <p:cNvSpPr/>
          <p:nvPr/>
        </p:nvSpPr>
        <p:spPr>
          <a:xfrm>
            <a:off x="548640" y="1691640"/>
            <a:ext cx="3515258" cy="2788920"/>
          </a:xfrm>
          <a:prstGeom prst="roundRect">
            <a:avLst>
              <a:gd name="adj" fmla="val 262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operating officer</a:t>
            </a:r>
            <a:endParaRPr lang="en-US" sz="1300" dirty="0"/>
          </a:p>
        </p:txBody>
      </p:sp>
      <p:sp>
        <p:nvSpPr>
          <p:cNvPr id="7" name="Card head"/>
          <p:cNvSpPr txBox="1"/>
          <p:nvPr/>
        </p:nvSpPr>
        <p:spPr>
          <a:xfrm>
            <a:off x="731520" y="2148840"/>
            <a:ext cx="3149498" cy="8961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rule should HR run?</a:t>
            </a:r>
            <a:endParaRPr lang="en-US" sz="2000" dirty="0"/>
          </a:p>
        </p:txBody>
      </p:sp>
      <p:sp>
        <p:nvSpPr>
          <p:cNvPr id="8" name="Card text"/>
          <p:cNvSpPr txBox="1"/>
          <p:nvPr/>
        </p:nvSpPr>
        <p:spPr>
          <a:xfrm>
            <a:off x="731520" y="3118104"/>
            <a:ext cx="3149498" cy="1234440"/>
          </a:xfrm>
          <a:prstGeom prst="rect">
            <a:avLst/>
          </a:prstGeom>
          <a:noFill/>
          <a:ln/>
        </p:spPr>
        <p:txBody>
          <a:bodyPr wrap="square" lIns="0" tIns="0" rIns="0" bIns="0" rtlCol="0" anchor="t"/>
          <a:lstStyle/>
          <a:p>
            <a:pPr indent="0" marL="0">
              <a:buNone/>
            </a:pPr>
            <a:r>
              <a:rPr lang="en-US" sz="1600" dirty="0">
                <a:solidFill>
                  <a:schemeClr val="tx2"/>
                </a:solidFill>
              </a:rPr>
              <a:t>Volume I recommended the cautious rule, half the gap a quarter, on speed and stability alone.</a:t>
            </a:r>
            <a:endParaRPr lang="en-US" sz="1600" dirty="0"/>
          </a:p>
        </p:txBody>
      </p:sp>
      <p:sp>
        <p:nvSpPr>
          <p:cNvPr id="9" name="Card"/>
          <p:cNvSpPr/>
          <p:nvPr/>
        </p:nvSpPr>
        <p:spPr>
          <a:xfrm>
            <a:off x="4338218" y="1691640"/>
            <a:ext cx="3515258" cy="2788920"/>
          </a:xfrm>
          <a:prstGeom prst="roundRect">
            <a:avLst>
              <a:gd name="adj" fmla="val 262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1" name="Card head"/>
          <p:cNvSpPr txBox="1"/>
          <p:nvPr/>
        </p:nvSpPr>
        <p:spPr>
          <a:xfrm>
            <a:off x="4521098" y="2148840"/>
            <a:ext cx="3149498" cy="8961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do the gap and the delay cost?</a:t>
            </a:r>
            <a:endParaRPr lang="en-US" sz="2000" dirty="0"/>
          </a:p>
        </p:txBody>
      </p:sp>
      <p:sp>
        <p:nvSpPr>
          <p:cNvPr id="12" name="Card text"/>
          <p:cNvSpPr txBox="1"/>
          <p:nvPr/>
        </p:nvSpPr>
        <p:spPr>
          <a:xfrm>
            <a:off x="4521098" y="3118104"/>
            <a:ext cx="3149498" cy="1234440"/>
          </a:xfrm>
          <a:prstGeom prst="rect">
            <a:avLst/>
          </a:prstGeom>
          <a:noFill/>
          <a:ln/>
        </p:spPr>
        <p:txBody>
          <a:bodyPr wrap="square" lIns="0" tIns="0" rIns="0" bIns="0" rtlCol="0" anchor="t"/>
          <a:lstStyle/>
          <a:p>
            <a:pPr indent="0" marL="0">
              <a:buNone/>
            </a:pPr>
            <a:r>
              <a:rPr lang="en-US" sz="1600" dirty="0">
                <a:solidFill>
                  <a:schemeClr val="tx2"/>
                </a:solidFill>
              </a:rPr>
              <a:t>Approvals take a quarter to land, and 60 percent of approved hires become productive engineers.</a:t>
            </a:r>
            <a:endParaRPr lang="en-US" sz="1600" dirty="0"/>
          </a:p>
        </p:txBody>
      </p:sp>
      <p:sp>
        <p:nvSpPr>
          <p:cNvPr id="13" name="Card"/>
          <p:cNvSpPr/>
          <p:nvPr/>
        </p:nvSpPr>
        <p:spPr>
          <a:xfrm>
            <a:off x="8127797" y="1691640"/>
            <a:ext cx="3515258" cy="2788920"/>
          </a:xfrm>
          <a:prstGeom prst="roundRect">
            <a:avLst>
              <a:gd name="adj" fmla="val 262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new declarations</a:t>
            </a:r>
            <a:endParaRPr lang="en-US" sz="1300" dirty="0"/>
          </a:p>
        </p:txBody>
      </p:sp>
      <p:sp>
        <p:nvSpPr>
          <p:cNvPr id="15" name="Card head"/>
          <p:cNvSpPr txBox="1"/>
          <p:nvPr/>
        </p:nvSpPr>
        <p:spPr>
          <a:xfrm>
            <a:off x="8310677" y="2148840"/>
            <a:ext cx="3149498" cy="89611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 price on the gap and on speed</a:t>
            </a:r>
            <a:endParaRPr lang="en-US" sz="2000" dirty="0"/>
          </a:p>
        </p:txBody>
      </p:sp>
      <p:sp>
        <p:nvSpPr>
          <p:cNvPr id="16" name="Card text"/>
          <p:cNvSpPr txBox="1"/>
          <p:nvPr/>
        </p:nvSpPr>
        <p:spPr>
          <a:xfrm>
            <a:off x="8310677" y="3118104"/>
            <a:ext cx="3149498" cy="1234440"/>
          </a:xfrm>
          <a:prstGeom prst="rect">
            <a:avLst/>
          </a:prstGeom>
          <a:noFill/>
          <a:ln/>
        </p:spPr>
        <p:txBody>
          <a:bodyPr wrap="square" lIns="0" tIns="0" rIns="0" bIns="0" rtlCol="0" anchor="t"/>
          <a:lstStyle/>
          <a:p>
            <a:pPr indent="0" marL="0">
              <a:buNone/>
            </a:pPr>
            <a:r>
              <a:rPr lang="en-US" sz="1600" dirty="0">
                <a:solidFill>
                  <a:schemeClr val="bg2"/>
                </a:solidFill>
              </a:rPr>
              <a:t>Program office: a gap costs 0.0032d² a year, $32m at 100 short. Human resources: approving costs 0.000125v² a year.</a:t>
            </a:r>
            <a:endParaRPr lang="en-US" sz="1600" dirty="0"/>
          </a:p>
        </p:txBody>
      </p:sp>
      <p:sp>
        <p:nvSpPr>
          <p:cNvPr id="17" name="Lead"/>
          <p:cNvSpPr txBox="1"/>
          <p:nvPr/>
        </p:nvSpPr>
        <p:spPr>
          <a:xfrm>
            <a:off x="548640" y="47548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digital program's bench is 100 engineers short. Nothing priced a gap or speed, so Volume I could not say how fast is fast enough.</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Price the gap and the pace, then solve</a:t>
            </a:r>
            <a:endParaRPr lang="en-US" sz="3200" dirty="0"/>
          </a:p>
        </p:txBody>
      </p:sp>
      <p:pic>
        <p:nvPicPr>
          <p:cNvPr id="5" name="Equation" descr="Equation: \dot d(t) = -0.42\,d(t) + 0.6\,v\bigl(t - \tfrac14\bigr), \qquad \min \int_0^{\infty} e^{-\rho t}\bigl(0.0032\,d^{2} + 0.000125\,v^{2}\bigr)\,dt">    </p:cNvPr>
          <p:cNvPicPr>
            <a:picLocks noChangeAspect="1"/>
          </p:cNvPicPr>
          <p:nvPr/>
        </p:nvPicPr>
        <p:blipFill>
          <a:blip r:embed="rId1"/>
          <a:stretch>
            <a:fillRect/>
          </a:stretch>
        </p:blipFill>
        <p:spPr>
          <a:xfrm>
            <a:off x="914400" y="1867830"/>
            <a:ext cx="10362895" cy="790619"/>
          </a:xfrm>
          <a:prstGeom prst="rect">
            <a:avLst/>
          </a:prstGeom>
        </p:spPr>
      </p:pic>
      <p:sp>
        <p:nvSpPr>
          <p:cNvPr id="6" name="Text 2"/>
          <p:cNvSpPr txBox="1"/>
          <p:nvPr/>
        </p:nvSpPr>
        <p:spPr>
          <a:xfrm>
            <a:off x="914400" y="279561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gap closes a tenth a quarter on its own; 60 percent of approvals become engineers a quarter later</a:t>
            </a:r>
            <a:endParaRPr lang="en-US" sz="1600" dirty="0"/>
          </a:p>
        </p:txBody>
      </p:sp>
      <p:sp>
        <p:nvSpPr>
          <p:cNvPr id="7" name="Bullets"/>
          <p:cNvSpPr txBox="1"/>
          <p:nvPr/>
        </p:nvSpPr>
        <p:spPr>
          <a:xfrm>
            <a:off x="914400" y="3389970"/>
            <a:ext cx="10362895" cy="278223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 as if approvals landed at once:</a:t>
            </a:r>
            <a:r>
              <a:rPr lang="en-US" sz="1700" dirty="0">
                <a:solidFill>
                  <a:schemeClr val="bg1"/>
                </a:solidFill>
              </a:rPr>
              <a:t> p = 0.000904; approve 4.34 times the gap a year; least cost $9.04m</a:t>
            </a:r>
            <a:endParaRPr lang="en-US" sz="1700" dirty="0"/>
          </a:p>
          <a:p>
            <a:pPr marL="228600" indent="-228600">
              <a:spcAft>
                <a:spcPts val="800"/>
              </a:spcAft>
              <a:buSzPct val="100000"/>
              <a:buChar char="•"/>
            </a:pPr>
            <a:r>
              <a:rPr lang="en-US" sz="1700" dirty="0">
                <a:solidFill>
                  <a:schemeClr val="bg1"/>
                </a:solidFill>
              </a:rPr>
              <a:t>At 100 short an engineer of gap is priced at $181,000; the premium on the last approval, $108,000, equals 60 percent of that price</a:t>
            </a:r>
            <a:endParaRPr lang="en-US" sz="1700" dirty="0"/>
          </a:p>
          <a:p>
            <a:pPr marL="228600" indent="-228600">
              <a:spcAft>
                <a:spcPts val="800"/>
              </a:spcAft>
              <a:buSzPct val="100000"/>
              <a:buChar char="•"/>
            </a:pPr>
            <a:r>
              <a:rPr lang="en-US" sz="1700" b="1" dirty="0">
                <a:solidFill>
                  <a:schemeClr val="bg1"/>
                </a:solidFill>
              </a:rPr>
              <a:t>Step 3, with the delay:</a:t>
            </a:r>
            <a:r>
              <a:rPr lang="en-US" sz="1700" dirty="0">
                <a:solidFill>
                  <a:schemeClr val="bg1"/>
                </a:solidFill>
              </a:rPr>
              <a:t> steer by the predicted gap, 90 short today, at 4.28 times it a year</a:t>
            </a:r>
            <a:endParaRPr lang="en-US" sz="1700" dirty="0"/>
          </a:p>
          <a:p>
            <a:pPr marL="228600" indent="-228600">
              <a:spcAft>
                <a:spcPts val="800"/>
              </a:spcAft>
              <a:buSzPct val="100000"/>
              <a:buChar char="•"/>
            </a:pPr>
            <a:r>
              <a:rPr lang="en-US" sz="1700" dirty="0">
                <a:solidFill>
                  <a:schemeClr val="bg1"/>
                </a:solidFill>
              </a:rPr>
              <a:t>The rule starts at 385 a year and approves 68 in the first quarter; the gap closes without overshoot</a:t>
            </a:r>
            <a:endParaRPr lang="en-US" sz="1700" dirty="0"/>
          </a:p>
          <a:p>
            <a:pPr marL="228600" indent="-228600">
              <a:spcAft>
                <a:spcPts val="800"/>
              </a:spcAft>
              <a:buSzPct val="100000"/>
              <a:buChar char="•"/>
            </a:pPr>
            <a:r>
              <a:rPr lang="en-US" sz="1700" dirty="0">
                <a:solidFill>
                  <a:schemeClr val="bg1"/>
                </a:solidFill>
              </a:rPr>
              <a:t>Least cost $14.35m: $7.13m for the first quarter, fixed whatever the rule, plus $7.22m; the delay costs $5.31m</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TABLE 8.3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Rules for closing a gap of 100 engineers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862833"/>
                <a:gridCol w="943250"/>
                <a:gridCol w="1392416"/>
                <a:gridCol w="853417"/>
                <a:gridCol w="1122917"/>
                <a:gridCol w="988167"/>
                <a:gridCol w="898333"/>
                <a:gridCol w="1033083"/>
              </a:tblGrid>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Gain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First quarter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Peak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At a year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Cost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Extra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At once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75488">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Best rule: steer by the predicted gap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14.35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Step 2's gain on today's gap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17.47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Best gain on today's gap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0.23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10.14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cautious gain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14.84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0.49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11.08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754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deadbeat gain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25.07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10.72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9.46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46634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Present values at 10 percent over an open horizon, $ million. Gain: approvals a quarter as a multiple of the gap. First quarter: approved in it. Peak: largest surplus (engineers). At a year: bench minus target. At once: the rule's cost if approvals landed at once. *On the predicted gap, counting approvals in flight.</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Steer by the predicted gap; a rule that cannot see the pipeline must be gentle.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STEPS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Count the pipeline, or steer gently</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Step 2's gain on today's gap overshoots to 16 (</a:t>
            </a:r>
            <a:r>
              <a:rPr lang="en-US" sz="1500" b="1" dirty="0">
                <a:solidFill>
                  <a:schemeClr val="tx1"/>
                </a:solidFill>
              </a:rPr>
              <a:t>$3.12m</a:t>
            </a:r>
            <a:r>
              <a:rPr lang="en-US" sz="1500" dirty="0">
                <a:solidFill>
                  <a:schemeClr val="tx1"/>
                </a:solidFill>
              </a:rPr>
              <a:t> more); Volume I's deadbeat gain to 37 (</a:t>
            </a:r>
            <a:r>
              <a:rPr lang="en-US" sz="1500" b="1" dirty="0">
                <a:solidFill>
                  <a:schemeClr val="tx1"/>
                </a:solidFill>
              </a:rPr>
              <a:t>$10.72m</a:t>
            </a:r>
            <a:r>
              <a:rPr lang="en-US" sz="1500" dirty="0">
                <a:solidFill>
                  <a:schemeClr val="tx1"/>
                </a:solidFill>
              </a:rPr>
              <a:t>)</a:t>
            </a:r>
            <a:endParaRPr lang="en-US" sz="1500" dirty="0"/>
          </a:p>
          <a:p>
            <a:pPr marL="228600" indent="-228600">
              <a:spcAft>
                <a:spcPts val="800"/>
              </a:spcAft>
              <a:buSzPct val="100000"/>
              <a:buChar char="•"/>
            </a:pPr>
            <a:r>
              <a:rPr lang="en-US" sz="1500" dirty="0">
                <a:solidFill>
                  <a:schemeClr val="tx1"/>
                </a:solidFill>
              </a:rPr>
              <a:t>The best gain on today's gap is gentle, 0.62 a quarter: within </a:t>
            </a:r>
            <a:r>
              <a:rPr lang="en-US" sz="1500" b="1" dirty="0">
                <a:solidFill>
                  <a:schemeClr val="tx1"/>
                </a:solidFill>
              </a:rPr>
              <a:t>$0.23m</a:t>
            </a:r>
            <a:r>
              <a:rPr lang="en-US" sz="1500" dirty="0">
                <a:solidFill>
                  <a:schemeClr val="tx1"/>
                </a:solidFill>
              </a:rPr>
              <a:t>; Volume I's cautious gain: </a:t>
            </a:r>
            <a:r>
              <a:rPr lang="en-US" sz="1500" b="1" dirty="0">
                <a:solidFill>
                  <a:schemeClr val="tx1"/>
                </a:solidFill>
              </a:rPr>
              <a:t>$0.49m</a:t>
            </a:r>
            <a:endParaRPr lang="en-US" sz="1500" dirty="0"/>
          </a:p>
          <a:p>
            <a:pPr marL="228600" indent="-228600">
              <a:spcAft>
                <a:spcPts val="800"/>
              </a:spcAft>
              <a:buSzPct val="100000"/>
              <a:buChar char="•"/>
            </a:pPr>
            <a:r>
              <a:rPr lang="en-US" sz="1500" dirty="0">
                <a:solidFill>
                  <a:schemeClr val="tx1"/>
                </a:solidFill>
              </a:rPr>
              <a:t>If approvals landed at once, the cautious gain would be the worst of these, $2.05m above the best</a:t>
            </a:r>
            <a:endParaRPr lang="en-US" sz="1500" dirty="0"/>
          </a:p>
          <a:p>
            <a:pPr marL="228600" indent="-228600">
              <a:spcAft>
                <a:spcPts val="800"/>
              </a:spcAft>
              <a:buSzPct val="100000"/>
              <a:buChar char="•"/>
            </a:pPr>
            <a:r>
              <a:rPr lang="en-US" sz="1500" b="1" dirty="0">
                <a:solidFill>
                  <a:schemeClr val="tx1"/>
                </a:solidFill>
              </a:rPr>
              <a:t>Step 5:</a:t>
            </a:r>
            <a:r>
              <a:rPr lang="en-US" sz="1500" dirty="0">
                <a:solidFill>
                  <a:schemeClr val="tx1"/>
                </a:solidFill>
              </a:rPr>
              <a:t> half a year's delay, steered for a quarter, costs $19.99m against $18.54m for the right rule</a:t>
            </a:r>
            <a:endParaRPr lang="en-US" sz="1500" dirty="0"/>
          </a:p>
          <a:p>
            <a:pPr marL="228600" indent="-228600">
              <a:spcAft>
                <a:spcPts val="800"/>
              </a:spcAft>
              <a:buSzPct val="100000"/>
              <a:buChar char="•"/>
            </a:pPr>
            <a:r>
              <a:rPr lang="en-US" sz="1500" dirty="0">
                <a:solidFill>
                  <a:schemeClr val="tx1"/>
                </a:solidFill>
              </a:rPr>
              <a:t>A month instead of a quarter is worth $3.40m; at 30 percent productivity the rule is within $0.08m</a:t>
            </a:r>
            <a:endParaRPr lang="en-US" sz="1500" dirty="0"/>
          </a:p>
        </p:txBody>
      </p:sp>
      <p:pic>
        <p:nvPicPr>
          <p:cNvPr id="6" name="Figure" descr="Figure 8.2: closing a gap of 100 engineers when approvals take a quarter">    </p:cNvPr>
          <p:cNvPicPr>
            <a:picLocks noChangeAspect="1"/>
          </p:cNvPicPr>
          <p:nvPr/>
        </p:nvPicPr>
        <p:blipFill>
          <a:blip r:embed="rId1"/>
          <a:stretch>
            <a:fillRect/>
          </a:stretch>
        </p:blipFill>
        <p:spPr>
          <a:xfrm>
            <a:off x="5391174" y="2044783"/>
            <a:ext cx="6251881" cy="3207345"/>
          </a:xfrm>
          <a:prstGeom prst="rect">
            <a:avLst/>
          </a:prstGeom>
        </p:spPr>
      </p:pic>
      <p:sp>
        <p:nvSpPr>
          <p:cNvPr id="7" name="Caption"/>
          <p:cNvSpPr txBox="1"/>
          <p:nvPr/>
        </p:nvSpPr>
        <p:spPr>
          <a:xfrm>
            <a:off x="5391174" y="532528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8.2. (a) The gap under the best rule and under rules on today's gap. (b) Approvals: the best rule starts at 385 a year and eases as the pipeline fills.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8.1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Approve by the gap a quarter ahead</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4.28</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times the predicted gap a year, about 1.07 a quarter: 385 a year at first, 68 approvals in the first quarter</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$14.35m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gap and premium from 100 short; within 10 engineers in a year, without overshoot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$3.4m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saved by cutting the delay to a month: the case for faster onboarding</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A rule that cannot see the pipeline must be gentle: Volume I's cautious gain comes within $0.5m; steering hard on today's gap costs up to $10.7m more</a:t>
            </a:r>
            <a:endParaRPr lang="en-US" sz="1700" dirty="0"/>
          </a:p>
          <a:p>
            <a:pPr marL="228600" indent="-228600">
              <a:spcAft>
                <a:spcPts val="800"/>
              </a:spcAft>
              <a:buSzPct val="100000"/>
              <a:buChar char="•"/>
            </a:pPr>
            <a:r>
              <a:rPr lang="en-US" sz="1700" dirty="0">
                <a:solidFill>
                  <a:schemeClr val="tx1"/>
                </a:solidFill>
              </a:rPr>
              <a:t>Three owners: the program office keeps the cost of a gap; human resources the premium and the record of approvals in flight; the board the hurdle rate</a:t>
            </a:r>
            <a:endParaRPr lang="en-US" sz="1700" dirty="0"/>
          </a:p>
          <a:p>
            <a:pPr marL="228600" indent="-228600">
              <a:spcAft>
                <a:spcPts val="800"/>
              </a:spcAft>
              <a:buSzPct val="100000"/>
              <a:buChar char="•"/>
            </a:pPr>
            <a:r>
              <a:rPr lang="en-US" sz="1700" dirty="0">
                <a:solidFill>
                  <a:schemeClr val="tx1"/>
                </a:solidFill>
              </a:rPr>
              <a:t>For discussion: what would HR have to track, and who should audit it? If the delay is sometimes half a year, which rule would you run?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OPTIMAL EXECUTION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Brokers pace a large sale with a rule</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How fast to sell a block</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Sell fast and push the price down; sell slowly and bear the risk that the price moves.</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Linear–quadratic, with a deadline</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Almgren–Chriss: sell in proportion to what remains, with a gain that rises as the deadline nears.</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A standard of execution</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Many brokers offer shortfall-minimizing algorithms; Citigroup estimated impact from 29,509 orders.</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Assumptions met the data</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Impact followed a 3/5 power law, not a straight line, and rules that read prices beat the static schedule.</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Worked Example 8.1 with a deadline</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A stock that costs its square, closed at a pace that costs its square, gives a linear rule.</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does speed cost us?</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When we must exit a position, what does waiting risk, and who decides the trade-off?</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2.8 · MODULE AXIOM-08</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Steering by the value,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Human resources must propose a standing rule for approving hires against the engineering gap, and the board wants a certificate that no other rule does better. Open AXIOM, choose Lab 2.8 and load the Meridian hiring instance and Chapter 6's capability instance.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Assemble the equation</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Try quadratic values; map the residual and its bound; find both roots.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the Hamiltonian</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Plot it against the approval rate; find where the premium meets the value.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Generate and simulate rules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With and without the delay, beside Volume I's rules and the predicted gap.</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 prices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Check that the value's slope along the best path is Chapter 6's costate.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Solve on a grid</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Upwind scheme and policy iteration, one point to a sixteenth; corners, errors.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approval rule and its cost, the comparison with Volume I's rules, the value of faster onboarding, the certificate, and the declarations the rule rests 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HJB equation is Bellman's equation in continuous time: the hurdle return on a position equals the best of what the next moment earns plus the change in the position's value. Wherever the value has a slope it solves the equation, and along a best plan its slope is Chapter 6's costate.</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best rule maximizes the Hamiltonian at the value's slope: at every position, compare a decision's cost with the value of what it builds—at a limit or holding when decisions enter linearly, marginal cost equal to marginal value when they enter smoothly.</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function that satisfies the HJB equation, a rule that attains it, and a limit condition at the far end of time certify the rule as best; a residual of ε a year bounds the error by ε/ρ. Value functions have corners; with continuous data the equation holds there in the viscosity sense, and only the value function satisfies it; for one stock, a direct certificate covers an abrupt declaration.</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Linear dynamics with quadratic costs give linear rules from a Riccati equation, found by policy iteration and stable under any stronger gain when decisions act at once. A delay breaks that, and is handled by steering on the predicted state, which counts the decisions in flight.</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Upwind schemes are dynamic programs on a grid, solved by policy iteration; with continuous data they converge to the value function, corners included. Grids grow as Gⁿ with the number of stocks, a curse that linear–quadratic problems escape.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65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67</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26208</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AXIOM-08</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2.8</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DCT_V2_Ch08_Lab.ipynb: Worked Example 8.1 and the lab's five steps in nine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DCT_V2_Ch08_Lab.xlsx: the Riccati roots, the predicted-gap rule, policy iteration, the critical gain, Chapter 6's closed forms and the upwind scheme,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Part III adds outside events at random</a:t>
            </a:r>
            <a:endParaRPr lang="en-US" sz="3200" dirty="0"/>
          </a:p>
        </p:txBody>
      </p:sp>
      <p:pic>
        <p:nvPicPr>
          <p:cNvPr id="5" name="Equation" descr="Equation: \rho V(x) \;=\; \max_{u \in U(x)} \bigl\{\, \ell(x,u) + \nabla V(x)^{\top} f(x,u) \,\bigr\}">    </p:cNvPr>
          <p:cNvPicPr>
            <a:picLocks noChangeAspect="1"/>
          </p:cNvPicPr>
          <p:nvPr/>
        </p:nvPicPr>
        <p:blipFill>
          <a:blip r:embed="rId1"/>
          <a:stretch>
            <a:fillRect/>
          </a:stretch>
        </p:blipFill>
        <p:spPr>
          <a:xfrm>
            <a:off x="2968600" y="1691640"/>
            <a:ext cx="6254496" cy="822960"/>
          </a:xfrm>
          <a:prstGeom prst="rect">
            <a:avLst/>
          </a:prstGeom>
        </p:spPr>
      </p:pic>
      <p:sp>
        <p:nvSpPr>
          <p:cNvPr id="6" name="Bullets"/>
          <p:cNvSpPr txBox="1"/>
          <p:nvPr/>
        </p:nvSpPr>
        <p:spPr>
          <a:xfrm>
            <a:off x="548640" y="2834640"/>
            <a:ext cx="11094415" cy="333756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Chapter 9 opens Part III: outside events that push the stocks at random</a:t>
            </a:r>
            <a:endParaRPr lang="en-US" sz="1800" dirty="0"/>
          </a:p>
          <a:p>
            <a:pPr marL="228600" indent="-228600">
              <a:spcAft>
                <a:spcPts val="800"/>
              </a:spcAft>
              <a:buSzPct val="100000"/>
              <a:buChar char="•"/>
            </a:pPr>
            <a:r>
              <a:rPr lang="en-US" sz="1800" dirty="0">
                <a:solidFill>
                  <a:schemeClr val="bg1"/>
                </a:solidFill>
              </a:rPr>
              <a:t>The HJB equation gains a term for their spread; verification, viscosity solutions and monotone schemes carry over</a:t>
            </a:r>
            <a:endParaRPr lang="en-US" sz="1800" dirty="0"/>
          </a:p>
          <a:p>
            <a:pPr marL="228600" indent="-228600">
              <a:spcAft>
                <a:spcPts val="800"/>
              </a:spcAft>
              <a:buSzPct val="100000"/>
              <a:buChar char="•"/>
            </a:pPr>
            <a:r>
              <a:rPr lang="en-US" sz="1800" dirty="0">
                <a:solidFill>
                  <a:schemeClr val="bg1"/>
                </a:solidFill>
              </a:rPr>
              <a:t>For linear–quadratic problems whose events add to the stocks regardless of their level, the best rule is unchanged and only the cost rises: certainty equivalence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8: Hamilton–Jacobi–Bellman Enterprise Framework</dc:title>
  <dc:subject>Slides for Volume II, Chapter 8 (V56)</dc:subject>
  <dc:creator>Samir Asaf</dc:creator>
  <cp:lastModifiedBy>Samir Asaf</cp:lastModifiedBy>
  <cp:revision>1</cp:revision>
  <dcterms:created xsi:type="dcterms:W3CDTF">2026-10-06T07:09:11Z</dcterms:created>
  <dcterms:modified xsi:type="dcterms:W3CDTF">2026-10-06T07:09:11Z</dcterms:modified>
</cp:coreProperties>
</file>