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a36709c-51fc-4298-078c-0d8f1b843770}">
          <p14:sldIdLst>
            <p14:sldId id="256"/>
            <p14:sldId id="257"/>
            <p14:sldId id="258"/>
            <p14:sldId id="259"/>
          </p14:sldIdLst>
        </p14:section>
        <p14:section name="9.1 From One Future to a Declared Law" id="{7fdbcf3b-703f-0cf7-6d1e-d76ee3facedd}">
          <p14:sldIdLst>
            <p14:sldId id="260"/>
            <p14:sldId id="261"/>
          </p14:sldIdLst>
        </p14:section>
        <p14:section name="9.2 The Stochastic HJB Equation" id="{cf177be7-1bf6-61ea-cbfb-fc20c8c40c22}">
          <p14:sldIdLst>
            <p14:sldId id="262"/>
          </p14:sldIdLst>
        </p14:section>
        <p14:section name="9.3 What Outside Events Change in a Rule" id="{ef85ca1b-4006-8a13-3b23-2471c10a609c}">
          <p14:sldIdLst>
            <p14:sldId id="263"/>
            <p14:sldId id="264"/>
          </p14:sldIdLst>
        </p14:section>
        <p14:section name="9.4 Commitments Kept with a Stated Probability" id="{2621b6f6-dd6b-816c-a44f-9caef21d731d}">
          <p14:sldIdLst>
            <p14:sldId id="265"/>
            <p14:sldId id="266"/>
          </p14:sldIdLst>
        </p14:section>
        <p14:section name="9.5 Rules, Recourse, and the Value of Information" id="{879cbd53-ffce-817f-2dd8-68dd6089ec73}">
          <p14:sldIdLst>
            <p14:sldId id="267"/>
          </p14:sldIdLst>
        </p14:section>
        <p14:section name="9.6 Computing with Samples" id="{bfea826f-4270-6466-7b08-edd74656ce2e}">
          <p14:sldIdLst>
            <p14:sldId id="268"/>
            <p14:sldId id="269"/>
          </p14:sldIdLst>
        </p14:section>
        <p14:section name="Worked Example 9.1" id="{feb31fae-23dd-8ba3-635f-07d550405ce4}">
          <p14:sldIdLst>
            <p14:sldId id="270"/>
            <p14:sldId id="271"/>
            <p14:sldId id="272"/>
            <p14:sldId id="273"/>
            <p14:sldId id="274"/>
          </p14:sldIdLst>
        </p14:section>
        <p14:section name="AXIOM Lab 2.9" id="{e4674cd2-1449-c5f1-1e24-359de8b4033d}">
          <p14:sldIdLst>
            <p14:sldId id="275"/>
          </p14:sldIdLst>
        </p14:section>
        <p14:section name="Close" id="{71b4023e-e77e-f768-d9d0-271b2fc82024}">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9, opens Part III. Part II steered with one declared future, or with outside events drawn from a short list; Part III declares the uncertainty itself, and this chapter takes the first declaration: a probability law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Russell's remark frames the chapter: a probability law is a declaration, with an owner, like the floor and the hurdle rate (Section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9.1–9.3 are in Appendix 9.A; Propositions 9.1–9.3, the numbers behind Worked Example 9.1 and the hiring loop with outside events in Online Appendix 9.B.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9.1 and Table 9.1. A chance constraint requires a commitment to hold, at every review it covers, with probability at least 1 − α. The law is a declaration with an owner: for the digital program it was made in Volume I from the engineering office's and the treasury's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9.1. Volume I, Chapter 8 declared the law for Meridian's digital program (Volume I, Theorems 8.3 and 8.4). The three declarations of Part III pose different problems, with different answers (Volume I, Proposition 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9.1, Equations 9.2–9.3; formal statement and proof in Appendix 9.A. A convex value gains from spread, which is why options are worth more when the future is more uncertain. The ledger numbers are in Online Appendix 9.B.3.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9.2 and Equation 9.4; formal statement and proof in Appendix 9.A. Part (iii) is Brainard's principle: when the effect of a lever is uncertain, pull it less hard. The vigilance gain of 4.52 is in Online Appendix 9.B.3.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9.1; formal statement and proof in Online Appendix 9.B. The coefficient b²/r − 2θσ² turns negative at θ = 6.4, but the robust rule continues to the breakdown point 6.553, where p tends to 2q/β = 0.006822 and the gain to 32.7 (Remark 9.B.1; Online Appendix 9.B.3).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9.2 and Figure 9.1; formal statement and proof in Online Appendix 9.B. Each quarter's chance follows from the Gaussian law of Volume I, Theorem 8.3, as Theorem 3.6(v) would compute it; the joint chance needs the whole path. 100,000 paths of Volume I, Chapter 8's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9.4, Enterprise Interpretation; Online Appendix 9.B.2: quarter by quarter, l = 60, φ = 0.008, $1.86m, 16.69% (fresh 16.39%); CVaR, l = 185, φ = 1.596, $18.31m, 1.88% (fresh 1.85%).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9.3; formal statement and proof in Online Appendix 9.B. Recourse is the stochastic programming name for decisions that respond to what has been revealed (Proposition 7.2(ii); Volume I, Theorem 15.4(iii)). Clairvoyant over lines $0–400m: $0.437m (Online Appendix 9.B.2).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9.2. Grids converge by Kushner and Dupuis; the scenario approach is Campi and Garatti's. Every Meridian number in the chapter comes from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9.3 and Equation 9.5; formal statement and proof in Appendix 9.A. The bound is conservative, so the board's test of record is the check on fresh paths. Online Appendix 9.B.2: designs on 200 samples of 1,000 paths (seeds 900000–900199) and 100 of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the situation. Volume I, Worked Example 15.1 priced the board's appetite and left this question open. A quarter of committed delay lifts liquidity by up to $25 million, at the deepest point of the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Steps 1 and 2; Online Appendix 9.B.2. On the fresh paths the package breaches 4.907 percent of the time, within 1.3 standard errors of 5 percent: the appetite holds (Theorem 9.3(iv)).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9.3. Designed on the book's 100,000 paths by sample average approximation; every answer checked on 100,000 fresh paths (seed 26209).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Steps 3–5; Online Appendix 9.B.2. Reading quarter 1, slowing only slows 99 percent of paths by a quarter, a committed delay in disguise; after quarter 3 only 30 percent of the draw is still ahead. With the warning: no line and 0.61 quarter when no closure is coming; a $215m line and half a quarter when one is, at 5.7 percent there and 4.8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9.1, what the board should take away, and the discussion questions. If execution surprises persisted longer, as in Step 5's test, who would have to read cash, and how fast would they have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2.9. What to look for: chances under 1 percent in every quarter when the program-wide chance is 5 percent; designs that look safe on their own 1,000 paths and fail on fresh ones; a rule that saves little because cash reveals trouble late, and a warning worth $4.1 million; a gain that stays at 4.34 a year with departures and falls to 4.16 with an uncertain yield; a value ledger with no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and Limits box of Section 9.1 and Proposition 9.1's Enterprise Interpretation point ahead to Chapters 10 and 11, the other two declarations of Part III, Enterprise Optimization Under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9</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9</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9 · WEEK 11</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Stochastic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With a declared law, the objective becomes an expectation, a commitment a probability, and a decision a rule that reads what has happened</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26209 · AXIOM Lab 2.9 (AXIOM-09)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“Probability is the most important concept in modern science, especially as nobody has the slightest notion what it means.”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Bertrand Russell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1950; lecture, 1929, as quoted by E. T. Bell (1945)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declaring a probability law adds to an enterprise optimization problem—expectations, probabilities, and information—and why the average path misleads.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 stochastic control problem, write its Hamilton–Jacobi–Bellman equation with the spread term, and certify a rule with the verification theorem.</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outside events change in a linear–quadratic rule: certainty equivalence and its cost, gentler steering when the effect of decisions is uncertain, and harder steering when risk grows with the stocks or the law itself is in doubt.</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commitments kept with a stated probability and decisions with recourse, and measure the value of information and of the rules that use it.</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9.5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Compute with samples: estimate expectations and probabilities with their errors, solve by sample average approximation, and judge an answer on fresh draws with a margin.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One Future to a Declared Law</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9.1 · Table 9.1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Stochastic HJB Equation</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9.1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What Outside Events Change in a Rule</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9.2 · Proposition 9.1</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Commitments Kept with a Stated Probability</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9.2 · Figure 9.1</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Rules, Recourse, and the Value of Information</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9.3</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§9.6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Computing with Samples</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9.3 · Table 9.2 · Figure 9.2</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9.1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Can a Rule Replace the Committed Delay?</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9.3 · Figure 9.3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2.9</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Keeping Meridian's Appetite: Odds, Rules, and Samples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AXIOM-09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§9.1 · DEFINITION 9.1 · TABLE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a declared law changes</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00632"/>
                <a:gridCol w="4001264"/>
                <a:gridCol w="5092518"/>
              </a:tblGrid>
              <a:tr h="566928">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One future (Chapters 5–8)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declared law (this chapter)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value of the path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its expected value; the average path is not a plan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the path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every path, on average, or with a stated probability (Proposition 9.2)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plan, or a rule that reads the stocks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rule that reads what has been revealed; information has a value (Proposition 9.3)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Value of a position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HJB equation (Theorem 8.1)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same, plus half the spread priced at the value's curvature (Theorem 9.1)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Certificate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verification, limit condition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same in expectation; no drift in the value ledger (Theorem 9.1(iii))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Computation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transcription, grids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samples: Monte Carlo, sample average approximation, fresh draws (Theorem 9.3)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9.1: a law and the information it reveals; stocks, rules, an expected objective, and commitments of three grades.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§9.1 · VOLUME I, CHAPTER 8'S LAW</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average path is not a plan</a:t>
            </a:r>
            <a:endParaRPr lang="en-US" sz="3200" dirty="0"/>
          </a:p>
        </p:txBody>
      </p:sp>
      <p:sp>
        <p:nvSpPr>
          <p:cNvPr id="5" name="Stat 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$460m</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average path's trough: it clears the $350m floor with room to spare</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24.6%</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of the program's paths breach the floor with no levers</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board's appetite: the most it accepts, in some quarter of the program</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Execution and market surprises: sd $50m a quarter, 60 percent carried into the next; funding-window closures about once a decade, removing $120m on average</a:t>
            </a:r>
            <a:endParaRPr lang="en-US" sz="1700" dirty="0"/>
          </a:p>
          <a:p>
            <a:pPr marL="228600" indent="-228600">
              <a:spcAft>
                <a:spcPts val="800"/>
              </a:spcAft>
              <a:buSzPct val="100000"/>
              <a:buChar char="•"/>
            </a:pPr>
            <a:r>
              <a:rPr lang="en-US" sz="1700" dirty="0">
                <a:solidFill>
                  <a:schemeClr val="tx1"/>
                </a:solidFill>
              </a:rPr>
              <a:t>The average of the outcomes is not the outcome of the average (Volume I, Theorem 8.5(ii))</a:t>
            </a:r>
            <a:endParaRPr lang="en-US" sz="1700" dirty="0"/>
          </a:p>
          <a:p>
            <a:pPr marL="228600" indent="-228600">
              <a:spcAft>
                <a:spcPts val="800"/>
              </a:spcAft>
              <a:buSzPct val="100000"/>
              <a:buChar char="•"/>
            </a:pPr>
            <a:r>
              <a:rPr lang="en-US" sz="1700" dirty="0">
                <a:solidFill>
                  <a:schemeClr val="tx1"/>
                </a:solidFill>
              </a:rPr>
              <a:t>Part III declares uncertainty three ways: a law (Chapter 9), a bounded set (Chapter 10), a family of laws (Chapter 11)</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§9.2 · THEOREM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Uncertainty is priced at the curvature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9.1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Stochastic HJB Theorem</a:t>
            </a:r>
            <a:endParaRPr lang="en-US" sz="2100" dirty="0"/>
          </a:p>
        </p:txBody>
      </p:sp>
      <p:pic>
        <p:nvPicPr>
          <p:cNvPr id="8" name="Equation" descr="Equation: \rho V(x) \;=\; \max_{u}\Bigl\{\ell(x,u) + \nabla V(x)^{\top} f(x,u) + \tfrac{1}{2}\,\mathrm{tr}\bigl(\sigma\sigma^{\top}(x,u)\,\nabla^{2}V(x)\bigr)\Bigr\}">    </p:cNvPr>
          <p:cNvPicPr>
            <a:picLocks noChangeAspect="1"/>
          </p:cNvPicPr>
          <p:nvPr/>
        </p:nvPicPr>
        <p:blipFill>
          <a:blip r:embed="rId1"/>
          <a:stretch>
            <a:fillRect/>
          </a:stretch>
        </p:blipFill>
        <p:spPr>
          <a:xfrm>
            <a:off x="822960" y="2865206"/>
            <a:ext cx="5394960" cy="441788"/>
          </a:xfrm>
          <a:prstGeom prst="rect">
            <a:avLst/>
          </a:prstGeom>
        </p:spPr>
      </p:pic>
      <p:sp>
        <p:nvSpPr>
          <p:cNvPr id="9" name="Bullets"/>
          <p:cNvSpPr txBox="1"/>
          <p:nvPr/>
        </p:nvSpPr>
        <p:spPr>
          <a:xfrm>
            <a:off x="822960" y="3471586"/>
            <a:ext cx="5394960" cy="2563454"/>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Expected change.</a:t>
            </a:r>
            <a:r>
              <a:rPr lang="en-US" sz="1600" dirty="0">
                <a:solidFill>
                  <a:schemeClr val="tx1"/>
                </a:solidFill>
              </a:rPr>
              <a:t> A smooth function of the stocks drifts at its slope times their drift plus half their spread times its curvature</a:t>
            </a:r>
            <a:endParaRPr lang="en-US" sz="1600" dirty="0"/>
          </a:p>
          <a:p>
            <a:pPr marL="228600" indent="-228600">
              <a:spcAft>
                <a:spcPts val="600"/>
              </a:spcAft>
              <a:buSzPct val="100000"/>
              <a:buChar char="•"/>
            </a:pPr>
            <a:r>
              <a:rPr lang="en-US" sz="1600" b="1" dirty="0">
                <a:solidFill>
                  <a:schemeClr val="tx1"/>
                </a:solidFill>
              </a:rPr>
              <a:t>(ii) The equation.</a:t>
            </a:r>
            <a:r>
              <a:rPr lang="en-US" sz="1600" dirty="0">
                <a:solidFill>
                  <a:schemeClr val="tx1"/>
                </a:solidFill>
              </a:rPr>
              <a:t> Where the value is twice differentiable, it solves the equation above</a:t>
            </a:r>
            <a:endParaRPr lang="en-US" sz="1600" dirty="0"/>
          </a:p>
          <a:p>
            <a:pPr marL="228600" indent="-228600">
              <a:spcAft>
                <a:spcPts val="600"/>
              </a:spcAft>
              <a:buSzPct val="100000"/>
              <a:buChar char="•"/>
            </a:pPr>
            <a:r>
              <a:rPr lang="en-US" sz="1600" b="1" dirty="0">
                <a:solidFill>
                  <a:schemeClr val="tx1"/>
                </a:solidFill>
              </a:rPr>
              <a:t>(iii) Verification.</a:t>
            </a:r>
            <a:r>
              <a:rPr lang="en-US" sz="1600" dirty="0">
                <a:solidFill>
                  <a:schemeClr val="tx1"/>
                </a:solidFill>
              </a:rPr>
              <a:t> A function satisfying it as an inequality bounds every rule; along the best rule, value earned plus the position's value has no drift</a:t>
            </a:r>
            <a:endParaRPr lang="en-US" sz="16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In Chapter 8's hiring loop</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value −pd² is concave, p = 0.000904: spread lowers its average</a:t>
            </a:r>
            <a:endParaRPr lang="en-US" sz="1600" dirty="0"/>
          </a:p>
          <a:p>
            <a:pPr marL="228600" indent="-228600">
              <a:spcAft>
                <a:spcPts val="800"/>
              </a:spcAft>
              <a:buSzPct val="100000"/>
              <a:buChar char="•"/>
            </a:pPr>
            <a:r>
              <a:rPr lang="en-US" sz="1600" dirty="0">
                <a:solidFill>
                  <a:schemeClr val="tx1"/>
                </a:solidFill>
              </a:rPr>
              <a:t>HR's record: departures and early or late starts move the bench by 15 engineers a year</a:t>
            </a:r>
            <a:endParaRPr lang="en-US" sz="1600" dirty="0"/>
          </a:p>
          <a:p>
            <a:pPr marL="228600" indent="-228600">
              <a:spcAft>
                <a:spcPts val="800"/>
              </a:spcAft>
              <a:buSzPct val="100000"/>
              <a:buChar char="•"/>
            </a:pPr>
            <a:r>
              <a:rPr lang="en-US" sz="1600" dirty="0">
                <a:solidFill>
                  <a:schemeClr val="tx1"/>
                </a:solidFill>
              </a:rPr>
              <a:t>They cost σ²p = </a:t>
            </a:r>
            <a:r>
              <a:rPr lang="en-US" sz="1600" b="1" dirty="0">
                <a:solidFill>
                  <a:schemeClr val="tx1"/>
                </a:solidFill>
              </a:rPr>
              <a:t>$0.20m</a:t>
            </a:r>
            <a:r>
              <a:rPr lang="en-US" sz="1600" dirty="0">
                <a:solidFill>
                  <a:schemeClr val="tx1"/>
                </a:solidFill>
              </a:rPr>
              <a:t> a year, </a:t>
            </a:r>
            <a:r>
              <a:rPr lang="en-US" sz="1600" b="1" dirty="0">
                <a:solidFill>
                  <a:schemeClr val="tx1"/>
                </a:solidFill>
              </a:rPr>
              <a:t>$2.13m</a:t>
            </a:r>
            <a:r>
              <a:rPr lang="en-US" sz="1600" dirty="0">
                <a:solidFill>
                  <a:schemeClr val="tx1"/>
                </a:solidFill>
              </a:rPr>
              <a:t> in present value, whatever HR decides</a:t>
            </a:r>
            <a:endParaRPr lang="en-US" sz="1600" dirty="0"/>
          </a:p>
          <a:p>
            <a:pPr marL="228600" indent="-228600">
              <a:spcAft>
                <a:spcPts val="800"/>
              </a:spcAft>
              <a:buSzPct val="100000"/>
              <a:buChar char="•"/>
            </a:pPr>
            <a:r>
              <a:rPr lang="en-US" sz="1600" dirty="0">
                <a:solidFill>
                  <a:schemeClr val="tx1"/>
                </a:solidFill>
              </a:rPr>
              <a:t>The audit: along the best rule the ledger stays at $11.171m; under Volume I's cautious gain it drifts toward $13.70m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§9.3 · THEOREM 9.2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ways outside events enter a rule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9.2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Linear–Quadratic Rules under Uncertainty</a:t>
            </a:r>
            <a:endParaRPr lang="en-US" sz="2100" dirty="0"/>
          </a:p>
        </p:txBody>
      </p:sp>
      <p:pic>
        <p:nvPicPr>
          <p:cNvPr id="8" name="Equation" descr="Equation: dd = (-a\,d + b\,v)\,dt + \sigma\,dW_1 + s\,v\,dW_2, \qquad K = \frac{b\,p}{r + s^{2}p}">    </p:cNvPr>
          <p:cNvPicPr>
            <a:picLocks noChangeAspect="1"/>
          </p:cNvPicPr>
          <p:nvPr/>
        </p:nvPicPr>
        <p:blipFill>
          <a:blip r:embed="rId1"/>
          <a:stretch>
            <a:fillRect/>
          </a:stretch>
        </p:blipFill>
        <p:spPr>
          <a:xfrm>
            <a:off x="822960" y="2743200"/>
            <a:ext cx="4974088" cy="566928"/>
          </a:xfrm>
          <a:prstGeom prst="rect">
            <a:avLst/>
          </a:prstGeom>
        </p:spPr>
      </p:pic>
      <p:sp>
        <p:nvSpPr>
          <p:cNvPr id="9" name="Bullets"/>
          <p:cNvSpPr txBox="1"/>
          <p:nvPr/>
        </p:nvSpPr>
        <p:spPr>
          <a:xfrm>
            <a:off x="822960" y="3474720"/>
            <a:ext cx="5394960" cy="256032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a:t>
            </a:r>
            <a:r>
              <a:rPr lang="en-US" sz="1500" dirty="0">
                <a:solidFill>
                  <a:schemeClr val="tx1"/>
                </a:solidFill>
              </a:rPr>
              <a:t> The best rule is linear; the least cost is xᵀPx + tr(ΣᵀPΣ)/ρ</a:t>
            </a:r>
            <a:endParaRPr lang="en-US" sz="1500" dirty="0"/>
          </a:p>
          <a:p>
            <a:pPr marL="228600" indent="-228600">
              <a:spcAft>
                <a:spcPts val="600"/>
              </a:spcAft>
              <a:buSzPct val="100000"/>
              <a:buChar char="•"/>
            </a:pPr>
            <a:r>
              <a:rPr lang="en-US" sz="1500" b="1" dirty="0">
                <a:solidFill>
                  <a:schemeClr val="tx1"/>
                </a:solidFill>
              </a:rPr>
              <a:t>(ii) Certainty equivalence.</a:t>
            </a:r>
            <a:r>
              <a:rPr lang="en-US" sz="1500" dirty="0">
                <a:solidFill>
                  <a:schemeClr val="tx1"/>
                </a:solidFill>
              </a:rPr>
              <a:t> Events that only add to the stocks change the cost, not the rule</a:t>
            </a:r>
            <a:endParaRPr lang="en-US" sz="1500" dirty="0"/>
          </a:p>
          <a:p>
            <a:pPr marL="228600" indent="-228600">
              <a:spcAft>
                <a:spcPts val="600"/>
              </a:spcAft>
              <a:buSzPct val="100000"/>
              <a:buChar char="•"/>
            </a:pPr>
            <a:r>
              <a:rPr lang="en-US" sz="1500" b="1" dirty="0">
                <a:solidFill>
                  <a:schemeClr val="tx1"/>
                </a:solidFill>
              </a:rPr>
              <a:t>(iii) Caution.</a:t>
            </a:r>
            <a:r>
              <a:rPr lang="en-US" sz="1500" dirty="0">
                <a:solidFill>
                  <a:schemeClr val="tx1"/>
                </a:solidFill>
              </a:rPr>
              <a:t> If they make the effect of decisions uncertain, each decision costs more at the margin: steer more gently</a:t>
            </a:r>
            <a:endParaRPr lang="en-US" sz="1500" dirty="0"/>
          </a:p>
          <a:p>
            <a:pPr marL="228600" indent="-228600">
              <a:spcAft>
                <a:spcPts val="600"/>
              </a:spcAft>
              <a:buSzPct val="100000"/>
              <a:buChar char="•"/>
            </a:pPr>
            <a:r>
              <a:rPr lang="en-US" sz="1500" b="1" dirty="0">
                <a:solidFill>
                  <a:schemeClr val="tx1"/>
                </a:solidFill>
              </a:rPr>
              <a:t>(iv) Vigilance.</a:t>
            </a:r>
            <a:r>
              <a:rPr lang="en-US" sz="1500" dirty="0">
                <a:solidFill>
                  <a:schemeClr val="tx1"/>
                </a:solidFill>
              </a:rPr>
              <a:t> If they grow with the stocks, deviations cost more: steer harder</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hiring loop, gain a year</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Departures: the gain stays at </a:t>
            </a:r>
            <a:r>
              <a:rPr lang="en-US" sz="1600" b="1" dirty="0">
                <a:solidFill>
                  <a:schemeClr val="tx1"/>
                </a:solidFill>
              </a:rPr>
              <a:t>4.34</a:t>
            </a:r>
            <a:r>
              <a:rPr lang="en-US" sz="1600" dirty="0">
                <a:solidFill>
                  <a:schemeClr val="tx1"/>
                </a:solidFill>
              </a:rPr>
              <a:t>; they cost $2.13m</a:t>
            </a:r>
            <a:endParaRPr lang="en-US" sz="1600" dirty="0"/>
          </a:p>
          <a:p>
            <a:pPr marL="228600" indent="-228600">
              <a:spcAft>
                <a:spcPts val="800"/>
              </a:spcAft>
              <a:buSzPct val="100000"/>
              <a:buChar char="•"/>
            </a:pPr>
            <a:r>
              <a:rPr lang="en-US" sz="1600" dirty="0">
                <a:solidFill>
                  <a:schemeClr val="tx1"/>
                </a:solidFill>
              </a:rPr>
              <a:t>A cohort's yield varies by 20 points (s = 0.10): </a:t>
            </a:r>
            <a:r>
              <a:rPr lang="en-US" sz="1600" b="1" dirty="0">
                <a:solidFill>
                  <a:schemeClr val="tx1"/>
                </a:solidFill>
              </a:rPr>
              <a:t>4.16</a:t>
            </a:r>
            <a:r>
              <a:rPr lang="en-US" sz="1600" dirty="0">
                <a:solidFill>
                  <a:schemeClr val="tx1"/>
                </a:solidFill>
              </a:rPr>
              <a:t>; twice as uncertain: </a:t>
            </a:r>
            <a:r>
              <a:rPr lang="en-US" sz="1600" b="1" dirty="0">
                <a:solidFill>
                  <a:schemeClr val="tx1"/>
                </a:solidFill>
              </a:rPr>
              <a:t>3.68</a:t>
            </a:r>
            <a:endParaRPr lang="en-US" sz="1600" dirty="0"/>
          </a:p>
          <a:p>
            <a:pPr marL="228600" indent="-228600">
              <a:spcAft>
                <a:spcPts val="800"/>
              </a:spcAft>
              <a:buSzPct val="100000"/>
              <a:buChar char="•"/>
            </a:pPr>
            <a:r>
              <a:rPr lang="en-US" sz="1600" dirty="0">
                <a:solidFill>
                  <a:schemeClr val="tx1"/>
                </a:solidFill>
              </a:rPr>
              <a:t>Ignoring the yield's uncertainty costs only $0.01m, or $0.16m at twice it: the cost is flat near its best</a:t>
            </a:r>
            <a:endParaRPr lang="en-US" sz="1600" dirty="0"/>
          </a:p>
          <a:p>
            <a:pPr marL="228600" indent="-228600">
              <a:spcAft>
                <a:spcPts val="800"/>
              </a:spcAft>
              <a:buSzPct val="100000"/>
              <a:buChar char="•"/>
            </a:pPr>
            <a:r>
              <a:rPr lang="en-US" sz="1600" dirty="0">
                <a:solidFill>
                  <a:schemeClr val="tx1"/>
                </a:solidFill>
              </a:rPr>
              <a:t>Noise that grows with the gap (c = 0.5): </a:t>
            </a:r>
            <a:r>
              <a:rPr lang="en-US" sz="1600" b="1" dirty="0">
                <a:solidFill>
                  <a:schemeClr val="tx1"/>
                </a:solidFill>
              </a:rPr>
              <a:t>4.52</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§9.3 · PROPOSITION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Distrust of the law also steers harder</a:t>
            </a:r>
            <a:endParaRPr lang="en-US" sz="3200" dirty="0"/>
          </a:p>
        </p:txBody>
      </p:sp>
      <p:sp>
        <p:nvSpPr>
          <p:cNvPr id="5" name="Stat card"/>
          <p:cNvSpPr/>
          <p:nvPr/>
        </p:nvSpPr>
        <p:spPr>
          <a:xfrm>
            <a:off x="548640" y="1691640"/>
            <a:ext cx="3515258" cy="1783080"/>
          </a:xfrm>
          <a:prstGeom prst="roundRect">
            <a:avLst>
              <a:gd name="adj" fmla="val 4103"/>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4.66</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the hiring gain a year at θ = 1, up from 4.34: guarding against a misjudged drift</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5.07</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at θ = 2: the gain rises with the penalty's weight</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6.55</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breakdown point: past it no linear rule has a finite worst case</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Proposition 9.1(i).</a:t>
            </a:r>
            <a:r>
              <a:rPr lang="en-US" sz="1700" dirty="0">
                <a:solidFill>
                  <a:schemeClr val="tx1"/>
                </a:solidFill>
              </a:rPr>
              <a:t> Judging a cost by its entropic certainty equivalent is judging it by the worst expected cost over other laws, each charged its relative entropy at the rate 1/θ</a:t>
            </a:r>
            <a:endParaRPr lang="en-US" sz="1700" dirty="0"/>
          </a:p>
          <a:p>
            <a:pPr marL="228600" indent="-228600">
              <a:spcAft>
                <a:spcPts val="800"/>
              </a:spcAft>
              <a:buSzPct val="100000"/>
              <a:buChar char="•"/>
            </a:pPr>
            <a:r>
              <a:rPr lang="en-US" sz="1700" dirty="0">
                <a:solidFill>
                  <a:schemeClr val="tx1"/>
                </a:solidFill>
              </a:rPr>
              <a:t>Risk aversion and distrust of the declared law are two readings of one penalty (Hansen and Sargent)</a:t>
            </a:r>
            <a:endParaRPr lang="en-US" sz="1700" dirty="0"/>
          </a:p>
          <a:p>
            <a:pPr marL="228600" indent="-228600">
              <a:spcAft>
                <a:spcPts val="800"/>
              </a:spcAft>
              <a:buSzPct val="100000"/>
              <a:buChar char="•"/>
            </a:pPr>
            <a:r>
              <a:rPr lang="en-US" sz="1700" dirty="0">
                <a:solidFill>
                  <a:schemeClr val="tx1"/>
                </a:solidFill>
              </a:rPr>
              <a:t>At θ = 1 a distortion of one standard deviation a year is charged $0.5m a year; Chapter 11 builds on this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§9.4 · PROPOSITION 9.2 · FIGURE 9.1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 appetite over 12 quarters is joint</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a:t>
            </a:r>
            <a:r>
              <a:rPr lang="en-US" sz="1500" dirty="0">
                <a:solidFill>
                  <a:schemeClr val="tx1"/>
                </a:solidFill>
              </a:rPr>
              <a:t> A joint chance lies between the worst review's and the sum; α at each review does not keep it</a:t>
            </a:r>
            <a:endParaRPr lang="en-US" sz="1500" dirty="0"/>
          </a:p>
          <a:p>
            <a:pPr marL="228600" indent="-228600">
              <a:spcAft>
                <a:spcPts val="800"/>
              </a:spcAft>
              <a:buSzPct val="100000"/>
              <a:buChar char="•"/>
            </a:pPr>
            <a:r>
              <a:rPr lang="en-US" sz="1500" b="1" dirty="0">
                <a:solidFill>
                  <a:schemeClr val="tx1"/>
                </a:solidFill>
              </a:rPr>
              <a:t>(ii)</a:t>
            </a:r>
            <a:r>
              <a:rPr lang="en-US" sz="1500" dirty="0">
                <a:solidFill>
                  <a:schemeClr val="tx1"/>
                </a:solidFill>
              </a:rPr>
              <a:t> Quantile form: the decision must reach the (1 − α)-quantile, its value at risk</a:t>
            </a:r>
            <a:endParaRPr lang="en-US" sz="1500" dirty="0"/>
          </a:p>
          <a:p>
            <a:pPr marL="228600" indent="-228600">
              <a:spcAft>
                <a:spcPts val="800"/>
              </a:spcAft>
              <a:buSzPct val="100000"/>
              <a:buChar char="•"/>
            </a:pPr>
            <a:r>
              <a:rPr lang="en-US" sz="1500" b="1" dirty="0">
                <a:solidFill>
                  <a:schemeClr val="tx1"/>
                </a:solidFill>
              </a:rPr>
              <a:t>(iii)</a:t>
            </a:r>
            <a:r>
              <a:rPr lang="en-US" sz="1500" dirty="0">
                <a:solidFill>
                  <a:schemeClr val="tx1"/>
                </a:solidFill>
              </a:rPr>
              <a:t> CVaR of the largest shortfall at most zero: convex and safe</a:t>
            </a:r>
            <a:endParaRPr lang="en-US" sz="1500" dirty="0"/>
          </a:p>
          <a:p>
            <a:pPr marL="228600" indent="-228600">
              <a:spcAft>
                <a:spcPts val="800"/>
              </a:spcAft>
              <a:buSzPct val="100000"/>
              <a:buChar char="•"/>
            </a:pPr>
            <a:r>
              <a:rPr lang="en-US" sz="1500" dirty="0">
                <a:solidFill>
                  <a:schemeClr val="tx1"/>
                </a:solidFill>
              </a:rPr>
              <a:t>Surprises alone breach in some quarter on </a:t>
            </a:r>
            <a:r>
              <a:rPr lang="en-US" sz="1500" b="1" dirty="0">
                <a:solidFill>
                  <a:schemeClr val="tx1"/>
                </a:solidFill>
              </a:rPr>
              <a:t>8.4%</a:t>
            </a:r>
            <a:r>
              <a:rPr lang="en-US" sz="1500" dirty="0">
                <a:solidFill>
                  <a:schemeClr val="tx1"/>
                </a:solidFill>
              </a:rPr>
              <a:t> of paths, in no single quarter on more than 1.7%; the sum is 11.2%</a:t>
            </a:r>
            <a:endParaRPr lang="en-US" sz="1500" dirty="0"/>
          </a:p>
          <a:p>
            <a:pPr marL="228600" indent="-228600">
              <a:spcAft>
                <a:spcPts val="800"/>
              </a:spcAft>
              <a:buSzPct val="100000"/>
              <a:buChar char="•"/>
            </a:pPr>
            <a:r>
              <a:rPr lang="en-US" sz="1500" dirty="0">
                <a:solidFill>
                  <a:schemeClr val="tx1"/>
                </a:solidFill>
              </a:rPr>
              <a:t>Volume I's package keeps </a:t>
            </a:r>
            <a:r>
              <a:rPr lang="en-US" sz="1500" b="1" dirty="0">
                <a:solidFill>
                  <a:schemeClr val="tx1"/>
                </a:solidFill>
              </a:rPr>
              <a:t>5.0%</a:t>
            </a:r>
            <a:r>
              <a:rPr lang="en-US" sz="1500" dirty="0">
                <a:solidFill>
                  <a:schemeClr val="tx1"/>
                </a:solidFill>
              </a:rPr>
              <a:t> with no quarter above 0.97%</a:t>
            </a:r>
            <a:endParaRPr lang="en-US" sz="1500" dirty="0"/>
          </a:p>
        </p:txBody>
      </p:sp>
      <p:pic>
        <p:nvPicPr>
          <p:cNvPr id="6" name="Figure" descr="Figure 9.1: Meridian's appetite is a joint commitment over 12 quarters">    </p:cNvPr>
          <p:cNvPicPr>
            <a:picLocks noChangeAspect="1"/>
          </p:cNvPicPr>
          <p:nvPr/>
        </p:nvPicPr>
        <p:blipFill>
          <a:blip r:embed="rId1"/>
          <a:stretch>
            <a:fillRect/>
          </a:stretch>
        </p:blipFill>
        <p:spPr>
          <a:xfrm>
            <a:off x="5391174" y="2150610"/>
            <a:ext cx="6251881" cy="2995693"/>
          </a:xfrm>
          <a:prstGeom prst="rect">
            <a:avLst/>
          </a:prstGeom>
        </p:spPr>
      </p:pic>
      <p:sp>
        <p:nvSpPr>
          <p:cNvPr id="7" name="Caption"/>
          <p:cNvSpPr txBox="1"/>
          <p:nvPr/>
        </p:nvSpPr>
        <p:spPr>
          <a:xfrm>
            <a:off x="5391174" y="521945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9.1. (a) Surprises only, no levers: each quarter's chance (bars simulated, dots Gaussian). (b) The full law under Volume I's package.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§9.4 · PROPOSITION 9.2(II)–(III)</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readings of one appetite</a:t>
            </a:r>
            <a:endParaRPr lang="en-US" sz="3200" dirty="0"/>
          </a:p>
        </p:txBody>
      </p:sp>
      <p:sp>
        <p:nvSpPr>
          <p:cNvPr id="5" name="Column 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Text 3"/>
          <p:cNvSpPr txBox="1"/>
          <p:nvPr/>
        </p:nvSpPr>
        <p:spPr>
          <a:xfrm>
            <a:off x="731520"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Quarter by quarter</a:t>
            </a:r>
            <a:endParaRPr lang="en-US" sz="1800" dirty="0"/>
          </a:p>
        </p:txBody>
      </p:sp>
      <p:sp>
        <p:nvSpPr>
          <p:cNvPr id="7" name="Text 4"/>
          <p:cNvSpPr txBox="1"/>
          <p:nvPr/>
        </p:nvSpPr>
        <p:spPr>
          <a:xfrm>
            <a:off x="731520"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$1.86m</a:t>
            </a:r>
            <a:endParaRPr lang="en-US" sz="3200" dirty="0"/>
          </a:p>
        </p:txBody>
      </p:sp>
      <p:sp>
        <p:nvSpPr>
          <p:cNvPr id="8" name="Text 5"/>
          <p:cNvSpPr txBox="1"/>
          <p:nvPr/>
        </p:nvSpPr>
        <p:spPr>
          <a:xfrm>
            <a:off x="731520"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a $60m line and almost no delay</a:t>
            </a:r>
            <a:endParaRPr lang="en-US" sz="1300" dirty="0"/>
          </a:p>
        </p:txBody>
      </p:sp>
      <p:sp>
        <p:nvSpPr>
          <p:cNvPr id="9" name="Text 6"/>
          <p:cNvSpPr txBox="1"/>
          <p:nvPr/>
        </p:nvSpPr>
        <p:spPr>
          <a:xfrm>
            <a:off x="731520"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16.7%</a:t>
            </a:r>
            <a:endParaRPr lang="en-US" sz="3200" dirty="0"/>
          </a:p>
        </p:txBody>
      </p:sp>
      <p:sp>
        <p:nvSpPr>
          <p:cNvPr id="10" name="Text 7"/>
          <p:cNvSpPr txBox="1"/>
          <p:nvPr/>
        </p:nvSpPr>
        <p:spPr>
          <a:xfrm>
            <a:off x="731520"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chance of a breach in some quarter</a:t>
            </a:r>
            <a:endParaRPr lang="en-US" sz="1300" dirty="0"/>
          </a:p>
        </p:txBody>
      </p:sp>
      <p:sp>
        <p:nvSpPr>
          <p:cNvPr id="11" name="Order sign"/>
          <p:cNvSpPr txBox="1"/>
          <p:nvPr/>
        </p:nvSpPr>
        <p:spPr>
          <a:xfrm>
            <a:off x="4018178" y="2811780"/>
            <a:ext cx="365760" cy="548640"/>
          </a:xfrm>
          <a:prstGeom prst="rect">
            <a:avLst/>
          </a:prstGeom>
          <a:noFill/>
          <a:ln/>
        </p:spPr>
        <p:txBody>
          <a:bodyPr wrap="square" lIns="0" tIns="0" rIns="0" bIns="0" rtlCol="0" anchor="ctr"/>
          <a:lstStyle/>
          <a:p>
            <a:pPr algn="ctr" indent="0" marL="0">
              <a:buNone/>
            </a:pPr>
            <a:r>
              <a:rPr lang="en-US" sz="2200" b="1" dirty="0">
                <a:solidFill>
                  <a:schemeClr val="accent1"/>
                </a:solidFill>
              </a:rPr>
              <a:t>&lt;</a:t>
            </a:r>
            <a:endParaRPr lang="en-US" sz="2200" dirty="0"/>
          </a:p>
        </p:txBody>
      </p:sp>
      <p:sp>
        <p:nvSpPr>
          <p:cNvPr id="12" name="Column card"/>
          <p:cNvSpPr/>
          <p:nvPr/>
        </p:nvSpPr>
        <p:spPr>
          <a:xfrm>
            <a:off x="4338218" y="1691640"/>
            <a:ext cx="3515258" cy="2788920"/>
          </a:xfrm>
          <a:prstGeom prst="roundRect">
            <a:avLst>
              <a:gd name="adj" fmla="val 2623"/>
            </a:avLst>
          </a:prstGeom>
          <a:solidFill>
            <a:schemeClr val="tx1"/>
          </a:solidFill>
          <a:ln w="9525">
            <a:solidFill>
              <a:srgbClr val="0F1E3D"/>
            </a:solidFill>
            <a:prstDash val="solid"/>
          </a:ln>
        </p:spPr>
      </p:sp>
      <p:sp>
        <p:nvSpPr>
          <p:cNvPr id="13" name="Text 10"/>
          <p:cNvSpPr txBox="1"/>
          <p:nvPr/>
        </p:nvSpPr>
        <p:spPr>
          <a:xfrm>
            <a:off x="4521098" y="1828800"/>
            <a:ext cx="3149498"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Quantile (Volume I)</a:t>
            </a:r>
            <a:endParaRPr lang="en-US" sz="1800" dirty="0"/>
          </a:p>
        </p:txBody>
      </p:sp>
      <p:sp>
        <p:nvSpPr>
          <p:cNvPr id="14" name="Text 11"/>
          <p:cNvSpPr txBox="1"/>
          <p:nvPr/>
        </p:nvSpPr>
        <p:spPr>
          <a:xfrm>
            <a:off x="4521098" y="237744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$10.44m</a:t>
            </a:r>
            <a:endParaRPr lang="en-US" sz="3200" dirty="0"/>
          </a:p>
        </p:txBody>
      </p:sp>
      <p:sp>
        <p:nvSpPr>
          <p:cNvPr id="15" name="Text 12"/>
          <p:cNvSpPr txBox="1"/>
          <p:nvPr/>
        </p:nvSpPr>
        <p:spPr>
          <a:xfrm>
            <a:off x="4521098" y="2907792"/>
            <a:ext cx="3149498" cy="411480"/>
          </a:xfrm>
          <a:prstGeom prst="rect">
            <a:avLst/>
          </a:prstGeom>
          <a:noFill/>
          <a:ln/>
        </p:spPr>
        <p:txBody>
          <a:bodyPr wrap="square" lIns="0" tIns="0" rIns="0" bIns="0" rtlCol="0" anchor="t"/>
          <a:lstStyle/>
          <a:p>
            <a:pPr indent="0" marL="0">
              <a:buNone/>
            </a:pPr>
            <a:r>
              <a:rPr lang="en-US" sz="1300" dirty="0">
                <a:solidFill>
                  <a:schemeClr val="bg2"/>
                </a:solidFill>
              </a:rPr>
              <a:t>a $170m line, 0.67 quarter of delay</a:t>
            </a:r>
            <a:endParaRPr lang="en-US" sz="1300" dirty="0"/>
          </a:p>
        </p:txBody>
      </p:sp>
      <p:sp>
        <p:nvSpPr>
          <p:cNvPr id="16" name="Text 13"/>
          <p:cNvSpPr txBox="1"/>
          <p:nvPr/>
        </p:nvSpPr>
        <p:spPr>
          <a:xfrm>
            <a:off x="4521098" y="342900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5.0%</a:t>
            </a:r>
            <a:endParaRPr lang="en-US" sz="3200" dirty="0"/>
          </a:p>
        </p:txBody>
      </p:sp>
      <p:sp>
        <p:nvSpPr>
          <p:cNvPr id="17" name="Text 14"/>
          <p:cNvSpPr txBox="1"/>
          <p:nvPr/>
        </p:nvSpPr>
        <p:spPr>
          <a:xfrm>
            <a:off x="4521098" y="3959352"/>
            <a:ext cx="3149498" cy="411480"/>
          </a:xfrm>
          <a:prstGeom prst="rect">
            <a:avLst/>
          </a:prstGeom>
          <a:noFill/>
          <a:ln/>
        </p:spPr>
        <p:txBody>
          <a:bodyPr wrap="square" lIns="0" tIns="0" rIns="0" bIns="0" rtlCol="0" anchor="t"/>
          <a:lstStyle/>
          <a:p>
            <a:pPr indent="0" marL="0">
              <a:buNone/>
            </a:pPr>
            <a:r>
              <a:rPr lang="en-US" sz="1300" dirty="0">
                <a:solidFill>
                  <a:schemeClr val="bg2"/>
                </a:solidFill>
              </a:rPr>
              <a:t>the appetite, exactly</a:t>
            </a:r>
            <a:endParaRPr lang="en-US" sz="1300" dirty="0"/>
          </a:p>
        </p:txBody>
      </p:sp>
      <p:sp>
        <p:nvSpPr>
          <p:cNvPr id="18" name="Order sign"/>
          <p:cNvSpPr txBox="1"/>
          <p:nvPr/>
        </p:nvSpPr>
        <p:spPr>
          <a:xfrm>
            <a:off x="7807757" y="2811780"/>
            <a:ext cx="365760" cy="548640"/>
          </a:xfrm>
          <a:prstGeom prst="rect">
            <a:avLst/>
          </a:prstGeom>
          <a:noFill/>
          <a:ln/>
        </p:spPr>
        <p:txBody>
          <a:bodyPr wrap="square" lIns="0" tIns="0" rIns="0" bIns="0" rtlCol="0" anchor="ctr"/>
          <a:lstStyle/>
          <a:p>
            <a:pPr algn="ctr" indent="0" marL="0">
              <a:buNone/>
            </a:pPr>
            <a:r>
              <a:rPr lang="en-US" sz="2200" b="1" dirty="0">
                <a:solidFill>
                  <a:schemeClr val="accent1"/>
                </a:solidFill>
              </a:rPr>
              <a:t>&lt;</a:t>
            </a:r>
            <a:endParaRPr lang="en-US" sz="2200" dirty="0"/>
          </a:p>
        </p:txBody>
      </p:sp>
      <p:sp>
        <p:nvSpPr>
          <p:cNvPr id="19" name="Column card"/>
          <p:cNvSpPr/>
          <p:nvPr/>
        </p:nvSpPr>
        <p:spPr>
          <a:xfrm>
            <a:off x="8127797" y="1691640"/>
            <a:ext cx="3515258" cy="2788920"/>
          </a:xfrm>
          <a:prstGeom prst="roundRect">
            <a:avLst>
              <a:gd name="adj" fmla="val 2623"/>
            </a:avLst>
          </a:prstGeom>
          <a:solidFill>
            <a:schemeClr val="bg2"/>
          </a:solidFill>
          <a:ln w="9525">
            <a:solidFill>
              <a:srgbClr val="C4CBD8"/>
            </a:solidFill>
            <a:prstDash val="solid"/>
          </a:ln>
        </p:spPr>
      </p:sp>
      <p:sp>
        <p:nvSpPr>
          <p:cNvPr id="20" name="Text 17"/>
          <p:cNvSpPr txBox="1"/>
          <p:nvPr/>
        </p:nvSpPr>
        <p:spPr>
          <a:xfrm>
            <a:off x="8310677"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CVaR (convex, safe)</a:t>
            </a:r>
            <a:endParaRPr lang="en-US" sz="1800" dirty="0"/>
          </a:p>
        </p:txBody>
      </p:sp>
      <p:sp>
        <p:nvSpPr>
          <p:cNvPr id="21" name="Text 18"/>
          <p:cNvSpPr txBox="1"/>
          <p:nvPr/>
        </p:nvSpPr>
        <p:spPr>
          <a:xfrm>
            <a:off x="8310677"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$18.31m</a:t>
            </a:r>
            <a:endParaRPr lang="en-US" sz="3200" dirty="0"/>
          </a:p>
        </p:txBody>
      </p:sp>
      <p:sp>
        <p:nvSpPr>
          <p:cNvPr id="22" name="Text 19"/>
          <p:cNvSpPr txBox="1"/>
          <p:nvPr/>
        </p:nvSpPr>
        <p:spPr>
          <a:xfrm>
            <a:off x="8310677"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a $185m line, 1.6 quarters of delay</a:t>
            </a:r>
            <a:endParaRPr lang="en-US" sz="1300" dirty="0"/>
          </a:p>
        </p:txBody>
      </p:sp>
      <p:sp>
        <p:nvSpPr>
          <p:cNvPr id="23" name="Text 20"/>
          <p:cNvSpPr txBox="1"/>
          <p:nvPr/>
        </p:nvSpPr>
        <p:spPr>
          <a:xfrm>
            <a:off x="8310677"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1.9%</a:t>
            </a:r>
            <a:endParaRPr lang="en-US" sz="3200" dirty="0"/>
          </a:p>
        </p:txBody>
      </p:sp>
      <p:sp>
        <p:nvSpPr>
          <p:cNvPr id="24" name="Text 21"/>
          <p:cNvSpPr txBox="1"/>
          <p:nvPr/>
        </p:nvSpPr>
        <p:spPr>
          <a:xfrm>
            <a:off x="8310677"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safe, at a price</a:t>
            </a:r>
            <a:endParaRPr lang="en-US" sz="1300" dirty="0"/>
          </a:p>
        </p:txBody>
      </p:sp>
      <p:sp>
        <p:nvSpPr>
          <p:cNvPr id="25" name="Bullets"/>
          <p:cNvSpPr txBox="1"/>
          <p:nvPr/>
        </p:nvSpPr>
        <p:spPr>
          <a:xfrm>
            <a:off x="548640" y="4800600"/>
            <a:ext cx="11094415" cy="137160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Read quarter by quarter, the appetite is met in each quarter and missed over the program</a:t>
            </a:r>
            <a:endParaRPr lang="en-US" sz="1600" dirty="0"/>
          </a:p>
          <a:p>
            <a:pPr marL="228600" indent="-228600">
              <a:spcAft>
                <a:spcPts val="800"/>
              </a:spcAft>
              <a:buSzPct val="100000"/>
              <a:buChar char="•"/>
            </a:pPr>
            <a:r>
              <a:rPr lang="en-US" sz="1600" dirty="0">
                <a:solidFill>
                  <a:schemeClr val="tx1"/>
                </a:solidFill>
              </a:rPr>
              <a:t>Volume I's package sets the delay at the 95th percentile of the delays the paths need: exact, not convex</a:t>
            </a:r>
            <a:endParaRPr lang="en-US" sz="1600" dirty="0"/>
          </a:p>
          <a:p>
            <a:pPr marL="228600" indent="-228600">
              <a:spcAft>
                <a:spcPts val="800"/>
              </a:spcAft>
              <a:buSzPct val="100000"/>
              <a:buChar char="•"/>
            </a:pPr>
            <a:r>
              <a:rPr lang="en-US" sz="1600" dirty="0">
                <a:solidFill>
                  <a:schemeClr val="tx1"/>
                </a:solidFill>
              </a:rPr>
              <a:t>The convex safe version buys tractability and gives up </a:t>
            </a:r>
            <a:r>
              <a:rPr lang="en-US" sz="1600" b="1" dirty="0">
                <a:solidFill>
                  <a:schemeClr val="tx1"/>
                </a:solidFill>
              </a:rPr>
              <a:t>$7.9m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§9.5 · PROPOSITION 9.3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Information is worth at most the gap</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9.3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Recourse and the Value of Information</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Ordering.</a:t>
            </a:r>
            <a:r>
              <a:rPr lang="en-US" sz="1600" dirty="0">
                <a:solidFill>
                  <a:schemeClr val="tx1"/>
                </a:solidFill>
              </a:rPr>
              <a:t> Clairvoyant ≤ recourse ≤ here and now; revealing more never raises the least cost</a:t>
            </a:r>
            <a:endParaRPr lang="en-US" sz="1600" dirty="0"/>
          </a:p>
          <a:p>
            <a:pPr marL="228600" indent="-228600">
              <a:spcAft>
                <a:spcPts val="600"/>
              </a:spcAft>
              <a:buSzPct val="100000"/>
              <a:buChar char="•"/>
            </a:pPr>
            <a:r>
              <a:rPr lang="en-US" sz="1600" dirty="0">
                <a:solidFill>
                  <a:schemeClr val="tx1"/>
                </a:solidFill>
              </a:rPr>
              <a:t>The expected value of perfect information bounds what any information can be worth</a:t>
            </a:r>
            <a:endParaRPr lang="en-US" sz="1600" dirty="0"/>
          </a:p>
          <a:p>
            <a:pPr marL="228600" indent="-228600">
              <a:spcAft>
                <a:spcPts val="600"/>
              </a:spcAft>
              <a:buSzPct val="100000"/>
              <a:buChar char="•"/>
            </a:pPr>
            <a:r>
              <a:rPr lang="en-US" sz="1600" b="1" dirty="0">
                <a:solidFill>
                  <a:schemeClr val="tx1"/>
                </a:solidFill>
              </a:rPr>
              <a:t>(ii) Signals.</a:t>
            </a:r>
            <a:r>
              <a:rPr lang="en-US" sz="1600" dirty="0">
                <a:solidFill>
                  <a:schemeClr val="tx1"/>
                </a:solidFill>
              </a:rPr>
              <a:t> Choose a package signal by signal, allotting the chance of a breach among the signals</a:t>
            </a:r>
            <a:endParaRPr lang="en-US" sz="1600" dirty="0"/>
          </a:p>
          <a:p>
            <a:pPr marL="228600" indent="-228600">
              <a:spcAft>
                <a:spcPts val="600"/>
              </a:spcAft>
              <a:buSzPct val="100000"/>
              <a:buChar char="•"/>
            </a:pPr>
            <a:r>
              <a:rPr lang="en-US" sz="1600" b="1" dirty="0">
                <a:solidFill>
                  <a:schemeClr val="tx1"/>
                </a:solidFill>
              </a:rPr>
              <a:t>(iii) The clairvoyant's bound.</a:t>
            </a:r>
            <a:r>
              <a:rPr lang="en-US" sz="1600" dirty="0">
                <a:solidFill>
                  <a:schemeClr val="tx1"/>
                </a:solidFill>
              </a:rPr>
              <a:t> Each path its cheapest safe decision; the ⌊αN⌋ costliest paths breach</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Meridian's appetite</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Volume I's package, decided today: </a:t>
            </a:r>
            <a:r>
              <a:rPr lang="en-US" sz="1600" b="1" dirty="0">
                <a:solidFill>
                  <a:schemeClr val="tx1"/>
                </a:solidFill>
              </a:rPr>
              <a:t>$10.44m</a:t>
            </a:r>
            <a:endParaRPr lang="en-US" sz="1600" dirty="0"/>
          </a:p>
          <a:p>
            <a:pPr marL="228600" indent="-228600">
              <a:spcAft>
                <a:spcPts val="800"/>
              </a:spcAft>
              <a:buSzPct val="100000"/>
              <a:buChar char="•"/>
            </a:pPr>
            <a:r>
              <a:rPr lang="en-US" sz="1600" dirty="0">
                <a:solidFill>
                  <a:schemeClr val="tx1"/>
                </a:solidFill>
              </a:rPr>
              <a:t>A clairvoyant: </a:t>
            </a:r>
            <a:r>
              <a:rPr lang="en-US" sz="1600" b="1" dirty="0">
                <a:solidFill>
                  <a:schemeClr val="tx1"/>
                </a:solidFill>
              </a:rPr>
              <a:t>$0.44m</a:t>
            </a:r>
            <a:r>
              <a:rPr lang="en-US" sz="1600" dirty="0">
                <a:solidFill>
                  <a:schemeClr val="tx1"/>
                </a:solidFill>
              </a:rPr>
              <a:t>. Four paths in five need no lever; one in six needs some of the line</a:t>
            </a:r>
            <a:endParaRPr lang="en-US" sz="1600" dirty="0"/>
          </a:p>
          <a:p>
            <a:pPr marL="228600" indent="-228600">
              <a:spcAft>
                <a:spcPts val="800"/>
              </a:spcAft>
              <a:buSzPct val="100000"/>
              <a:buChar char="•"/>
            </a:pPr>
            <a:r>
              <a:rPr lang="en-US" sz="1600" dirty="0">
                <a:solidFill>
                  <a:schemeClr val="tx1"/>
                </a:solidFill>
              </a:rPr>
              <a:t>Perfect information is worth </a:t>
            </a:r>
            <a:r>
              <a:rPr lang="en-US" sz="1600" b="1" dirty="0">
                <a:solidFill>
                  <a:schemeClr val="tx1"/>
                </a:solidFill>
              </a:rPr>
              <a:t>$10.0m</a:t>
            </a:r>
            <a:r>
              <a:rPr lang="en-US" sz="1600" dirty="0">
                <a:solidFill>
                  <a:schemeClr val="tx1"/>
                </a:solidFill>
              </a:rPr>
              <a:t>: a bound, not a promise</a:t>
            </a:r>
            <a:endParaRPr lang="en-US" sz="1600" dirty="0"/>
          </a:p>
          <a:p>
            <a:pPr marL="228600" indent="-228600">
              <a:spcAft>
                <a:spcPts val="800"/>
              </a:spcAft>
              <a:buSzPct val="100000"/>
              <a:buChar char="•"/>
            </a:pPr>
            <a:r>
              <a:rPr lang="en-US" sz="1600" dirty="0">
                <a:solidFill>
                  <a:schemeClr val="tx1"/>
                </a:solidFill>
              </a:rPr>
              <a:t>A rule reads only what has happened; Worked Example 9.1 finds how little of it reading cash captures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§9.6 · TABLE 9.2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Methods for computing with a declared law</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75613"/>
                <a:gridCol w="2934060"/>
                <a:gridCol w="3300818"/>
                <a:gridCol w="2383924"/>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Computes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Guarantee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Watch for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Closed form and verification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values and rules of a known shape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exact (Theorems 9.1 and 9.2)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shape that misses a corner or a limit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Grids for the stochastic HJB</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values and rules for one or a few stocks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monotone schemes converge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Gⁿ positions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Monte Carlo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expected values and chances of any rule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standard error falls as 1/√N (Theorem 9.3(i))</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rare events; paths needed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Sample average approximation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best decision of a class, on sampled paths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consistent; optimistic; judged on fresh paths (Theorem 9.3)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design fitted to its own sample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Quantile and CVaR forms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commitments kept with a stated probability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exact; convex and safe (Proposition 9.2)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nonconvexity; conservatism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Scenario approach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decisions that keep a convex commitment on N paths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 small, computable chance of exceeding a stated breach rate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conservatism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§9.6 · THEOREM 9.3 · FIGURE 9.2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sample is part of the answer</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Theorem 9.3.</a:t>
            </a:r>
            <a:r>
              <a:rPr lang="en-US" sz="1500" dirty="0">
                <a:solidFill>
                  <a:schemeClr val="tx1"/>
                </a:solidFill>
              </a:rPr>
              <a:t> Sample averages are unbiased; the design is consistent but optimistic; judge it on fresh paths</a:t>
            </a:r>
            <a:endParaRPr lang="en-US" sz="1500" dirty="0"/>
          </a:p>
          <a:p>
            <a:pPr marL="228600" indent="-228600">
              <a:spcAft>
                <a:spcPts val="800"/>
              </a:spcAft>
              <a:buSzPct val="100000"/>
              <a:buChar char="•"/>
            </a:pPr>
            <a:r>
              <a:rPr lang="en-US" sz="1500" dirty="0">
                <a:solidFill>
                  <a:schemeClr val="tx1"/>
                </a:solidFill>
              </a:rPr>
              <a:t>On 100,000 paths a 5% chance has a standard error of </a:t>
            </a:r>
            <a:r>
              <a:rPr lang="en-US" sz="1500" b="1" dirty="0">
                <a:solidFill>
                  <a:schemeClr val="tx1"/>
                </a:solidFill>
              </a:rPr>
              <a:t>0.07</a:t>
            </a:r>
            <a:r>
              <a:rPr lang="en-US" sz="1500" dirty="0">
                <a:solidFill>
                  <a:schemeClr val="tx1"/>
                </a:solidFill>
              </a:rPr>
              <a:t> points</a:t>
            </a:r>
            <a:endParaRPr lang="en-US" sz="1500" dirty="0"/>
          </a:p>
          <a:p>
            <a:pPr marL="228600" indent="-228600">
              <a:spcAft>
                <a:spcPts val="800"/>
              </a:spcAft>
              <a:buSzPct val="100000"/>
              <a:buChar char="•"/>
            </a:pPr>
            <a:r>
              <a:rPr lang="en-US" sz="1500" dirty="0">
                <a:solidFill>
                  <a:schemeClr val="tx1"/>
                </a:solidFill>
              </a:rPr>
              <a:t>Designed on 1,000 paths, packages meet 5% only </a:t>
            </a:r>
            <a:r>
              <a:rPr lang="en-US" sz="1500" b="1" dirty="0">
                <a:solidFill>
                  <a:schemeClr val="tx1"/>
                </a:solidFill>
              </a:rPr>
              <a:t>38%</a:t>
            </a:r>
            <a:r>
              <a:rPr lang="en-US" sz="1500" dirty="0">
                <a:solidFill>
                  <a:schemeClr val="tx1"/>
                </a:solidFill>
              </a:rPr>
              <a:t> of the time, at $10.19m: they buy too little</a:t>
            </a:r>
            <a:endParaRPr lang="en-US" sz="1500" dirty="0"/>
          </a:p>
          <a:p>
            <a:pPr marL="228600" indent="-228600">
              <a:spcAft>
                <a:spcPts val="800"/>
              </a:spcAft>
              <a:buSzPct val="100000"/>
              <a:buChar char="•"/>
            </a:pPr>
            <a:r>
              <a:rPr lang="en-US" sz="1500" dirty="0">
                <a:solidFill>
                  <a:schemeClr val="tx1"/>
                </a:solidFill>
              </a:rPr>
              <a:t>A one-point margin: 87%, at $12.09m; on 10,000 paths a quarter point: 97%, at $10.97m</a:t>
            </a:r>
            <a:endParaRPr lang="en-US" sz="1500" dirty="0"/>
          </a:p>
          <a:p>
            <a:pPr marL="228600" indent="-228600">
              <a:spcAft>
                <a:spcPts val="800"/>
              </a:spcAft>
              <a:buSzPct val="100000"/>
              <a:buChar char="•"/>
            </a:pPr>
            <a:r>
              <a:rPr lang="en-US" sz="1500" dirty="0">
                <a:solidFill>
                  <a:schemeClr val="tx1"/>
                </a:solidFill>
              </a:rPr>
              <a:t>Margins priced in advance: 0.12% on 100,000 paths at 4.75%; up to 32% on 1,000 at 4%</a:t>
            </a:r>
            <a:endParaRPr lang="en-US" sz="1500" dirty="0"/>
          </a:p>
        </p:txBody>
      </p:sp>
      <p:pic>
        <p:nvPicPr>
          <p:cNvPr id="6" name="Figure" descr="Figure 9.2: committed packages designed on samples, judged on fresh paths">    </p:cNvPr>
          <p:cNvPicPr>
            <a:picLocks noChangeAspect="1"/>
          </p:cNvPicPr>
          <p:nvPr/>
        </p:nvPicPr>
        <p:blipFill>
          <a:blip r:embed="rId1"/>
          <a:stretch>
            <a:fillRect/>
          </a:stretch>
        </p:blipFill>
        <p:spPr>
          <a:xfrm>
            <a:off x="5391174" y="2099053"/>
            <a:ext cx="6251881" cy="3098806"/>
          </a:xfrm>
          <a:prstGeom prst="rect">
            <a:avLst/>
          </a:prstGeom>
        </p:spPr>
      </p:pic>
      <p:sp>
        <p:nvSpPr>
          <p:cNvPr id="7" name="Caption"/>
          <p:cNvSpPr txBox="1"/>
          <p:nvPr/>
        </p:nvSpPr>
        <p:spPr>
          <a:xfrm>
            <a:off x="5391174" y="527101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9.2. (a) True chances of 200 packages, each designed on its own 1,000 paths. (b) Share meeting 5% against average cost, by sample size and margin.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a rule replace the committed delay?</a:t>
            </a:r>
            <a:endParaRPr lang="en-US" sz="3200" dirty="0"/>
          </a:p>
        </p:txBody>
      </p:sp>
      <p:sp>
        <p:nvSpPr>
          <p:cNvPr id="5" name="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Volume I's answer</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 line and a committed delay</a:t>
            </a:r>
            <a:endParaRPr lang="en-US" sz="2000" dirty="0"/>
          </a:p>
        </p:txBody>
      </p:sp>
      <p:sp>
        <p:nvSpPr>
          <p:cNvPr id="8" name="Card text"/>
          <p:cNvSpPr txBox="1"/>
          <p:nvPr/>
        </p:nvSpPr>
        <p:spPr>
          <a:xfrm>
            <a:off x="731520"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A $170m standby line and two-thirds of a quarter of delay: $5.10m of fees and $5.34m of delay, $10.44m.</a:t>
            </a:r>
            <a:endParaRPr lang="en-US" sz="1500" dirty="0"/>
          </a:p>
        </p:txBody>
      </p:sp>
      <p:sp>
        <p:nvSpPr>
          <p:cNvPr id="9" name="Card"/>
          <p:cNvSpPr/>
          <p:nvPr/>
        </p:nvSpPr>
        <p:spPr>
          <a:xfrm>
            <a:off x="4338218" y="1691640"/>
            <a:ext cx="3515258" cy="2788920"/>
          </a:xfrm>
          <a:prstGeom prst="roundRect">
            <a:avLst>
              <a:gd name="adj" fmla="val 262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Transformation office</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Slow the build when cash runs low</a:t>
            </a:r>
            <a:endParaRPr lang="en-US" sz="2000" dirty="0"/>
          </a:p>
        </p:txBody>
      </p:sp>
      <p:sp>
        <p:nvSpPr>
          <p:cNvPr id="12" name="Card text"/>
          <p:cNvSpPr txBox="1"/>
          <p:nvPr/>
        </p:nvSpPr>
        <p:spPr>
          <a:xfrm>
            <a:off x="4521098" y="3026664"/>
            <a:ext cx="3149498" cy="1325880"/>
          </a:xfrm>
          <a:prstGeom prst="rect">
            <a:avLst/>
          </a:prstGeom>
          <a:noFill/>
          <a:ln/>
        </p:spPr>
        <p:txBody>
          <a:bodyPr wrap="square" lIns="0" tIns="0" rIns="0" bIns="0" rtlCol="0" anchor="t"/>
          <a:lstStyle/>
          <a:p>
            <a:pPr indent="0" marL="0">
              <a:buNone/>
            </a:pPr>
            <a:r>
              <a:rPr lang="en-US" sz="1500" dirty="0">
                <a:solidFill>
                  <a:schemeClr val="tx2"/>
                </a:solidFill>
              </a:rPr>
              <a:t>A slowdown decided at a quarter's end cuts the rest of the draw, at $8m a quarter times the share still ahead.</a:t>
            </a:r>
            <a:endParaRPr lang="en-US" sz="1500" dirty="0"/>
          </a:p>
        </p:txBody>
      </p:sp>
      <p:sp>
        <p:nvSpPr>
          <p:cNvPr id="13" name="Card"/>
          <p:cNvSpPr/>
          <p:nvPr/>
        </p:nvSpPr>
        <p:spPr>
          <a:xfrm>
            <a:off x="8127797" y="1691640"/>
            <a:ext cx="3515258" cy="2788920"/>
          </a:xfrm>
          <a:prstGeom prst="roundRect">
            <a:avLst>
              <a:gd name="adj" fmla="val 262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Answer before the line is signed</a:t>
            </a:r>
            <a:endParaRPr lang="en-US" sz="2000" dirty="0"/>
          </a:p>
        </p:txBody>
      </p:sp>
      <p:sp>
        <p:nvSpPr>
          <p:cNvPr id="16" name="Card text"/>
          <p:cNvSpPr txBox="1"/>
          <p:nvPr/>
        </p:nvSpPr>
        <p:spPr>
          <a:xfrm>
            <a:off x="8310677" y="3026664"/>
            <a:ext cx="3149498" cy="1325880"/>
          </a:xfrm>
          <a:prstGeom prst="rect">
            <a:avLst/>
          </a:prstGeom>
          <a:noFill/>
          <a:ln/>
        </p:spPr>
        <p:txBody>
          <a:bodyPr wrap="square" lIns="0" tIns="0" rIns="0" bIns="0" rtlCol="0" anchor="t"/>
          <a:lstStyle/>
          <a:p>
            <a:pPr indent="0" marL="0">
              <a:buNone/>
            </a:pPr>
            <a:r>
              <a:rPr lang="en-US" sz="1500" dirty="0">
                <a:solidFill>
                  <a:schemeClr val="bg2"/>
                </a:solidFill>
              </a:rPr>
              <a:t>Could a rule keep the appetite more cheaply, and what would the office need to see, and how soon?</a:t>
            </a:r>
            <a:endParaRPr lang="en-US" sz="1500" dirty="0"/>
          </a:p>
        </p:txBody>
      </p:sp>
      <p:sp>
        <p:nvSpPr>
          <p:cNvPr id="17" name="Lead"/>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appetite: at most a 5 percent chance that liquidity falls below $350m in some quarter of the program.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problem, check the benchmark</a:t>
            </a:r>
            <a:endParaRPr lang="en-US" sz="3200" dirty="0"/>
          </a:p>
        </p:txBody>
      </p:sp>
      <p:pic>
        <p:nvPicPr>
          <p:cNvPr id="5" name="Equation" descr="Equation: L_k = B_k - 6.2\,(28 - 4\phi)\,S_k + E_k - U_k(l), \qquad \Pr\bigl\{\min_{k \le 12} L_k &lt; 350\bigr\} \le 5\%">    </p:cNvPr>
          <p:cNvPicPr>
            <a:picLocks noChangeAspect="1"/>
          </p:cNvPicPr>
          <p:nvPr/>
        </p:nvPicPr>
        <p:blipFill>
          <a:blip r:embed="rId1"/>
          <a:stretch>
            <a:fillRect/>
          </a:stretch>
        </p:blipFill>
        <p:spPr>
          <a:xfrm>
            <a:off x="1175652" y="1828800"/>
            <a:ext cx="9840391" cy="731520"/>
          </a:xfrm>
          <a:prstGeom prst="rect">
            <a:avLst/>
          </a:prstGeom>
        </p:spPr>
      </p:pic>
      <p:sp>
        <p:nvSpPr>
          <p:cNvPr id="6" name="Text 2"/>
          <p:cNvSpPr txBox="1"/>
          <p:nvPr/>
        </p:nvSpPr>
        <p:spPr>
          <a:xfrm>
            <a:off x="914400" y="26974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liquidity in quarter k: the plan, the draw cut by the delay, surprises, and closures the line does not cover</a:t>
            </a:r>
            <a:endParaRPr lang="en-US" sz="1600" dirty="0"/>
          </a:p>
        </p:txBody>
      </p:sp>
      <p:sp>
        <p:nvSpPr>
          <p:cNvPr id="7" name="Bullets"/>
          <p:cNvSpPr txBox="1"/>
          <p:nvPr/>
        </p:nvSpPr>
        <p:spPr>
          <a:xfrm>
            <a:off x="914400" y="3291840"/>
            <a:ext cx="10362895" cy="28803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the law on the same 100,000 paths; a slowdown decided at a quarter's end cuts the rest of the draw</a:t>
            </a:r>
            <a:endParaRPr lang="en-US" sz="1700" dirty="0"/>
          </a:p>
          <a:p>
            <a:pPr marL="228600" indent="-228600">
              <a:spcAft>
                <a:spcPts val="800"/>
              </a:spcAft>
              <a:buSzPct val="100000"/>
              <a:buChar char="•"/>
            </a:pPr>
            <a:r>
              <a:rPr lang="en-US" sz="1700" dirty="0">
                <a:solidFill>
                  <a:schemeClr val="bg1"/>
                </a:solidFill>
              </a:rPr>
              <a:t>Every rule is designed on the book's paths by sample average approximation and judged on 100,000 fresh paths</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the package's delay is the 95th percentile of the delays the paths need; on fresh paths 4.91%</a:t>
            </a:r>
            <a:endParaRPr lang="en-US" sz="1700" dirty="0"/>
          </a:p>
          <a:p>
            <a:pPr marL="228600" indent="-228600">
              <a:spcAft>
                <a:spcPts val="800"/>
              </a:spcAft>
              <a:buSzPct val="100000"/>
              <a:buChar char="•"/>
            </a:pPr>
            <a:r>
              <a:rPr lang="en-US" sz="1700" dirty="0">
                <a:solidFill>
                  <a:schemeClr val="bg1"/>
                </a:solidFill>
              </a:rPr>
              <a:t>Designed on the fresh paths: a $165m line, the same delay, $10.28m; gaps under $0.2m cannot be told apart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TABLE 9.3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Ways of keeping Meridian's appetite</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22037"/>
                <a:gridCol w="1012586"/>
                <a:gridCol w="1276738"/>
                <a:gridCol w="1144662"/>
                <a:gridCol w="880509"/>
                <a:gridCol w="880509"/>
                <a:gridCol w="1188687"/>
                <a:gridCol w="1188687"/>
              </a:tblGrid>
              <a:tr h="42062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Committed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Slowdown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Paths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Fresh odds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Fresh cost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Volume I's package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Slow only, reading quarter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99%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10.62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10.62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Slow only, reading quarter 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11.41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11.41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Commit and slow, quarter 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Commit and slow, every quarter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1.25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Early warning of closures (a)</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0, 215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0.61, 0.50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Every path's future (b)</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663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 million; delays in quarters. Slowdown: its length; Paths: the share it slows. Fresh: chance of a breach (%) and cost on 100,000 fresh paths. (a) A hypothetical signal at the start: no closure ahead (74% of paths) or one ahead. (b) Line and delay chosen path by path, knowing each path's future.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STEPS 3–5 · FIGURE 9.3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Cash reveals trouble too late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Step 3:</a:t>
            </a:r>
            <a:r>
              <a:rPr lang="en-US" sz="1500" dirty="0">
                <a:solidFill>
                  <a:schemeClr val="tx1"/>
                </a:solidFill>
              </a:rPr>
              <a:t> slowing only costs more than the package whichever quarter's cash it reads</a:t>
            </a:r>
            <a:endParaRPr lang="en-US" sz="1500" dirty="0"/>
          </a:p>
          <a:p>
            <a:pPr marL="228600" indent="-228600">
              <a:spcAft>
                <a:spcPts val="800"/>
              </a:spcAft>
              <a:buSzPct val="100000"/>
              <a:buChar char="•"/>
            </a:pPr>
            <a:r>
              <a:rPr lang="en-US" sz="1500" dirty="0">
                <a:solidFill>
                  <a:schemeClr val="tx1"/>
                </a:solidFill>
              </a:rPr>
              <a:t>Commit 0.55, a $165m line, and slow by 2.5 quarters the 15% below $461m at quarter 3: </a:t>
            </a:r>
            <a:r>
              <a:rPr lang="en-US" sz="1500" b="1" dirty="0">
                <a:solidFill>
                  <a:schemeClr val="tx1"/>
                </a:solidFill>
              </a:rPr>
              <a:t>$10.23m</a:t>
            </a:r>
            <a:endParaRPr lang="en-US" sz="1500" dirty="0"/>
          </a:p>
          <a:p>
            <a:pPr marL="228600" indent="-228600">
              <a:spcAft>
                <a:spcPts val="800"/>
              </a:spcAft>
              <a:buSzPct val="100000"/>
              <a:buChar char="•"/>
            </a:pPr>
            <a:r>
              <a:rPr lang="en-US" sz="1500" b="1" dirty="0">
                <a:solidFill>
                  <a:schemeClr val="tx1"/>
                </a:solidFill>
              </a:rPr>
              <a:t>Step 4:</a:t>
            </a:r>
            <a:r>
              <a:rPr lang="en-US" sz="1500" dirty="0">
                <a:solidFill>
                  <a:schemeClr val="tx1"/>
                </a:solidFill>
              </a:rPr>
              <a:t> reading every quarter: slow by 1.25 at $73m below plan, </a:t>
            </a:r>
            <a:r>
              <a:rPr lang="en-US" sz="1500" b="1" dirty="0">
                <a:solidFill>
                  <a:schemeClr val="tx1"/>
                </a:solidFill>
              </a:rPr>
              <a:t>$10.20m</a:t>
            </a:r>
            <a:r>
              <a:rPr lang="en-US" sz="1500" dirty="0">
                <a:solidFill>
                  <a:schemeClr val="tx1"/>
                </a:solidFill>
              </a:rPr>
              <a:t>, 2% less</a:t>
            </a:r>
            <a:endParaRPr lang="en-US" sz="1500" dirty="0"/>
          </a:p>
          <a:p>
            <a:pPr marL="228600" indent="-228600">
              <a:spcAft>
                <a:spcPts val="800"/>
              </a:spcAft>
              <a:buSzPct val="100000"/>
              <a:buChar char="•"/>
            </a:pPr>
            <a:r>
              <a:rPr lang="en-US" sz="1500" b="1" dirty="0">
                <a:solidFill>
                  <a:schemeClr val="tx1"/>
                </a:solidFill>
              </a:rPr>
              <a:t>Step 5:</a:t>
            </a:r>
            <a:r>
              <a:rPr lang="en-US" sz="1500" dirty="0">
                <a:solidFill>
                  <a:schemeClr val="tx1"/>
                </a:solidFill>
              </a:rPr>
              <a:t> a warning of closures at the start would be worth </a:t>
            </a:r>
            <a:r>
              <a:rPr lang="en-US" sz="1500" b="1" dirty="0">
                <a:solidFill>
                  <a:schemeClr val="tx1"/>
                </a:solidFill>
              </a:rPr>
              <a:t>$4.1m</a:t>
            </a:r>
            <a:endParaRPr lang="en-US" sz="1500" dirty="0"/>
          </a:p>
          <a:p>
            <a:pPr marL="228600" indent="-228600">
              <a:spcAft>
                <a:spcPts val="800"/>
              </a:spcAft>
              <a:buSzPct val="100000"/>
              <a:buChar char="•"/>
            </a:pPr>
            <a:r>
              <a:rPr lang="en-US" sz="1500" dirty="0">
                <a:solidFill>
                  <a:schemeClr val="tx1"/>
                </a:solidFill>
              </a:rPr>
              <a:t>If 85% of a surprise persisted, reading cash every quarter would save $2.3m of $28.2m</a:t>
            </a:r>
            <a:endParaRPr lang="en-US" sz="1500" dirty="0"/>
          </a:p>
        </p:txBody>
      </p:sp>
      <p:pic>
        <p:nvPicPr>
          <p:cNvPr id="6" name="Figure" descr="Figure 9.3: what reading cash is worth, and what information would be worth">    </p:cNvPr>
          <p:cNvPicPr>
            <a:picLocks noChangeAspect="1"/>
          </p:cNvPicPr>
          <p:nvPr/>
        </p:nvPicPr>
        <p:blipFill>
          <a:blip r:embed="rId1"/>
          <a:stretch>
            <a:fillRect/>
          </a:stretch>
        </p:blipFill>
        <p:spPr>
          <a:xfrm>
            <a:off x="5391174" y="2044783"/>
            <a:ext cx="6251881" cy="3207345"/>
          </a:xfrm>
          <a:prstGeom prst="rect">
            <a:avLst/>
          </a:prstGeom>
        </p:spPr>
      </p:pic>
      <p:sp>
        <p:nvSpPr>
          <p:cNvPr id="7" name="Caption"/>
          <p:cNvSpPr txBox="1"/>
          <p:nvPr/>
        </p:nvSpPr>
        <p:spPr>
          <a:xfrm>
            <a:off x="5391174" y="532528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9.3. (a) Least cost with one reading of cash, by the quarter read. (b) Least cost by what the decision can see.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9.1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Sign the line and commit the delay</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$0.25m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most a rule that reads cash saves, of $10.44m: within the noise of the design</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$4.1m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what a credible early warning of funding-window closures would be worth</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$10.0m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most any information could be worth with these levers</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Information is worth paying for when it comes before the trouble: watch the funding markets, not the cash</a:t>
            </a:r>
            <a:endParaRPr lang="en-US" sz="1700" dirty="0"/>
          </a:p>
          <a:p>
            <a:pPr marL="228600" indent="-228600">
              <a:spcAft>
                <a:spcPts val="800"/>
              </a:spcAft>
              <a:buSzPct val="100000"/>
              <a:buChar char="•"/>
            </a:pPr>
            <a:r>
              <a:rPr lang="en-US" sz="1700" dirty="0">
                <a:solidFill>
                  <a:schemeClr val="tx1"/>
                </a:solidFill>
              </a:rPr>
              <a:t>The treasury would own the warning, the transformation office the slowdown, the board the appetite</a:t>
            </a:r>
            <a:endParaRPr lang="en-US" sz="1700" dirty="0"/>
          </a:p>
          <a:p>
            <a:pPr marL="228600" indent="-228600">
              <a:spcAft>
                <a:spcPts val="800"/>
              </a:spcAft>
              <a:buSzPct val="100000"/>
              <a:buChar char="•"/>
            </a:pPr>
            <a:r>
              <a:rPr lang="en-US" sz="1700" dirty="0">
                <a:solidFill>
                  <a:schemeClr val="tx1"/>
                </a:solidFill>
              </a:rPr>
              <a:t>For discussion: what would a credible warning look like, and how would you test it before paying for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2.9 · MODULE AXIOM-09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Keeping Meridian's appetite,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board wants the cheapest way to keep its appetite, checked on paths the design has not seen. Open AXIOM, choose Lab 2.9 and load the Meridian liquidity instance (Volume I, Chapter 8's law) and the hiring instance with HR's record.</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Estimate and check</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Chances by quarter and over the program, with standard errors.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Design on a sample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The cheapest package on the book's paths; then on 1,000 and 10,000.</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 rules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Under common random numbers: the package against reading cash.</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information</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The clairvoyant's bound and an early warning of closures.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Steer with outside events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Departures and an uncertain yield; the martingale audit.</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package or rule, its cost and its chance of a breach on fresh paths with their errors, the value of information, and the declarations the answer rests 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Declaring a probability law turns the objective into an expected value, a commitment into one kept on every path, on average, or with a stated probability, and a decision into a rule that reads only what has been revealed. The average path is not a plan.</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With outside events, the HJB equation gains half their spread priced at the value's curvature. Verification carries over in expectation, and along the best rule the value ledger has no drift.</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Events that only add to the stocks leave a linear–quadratic rule unchanged and cost money. Uncertainty about what a decision achieves calls for gentler steering; risk that grows with the stocks, or doubt about the law, for harder steering. Risk aversion and distrust of the law are one penalty.</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commitment over many reviews is a joint chance constraint, whose chance lies between the worst review's and the sum. Quantile forms are exact and CVaR is convex and safe. Information never hurts, and the clairvoyant bounds what any of it is worth.</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Answers computed from samples carry two errors, the estimate's and the design's. Sample average approximation is consistent but optimistic: judge an answer on fresh paths, with a margin priced by the sample's size.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169</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87</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26209</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AXIOM-09</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2.9</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DCT_V2_Ch09_Lab.ipynb: Worked Example 9.1 and the lab's five steps in nine panels, on the book's paths and the fresh ones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DCT_V2_Ch09_Lab.xlsx: the plan and Gaussian chances, every package's and rule's cost, the margin bounds, the warning's allotment, and the hiring loop,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10</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a bounded set of possible futures</a:t>
            </a:r>
            <a:endParaRPr lang="en-US" sz="3200" dirty="0"/>
          </a:p>
        </p:txBody>
      </p:sp>
      <p:pic>
        <p:nvPicPr>
          <p:cNvPr id="5" name="Equation" descr="Equation: \Pr\{G(x,\xi) &gt; 0\} \le \alpha \qquad\longrightarrow\qquad G(x,\xi) \le 0 \;\text{ for every } \xi \in \Xi">    </p:cNvPr>
          <p:cNvPicPr>
            <a:picLocks noChangeAspect="1"/>
          </p:cNvPicPr>
          <p:nvPr/>
        </p:nvPicPr>
        <p:blipFill>
          <a:blip r:embed="rId1"/>
          <a:stretch>
            <a:fillRect/>
          </a:stretch>
        </p:blipFill>
        <p:spPr>
          <a:xfrm>
            <a:off x="548640" y="1735102"/>
            <a:ext cx="11094415" cy="598875"/>
          </a:xfrm>
          <a:prstGeom prst="rect">
            <a:avLst/>
          </a:prstGeom>
        </p:spPr>
      </p:pic>
      <p:sp>
        <p:nvSpPr>
          <p:cNvPr id="6" name="Bullets"/>
          <p:cNvSpPr txBox="1"/>
          <p:nvPr/>
        </p:nvSpPr>
        <p:spPr>
          <a:xfrm>
            <a:off x="548640" y="2654018"/>
            <a:ext cx="11094415" cy="3518182"/>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Chapter 9 trusted the declared law; Chapter 10 asks what can be guaranteed when only a set of futures is declared</a:t>
            </a:r>
            <a:endParaRPr lang="en-US" sz="1800" dirty="0"/>
          </a:p>
          <a:p>
            <a:pPr marL="228600" indent="-228600">
              <a:spcAft>
                <a:spcPts val="800"/>
              </a:spcAft>
              <a:buSzPct val="100000"/>
              <a:buChar char="•"/>
            </a:pPr>
            <a:r>
              <a:rPr lang="en-US" sz="1800" dirty="0">
                <a:solidFill>
                  <a:schemeClr val="bg1"/>
                </a:solidFill>
              </a:rPr>
              <a:t>Chapter 11 asks what to do when several laws fit the record: a family around the declared one</a:t>
            </a:r>
            <a:endParaRPr lang="en-US" sz="1800" dirty="0"/>
          </a:p>
          <a:p>
            <a:pPr marL="228600" indent="-228600">
              <a:spcAft>
                <a:spcPts val="800"/>
              </a:spcAft>
              <a:buSzPct val="100000"/>
              <a:buChar char="•"/>
            </a:pPr>
            <a:r>
              <a:rPr lang="en-US" sz="1800" dirty="0">
                <a:solidFill>
                  <a:schemeClr val="bg1"/>
                </a:solidFill>
              </a:rPr>
              <a:t>Proposition 9.1 is the bridge: risk aversion read as robustness to a misjudged law</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9: Stochastic Enterprise Optimization</dc:title>
  <dc:subject>Slides for Volume II, Chapter 9 (V56)</dc:subject>
  <dc:creator>Samir Asaf</dc:creator>
  <cp:lastModifiedBy>Samir Asaf</cp:lastModifiedBy>
  <cp:revision>1</cp:revision>
  <dcterms:created xsi:type="dcterms:W3CDTF">2026-10-05T16:39:54Z</dcterms:created>
  <dcterms:modified xsi:type="dcterms:W3CDTF">2026-10-05T16:39:54Z</dcterms:modified>
</cp:coreProperties>
</file>