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64ba32-9424-9e9b-5087-36b6dad7a3e0}">
          <p14:sldIdLst>
            <p14:sldId id="256"/>
            <p14:sldId id="257"/>
            <p14:sldId id="258"/>
            <p14:sldId id="259"/>
          </p14:sldIdLst>
        </p14:section>
        <p14:section name="10.1 From a Law to a Set" id="{fbc22f95-f46f-805d-1765-fe16bf7d063a}">
          <p14:sldIdLst>
            <p14:sldId id="260"/>
            <p14:sldId id="261"/>
          </p14:sldIdLst>
        </p14:section>
        <p14:section name="10.2 Robust Counterparts" id="{3925d402-fc64-0a26-3704-3819cd288a53}">
          <p14:sldIdLst>
            <p14:sldId id="262"/>
            <p14:sldId id="263"/>
          </p14:sldIdLst>
        </p14:section>
        <p14:section name="10.3 Graded Declarations" id="{d2032653-21aa-25a0-ab70-73a5047bc96d}">
          <p14:sldIdLst>
            <p14:sldId id="264"/>
            <p14:sldId id="265"/>
          </p14:sldIdLst>
        </p14:section>
        <p14:section name="10.4 Neuro-Fuzzy Rules" id="{dff0452e-84b6-326f-954a-20ff1238d2b7}">
          <p14:sldIdLst>
            <p14:sldId id="266"/>
            <p14:sldId id="267"/>
            <p14:sldId id="268"/>
          </p14:sldIdLst>
        </p14:section>
        <p14:section name="10.5 Guarantees, Odds, and Rules" id="{c85746be-efc2-1141-7042-6a155d46ddf8}">
          <p14:sldIdLst>
            <p14:sldId id="269"/>
            <p14:sldId id="270"/>
          </p14:sldIdLst>
        </p14:section>
        <p14:section name="Worked Example 10.1" id="{2cf4246b-db6c-786b-9748-5b74ea3671fb}">
          <p14:sldIdLst>
            <p14:sldId id="271"/>
            <p14:sldId id="272"/>
            <p14:sldId id="273"/>
            <p14:sldId id="274"/>
            <p14:sldId id="275"/>
          </p14:sldIdLst>
        </p14:section>
        <p14:section name="In Practice" id="{63a1eea3-cbba-4aae-b858-6356c331f7d6}">
          <p14:sldIdLst>
            <p14:sldId id="276"/>
          </p14:sldIdLst>
        </p14:section>
        <p14:section name="AXIOM Lab 2.10" id="{ef2fdd23-f154-c68e-be9f-838471ce9127}">
          <p14:sldIdLst>
            <p14:sldId id="277"/>
          </p14:sldIdLst>
        </p14:section>
        <p14:section name="Close" id="{ad05f70c-7c1a-d9e0-a55f-06203a52a689}">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10. Chapter 9 kept Meridian's appetite with a declared probability law; this chapter declares a bounded set of futures, with no odds, grades it in the offices' words, and learns its price as neuro-fuzzy rules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Shaw's maxim frames the chapter: the unexpected happens, so a board that cannot vouch for the odds declares what could happen instead, and audits that declaration (Section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10.1–10.3 are in Appendix 10.A; Propositions 10.1–10.3 and the numbers behind Worked Example 10.1 and Figures 10.1–10.3 in Online Appendix 10.B.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10.1 and Table 10.1. A graded (fuzzy) declaration gives each event a possibility, its membership; its α-cut holds the events of possibility at least α. The possibility of a set of events is the largest membership in it, and the necessity of its complement is one minus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10.1. The joint check's package passes its set and breaches on 17.4 percent of paths under Chapter 9's law, because the set left out deviations (Volume I, Worked Example 15.1). Online Appendix Example 10.B.2: law 17.39 percent (fresh 17.12), set coverage 1.5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10.1; formal statement and proof in Appendix 10.A. A box lets every coefficient reach its worst at once; a budget lets at most Γ of them do so (Bertsimas and Sim). Part (iii) is the bridge to Chapter 9: a set that holds 95 percent of the law's futures promises a 5 percent appetite, conservatively.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10.1(ii); formal statement and proof in Online Appendix 10.B. The closed form holds because a line is cheaper than delay per dollar of cover, 0.03 against 8 / 24.8. For nested sets the least cost never falls as the set grows (part (iii)). Crisp set under the law: 8.64 percent (fresh 8.43).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10.2; formal statement and proof in Appendix 10.A. The max-min choice is the decision of Bellman and Zadeh, computed as Zimmermann's crisp program. A common mistake is to read a possibility as a probability: without a record, the grades are the offices' words (LOS 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10.2 and Figure 10.1; formal statement and proof in Online Appendix 10.B. The cuts are solved on a grid of α in steps of 0.01; the max-min choice has safety 0.62 and goal 0.630, deviations within $143.0m and a closure within $231.6m. Strengthening the goal ('very cheap') can only lower the level (Proposition 10.2(iii)).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10.3 and Equation 10.2; formal statement and proof in Appendix 10.A. A first-order Sugeno system (Takagi and Sugeno), learned as an ANFIS by hybrid learning (Jang). Online Appendix Example 10.B.2: 300 projected Armijo steps, mean squared error from 0.0802 to 0.00806; root-mean-square error 0.158 on the certification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10.4 and Online Appendix Example 10.B.2. Inputs normalized, u = (D − 25)/225, v = S/350; terms centred at the anchors the offices named, widths learned within 0.03 to 0.6 (Yen, Wang, and Gillespie on readable fuzzy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10.2 and Theorem 10.3(iv). The six rules trained for accuracy alone reach a root-mean-square error of 0.183, but their conclusions cancel: −0.03, 6.71, 58.64, −9.56, −19.49 and 61.58 at their centres (Online Appendix Example 10.B.2).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10.3; formal statement and proof in Online Appendix 10.B. Adjustable rules are due to Ben-Tal, Goryashko, Guslitzer, and Nemirovski. Under a law a rule gains the value of the information it reads (Proposition 9.3); under a set, only if the reading comes before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10.2. Meridian's cuts are solved exactly in microseconds because Proposition 10.1(ii) gives the package in closed form; larger models need one linear or cone program per cut, which is where a neuro-fuzzy surface earns its keep, provided its proposals are checked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the situation. The levers and their prices are Chapter 9's: a standby line at 3 percent, a quarter of committed delay at $8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Steps 1–5. Step 5's difference of $0.53m sits at the corner where deviations exhaust the margin: the board explores with the rules and decides with the exact solve (Theorem 10.3(iv)).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10.3; Online Appendix Example 10.B.2. Every package is robust on its set: no path inside a set breaches. The max-min package breaches on 5.64 percent of the book's paths (fresh 5.51).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Step 4, and Figure 10.3. Robust packages are designed for the set, not for the law: when the law is right they cost a little more than the cheapest package for the same chance; when it is wrong, the guarantee still holds on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what the board should take away, and the discussion questions. When would you rather have a guarantee on a set than a chance under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10: Ford Maps Its Supply Risk Without Odds. A real organization's decision of this chapter's kind, told from its published record; every figure is cited in the book. The lesson for Meridian: Judge a decision by the worst declared event, and let the guarantee choose which estimates to audit. Sources: Simchi-Levi et al. (2015), Interfaces; Simchi-Levi, Wang and Wei (2018); MIT News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2.10. What to look for: a binding quarter where the plan's margin is smallest; a set's guarantee that fails often under the law when the set leaves out deviations; a graded price and a max-min choice near Chapter 9's cost; rules that rediscover the line's fee and the price of delay, and an error that peaks at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and Limits box of Section 10.1: Chapter 11 declares a family of laws, which sits between a law and a set. Part III, Enterprise Optimization Under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10</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10</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10 · WEEK 12</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Neuro-Fuzzy Robust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Part III's second declaration: a bounded set of futures with no odds, and decisions that keep their commitments on every future in it</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26210 · AXIOM Lab 2.10 (AXIOM-10)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“If history repeats itself, and the unexpected always happens, how incapable must Man be of learning from experience!”</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George Bernard Shaw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1925; Man and Superman (1903), “Maxims for Revolutionists”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declaring a bounded set of futures guarantees, what it costs, and how it differs from declaring a law.</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the robust counterpart of a commitment over a box, a budget, or a ball, and find a robust decision and its binding worst case.</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Turn linguistic declarations into graded sets, read possibility and necessity guarantees from their cuts, and choose by max-min against a graded goal.</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Build a neuro-fuzzy rule system in the declarations' language, train it by hybrid learning, and certify what it proposes.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Compare a guarantee on a set with a chance under a law, and judge when rules that read the past help under a set.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§10.1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a Law to a Set</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10.1 · Table 10.1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§10.2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Robust Counterparts</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10.1 · Proposition 10.1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§10.3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Graded Declarations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10.2 · Proposition 10.2 · Figure 10.1</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§10.4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Neuro-Fuzzy Rules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10.3 · Figure 10.2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§10.5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Guarantees, Odds, and Rules</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10.3 · Table 10.2</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10.1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What Can Meridian Guarantee Without Odds?</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10.3 · Figure 10.3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Ford Maps Its Supply Risk Without Odds</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2.10</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Guarantees Without Odds: Sets, Grades, and Rules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AXIOM-10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§10.1 · DEFINITION 10.1 · TABLE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declarations of uncertainty</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18757"/>
                <a:gridCol w="3091886"/>
                <a:gridCol w="3091886"/>
                <a:gridCol w="3091886"/>
              </a:tblGrid>
              <a:tr h="548640">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law (Chapter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set (this chapter)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graded set (this chapter)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Declares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odds of every event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can happen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how possible each event is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Promise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chance, an expected 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every event in the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every event of possibility at least α</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Owner's evidence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record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bounds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words: usual, possible, unthinkable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Computation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samples (Theorem 9.3)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robust counterparts (Theorem 10.1)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robust problem per cut (Theorem 10.2)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Fails when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odds are wrong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set leaves out what matters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words are miscalibrated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10.1: a robust decision keeps every commitment for every event in a declared bounded set; it promises more than a chance, and assumes less.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§10.1 · VOLUME I'S JOINT CHECK, READ AS ROBUST</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set must say everything that matters</a:t>
            </a:r>
            <a:endParaRPr lang="en-US" sz="3200" dirty="0"/>
          </a:p>
        </p:txBody>
      </p:sp>
      <p:sp>
        <p:nvSpPr>
          <p:cNvPr id="5" name="Stat 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$55m</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a line that keeps the floor against one closure of $187m: $1.65m, robust on its set</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17.4%</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its chance of a breach under Chapter 9's law</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8.4%</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chance from execution and market deviations alone, which its set left out</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Volume I, Worked Example 13.1 guarded the floor against the 90th-percentile closure at the deepest draw</a:t>
            </a:r>
            <a:endParaRPr lang="en-US" sz="1700" dirty="0"/>
          </a:p>
          <a:p>
            <a:pPr marL="228600" indent="-228600">
              <a:spcAft>
                <a:spcPts val="800"/>
              </a:spcAft>
              <a:buSzPct val="100000"/>
              <a:buChar char="•"/>
            </a:pPr>
            <a:r>
              <a:rPr lang="en-US" sz="1700" dirty="0">
                <a:solidFill>
                  <a:schemeClr val="tx1"/>
                </a:solidFill>
              </a:rPr>
              <a:t>A guarantee is exactly as good as its set: the set is a declaration, with owners and an audit</a:t>
            </a:r>
            <a:endParaRPr lang="en-US" sz="1700" dirty="0"/>
          </a:p>
          <a:p>
            <a:pPr marL="228600" indent="-228600">
              <a:spcAft>
                <a:spcPts val="800"/>
              </a:spcAft>
              <a:buSzPct val="100000"/>
              <a:buChar char="•"/>
            </a:pPr>
            <a:r>
              <a:rPr lang="en-US" sz="1700" dirty="0">
                <a:solidFill>
                  <a:schemeClr val="tx1"/>
                </a:solidFill>
              </a:rPr>
              <a:t>The engineering office owns the bound on deviations; the treasury, the bound on a closure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§10.2 · THEOREM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commitment on a whole set is one constraint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Robust Counterparts</a:t>
            </a:r>
            <a:endParaRPr lang="en-US" sz="2100" dirty="0"/>
          </a:p>
        </p:txBody>
      </p:sp>
      <p:pic>
        <p:nvPicPr>
          <p:cNvPr id="8" name="Equation" descr="Equation: (\mathbf{a}_0 + P\boldsymbol{\zeta})^{\top}\mathbf{z} \le b \;\;\forall\,\boldsymbol{\zeta} \in Z \iff \mathbf{a}_0^{\top}\mathbf{z} + \max_{\boldsymbol{\zeta} \in Z}\boldsymbol{\zeta}^{\top}P^{\top}\mathbf{z} \le b">    </p:cNvPr>
          <p:cNvPicPr>
            <a:picLocks noChangeAspect="1"/>
          </p:cNvPicPr>
          <p:nvPr/>
        </p:nvPicPr>
        <p:blipFill>
          <a:blip r:embed="rId1"/>
          <a:stretch>
            <a:fillRect/>
          </a:stretch>
        </p:blipFill>
        <p:spPr>
          <a:xfrm>
            <a:off x="822960" y="2743200"/>
            <a:ext cx="4687214"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Counterparts.</a:t>
            </a:r>
            <a:r>
              <a:rPr lang="en-US" sz="1500" dirty="0">
                <a:solidFill>
                  <a:schemeClr val="tx1"/>
                </a:solidFill>
              </a:rPr>
              <a:t> A box gives ‖y‖₁, a ball ‖y‖₂, a budget min over t of Γt + Σ(|yᵢ| − t)⁺: linear, cone, linear</a:t>
            </a:r>
            <a:endParaRPr lang="en-US" sz="1500" dirty="0"/>
          </a:p>
          <a:p>
            <a:pPr marL="228600" indent="-228600">
              <a:spcAft>
                <a:spcPts val="600"/>
              </a:spcAft>
              <a:buSzPct val="100000"/>
              <a:buChar char="•"/>
            </a:pPr>
            <a:r>
              <a:rPr lang="en-US" sz="1500" b="1" dirty="0">
                <a:solidFill>
                  <a:schemeClr val="tx1"/>
                </a:solidFill>
              </a:rPr>
              <a:t>(ii) Price of robustness.</a:t>
            </a:r>
            <a:r>
              <a:rPr lang="en-US" sz="1500" dirty="0">
                <a:solidFill>
                  <a:schemeClr val="tx1"/>
                </a:solidFill>
              </a:rPr>
              <a:t> Robust decisions form a convex set that shrinks as the set grows</a:t>
            </a:r>
            <a:endParaRPr lang="en-US" sz="1500" dirty="0"/>
          </a:p>
          <a:p>
            <a:pPr marL="228600" indent="-228600">
              <a:spcAft>
                <a:spcPts val="600"/>
              </a:spcAft>
              <a:buSzPct val="100000"/>
              <a:buChar char="•"/>
            </a:pPr>
            <a:r>
              <a:rPr lang="en-US" sz="1500" b="1" dirty="0">
                <a:solidFill>
                  <a:schemeClr val="tx1"/>
                </a:solidFill>
              </a:rPr>
              <a:t>(iii) Sets and odds.</a:t>
            </a:r>
            <a:r>
              <a:rPr lang="en-US" sz="1500" dirty="0">
                <a:solidFill>
                  <a:schemeClr val="tx1"/>
                </a:solidFill>
              </a:rPr>
              <a:t> A set of probability 1 − α under a law promises the chance 1 − α</a:t>
            </a:r>
            <a:endParaRPr lang="en-US" sz="1500" dirty="0"/>
          </a:p>
          <a:p>
            <a:pPr marL="228600" indent="-228600">
              <a:spcAft>
                <a:spcPts val="600"/>
              </a:spcAft>
              <a:buSzPct val="100000"/>
              <a:buChar char="•"/>
            </a:pPr>
            <a:r>
              <a:rPr lang="en-US" sz="1500" b="1" dirty="0">
                <a:solidFill>
                  <a:schemeClr val="tx1"/>
                </a:solidFill>
              </a:rPr>
              <a:t>(iv) Budgets.</a:t>
            </a:r>
            <a:r>
              <a:rPr lang="en-US" sz="1500" dirty="0">
                <a:solidFill>
                  <a:schemeClr val="tx1"/>
                </a:solidFill>
              </a:rPr>
              <a:t> With independent symmetric events, a breach has probability at most exp(−Γ²/(2n))</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Meridian's floor</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floor is linear in the deviations and in the closure beyond the line</a:t>
            </a:r>
            <a:endParaRPr lang="en-US" sz="1600" dirty="0"/>
          </a:p>
          <a:p>
            <a:pPr marL="228600" indent="-228600">
              <a:spcAft>
                <a:spcPts val="800"/>
              </a:spcAft>
              <a:buSzPct val="100000"/>
              <a:buChar char="•"/>
            </a:pPr>
            <a:r>
              <a:rPr lang="en-US" sz="1600" dirty="0">
                <a:solidFill>
                  <a:schemeClr val="tx1"/>
                </a:solidFill>
              </a:rPr>
              <a:t>Worst case: deviations at their bound, the closure early enough to be felt in the deepest quarter</a:t>
            </a:r>
            <a:endParaRPr lang="en-US" sz="1600" dirty="0"/>
          </a:p>
          <a:p>
            <a:pPr marL="228600" indent="-228600">
              <a:spcAft>
                <a:spcPts val="800"/>
              </a:spcAft>
              <a:buSzPct val="100000"/>
              <a:buChar char="•"/>
            </a:pPr>
            <a:r>
              <a:rPr lang="en-US" sz="1600" dirty="0">
                <a:solidFill>
                  <a:schemeClr val="tx1"/>
                </a:solidFill>
              </a:rPr>
              <a:t>There, quarter 7, the plan stands </a:t>
            </a:r>
            <a:r>
              <a:rPr lang="en-US" sz="1600" b="1" dirty="0">
                <a:solidFill>
                  <a:schemeClr val="tx1"/>
                </a:solidFill>
              </a:rPr>
              <a:t>$132m</a:t>
            </a:r>
            <a:r>
              <a:rPr lang="en-US" sz="1600" dirty="0">
                <a:solidFill>
                  <a:schemeClr val="tx1"/>
                </a:solidFill>
              </a:rPr>
              <a:t> above the floor</a:t>
            </a:r>
            <a:endParaRPr lang="en-US" sz="1600" dirty="0"/>
          </a:p>
          <a:p>
            <a:pPr marL="228600" indent="-228600">
              <a:spcAft>
                <a:spcPts val="800"/>
              </a:spcAft>
              <a:buSzPct val="100000"/>
              <a:buChar char="•"/>
            </a:pPr>
            <a:r>
              <a:rPr lang="en-US" sz="1600" dirty="0">
                <a:solidFill>
                  <a:schemeClr val="tx1"/>
                </a:solidFill>
              </a:rPr>
              <a:t>A line covers a dollar of closure for 3 cents; delay lifts quarter 7 by $24.6m for $8m, about </a:t>
            </a:r>
            <a:r>
              <a:rPr lang="en-US" sz="1600" b="1" dirty="0">
                <a:solidFill>
                  <a:schemeClr val="tx1"/>
                </a:solidFill>
              </a:rPr>
              <a:t>33 cents</a:t>
            </a:r>
            <a:r>
              <a:rPr lang="en-US" sz="1600" dirty="0">
                <a:solidFill>
                  <a:schemeClr val="tx1"/>
                </a:solidFill>
              </a:rPr>
              <a:t> a dollar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§10.2 · PROPOSITION 10.1(II)</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cheapest robust package in closed form</a:t>
            </a:r>
            <a:endParaRPr lang="en-US" sz="3200" dirty="0"/>
          </a:p>
        </p:txBody>
      </p:sp>
      <p:pic>
        <p:nvPicPr>
          <p:cNvPr id="5" name="Equation" descr="Equation: \phi^{*} = \max_k \frac{(D - m_k)^{+}}{\ell_k}, \qquad u^{*} = \min\Bigl(S,\; \min_k\,(m_k - D + \ell_k\phi^{*})\Bigr), \qquad l^{*} = S - u^{*}">    </p:cNvPr>
          <p:cNvPicPr>
            <a:picLocks noChangeAspect="1"/>
          </p:cNvPicPr>
          <p:nvPr/>
        </p:nvPicPr>
        <p:blipFill>
          <a:blip r:embed="rId1"/>
          <a:stretch>
            <a:fillRect/>
          </a:stretch>
        </p:blipFill>
        <p:spPr>
          <a:xfrm>
            <a:off x="1471783" y="1828800"/>
            <a:ext cx="9248129" cy="777240"/>
          </a:xfrm>
          <a:prstGeom prst="rect">
            <a:avLst/>
          </a:prstGeom>
        </p:spPr>
      </p:pic>
      <p:sp>
        <p:nvSpPr>
          <p:cNvPr id="6" name="Text 2"/>
          <p:cNvSpPr txBox="1"/>
          <p:nvPr/>
        </p:nvSpPr>
        <p:spPr>
          <a:xfrm>
            <a:off x="914400" y="27432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least delay the deviations need; the margin absorbs what it can of a closure; the line covers the rest</a:t>
            </a:r>
            <a:endParaRPr lang="en-US" sz="1600" dirty="0"/>
          </a:p>
        </p:txBody>
      </p:sp>
      <p:sp>
        <p:nvSpPr>
          <p:cNvPr id="7" name="Bullets"/>
          <p:cNvSpPr txBox="1"/>
          <p:nvPr/>
        </p:nvSpPr>
        <p:spPr>
          <a:xfrm>
            <a:off x="914400" y="3337560"/>
            <a:ext cx="10362895" cy="28346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Joint check</a:t>
            </a:r>
            <a:r>
              <a:rPr lang="en-US" sz="1700" dirty="0">
                <a:solidFill>
                  <a:schemeClr val="bg1"/>
                </a:solidFill>
              </a:rPr>
              <a:t> (D 0, S 187): the margin absorbs $132m; a $55m line, $1.65m</a:t>
            </a:r>
            <a:endParaRPr lang="en-US" sz="1700" dirty="0"/>
          </a:p>
          <a:p>
            <a:pPr marL="228600" indent="-228600">
              <a:spcAft>
                <a:spcPts val="800"/>
              </a:spcAft>
              <a:buSzPct val="100000"/>
              <a:buChar char="•"/>
            </a:pPr>
            <a:r>
              <a:rPr lang="en-US" sz="1700" b="1" dirty="0">
                <a:solidFill>
                  <a:schemeClr val="bg1"/>
                </a:solidFill>
              </a:rPr>
              <a:t>Crisp set</a:t>
            </a:r>
            <a:r>
              <a:rPr lang="en-US" sz="1700" dirty="0">
                <a:solidFill>
                  <a:schemeClr val="bg1"/>
                </a:solidFill>
              </a:rPr>
              <a:t> (D 125, S 210): deviations use $125m of the $132m margin; the first $7m of a closure fits; a $203m line, no delay, </a:t>
            </a:r>
            <a:r>
              <a:rPr lang="en-US" sz="1700" b="1" dirty="0">
                <a:solidFill>
                  <a:schemeClr val="bg1"/>
                </a:solidFill>
              </a:rPr>
              <a:t>$6.09m</a:t>
            </a:r>
            <a:endParaRPr lang="en-US" sz="1700" dirty="0"/>
          </a:p>
          <a:p>
            <a:pPr marL="228600" indent="-228600">
              <a:spcAft>
                <a:spcPts val="800"/>
              </a:spcAft>
              <a:buSzPct val="100000"/>
              <a:buChar char="•"/>
            </a:pPr>
            <a:r>
              <a:rPr lang="en-US" sz="1700" dirty="0">
                <a:solidFill>
                  <a:schemeClr val="bg1"/>
                </a:solidFill>
              </a:rPr>
              <a:t>A bank's cap of $100m on the line: the delay carries the rest, 4.3 quarters and </a:t>
            </a:r>
            <a:r>
              <a:rPr lang="en-US" sz="1700" b="1" dirty="0">
                <a:solidFill>
                  <a:schemeClr val="bg1"/>
                </a:solidFill>
              </a:rPr>
              <a:t>$37.23m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§10.3 · THEOREM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Words become nested sets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Graded Declarations</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Cuts.</a:t>
            </a:r>
            <a:r>
              <a:rPr lang="en-US" sz="1500" dirty="0">
                <a:solidFill>
                  <a:schemeClr val="tx1"/>
                </a:solidFill>
              </a:rPr>
              <a:t> Nested crisp sets that determine the declaration; declarations combined by the minimum have the products of their cuts</a:t>
            </a:r>
            <a:endParaRPr lang="en-US" sz="1500" dirty="0"/>
          </a:p>
          <a:p>
            <a:pPr marL="228600" indent="-228600">
              <a:spcAft>
                <a:spcPts val="600"/>
              </a:spcAft>
              <a:buSzPct val="100000"/>
              <a:buChar char="•"/>
            </a:pPr>
            <a:r>
              <a:rPr lang="en-US" sz="1500" b="1" dirty="0">
                <a:solidFill>
                  <a:schemeClr val="tx1"/>
                </a:solidFill>
              </a:rPr>
              <a:t>(ii) Possibility guarantee.</a:t>
            </a:r>
            <a:r>
              <a:rPr lang="en-US" sz="1500" dirty="0">
                <a:solidFill>
                  <a:schemeClr val="tx1"/>
                </a:solidFill>
              </a:rPr>
              <a:t> Robust on the α-cut: a breach has possibility at most α, safety necessity at least 1 − α; the cost C(α) never rises with α</a:t>
            </a:r>
            <a:endParaRPr lang="en-US" sz="1500" dirty="0"/>
          </a:p>
          <a:p>
            <a:pPr marL="228600" indent="-228600">
              <a:spcAft>
                <a:spcPts val="600"/>
              </a:spcAft>
              <a:buSzPct val="100000"/>
              <a:buChar char="•"/>
            </a:pPr>
            <a:r>
              <a:rPr lang="en-US" sz="1500" b="1" dirty="0">
                <a:solidFill>
                  <a:schemeClr val="tx1"/>
                </a:solidFill>
              </a:rPr>
              <a:t>(iii) Max-min choice.</a:t>
            </a:r>
            <a:r>
              <a:rPr lang="en-US" sz="1500" dirty="0">
                <a:solidFill>
                  <a:schemeClr val="tx1"/>
                </a:solidFill>
              </a:rPr>
              <a:t> Maximize λ with the goal for cost at least λ and robustness on the (1 − λ)-cut: bisection, one robust problem per step</a:t>
            </a:r>
            <a:endParaRPr lang="en-US" sz="1500" dirty="0"/>
          </a:p>
          <a:p>
            <a:pPr marL="228600" indent="-228600">
              <a:spcAft>
                <a:spcPts val="600"/>
              </a:spcAft>
              <a:buSzPct val="100000"/>
              <a:buChar char="•"/>
            </a:pPr>
            <a:r>
              <a:rPr lang="en-US" sz="1500" b="1" dirty="0">
                <a:solidFill>
                  <a:schemeClr val="tx1"/>
                </a:solidFill>
              </a:rPr>
              <a:t>(iv) Calibration.</a:t>
            </a:r>
            <a:r>
              <a:rPr lang="en-US" sz="1500" dirty="0">
                <a:solidFill>
                  <a:schemeClr val="tx1"/>
                </a:solidFill>
              </a:rPr>
              <a:t> Grades read from a law's record: a cut at α holds probability at least 1 − α</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offices' words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Deviations: usually within $50m of plan, never beyond </a:t>
            </a:r>
            <a:r>
              <a:rPr lang="en-US" sz="1600" b="1" dirty="0">
                <a:solidFill>
                  <a:schemeClr val="tx1"/>
                </a:solidFill>
              </a:rPr>
              <a:t>$200m</a:t>
            </a:r>
            <a:endParaRPr lang="en-US" sz="1600" dirty="0"/>
          </a:p>
          <a:p>
            <a:pPr marL="228600" indent="-228600">
              <a:spcAft>
                <a:spcPts val="800"/>
              </a:spcAft>
              <a:buSzPct val="100000"/>
              <a:buChar char="•"/>
            </a:pPr>
            <a:r>
              <a:rPr lang="en-US" sz="1600" dirty="0">
                <a:solidFill>
                  <a:schemeClr val="tx1"/>
                </a:solidFill>
              </a:rPr>
              <a:t>A closure: most plausibly about $120m, never above </a:t>
            </a:r>
            <a:r>
              <a:rPr lang="en-US" sz="1600" b="1" dirty="0">
                <a:solidFill>
                  <a:schemeClr val="tx1"/>
                </a:solidFill>
              </a:rPr>
              <a:t>$300m</a:t>
            </a:r>
            <a:endParaRPr lang="en-US" sz="1600" dirty="0"/>
          </a:p>
          <a:p>
            <a:pPr marL="228600" indent="-228600">
              <a:spcAft>
                <a:spcPts val="800"/>
              </a:spcAft>
              <a:buSzPct val="100000"/>
              <a:buChar char="•"/>
            </a:pPr>
            <a:r>
              <a:rPr lang="en-US" sz="1600" dirty="0">
                <a:solidFill>
                  <a:schemeClr val="tx1"/>
                </a:solidFill>
              </a:rPr>
              <a:t>The cut at α: deviations within 200 − 150α, a closure within 300 − 180α</a:t>
            </a:r>
            <a:endParaRPr lang="en-US" sz="1600" dirty="0"/>
          </a:p>
          <a:p>
            <a:pPr marL="228600" indent="-228600">
              <a:spcAft>
                <a:spcPts val="800"/>
              </a:spcAft>
              <a:buSzPct val="100000"/>
              <a:buChar char="•"/>
            </a:pPr>
            <a:r>
              <a:rPr lang="en-US" sz="1600" dirty="0">
                <a:solidFill>
                  <a:schemeClr val="tx1"/>
                </a:solidFill>
              </a:rPr>
              <a:t>The board: a guarantee should cost about $5m or less, surely no more than </a:t>
            </a:r>
            <a:r>
              <a:rPr lang="en-US" sz="1600" b="1" dirty="0">
                <a:solidFill>
                  <a:schemeClr val="tx1"/>
                </a:solidFill>
              </a:rPr>
              <a:t>$20m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§10.3 · PROPOSITION 10.2 · FIGURE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Max-min: necessity 0.62 at $10.54m</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The graded price runs from </a:t>
            </a:r>
            <a:r>
              <a:rPr lang="en-US" sz="1500" b="1" dirty="0">
                <a:solidFill>
                  <a:schemeClr val="tx1"/>
                </a:solidFill>
              </a:rPr>
              <a:t>$1.14m</a:t>
            </a:r>
            <a:r>
              <a:rPr lang="en-US" sz="1500" dirty="0">
                <a:solidFill>
                  <a:schemeClr val="tx1"/>
                </a:solidFill>
              </a:rPr>
              <a:t> at possibility 1 to </a:t>
            </a:r>
            <a:r>
              <a:rPr lang="en-US" sz="1500" b="1" dirty="0">
                <a:solidFill>
                  <a:schemeClr val="tx1"/>
                </a:solidFill>
              </a:rPr>
              <a:t>$31.37m</a:t>
            </a:r>
            <a:r>
              <a:rPr lang="en-US" sz="1500" dirty="0">
                <a:solidFill>
                  <a:schemeClr val="tx1"/>
                </a:solidFill>
              </a:rPr>
              <a:t> at 0</a:t>
            </a:r>
            <a:endParaRPr lang="en-US" sz="1500" dirty="0"/>
          </a:p>
          <a:p>
            <a:pPr marL="228600" indent="-228600">
              <a:spcAft>
                <a:spcPts val="800"/>
              </a:spcAft>
              <a:buSzPct val="100000"/>
              <a:buChar char="•"/>
            </a:pPr>
            <a:r>
              <a:rPr lang="en-US" sz="1500" dirty="0">
                <a:solidFill>
                  <a:schemeClr val="tx1"/>
                </a:solidFill>
              </a:rPr>
              <a:t>Computed cut by cut: its 0.5-cut is the crisp answer, $6.09m (Proposition 10.2(i))</a:t>
            </a:r>
            <a:endParaRPr lang="en-US" sz="1500" dirty="0"/>
          </a:p>
          <a:p>
            <a:pPr marL="228600" indent="-228600">
              <a:spcAft>
                <a:spcPts val="800"/>
              </a:spcAft>
              <a:buSzPct val="100000"/>
              <a:buChar char="•"/>
            </a:pPr>
            <a:r>
              <a:rPr lang="en-US" sz="1500" dirty="0">
                <a:solidFill>
                  <a:schemeClr val="tx1"/>
                </a:solidFill>
              </a:rPr>
              <a:t>As the necessity of safety rises, the cost rises and the board's goal falls</a:t>
            </a:r>
            <a:endParaRPr lang="en-US" sz="1500" dirty="0"/>
          </a:p>
          <a:p>
            <a:pPr marL="228600" indent="-228600">
              <a:spcAft>
                <a:spcPts val="800"/>
              </a:spcAft>
              <a:buSzPct val="100000"/>
              <a:buChar char="•"/>
            </a:pPr>
            <a:r>
              <a:rPr lang="en-US" sz="1500" dirty="0">
                <a:solidFill>
                  <a:schemeClr val="tx1"/>
                </a:solidFill>
              </a:rPr>
              <a:t>The cut at 0.38: a $232m line and 0.45 quarter, </a:t>
            </a:r>
            <a:r>
              <a:rPr lang="en-US" sz="1500" b="1" dirty="0">
                <a:solidFill>
                  <a:schemeClr val="tx1"/>
                </a:solidFill>
              </a:rPr>
              <a:t>$10.54m</a:t>
            </a:r>
            <a:endParaRPr lang="en-US" sz="1500" dirty="0"/>
          </a:p>
          <a:p>
            <a:pPr marL="228600" indent="-228600">
              <a:spcAft>
                <a:spcPts val="800"/>
              </a:spcAft>
              <a:buSzPct val="100000"/>
              <a:buChar char="•"/>
            </a:pPr>
            <a:r>
              <a:rPr lang="en-US" sz="1500" dirty="0">
                <a:solidFill>
                  <a:schemeClr val="tx1"/>
                </a:solidFill>
              </a:rPr>
              <a:t>It fails only in futures the offices graded below 0.38</a:t>
            </a:r>
            <a:endParaRPr lang="en-US" sz="1500" dirty="0"/>
          </a:p>
        </p:txBody>
      </p:sp>
      <p:pic>
        <p:nvPicPr>
          <p:cNvPr id="6" name="Figure" descr="Figure 10.1: graded declarations and the board's max-min choice">    </p:cNvPr>
          <p:cNvPicPr>
            <a:picLocks noChangeAspect="1"/>
          </p:cNvPicPr>
          <p:nvPr/>
        </p:nvPicPr>
        <p:blipFill>
          <a:blip r:embed="rId1"/>
          <a:stretch>
            <a:fillRect/>
          </a:stretch>
        </p:blipFill>
        <p:spPr>
          <a:xfrm>
            <a:off x="5391174" y="2099053"/>
            <a:ext cx="6251881" cy="3098806"/>
          </a:xfrm>
          <a:prstGeom prst="rect">
            <a:avLst/>
          </a:prstGeom>
        </p:spPr>
      </p:pic>
      <p:sp>
        <p:nvSpPr>
          <p:cNvPr id="7" name="Caption"/>
          <p:cNvSpPr txBox="1"/>
          <p:nvPr/>
        </p:nvSpPr>
        <p:spPr>
          <a:xfrm>
            <a:off x="5391174" y="527101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10.1. (a) The offices' graded declarations; the 0.5-cut is $125m and $210m. (b) Necessity of safety against the board's goal for cost; the max-min choice is the crossing.</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§10.4 · THEOREM 10.3 · EQUATION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Rules in the offices' words, learned</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Neuro-Fuzzy Rules</a:t>
            </a:r>
            <a:endParaRPr lang="en-US" sz="2100" dirty="0"/>
          </a:p>
        </p:txBody>
      </p:sp>
      <p:pic>
        <p:nvPicPr>
          <p:cNvPr id="8" name="Equation" descr="Equation: \hat y(\mathbf{x}) \;=\; \frac{\sum_r w_r(\mathbf{x})\,\boldsymbol{\theta}_r^{\top}(1,\mathbf{x})}{\sum_r w_r(\mathbf{x})}">    </p:cNvPr>
          <p:cNvPicPr>
            <a:picLocks noChangeAspect="1"/>
          </p:cNvPicPr>
          <p:nvPr/>
        </p:nvPicPr>
        <p:blipFill>
          <a:blip r:embed="rId1"/>
          <a:stretch>
            <a:fillRect/>
          </a:stretch>
        </p:blipFill>
        <p:spPr>
          <a:xfrm>
            <a:off x="822960" y="2743200"/>
            <a:ext cx="2405547" cy="640080"/>
          </a:xfrm>
          <a:prstGeom prst="rect">
            <a:avLst/>
          </a:prstGeom>
        </p:spPr>
      </p:pic>
      <p:sp>
        <p:nvSpPr>
          <p:cNvPr id="9" name="Bullets"/>
          <p:cNvSpPr txBox="1"/>
          <p:nvPr/>
        </p:nvSpPr>
        <p:spPr>
          <a:xfrm>
            <a:off x="822960" y="3547872"/>
            <a:ext cx="5394960" cy="248716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Reading.</a:t>
            </a:r>
            <a:r>
              <a:rPr lang="en-US" sz="1400" dirty="0">
                <a:solidFill>
                  <a:schemeClr val="tx1"/>
                </a:solidFill>
              </a:rPr>
              <a:t> A weighted average of the rules' conclusions</a:t>
            </a:r>
            <a:endParaRPr lang="en-US" sz="1400" dirty="0"/>
          </a:p>
          <a:p>
            <a:pPr marL="228600" indent="-228600">
              <a:spcAft>
                <a:spcPts val="600"/>
              </a:spcAft>
              <a:buSzPct val="100000"/>
              <a:buChar char="•"/>
            </a:pPr>
            <a:r>
              <a:rPr lang="en-US" sz="1400" b="1" dirty="0">
                <a:solidFill>
                  <a:schemeClr val="tx1"/>
                </a:solidFill>
              </a:rPr>
              <a:t>(ii) Learning.</a:t>
            </a:r>
            <a:r>
              <a:rPr lang="en-US" sz="1400" dirty="0">
                <a:solidFill>
                  <a:schemeClr val="tx1"/>
                </a:solidFill>
              </a:rPr>
              <a:t> Conclusions by least squares, overall or rule by rule; Armijo steps on the widths never raise the error</a:t>
            </a:r>
            <a:endParaRPr lang="en-US" sz="1400" dirty="0"/>
          </a:p>
          <a:p>
            <a:pPr marL="228600" indent="-228600">
              <a:spcAft>
                <a:spcPts val="600"/>
              </a:spcAft>
              <a:buSzPct val="100000"/>
              <a:buChar char="•"/>
            </a:pPr>
            <a:r>
              <a:rPr lang="en-US" sz="1400" b="1" dirty="0">
                <a:solidFill>
                  <a:schemeClr val="tx1"/>
                </a:solidFill>
              </a:rPr>
              <a:t>(iii) Reach.</a:t>
            </a:r>
            <a:r>
              <a:rPr lang="en-US" sz="1400" dirty="0">
                <a:solidFill>
                  <a:schemeClr val="tx1"/>
                </a:solidFill>
              </a:rPr>
              <a:t> Gaussian systems approximate any continuous function</a:t>
            </a:r>
            <a:endParaRPr lang="en-US" sz="1400" dirty="0"/>
          </a:p>
          <a:p>
            <a:pPr marL="228600" indent="-228600">
              <a:spcAft>
                <a:spcPts val="600"/>
              </a:spcAft>
              <a:buSzPct val="100000"/>
              <a:buChar char="•"/>
            </a:pPr>
            <a:r>
              <a:rPr lang="en-US" sz="1400" b="1" dirty="0">
                <a:solidFill>
                  <a:schemeClr val="tx1"/>
                </a:solidFill>
              </a:rPr>
              <a:t>(iv) Certificate.</a:t>
            </a:r>
            <a:r>
              <a:rPr lang="en-US" sz="1400" dirty="0">
                <a:solidFill>
                  <a:schemeClr val="tx1"/>
                </a:solidFill>
              </a:rPr>
              <a:t> Error at most e + (L + L̂)h/2 from a grid check; adopt only after the exact check</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price surface</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Eight rules: deviations mild, moderate, severe or extreme; closures small or large</a:t>
            </a:r>
            <a:endParaRPr lang="en-US" sz="1600" dirty="0"/>
          </a:p>
          <a:p>
            <a:pPr marL="228600" indent="-228600">
              <a:spcAft>
                <a:spcPts val="800"/>
              </a:spcAft>
              <a:buSzPct val="100000"/>
              <a:buChar char="•"/>
            </a:pPr>
            <a:r>
              <a:rPr lang="en-US" sz="1600" dirty="0">
                <a:solidFill>
                  <a:schemeClr val="tx1"/>
                </a:solidFill>
              </a:rPr>
              <a:t>Learned rule by rule from 150 exact robust solutions</a:t>
            </a:r>
            <a:endParaRPr lang="en-US" sz="1600" dirty="0"/>
          </a:p>
          <a:p>
            <a:pPr marL="228600" indent="-228600">
              <a:spcAft>
                <a:spcPts val="800"/>
              </a:spcAft>
              <a:buSzPct val="100000"/>
              <a:buChar char="•"/>
            </a:pPr>
            <a:r>
              <a:rPr lang="en-US" sz="1600" dirty="0">
                <a:solidFill>
                  <a:schemeClr val="tx1"/>
                </a:solidFill>
              </a:rPr>
              <a:t>Within $0.25m on </a:t>
            </a:r>
            <a:r>
              <a:rPr lang="en-US" sz="1600" b="1" dirty="0">
                <a:solidFill>
                  <a:schemeClr val="tx1"/>
                </a:solidFill>
              </a:rPr>
              <a:t>93.5%</a:t>
            </a:r>
            <a:r>
              <a:rPr lang="en-US" sz="1600" dirty="0">
                <a:solidFill>
                  <a:schemeClr val="tx1"/>
                </a:solidFill>
              </a:rPr>
              <a:t> of 3,266 declarations</a:t>
            </a:r>
            <a:endParaRPr lang="en-US" sz="1600" dirty="0"/>
          </a:p>
          <a:p>
            <a:pPr marL="228600" indent="-228600">
              <a:spcAft>
                <a:spcPts val="800"/>
              </a:spcAft>
              <a:buSzPct val="100000"/>
              <a:buChar char="•"/>
            </a:pPr>
            <a:r>
              <a:rPr lang="en-US" sz="1600" dirty="0">
                <a:solidFill>
                  <a:schemeClr val="tx1"/>
                </a:solidFill>
              </a:rPr>
              <a:t>Largest error </a:t>
            </a:r>
            <a:r>
              <a:rPr lang="en-US" sz="1600" b="1" dirty="0">
                <a:solidFill>
                  <a:schemeClr val="tx1"/>
                </a:solidFill>
              </a:rPr>
              <a:t>$0.95m</a:t>
            </a:r>
            <a:r>
              <a:rPr lang="en-US" sz="1600" dirty="0">
                <a:solidFill>
                  <a:schemeClr val="tx1"/>
                </a:solidFill>
              </a:rPr>
              <a:t>, at the corner where deviations use up the $132m margin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§10.4 · ONLINE APPENDIX EXAMPLE 10.B.2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rules rediscover the economics</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247146"/>
                <a:gridCol w="1623573"/>
                <a:gridCol w="1803970"/>
                <a:gridCol w="1533374"/>
                <a:gridCol w="1443176"/>
                <a:gridCol w="1443176"/>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Rule: deviations – closures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Anchor D, 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Conclusion there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Exact cost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Per $ of 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Per $ of 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mild – small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25, 0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0.0014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0.0015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mild – large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25, 350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7.23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7.29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0.0295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0.0289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moderate – small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100, 0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0.0122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0.0156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moderate – large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100, 350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9.54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9.54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0.0299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severe – small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175, 0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14.05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14.01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0.3288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severe – large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175, 350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24.55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24.51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0.3288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extreme – small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250, 0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39.58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39.58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0.3531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extreme – large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250, 350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50.08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50.08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0.3531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 million at each rule's anchor; slopes per $ of the declared bound. Learned rule by rule, each with its own firing as weights, so each rule describes its own region and can be read alone.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Where the line is needed: about 3 cents a dollar of closure. Severe and extreme deviations: 33 and 35 cents, the price of delay.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§10.4 · FIGURE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Explore with rules, decide with the exact solve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The least cost of a guarantee over the two bounds, with the graded cuts' path</a:t>
            </a:r>
            <a:endParaRPr lang="en-US" sz="1500" dirty="0"/>
          </a:p>
          <a:p>
            <a:pPr marL="228600" indent="-228600">
              <a:spcAft>
                <a:spcPts val="800"/>
              </a:spcAft>
              <a:buSzPct val="100000"/>
              <a:buChar char="•"/>
            </a:pPr>
            <a:r>
              <a:rPr lang="en-US" sz="1500" dirty="0">
                <a:solidFill>
                  <a:schemeClr val="tx1"/>
                </a:solidFill>
              </a:rPr>
              <a:t>A corner where deviations exhaust the $132m margin: 3 cents a dollar becomes 33</a:t>
            </a:r>
            <a:endParaRPr lang="en-US" sz="1500" dirty="0"/>
          </a:p>
          <a:p>
            <a:pPr marL="228600" indent="-228600">
              <a:spcAft>
                <a:spcPts val="800"/>
              </a:spcAft>
              <a:buSzPct val="100000"/>
              <a:buChar char="•"/>
            </a:pPr>
            <a:r>
              <a:rPr lang="en-US" sz="1500" dirty="0">
                <a:solidFill>
                  <a:schemeClr val="tx1"/>
                </a:solidFill>
              </a:rPr>
              <a:t>(b) At S = $230m the eight-rule surface runs smoothly through the corner</a:t>
            </a:r>
            <a:endParaRPr lang="en-US" sz="1500" dirty="0"/>
          </a:p>
          <a:p>
            <a:pPr marL="228600" indent="-228600">
              <a:spcAft>
                <a:spcPts val="800"/>
              </a:spcAft>
              <a:buSzPct val="100000"/>
              <a:buChar char="•"/>
            </a:pPr>
            <a:r>
              <a:rPr lang="en-US" sz="1500" dirty="0">
                <a:solidFill>
                  <a:schemeClr val="tx1"/>
                </a:solidFill>
              </a:rPr>
              <a:t>Six rules trained for accuracy alone fit about as well, but conclude anything from −$19m to $62m</a:t>
            </a:r>
            <a:endParaRPr lang="en-US" sz="1500" dirty="0"/>
          </a:p>
        </p:txBody>
      </p:sp>
      <p:pic>
        <p:nvPicPr>
          <p:cNvPr id="6" name="Figure" descr="Figure 10.2: the price of a guarantee and its neuro-fuzzy surface">    </p:cNvPr>
          <p:cNvPicPr>
            <a:picLocks noChangeAspect="1"/>
          </p:cNvPicPr>
          <p:nvPr/>
        </p:nvPicPr>
        <p:blipFill>
          <a:blip r:embed="rId1"/>
          <a:stretch>
            <a:fillRect/>
          </a:stretch>
        </p:blipFill>
        <p:spPr>
          <a:xfrm>
            <a:off x="5391174" y="2044783"/>
            <a:ext cx="6251881" cy="3207345"/>
          </a:xfrm>
          <a:prstGeom prst="rect">
            <a:avLst/>
          </a:prstGeom>
        </p:spPr>
      </p:pic>
      <p:sp>
        <p:nvSpPr>
          <p:cNvPr id="7" name="Caption"/>
          <p:cNvSpPr txBox="1"/>
          <p:nvPr/>
        </p:nvSpPr>
        <p:spPr>
          <a:xfrm>
            <a:off x="5391174" y="532528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10.2. (a) The price of a guarantee over D and S, the cuts' path marked. (b) The cost against D at S = $230m: exact, and the eight-rule surface.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§10.5 · PROPOSITION 10.3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Under a set, a rule must read early</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10.3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Rules under a Bounded Set</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A rule that reads what has happened never has a worse worst case than a decision fixed today</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Affine commitments and rules: a robust rule from Theorem 10.1, its coefficients as decisions</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If the set allows the whole damage in one period, after the last reading that could act, the best rule does no better than the best fixed decision</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On Meridian's sets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future quiet through quarter 6, then deviations at −D and the closure in quarter 7</a:t>
            </a:r>
            <a:endParaRPr lang="en-US" sz="1600" dirty="0"/>
          </a:p>
          <a:p>
            <a:pPr marL="228600" indent="-228600">
              <a:spcAft>
                <a:spcPts val="800"/>
              </a:spcAft>
              <a:buSzPct val="100000"/>
              <a:buChar char="•"/>
            </a:pPr>
            <a:r>
              <a:rPr lang="en-US" sz="1600" dirty="0">
                <a:solidFill>
                  <a:schemeClr val="tx1"/>
                </a:solidFill>
              </a:rPr>
              <a:t>Cash read in quarters 1–6 sees nothing; quarter 7 lands exactly at the floor</a:t>
            </a:r>
            <a:endParaRPr lang="en-US" sz="1600" dirty="0"/>
          </a:p>
          <a:p>
            <a:pPr marL="228600" indent="-228600">
              <a:spcAft>
                <a:spcPts val="800"/>
              </a:spcAft>
              <a:buSzPct val="100000"/>
              <a:buChar char="•"/>
            </a:pPr>
            <a:r>
              <a:rPr lang="en-US" sz="1600" dirty="0">
                <a:solidFill>
                  <a:schemeClr val="tx1"/>
                </a:solidFill>
              </a:rPr>
              <a:t>A slowdown decided after quarter 6 cannot lift quarter 7: reading cash saves </a:t>
            </a:r>
            <a:r>
              <a:rPr lang="en-US" sz="1600" b="1" dirty="0">
                <a:solidFill>
                  <a:schemeClr val="tx1"/>
                </a:solidFill>
              </a:rPr>
              <a:t>nothing</a:t>
            </a:r>
            <a:endParaRPr lang="en-US" sz="1600" dirty="0"/>
          </a:p>
          <a:p>
            <a:pPr marL="228600" indent="-228600">
              <a:spcAft>
                <a:spcPts val="800"/>
              </a:spcAft>
              <a:buSzPct val="100000"/>
              <a:buChar char="•"/>
            </a:pPr>
            <a:r>
              <a:rPr lang="en-US" sz="1600" dirty="0">
                <a:solidFill>
                  <a:schemeClr val="tx1"/>
                </a:solidFill>
              </a:rPr>
              <a:t>Under Chapter 9's law it saved at most $0.25m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§10.5 · TABLE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Methods for decisions on a declared set</a:t>
            </a:r>
            <a:endParaRPr lang="en-US" sz="32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64384"/>
                <a:gridCol w="3091886"/>
                <a:gridCol w="3273762"/>
                <a:gridCol w="2364384"/>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Computes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Guarantee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Robust counterpart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decisions robust on a box, budget, or ball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exact on the set (Theorem 10.1)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set that leaves out what matters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Cut by cut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graded price; the max-min choice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possibility of a breach at most α (Theorem 10.2)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words that are not calibrated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Neuro-fuzzy surface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prices and decisions for any declaration, as rules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error bounded by grid checks (Theorem 10.3)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corners; rules that cancel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Affine rules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rules robust on the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exact for affine data (Proposition 10.3)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damage that outruns the reading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Check against a law</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chance of a breach of a robust decision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sampling errors (Theorem 9.3)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law the set does not trust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can Meridian guarantee without odds?</a:t>
            </a:r>
            <a:endParaRPr lang="en-US" sz="3200" dirty="0"/>
          </a:p>
        </p:txBody>
      </p:sp>
      <p:sp>
        <p:nvSpPr>
          <p:cNvPr id="5" name="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9's answer</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chance, if the law is right</a:t>
            </a:r>
            <a:endParaRPr lang="en-US" sz="2000" dirty="0"/>
          </a:p>
        </p:txBody>
      </p:sp>
      <p:sp>
        <p:nvSpPr>
          <p:cNvPr id="8" name="Card text"/>
          <p:cNvSpPr txBox="1"/>
          <p:nvPr/>
        </p:nvSpPr>
        <p:spPr>
          <a:xfrm>
            <a:off x="731520"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A $170m line and two-thirds of a quarter of delay, $10.44m: a 5% chance of a breach under the law.</a:t>
            </a:r>
            <a:endParaRPr lang="en-US" sz="1500" dirty="0"/>
          </a:p>
        </p:txBody>
      </p:sp>
      <p:sp>
        <p:nvSpPr>
          <p:cNvPr id="9" name="Card"/>
          <p:cNvSpPr/>
          <p:nvPr/>
        </p:nvSpPr>
        <p:spPr>
          <a:xfrm>
            <a:off x="4338218" y="1691640"/>
            <a:ext cx="3515258" cy="2788920"/>
          </a:xfrm>
          <a:prstGeom prst="roundRect">
            <a:avLst>
              <a:gd name="adj" fmla="val 262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audit committee</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Nobody can vouch for the odds</a:t>
            </a:r>
            <a:endParaRPr lang="en-US" sz="2000" dirty="0"/>
          </a:p>
        </p:txBody>
      </p:sp>
      <p:sp>
        <p:nvSpPr>
          <p:cNvPr id="12" name="Card text"/>
          <p:cNvSpPr txBox="1"/>
          <p:nvPr/>
        </p:nvSpPr>
        <p:spPr>
          <a:xfrm>
            <a:off x="4521098"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In a crisis, what could Meridian guarantee without odds, what would it cost, and how would it fare?</a:t>
            </a:r>
            <a:endParaRPr lang="en-US" sz="1500" dirty="0"/>
          </a:p>
        </p:txBody>
      </p:sp>
      <p:sp>
        <p:nvSpPr>
          <p:cNvPr id="13" name="Card"/>
          <p:cNvSpPr/>
          <p:nvPr/>
        </p:nvSpPr>
        <p:spPr>
          <a:xfrm>
            <a:off x="8127797" y="1691640"/>
            <a:ext cx="3515258" cy="2788920"/>
          </a:xfrm>
          <a:prstGeom prst="roundRect">
            <a:avLst>
              <a:gd name="adj" fmla="val 262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offices and the board</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Bounds in words, a goal for cost</a:t>
            </a:r>
            <a:endParaRPr lang="en-US" sz="2000" dirty="0"/>
          </a:p>
        </p:txBody>
      </p:sp>
      <p:sp>
        <p:nvSpPr>
          <p:cNvPr id="16" name="Card text"/>
          <p:cNvSpPr txBox="1"/>
          <p:nvPr/>
        </p:nvSpPr>
        <p:spPr>
          <a:xfrm>
            <a:off x="8310677" y="3026664"/>
            <a:ext cx="3149498" cy="1325880"/>
          </a:xfrm>
          <a:prstGeom prst="rect">
            <a:avLst/>
          </a:prstGeom>
          <a:noFill/>
          <a:ln/>
        </p:spPr>
        <p:txBody>
          <a:bodyPr wrap="square" lIns="0" tIns="0" rIns="0" bIns="0" rtlCol="0" anchor="t"/>
          <a:lstStyle/>
          <a:p>
            <a:pPr indent="0" marL="0">
              <a:buNone/>
            </a:pPr>
            <a:r>
              <a:rPr lang="en-US" sz="1500" dirty="0">
                <a:solidFill>
                  <a:schemeClr val="bg2"/>
                </a:solidFill>
              </a:rPr>
              <a:t>The engineering office bounds deviations, the treasury a closure; the board grades what a guarantee may cost.</a:t>
            </a:r>
            <a:endParaRPr lang="en-US" sz="1500" dirty="0"/>
          </a:p>
        </p:txBody>
      </p:sp>
      <p:sp>
        <p:nvSpPr>
          <p:cNvPr id="17" name="Lead"/>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floor: $350m in every quarter of the program, on every future in the declared set.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STEPS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From the offices' words to a guarantee</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Write the problem</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600" dirty="0">
                <a:solidFill>
                  <a:schemeClr val="tx1"/>
                </a:solidFill>
              </a:rPr>
              <a:t>Worst case: deviations at −D, the closure in quarter 1. Quarter 7's $132m margin binds.</a:t>
            </a:r>
            <a:endParaRPr lang="en-US" sz="16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Solve on a crisp set</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600" dirty="0">
                <a:solidFill>
                  <a:schemeClr val="tx1"/>
                </a:solidFill>
              </a:rPr>
              <a:t>$125m and $210m: a $203m line, no delay, $6.09m. Under the law 8.6%; the set holds 79% of paths.</a:t>
            </a:r>
            <a:endParaRPr lang="en-US" sz="16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Grade and choose</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600" dirty="0">
                <a:solidFill>
                  <a:schemeClr val="tx1"/>
                </a:solidFill>
              </a:rPr>
              <a:t>Cuts from $1.14m to $31.37m. Max-min at 0.38: a $232m line, 0.45 quarter, $10.54m.</a:t>
            </a:r>
            <a:endParaRPr lang="en-US" sz="16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Judge against the law</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600" dirty="0">
                <a:solidFill>
                  <a:schemeClr val="tx1"/>
                </a:solidFill>
              </a:rPr>
              <a:t>5.6% at $10.54m, against 5.0% at $10.44m. Meeting 5% takes the 0.35-cut, $12.17m.</a:t>
            </a:r>
            <a:endParaRPr lang="en-US" sz="16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Price any declaration</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600" dirty="0">
                <a:solidFill>
                  <a:schemeClr val="tx1"/>
                </a:solidFill>
              </a:rPr>
              <a:t>(140, 230): the rules say $8.99m; the exact solve $9.52m, a $230m line and 0.33 quarter.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TABLE 10.3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Packages robust on declared sets</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883045"/>
                <a:gridCol w="924535"/>
                <a:gridCol w="924535"/>
                <a:gridCol w="1016988"/>
                <a:gridCol w="1016988"/>
                <a:gridCol w="1109442"/>
                <a:gridCol w="1109442"/>
                <a:gridCol w="1109442"/>
              </a:tblGrid>
              <a:tr h="42062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Line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Delay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Cost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Paths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Breach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joint check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187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17.4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Crisp set (the 0.5-cut)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203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6.09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78.9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Max-min choice (0.38-cut)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0.45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10.54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87.0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Meeting 5% (0.35-cut)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12.17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88.5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95% of paths (0.08-cut)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188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286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286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2.29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26.92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whole support (0-cut)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31.37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95.6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package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170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10.44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663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 million; delays in quarters; percent. D, S: the bounds on deviations and on a closure. Paths: the share of Chapter 9's 100,000 paths inside the set. Breach: the chance under Chapter 9's law (fresh paths within 0.3 points).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STEP 4 · FIGURE 10.3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guarantee costs a little more than a chance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Graded packages lie just above Chapter 9's frontier, the cheapest package for each appetite</a:t>
            </a:r>
            <a:endParaRPr lang="en-US" sz="1500" dirty="0"/>
          </a:p>
          <a:p>
            <a:pPr marL="228600" indent="-228600">
              <a:spcAft>
                <a:spcPts val="800"/>
              </a:spcAft>
              <a:buSzPct val="100000"/>
              <a:buChar char="•"/>
            </a:pPr>
            <a:r>
              <a:rPr lang="en-US" sz="1500" dirty="0">
                <a:solidFill>
                  <a:schemeClr val="tx1"/>
                </a:solidFill>
              </a:rPr>
              <a:t>Max-min: </a:t>
            </a:r>
            <a:r>
              <a:rPr lang="en-US" sz="1500" b="1" dirty="0">
                <a:solidFill>
                  <a:schemeClr val="tx1"/>
                </a:solidFill>
              </a:rPr>
              <a:t>5.6%</a:t>
            </a:r>
            <a:r>
              <a:rPr lang="en-US" sz="1500" dirty="0">
                <a:solidFill>
                  <a:schemeClr val="tx1"/>
                </a:solidFill>
              </a:rPr>
              <a:t> at $10.54m; Volume I's package: 5.0% at $10.44m</a:t>
            </a:r>
            <a:endParaRPr lang="en-US" sz="1500" dirty="0"/>
          </a:p>
          <a:p>
            <a:pPr marL="228600" indent="-228600">
              <a:spcAft>
                <a:spcPts val="800"/>
              </a:spcAft>
              <a:buSzPct val="100000"/>
              <a:buChar char="•"/>
            </a:pPr>
            <a:r>
              <a:rPr lang="en-US" sz="1500" dirty="0">
                <a:solidFill>
                  <a:schemeClr val="tx1"/>
                </a:solidFill>
              </a:rPr>
              <a:t>Meeting 5% with a cut takes the 0.35-cut and </a:t>
            </a:r>
            <a:r>
              <a:rPr lang="en-US" sz="1500" b="1" dirty="0">
                <a:solidFill>
                  <a:schemeClr val="tx1"/>
                </a:solidFill>
              </a:rPr>
              <a:t>$12.17m</a:t>
            </a:r>
            <a:endParaRPr lang="en-US" sz="1500" dirty="0"/>
          </a:p>
          <a:p>
            <a:pPr marL="228600" indent="-228600">
              <a:spcAft>
                <a:spcPts val="800"/>
              </a:spcAft>
              <a:buSzPct val="100000"/>
              <a:buChar char="•"/>
            </a:pPr>
            <a:r>
              <a:rPr lang="en-US" sz="1500" dirty="0">
                <a:solidFill>
                  <a:schemeClr val="tx1"/>
                </a:solidFill>
              </a:rPr>
              <a:t>A set holding 95% of paths: </a:t>
            </a:r>
            <a:r>
              <a:rPr lang="en-US" sz="1500" b="1" dirty="0">
                <a:solidFill>
                  <a:schemeClr val="tx1"/>
                </a:solidFill>
              </a:rPr>
              <a:t>$26.92m</a:t>
            </a:r>
            <a:r>
              <a:rPr lang="en-US" sz="1500" dirty="0">
                <a:solidFill>
                  <a:schemeClr val="tx1"/>
                </a:solidFill>
              </a:rPr>
              <a:t>, breaching on 0.8%: Theorem 10.1(iii) is conservative</a:t>
            </a:r>
            <a:endParaRPr lang="en-US" sz="1500" dirty="0"/>
          </a:p>
        </p:txBody>
      </p:sp>
      <p:pic>
        <p:nvPicPr>
          <p:cNvPr id="6" name="Figure" descr="Figure 10.3: guarantees on sets against chances under a law">    </p:cNvPr>
          <p:cNvPicPr>
            <a:picLocks noChangeAspect="1"/>
          </p:cNvPicPr>
          <p:nvPr/>
        </p:nvPicPr>
        <p:blipFill>
          <a:blip r:embed="rId1"/>
          <a:stretch>
            <a:fillRect/>
          </a:stretch>
        </p:blipFill>
        <p:spPr>
          <a:xfrm>
            <a:off x="5391174" y="1990514"/>
            <a:ext cx="6251881" cy="3315885"/>
          </a:xfrm>
          <a:prstGeom prst="rect">
            <a:avLst/>
          </a:prstGeom>
        </p:spPr>
      </p:pic>
      <p:sp>
        <p:nvSpPr>
          <p:cNvPr id="7" name="Caption"/>
          <p:cNvSpPr txBox="1"/>
          <p:nvPr/>
        </p:nvSpPr>
        <p:spPr>
          <a:xfrm>
            <a:off x="5391174" y="5379550"/>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10.3. Cost against the chance of a breach under Chapter 9's law: the frontier and the packages robust on the graded cuts.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Audit the set: it prices the guarantee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$10.54m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most satisfying guarantee: a $232m line and 0.45 quarter, safe on every future graded above 0.38</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5.6%</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its chance of a breach if Chapter 9's law were right, against 5.0%</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$37m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same guarantee if the bank capped the line at $100m</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If the board trusts the law, Volume I's package is the cheapest way to keep its appetite</a:t>
            </a:r>
            <a:endParaRPr lang="en-US" sz="1700" dirty="0"/>
          </a:p>
          <a:p>
            <a:pPr marL="228600" indent="-228600">
              <a:spcAft>
                <a:spcPts val="800"/>
              </a:spcAft>
              <a:buSzPct val="100000"/>
              <a:buChar char="•"/>
            </a:pPr>
            <a:r>
              <a:rPr lang="en-US" sz="1700" dirty="0">
                <a:solidFill>
                  <a:schemeClr val="tx1"/>
                </a:solidFill>
              </a:rPr>
              <a:t>The offices own the words; the board owns the goal and the level; the bank's cap is worth negotiating</a:t>
            </a:r>
            <a:endParaRPr lang="en-US" sz="1700" dirty="0"/>
          </a:p>
          <a:p>
            <a:pPr marL="228600" indent="-228600">
              <a:spcAft>
                <a:spcPts val="800"/>
              </a:spcAft>
              <a:buSzPct val="100000"/>
              <a:buChar char="•"/>
            </a:pPr>
            <a:r>
              <a:rPr lang="en-US" sz="1700" dirty="0">
                <a:solidFill>
                  <a:schemeClr val="tx1"/>
                </a:solidFill>
              </a:rPr>
              <a:t>For discussion: how would you test the offices' words, and who should keep the record that calibrates them?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FORD</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Ford maps its supply risk without odds</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Where to spend risk effort</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Across thousands of supplier sites, without reliable probabilities of rare disruptions.</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Every node down, one at a time</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Each site disrupted for its time to recover; the best response by linear program; time to survive.</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Exposure, not spend</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Some of the largest exposures in low-cost parts; about 1,500 more sites slated for more attention.</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Data, systems, and use</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A decision support system on purchasing and planning data, used strategically, daily, and after disruptions.</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guarantee priced by its set</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10.1's declared set is the declaration the board should audit first.</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would stop us longest?</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Is our risk effort allocated by exposure, or by spend?</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2.10 · MODULE AXIOM-10</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Guarantees without odds,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audit committee doubts the law behind Chapter 9's package and asks for a guarantee that does not depend on odds. Open AXIOM, choose Lab 2.10 and load the Meridian robust instance: Chapter 9's levers and floor, the offices' bounds and their words.</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Declare and solve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Bounds on deviations and a closure; the binding quarter and worst case.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Grade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The offices' words as cuts, the cost of each, the max-min choice.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Judge against the law</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Chapter 9's paths and fresh ones, beside the frontier.</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Learn rules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The price surface rule by rule and overall; read the rules.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Certify</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The surface against exact solutions on a grid; one revision exactly.</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guarantee, its set and price, its chance of a breach if the law is right, the max-min choice, and the declarations it rests 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bounded set of futures is a declaration without odds. A robust decision keeps its commitments on every future in the set, and its guarantee is exactly as good as the set.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Linear commitments over a box, a budget, or a ball have linear or cone counterparts; the price of robustness rises with the set; a set with probability 1 - α under a law promises the chance 1 - α.</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Graded declarations turn offices' words into nested sets. A decision robust on the α-cut fails only where the offices graded futures below α, and the max-min choice balances a graded goal for cost against the necessity of safety.</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Neuro-fuzzy rules write decision surfaces in the declarations' language and learn them by least squares and gradient steps; trained rule by rule they stay readable. Their proposals are adopted only after the exact check.</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Robust packages, judged by a law, cost a little more than the cheapest package for the same chance, but do not need the law. Under a set, a rule helps only if its reading comes before the damage.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247</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133</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26210</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AXIOM-10</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2.10</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DCT_V2_Ch10_Lab.ipynb: Worked Example 10.1 and the lab's five steps in five panels, on the book's paths and the fresh ones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DCT_V2_Ch10_Lab.xlsx: margins, robust packages, the graded cuts and the max-min choice, the frontier's costs, and the rules,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a family of laws</a:t>
            </a:r>
            <a:endParaRPr lang="en-US" sz="3200" dirty="0"/>
          </a:p>
        </p:txBody>
      </p:sp>
      <p:pic>
        <p:nvPicPr>
          <p:cNvPr id="5" name="Equation" descr="Equation: \Pr\{G &gt; 0\} \le \alpha \quad\longrightarrow\quad \sup_{\mathbb{P} \in \mathcal{P}}\Pr\nolimits_{\mathbb{P}}\{G &gt; 0\} \le \alpha \quad\longleftarrow\quad G \le 0 \;\text{ on } U">    </p:cNvPr>
          <p:cNvPicPr>
            <a:picLocks noChangeAspect="1"/>
          </p:cNvPicPr>
          <p:nvPr/>
        </p:nvPicPr>
        <p:blipFill>
          <a:blip r:embed="rId1"/>
          <a:stretch>
            <a:fillRect/>
          </a:stretch>
        </p:blipFill>
        <p:spPr>
          <a:xfrm>
            <a:off x="1636253" y="1691640"/>
            <a:ext cx="8919189"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Chapter 9 trusted one law; this chapter guaranteed on a set, with no odds</a:t>
            </a:r>
            <a:endParaRPr lang="en-US" sz="1800" dirty="0"/>
          </a:p>
          <a:p>
            <a:pPr marL="228600" indent="-228600">
              <a:spcAft>
                <a:spcPts val="800"/>
              </a:spcAft>
              <a:buSzPct val="100000"/>
              <a:buChar char="•"/>
            </a:pPr>
            <a:r>
              <a:rPr lang="en-US" sz="1800" dirty="0">
                <a:solidFill>
                  <a:schemeClr val="bg1"/>
                </a:solidFill>
              </a:rPr>
              <a:t>Chapter 11 declares a family of laws, between a law and a set: trust the record enough to name the laws that fit it, not enough to pick one</a:t>
            </a:r>
            <a:endParaRPr lang="en-US" sz="1800" dirty="0"/>
          </a:p>
          <a:p>
            <a:pPr marL="228600" indent="-228600">
              <a:spcAft>
                <a:spcPts val="800"/>
              </a:spcAft>
              <a:buSzPct val="100000"/>
              <a:buChar char="•"/>
            </a:pPr>
            <a:r>
              <a:rPr lang="en-US" sz="1800" dirty="0">
                <a:solidFill>
                  <a:schemeClr val="bg1"/>
                </a:solidFill>
              </a:rPr>
              <a:t>The guarantee and the chance are its two ends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10: Neuro-Fuzzy Robust Enterprise Optimization</dc:title>
  <dc:subject>Slides for Volume II, Chapter 10 (V56)</dc:subject>
  <dc:creator>Samir Asaf</dc:creator>
  <cp:lastModifiedBy>Samir Asaf</cp:lastModifiedBy>
  <cp:revision>1</cp:revision>
  <dcterms:created xsi:type="dcterms:W3CDTF">2026-10-06T07:09:13Z</dcterms:created>
  <dcterms:modified xsi:type="dcterms:W3CDTF">2026-10-06T07:09:13Z</dcterms:modified>
</cp:coreProperties>
</file>