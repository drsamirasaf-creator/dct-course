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b71b3c-985c-9cc9-ab7c-766ef2942dd5}">
          <p14:sldIdLst>
            <p14:sldId id="256"/>
            <p14:sldId id="257"/>
            <p14:sldId id="258"/>
            <p14:sldId id="259"/>
          </p14:sldIdLst>
        </p14:section>
        <p14:section name="11.1 From a Law and a Set to a Family" id="{1ae99c28-01d5-429e-d61f-1bd951c394e2}">
          <p14:sldIdLst>
            <p14:sldId id="260"/>
            <p14:sldId id="261"/>
          </p14:sldIdLst>
        </p14:section>
        <p14:section name="11.2 Divergence Families" id="{21f0532e-6068-14d5-4572-afa7e25eaf65}">
          <p14:sldIdLst>
            <p14:sldId id="262"/>
            <p14:sldId id="263"/>
          </p14:sldIdLst>
        </p14:section>
        <p14:section name="11.3 Wasserstein Families on a Record" id="{3b5f9e3d-f144-6b7c-e9ee-4e785bf0d46f}">
          <p14:sldIdLst>
            <p14:sldId id="264"/>
            <p14:sldId id="265"/>
          </p14:sldIdLst>
        </p14:section>
        <p14:section name="11.4 Moment Families" id="{2111fe57-01b5-7470-c93e-6691cffd2771}">
          <p14:sldIdLst>
            <p14:sldId id="266"/>
          </p14:sldIdLst>
        </p14:section>
        <p14:section name="11.5 Records, Confidence, and Time" id="{93475513-655f-8d81-73a3-f1b71ea75d5e}">
          <p14:sldIdLst>
            <p14:sldId id="267"/>
            <p14:sldId id="268"/>
          </p14:sldIdLst>
        </p14:section>
        <p14:section name="Worked Example 11.1" id="{1a44d27d-05f6-5a55-2abf-18726f920a14}">
          <p14:sldIdLst>
            <p14:sldId id="269"/>
            <p14:sldId id="270"/>
            <p14:sldId id="271"/>
            <p14:sldId id="272"/>
            <p14:sldId id="273"/>
          </p14:sldIdLst>
        </p14:section>
        <p14:section name="In Practice" id="{f3bc518e-dc92-5be3-0d66-75fb880a3b33}">
          <p14:sldIdLst>
            <p14:sldId id="274"/>
          </p14:sldIdLst>
        </p14:section>
        <p14:section name="AXIOM Lab 2.11" id="{58bf9355-6272-bc22-0670-ec66d1a38702}">
          <p14:sldIdLst>
            <p14:sldId id="275"/>
          </p14:sldIdLst>
        </p14:section>
        <p14:section name="Close" id="{522a2b94-0707-dbd0-ec7d-5e7dd3c5f58c}">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11. Chapter 9 kept Meridian's appetite under one declared law and Chapter 10 on a bounded set; this chapter declares a family of laws, from the records behind the law, and asks what the doubt costs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Samuelson's quip frames the chapter: a model's odds are an estimate with a record behind it, not a fact. The audit committee asks where the declared law came from and how far to trust it (Section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11.1–11.3 are in Appendix 11.A; Propositions 11.1–11.3, how the records' laws are simulated (Remark 11.B.1) and every number of the Worked Example (Example 11.B.2) are in Online Appendix 11.B.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11.1 and Table 11.1. A family is declared by parameters a record allows, by distance from a declared law (a ball of radius r), or by moments. Knight separated risk, odds that are known, from uncertainty, odds that are not; Ellsberg's urns showed that people pay to avoid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11.1; formal statement and proof in Appendix 11.A. Part (iii) needs no new machinery for expected values: the answer is Chapter 9's for a law chosen by an adversary inside the family, as Hansen and Sargent read robustness. Part (iv) is why the record matters (Proposition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11.2 and Equation 11.2; formal statement and proof in Appendix 11.A. A law in the ball can only reweight the declared law's futures; it cannot invent new ones. Online Appendix Example 11.B.2: radii 0.439, 0.603 and 1.042; appetites 2.93 × 10^-6, 1.09 × 10^-7 and 1.69 × 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11.1 and Section 11.2. A ball holds every reweighting as near as the feared law, including the one that piles its weight on the paths that breach. Worst chance of Volume I's package: 6.00 percent at d = 0.001, 8.36 at 0.01, 17.29 at 0.1, 55.55 at 1 (Online Appendix Example 11.B.2).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11.3 and Equation 11.3; formal statement and proof in Appendix 11.A. A move shifts a path's deviations, its closures fixed, at a cost equal to the largest shift in any quarter. Online Appendix Example 11.B.2: the spread's doubt lies at 0.232 × 113.2 = 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11.2 and Section 11.3. Part (iv)'s radius shrinks only as N^(-1/12) for twelve quarters, so in practice the radius is set by holdout or by checking designs on fresh paths (Chapter 9's sample-size study: seeds 900000-900199).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11.1; formal statement and proof in Online Appendix 11.B. The two-point law is exactly at the floor or comfortably above it, the lump a closure produces. The twelve bounds sum to 148.6 percent, so the union bound says nothing. A moment family is the right declaration when shape is truly unknown; Meridian's records know more than averages.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Propositions 11.2 and 11.3; formal statements and proofs in Online Appendix 11.B. The Worked Example builds its family from the treasury's count and the engineering office's spreads, 95 percent each, 90 percent together. Volume I's package is decided once, so time does not bite (Iyengar; Nilim and El Ghaoui).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11.2. Every family in the chapter is evaluated on Chapter 9's 100,000 paths and checked on 100,000 fresh ones; larger models replace these shortcuts with the dual forms, which are linear, cone or semidefinite programs (the Computational box of Section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the situation. The appetite: at most a 5 percent chance that liquidity falls below the $350 million floor in some quarter of the digital program. The levers and their prices are Chapter 9's.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Steps 1–5. Step 2: on fresh paths at the corner the family's package breaches on 4.9 percent; under the declared law on 0.9 percent; the closures' doubt alone takes $11.64 million, the spread's alone $22.85 million. Step 3's corner chances are 10,248 and 12,153 paths of 100,000 (Online Appendix Example 11.B.2: 10.25 and 12.15).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11.3; Online Appendix Example 11.B.2. Rows: one law, a set, two balls, then the records' doubts one at a time and together, a record twice as long, and moments only. Every chance has a standard error below 0.12 points. The divergence ball's package breaches at the worst law on 10,248 paths of 100,000.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Step 5, and Figure 11.3. Of the $13.56 million price of ambiguity, the spread's doubt alone accounts for $12.41 million: the cheapest protection may be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what the board should take away, and the discussion questions. When is a ball around a law the right declaration, and when a family of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Chapter 11: Seven States Plan for Four Colorado Rivers. A real organization's decision of this chapter's kind, told from its published record; every figure is cited in the book. The lesson for Meridian: Declare the family of laws the records allow, and judge every option under every law in it. Sources: U.S. Bureau of Reclamation (2012), Colorado River Basin Study, Executive Summary; Groves et al. (2013), 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2.11. What to look for: a chance that moves little with the rate of closures and much with the spread; balls whose radii hold the doubts but whose appetites no package can meet; radii that buy reliability on small records at about the price of a margin; a moment bound that fears a lump.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12 opens Part IV, Multi-Objective and Intelligent Enterprise Optimization: Pareto optimality, frontiers, scalarizations, and trade-offs read as frontier slopes and shadow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11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11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11 · WEEK 12</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Distributionally Robust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Part III's third declaration: a family of laws, for when the law itself is in doubt, and decisions that keep their commitments under every law in it</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26211 · AXIOM Lab 2.11 (AXIOM-11)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“Wall Street indexes predicted nine out of the last five recessions! And its mistakes were beauties.”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Paul A. Samuelson</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1970; “Science and Stocks: Sense and Nonsense,” Newsweek (1966)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declaring a family of laws adds to a law and to a set, and place Chapters 9 and 10 as its end cases.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Work with divergence families: their dual form, the worst chance of a breach, and the radius a doubt about a parameter requires.</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Work with Wasserstein families on a record: their dual form, the Lipschitz premium, the chance constraint as a margin of the paths nearest a breach, and a radius set by the record's size.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Judge what a moment family fears, and bound its worst chance of a breach with Cantelli's inequality.</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Declare a family from a record with stated confidence, price the doubt, and judge promises and plans as time passes.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sections, a worked example, a case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§11.1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From a Law and a Set to a Family</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11.1 · Table 11.1 · Theorem 11.1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§11.2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Divergence Families</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11.2 · Figure 11.1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§11.3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Wasserstein Families on a Record</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11.3 · Figure 11.2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§11.4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Moment Families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11.1</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§11.5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Records, Confidence, and Time</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Propositions 11.2–11.3 · Table 11.2</a:t>
            </a:r>
            <a:endParaRPr lang="en-US" sz="1300" dirty="0"/>
          </a:p>
        </p:txBody>
      </p:sp>
      <p:sp>
        <p:nvSpPr>
          <p:cNvPr id="25" name="Card"/>
          <p:cNvSpPr/>
          <p:nvPr/>
        </p:nvSpPr>
        <p:spPr>
          <a:xfrm>
            <a:off x="3390824" y="4069080"/>
            <a:ext cx="2567864" cy="2103120"/>
          </a:xfrm>
          <a:prstGeom prst="roundRect">
            <a:avLst>
              <a:gd name="adj" fmla="val 3478"/>
            </a:avLst>
          </a:prstGeom>
          <a:solidFill>
            <a:schemeClr val="tx1"/>
          </a:solidFill>
          <a:ln w="9525">
            <a:solidFill>
              <a:srgbClr val="0F1E3D"/>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11.1</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How Much Should Meridian Trust Its Law?</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11.3 · Figure 11.3</a:t>
            </a:r>
            <a:endParaRPr lang="en-US" sz="1300" dirty="0"/>
          </a:p>
        </p:txBody>
      </p:sp>
      <p:sp>
        <p:nvSpPr>
          <p:cNvPr id="29" name="Card"/>
          <p:cNvSpPr/>
          <p:nvPr/>
        </p:nvSpPr>
        <p:spPr>
          <a:xfrm>
            <a:off x="6233008" y="4069080"/>
            <a:ext cx="2567864" cy="2103120"/>
          </a:xfrm>
          <a:prstGeom prst="roundRect">
            <a:avLst>
              <a:gd name="adj" fmla="val 3478"/>
            </a:avLst>
          </a:prstGeom>
          <a:solidFill>
            <a:schemeClr val="bg2"/>
          </a:solidFill>
          <a:ln w="9525">
            <a:solidFill>
              <a:srgbClr val="C4CBD8"/>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In Practice</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Seven States Plan for Four Colorado Rivers</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At a Glance · board questions</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2.11</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Which Law Do We Trust? Records, Families, and Balls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AXIOM-11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§11.1 · DEFINITION 11.1 · TABLE 11.1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declarations of uncertainty</a:t>
            </a:r>
            <a:endParaRPr lang="en-US" sz="32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27819"/>
                <a:gridCol w="3000948"/>
                <a:gridCol w="3000948"/>
                <a:gridCol w="3364700"/>
              </a:tblGrid>
              <a:tr h="621792">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 law (Chapter 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 set (Chapter 10)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 family (this chapter)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Declares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odds of every event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what can happen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which laws are possible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Promise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chance, an expected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on every event in the set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chance or a value under every law in the family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Evidence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record, trusted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bounds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record, with its confidence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Computation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samples (Theorem 9.3)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robust counterparts (Theorem 10.1)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dual forms (Theorems 11.2–11.3)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Fails when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odds are wrong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set leaves out what matters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family leaves out the true law or holds laws nobody fears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Definition 11.1: a distributionally robust decision keeps its commitments under every law in a declared family, its worst expected value maximized.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§11.1 · THEOREM 11.1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family sits between a law and a set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11.1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Families Between a Law and a Set</a:t>
            </a:r>
            <a:endParaRPr lang="en-US" sz="2100" dirty="0"/>
          </a:p>
        </p:txBody>
      </p:sp>
      <p:pic>
        <p:nvPicPr>
          <p:cNvPr id="8" name="Equation" descr="Equation: \max_{\mathbf{z}}\;\inf_{P \in \mathcal{P}} \mathrm{E}_{P}\bigl[J(\mathbf{z},\boldsymbol{\xi})\bigr]\quad\text{subject to}\quad \sup_{P \in \mathcal{P}} P\bigl(G(\mathbf{z},\boldsymbol{\xi}) &gt; 0\bigr) \le \alpha">    </p:cNvPr>
          <p:cNvPicPr>
            <a:picLocks noChangeAspect="1"/>
          </p:cNvPicPr>
          <p:nvPr/>
        </p:nvPicPr>
        <p:blipFill>
          <a:blip r:embed="rId1"/>
          <a:stretch>
            <a:fillRect/>
          </a:stretch>
        </p:blipFill>
        <p:spPr>
          <a:xfrm>
            <a:off x="822960" y="2747304"/>
            <a:ext cx="5394960" cy="494712"/>
          </a:xfrm>
          <a:prstGeom prst="rect">
            <a:avLst/>
          </a:prstGeom>
        </p:spPr>
      </p:pic>
      <p:sp>
        <p:nvSpPr>
          <p:cNvPr id="9" name="Bullets"/>
          <p:cNvSpPr txBox="1"/>
          <p:nvPr/>
        </p:nvSpPr>
        <p:spPr>
          <a:xfrm>
            <a:off x="822960" y="3406608"/>
            <a:ext cx="5394960" cy="2628432"/>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End cases.</a:t>
            </a:r>
            <a:r>
              <a:rPr lang="en-US" sz="1500" dirty="0">
                <a:solidFill>
                  <a:schemeClr val="tx1"/>
                </a:solidFill>
              </a:rPr>
              <a:t> One law gives Chapter 9's problem; every law on a set, Chapter 10's</a:t>
            </a:r>
            <a:endParaRPr lang="en-US" sz="1500" dirty="0"/>
          </a:p>
          <a:p>
            <a:pPr marL="228600" indent="-228600">
              <a:spcAft>
                <a:spcPts val="600"/>
              </a:spcAft>
              <a:buSzPct val="100000"/>
              <a:buChar char="•"/>
            </a:pPr>
            <a:r>
              <a:rPr lang="en-US" sz="1500" b="1" dirty="0">
                <a:solidFill>
                  <a:schemeClr val="tx1"/>
                </a:solidFill>
              </a:rPr>
              <a:t>(ii) Monotone.</a:t>
            </a:r>
            <a:r>
              <a:rPr lang="en-US" sz="1500" dirty="0">
                <a:solidFill>
                  <a:schemeClr val="tx1"/>
                </a:solidFill>
              </a:rPr>
              <a:t> A larger family never raises the best value it allows</a:t>
            </a:r>
            <a:endParaRPr lang="en-US" sz="1500" dirty="0"/>
          </a:p>
          <a:p>
            <a:pPr marL="228600" indent="-228600">
              <a:spcAft>
                <a:spcPts val="600"/>
              </a:spcAft>
              <a:buSzPct val="100000"/>
              <a:buChar char="•"/>
            </a:pPr>
            <a:r>
              <a:rPr lang="en-US" sz="1500" b="1" dirty="0">
                <a:solidFill>
                  <a:schemeClr val="tx1"/>
                </a:solidFill>
              </a:rPr>
              <a:t>(iii) A worst law.</a:t>
            </a:r>
            <a:r>
              <a:rPr lang="en-US" sz="1500" dirty="0">
                <a:solidFill>
                  <a:schemeClr val="tx1"/>
                </a:solidFill>
              </a:rPr>
              <a:t> For expected values, the robust decision is optimal for a worst law in the family</a:t>
            </a:r>
            <a:endParaRPr lang="en-US" sz="1500" dirty="0"/>
          </a:p>
          <a:p>
            <a:pPr marL="228600" indent="-228600">
              <a:spcAft>
                <a:spcPts val="600"/>
              </a:spcAft>
              <a:buSzPct val="100000"/>
              <a:buChar char="•"/>
            </a:pPr>
            <a:r>
              <a:rPr lang="en-US" sz="1500" b="1" dirty="0">
                <a:solidFill>
                  <a:schemeClr val="tx1"/>
                </a:solidFill>
              </a:rPr>
              <a:t>(iv) Honest promises.</a:t>
            </a:r>
            <a:r>
              <a:rPr lang="en-US" sz="1500" dirty="0">
                <a:solidFill>
                  <a:schemeClr val="tx1"/>
                </a:solidFill>
              </a:rPr>
              <a:t> A family that holds the true law with confidence 1 − β keeps the promise with that confidence</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records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Two closures in twenty years allow a rate up to </a:t>
            </a:r>
            <a:r>
              <a:rPr lang="en-US" sz="1600" b="1" dirty="0">
                <a:solidFill>
                  <a:schemeClr val="tx1"/>
                </a:solidFill>
              </a:rPr>
              <a:t>0.315</a:t>
            </a:r>
            <a:r>
              <a:rPr lang="en-US" sz="1600" dirty="0">
                <a:solidFill>
                  <a:schemeClr val="tx1"/>
                </a:solidFill>
              </a:rPr>
              <a:t> a year; forty quarters, a spread up to </a:t>
            </a:r>
            <a:r>
              <a:rPr lang="en-US" sz="1600" b="1" dirty="0">
                <a:solidFill>
                  <a:schemeClr val="tx1"/>
                </a:solidFill>
              </a:rPr>
              <a:t>$61.6m</a:t>
            </a:r>
            <a:endParaRPr lang="en-US" sz="1600" dirty="0"/>
          </a:p>
          <a:p>
            <a:pPr marL="228600" indent="-228600">
              <a:spcAft>
                <a:spcPts val="800"/>
              </a:spcAft>
              <a:buSzPct val="100000"/>
              <a:buChar char="•"/>
            </a:pPr>
            <a:r>
              <a:rPr lang="en-US" sz="1600" dirty="0">
                <a:solidFill>
                  <a:schemeClr val="tx1"/>
                </a:solidFill>
              </a:rPr>
              <a:t>95 percent each, so the family holds the true law with at least </a:t>
            </a:r>
            <a:r>
              <a:rPr lang="en-US" sz="1600" b="1" dirty="0">
                <a:solidFill>
                  <a:schemeClr val="tx1"/>
                </a:solidFill>
              </a:rPr>
              <a:t>90 percent</a:t>
            </a:r>
            <a:r>
              <a:rPr lang="en-US" sz="1600" dirty="0">
                <a:solidFill>
                  <a:schemeClr val="tx1"/>
                </a:solidFill>
              </a:rPr>
              <a:t> confidence</a:t>
            </a:r>
            <a:endParaRPr lang="en-US" sz="1600" dirty="0"/>
          </a:p>
          <a:p>
            <a:pPr marL="228600" indent="-228600">
              <a:spcAft>
                <a:spcPts val="800"/>
              </a:spcAft>
              <a:buSzPct val="100000"/>
              <a:buChar char="•"/>
            </a:pPr>
            <a:r>
              <a:rPr lang="en-US" sz="1600" dirty="0">
                <a:solidFill>
                  <a:schemeClr val="tx1"/>
                </a:solidFill>
              </a:rPr>
              <a:t>Under the law with both, Volume I's package breaches on </a:t>
            </a:r>
            <a:r>
              <a:rPr lang="en-US" sz="1600" b="1" dirty="0">
                <a:solidFill>
                  <a:schemeClr val="tx1"/>
                </a:solidFill>
              </a:rPr>
              <a:t>15.8%</a:t>
            </a:r>
            <a:r>
              <a:rPr lang="en-US" sz="1600" dirty="0">
                <a:solidFill>
                  <a:schemeClr val="tx1"/>
                </a:solidFill>
              </a:rPr>
              <a:t> of paths, not 5</a:t>
            </a:r>
            <a:endParaRPr lang="en-US" sz="1600" dirty="0"/>
          </a:p>
          <a:p>
            <a:pPr marL="228600" indent="-228600">
              <a:spcAft>
                <a:spcPts val="800"/>
              </a:spcAft>
              <a:buSzPct val="100000"/>
              <a:buChar char="•"/>
            </a:pPr>
            <a:r>
              <a:rPr lang="en-US" sz="1600" dirty="0">
                <a:solidFill>
                  <a:schemeClr val="tx1"/>
                </a:solidFill>
              </a:rPr>
              <a:t>More closures only remove liquidity and a wider spread raises the chance: the worst law is the corner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§11.2 · THEOREM 11.2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divergence ball reweights the law's futures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11.2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Divergence Families</a:t>
            </a:r>
            <a:endParaRPr lang="en-US" sz="2100" dirty="0"/>
          </a:p>
        </p:txBody>
      </p:sp>
      <p:pic>
        <p:nvPicPr>
          <p:cNvPr id="8" name="Equation" descr="Equation: \sup_{Q \in \mathcal{P}_d} \mathrm{E}_{Q} L \;=\; \inf_{\theta &gt; 0}\bigl\{\theta \log \mathrm{E}_{P}\,e^{L/\theta} + \theta d\bigr\}">    </p:cNvPr>
          <p:cNvPicPr>
            <a:picLocks noChangeAspect="1"/>
          </p:cNvPicPr>
          <p:nvPr/>
        </p:nvPicPr>
        <p:blipFill>
          <a:blip r:embed="rId1"/>
          <a:stretch>
            <a:fillRect/>
          </a:stretch>
        </p:blipFill>
        <p:spPr>
          <a:xfrm>
            <a:off x="822960" y="2743200"/>
            <a:ext cx="3477333" cy="548640"/>
          </a:xfrm>
          <a:prstGeom prst="rect">
            <a:avLst/>
          </a:prstGeom>
        </p:spPr>
      </p:pic>
      <p:sp>
        <p:nvSpPr>
          <p:cNvPr id="9" name="Bullets"/>
          <p:cNvSpPr txBox="1"/>
          <p:nvPr/>
        </p:nvSpPr>
        <p:spPr>
          <a:xfrm>
            <a:off x="822960" y="3456432"/>
            <a:ext cx="5394960" cy="257860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Dual form.</a:t>
            </a:r>
            <a:r>
              <a:rPr lang="en-US" sz="1500" dirty="0">
                <a:solidFill>
                  <a:schemeClr val="tx1"/>
                </a:solidFill>
              </a:rPr>
              <a:t> Chapter 9's entropic criterion with a tuned multiplier; the worst law tilts P</a:t>
            </a:r>
            <a:endParaRPr lang="en-US" sz="1500" dirty="0"/>
          </a:p>
          <a:p>
            <a:pPr marL="228600" indent="-228600">
              <a:spcAft>
                <a:spcPts val="600"/>
              </a:spcAft>
              <a:buSzPct val="100000"/>
              <a:buChar char="•"/>
            </a:pPr>
            <a:r>
              <a:rPr lang="en-US" sz="1500" b="1" dirty="0">
                <a:solidFill>
                  <a:schemeClr val="tx1"/>
                </a:solidFill>
              </a:rPr>
              <a:t>(ii) Worst chance.</a:t>
            </a:r>
            <a:r>
              <a:rPr lang="en-US" sz="1500" dirty="0">
                <a:solidFill>
                  <a:schemeClr val="tx1"/>
                </a:solidFill>
              </a:rPr>
              <a:t> The q ≥ p with kl(q ‖ p) = d: the ball keeps α exactly when the law keeps the smaller α′ with kl(α ‖ α′) = d</a:t>
            </a:r>
            <a:endParaRPr lang="en-US" sz="1500" dirty="0"/>
          </a:p>
          <a:p>
            <a:pPr marL="228600" indent="-228600">
              <a:spcAft>
                <a:spcPts val="600"/>
              </a:spcAft>
              <a:buSzPct val="100000"/>
              <a:buChar char="•"/>
            </a:pPr>
            <a:r>
              <a:rPr lang="en-US" sz="1500" b="1" dirty="0">
                <a:solidFill>
                  <a:schemeClr val="tx1"/>
                </a:solidFill>
              </a:rPr>
              <a:t>(iii) Radii.</a:t>
            </a:r>
            <a:r>
              <a:rPr lang="en-US" sz="1500" dirty="0">
                <a:solidFill>
                  <a:schemeClr val="tx1"/>
                </a:solidFill>
              </a:rPr>
              <a:t> Divergences add; a rate λ′ for λ: H(λ′ log(λ′/λ) − λ′ + λ); a spread × c: n(log(1/c) + (c</a:t>
            </a:r>
            <a:r>
              <a:rPr lang="en-US" sz="1500" baseline="30000" dirty="0">
                <a:solidFill>
                  <a:schemeClr val="tx1"/>
                </a:solidFill>
              </a:rPr>
              <a:t>2</a:t>
            </a:r>
            <a:r>
              <a:rPr lang="en-US" sz="1500" dirty="0">
                <a:solidFill>
                  <a:schemeClr val="tx1"/>
                </a:solidFill>
              </a:rPr>
              <a:t> − 1)/2)</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Meridian's appetite</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d = 0.01: keep </a:t>
            </a:r>
            <a:r>
              <a:rPr lang="en-US" sz="1600" b="1" dirty="0">
                <a:solidFill>
                  <a:schemeClr val="tx1"/>
                </a:solidFill>
              </a:rPr>
              <a:t>2.5%</a:t>
            </a:r>
            <a:r>
              <a:rPr lang="en-US" sz="1600" dirty="0">
                <a:solidFill>
                  <a:schemeClr val="tx1"/>
                </a:solidFill>
              </a:rPr>
              <a:t> under the law, a $175m line and 1.35 quarters, </a:t>
            </a:r>
            <a:r>
              <a:rPr lang="en-US" sz="1600" b="1" dirty="0">
                <a:solidFill>
                  <a:schemeClr val="tx1"/>
                </a:solidFill>
              </a:rPr>
              <a:t>$16.08m</a:t>
            </a:r>
            <a:endParaRPr lang="en-US" sz="1600" dirty="0"/>
          </a:p>
          <a:p>
            <a:pPr marL="228600" indent="-228600">
              <a:spcAft>
                <a:spcPts val="800"/>
              </a:spcAft>
              <a:buSzPct val="100000"/>
              <a:buChar char="•"/>
            </a:pPr>
            <a:r>
              <a:rPr lang="en-US" sz="1600" dirty="0">
                <a:solidFill>
                  <a:schemeClr val="tx1"/>
                </a:solidFill>
              </a:rPr>
              <a:t>Volume I's package breaches on up to 8.4% of paths in that ball</a:t>
            </a:r>
            <a:endParaRPr lang="en-US" sz="1600" dirty="0"/>
          </a:p>
          <a:p>
            <a:pPr marL="228600" indent="-228600">
              <a:spcAft>
                <a:spcPts val="800"/>
              </a:spcAft>
              <a:buSzPct val="100000"/>
              <a:buChar char="•"/>
            </a:pPr>
            <a:r>
              <a:rPr lang="en-US" sz="1600" dirty="0">
                <a:solidFill>
                  <a:schemeClr val="tx1"/>
                </a:solidFill>
              </a:rPr>
              <a:t>The doubts lie far away: closures </a:t>
            </a:r>
            <a:r>
              <a:rPr lang="en-US" sz="1600" b="1" dirty="0">
                <a:solidFill>
                  <a:schemeClr val="tx1"/>
                </a:solidFill>
              </a:rPr>
              <a:t>0.44</a:t>
            </a:r>
            <a:r>
              <a:rPr lang="en-US" sz="1600" dirty="0">
                <a:solidFill>
                  <a:schemeClr val="tx1"/>
                </a:solidFill>
              </a:rPr>
              <a:t>, spread </a:t>
            </a:r>
            <a:r>
              <a:rPr lang="en-US" sz="1600" b="1" dirty="0">
                <a:solidFill>
                  <a:schemeClr val="tx1"/>
                </a:solidFill>
              </a:rPr>
              <a:t>0.60</a:t>
            </a:r>
            <a:r>
              <a:rPr lang="en-US" sz="1600" dirty="0">
                <a:solidFill>
                  <a:schemeClr val="tx1"/>
                </a:solidFill>
              </a:rPr>
              <a:t>, both </a:t>
            </a:r>
            <a:r>
              <a:rPr lang="en-US" sz="1600" b="1" dirty="0">
                <a:solidFill>
                  <a:schemeClr val="tx1"/>
                </a:solidFill>
              </a:rPr>
              <a:t>1.04</a:t>
            </a:r>
            <a:endParaRPr lang="en-US" sz="1600" dirty="0"/>
          </a:p>
          <a:p>
            <a:pPr marL="228600" indent="-228600">
              <a:spcAft>
                <a:spcPts val="800"/>
              </a:spcAft>
              <a:buSzPct val="100000"/>
              <a:buChar char="•"/>
            </a:pPr>
            <a:r>
              <a:rPr lang="en-US" sz="1600" dirty="0">
                <a:solidFill>
                  <a:schemeClr val="tx1"/>
                </a:solidFill>
              </a:rPr>
              <a:t>At 0.44 the law must keep 3 in a million; no package gets below 1 path in 100,000</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§11.2 · FIGURE 11.1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Balls that hold the doubts are out of reach</a:t>
            </a:r>
            <a:endParaRPr lang="en-US" sz="3200" dirty="0"/>
          </a:p>
        </p:txBody>
      </p:sp>
      <p:sp>
        <p:nvSpPr>
          <p:cNvPr id="5" name="Bullets"/>
          <p:cNvSpPr txBox="1"/>
          <p:nvPr/>
        </p:nvSpPr>
        <p:spPr>
          <a:xfrm>
            <a:off x="548640" y="1691640"/>
            <a:ext cx="3700165"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As d grows, the package's worst chance rises and the law's appetite falls</a:t>
            </a:r>
            <a:endParaRPr lang="en-US" sz="1500" dirty="0"/>
          </a:p>
          <a:p>
            <a:pPr marL="228600" indent="-228600">
              <a:spcAft>
                <a:spcPts val="800"/>
              </a:spcAft>
              <a:buSzPct val="100000"/>
              <a:buChar char="•"/>
            </a:pPr>
            <a:r>
              <a:rPr lang="en-US" sz="1500" dirty="0">
                <a:solidFill>
                  <a:schemeClr val="tx1"/>
                </a:solidFill>
              </a:rPr>
              <a:t>Below one path in 100,000 nothing suffices: beyond the levers from about 0.38</a:t>
            </a:r>
            <a:endParaRPr lang="en-US" sz="1500" dirty="0"/>
          </a:p>
          <a:p>
            <a:pPr marL="228600" indent="-228600">
              <a:spcAft>
                <a:spcPts val="800"/>
              </a:spcAft>
              <a:buSzPct val="100000"/>
              <a:buChar char="•"/>
            </a:pPr>
            <a:r>
              <a:rPr lang="en-US" sz="1500" dirty="0">
                <a:solidFill>
                  <a:schemeClr val="tx1"/>
                </a:solidFill>
              </a:rPr>
              <a:t>(b) Keeping 5% over the ball: </a:t>
            </a:r>
            <a:r>
              <a:rPr lang="en-US" sz="1500" b="1" dirty="0">
                <a:solidFill>
                  <a:schemeClr val="tx1"/>
                </a:solidFill>
              </a:rPr>
              <a:t>$16.08m</a:t>
            </a:r>
            <a:r>
              <a:rPr lang="en-US" sz="1500" dirty="0">
                <a:solidFill>
                  <a:schemeClr val="tx1"/>
                </a:solidFill>
              </a:rPr>
              <a:t> at d = 0.01, then steeply more</a:t>
            </a:r>
            <a:endParaRPr lang="en-US" sz="1500" dirty="0"/>
          </a:p>
          <a:p>
            <a:pPr marL="228600" indent="-228600">
              <a:spcAft>
                <a:spcPts val="800"/>
              </a:spcAft>
              <a:buSzPct val="100000"/>
              <a:buChar char="•"/>
            </a:pPr>
            <a:r>
              <a:rPr lang="en-US" sz="1500" dirty="0">
                <a:solidFill>
                  <a:schemeClr val="tx1"/>
                </a:solidFill>
              </a:rPr>
              <a:t>The same doubts as a family cost </a:t>
            </a:r>
            <a:r>
              <a:rPr lang="en-US" sz="1500" b="1" dirty="0">
                <a:solidFill>
                  <a:schemeClr val="tx1"/>
                </a:solidFill>
              </a:rPr>
              <a:t>$24.00m</a:t>
            </a:r>
            <a:r>
              <a:rPr lang="en-US" sz="1500" dirty="0">
                <a:solidFill>
                  <a:schemeClr val="tx1"/>
                </a:solidFill>
              </a:rPr>
              <a:t>: a ball also holds laws nobody fears</a:t>
            </a:r>
            <a:endParaRPr lang="en-US" sz="1500" dirty="0"/>
          </a:p>
        </p:txBody>
      </p:sp>
      <p:pic>
        <p:nvPicPr>
          <p:cNvPr id="6" name="Figure" descr="Figure 11.1: divergence families">    </p:cNvPr>
          <p:cNvPicPr>
            <a:picLocks noChangeAspect="1"/>
          </p:cNvPicPr>
          <p:nvPr/>
        </p:nvPicPr>
        <p:blipFill>
          <a:blip r:embed="rId1"/>
          <a:stretch>
            <a:fillRect/>
          </a:stretch>
        </p:blipFill>
        <p:spPr>
          <a:xfrm>
            <a:off x="4614565" y="1726603"/>
            <a:ext cx="7028490" cy="3843705"/>
          </a:xfrm>
          <a:prstGeom prst="rect">
            <a:avLst/>
          </a:prstGeom>
        </p:spPr>
      </p:pic>
      <p:sp>
        <p:nvSpPr>
          <p:cNvPr id="7" name="Caption"/>
          <p:cNvSpPr txBox="1"/>
          <p:nvPr/>
        </p:nvSpPr>
        <p:spPr>
          <a:xfrm>
            <a:off x="4614565" y="5643461"/>
            <a:ext cx="7028490" cy="502920"/>
          </a:xfrm>
          <a:prstGeom prst="rect">
            <a:avLst/>
          </a:prstGeom>
          <a:noFill/>
          <a:ln/>
        </p:spPr>
        <p:txBody>
          <a:bodyPr wrap="square" lIns="0" tIns="0" rIns="0" bIns="0" rtlCol="0" anchor="t"/>
          <a:lstStyle/>
          <a:p>
            <a:pPr indent="0" marL="0">
              <a:buNone/>
            </a:pPr>
            <a:r>
              <a:rPr lang="en-US" sz="1100" i="1" dirty="0">
                <a:solidFill>
                  <a:schemeClr val="tx2"/>
                </a:solidFill>
              </a:rPr>
              <a:t>Figure 11.1. (a) Worst chance over the ball and the chance the law must keep; dashed, the doubts' radii. (b) The cost of keeping 5 percent over the ball, and the records' doubts at their radii.</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§11.3 · THEOREM 11.3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Wasserstein ball moves the nearest futures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11.3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Wasserstein Families</a:t>
            </a:r>
            <a:endParaRPr lang="en-US" sz="2100" dirty="0"/>
          </a:p>
        </p:txBody>
      </p:sp>
      <p:pic>
        <p:nvPicPr>
          <p:cNvPr id="8" name="Equation" descr="Equation: \sup_{Q \in \mathcal{W}_{\varepsilon}} \mathrm{E}_{Q} L \;=\; \min_{\lambda \ge 0}\Bigl\{\lambda\varepsilon + \frac{1}{N}\sum_{i=1}^{N} \sup_{\boldsymbol{\xi}}\bigl[L(\boldsymbol{\xi}) - \lambda\lVert\boldsymbol{\xi} - \boldsymbol{\xi}_i\rVert\bigr]\Bigr\}">    </p:cNvPr>
          <p:cNvPicPr>
            <a:picLocks noChangeAspect="1"/>
          </p:cNvPicPr>
          <p:nvPr/>
        </p:nvPicPr>
        <p:blipFill>
          <a:blip r:embed="rId1"/>
          <a:stretch>
            <a:fillRect/>
          </a:stretch>
        </p:blipFill>
        <p:spPr>
          <a:xfrm>
            <a:off x="822960" y="2743200"/>
            <a:ext cx="5120640" cy="731520"/>
          </a:xfrm>
          <a:prstGeom prst="rect">
            <a:avLst/>
          </a:prstGeom>
        </p:spPr>
      </p:pic>
      <p:sp>
        <p:nvSpPr>
          <p:cNvPr id="9" name="Bullets"/>
          <p:cNvSpPr txBox="1"/>
          <p:nvPr/>
        </p:nvSpPr>
        <p:spPr>
          <a:xfrm>
            <a:off x="822960" y="3639312"/>
            <a:ext cx="5394960" cy="239572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(ii) Lipschitz premium.</a:t>
            </a:r>
            <a:r>
              <a:rPr lang="en-US" sz="1500" dirty="0">
                <a:solidFill>
                  <a:schemeClr val="tx1"/>
                </a:solidFill>
              </a:rPr>
              <a:t> The worst expected loss exceeds the record's average by at most εℓ</a:t>
            </a:r>
            <a:endParaRPr lang="en-US" sz="1500" dirty="0"/>
          </a:p>
          <a:p>
            <a:pPr marL="228600" indent="-228600">
              <a:spcAft>
                <a:spcPts val="600"/>
              </a:spcAft>
              <a:buSzPct val="100000"/>
              <a:buChar char="•"/>
            </a:pPr>
            <a:r>
              <a:rPr lang="en-US" sz="1500" b="1" dirty="0">
                <a:solidFill>
                  <a:schemeClr val="tx1"/>
                </a:solidFill>
              </a:rPr>
              <a:t>(iii) Worst chance.</a:t>
            </a:r>
            <a:r>
              <a:rPr lang="en-US" sz="1500" dirty="0">
                <a:solidFill>
                  <a:schemeClr val="tx1"/>
                </a:solidFill>
              </a:rPr>
              <a:t> Nearest futures move first: keeping α needs the αN nearest at least ε/α away on average</a:t>
            </a:r>
            <a:endParaRPr lang="en-US" sz="1500" dirty="0"/>
          </a:p>
          <a:p>
            <a:pPr marL="228600" indent="-228600">
              <a:spcAft>
                <a:spcPts val="600"/>
              </a:spcAft>
              <a:buSzPct val="100000"/>
              <a:buChar char="•"/>
            </a:pPr>
            <a:r>
              <a:rPr lang="en-US" sz="1500" b="1" dirty="0">
                <a:solidFill>
                  <a:schemeClr val="tx1"/>
                </a:solidFill>
              </a:rPr>
              <a:t>(iv) Finite records.</a:t>
            </a:r>
            <a:r>
              <a:rPr lang="en-US" sz="1500" dirty="0">
                <a:solidFill>
                  <a:schemeClr val="tx1"/>
                </a:solidFill>
              </a:rPr>
              <a:t> A radius shrinking as N</a:t>
            </a:r>
            <a:r>
              <a:rPr lang="en-US" sz="1500" baseline="30000" dirty="0">
                <a:solidFill>
                  <a:schemeClr val="tx1"/>
                </a:solidFill>
              </a:rPr>
              <a:t>−1/max(m, 2)</a:t>
            </a:r>
            <a:r>
              <a:rPr lang="en-US" sz="1500" dirty="0">
                <a:solidFill>
                  <a:schemeClr val="tx1"/>
                </a:solidFill>
              </a:rPr>
              <a:t> holds the true law with confidence 1 − β</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On Meridian's 100,000 paths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path's distance from a breach is its thinnest margin above the floor</a:t>
            </a:r>
            <a:endParaRPr lang="en-US" sz="1600" dirty="0"/>
          </a:p>
          <a:p>
            <a:pPr marL="228600" indent="-228600">
              <a:spcAft>
                <a:spcPts val="800"/>
              </a:spcAft>
              <a:buSzPct val="100000"/>
              <a:buChar char="•"/>
            </a:pPr>
            <a:r>
              <a:rPr lang="en-US" sz="1600" dirty="0">
                <a:solidFill>
                  <a:schemeClr val="tx1"/>
                </a:solidFill>
              </a:rPr>
              <a:t>A ball of </a:t>
            </a:r>
            <a:r>
              <a:rPr lang="en-US" sz="1600" b="1" dirty="0">
                <a:solidFill>
                  <a:schemeClr val="tx1"/>
                </a:solidFill>
              </a:rPr>
              <a:t>$0.1m</a:t>
            </a:r>
            <a:r>
              <a:rPr lang="en-US" sz="1600" dirty="0">
                <a:solidFill>
                  <a:schemeClr val="tx1"/>
                </a:solidFill>
              </a:rPr>
              <a:t> pushes Volume I's package from 5% to </a:t>
            </a:r>
            <a:r>
              <a:rPr lang="en-US" sz="1600" b="1" dirty="0">
                <a:solidFill>
                  <a:schemeClr val="tx1"/>
                </a:solidFill>
              </a:rPr>
              <a:t>7.1%</a:t>
            </a:r>
            <a:endParaRPr lang="en-US" sz="1600" dirty="0"/>
          </a:p>
          <a:p>
            <a:pPr marL="228600" indent="-228600">
              <a:spcAft>
                <a:spcPts val="800"/>
              </a:spcAft>
              <a:buSzPct val="100000"/>
              <a:buChar char="•"/>
            </a:pPr>
            <a:r>
              <a:rPr lang="en-US" sz="1600" dirty="0">
                <a:solidFill>
                  <a:schemeClr val="tx1"/>
                </a:solidFill>
              </a:rPr>
              <a:t>Keeping 5%: the thinnest 5% must average $2m, 1.15 quarters, </a:t>
            </a:r>
            <a:r>
              <a:rPr lang="en-US" sz="1600" b="1" dirty="0">
                <a:solidFill>
                  <a:schemeClr val="tx1"/>
                </a:solidFill>
              </a:rPr>
              <a:t>$14.13m</a:t>
            </a:r>
            <a:endParaRPr lang="en-US" sz="1600" dirty="0"/>
          </a:p>
          <a:p>
            <a:pPr marL="228600" indent="-228600">
              <a:spcAft>
                <a:spcPts val="800"/>
              </a:spcAft>
              <a:buSzPct val="100000"/>
              <a:buChar char="•"/>
            </a:pPr>
            <a:r>
              <a:rPr lang="en-US" sz="1600" dirty="0">
                <a:solidFill>
                  <a:schemeClr val="tx1"/>
                </a:solidFill>
              </a:rPr>
              <a:t>The spread's doubt lies at $26.3m: it would ask </a:t>
            </a:r>
            <a:r>
              <a:rPr lang="en-US" sz="1600" b="1" dirty="0">
                <a:solidFill>
                  <a:schemeClr val="tx1"/>
                </a:solidFill>
              </a:rPr>
              <a:t>$525m</a:t>
            </a:r>
            <a:r>
              <a:rPr lang="en-US" sz="1600" dirty="0">
                <a:solidFill>
                  <a:schemeClr val="tx1"/>
                </a:solidFill>
              </a:rPr>
              <a:t>; the levers reach $122m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§11.3 · FIGURE 11.2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 small records, a radius buys reliability</a:t>
            </a:r>
            <a:endParaRPr lang="en-US" sz="3200" dirty="0"/>
          </a:p>
        </p:txBody>
      </p:sp>
      <p:sp>
        <p:nvSpPr>
          <p:cNvPr id="5" name="Bullets"/>
          <p:cNvSpPr txBox="1"/>
          <p:nvPr/>
        </p:nvSpPr>
        <p:spPr>
          <a:xfrm>
            <a:off x="548640" y="1691640"/>
            <a:ext cx="3700165"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Designed on 1,000 paths, packages keep 5% only </a:t>
            </a:r>
            <a:r>
              <a:rPr lang="en-US" sz="1500" b="1" dirty="0">
                <a:solidFill>
                  <a:schemeClr val="tx1"/>
                </a:solidFill>
              </a:rPr>
              <a:t>38.5%</a:t>
            </a:r>
            <a:r>
              <a:rPr lang="en-US" sz="1500" dirty="0">
                <a:solidFill>
                  <a:schemeClr val="tx1"/>
                </a:solidFill>
              </a:rPr>
              <a:t> of the time</a:t>
            </a:r>
            <a:endParaRPr lang="en-US" sz="1500" dirty="0"/>
          </a:p>
          <a:p>
            <a:pPr marL="228600" indent="-228600">
              <a:spcAft>
                <a:spcPts val="800"/>
              </a:spcAft>
              <a:buSzPct val="100000"/>
              <a:buChar char="•"/>
            </a:pPr>
            <a:r>
              <a:rPr lang="en-US" sz="1500" dirty="0">
                <a:solidFill>
                  <a:schemeClr val="tx1"/>
                </a:solidFill>
              </a:rPr>
              <a:t>A radius of $20,000: </a:t>
            </a:r>
            <a:r>
              <a:rPr lang="en-US" sz="1500" b="1" dirty="0">
                <a:solidFill>
                  <a:schemeClr val="tx1"/>
                </a:solidFill>
              </a:rPr>
              <a:t>86.5%</a:t>
            </a:r>
            <a:r>
              <a:rPr lang="en-US" sz="1500" dirty="0">
                <a:solidFill>
                  <a:schemeClr val="tx1"/>
                </a:solidFill>
              </a:rPr>
              <a:t>, $11.94m on average; of $50,000: </a:t>
            </a:r>
            <a:r>
              <a:rPr lang="en-US" sz="1500" b="1" dirty="0">
                <a:solidFill>
                  <a:schemeClr val="tx1"/>
                </a:solidFill>
              </a:rPr>
              <a:t>97.5%</a:t>
            </a:r>
            <a:r>
              <a:rPr lang="en-US" sz="1500" dirty="0">
                <a:solidFill>
                  <a:schemeClr val="tx1"/>
                </a:solidFill>
              </a:rPr>
              <a:t>, $12.94m</a:t>
            </a:r>
            <a:endParaRPr lang="en-US" sz="1500" dirty="0"/>
          </a:p>
          <a:p>
            <a:pPr marL="228600" indent="-228600">
              <a:spcAft>
                <a:spcPts val="800"/>
              </a:spcAft>
              <a:buSzPct val="100000"/>
              <a:buChar char="•"/>
            </a:pPr>
            <a:r>
              <a:rPr lang="en-US" sz="1500" dirty="0">
                <a:solidFill>
                  <a:schemeClr val="tx1"/>
                </a:solidFill>
              </a:rPr>
              <a:t>Lowering the target buys about the same: one point gives 87% at $12.09m</a:t>
            </a:r>
            <a:endParaRPr lang="en-US" sz="1500" dirty="0"/>
          </a:p>
          <a:p>
            <a:pPr marL="228600" indent="-228600">
              <a:spcAft>
                <a:spcPts val="800"/>
              </a:spcAft>
              <a:buSzPct val="100000"/>
              <a:buChar char="•"/>
            </a:pPr>
            <a:r>
              <a:rPr lang="en-US" sz="1500" dirty="0">
                <a:solidFill>
                  <a:schemeClr val="tx1"/>
                </a:solidFill>
              </a:rPr>
              <a:t>A radius is a margin that says what it protects against</a:t>
            </a:r>
            <a:endParaRPr lang="en-US" sz="1500" dirty="0"/>
          </a:p>
        </p:txBody>
      </p:sp>
      <p:pic>
        <p:nvPicPr>
          <p:cNvPr id="6" name="Figure" descr="Figure 11.2: Wasserstein families">    </p:cNvPr>
          <p:cNvPicPr>
            <a:picLocks noChangeAspect="1"/>
          </p:cNvPicPr>
          <p:nvPr/>
        </p:nvPicPr>
        <p:blipFill>
          <a:blip r:embed="rId1"/>
          <a:stretch>
            <a:fillRect/>
          </a:stretch>
        </p:blipFill>
        <p:spPr>
          <a:xfrm>
            <a:off x="4614565" y="1784564"/>
            <a:ext cx="7028490" cy="3727784"/>
          </a:xfrm>
          <a:prstGeom prst="rect">
            <a:avLst/>
          </a:prstGeom>
        </p:spPr>
      </p:pic>
      <p:sp>
        <p:nvSpPr>
          <p:cNvPr id="7" name="Caption"/>
          <p:cNvSpPr txBox="1"/>
          <p:nvPr/>
        </p:nvSpPr>
        <p:spPr>
          <a:xfrm>
            <a:off x="4614565" y="5585500"/>
            <a:ext cx="7028490" cy="502920"/>
          </a:xfrm>
          <a:prstGeom prst="rect">
            <a:avLst/>
          </a:prstGeom>
          <a:noFill/>
          <a:ln/>
        </p:spPr>
        <p:txBody>
          <a:bodyPr wrap="square" lIns="0" tIns="0" rIns="0" bIns="0" rtlCol="0" anchor="t"/>
          <a:lstStyle/>
          <a:p>
            <a:pPr indent="0" marL="0">
              <a:buNone/>
            </a:pPr>
            <a:r>
              <a:rPr lang="en-US" sz="1100" i="1" dirty="0">
                <a:solidFill>
                  <a:schemeClr val="tx2"/>
                </a:solidFill>
              </a:rPr>
              <a:t>Figure 11.2. (a) The thinnest 12 percent of paths by thinnest margin; shaded, the paths a ball of $0.1m pushes across the floor. (b) Designs on 200 records of 1,000 paths, checked on fresh paths.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§11.4 · PROPOSITION 11.1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 record of averages fears a lump</a:t>
            </a:r>
            <a:endParaRPr lang="en-US" sz="3200" dirty="0"/>
          </a:p>
        </p:txBody>
      </p:sp>
      <p:pic>
        <p:nvPicPr>
          <p:cNvPr id="5" name="Equation" descr="Equation: \sup \Pr\{M \le 0\} \;=\; \frac{\sigma^{2}}{\sigma^{2} + \mu^{2}} \;\le\; \alpha \quad\Longleftrightarrow\quad \mu \;\ge\; \sigma\sqrt{\frac{1 - \alpha}{\alpha}} \;=\; 4.36\,\sigma \;\text{ at } 5\%">    </p:cNvPr>
          <p:cNvPicPr>
            <a:picLocks noChangeAspect="1"/>
          </p:cNvPicPr>
          <p:nvPr/>
        </p:nvPicPr>
        <p:blipFill>
          <a:blip r:embed="rId1"/>
          <a:stretch>
            <a:fillRect/>
          </a:stretch>
        </p:blipFill>
        <p:spPr>
          <a:xfrm>
            <a:off x="1444717" y="1828800"/>
            <a:ext cx="9302262" cy="868680"/>
          </a:xfrm>
          <a:prstGeom prst="rect">
            <a:avLst/>
          </a:prstGeom>
        </p:spPr>
      </p:pic>
      <p:sp>
        <p:nvSpPr>
          <p:cNvPr id="6" name="Text 2"/>
          <p:cNvSpPr txBox="1"/>
          <p:nvPr/>
        </p:nvSpPr>
        <p:spPr>
          <a:xfrm>
            <a:off x="914400" y="283464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Cantelli: the worst chance a mean and a spread allow, attained by a two-point law</a:t>
            </a:r>
            <a:endParaRPr lang="en-US" sz="1600" dirty="0"/>
          </a:p>
        </p:txBody>
      </p:sp>
      <p:sp>
        <p:nvSpPr>
          <p:cNvPr id="7" name="Bullets"/>
          <p:cNvSpPr txBox="1"/>
          <p:nvPr/>
        </p:nvSpPr>
        <p:spPr>
          <a:xfrm>
            <a:off x="914400" y="3429000"/>
            <a:ext cx="10362895" cy="274320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Proposition 11.1.</a:t>
            </a:r>
            <a:r>
              <a:rPr lang="en-US" sz="1700" dirty="0">
                <a:solidFill>
                  <a:schemeClr val="bg1"/>
                </a:solidFill>
              </a:rPr>
              <a:t> Dual form over moment functions; worst cases on at most k + 1 points; with several margins, between the largest bound and their sum</a:t>
            </a:r>
            <a:endParaRPr lang="en-US" sz="1700" dirty="0"/>
          </a:p>
          <a:p>
            <a:pPr marL="228600" indent="-228600">
              <a:spcAft>
                <a:spcPts val="800"/>
              </a:spcAft>
              <a:buSzPct val="100000"/>
              <a:buChar char="•"/>
            </a:pPr>
            <a:r>
              <a:rPr lang="en-US" sz="1700" dirty="0">
                <a:solidFill>
                  <a:schemeClr val="bg1"/>
                </a:solidFill>
              </a:rPr>
              <a:t>Volume I's package: quarter 7's margin averages $147.5m with a spread of $62.9m: some law breaches there with chance </a:t>
            </a:r>
            <a:r>
              <a:rPr lang="en-US" sz="1700" b="1" dirty="0">
                <a:solidFill>
                  <a:schemeClr val="bg1"/>
                </a:solidFill>
              </a:rPr>
              <a:t>15.4%</a:t>
            </a:r>
            <a:endParaRPr lang="en-US" sz="1700" dirty="0"/>
          </a:p>
          <a:p>
            <a:pPr marL="228600" indent="-228600">
              <a:spcAft>
                <a:spcPts val="800"/>
              </a:spcAft>
              <a:buSzPct val="100000"/>
              <a:buChar char="•"/>
            </a:pPr>
            <a:r>
              <a:rPr lang="en-US" sz="1700" dirty="0">
                <a:solidFill>
                  <a:schemeClr val="bg1"/>
                </a:solidFill>
              </a:rPr>
              <a:t>Every quarter at 5% takes six quarters of delay and </a:t>
            </a:r>
            <a:r>
              <a:rPr lang="en-US" sz="1700" b="1" dirty="0">
                <a:solidFill>
                  <a:schemeClr val="bg1"/>
                </a:solidFill>
              </a:rPr>
              <a:t>$53.29m</a:t>
            </a:r>
            <a:r>
              <a:rPr lang="en-US" sz="1700" dirty="0">
                <a:solidFill>
                  <a:schemeClr val="bg1"/>
                </a:solidFill>
              </a:rPr>
              <a:t>, and still cannot promise the program's appetite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§11.5 · PROPOSITIONS 11.2–11.3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Records declare the family, with confidence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11.2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Records and Confidence</a:t>
            </a:r>
            <a:endParaRPr lang="en-US" sz="2100" dirty="0"/>
          </a:p>
        </p:txBody>
      </p:sp>
      <p:pic>
        <p:nvPicPr>
          <p:cNvPr id="8" name="Equation" descr="Equation: \lambda \;\le\; \frac{\chi^{2}_{1-\beta}(2n + 2)}{2T}, \qquad \sigma \;\le\; s\sqrt{\frac{n}{\chi^{2}_{\beta}(n)}}">    </p:cNvPr>
          <p:cNvPicPr>
            <a:picLocks noChangeAspect="1"/>
          </p:cNvPicPr>
          <p:nvPr/>
        </p:nvPicPr>
        <p:blipFill>
          <a:blip r:embed="rId1"/>
          <a:stretch>
            <a:fillRect/>
          </a:stretch>
        </p:blipFill>
        <p:spPr>
          <a:xfrm>
            <a:off x="822960" y="2743200"/>
            <a:ext cx="2668117" cy="566928"/>
          </a:xfrm>
          <a:prstGeom prst="rect">
            <a:avLst/>
          </a:prstGeom>
        </p:spPr>
      </p:pic>
      <p:sp>
        <p:nvSpPr>
          <p:cNvPr id="9" name="Bullets"/>
          <p:cNvSpPr txBox="1"/>
          <p:nvPr/>
        </p:nvSpPr>
        <p:spPr>
          <a:xfrm>
            <a:off x="822960" y="3474720"/>
            <a:ext cx="5394960" cy="256032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Counts.</a:t>
            </a:r>
            <a:r>
              <a:rPr lang="en-US" sz="1500" dirty="0">
                <a:solidFill>
                  <a:schemeClr val="tx1"/>
                </a:solidFill>
              </a:rPr>
              <a:t> n events in T years bound the rate, with confidence 1 − β</a:t>
            </a:r>
            <a:endParaRPr lang="en-US" sz="1500" dirty="0"/>
          </a:p>
          <a:p>
            <a:pPr marL="228600" indent="-228600">
              <a:spcAft>
                <a:spcPts val="600"/>
              </a:spcAft>
              <a:buSzPct val="100000"/>
              <a:buChar char="•"/>
            </a:pPr>
            <a:r>
              <a:rPr lang="en-US" sz="1500" b="1" dirty="0">
                <a:solidFill>
                  <a:schemeClr val="tx1"/>
                </a:solidFill>
              </a:rPr>
              <a:t>(ii) Spreads.</a:t>
            </a:r>
            <a:r>
              <a:rPr lang="en-US" sz="1500" dirty="0">
                <a:solidFill>
                  <a:schemeClr val="tx1"/>
                </a:solidFill>
              </a:rPr>
              <a:t> n Gaussian innovations of root-mean-square s bound the spread</a:t>
            </a:r>
            <a:endParaRPr lang="en-US" sz="1500" dirty="0"/>
          </a:p>
          <a:p>
            <a:pPr marL="228600" indent="-228600">
              <a:spcAft>
                <a:spcPts val="600"/>
              </a:spcAft>
              <a:buSzPct val="100000"/>
              <a:buChar char="•"/>
            </a:pPr>
            <a:r>
              <a:rPr lang="en-US" sz="1500" b="1" dirty="0">
                <a:solidFill>
                  <a:schemeClr val="tx1"/>
                </a:solidFill>
              </a:rPr>
              <a:t>(iii) Several bounds</a:t>
            </a:r>
            <a:r>
              <a:rPr lang="en-US" sz="1500" dirty="0">
                <a:solidFill>
                  <a:schemeClr val="tx1"/>
                </a:solidFill>
              </a:rPr>
              <a:t> hold together with confidence at least one less the sum of their β; an ordered family's worst law is its corner</a:t>
            </a:r>
            <a:endParaRPr lang="en-US" sz="1500" dirty="0"/>
          </a:p>
          <a:p>
            <a:pPr marL="228600" indent="-228600">
              <a:spcAft>
                <a:spcPts val="600"/>
              </a:spcAft>
              <a:buSzPct val="100000"/>
              <a:buChar char="•"/>
            </a:pPr>
            <a:r>
              <a:rPr lang="en-US" sz="1500" b="1" dirty="0">
                <a:solidFill>
                  <a:schemeClr val="tx1"/>
                </a:solidFill>
              </a:rPr>
              <a:t>(iv) Optimism.</a:t>
            </a:r>
            <a:r>
              <a:rPr lang="en-US" sz="1500" dirty="0">
                <a:solidFill>
                  <a:schemeClr val="tx1"/>
                </a:solidFill>
              </a:rPr>
              <a:t> A design looks better on its own record; a family with confidence 1 − β keeps its promise</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Families over time (Proposition 11.3)</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family declared stage by stage obeys a robust Bellman equation: plans stay optimal</a:t>
            </a:r>
            <a:endParaRPr lang="en-US" sz="1600" dirty="0"/>
          </a:p>
          <a:p>
            <a:pPr marL="228600" indent="-228600">
              <a:spcAft>
                <a:spcPts val="800"/>
              </a:spcAft>
              <a:buSzPct val="100000"/>
              <a:buChar char="•"/>
            </a:pPr>
            <a:r>
              <a:rPr lang="en-US" sz="1600" dirty="0">
                <a:solidFill>
                  <a:schemeClr val="tx1"/>
                </a:solidFill>
              </a:rPr>
              <a:t>Divergences add along the stages</a:t>
            </a:r>
            <a:endParaRPr lang="en-US" sz="1600" dirty="0"/>
          </a:p>
          <a:p>
            <a:pPr marL="228600" indent="-228600">
              <a:spcAft>
                <a:spcPts val="800"/>
              </a:spcAft>
              <a:buSzPct val="100000"/>
              <a:buChar char="•"/>
            </a:pPr>
            <a:r>
              <a:rPr lang="en-US" sz="1600" dirty="0">
                <a:solidFill>
                  <a:schemeClr val="tx1"/>
                </a:solidFill>
              </a:rPr>
              <a:t>A ball on the whole path is not rectangular: today's plan need not be next quarter's</a:t>
            </a:r>
            <a:endParaRPr lang="en-US" sz="1600" dirty="0"/>
          </a:p>
          <a:p>
            <a:pPr marL="228600" indent="-228600">
              <a:spcAft>
                <a:spcPts val="800"/>
              </a:spcAft>
              <a:buSzPct val="100000"/>
              <a:buChar char="•"/>
            </a:pPr>
            <a:r>
              <a:rPr lang="en-US" sz="1600" dirty="0">
                <a:solidFill>
                  <a:schemeClr val="tx1"/>
                </a:solidFill>
              </a:rPr>
              <a:t>Rules that read cash, or Chapter 15's twin, need families declared quarter by quarter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§11.5 · TABLE 11.2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Families of laws, and how to use them</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61018"/>
                <a:gridCol w="2289324"/>
                <a:gridCol w="1761018"/>
                <a:gridCol w="2993731"/>
                <a:gridCol w="2289324"/>
              </a:tblGrid>
              <a:tr h="73152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Family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Declared by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Worst case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Computation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7315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Parameters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confidence bounds from records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corner, if ordered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Chapter 9's design at the worst law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doubts left out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315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Divergence ball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radius around a law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reweighting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closed-form chance; the entropic dual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radii that hold a doubt are huge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7315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Wasserstein ball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radius around a record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moved futures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nearest futures first; the dual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radii that shrink slowly in many dimensions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315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Moments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means and covariances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few points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Cantelli; semidefinite programs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lumps the record rules out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73152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Over time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set for each stage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stage by stage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robust Bellman equation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balls on whole paths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much should Meridian trust its law?</a:t>
            </a:r>
            <a:endParaRPr lang="en-US" sz="3200" dirty="0"/>
          </a:p>
        </p:txBody>
      </p:sp>
      <p:sp>
        <p:nvSpPr>
          <p:cNvPr id="5" name="Card"/>
          <p:cNvSpPr/>
          <p:nvPr/>
        </p:nvSpPr>
        <p:spPr>
          <a:xfrm>
            <a:off x="548640" y="1691640"/>
            <a:ext cx="3515258" cy="2788920"/>
          </a:xfrm>
          <a:prstGeom prst="roundRect">
            <a:avLst>
              <a:gd name="adj" fmla="val 262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Chapter 9's answer</a:t>
            </a:r>
            <a:endParaRPr lang="en-US" sz="1300" dirty="0"/>
          </a:p>
        </p:txBody>
      </p:sp>
      <p:sp>
        <p:nvSpPr>
          <p:cNvPr id="7" name="Card head"/>
          <p:cNvSpPr txBox="1"/>
          <p:nvPr/>
        </p:nvSpPr>
        <p:spPr>
          <a:xfrm>
            <a:off x="731520" y="2148840"/>
            <a:ext cx="3149498" cy="8046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 chance, if the law is right</a:t>
            </a:r>
            <a:endParaRPr lang="en-US" sz="2000" dirty="0"/>
          </a:p>
        </p:txBody>
      </p:sp>
      <p:sp>
        <p:nvSpPr>
          <p:cNvPr id="8" name="Card text"/>
          <p:cNvSpPr txBox="1"/>
          <p:nvPr/>
        </p:nvSpPr>
        <p:spPr>
          <a:xfrm>
            <a:off x="731520" y="3026664"/>
            <a:ext cx="3149498" cy="1325880"/>
          </a:xfrm>
          <a:prstGeom prst="rect">
            <a:avLst/>
          </a:prstGeom>
          <a:noFill/>
          <a:ln/>
        </p:spPr>
        <p:txBody>
          <a:bodyPr wrap="square" lIns="0" tIns="0" rIns="0" bIns="0" rtlCol="0" anchor="t"/>
          <a:lstStyle/>
          <a:p>
            <a:pPr indent="0" marL="0">
              <a:buNone/>
            </a:pPr>
            <a:r>
              <a:rPr lang="en-US" sz="1500" dirty="0">
                <a:solidFill>
                  <a:schemeClr val="tx2"/>
                </a:solidFill>
              </a:rPr>
              <a:t>A $170m line and two-thirds of a quarter of delay, $10.44m: a 5% chance of a breach under the law.</a:t>
            </a:r>
            <a:endParaRPr lang="en-US" sz="1500" dirty="0"/>
          </a:p>
        </p:txBody>
      </p:sp>
      <p:sp>
        <p:nvSpPr>
          <p:cNvPr id="9" name="Card"/>
          <p:cNvSpPr/>
          <p:nvPr/>
        </p:nvSpPr>
        <p:spPr>
          <a:xfrm>
            <a:off x="4338218" y="1691640"/>
            <a:ext cx="3515258" cy="2788920"/>
          </a:xfrm>
          <a:prstGeom prst="roundRect">
            <a:avLst>
              <a:gd name="adj" fmla="val 262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audit committee</a:t>
            </a:r>
            <a:endParaRPr lang="en-US" sz="1300" dirty="0"/>
          </a:p>
        </p:txBody>
      </p:sp>
      <p:sp>
        <p:nvSpPr>
          <p:cNvPr id="11" name="Card head"/>
          <p:cNvSpPr txBox="1"/>
          <p:nvPr/>
        </p:nvSpPr>
        <p:spPr>
          <a:xfrm>
            <a:off x="4521098" y="2148840"/>
            <a:ext cx="3149498" cy="8046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law came from records</a:t>
            </a:r>
            <a:endParaRPr lang="en-US" sz="2000" dirty="0"/>
          </a:p>
        </p:txBody>
      </p:sp>
      <p:sp>
        <p:nvSpPr>
          <p:cNvPr id="12" name="Card text"/>
          <p:cNvSpPr txBox="1"/>
          <p:nvPr/>
        </p:nvSpPr>
        <p:spPr>
          <a:xfrm>
            <a:off x="4521098" y="3026664"/>
            <a:ext cx="3149498" cy="1325880"/>
          </a:xfrm>
          <a:prstGeom prst="rect">
            <a:avLst/>
          </a:prstGeom>
          <a:noFill/>
          <a:ln/>
        </p:spPr>
        <p:txBody>
          <a:bodyPr wrap="square" lIns="0" tIns="0" rIns="0" bIns="0" rtlCol="0" anchor="t"/>
          <a:lstStyle/>
          <a:p>
            <a:pPr indent="0" marL="0">
              <a:buNone/>
            </a:pPr>
            <a:r>
              <a:rPr lang="en-US" sz="1500" dirty="0">
                <a:solidFill>
                  <a:schemeClr val="tx2"/>
                </a:solidFill>
              </a:rPr>
              <a:t>How much should the board trust it, and what does the doubt cost?</a:t>
            </a:r>
            <a:endParaRPr lang="en-US" sz="1500" dirty="0"/>
          </a:p>
        </p:txBody>
      </p:sp>
      <p:sp>
        <p:nvSpPr>
          <p:cNvPr id="13" name="Card"/>
          <p:cNvSpPr/>
          <p:nvPr/>
        </p:nvSpPr>
        <p:spPr>
          <a:xfrm>
            <a:off x="8127797" y="1691640"/>
            <a:ext cx="3515258" cy="2788920"/>
          </a:xfrm>
          <a:prstGeom prst="roundRect">
            <a:avLst>
              <a:gd name="adj" fmla="val 262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records</a:t>
            </a:r>
            <a:endParaRPr lang="en-US" sz="1300" dirty="0"/>
          </a:p>
        </p:txBody>
      </p:sp>
      <p:sp>
        <p:nvSpPr>
          <p:cNvPr id="15" name="Card head"/>
          <p:cNvSpPr txBox="1"/>
          <p:nvPr/>
        </p:nvSpPr>
        <p:spPr>
          <a:xfrm>
            <a:off x="8310677" y="2148840"/>
            <a:ext cx="3149498" cy="80467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Two closures, forty quarters</a:t>
            </a:r>
            <a:endParaRPr lang="en-US" sz="2000" dirty="0"/>
          </a:p>
        </p:txBody>
      </p:sp>
      <p:sp>
        <p:nvSpPr>
          <p:cNvPr id="16" name="Card text"/>
          <p:cNvSpPr txBox="1"/>
          <p:nvPr/>
        </p:nvSpPr>
        <p:spPr>
          <a:xfrm>
            <a:off x="8310677" y="3026664"/>
            <a:ext cx="3149498" cy="1325880"/>
          </a:xfrm>
          <a:prstGeom prst="rect">
            <a:avLst/>
          </a:prstGeom>
          <a:noFill/>
          <a:ln/>
        </p:spPr>
        <p:txBody>
          <a:bodyPr wrap="square" lIns="0" tIns="0" rIns="0" bIns="0" rtlCol="0" anchor="t"/>
          <a:lstStyle/>
          <a:p>
            <a:pPr indent="0" marL="0">
              <a:buNone/>
            </a:pPr>
            <a:r>
              <a:rPr lang="en-US" sz="1500" dirty="0">
                <a:solidFill>
                  <a:schemeClr val="bg2"/>
                </a:solidFill>
              </a:rPr>
              <a:t>The treasury's two closures in twenty years; the engineering office's forty quarters of deviations.</a:t>
            </a:r>
            <a:endParaRPr lang="en-US" sz="1500" dirty="0"/>
          </a:p>
        </p:txBody>
      </p:sp>
      <p:sp>
        <p:nvSpPr>
          <p:cNvPr id="17" name="Lead"/>
          <p:cNvSpPr txBox="1"/>
          <p:nvPr/>
        </p:nvSpPr>
        <p:spPr>
          <a:xfrm>
            <a:off x="548640" y="475488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Chapter 10 priced a guarantee without odds. The question in between: a family of the laws the records allow.</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STEPS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From records to the price of the doubt</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Read the records</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500" dirty="0">
                <a:solidFill>
                  <a:schemeClr val="tx1"/>
                </a:solidFill>
              </a:rPr>
              <a:t>Rate at most 0.315, spread $42.3m to $61.6m. Volume I's package: 4.5–6.2% by rate, 1.6–14.4% by spread, 15.8% at both bounds.</a:t>
            </a:r>
            <a:endParaRPr lang="en-US" sz="15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Declare the family</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500" dirty="0">
                <a:solidFill>
                  <a:schemeClr val="tx1"/>
                </a:solidFill>
              </a:rPr>
              <a:t>Its worst law is the corner: a $200m line and 2.25 quarters, $24.00m; never above 5.0% on 49 laws.</a:t>
            </a:r>
            <a:endParaRPr lang="en-US" sz="15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Try a ball instead</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500" dirty="0">
                <a:solidFill>
                  <a:schemeClr val="tx1"/>
                </a:solidFill>
              </a:rPr>
              <a:t>Holding the doubts needs 2 in 100 billion, or $525m of margin. $16.08m and $14.13m balls breach 10.2% and 12.2% at the corner.</a:t>
            </a:r>
            <a:endParaRPr lang="en-US" sz="15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Size the ball to the record</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500" dirty="0">
                <a:solidFill>
                  <a:schemeClr val="tx1"/>
                </a:solidFill>
              </a:rPr>
              <a:t>On 1,000 paths, 38.5% of designs keep 5%; a radius of $50,000 makes it 97.5%, at $12.94m.</a:t>
            </a:r>
            <a:endParaRPr lang="en-US" sz="15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Price the doubt</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500" dirty="0">
                <a:solidFill>
                  <a:schemeClr val="tx1"/>
                </a:solidFill>
              </a:rPr>
              <a:t>$24.00m against $10.44m: a price of ambiguity of $13.56m, mostly the spread's. A longer record is worth $4.63m.</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TABLE 11.3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declaration's package, side by side</a:t>
            </a:r>
            <a:endParaRPr lang="en-US" sz="32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437766"/>
                <a:gridCol w="1254151"/>
                <a:gridCol w="1254151"/>
                <a:gridCol w="1350624"/>
                <a:gridCol w="1254151"/>
                <a:gridCol w="1543571"/>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Declaration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Delay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Law</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Worst law</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law (Chapter 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15.8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set, max-min (Chapter 10)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232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10.54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Wasserstein ball, $0.1m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12.2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Divergence ball, d = 0.01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1.35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16.08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Closures' doubt (rate ≤ 0.315)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210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11.64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Spread's doubt (spread ≤ 61.6)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22.85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The records' family (both)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2.25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24.00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Records twice as long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195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19.37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7.7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Moments only (every quarter)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6.06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53.29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0.03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4406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 million; delays in quarters; percent. The chance of a breach under Chapter 9's law and under the records' worst law (closures 0.315 a year, spread $61.6m), on 100,000 paths; fresh paths within 0.3 points.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FIGURE 11.3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spread of deviations is what costs</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Volume I's package moves little with the rate of closures and much with the spread</a:t>
            </a:r>
            <a:endParaRPr lang="en-US" sz="1500" dirty="0"/>
          </a:p>
          <a:p>
            <a:pPr marL="228600" indent="-228600">
              <a:spcAft>
                <a:spcPts val="800"/>
              </a:spcAft>
              <a:buSzPct val="100000"/>
              <a:buChar char="•"/>
            </a:pPr>
            <a:r>
              <a:rPr lang="en-US" sz="1500" dirty="0">
                <a:solidFill>
                  <a:schemeClr val="tx1"/>
                </a:solidFill>
              </a:rPr>
              <a:t>The records' family's package stays at or below 5% across the family, 0.9% under the declared law</a:t>
            </a:r>
            <a:endParaRPr lang="en-US" sz="1500" dirty="0"/>
          </a:p>
          <a:p>
            <a:pPr marL="228600" indent="-228600">
              <a:spcAft>
                <a:spcPts val="800"/>
              </a:spcAft>
              <a:buSzPct val="100000"/>
              <a:buChar char="•"/>
            </a:pPr>
            <a:r>
              <a:rPr lang="en-US" sz="1500" dirty="0">
                <a:solidFill>
                  <a:schemeClr val="tx1"/>
                </a:solidFill>
              </a:rPr>
              <a:t>(b) The closures' doubt alone costs </a:t>
            </a:r>
            <a:r>
              <a:rPr lang="en-US" sz="1500" b="1" dirty="0">
                <a:solidFill>
                  <a:schemeClr val="tx1"/>
                </a:solidFill>
              </a:rPr>
              <a:t>$11.64m</a:t>
            </a:r>
            <a:r>
              <a:rPr lang="en-US" sz="1500" dirty="0">
                <a:solidFill>
                  <a:schemeClr val="tx1"/>
                </a:solidFill>
              </a:rPr>
              <a:t>, the spread's alone </a:t>
            </a:r>
            <a:r>
              <a:rPr lang="en-US" sz="1500" b="1" dirty="0">
                <a:solidFill>
                  <a:schemeClr val="tx1"/>
                </a:solidFill>
              </a:rPr>
              <a:t>$22.85m</a:t>
            </a:r>
            <a:endParaRPr lang="en-US" sz="1500" dirty="0"/>
          </a:p>
          <a:p>
            <a:pPr marL="228600" indent="-228600">
              <a:spcAft>
                <a:spcPts val="800"/>
              </a:spcAft>
              <a:buSzPct val="100000"/>
              <a:buChar char="•"/>
            </a:pPr>
            <a:r>
              <a:rPr lang="en-US" sz="1500" dirty="0">
                <a:solidFill>
                  <a:schemeClr val="tx1"/>
                </a:solidFill>
              </a:rPr>
              <a:t>Moments only: </a:t>
            </a:r>
            <a:r>
              <a:rPr lang="en-US" sz="1500" b="1" dirty="0">
                <a:solidFill>
                  <a:schemeClr val="tx1"/>
                </a:solidFill>
              </a:rPr>
              <a:t>$53.29m</a:t>
            </a:r>
            <a:r>
              <a:rPr lang="en-US" sz="1500" dirty="0">
                <a:solidFill>
                  <a:schemeClr val="tx1"/>
                </a:solidFill>
              </a:rPr>
              <a:t>, and still no promise of the appetite</a:t>
            </a:r>
            <a:endParaRPr lang="en-US" sz="1500" dirty="0"/>
          </a:p>
        </p:txBody>
      </p:sp>
      <p:pic>
        <p:nvPicPr>
          <p:cNvPr id="6" name="Figure" descr="Figure 11.3: what the records' doubts cost">    </p:cNvPr>
          <p:cNvPicPr>
            <a:picLocks noChangeAspect="1"/>
          </p:cNvPicPr>
          <p:nvPr/>
        </p:nvPicPr>
        <p:blipFill>
          <a:blip r:embed="rId1"/>
          <a:stretch>
            <a:fillRect/>
          </a:stretch>
        </p:blipFill>
        <p:spPr>
          <a:xfrm>
            <a:off x="6315697" y="1691640"/>
            <a:ext cx="4402836" cy="3913632"/>
          </a:xfrm>
          <a:prstGeom prst="rect">
            <a:avLst/>
          </a:prstGeom>
        </p:spPr>
      </p:pic>
      <p:sp>
        <p:nvSpPr>
          <p:cNvPr id="7" name="Caption"/>
          <p:cNvSpPr txBox="1"/>
          <p:nvPr/>
        </p:nvSpPr>
        <p:spPr>
          <a:xfrm>
            <a:off x="5391174" y="567842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11.3. (a) The chance of a breach across the spread's range, closures at 0.10 and 0.315. (b) Each declaration's cost, with its chance under the records' worst law.</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Pay for the doubt, then measure it</a:t>
            </a:r>
            <a:endParaRPr lang="en-US" sz="3200" dirty="0"/>
          </a:p>
        </p:txBody>
      </p:sp>
      <p:sp>
        <p:nvSpPr>
          <p:cNvPr id="5" name="Stat card"/>
          <p:cNvSpPr/>
          <p:nvPr/>
        </p:nvSpPr>
        <p:spPr>
          <a:xfrm>
            <a:off x="548640" y="1691640"/>
            <a:ext cx="3515258" cy="1874520"/>
          </a:xfrm>
          <a:prstGeom prst="roundRect">
            <a:avLst>
              <a:gd name="adj" fmla="val 3902"/>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$24.00m</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keeps the appetite under every law the records allow, at 90 percent confidence: a $200m line and 2.25 quarters</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$13.56m</a:t>
            </a:r>
            <a:endParaRPr lang="en-US" sz="44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the price of ambiguity over trusting the law, mostly the spread of execution deviations</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$4.63m</a:t>
            </a:r>
            <a:endParaRPr lang="en-US" sz="44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what records twice as long would save on this program alone</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Volume I's package is right if the law is right; the records allow a law under which it breaches on 15.8%</a:t>
            </a:r>
            <a:endParaRPr lang="en-US" sz="1700" dirty="0"/>
          </a:p>
          <a:p>
            <a:pPr marL="228600" indent="-228600">
              <a:spcAft>
                <a:spcPts val="800"/>
              </a:spcAft>
              <a:buSzPct val="100000"/>
              <a:buChar char="•"/>
            </a:pPr>
            <a:r>
              <a:rPr lang="en-US" sz="1700" dirty="0">
                <a:solidFill>
                  <a:schemeClr val="tx1"/>
                </a:solidFill>
              </a:rPr>
              <a:t>Balls around the law are no substitute: those that hold the doubts are beyond any package</a:t>
            </a:r>
            <a:endParaRPr lang="en-US" sz="1700" dirty="0"/>
          </a:p>
          <a:p>
            <a:pPr marL="228600" indent="-228600">
              <a:spcAft>
                <a:spcPts val="800"/>
              </a:spcAft>
              <a:buSzPct val="100000"/>
              <a:buChar char="•"/>
            </a:pPr>
            <a:r>
              <a:rPr lang="en-US" sz="1700" dirty="0">
                <a:solidFill>
                  <a:schemeClr val="tx1"/>
                </a:solidFill>
              </a:rPr>
              <a:t>For discussion: what confidence should the board ask of its records, and who should own them?</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IN PRACTICE · COLORADO RIVER BASIN STUDY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states plan for four Colorado Rivers</a:t>
            </a:r>
            <a:endParaRPr lang="en-US" sz="3200" dirty="0"/>
          </a:p>
        </p:txBody>
      </p:sp>
      <p:sp>
        <p:nvSpPr>
          <p:cNvPr id="5" name="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decision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Close the supply–demand gap</a:t>
            </a:r>
            <a:endParaRPr lang="en-US" sz="1600" dirty="0"/>
          </a:p>
        </p:txBody>
      </p:sp>
      <p:sp>
        <p:nvSpPr>
          <p:cNvPr id="8" name="Card text"/>
          <p:cNvSpPr txBox="1"/>
          <p:nvPr/>
        </p:nvSpPr>
        <p:spPr>
          <a:xfrm>
            <a:off x="731520"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Through 2060, without knowing which description of the river's flows is right.</a:t>
            </a:r>
            <a:endParaRPr lang="en-US" sz="1300" dirty="0"/>
          </a:p>
        </p:txBody>
      </p:sp>
      <p:sp>
        <p:nvSpPr>
          <p:cNvPr id="9" name="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method</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 family of four laws</a:t>
            </a:r>
            <a:endParaRPr lang="en-US" sz="1600" dirty="0"/>
          </a:p>
        </p:txBody>
      </p:sp>
      <p:sp>
        <p:nvSpPr>
          <p:cNvPr id="12" name="Card text"/>
          <p:cNvSpPr txBox="1"/>
          <p:nvPr/>
        </p:nvSpPr>
        <p:spPr>
          <a:xfrm>
            <a:off x="4521098"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Observed, paleo, blended, and climate-projected supply; over 20,000 simulations for every portfolio.</a:t>
            </a:r>
            <a:endParaRPr lang="en-US" sz="1300" dirty="0"/>
          </a:p>
        </p:txBody>
      </p:sp>
      <p:sp>
        <p:nvSpPr>
          <p:cNvPr id="13" name="Card"/>
          <p:cNvSpPr/>
          <p:nvPr/>
        </p:nvSpPr>
        <p:spPr>
          <a:xfrm>
            <a:off x="8127797" y="1691640"/>
            <a:ext cx="3515258" cy="2103120"/>
          </a:xfrm>
          <a:prstGeom prst="roundRect">
            <a:avLst>
              <a:gd name="adj" fmla="val 347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result</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The price of doubt, explicit</a:t>
            </a:r>
            <a:endParaRPr lang="en-US" sz="1600" dirty="0"/>
          </a:p>
        </p:txBody>
      </p:sp>
      <p:sp>
        <p:nvSpPr>
          <p:cNvPr id="16" name="Card text"/>
          <p:cNvSpPr txBox="1"/>
          <p:nvPr/>
        </p:nvSpPr>
        <p:spPr>
          <a:xfrm>
            <a:off x="8310677" y="2798064"/>
            <a:ext cx="3149498" cy="868680"/>
          </a:xfrm>
          <a:prstGeom prst="rect">
            <a:avLst/>
          </a:prstGeom>
          <a:noFill/>
          <a:ln/>
        </p:spPr>
        <p:txBody>
          <a:bodyPr wrap="square" lIns="0" tIns="0" rIns="0" bIns="0" rtlCol="0" anchor="t"/>
          <a:lstStyle/>
          <a:p>
            <a:pPr indent="0" marL="0">
              <a:buNone/>
            </a:pPr>
            <a:r>
              <a:rPr lang="en-US" sz="1300" dirty="0">
                <a:solidFill>
                  <a:schemeClr val="bg2"/>
                </a:solidFill>
              </a:rPr>
              <a:t>2060 portfolio costs of $2.5–3.5bn at the observed-flow median, $3.6–5.8bn under the climate projections.</a:t>
            </a:r>
            <a:endParaRPr lang="en-US" sz="1300" dirty="0"/>
          </a:p>
        </p:txBody>
      </p:sp>
      <p:sp>
        <p:nvSpPr>
          <p:cNvPr id="17" name="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731520"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Making it work</a:t>
            </a:r>
            <a:endParaRPr lang="en-US" sz="1300" dirty="0"/>
          </a:p>
        </p:txBody>
      </p:sp>
      <p:sp>
        <p:nvSpPr>
          <p:cNvPr id="19" name="Card head"/>
          <p:cNvSpPr txBox="1"/>
          <p:nvPr/>
        </p:nvSpPr>
        <p:spPr>
          <a:xfrm>
            <a:off x="731520"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Options only when needed</a:t>
            </a:r>
            <a:endParaRPr lang="en-US" sz="1600" dirty="0"/>
          </a:p>
        </p:txBody>
      </p:sp>
      <p:sp>
        <p:nvSpPr>
          <p:cNvPr id="20" name="Card text"/>
          <p:cNvSpPr txBox="1"/>
          <p:nvPr/>
        </p:nvSpPr>
        <p:spPr>
          <a:xfrm>
            <a:off x="731520"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Portfolios triggered options against specific vulnerabilities; the study itself chose no portfolio.</a:t>
            </a:r>
            <a:endParaRPr lang="en-US" sz="1300" dirty="0"/>
          </a:p>
        </p:txBody>
      </p:sp>
      <p:sp>
        <p:nvSpPr>
          <p:cNvPr id="21" name="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4521098"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Meridian takes</a:t>
            </a:r>
            <a:endParaRPr lang="en-US" sz="1300" dirty="0"/>
          </a:p>
        </p:txBody>
      </p:sp>
      <p:sp>
        <p:nvSpPr>
          <p:cNvPr id="23" name="Card head"/>
          <p:cNvSpPr txBox="1"/>
          <p:nvPr/>
        </p:nvSpPr>
        <p:spPr>
          <a:xfrm>
            <a:off x="4521098"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family the records allow</a:t>
            </a:r>
            <a:endParaRPr lang="en-US" sz="1600" dirty="0"/>
          </a:p>
        </p:txBody>
      </p:sp>
      <p:sp>
        <p:nvSpPr>
          <p:cNvPr id="24" name="Card text"/>
          <p:cNvSpPr txBox="1"/>
          <p:nvPr/>
        </p:nvSpPr>
        <p:spPr>
          <a:xfrm>
            <a:off x="4521098"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Worked Example 11.1: Meridian's records allow laws under which the package breaches far more often.</a:t>
            </a:r>
            <a:endParaRPr lang="en-US" sz="1300" dirty="0"/>
          </a:p>
        </p:txBody>
      </p:sp>
      <p:sp>
        <p:nvSpPr>
          <p:cNvPr id="25" name="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8310677"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For the board</a:t>
            </a:r>
            <a:endParaRPr lang="en-US" sz="1300" dirty="0"/>
          </a:p>
        </p:txBody>
      </p:sp>
      <p:sp>
        <p:nvSpPr>
          <p:cNvPr id="27" name="Card head"/>
          <p:cNvSpPr txBox="1"/>
          <p:nvPr/>
        </p:nvSpPr>
        <p:spPr>
          <a:xfrm>
            <a:off x="8310677"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does our doubt cost?</a:t>
            </a:r>
            <a:endParaRPr lang="en-US" sz="1600" dirty="0"/>
          </a:p>
        </p:txBody>
      </p:sp>
      <p:sp>
        <p:nvSpPr>
          <p:cNvPr id="28" name="Card text"/>
          <p:cNvSpPr txBox="1"/>
          <p:nvPr/>
        </p:nvSpPr>
        <p:spPr>
          <a:xfrm>
            <a:off x="8310677"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How far does the bill move from the kindest law our records allow to the harshest?</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2.11 · MODULE AXIOM-11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Records, families and balls,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audit committee accepts Chapter 9's law as the offices' best estimate, but not as a fact. Open AXIOM, choose Lab 2.11 and load the Meridian ambiguity instance: Chapter 9's law and levers, the treasury's count of closures and the engineering office's record of deviations.</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Read the records</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Confidence bounds for the rate and the spread; sweep each across its range.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the family</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Its worst law, the cheapest package there, checked on fresh paths.</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Try balls</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Divergence and transport balls of growing radius; the radii of the doubts.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Set a radius</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Records of 1,000 paths, radii against margins, reliability per dollar.</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Moments only</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Each quarter's Cantelli bound and the cost of keeping all at 5%.</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records' doubts, the family's worst law and its package, the price of ambiguity, and the record worth improving.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family of laws declares that the law itself is in doubt. A distributionally robust decision keeps its commitments under every law in it: one law gives Chapter 9, every law on a set gives Chapter 10, and a family that holds the true law with known confidence makes the promise honest.</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Divergence balls reweight the law's futures. Their dual form is the entropic criterion with a tuned multiplier, and their worst chance is a formula, so a ball's appetite is a smaller appetite under the law.</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Wasserstein balls move futures. Their dual form adds a Lipschitz premium, and keeping a chance means the futures nearest a breach must keep an average margin; their radius suits a record's sampling error.</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Moment families fear lumps: a two-point law attains Cantelli's bound, so averages alone ask for 4.36 spreads of margin at 5 percent.</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Records declare the family: confidence bounds for counts and spreads, their corner, and families over time declared stage by stage (Propositions 11.2–11.3; Table 11.2). For Meridian, the doubt costs $13.56 million, mostly the spread's.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358</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105</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26211</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AXIOM-11</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2.11</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DCT_V2_Ch11_Lab.ipynb: Worked Example 11.1 and the lab's five steps in seven panels, on the book's paths and the fresh ones</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DCT_V2_Ch11_Lab.xlsx: the records' bounds, the radii, the law's appetite by bisection, Cantelli's bounds, the price of ambiguity and Table 11.3, in formulas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Next, several objectives at once</a:t>
            </a:r>
            <a:endParaRPr lang="en-US" sz="3200" dirty="0"/>
          </a:p>
        </p:txBody>
      </p:sp>
      <p:pic>
        <p:nvPicPr>
          <p:cNvPr id="5" name="Equation" descr="Equation: \max_{\mathbf{z}}\;\bigl(J_1(\mathbf{z}),\, J_2(\mathbf{z}),\, \ldots,\, J_m(\mathbf{z})\bigr)">    </p:cNvPr>
          <p:cNvPicPr>
            <a:picLocks noChangeAspect="1"/>
          </p:cNvPicPr>
          <p:nvPr/>
        </p:nvPicPr>
        <p:blipFill>
          <a:blip r:embed="rId1"/>
          <a:stretch>
            <a:fillRect/>
          </a:stretch>
        </p:blipFill>
        <p:spPr>
          <a:xfrm>
            <a:off x="3952197" y="1691640"/>
            <a:ext cx="4287302" cy="685800"/>
          </a:xfrm>
          <a:prstGeom prst="rect">
            <a:avLst/>
          </a:prstGeom>
        </p:spPr>
      </p:pic>
      <p:sp>
        <p:nvSpPr>
          <p:cNvPr id="6" name="Bullets"/>
          <p:cNvSpPr txBox="1"/>
          <p:nvPr/>
        </p:nvSpPr>
        <p:spPr>
          <a:xfrm>
            <a:off x="548640" y="2697480"/>
            <a:ext cx="11094415"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Part III asked what to trust: a law (Chapter 9), a set (Chapter 10), a family of laws (this chapter)</a:t>
            </a:r>
            <a:endParaRPr lang="en-US" sz="1800" dirty="0"/>
          </a:p>
          <a:p>
            <a:pPr marL="228600" indent="-228600">
              <a:spcAft>
                <a:spcPts val="800"/>
              </a:spcAft>
              <a:buSzPct val="100000"/>
              <a:buChar char="•"/>
            </a:pPr>
            <a:r>
              <a:rPr lang="en-US" sz="1800" dirty="0">
                <a:solidFill>
                  <a:schemeClr val="bg1"/>
                </a:solidFill>
              </a:rPr>
              <a:t>Table 11.3 already sets two objectives side by side: a package's cost and its protection under the records' worst law</a:t>
            </a:r>
            <a:endParaRPr lang="en-US" sz="1800" dirty="0"/>
          </a:p>
          <a:p>
            <a:pPr marL="228600" indent="-228600">
              <a:spcAft>
                <a:spcPts val="800"/>
              </a:spcAft>
              <a:buSzPct val="100000"/>
              <a:buChar char="•"/>
            </a:pPr>
            <a:r>
              <a:rPr lang="en-US" sz="1800" dirty="0">
                <a:solidFill>
                  <a:schemeClr val="bg1"/>
                </a:solidFill>
              </a:rPr>
              <a:t>Chapter 12, Multi-Objective Enterprise Optimization, opens Part IV: Pareto frontiers and the trade-offs along them</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11: Distributionally Robust Enterprise Optimization</dc:title>
  <dc:subject>Slides for Volume II, Chapter 11 (V56)</dc:subject>
  <dc:creator>Samir Asaf</dc:creator>
  <cp:lastModifiedBy>Samir Asaf</cp:lastModifiedBy>
  <cp:revision>1</cp:revision>
  <dcterms:created xsi:type="dcterms:W3CDTF">2026-10-06T07:09:14Z</dcterms:created>
  <dcterms:modified xsi:type="dcterms:W3CDTF">2026-10-06T07:09:14Z</dcterms:modified>
</cp:coreProperties>
</file>