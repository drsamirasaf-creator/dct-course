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ade7682-f70e-4544-71a3-ef6fd6804aef}">
          <p14:sldIdLst>
            <p14:sldId id="256"/>
            <p14:sldId id="257"/>
            <p14:sldId id="258"/>
            <p14:sldId id="259"/>
          </p14:sldIdLst>
        </p14:section>
        <p14:section name="12.1 One Program, Several Owners" id="{ccb4c02a-722d-bff1-5330-ac5af5fde43b}">
          <p14:sldIdLst>
            <p14:sldId id="260"/>
            <p14:sldId id="261"/>
          </p14:sldIdLst>
        </p14:section>
        <p14:section name="12.2 Prices on a Frontier" id="{8e8857e3-73b4-6b91-e1ce-0e86aafed85d}">
          <p14:sldIdLst>
            <p14:sldId id="262"/>
            <p14:sldId id="263"/>
          </p14:sldIdLst>
        </p14:section>
        <p14:section name="12.3 Choosing on the Frontier" id="{8c1bf4a7-44d2-fc6a-3037-64083bc095ac}">
          <p14:sldIdLst>
            <p14:sldId id="264"/>
            <p14:sldId id="265"/>
          </p14:sldIdLst>
        </p14:section>
        <p14:section name="12.4 Computing Frontiers" id="{62909db2-7665-12d6-225c-d7fac9b4c658}">
          <p14:sldIdLst>
            <p14:sldId id="266"/>
            <p14:sldId id="267"/>
          </p14:sldIdLst>
        </p14:section>
        <p14:section name="12.5 Frontiers under Uncertainty" id="{eaaa9493-94e8-e503-3c98-3a812fee1745}">
          <p14:sldIdLst>
            <p14:sldId id="268"/>
          </p14:sldIdLst>
        </p14:section>
        <p14:section name="Worked Example 12.1" id="{529ce09d-7bc5-25c0-263a-b66941fae433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XIOM Lab 2.12" id="{f6b0ebdc-1fdb-411d-195c-b3f88177b126}">
          <p14:sldIdLst>
            <p14:sldId id="275"/>
          </p14:sldIdLst>
        </p14:section>
        <p14:section name="Close" id="{cf836428-c036-b3fd-fb5d-ddb04169d18c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E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E3D"/>
                </a:solidFill>
                <a:latin typeface="+mn-lt"/>
              </a:rPr>
              <a:t>Chapter 9's cheapest committed package ($m), by appetite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Least cost ($m)</c:v>
                </c:pt>
              </c:strCache>
            </c:strRef>
          </c:tx>
          <c:spPr>
            <a:solidFill>
              <a:srgbClr val="2F6F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E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1%</c:v>
                  </c:pt>
                  <c:pt idx="1">
                    <c:v>2%</c:v>
                  </c:pt>
                  <c:pt idx="2">
                    <c:v>3%</c:v>
                  </c:pt>
                  <c:pt idx="3">
                    <c:v>4%</c:v>
                  </c:pt>
                  <c:pt idx="4">
                    <c:v>5%</c:v>
                  </c:pt>
                  <c:pt idx="5">
                    <c:v>6%</c:v>
                  </c:pt>
                  <c:pt idx="6">
                    <c:v>8%</c:v>
                  </c:pt>
                  <c:pt idx="7">
                    <c:v>10%</c:v>
                  </c:pt>
                  <c:pt idx="8">
                    <c:v>12.5%</c:v>
                  </c:pt>
                  <c:pt idx="9">
                    <c:v>15%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23.09</c:v>
                </c:pt>
                <c:pt idx="1">
                  <c:v>17.86</c:v>
                </c:pt>
                <c:pt idx="2">
                  <c:v>14.68</c:v>
                </c:pt>
                <c:pt idx="3">
                  <c:v>12.35</c:v>
                </c:pt>
                <c:pt idx="4">
                  <c:v>10.44</c:v>
                </c:pt>
                <c:pt idx="5">
                  <c:v>8.82</c:v>
                </c:pt>
                <c:pt idx="6">
                  <c:v>6.25</c:v>
                </c:pt>
                <c:pt idx="7">
                  <c:v>4.17</c:v>
                </c:pt>
                <c:pt idx="8">
                  <c:v>3</c:v>
                </c:pt>
                <c:pt idx="9">
                  <c:v>2.25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0F1E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A6B82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A6B82"/>
                    </a:solidFill>
                    <a:latin typeface="+mn-lt"/>
                  </a:rPr>
                  <a:t>Appetite: chance of a breach in some 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 II, Chapter 12. Parts I-III optimized one objective at a time; boards rarely have one. A chief financial officer counts payouts, a chief operating officer savings, a treasury the cash it keeps in reserve. The chapter computes the frontier first and makes the choice second (abstract).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Kahneman's focusing illusion: whichever objective an owner is thinking about looks like the one that matters. The chapter declares all three owners' objectives before any weighting (Section 12.1).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learning outcome statements; LOS Guidance at the end of the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statements and proofs of Theorems 12.1-12.3 are in Appendix 12.A; Propositions 12.1-12.3, how Meridian's frontier is computed (Remark 12.B.1) and every number of the Worked Example and the figures (Example 12.B.2) are in Online Appendix 12.B.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 12.1 and Table 12.1. Chapter 5's value added the payouts and the year-6 savings at a fixed rate and ignored the treasury's reserve; a vector problem keeps the three owners' objectives apart. The ideal point holds each objective's best value; the nadir, each one's worst over the efficient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 12.1; formal statement and proof in Appendix 12.A. Part (ii) is how boards already speak: maximize payouts, provided savings reach $122.5 million a year and the reserve $50 million. Jensen's single objective, with the other owners' claims as constraints, is one point of a frontier, picked by the bounds.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 12.2 and Definition 12.2; formal statement and proof in Appendix 12.A. The price is a declaration like any other. Plans just past a jump in cost are efficient, yet a weighted sum skips them for the plans on either side (Figure 12.2); only bounds and reference points reach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 12.1 and Worked Example 12.1, Steps 2-3. Online Appendix Example 12.B.2: two to three rounds give up 53.72 for 17.5 a year; three to four 69.57 for 8.75; four to five 74.06 for 4.375; five to six 80.23 for 2.1875. Board values: 976.87, 1,021.93, 1,001.75, 952.39 and 884.51.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 12.3; formal statement and proof in Appendix 12.A. Bowman showed that Chebyshev programs reach every efficient plan; Wierzbicki built decisions on reference points. Online Appendix Example 12.B.2: shortfalls 0.390, 0.226 and 0.387 with equal weights; 0.482, 0.484 and 0.360 with the CFO's weight doubled; rho = 0.0001.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 12.1; formal statement and proof in Online Appendix 12.B. Hannan showed goal programming's dominated solutions and their remedy, a second stage; Simon's satisficing is goal programming without it. Worked Example 12.1, Step 5; LOS Guidance 12.4: the first answer leaves $7.72 million unpaid.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 12.2 and the Computational box of Section 12.4; formal statement and proof in Online Appendix 12.B. The previous edition claimed that a bounded hypervolume archive converges to the whole frontier; it cannot, and the V56 statement is for an unbounded archive on a finite set. The course notebook illustrates parts (iii) and (iv) with the lab's own seed, 26212.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 12.2. Evolutionary methods, NSGA-II and MOEA/D among them, earn their keep when plans cannot be enumerated and each evaluation is a simulation; their archives are galleries, to be checked by bounds before the board relies on them (Section 12.4).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 12.3; formal statement and proof in Online Appendix 12.B. Chapter 9's frontier is printed in Online Appendix Example 10.B.2 and drawn in Figure 10.3; the records' family is Worked Example 11.1's. LOS Guidance 12.5 reads $12.35 million at 4 percent and $10.44 million at 5 as about $1.9 million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 12.1, the situation. The program is Chapter 5's: a round costs $120 million and halves the gap to 85 points of efficiency; savings are $10 million a year per point above 71; cash must stay above $350 million, reach $470 million before a round, and end at $470 million. Three rounds paid $455 million.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 12.1, Steps 1-5; Online Appendix Example 12.B.2. Step 3: a price below $3.07 would choose two rounds, and one above $7.95 four. Step 4: on a $1 million grid of reserves, 740 plans are efficient; 287 of them maximize no weighted sum with positive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 12.2 and Worked Example 12.1, Step 4. Online Appendix Example 12.B.2: the best three-round plans are years 1-3 to $85 million (307.72 at 25, 285.00 at 50, 253.18 at 85), years 1, 2, 4 from 86 to 100 (248.25 at 86), and years 1, 3, 4 from 101 to 150 (210.23 at 101, 165.69 at 150). The figure's axis calls the reserve the treasury's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 12.3; Online Appendix Example 12.B.2. Each owner's own best optimizes that owner's objective first and the others after; the board's weighted sum is Chapter 5's value; the goals' first answer is dominated by the second stage's plan, the same savings and reserve with $7.72 million more paid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 12.3 and Worked Example 12.1, Step 5. The treasury's own best is one round in year 1 with a $150 million reserve, payouts 70, 70, 70, 70, 20 and 0, worth 234.31. The figure's axis calls the reserve the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 12.1, what the board should take away, and the discussion questions: which price of savings would you defend to the shareholders, and to the operating teams? When should a board state aspirations rather than prices?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AXIOM Lab 2.12. What to look for: dominated plans that nobody should propose; prices that decide between neighbouring plans; a reserve that costs $0.909 a dollar until a round moves; plans in dents that only aspirations reach; and goals that leave money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Takeaways, Chapter 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and workbook are on the course website, www.dynamiccorporatetransformation.com.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 13 continues Part IV, Multi-Objective and Intelligent Enterprise Optimization: predictive models learned from the enterprise's data by regularized empirical risk minimization, and their place inside the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CT Title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xel-perfect-show-8533/public/brand/dct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4389120" cy="36393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74520"/>
            <a:ext cx="106070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331720"/>
            <a:ext cx="10607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160520"/>
            <a:ext cx="10241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CT Quote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280160" y="1371600"/>
            <a:ext cx="960120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280160" y="5074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CT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xel-perfect-show-8533/public/brand/dct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91656"/>
            <a:ext cx="155448" cy="188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Dynamic Corporate Transformation · Volume II · Chapter 12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CT Dark Content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xel-perfect-show-8533/public/brand/dct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91656"/>
            <a:ext cx="155448" cy="188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Dynamic Corporate Transformation · Volume II · Chapter 12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B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874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VOLUME II · CHAPTER 12 · WEEK 13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331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Enterprise Optimization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1605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Part IV opens: when a program has several owners, compute the frontier first, read its prices, and make the choice second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Graduate course companion · Lab seed 26212 · AXIOM Lab 2.12 (AXIOM-12)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1280160" y="1371600"/>
            <a:ext cx="9601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“Nothing in life is as important as you think it is, while you are thinking about it.”</a:t>
            </a: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28016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Daniel Kahneman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1280160" y="5074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Nobel Memorial Prize in Economic Sciences 2002; “Focusing Illusion,” Edge (2011)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LEARNING OUTCOME STATEMENTS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chapter, you can</a:t>
            </a:r>
            <a:endParaRPr lang="en-US" sz="3200" dirty="0"/>
          </a:p>
        </p:txBody>
      </p:sp>
      <p:sp>
        <p:nvSpPr>
          <p:cNvPr id="5" name="Number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endParaRPr lang="en-US" sz="1300" dirty="0"/>
          </a:p>
        </p:txBody>
      </p:sp>
      <p:sp>
        <p:nvSpPr>
          <p:cNvPr id="7" name="Row text"/>
          <p:cNvSpPr txBox="1"/>
          <p:nvPr/>
        </p:nvSpPr>
        <p:spPr>
          <a:xfrm>
            <a:off x="1325880" y="1691640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why a transformation program is a vector problem, and tell efficient plans from dominated ones.</a:t>
            </a:r>
            <a:endParaRPr lang="en-US" sz="1600" dirty="0"/>
          </a:p>
        </p:txBody>
      </p:sp>
      <p:sp>
        <p:nvSpPr>
          <p:cNvPr id="8" name="Number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</a:t>
            </a:r>
            <a:endParaRPr lang="en-US" sz="1300" dirty="0"/>
          </a:p>
        </p:txBody>
      </p:sp>
      <p:sp>
        <p:nvSpPr>
          <p:cNvPr id="10" name="Row text"/>
          <p:cNvSpPr txBox="1"/>
          <p:nvPr/>
        </p:nvSpPr>
        <p:spPr>
          <a:xfrm>
            <a:off x="1325880" y="2587752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Compute a Pareto frontier: its existence, its characterization by bounds on all objectives but one, and the ideal and nadir points.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548640" y="3529584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</a:t>
            </a:r>
            <a:endParaRPr lang="en-US" sz="1300" dirty="0"/>
          </a:p>
        </p:txBody>
      </p:sp>
      <p:sp>
        <p:nvSpPr>
          <p:cNvPr id="13" name="Row text"/>
          <p:cNvSpPr txBox="1"/>
          <p:nvPr/>
        </p:nvSpPr>
        <p:spPr>
          <a:xfrm>
            <a:off x="1325880" y="3483864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 prices on a frontier: what weighted sums reach and miss, and multipliers as rates at which owners trade.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548640" y="442569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300" dirty="0"/>
          </a:p>
        </p:txBody>
      </p:sp>
      <p:sp>
        <p:nvSpPr>
          <p:cNvPr id="16" name="Row text"/>
          <p:cNvSpPr txBox="1"/>
          <p:nvPr/>
        </p:nvSpPr>
        <p:spPr>
          <a:xfrm>
            <a:off x="1325880" y="4379976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Choose on a frontier with preferences, goals, and reference points, and avoid the dominated answers goals can return.</a:t>
            </a:r>
            <a:endParaRPr lang="en-US" sz="1600" dirty="0"/>
          </a:p>
        </p:txBody>
      </p:sp>
      <p:sp>
        <p:nvSpPr>
          <p:cNvPr id="17" name="Number"/>
          <p:cNvSpPr/>
          <p:nvPr/>
        </p:nvSpPr>
        <p:spPr>
          <a:xfrm>
            <a:off x="548640" y="5321808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321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1300" dirty="0"/>
          </a:p>
        </p:txBody>
      </p:sp>
      <p:sp>
        <p:nvSpPr>
          <p:cNvPr id="19" name="Row text"/>
          <p:cNvSpPr txBox="1"/>
          <p:nvPr/>
        </p:nvSpPr>
        <p:spPr>
          <a:xfrm>
            <a:off x="1325880" y="5276088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Compute frontiers in practice, and read Part III's appetites as frontiers between cost and safety.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sections, a worked example and a lab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Card label"/>
          <p:cNvSpPr txBox="1"/>
          <p:nvPr/>
        </p:nvSpPr>
        <p:spPr>
          <a:xfrm>
            <a:off x="731520" y="181965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§12.1</a:t>
            </a:r>
            <a:endParaRPr lang="en-US" sz="1300" dirty="0"/>
          </a:p>
        </p:txBody>
      </p:sp>
      <p:sp>
        <p:nvSpPr>
          <p:cNvPr id="7" name="Card head"/>
          <p:cNvSpPr txBox="1"/>
          <p:nvPr/>
        </p:nvSpPr>
        <p:spPr>
          <a:xfrm>
            <a:off x="731520" y="214884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Program, Several Owners</a:t>
            </a:r>
            <a:endParaRPr lang="en-US" sz="1500" dirty="0"/>
          </a:p>
        </p:txBody>
      </p:sp>
      <p:sp>
        <p:nvSpPr>
          <p:cNvPr id="8" name="Card text"/>
          <p:cNvSpPr txBox="1"/>
          <p:nvPr/>
        </p:nvSpPr>
        <p:spPr>
          <a:xfrm>
            <a:off x="731520" y="328269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Definition 12.1 · Table 12.1 · Theorem 12.1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90824" y="1691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0" name="Card label"/>
          <p:cNvSpPr txBox="1"/>
          <p:nvPr/>
        </p:nvSpPr>
        <p:spPr>
          <a:xfrm>
            <a:off x="3573704" y="181965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§12.2</a:t>
            </a:r>
            <a:endParaRPr lang="en-US" sz="1300" dirty="0"/>
          </a:p>
        </p:txBody>
      </p:sp>
      <p:sp>
        <p:nvSpPr>
          <p:cNvPr id="11" name="Card head"/>
          <p:cNvSpPr txBox="1"/>
          <p:nvPr/>
        </p:nvSpPr>
        <p:spPr>
          <a:xfrm>
            <a:off x="3573704" y="214884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on a Frontier</a:t>
            </a:r>
            <a:endParaRPr lang="en-US" sz="1500" dirty="0"/>
          </a:p>
        </p:txBody>
      </p:sp>
      <p:sp>
        <p:nvSpPr>
          <p:cNvPr id="12" name="Card text"/>
          <p:cNvSpPr txBox="1"/>
          <p:nvPr/>
        </p:nvSpPr>
        <p:spPr>
          <a:xfrm>
            <a:off x="3573704" y="328269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Definition 12.2 · Theorem 12.2 · Figure 12.1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233008" y="1691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4" name="Card label"/>
          <p:cNvSpPr txBox="1"/>
          <p:nvPr/>
        </p:nvSpPr>
        <p:spPr>
          <a:xfrm>
            <a:off x="6415888" y="181965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§12.3</a:t>
            </a:r>
            <a:endParaRPr lang="en-US" sz="1300" dirty="0"/>
          </a:p>
        </p:txBody>
      </p:sp>
      <p:sp>
        <p:nvSpPr>
          <p:cNvPr id="15" name="Card head"/>
          <p:cNvSpPr txBox="1"/>
          <p:nvPr/>
        </p:nvSpPr>
        <p:spPr>
          <a:xfrm>
            <a:off x="6415888" y="214884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on the Frontier</a:t>
            </a:r>
            <a:endParaRPr lang="en-US" sz="1500" dirty="0"/>
          </a:p>
        </p:txBody>
      </p:sp>
      <p:sp>
        <p:nvSpPr>
          <p:cNvPr id="16" name="Card text"/>
          <p:cNvSpPr txBox="1"/>
          <p:nvPr/>
        </p:nvSpPr>
        <p:spPr>
          <a:xfrm>
            <a:off x="6415888" y="328269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Theorem 12.3 · Proposition 12.1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9075191" y="1691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8" name="Card label"/>
          <p:cNvSpPr txBox="1"/>
          <p:nvPr/>
        </p:nvSpPr>
        <p:spPr>
          <a:xfrm>
            <a:off x="9258071" y="181965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§12.4</a:t>
            </a:r>
            <a:endParaRPr lang="en-US" sz="1300" dirty="0"/>
          </a:p>
        </p:txBody>
      </p:sp>
      <p:sp>
        <p:nvSpPr>
          <p:cNvPr id="19" name="Card head"/>
          <p:cNvSpPr txBox="1"/>
          <p:nvPr/>
        </p:nvSpPr>
        <p:spPr>
          <a:xfrm>
            <a:off x="9258071" y="214884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Frontiers</a:t>
            </a:r>
            <a:endParaRPr lang="en-US" sz="1500" dirty="0"/>
          </a:p>
        </p:txBody>
      </p:sp>
      <p:sp>
        <p:nvSpPr>
          <p:cNvPr id="20" name="Card text"/>
          <p:cNvSpPr txBox="1"/>
          <p:nvPr/>
        </p:nvSpPr>
        <p:spPr>
          <a:xfrm>
            <a:off x="9258071" y="328269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Proposition 12.2 · Table 12.2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548640" y="406908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22" name="Card label"/>
          <p:cNvSpPr txBox="1"/>
          <p:nvPr/>
        </p:nvSpPr>
        <p:spPr>
          <a:xfrm>
            <a:off x="731520" y="419709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§12.5</a:t>
            </a:r>
            <a:endParaRPr lang="en-US" sz="1300" dirty="0"/>
          </a:p>
        </p:txBody>
      </p:sp>
      <p:sp>
        <p:nvSpPr>
          <p:cNvPr id="23" name="Card head"/>
          <p:cNvSpPr txBox="1"/>
          <p:nvPr/>
        </p:nvSpPr>
        <p:spPr>
          <a:xfrm>
            <a:off x="731520" y="452628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Frontiers under Uncertainty</a:t>
            </a:r>
            <a:endParaRPr lang="en-US" sz="1500" dirty="0"/>
          </a:p>
        </p:txBody>
      </p:sp>
      <p:sp>
        <p:nvSpPr>
          <p:cNvPr id="24" name="Card text"/>
          <p:cNvSpPr txBox="1"/>
          <p:nvPr/>
        </p:nvSpPr>
        <p:spPr>
          <a:xfrm>
            <a:off x="731520" y="566013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Proposition 12.3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3390824" y="406908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26" name="Card label"/>
          <p:cNvSpPr txBox="1"/>
          <p:nvPr/>
        </p:nvSpPr>
        <p:spPr>
          <a:xfrm>
            <a:off x="3573704" y="419709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Worked Example 12.1</a:t>
            </a:r>
            <a:endParaRPr lang="en-US" sz="1300" dirty="0"/>
          </a:p>
        </p:txBody>
      </p:sp>
      <p:sp>
        <p:nvSpPr>
          <p:cNvPr id="27" name="Card head"/>
          <p:cNvSpPr txBox="1"/>
          <p:nvPr/>
        </p:nvSpPr>
        <p:spPr>
          <a:xfrm>
            <a:off x="3573704" y="452628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Objective Runs the Automation Program?</a:t>
            </a:r>
            <a:endParaRPr lang="en-US" sz="1500" dirty="0"/>
          </a:p>
        </p:txBody>
      </p:sp>
      <p:sp>
        <p:nvSpPr>
          <p:cNvPr id="28" name="Card text"/>
          <p:cNvSpPr txBox="1"/>
          <p:nvPr/>
        </p:nvSpPr>
        <p:spPr>
          <a:xfrm>
            <a:off x="3573704" y="566013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Table 12.3 · Figures 12.2–12.3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233008" y="406908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30" name="Card label"/>
          <p:cNvSpPr txBox="1"/>
          <p:nvPr/>
        </p:nvSpPr>
        <p:spPr>
          <a:xfrm>
            <a:off x="6415888" y="4197096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AXIOM Lab 2.12</a:t>
            </a:r>
            <a:endParaRPr lang="en-US" sz="1300" dirty="0"/>
          </a:p>
        </p:txBody>
      </p:sp>
      <p:sp>
        <p:nvSpPr>
          <p:cNvPr id="31" name="Card head"/>
          <p:cNvSpPr txBox="1"/>
          <p:nvPr/>
        </p:nvSpPr>
        <p:spPr>
          <a:xfrm>
            <a:off x="6415888" y="4526280"/>
            <a:ext cx="22021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First: Payouts, Savings, and the Reserve</a:t>
            </a:r>
            <a:endParaRPr lang="en-US" sz="1500" dirty="0"/>
          </a:p>
        </p:txBody>
      </p:sp>
      <p:sp>
        <p:nvSpPr>
          <p:cNvPr id="32" name="Card text"/>
          <p:cNvSpPr txBox="1"/>
          <p:nvPr/>
        </p:nvSpPr>
        <p:spPr>
          <a:xfrm>
            <a:off x="6415888" y="5660136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AXIOM-12 · five steps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§12.1 · DEFINITION 12.1 · TABLE 12.1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value hides an agreement nobody made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32990"/>
                <a:gridCol w="4630712"/>
                <a:gridCol w="46307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objective (Chapters 2–11)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vector of objectives (this chapter)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criterion, others as commitments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owner's criterion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best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efficient plans, then a choice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 of the commitments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of trade between owners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chooses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whoever wrote the objective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board, after seeing the frontier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weights inside the objective are wrong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frontier is skipped and a weighting assumed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ead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Definition 12.1: a plan is efficient when no plan is at least as good for every owner and better for one; the efficient vectors form the Pareto frontier.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§12.1 · THEOREM 12.1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plans exist, and bounds trace them all</a:t>
            </a:r>
            <a:endParaRPr lang="en-US" sz="3200" dirty="0"/>
          </a:p>
        </p:txBody>
      </p:sp>
      <p:sp>
        <p:nvSpPr>
          <p:cNvPr id="5" name="Result card"/>
          <p:cNvSpPr/>
          <p:nvPr/>
        </p:nvSpPr>
        <p:spPr>
          <a:xfrm>
            <a:off x="54864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92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THEOREM 12.1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Frontiers</a:t>
            </a:r>
            <a:endParaRPr lang="en-US" sz="2100" dirty="0"/>
          </a:p>
        </p:txBody>
      </p:sp>
      <p:pic>
        <p:nvPicPr>
          <p:cNvPr id="8" name="Equation" descr="Equation: \max_{\mathbf{x} \in X}\;\mathbf{F}(\mathbf{x}) = \bigl(f_1(\mathbf{x}),\, \dots,\, f_k(\mathbf{x})\big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43200"/>
            <a:ext cx="2883049" cy="457200"/>
          </a:xfrm>
          <a:prstGeom prst="rect">
            <a:avLst/>
          </a:prstGeom>
        </p:spPr>
      </p:pic>
      <p:sp>
        <p:nvSpPr>
          <p:cNvPr id="9" name="Bullets"/>
          <p:cNvSpPr txBox="1"/>
          <p:nvPr/>
        </p:nvSpPr>
        <p:spPr>
          <a:xfrm>
            <a:off x="822960" y="3364992"/>
            <a:ext cx="5394960" cy="2670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(i) Existence.</a:t>
            </a:r>
            <a:r>
              <a:rPr lang="en-US" sz="1500" dirty="0">
                <a:solidFill>
                  <a:schemeClr val="tx1"/>
                </a:solidFill>
              </a:rPr>
              <a:t> On a closed bounded set efficient plans exist, and every plan is efficient or dominated by one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(ii) Bounds on all but one.</a:t>
            </a:r>
            <a:r>
              <a:rPr lang="en-US" sz="1500" dirty="0">
                <a:solidFill>
                  <a:schemeClr val="tx1"/>
                </a:solidFill>
              </a:rPr>
              <a:t> A plan is efficient exactly when it maximizes each objective given the others; no convexity needed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(iii) The ideal point.</a:t>
            </a:r>
            <a:r>
              <a:rPr lang="en-US" sz="1500" dirty="0">
                <a:solidFill>
                  <a:schemeClr val="tx1"/>
                </a:solidFill>
              </a:rPr>
              <a:t> Reached only when the frontier is that single point; otherwise every efficient plan gives something up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173736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Meridian's three owners</a:t>
            </a:r>
            <a:endParaRPr lang="en-US" sz="1600" dirty="0"/>
          </a:p>
        </p:txBody>
      </p:sp>
      <p:sp>
        <p:nvSpPr>
          <p:cNvPr id="11" name="Bullets"/>
          <p:cNvSpPr txBox="1"/>
          <p:nvPr/>
        </p:nvSpPr>
        <p:spPr>
          <a:xfrm>
            <a:off x="6903720" y="2194560"/>
            <a:ext cx="4739335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CFO: the payouts' present value; COO: year-6 savings; treasury: a </a:t>
            </a:r>
            <a:r>
              <a:rPr lang="en-US" sz="1600" b="1" dirty="0">
                <a:solidFill>
                  <a:schemeClr val="tx1"/>
                </a:solidFill>
              </a:rPr>
              <a:t>reserve</a:t>
            </a:r>
            <a:r>
              <a:rPr lang="en-US" sz="1600" dirty="0">
                <a:solidFill>
                  <a:schemeClr val="tx1"/>
                </a:solidFill>
              </a:rPr>
              <a:t> on every commitment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reserve: all </a:t>
            </a:r>
            <a:r>
              <a:rPr lang="en-US" sz="1600" b="1" dirty="0">
                <a:solidFill>
                  <a:schemeClr val="tx1"/>
                </a:solidFill>
              </a:rPr>
              <a:t>64</a:t>
            </a:r>
            <a:r>
              <a:rPr lang="en-US" sz="1600" dirty="0">
                <a:solidFill>
                  <a:schemeClr val="tx1"/>
                </a:solidFill>
              </a:rPr>
              <a:t> schedules keep the commitments; </a:t>
            </a:r>
            <a:r>
              <a:rPr lang="en-US" sz="1600" b="1" dirty="0">
                <a:solidFill>
                  <a:schemeClr val="tx1"/>
                </a:solidFill>
              </a:rPr>
              <a:t>59</a:t>
            </a:r>
            <a:r>
              <a:rPr lang="en-US" sz="1600" dirty="0">
                <a:solidFill>
                  <a:schemeClr val="tx1"/>
                </a:solidFill>
              </a:rPr>
              <a:t> are dominated, </a:t>
            </a:r>
            <a:r>
              <a:rPr lang="en-US" sz="1600" b="1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 efficient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round is dominated by two, which pays more and saves more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ideal, $384.17m of payouts with $137.81m a year, is out of reach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§12.2 · DEFINITION 12.2 · THEOREM 12.2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sums reveal prices but miss the dents</a:t>
            </a:r>
            <a:endParaRPr lang="en-US" sz="3200" dirty="0"/>
          </a:p>
        </p:txBody>
      </p:sp>
      <p:sp>
        <p:nvSpPr>
          <p:cNvPr id="5" name="Result card"/>
          <p:cNvSpPr/>
          <p:nvPr/>
        </p:nvSpPr>
        <p:spPr>
          <a:xfrm>
            <a:off x="54864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92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THEOREM 12.2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Sums and Trade-Off Prices</a:t>
            </a:r>
            <a:endParaRPr lang="en-US" sz="2100" dirty="0"/>
          </a:p>
        </p:txBody>
      </p:sp>
      <p:pic>
        <p:nvPicPr>
          <p:cNvPr id="8" name="Equation" descr="Equation: \max_{\mathbf{x} \in X}\;\mathbf{w}^{\top}\mathbf{F}(\mathbf{x}) \qquad \varphi_j(\boldsymbol{\varepsilon}) = \max\bigl\{f_j(\mathbf{x}) : f_i(\mathbf{x}) \ge \varepsilon_i,\ i \ne j\bigr\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43200"/>
            <a:ext cx="5049982" cy="457200"/>
          </a:xfrm>
          <a:prstGeom prst="rect">
            <a:avLst/>
          </a:prstGeom>
        </p:spPr>
      </p:pic>
      <p:sp>
        <p:nvSpPr>
          <p:cNvPr id="9" name="Bullets"/>
          <p:cNvSpPr txBox="1"/>
          <p:nvPr/>
        </p:nvSpPr>
        <p:spPr>
          <a:xfrm>
            <a:off x="822960" y="3364992"/>
            <a:ext cx="5394960" cy="2670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(i) Weighted sums</a:t>
            </a:r>
            <a:r>
              <a:rPr lang="en-US" sz="1500" dirty="0">
                <a:solidFill>
                  <a:schemeClr val="tx1"/>
                </a:solidFill>
              </a:rPr>
              <a:t> with positive weights find efficient plans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(ii) The convex case.</a:t>
            </a:r>
            <a:r>
              <a:rPr lang="en-US" sz="1500" dirty="0">
                <a:solidFill>
                  <a:schemeClr val="tx1"/>
                </a:solidFill>
              </a:rPr>
              <a:t> Every weakly efficient plan maximizes some weighted sum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(iii) Dents.</a:t>
            </a:r>
            <a:r>
              <a:rPr lang="en-US" sz="1500" dirty="0">
                <a:solidFill>
                  <a:schemeClr val="tx1"/>
                </a:solidFill>
              </a:rPr>
              <a:t> If an average of plans beats a plan in every objective, no weights pick it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(iv) Prices.</a:t>
            </a:r>
            <a:r>
              <a:rPr lang="en-US" sz="1500" dirty="0">
                <a:solidFill>
                  <a:schemeClr val="tx1"/>
                </a:solidFill>
              </a:rPr>
              <a:t> The bounds' multipliers are the slopes of the trade-off surface: the rates at which owners trade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173736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Meridian's prices</a:t>
            </a:r>
            <a:endParaRPr lang="en-US" sz="1600" dirty="0"/>
          </a:p>
        </p:txBody>
      </p:sp>
      <p:sp>
        <p:nvSpPr>
          <p:cNvPr id="11" name="Bullets"/>
          <p:cNvSpPr txBox="1"/>
          <p:nvPr/>
        </p:nvSpPr>
        <p:spPr>
          <a:xfrm>
            <a:off x="6903720" y="2194560"/>
            <a:ext cx="4739335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Chapter 5's value is a weighted sum: a dollar a year of savings at 1.1</a:t>
            </a:r>
            <a:r>
              <a:rPr lang="en-US" sz="1600" baseline="30000" dirty="0">
                <a:solidFill>
                  <a:schemeClr val="tx1"/>
                </a:solidFill>
              </a:rPr>
              <a:t>−6</a:t>
            </a:r>
            <a:r>
              <a:rPr lang="en-US" sz="1600" dirty="0">
                <a:solidFill>
                  <a:schemeClr val="tx1"/>
                </a:solidFill>
              </a:rPr>
              <a:t>/0.10 = </a:t>
            </a:r>
            <a:r>
              <a:rPr lang="en-US" sz="1600" b="1" dirty="0">
                <a:solidFill>
                  <a:schemeClr val="tx1"/>
                </a:solidFill>
              </a:rPr>
              <a:t>$5.645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Its answer, three rounds, is efficient; a board valuing savings more would run more rounds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reserve's multiplier: </a:t>
            </a:r>
            <a:r>
              <a:rPr lang="en-US" sz="1600" b="1" dirty="0">
                <a:solidFill>
                  <a:schemeClr val="tx1"/>
                </a:solidFill>
              </a:rPr>
              <a:t>$0.909</a:t>
            </a:r>
            <a:r>
              <a:rPr lang="en-US" sz="1600" dirty="0">
                <a:solidFill>
                  <a:schemeClr val="tx1"/>
                </a:solidFill>
              </a:rPr>
              <a:t> of payouts per dollar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Whole rounds and the reserve make dents that weights skip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§12.2 · FIGURE 12.1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efficient plans, four prices between them</a:t>
            </a:r>
            <a:endParaRPr lang="en-US" sz="32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91640"/>
            <a:ext cx="3811109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(a) Of 64 schedules of whole rounds, </a:t>
            </a:r>
            <a:r>
              <a:rPr lang="en-US" sz="1500" b="1" dirty="0">
                <a:solidFill>
                  <a:schemeClr val="tx1"/>
                </a:solidFill>
              </a:rPr>
              <a:t>59</a:t>
            </a:r>
            <a:r>
              <a:rPr lang="en-US" sz="1500" dirty="0">
                <a:solidFill>
                  <a:schemeClr val="tx1"/>
                </a:solidFill>
              </a:rPr>
              <a:t> are dominated; two to six rounds are efficient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(b) A dollar a year of savings costs </a:t>
            </a:r>
            <a:r>
              <a:rPr lang="en-US" sz="1500" b="1" dirty="0">
                <a:solidFill>
                  <a:schemeClr val="tx1"/>
                </a:solidFill>
              </a:rPr>
              <a:t>$3.07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$7.95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$16.93</a:t>
            </a:r>
            <a:r>
              <a:rPr lang="en-US" sz="1500" dirty="0">
                <a:solidFill>
                  <a:schemeClr val="tx1"/>
                </a:solidFill>
              </a:rPr>
              <a:t> and </a:t>
            </a:r>
            <a:r>
              <a:rPr lang="en-US" sz="1500" b="1" dirty="0">
                <a:solidFill>
                  <a:schemeClr val="tx1"/>
                </a:solidFill>
              </a:rPr>
              <a:t>$36.68</a:t>
            </a:r>
            <a:r>
              <a:rPr lang="en-US" sz="1500" dirty="0">
                <a:solidFill>
                  <a:schemeClr val="tx1"/>
                </a:solidFill>
              </a:rPr>
              <a:t> of payouts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board's </a:t>
            </a:r>
            <a:r>
              <a:rPr lang="en-US" sz="1500" b="1" dirty="0">
                <a:solidFill>
                  <a:schemeClr val="tx1"/>
                </a:solidFill>
              </a:rPr>
              <a:t>$5.645</a:t>
            </a:r>
            <a:r>
              <a:rPr lang="en-US" sz="1500" dirty="0">
                <a:solidFill>
                  <a:schemeClr val="tx1"/>
                </a:solidFill>
              </a:rPr>
              <a:t> touches the frontier at three rounds: </a:t>
            </a:r>
            <a:r>
              <a:rPr lang="en-US" sz="1500" b="1" dirty="0">
                <a:solidFill>
                  <a:schemeClr val="tx1"/>
                </a:solidFill>
              </a:rPr>
              <a:t>$1,021.93m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Below $3.07 a board would pick two rounds; above $7.95, four</a:t>
            </a:r>
            <a:endParaRPr lang="en-US" sz="1500" dirty="0"/>
          </a:p>
        </p:txBody>
      </p:sp>
      <p:pic>
        <p:nvPicPr>
          <p:cNvPr id="6" name="Figure" descr="Figure 12.1: the frontier fi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509" y="1813985"/>
            <a:ext cx="6917546" cy="366894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725509" y="5556079"/>
            <a:ext cx="6917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Figure 12.1. (a) The 64 schedules with no reserve: savings in year 6 against the payouts' present value. (b) Prices between neighbouring efficient plans, and Chapter 5's board value at $5.645.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§12.3 · THEOREM 12.3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reference point reaches every efficient plan</a:t>
            </a:r>
            <a:endParaRPr lang="en-US" sz="3200" dirty="0"/>
          </a:p>
        </p:txBody>
      </p:sp>
      <p:pic>
        <p:nvPicPr>
          <p:cNvPr id="5" name="Equation" descr="Equation: \min_{\mathbf{x} \in X}\;\max_{j}\, w_j\bigl(r_j - f_j(\mathbf{x})\bigr) \;+\; \rho \sum_{j}\bigl(r_j - f_j(\mathbf{x})\big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836" y="1828800"/>
            <a:ext cx="5588024" cy="777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27432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The augmented Chebyshev program: the least largest weighted shortfall from an aspiration</a:t>
            </a:r>
            <a:endParaRPr lang="en-US" sz="1600" dirty="0"/>
          </a:p>
        </p:txBody>
      </p:sp>
      <p:sp>
        <p:nvSpPr>
          <p:cNvPr id="7" name="Bullets"/>
          <p:cNvSpPr txBox="1"/>
          <p:nvPr/>
        </p:nvSpPr>
        <p:spPr>
          <a:xfrm>
            <a:off x="914400" y="3337560"/>
            <a:ext cx="10362895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Theorem 12.3.</a:t>
            </a:r>
            <a:r>
              <a:rPr lang="en-US" sz="1700" dirty="0">
                <a:solidFill>
                  <a:schemeClr val="bg1"/>
                </a:solidFill>
              </a:rPr>
              <a:t> Its solutions are efficient; with the reference above the ideal, every efficient plan is chosen for some weights, the plans in dents included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Equal weights, shortfalls as shares of the ranges: years 1, 2 and 4 with a </a:t>
            </a:r>
            <a:r>
              <a:rPr lang="en-US" sz="1700" b="1" dirty="0">
                <a:solidFill>
                  <a:schemeClr val="bg1"/>
                </a:solidFill>
              </a:rPr>
              <a:t>$92m</a:t>
            </a:r>
            <a:r>
              <a:rPr lang="en-US" sz="1700" dirty="0">
                <a:solidFill>
                  <a:schemeClr val="bg1"/>
                </a:solidFill>
              </a:rPr>
              <a:t> reserve, </a:t>
            </a:r>
            <a:r>
              <a:rPr lang="en-US" sz="1700" b="1" dirty="0">
                <a:solidFill>
                  <a:schemeClr val="bg1"/>
                </a:solidFill>
              </a:rPr>
              <a:t>$242.80m</a:t>
            </a:r>
            <a:r>
              <a:rPr lang="en-US" sz="1700" dirty="0">
                <a:solidFill>
                  <a:schemeClr val="bg1"/>
                </a:solidFill>
              </a:rPr>
              <a:t>, a plan no prices reach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CFO weighted twice: two rounds with a </a:t>
            </a:r>
            <a:r>
              <a:rPr lang="en-US" sz="1700" b="1" dirty="0">
                <a:solidFill>
                  <a:schemeClr val="bg1"/>
                </a:solidFill>
              </a:rPr>
              <a:t>$96m</a:t>
            </a:r>
            <a:r>
              <a:rPr lang="en-US" sz="1700" dirty="0">
                <a:solidFill>
                  <a:schemeClr val="bg1"/>
                </a:solidFill>
              </a:rPr>
              <a:t> reserve, </a:t>
            </a:r>
            <a:r>
              <a:rPr lang="en-US" sz="1700" b="1" dirty="0">
                <a:solidFill>
                  <a:schemeClr val="bg1"/>
                </a:solidFill>
              </a:rPr>
              <a:t>$296.90m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B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§12.3 · PROPOSITION 12.1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that can all be met need a second stage</a:t>
            </a:r>
            <a:endParaRPr lang="en-US" sz="3200" dirty="0"/>
          </a:p>
        </p:txBody>
      </p:sp>
      <p:sp>
        <p:nvSpPr>
          <p:cNvPr id="5" name="Column card"/>
          <p:cNvSpPr/>
          <p:nvPr/>
        </p:nvSpPr>
        <p:spPr>
          <a:xfrm>
            <a:off x="548640" y="1691640"/>
            <a:ext cx="5410048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alone: years 1, 2, 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$300.00m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07792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paid: just the goal, of $300.05m available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991.48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59352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board value: a dominated plan</a:t>
            </a:r>
            <a:endParaRPr lang="en-US" sz="1300" dirty="0"/>
          </a:p>
        </p:txBody>
      </p:sp>
      <p:sp>
        <p:nvSpPr>
          <p:cNvPr id="11" name="Order sign"/>
          <p:cNvSpPr txBox="1"/>
          <p:nvPr/>
        </p:nvSpPr>
        <p:spPr>
          <a:xfrm>
            <a:off x="5912968" y="28117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&lt;</a:t>
            </a:r>
            <a:endParaRPr lang="en-US" sz="2200" dirty="0"/>
          </a:p>
        </p:txBody>
      </p:sp>
      <p:sp>
        <p:nvSpPr>
          <p:cNvPr id="12" name="Column card"/>
          <p:cNvSpPr/>
          <p:nvPr/>
        </p:nvSpPr>
        <p:spPr>
          <a:xfrm>
            <a:off x="6233008" y="1691640"/>
            <a:ext cx="5410048" cy="2788920"/>
          </a:xfrm>
          <a:prstGeom prst="roundRect">
            <a:avLst>
              <a:gd name="adj" fmla="val 2623"/>
            </a:avLst>
          </a:prstGeom>
          <a:solidFill>
            <a:schemeClr val="tx1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5888" y="182880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stage: years 1–3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15888" y="237744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$307.72m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15888" y="2907792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 most payouts among plans meeting every goal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15888" y="342900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999.21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415888" y="3959352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board value: $7.72m more paid out</a:t>
            </a:r>
            <a:endParaRPr lang="en-US" sz="1300" dirty="0"/>
          </a:p>
        </p:txBody>
      </p:sp>
      <p:sp>
        <p:nvSpPr>
          <p:cNvPr id="18" name="Bullets"/>
          <p:cNvSpPr txBox="1"/>
          <p:nvPr/>
        </p:nvSpPr>
        <p:spPr>
          <a:xfrm>
            <a:off x="548640" y="4800600"/>
            <a:ext cx="11094415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Proposition 12.1(ii).</a:t>
            </a:r>
            <a:r>
              <a:rPr lang="en-US" sz="1600" dirty="0">
                <a:solidFill>
                  <a:schemeClr val="tx1"/>
                </a:solidFill>
              </a:rPr>
              <a:t> When goals can all be met, every plan meeting them is a solution, dominated ones too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Goals: payouts of $300m, savings of $122.5m a year, a $25m reserve; three schedules meet them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second stage that maximizes a strictly increasing preference returns an efficient 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§12.4 · PROPOSITION 12.2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Sweeping weights finds only the supported plans</a:t>
            </a:r>
            <a:endParaRPr lang="en-US" sz="3200" dirty="0"/>
          </a:p>
        </p:txBody>
      </p:sp>
      <p:sp>
        <p:nvSpPr>
          <p:cNvPr id="5" name="Result card"/>
          <p:cNvSpPr/>
          <p:nvPr/>
        </p:nvSpPr>
        <p:spPr>
          <a:xfrm>
            <a:off x="54864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92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PROPOSITION 12.2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Frontiers</a:t>
            </a:r>
            <a:endParaRPr lang="en-US" sz="2100" dirty="0"/>
          </a:p>
        </p:txBody>
      </p:sp>
      <p:sp>
        <p:nvSpPr>
          <p:cNvPr id="8" name="Bullets"/>
          <p:cNvSpPr txBox="1"/>
          <p:nvPr/>
        </p:nvSpPr>
        <p:spPr>
          <a:xfrm>
            <a:off x="822960" y="2743200"/>
            <a:ext cx="53949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(i) Bracketing.</a:t>
            </a:r>
            <a:r>
              <a:rPr lang="en-US" sz="1500" dirty="0">
                <a:solidFill>
                  <a:schemeClr val="tx1"/>
                </a:solidFill>
              </a:rPr>
              <a:t> With two objectives, bounds at rising levels box the frontier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(ii) Hypervolume.</a:t>
            </a:r>
            <a:r>
              <a:rPr lang="en-US" sz="1500" dirty="0">
                <a:solidFill>
                  <a:schemeClr val="tx1"/>
                </a:solidFill>
              </a:rPr>
              <a:t> On a finite set, the m points that dominate the most hold only efficient points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(iii) Weights are not enough.</a:t>
            </a:r>
            <a:r>
              <a:rPr lang="en-US" sz="1500" dirty="0">
                <a:solidFill>
                  <a:schemeClr val="tx1"/>
                </a:solidFill>
              </a:rPr>
              <a:t> Sweeps find supported plans; dents need bounds or reference points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(iv) Evolutionary search.</a:t>
            </a:r>
            <a:r>
              <a:rPr lang="en-US" sz="1500" dirty="0">
                <a:solidFill>
                  <a:schemeClr val="tx1"/>
                </a:solidFill>
              </a:rPr>
              <a:t> An archive that keeps every undominated plan ends with the efficient set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173736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Meridian's frontier, computed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6903720" y="2194560"/>
            <a:ext cx="4739335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9,664</a:t>
            </a:r>
            <a:r>
              <a:rPr lang="en-US" sz="1600" dirty="0">
                <a:solidFill>
                  <a:schemeClr val="tx1"/>
                </a:solidFill>
              </a:rPr>
              <a:t> payout programs, each solved by HiGHS in under two milliseconds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740</a:t>
            </a:r>
            <a:r>
              <a:rPr lang="en-US" sz="1600" dirty="0">
                <a:solidFill>
                  <a:schemeClr val="tx1"/>
                </a:solidFill>
              </a:rPr>
              <a:t> efficient plans, one small program each to test support: about 20 seconds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453</a:t>
            </a:r>
            <a:r>
              <a:rPr lang="en-US" sz="1600" dirty="0">
                <a:solidFill>
                  <a:schemeClr val="tx1"/>
                </a:solidFill>
              </a:rPr>
              <a:t> supported; </a:t>
            </a:r>
            <a:r>
              <a:rPr lang="en-US" sz="1600" b="1" dirty="0">
                <a:solidFill>
                  <a:schemeClr val="tx1"/>
                </a:solidFill>
              </a:rPr>
              <a:t>287</a:t>
            </a:r>
            <a:r>
              <a:rPr lang="en-US" sz="1600" dirty="0">
                <a:solidFill>
                  <a:schemeClr val="tx1"/>
                </a:solidFill>
              </a:rPr>
              <a:t> in dents, with reserves from $86m to $149m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Evolutionary archives are galleries: check them by bounds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§12.4 · TABLE 12.2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methods: what each finds, what to watch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82508"/>
                <a:gridCol w="2910011"/>
                <a:gridCol w="3546575"/>
                <a:gridCol w="2455321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sums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plans; prices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for positive weights (Theorem 12.2)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Bounds (ε-constraints)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efficient plan; the trade-off surface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characterization (Theorem 12.1)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ties: solutions only weakly efficient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efficient plan, by aspiration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complete, with no convexity (Theorem 12.3)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points below the ideal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programming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plan that meets targets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after a second stage (Proposition 12.1)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that can all be met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gallery of plans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statistical, not certified (Proposition 12.2)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archives that forget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§12.5 · PROPOSITION 12.3 · FIGURE 10.3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appetite is a point on a cost–safety frontier</a:t>
            </a:r>
            <a:endParaRPr lang="en-US" sz="3200" dirty="0"/>
          </a:p>
        </p:txBody>
      </p:sp>
      <p:graphicFrame>
        <p:nvGraphicFramePr>
          <p:cNvPr id="5" name="Chart" descr=""/>
          <p:cNvGraphicFramePr/>
          <p:nvPr/>
        </p:nvGraphicFramePr>
        <p:xfrm>
          <a:off x="548640" y="1691640"/>
          <a:ext cx="5547208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ullets"/>
          <p:cNvSpPr txBox="1"/>
          <p:nvPr/>
        </p:nvSpPr>
        <p:spPr>
          <a:xfrm>
            <a:off x="6461608" y="1691640"/>
            <a:ext cx="5181448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Proposition 12.3(i).</a:t>
            </a:r>
            <a:r>
              <a:rPr lang="en-US" sz="1600" dirty="0">
                <a:solidFill>
                  <a:schemeClr val="tx1"/>
                </a:solidFill>
              </a:rPr>
              <a:t> The least cost never rises with the appetite; its slope is the appetite's price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$12.35m</a:t>
            </a:r>
            <a:r>
              <a:rPr lang="en-US" sz="1600" dirty="0">
                <a:solidFill>
                  <a:schemeClr val="tx1"/>
                </a:solidFill>
              </a:rPr>
              <a:t> at 4%, </a:t>
            </a:r>
            <a:r>
              <a:rPr lang="en-US" sz="1600" b="1" dirty="0">
                <a:solidFill>
                  <a:schemeClr val="tx1"/>
                </a:solidFill>
              </a:rPr>
              <a:t>$10.44m</a:t>
            </a:r>
            <a:r>
              <a:rPr lang="en-US" sz="1600" dirty="0">
                <a:solidFill>
                  <a:schemeClr val="tx1"/>
                </a:solidFill>
              </a:rPr>
              <a:t> at 5%, </a:t>
            </a:r>
            <a:r>
              <a:rPr lang="en-US" sz="1600" b="1" dirty="0">
                <a:solidFill>
                  <a:schemeClr val="tx1"/>
                </a:solidFill>
              </a:rPr>
              <a:t>$8.82m</a:t>
            </a:r>
            <a:r>
              <a:rPr lang="en-US" sz="1600" dirty="0">
                <a:solidFill>
                  <a:schemeClr val="tx1"/>
                </a:solidFill>
              </a:rPr>
              <a:t> at 6%: a point is worth about </a:t>
            </a:r>
            <a:r>
              <a:rPr lang="en-US" sz="1600" b="1" dirty="0">
                <a:solidFill>
                  <a:schemeClr val="tx1"/>
                </a:solidFill>
              </a:rPr>
              <a:t>$1.6–1.9m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(ii)</a:t>
            </a:r>
            <a:r>
              <a:rPr lang="en-US" sz="1600" dirty="0">
                <a:solidFill>
                  <a:schemeClr val="tx1"/>
                </a:solidFill>
              </a:rPr>
              <a:t> A family of laws never lowers it: Chapter 11's records' family, </a:t>
            </a:r>
            <a:r>
              <a:rPr lang="en-US" sz="1600" b="1" dirty="0">
                <a:solidFill>
                  <a:schemeClr val="tx1"/>
                </a:solidFill>
              </a:rPr>
              <a:t>$24.00m</a:t>
            </a:r>
            <a:r>
              <a:rPr lang="en-US" sz="1600" dirty="0">
                <a:solidFill>
                  <a:schemeClr val="tx1"/>
                </a:solidFill>
              </a:rPr>
              <a:t> at 5%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(iii)</a:t>
            </a:r>
            <a:r>
              <a:rPr lang="en-US" sz="1600" dirty="0">
                <a:solidFill>
                  <a:schemeClr val="tx1"/>
                </a:solidFill>
              </a:rPr>
              <a:t> With CVaR the frontier is convex; the chance itself can have dents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THE SITUATION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objective runs the automation program?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15258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Card label"/>
          <p:cNvSpPr txBox="1"/>
          <p:nvPr/>
        </p:nvSpPr>
        <p:spPr>
          <a:xfrm>
            <a:off x="731520" y="1819656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chief financial officer</a:t>
            </a:r>
            <a:endParaRPr lang="en-US" sz="1300" dirty="0"/>
          </a:p>
        </p:txBody>
      </p:sp>
      <p:sp>
        <p:nvSpPr>
          <p:cNvPr id="7" name="Card head"/>
          <p:cNvSpPr txBox="1"/>
          <p:nvPr/>
        </p:nvSpPr>
        <p:spPr>
          <a:xfrm>
            <a:off x="731520" y="2148840"/>
            <a:ext cx="31494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more, sooner</a:t>
            </a:r>
            <a:endParaRPr lang="en-US" sz="2000" dirty="0"/>
          </a:p>
        </p:txBody>
      </p:sp>
      <p:sp>
        <p:nvSpPr>
          <p:cNvPr id="8" name="Card text"/>
          <p:cNvSpPr txBox="1"/>
          <p:nvPr/>
        </p:nvSpPr>
        <p:spPr>
          <a:xfrm>
            <a:off x="731520" y="3163824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Judges a plan by the present value of its payouts at the 10 percent hurdle rate.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0" name="Card label"/>
          <p:cNvSpPr txBox="1"/>
          <p:nvPr/>
        </p:nvSpPr>
        <p:spPr>
          <a:xfrm>
            <a:off x="4521098" y="1819656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chief operating officer</a:t>
            </a:r>
            <a:endParaRPr lang="en-US" sz="1300" dirty="0"/>
          </a:p>
        </p:txBody>
      </p:sp>
      <p:sp>
        <p:nvSpPr>
          <p:cNvPr id="11" name="Card head"/>
          <p:cNvSpPr txBox="1"/>
          <p:nvPr/>
        </p:nvSpPr>
        <p:spPr>
          <a:xfrm>
            <a:off x="4521098" y="2148840"/>
            <a:ext cx="31494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all six rounds</a:t>
            </a:r>
            <a:endParaRPr lang="en-US" sz="2000" dirty="0"/>
          </a:p>
        </p:txBody>
      </p:sp>
      <p:sp>
        <p:nvSpPr>
          <p:cNvPr id="12" name="Card text"/>
          <p:cNvSpPr txBox="1"/>
          <p:nvPr/>
        </p:nvSpPr>
        <p:spPr>
          <a:xfrm>
            <a:off x="4521098" y="3163824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Judges a plan by the run-rate savings it leaves in year 6.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691640"/>
            <a:ext cx="3515258" cy="2788920"/>
          </a:xfrm>
          <a:prstGeom prst="roundRect">
            <a:avLst>
              <a:gd name="adj" fmla="val 2623"/>
            </a:avLst>
          </a:prstGeom>
          <a:solidFill>
            <a:schemeClr val="tx1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14" name="Card label"/>
          <p:cNvSpPr txBox="1"/>
          <p:nvPr/>
        </p:nvSpPr>
        <p:spPr>
          <a:xfrm>
            <a:off x="8310677" y="1819656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treasury</a:t>
            </a:r>
            <a:endParaRPr lang="en-US" sz="1300" dirty="0"/>
          </a:p>
        </p:txBody>
      </p:sp>
      <p:sp>
        <p:nvSpPr>
          <p:cNvPr id="15" name="Card head"/>
          <p:cNvSpPr txBox="1"/>
          <p:nvPr/>
        </p:nvSpPr>
        <p:spPr>
          <a:xfrm>
            <a:off x="8310677" y="2148840"/>
            <a:ext cx="31494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reserve</a:t>
            </a:r>
            <a:endParaRPr lang="en-US" sz="2000" dirty="0"/>
          </a:p>
        </p:txBody>
      </p:sp>
      <p:sp>
        <p:nvSpPr>
          <p:cNvPr id="16" name="Card text"/>
          <p:cNvSpPr txBox="1"/>
          <p:nvPr/>
        </p:nvSpPr>
        <p:spPr>
          <a:xfrm>
            <a:off x="8310677" y="3163824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Judges a plan by the cash it keeps above every one of the board's commitments.</a:t>
            </a:r>
            <a:endParaRPr lang="en-US" sz="1500" dirty="0"/>
          </a:p>
        </p:txBody>
      </p:sp>
      <p:sp>
        <p:nvSpPr>
          <p:cNvPr id="17" name="Lead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Chapter 5's one value chose three rounds in years 1–3, $1,021.93m. The board asks to see the choices.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STEPS 1–5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first, then prices, reserve and choice</a:t>
            </a:r>
            <a:endParaRPr lang="en-US" sz="3200" dirty="0"/>
          </a:p>
        </p:txBody>
      </p:sp>
      <p:sp>
        <p:nvSpPr>
          <p:cNvPr id="5" name="Step card"/>
          <p:cNvSpPr/>
          <p:nvPr/>
        </p:nvSpPr>
        <p:spPr>
          <a:xfrm>
            <a:off x="548640" y="1691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6" name="Number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tep head"/>
          <p:cNvSpPr txBox="1"/>
          <p:nvPr/>
        </p:nvSpPr>
        <p:spPr>
          <a:xfrm>
            <a:off x="1325880" y="1856232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vector problem</a:t>
            </a:r>
            <a:endParaRPr lang="en-US" sz="1700" dirty="0"/>
          </a:p>
        </p:txBody>
      </p:sp>
      <p:sp>
        <p:nvSpPr>
          <p:cNvPr id="9" name="Step text"/>
          <p:cNvSpPr txBox="1"/>
          <p:nvPr/>
        </p:nvSpPr>
        <p:spPr>
          <a:xfrm>
            <a:off x="731520" y="246888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Chapter 5's program; three objectives: the payouts' value, year-6 savings, and the reserve b on every commitment.</a:t>
            </a:r>
            <a:endParaRPr lang="en-US" sz="1500" dirty="0"/>
          </a:p>
        </p:txBody>
      </p:sp>
      <p:sp>
        <p:nvSpPr>
          <p:cNvPr id="10" name="Step card"/>
          <p:cNvSpPr/>
          <p:nvPr/>
        </p:nvSpPr>
        <p:spPr>
          <a:xfrm>
            <a:off x="4338218" y="1691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4521098" y="1874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109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tep head"/>
          <p:cNvSpPr txBox="1"/>
          <p:nvPr/>
        </p:nvSpPr>
        <p:spPr>
          <a:xfrm>
            <a:off x="5115458" y="1856232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first</a:t>
            </a:r>
            <a:endParaRPr lang="en-US" sz="1700" dirty="0"/>
          </a:p>
        </p:txBody>
      </p:sp>
      <p:sp>
        <p:nvSpPr>
          <p:cNvPr id="14" name="Step text"/>
          <p:cNvSpPr txBox="1"/>
          <p:nvPr/>
        </p:nvSpPr>
        <p:spPr>
          <a:xfrm>
            <a:off x="4521098" y="246888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64 schedules feasible, 59 dominated. Five efficient, from $384.17m with $105m a year to $106.59m with $137.81m.</a:t>
            </a:r>
            <a:endParaRPr lang="en-US" sz="1500" dirty="0"/>
          </a:p>
        </p:txBody>
      </p:sp>
      <p:sp>
        <p:nvSpPr>
          <p:cNvPr id="15" name="Step card"/>
          <p:cNvSpPr/>
          <p:nvPr/>
        </p:nvSpPr>
        <p:spPr>
          <a:xfrm>
            <a:off x="8127797" y="1691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6" name="Number"/>
          <p:cNvSpPr/>
          <p:nvPr/>
        </p:nvSpPr>
        <p:spPr>
          <a:xfrm>
            <a:off x="8310677" y="1874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10677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tep head"/>
          <p:cNvSpPr txBox="1"/>
          <p:nvPr/>
        </p:nvSpPr>
        <p:spPr>
          <a:xfrm>
            <a:off x="8905037" y="1856232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Prices, and the choice</a:t>
            </a:r>
            <a:endParaRPr lang="en-US" sz="1700" dirty="0"/>
          </a:p>
        </p:txBody>
      </p:sp>
      <p:sp>
        <p:nvSpPr>
          <p:cNvPr id="19" name="Step text"/>
          <p:cNvSpPr txBox="1"/>
          <p:nvPr/>
        </p:nvSpPr>
        <p:spPr>
          <a:xfrm>
            <a:off x="8310677" y="246888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$3.07, $7.95, $16.93 and $36.68 per dollar a year; the board's $5.645 picks three rounds.</a:t>
            </a:r>
            <a:endParaRPr lang="en-US" sz="1500" dirty="0"/>
          </a:p>
        </p:txBody>
      </p:sp>
      <p:sp>
        <p:nvSpPr>
          <p:cNvPr id="20" name="Step card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21" name="Number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tep head"/>
          <p:cNvSpPr txBox="1"/>
          <p:nvPr/>
        </p:nvSpPr>
        <p:spPr>
          <a:xfrm>
            <a:off x="1325880" y="4233672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treasury's reserve</a:t>
            </a:r>
            <a:endParaRPr lang="en-US" sz="1700" dirty="0"/>
          </a:p>
        </p:txBody>
      </p:sp>
      <p:sp>
        <p:nvSpPr>
          <p:cNvPr id="24" name="Step text"/>
          <p:cNvSpPr txBox="1"/>
          <p:nvPr/>
        </p:nvSpPr>
        <p:spPr>
          <a:xfrm>
            <a:off x="731520" y="484632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$0.909 a dollar. Above $85m and $100m the rounds move later, at $4.02m and $24.38m more; 287 plans sit in dents.</a:t>
            </a:r>
            <a:endParaRPr lang="en-US" sz="1500" dirty="0"/>
          </a:p>
        </p:txBody>
      </p:sp>
      <p:sp>
        <p:nvSpPr>
          <p:cNvPr id="25" name="Step card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26" name="Number"/>
          <p:cNvSpPr/>
          <p:nvPr/>
        </p:nvSpPr>
        <p:spPr>
          <a:xfrm>
            <a:off x="4521098" y="42519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109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tep head"/>
          <p:cNvSpPr txBox="1"/>
          <p:nvPr/>
        </p:nvSpPr>
        <p:spPr>
          <a:xfrm>
            <a:off x="5115458" y="4233672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second</a:t>
            </a:r>
            <a:endParaRPr lang="en-US" sz="1700" dirty="0"/>
          </a:p>
        </p:txBody>
      </p:sp>
      <p:sp>
        <p:nvSpPr>
          <p:cNvPr id="29" name="Step text"/>
          <p:cNvSpPr txBox="1"/>
          <p:nvPr/>
        </p:nvSpPr>
        <p:spPr>
          <a:xfrm>
            <a:off x="4521098" y="484632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Equal aspirations: years 1, 2, 4 with $92m, $242.80m. Goals pay $300.00m; a second stage, $307.72m.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FIGURE 12.2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reserve costs $0.909 until the rounds move</a:t>
            </a:r>
            <a:endParaRPr lang="en-US" sz="32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91640"/>
            <a:ext cx="3811109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dollar of reserve is a year-1 payout held back: </a:t>
            </a:r>
            <a:r>
              <a:rPr lang="en-US" sz="1500" b="1" dirty="0">
                <a:solidFill>
                  <a:schemeClr val="tx1"/>
                </a:solidFill>
              </a:rPr>
              <a:t>$0.909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Above </a:t>
            </a:r>
            <a:r>
              <a:rPr lang="en-US" sz="1500" b="1" dirty="0">
                <a:solidFill>
                  <a:schemeClr val="tx1"/>
                </a:solidFill>
              </a:rPr>
              <a:t>$85m</a:t>
            </a:r>
            <a:r>
              <a:rPr lang="en-US" sz="1500" dirty="0">
                <a:solidFill>
                  <a:schemeClr val="tx1"/>
                </a:solidFill>
              </a:rPr>
              <a:t>, rounds in years 1–3 no longer fit; above </a:t>
            </a:r>
            <a:r>
              <a:rPr lang="en-US" sz="1500" b="1" dirty="0">
                <a:solidFill>
                  <a:schemeClr val="tx1"/>
                </a:solidFill>
              </a:rPr>
              <a:t>$100m</a:t>
            </a:r>
            <a:r>
              <a:rPr lang="en-US" sz="1500" dirty="0">
                <a:solidFill>
                  <a:schemeClr val="tx1"/>
                </a:solidFill>
              </a:rPr>
              <a:t>, rounds in years 1 and 2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rounds move later, at </a:t>
            </a:r>
            <a:r>
              <a:rPr lang="en-US" sz="1500" b="1" dirty="0">
                <a:solidFill>
                  <a:schemeClr val="tx1"/>
                </a:solidFill>
              </a:rPr>
              <a:t>$4.02m</a:t>
            </a:r>
            <a:r>
              <a:rPr lang="en-US" sz="1500" dirty="0">
                <a:solidFill>
                  <a:schemeClr val="tx1"/>
                </a:solidFill>
              </a:rPr>
              <a:t> and </a:t>
            </a:r>
            <a:r>
              <a:rPr lang="en-US" sz="1500" b="1" dirty="0">
                <a:solidFill>
                  <a:schemeClr val="tx1"/>
                </a:solidFill>
              </a:rPr>
              <a:t>$24.38m</a:t>
            </a:r>
            <a:r>
              <a:rPr lang="en-US" sz="1500" dirty="0">
                <a:solidFill>
                  <a:schemeClr val="tx1"/>
                </a:solidFill>
              </a:rPr>
              <a:t> beyond the price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Dashed: plans in dents, efficient yet picked by no weights</a:t>
            </a:r>
            <a:endParaRPr lang="en-US" sz="1500" dirty="0"/>
          </a:p>
        </p:txBody>
      </p:sp>
      <p:pic>
        <p:nvPicPr>
          <p:cNvPr id="6" name="Figure" descr="Figure 12.2: the treasury's reserve and the 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509" y="1756940"/>
            <a:ext cx="6917546" cy="378303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725509" y="5613124"/>
            <a:ext cx="6917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Figure 12.2. Best present value of the payouts against the reserve, by number of rounds: solid where some positive weights pick the plan, dashed where none do; the two Chebyshev choices marked.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TABLE 12.3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by owner and by method of choice</a:t>
            </a:r>
            <a:endParaRPr lang="en-US" sz="32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1946389"/>
                <a:gridCol w="1265153"/>
                <a:gridCol w="1362472"/>
                <a:gridCol w="1362472"/>
                <a:gridCol w="165443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 (years)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CFO's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384.17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976.87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COO's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Treasury's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629.44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value (Chapter 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330.45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1,021.93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Chebyshev, equal weights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934.28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Chebyshev, CFO twice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889.60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Goals, first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991.48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Goals, second stage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307.72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6" name="Table note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$ million; savings in $ million a year. Reserve: the amount by which every cash commitment is kept; payouts at their present value at 10 percent; board value: payouts plus savings at Chapter 5's price, $5.645.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FIGURE 12.3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Aspirations reach a balanced plan in a dent</a:t>
            </a:r>
            <a:endParaRPr lang="en-US" sz="32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91640"/>
            <a:ext cx="3811109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Axes run from worst to best efficient value; board value </a:t>
            </a:r>
            <a:r>
              <a:rPr lang="en-US" sz="1500" b="1" dirty="0">
                <a:solidFill>
                  <a:schemeClr val="tx1"/>
                </a:solidFill>
              </a:rPr>
              <a:t>629.44</a:t>
            </a:r>
            <a:r>
              <a:rPr lang="en-US" sz="1500" dirty="0">
                <a:solidFill>
                  <a:schemeClr val="tx1"/>
                </a:solidFill>
              </a:rPr>
              <a:t> to </a:t>
            </a:r>
            <a:r>
              <a:rPr lang="en-US" sz="1500" b="1" dirty="0">
                <a:solidFill>
                  <a:schemeClr val="tx1"/>
                </a:solidFill>
              </a:rPr>
              <a:t>1,021.93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owners' bests are extreme: the treasury's keeps $150m, saves $70m a year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Equal weights balance all three: shortfalls </a:t>
            </a:r>
            <a:r>
              <a:rPr lang="en-US" sz="1500" b="1" dirty="0">
                <a:solidFill>
                  <a:schemeClr val="tx1"/>
                </a:solidFill>
              </a:rPr>
              <a:t>0.39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0.23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0.39</a:t>
            </a:r>
            <a:r>
              <a:rPr lang="en-US" sz="1500" dirty="0">
                <a:solidFill>
                  <a:schemeClr val="tx1"/>
                </a:solidFill>
              </a:rPr>
              <a:t> of the ranges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goals' first answer, dashed, is dominated by the second stage</a:t>
            </a:r>
            <a:endParaRPr lang="en-US" sz="1500" dirty="0"/>
          </a:p>
        </p:txBody>
      </p:sp>
      <p:pic>
        <p:nvPicPr>
          <p:cNvPr id="6" name="Figure" descr="Figure 12.3: choice seco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509" y="1934082"/>
            <a:ext cx="6917546" cy="3428749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725509" y="5435982"/>
            <a:ext cx="6917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Figure 12.3. Each plan's payouts, savings, reserve and board value: the owners' own bests, the board's weighted sum, the two Chebyshev choices and goal programming's two answers.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 12.1 · WHAT THE BOARD SHOULD TAKE AWAY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price, not the program, picks the rounds</a:t>
            </a:r>
            <a:endParaRPr lang="en-US" sz="3200" dirty="0"/>
          </a:p>
        </p:txBody>
      </p:sp>
      <p:sp>
        <p:nvSpPr>
          <p:cNvPr id="5" name="Stat card"/>
          <p:cNvSpPr/>
          <p:nvPr/>
        </p:nvSpPr>
        <p:spPr>
          <a:xfrm>
            <a:off x="548640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85800" y="1801368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$5.645</a:t>
            </a:r>
            <a:endParaRPr lang="en-US" sz="4400" dirty="0"/>
          </a:p>
        </p:txBody>
      </p:sp>
      <p:sp>
        <p:nvSpPr>
          <p:cNvPr id="7" name="Stat label"/>
          <p:cNvSpPr txBox="1"/>
          <p:nvPr/>
        </p:nvSpPr>
        <p:spPr>
          <a:xfrm>
            <a:off x="685800" y="2697480"/>
            <a:ext cx="32409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board's price of a dollar a year of savings: three rounds; below $3.07 two, above $7.95 four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4338218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4475378" y="1801368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$0.909</a:t>
            </a:r>
            <a:endParaRPr lang="en-US" sz="4400" dirty="0"/>
          </a:p>
        </p:txBody>
      </p:sp>
      <p:sp>
        <p:nvSpPr>
          <p:cNvPr id="10" name="Stat label"/>
          <p:cNvSpPr txBox="1"/>
          <p:nvPr/>
        </p:nvSpPr>
        <p:spPr>
          <a:xfrm>
            <a:off x="4475378" y="2697480"/>
            <a:ext cx="32409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price of a dollar of reserve, until the rounds move at $85m and $100m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8127797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8264957" y="1801368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$7.72m</a:t>
            </a:r>
            <a:endParaRPr lang="en-US" sz="4400" dirty="0"/>
          </a:p>
        </p:txBody>
      </p:sp>
      <p:sp>
        <p:nvSpPr>
          <p:cNvPr id="13" name="Stat label"/>
          <p:cNvSpPr txBox="1"/>
          <p:nvPr/>
        </p:nvSpPr>
        <p:spPr>
          <a:xfrm>
            <a:off x="8264957" y="2697480"/>
            <a:ext cx="32409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left unpaid by goals that can all be met, without a second stage</a:t>
            </a:r>
            <a:endParaRPr lang="en-US" sz="1400" dirty="0"/>
          </a:p>
        </p:txBody>
      </p:sp>
      <p:sp>
        <p:nvSpPr>
          <p:cNvPr id="14" name="Bullets"/>
          <p:cNvSpPr txBox="1"/>
          <p:nvPr/>
        </p:nvSpPr>
        <p:spPr>
          <a:xfrm>
            <a:off x="548640" y="3886200"/>
            <a:ext cx="11094415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plan is best for all three owners, and five of the 64 schedules are worth discussing at all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Balanced plans beyond an $85m reserve are reachable only by stating aspirations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 discussion: which price of savings would you defend to the shareholders, and to the operating teams?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AXIOM LAB 2.12 · MODULE AXIOM-12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Payouts, savings and the reserve, in AXIOM</a:t>
            </a:r>
            <a:endParaRPr lang="en-US" sz="3200" dirty="0"/>
          </a:p>
        </p:txBody>
      </p:sp>
      <p:pic>
        <p:nvPicPr>
          <p:cNvPr id="5" name="AXIOM logo" descr="AXI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310896"/>
            <a:ext cx="2103120" cy="420624"/>
          </a:xfrm>
          <a:prstGeom prst="rect">
            <a:avLst/>
          </a:prstGeom>
        </p:spPr>
      </p:pic>
      <p:sp>
        <p:nvSpPr>
          <p:cNvPr id="6" name="Situation"/>
          <p:cNvSpPr txBox="1"/>
          <p:nvPr/>
        </p:nvSpPr>
        <p:spPr>
          <a:xfrm>
            <a:off x="548640" y="1645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board will not adopt a single measure until it has seen what each owner gives up. Open AXIOM, choose Lab 2.12 and load the Meridian automation instance: Chapter 5's program and the three owners' objectives.</a:t>
            </a:r>
            <a:endParaRPr lang="en-US" sz="1500" dirty="0"/>
          </a:p>
        </p:txBody>
      </p:sp>
      <p:sp>
        <p:nvSpPr>
          <p:cNvPr id="7" name="Flow line"/>
          <p:cNvSpPr/>
          <p:nvPr/>
        </p:nvSpPr>
        <p:spPr>
          <a:xfrm>
            <a:off x="1658082" y="2880360"/>
            <a:ext cx="8875532" cy="0"/>
          </a:xfrm>
          <a:prstGeom prst="line">
            <a:avLst/>
          </a:prstGeom>
          <a:noFill/>
          <a:ln w="25400">
            <a:solidFill>
              <a:srgbClr val="C4CBD8"/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1383762" y="2606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8376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Flow head"/>
          <p:cNvSpPr txBox="1"/>
          <p:nvPr/>
        </p:nvSpPr>
        <p:spPr>
          <a:xfrm>
            <a:off x="621792" y="329184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</a:t>
            </a:r>
            <a:endParaRPr lang="en-US" sz="1600" dirty="0"/>
          </a:p>
        </p:txBody>
      </p:sp>
      <p:sp>
        <p:nvSpPr>
          <p:cNvPr id="11" name="Flow text"/>
          <p:cNvSpPr txBox="1"/>
          <p:nvPr/>
        </p:nvSpPr>
        <p:spPr>
          <a:xfrm>
            <a:off x="640080" y="3867912"/>
            <a:ext cx="20360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Solve the payouts for every schedule; plot payouts against savings; mark the dominated.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3602645" y="2606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02645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Flow head"/>
          <p:cNvSpPr txBox="1"/>
          <p:nvPr/>
        </p:nvSpPr>
        <p:spPr>
          <a:xfrm>
            <a:off x="2840675" y="329184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the frontier</a:t>
            </a:r>
            <a:endParaRPr lang="en-US" sz="1600" dirty="0"/>
          </a:p>
        </p:txBody>
      </p:sp>
      <p:sp>
        <p:nvSpPr>
          <p:cNvPr id="15" name="Flow text"/>
          <p:cNvSpPr txBox="1"/>
          <p:nvPr/>
        </p:nvSpPr>
        <p:spPr>
          <a:xfrm>
            <a:off x="2858963" y="3867912"/>
            <a:ext cx="20360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price between neighbouring efficient plans, and the prices each wins.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5821528" y="2606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2152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Flow head"/>
          <p:cNvSpPr txBox="1"/>
          <p:nvPr/>
        </p:nvSpPr>
        <p:spPr>
          <a:xfrm>
            <a:off x="5059558" y="329184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 the reserve</a:t>
            </a:r>
            <a:endParaRPr lang="en-US" sz="1600" dirty="0"/>
          </a:p>
        </p:txBody>
      </p:sp>
      <p:sp>
        <p:nvSpPr>
          <p:cNvPr id="19" name="Flow text"/>
          <p:cNvSpPr txBox="1"/>
          <p:nvPr/>
        </p:nvSpPr>
        <p:spPr>
          <a:xfrm>
            <a:off x="5077846" y="3867912"/>
            <a:ext cx="20360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Raise the reserve, read its multiplier, find where the rounds move.</a:t>
            </a:r>
            <a:endParaRPr lang="en-US" sz="1400" dirty="0"/>
          </a:p>
        </p:txBody>
      </p:sp>
      <p:sp>
        <p:nvSpPr>
          <p:cNvPr id="20" name="Number"/>
          <p:cNvSpPr/>
          <p:nvPr/>
        </p:nvSpPr>
        <p:spPr>
          <a:xfrm>
            <a:off x="8040411" y="2606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040411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Flow head"/>
          <p:cNvSpPr txBox="1"/>
          <p:nvPr/>
        </p:nvSpPr>
        <p:spPr>
          <a:xfrm>
            <a:off x="7278441" y="329184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</a:t>
            </a:r>
            <a:endParaRPr lang="en-US" sz="1600" dirty="0"/>
          </a:p>
        </p:txBody>
      </p:sp>
      <p:sp>
        <p:nvSpPr>
          <p:cNvPr id="23" name="Flow text"/>
          <p:cNvSpPr txBox="1"/>
          <p:nvPr/>
        </p:nvSpPr>
        <p:spPr>
          <a:xfrm>
            <a:off x="7296729" y="3867912"/>
            <a:ext cx="20360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Aspirations and weights for a Chebyshev choice; goals with and without a second stage.</a:t>
            </a:r>
            <a:endParaRPr lang="en-US" sz="1400" dirty="0"/>
          </a:p>
        </p:txBody>
      </p:sp>
      <p:sp>
        <p:nvSpPr>
          <p:cNvPr id="24" name="Number"/>
          <p:cNvSpPr/>
          <p:nvPr/>
        </p:nvSpPr>
        <p:spPr>
          <a:xfrm>
            <a:off x="10259294" y="2606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25929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Flow head"/>
          <p:cNvSpPr txBox="1"/>
          <p:nvPr/>
        </p:nvSpPr>
        <p:spPr>
          <a:xfrm>
            <a:off x="9497324" y="329184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uncertainty</a:t>
            </a:r>
            <a:endParaRPr lang="en-US" sz="1600" dirty="0"/>
          </a:p>
        </p:txBody>
      </p:sp>
      <p:sp>
        <p:nvSpPr>
          <p:cNvPr id="27" name="Flow text"/>
          <p:cNvSpPr txBox="1"/>
          <p:nvPr/>
        </p:nvSpPr>
        <p:spPr>
          <a:xfrm>
            <a:off x="9515612" y="3867912"/>
            <a:ext cx="20360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Load Chapter 9's packages; read the price of the board's appetite.</a:t>
            </a:r>
            <a:endParaRPr lang="en-US" sz="1400" dirty="0"/>
          </a:p>
        </p:txBody>
      </p:sp>
      <p:sp>
        <p:nvSpPr>
          <p:cNvPr id="28" name="Deliverable card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29" name="Deliverable"/>
          <p:cNvSpPr txBox="1"/>
          <p:nvPr/>
        </p:nvSpPr>
        <p:spPr>
          <a:xfrm>
            <a:off x="777240" y="5559552"/>
            <a:ext cx="1063721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Deliverable:</a:t>
            </a:r>
            <a:r>
              <a:rPr lang="en-US" sz="1400" dirty="0">
                <a:solidFill>
                  <a:schemeClr val="tx1"/>
                </a:solidFill>
              </a:rPr>
              <a:t> a one-page note to the board: the efficient plans, the prices between them, the recommended plan with the prices or aspirations that select it, and what each owner gives up. About 75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forward</a:t>
            </a:r>
            <a:endParaRPr lang="en-US" sz="3200" dirty="0"/>
          </a:p>
        </p:txBody>
      </p:sp>
      <p:sp>
        <p:nvSpPr>
          <p:cNvPr id="5" name="Number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Row text"/>
          <p:cNvSpPr txBox="1"/>
          <p:nvPr/>
        </p:nvSpPr>
        <p:spPr>
          <a:xfrm>
            <a:off x="1325880" y="1691640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transformation program has several owners and several objectives. Compute the frontier first: efficient plans exist, dominated plans can be discarded, and bounds on all objectives but one trace the frontier exactly.</a:t>
            </a:r>
            <a:endParaRPr lang="en-US" sz="1500" dirty="0"/>
          </a:p>
        </p:txBody>
      </p:sp>
      <p:sp>
        <p:nvSpPr>
          <p:cNvPr id="8" name="Number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Row text"/>
          <p:cNvSpPr txBox="1"/>
          <p:nvPr/>
        </p:nvSpPr>
        <p:spPr>
          <a:xfrm>
            <a:off x="1325880" y="2587752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Weighted sums find efficient plans and reveal prices, but reach only the frontier's supported part; bounds' multipliers are the rates at which owners trade.</a:t>
            </a:r>
            <a:endParaRPr lang="en-US" sz="1500" dirty="0"/>
          </a:p>
        </p:txBody>
      </p:sp>
      <p:sp>
        <p:nvSpPr>
          <p:cNvPr id="11" name="Number"/>
          <p:cNvSpPr/>
          <p:nvPr/>
        </p:nvSpPr>
        <p:spPr>
          <a:xfrm>
            <a:off x="548640" y="3529584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Row text"/>
          <p:cNvSpPr txBox="1"/>
          <p:nvPr/>
        </p:nvSpPr>
        <p:spPr>
          <a:xfrm>
            <a:off x="1325880" y="3483864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Reference points reach every efficient plan, dents included; preferences strictly increasing in every objective choose efficient plans; goals need a second stage.</a:t>
            </a:r>
            <a:endParaRPr lang="en-US" sz="1500" dirty="0"/>
          </a:p>
        </p:txBody>
      </p:sp>
      <p:sp>
        <p:nvSpPr>
          <p:cNvPr id="14" name="Number"/>
          <p:cNvSpPr/>
          <p:nvPr/>
        </p:nvSpPr>
        <p:spPr>
          <a:xfrm>
            <a:off x="548640" y="442569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Row text"/>
          <p:cNvSpPr txBox="1"/>
          <p:nvPr/>
        </p:nvSpPr>
        <p:spPr>
          <a:xfrm>
            <a:off x="1325880" y="4379976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Frontiers are bracketed by bounds, summarized by hypervolume, and approximated by evolutionary search, which is statistical, not certified.</a:t>
            </a:r>
            <a:endParaRPr lang="en-US" sz="1500" dirty="0"/>
          </a:p>
        </p:txBody>
      </p:sp>
      <p:sp>
        <p:nvSpPr>
          <p:cNvPr id="17" name="Number"/>
          <p:cNvSpPr/>
          <p:nvPr/>
        </p:nvSpPr>
        <p:spPr>
          <a:xfrm>
            <a:off x="548640" y="5321808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321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Row text"/>
          <p:cNvSpPr txBox="1"/>
          <p:nvPr/>
        </p:nvSpPr>
        <p:spPr>
          <a:xfrm>
            <a:off x="1325880" y="5276088"/>
            <a:ext cx="103171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 III's appetites are bounds on a cost–safety frontier, and their prices are its slopes (Proposition 12.3). For Meridian's program, the board's price of savings, $5.645 a dollar, decides between two, three, and four rounds.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THIS WEEK'S LABORATORY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and workbook reproduce the book</a:t>
            </a:r>
            <a:endParaRPr lang="en-US" sz="3200" dirty="0"/>
          </a:p>
        </p:txBody>
      </p:sp>
      <p:sp>
        <p:nvSpPr>
          <p:cNvPr id="5" name="Stat card"/>
          <p:cNvSpPr/>
          <p:nvPr/>
        </p:nvSpPr>
        <p:spPr>
          <a:xfrm>
            <a:off x="548640" y="1691640"/>
            <a:ext cx="2567864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9525">
            <a:solidFill>
              <a:srgbClr val="0F1E3D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85800" y="1801368"/>
            <a:ext cx="2293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4400" dirty="0"/>
          </a:p>
        </p:txBody>
      </p:sp>
      <p:sp>
        <p:nvSpPr>
          <p:cNvPr id="7" name="Stat label"/>
          <p:cNvSpPr txBox="1"/>
          <p:nvPr/>
        </p:nvSpPr>
        <p:spPr>
          <a:xfrm>
            <a:off x="685800" y="2697480"/>
            <a:ext cx="2293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notebook checkpoints, every one PASS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3390824" y="1691640"/>
            <a:ext cx="256786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3527984" y="1801368"/>
            <a:ext cx="2293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4400" dirty="0"/>
          </a:p>
        </p:txBody>
      </p:sp>
      <p:sp>
        <p:nvSpPr>
          <p:cNvPr id="10" name="Stat label"/>
          <p:cNvSpPr txBox="1"/>
          <p:nvPr/>
        </p:nvSpPr>
        <p:spPr>
          <a:xfrm>
            <a:off x="3527984" y="2697480"/>
            <a:ext cx="2293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workbook checks against the engine, ALL PASS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6233008" y="1691640"/>
            <a:ext cx="256786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370168" y="1801368"/>
            <a:ext cx="2293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26212</a:t>
            </a:r>
            <a:endParaRPr lang="en-US" sz="4400" dirty="0"/>
          </a:p>
        </p:txBody>
      </p:sp>
      <p:sp>
        <p:nvSpPr>
          <p:cNvPr id="13" name="Stat label"/>
          <p:cNvSpPr txBox="1"/>
          <p:nvPr/>
        </p:nvSpPr>
        <p:spPr>
          <a:xfrm>
            <a:off x="6370168" y="2697480"/>
            <a:ext cx="2293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lab's seed</a:t>
            </a:r>
            <a:endParaRPr lang="en-US" sz="1400" dirty="0"/>
          </a:p>
        </p:txBody>
      </p:sp>
      <p:sp>
        <p:nvSpPr>
          <p:cNvPr id="14" name="Stat card"/>
          <p:cNvSpPr/>
          <p:nvPr/>
        </p:nvSpPr>
        <p:spPr>
          <a:xfrm>
            <a:off x="9075191" y="1691640"/>
            <a:ext cx="256786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4CBD8"/>
            </a:solidFill>
            <a:prstDash val="solid"/>
          </a:ln>
        </p:spPr>
      </p:sp>
      <p:sp>
        <p:nvSpPr>
          <p:cNvPr id="15" name="Stat value"/>
          <p:cNvSpPr txBox="1"/>
          <p:nvPr/>
        </p:nvSpPr>
        <p:spPr>
          <a:xfrm>
            <a:off x="9212351" y="1801368"/>
            <a:ext cx="2293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AXIOM-12</a:t>
            </a:r>
            <a:endParaRPr lang="en-US" sz="3000" dirty="0"/>
          </a:p>
        </p:txBody>
      </p:sp>
      <p:sp>
        <p:nvSpPr>
          <p:cNvPr id="16" name="Stat label"/>
          <p:cNvSpPr txBox="1"/>
          <p:nvPr/>
        </p:nvSpPr>
        <p:spPr>
          <a:xfrm>
            <a:off x="9212351" y="2697480"/>
            <a:ext cx="2293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AXIOM Lab 2.12</a:t>
            </a:r>
            <a:endParaRPr lang="en-US" sz="1400" dirty="0"/>
          </a:p>
        </p:txBody>
      </p:sp>
      <p:sp>
        <p:nvSpPr>
          <p:cNvPr id="17" name="Bullets"/>
          <p:cNvSpPr txBox="1"/>
          <p:nvPr/>
        </p:nvSpPr>
        <p:spPr>
          <a:xfrm>
            <a:off x="548640" y="3703320"/>
            <a:ext cx="11094415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Notebook</a:t>
            </a:r>
            <a:r>
              <a:rPr lang="en-US" sz="1700" dirty="0">
                <a:solidFill>
                  <a:schemeClr val="tx1"/>
                </a:solidFill>
              </a:rPr>
              <a:t> DCT_V2_Ch12_Lab.ipynb: Worked Example 12.1 and the lab's five steps in seven panels, every payout program solved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Workbook</a:t>
            </a:r>
            <a:r>
              <a:rPr lang="en-US" sz="1700" dirty="0">
                <a:solidFill>
                  <a:schemeClr val="tx1"/>
                </a:solidFill>
              </a:rPr>
              <a:t> DCT_V2_Ch12_Lab.xlsx: the war chest raised by the reserve, the prices, every dent certified, the choices and Table 12.3, in formulas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· CHAPTER 13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models learned from the enterprise's data</a:t>
            </a:r>
            <a:endParaRPr lang="en-US" sz="3200" dirty="0"/>
          </a:p>
        </p:txBody>
      </p:sp>
      <p:pic>
        <p:nvPicPr>
          <p:cNvPr id="5" name="Equation" descr="Equation: \min_{\theta}\;\frac{1}{N}\sum_{i=1}^{N} \ell\bigl(y_i,\, f_{\theta}(\mathbf{x}_i)\bigr) \;+\; \lambda\,\Omega(\the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842" y="1691640"/>
            <a:ext cx="3238011" cy="731520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743200"/>
            <a:ext cx="11094415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Chapters 1–12 optimized declared models: dynamics, laws, families of laws, and owners' objectives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This chapter declared the objectives and chose on a frontier; the next learns models from data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Chapter 13, Machine Learning for Enterprise Transformation, continues Part IV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B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namic Corporate Transformation">
  <a:themeElements>
    <a:clrScheme name="Dynamic Corporate Transformation">
      <a:dk1>
        <a:srgbClr val="0F1E3D"/>
      </a:dk1>
      <a:lt1>
        <a:srgbClr val="FFFFFF"/>
      </a:lt1>
      <a:dk2>
        <a:srgbClr val="5A6B82"/>
      </a:dk2>
      <a:lt2>
        <a:srgbClr val="F7F4ED"/>
      </a:lt2>
      <a:accent1>
        <a:srgbClr val="B4884A"/>
      </a:accent1>
      <a:accent2>
        <a:srgbClr val="2F6F6B"/>
      </a:accent2>
      <a:accent3>
        <a:srgbClr val="8A6A33"/>
      </a:accent3>
      <a:accent4>
        <a:srgbClr val="C4CBD8"/>
      </a:accent4>
      <a:accent5>
        <a:srgbClr val="1F4FD8"/>
      </a:accent5>
      <a:accent6>
        <a:srgbClr val="16263F"/>
      </a:accent6>
      <a:hlink>
        <a:srgbClr val="1F4FD8"/>
      </a:hlink>
      <a:folHlink>
        <a:srgbClr val="5A6B82"/>
      </a:folHlink>
    </a:clrScheme>
    <a:fontScheme name="Dynamic Corporate Transform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Dynamic Corporate Transformation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Corporate Transformation, Volume II, Chapter 12: Multi-Objective Enterprise Optimization</dc:title>
  <dc:subject>Slides for Volume II, Chapter 12 (V56)</dc:subject>
  <dc:creator>Samir Asaf</dc:creator>
  <cp:lastModifiedBy>Samir Asaf</cp:lastModifiedBy>
  <cp:revision>1</cp:revision>
  <dcterms:created xsi:type="dcterms:W3CDTF">2026-10-05T20:43:54Z</dcterms:created>
  <dcterms:modified xsi:type="dcterms:W3CDTF">2026-10-05T20:43:54Z</dcterms:modified>
</cp:coreProperties>
</file>