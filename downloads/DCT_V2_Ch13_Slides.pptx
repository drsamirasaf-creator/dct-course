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f1c2005-17e1-6644-9f84-537a6d3b4e14}">
          <p14:sldIdLst>
            <p14:sldId id="256"/>
            <p14:sldId id="257"/>
            <p14:sldId id="258"/>
            <p14:sldId id="259"/>
          </p14:sldIdLst>
        </p14:section>
        <p14:section name="13.1 Learning Inside a Declared Model" id="{b3b0355d-00ef-d3da-7e59-74d0f0fee5d0}">
          <p14:sldIdLst>
            <p14:sldId id="260"/>
          </p14:sldIdLst>
        </p14:section>
        <p14:section name="13.2 Learning from a Record" id="{a5bdcc51-36da-1d24-199e-cf35472b5695}">
          <p14:sldIdLst>
            <p14:sldId id="261"/>
            <p14:sldId id="262"/>
          </p14:sldIdLst>
        </p14:section>
        <p14:section name="13.3 From Predictions to Decisions" id="{1185d73a-e034-e6e6-05d9-553c11a0d301}">
          <p14:sldIdLst>
            <p14:sldId id="263"/>
            <p14:sldId id="264"/>
          </p14:sldIdLst>
        </p14:section>
        <p14:section name="13.4 Honest Checks" id="{09389ee8-02b8-df7b-85a1-8934b8dddab7}">
          <p14:sldIdLst>
            <p14:sldId id="265"/>
            <p14:sldId id="266"/>
            <p14:sldId id="267"/>
          </p14:sldIdLst>
        </p14:section>
        <p14:section name="13.5 Reading a Model" id="{3dcb62e6-9e25-4452-afd3-8f04131bee53}">
          <p14:sldIdLst>
            <p14:sldId id="268"/>
          </p14:sldIdLst>
        </p14:section>
        <p14:section name="Worked Example 13.1" id="{624d5cc3-8776-a9de-0241-a93123be6462}">
          <p14:sldIdLst>
            <p14:sldId id="269"/>
            <p14:sldId id="270"/>
            <p14:sldId id="271"/>
            <p14:sldId id="272"/>
            <p14:sldId id="273"/>
          </p14:sldIdLst>
        </p14:section>
        <p14:section name="In Practice" id="{9b52c9d2-8b69-9531-84b6-a8b5f21a3b57}">
          <p14:sldIdLst>
            <p14:sldId id="274"/>
          </p14:sldIdLst>
        </p14:section>
        <p14:section name="AXIOM Lab 2.13" id="{f6ae24d7-65a3-1a06-1187-d39ceeec30c5}">
          <p14:sldIdLst>
            <p14:sldId id="275"/>
          </p14:sldIdLst>
        </p14:section>
        <p14:section name="Close" id="{20a2302c-79a8-35bb-b958-4e3eeb479047}">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13. Parts I-III declared every part of their models; this chapter lets data supply a part, on the framework's terms. The Worked Example prices a learned warning of funding-window closures: a perfect warning would be worth $4.12 million, the desk's five readings allow at most $1.44 million, and the warning certified on the desk's record is worth $1.06 million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Fermi's elephant, as Freeman Dyson recalled it: a model with enough parameters can fit any record. Theorem 13.1(iii) is the elephant with the parameters counted (Section 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13.1-13.3 are in Appendix 13.A; Propositions 13.1-13.3, how the warning is designed and checked (Remark 13.B.1) and every number of the Worked Example and the figures (Example 13.B.2) are in Online Appendix 13.B.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13.1 (a record, a class, a loss; empirical risk minimization; the floor) and Proposition 13.1; formal statement and proof in Online Appendix 13.B. Part (iii) is why a learned demand curve, fitted to a record in which prices responded to demand, is not the price response the board would get by setting prices. The chapter treats learning from a record the decision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13.1; formal statement and proof in Appendix 13.A. The record's best predictor inherits the optimism of a sample's optimum (Theorem 9.3(iii)). LOS Guidance 13.2: a strong answer explains why boosting scores 1.00 on the desk's record and 0.89 on fresh programs while the logistic model scores 0.94 and 0.92.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13.1 and Proposition 13.2; formal statement and proof in Online Appendix 13.B. The Online Appendix's majority vote: three classifiers, each right on 60 percent of cases, whose majority is right on 40 percent. Boosting lowers the record's loss at every stage while the fresh error can rise; stopping early is a form of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13.2 (regret; the value of a reading) and Theorem 13.2; formal statement and proof in Appendix 13.A. Part (ii) is the board's answer to 'the model is 87 percent accurate': accuracy counts a false alarm and a miss as equal; the board's packages do not. Elmachtoub and Grigas, and Bertsimas and Kallus, build part (iv) into the learning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13.1 and Worked Example 13.1, Steps 1-2. In panel (a) each group's closure share is the law's; the dots mark the threshold 0.5 and the packages' own threshold. Panel (b) scales the signal in all five readings: AUC 0.640 to 1.000, value $0.05 million to $4.12 million (Online Appendix Example 13.B.2).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13.3; formal statement and proof in Appendix 13.A. Dwork and coauthors show how a reused holdout stops being fresh; Angelopoulos and Bates introduce conformal methods. LOS Guidance 13.4: a common mistake is to tune and judge a model on the same held-out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13.2. The board reads the decision value and the fresh breach; accuracy and AUC describe the model, not what it is worth. Decision value misses only what the costs omit.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13.2; Theorems 13.1 and 13.3; Worked Example 13.1, Steps 3-4. Online Appendix Example 13.B.2: held-out designs have a mean true chance of 5.02 percent (90th percentile 5.21) and a mean value of $1.53 million; certified designs 4.75 percent (4.89) and $0.95 million. The stage curve uses 20,000 fresh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13.3 and Proposition 13.3; formal statement and proof in Online Appendix 13.B. Part (ii) is the risk in a one-number financial-conditions index: the common factor that moves every spread together holds most of the variance and little of the warning. The author's papers find the same loss of information when latent factors summarize financial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the situation and Step 1. A common financial-conditions factor drives the readings (loadings 0.9, 0.85, 0.8, 0.6, 0.3); programs that will see a closure start higher by 0.25, 0.25, 0.15, 0.7 and 1.9 units; given closure or not the readings say nothing more about the path, so Chapter 9's law is unchanged (Proposition 9.3(ii); Worked Example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Steps 1-5; Online Appendix Example 13.B.2. Step 4: held-out shares of closures, 44.7 percent in the warned group and 1.0 percent in the all-clear group; their one-sided 95 percent upper bounds, 48.2 and 2.2 percent. Step 5: the interventional game credits the funding spread with 2.13 of the log-odds and the market readings with -0.83; the conditional game gives every reading positive credit, 1.47 to the funding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13.3. Warned: share of the 100,000 fresh programs warned; promised value: Volume I's $10.44 million less the expected cost the design expects; fresh: the true chance of a breach and the value on the fresh paths, each with its own readings. The certified warning is the one the audit committee can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13.3 and Worked Example 13.1, Step 5; Proposition 13.3(ii) and (iv). The reading is one standard unit high on every indicator and 1.5 on the funding spread: fitted log-odds -0.071, a chance of 48.2 percent, warned at the best threshold but not at 0.5 (Online Appendix Example 13.B.2).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what the board should take away, and the discussion questions: who should own the warning's threshold, the desk or the board? How large must the desk's record be before the certified warning is worth most of its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13: Netflix Pays a Million Dollars for Ten Percent. A real organization's decision of this chapter's kind, told from its published record; every figure is cited in the book. The lesson for Meridian: Judge a model on data it has not seen, and value it by the decisions it changes. Sources: Bennett and Lanning (2007); Feuerverger, He and Khatri (2012); Koren, Bell and Volinsky (2009); Netflix Tech Blog (2012); Gomez-Uribe and Hunt (2015); FTC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2.13. What to look for: a ceiling well below a perfect warning (Theorem 13.2(iii)); a valuable threshold that is less accurate than never warning (Theorem 13.2(ii)); a perfect record score that breaks the appetite (Theorem 13.1); certified designs that keep it (Theorem 13.3); and an index that keeps the variance and loses the warning (Proposition 13.3(ii)).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inequality is Theorem 13.2(iii), the information ceiling: a rule that reads a function g(X) of the features does no better than the best rule that reads X, and none does better than a clairvoyant who reads the outcome. Chapter 14, Artificial Intelligence for Enterprise Optimization, is the next chapter of Part IV, Multi-Objective and Intelligent Enterprise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13 · WEEK 13</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Machine Learning for Enterprise Transformation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Part IV's second chapter: let data supply a declared part of the model. Learning proposes, fresh data checks, and the optimizer keeps the commitments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26213 · AXIOM Lab 2.13 (AXIOM-13)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 remember my friend Johnny von Neumann used to say, with four parameters I can fit an elephant, and with five I can make him wiggle his trunk.”</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Enrico Fermi</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Physics 1938; as recalled by Freeman Dyson, “A Meeting with Enrico Fermi,” Nature (2004)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a learned model enters a declared enterprise model, and what a record can and cannot tell.</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Judge what a record's performance says about new cases: generalization, complexity, bias and variance, and ensembles.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Value a prediction by the decision it changes: regret, thresholds set by costs, and the ceiling set by the information.</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Check a model honestly: fresh data, confidence bounds, many candidates, and conformal guarantees and their limits.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a model responsibly: what principal components keep and lose, and what attributions show and do not.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 case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§13.1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Inside a Declared Model</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13.1 · Proposition 13.1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§13.2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from a Record</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13.1 · Proposition 13.2 · Table 13.1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§13.3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From Predictions to Decisions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13.2 · Theorem 13.2 · Figure 13.1</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§13.4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Honest Checks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13.3 · Table 13.2 · Figure 13.2</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§13.5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Reading a Model</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13.3 · Proposition 13.3</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13.1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Is the Market Desk's Warning Worth Paying For?</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13.3 · Figure 13.3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Netflix Pays a Million Dollars for Ten Percent</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At a Glance · board questions</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2.13</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Pricing a Learned Warning: Records, Thresholds, and Fresh Paths</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AXIOM-13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§13.1 · DEFINITION 13.1 · PROPOSITION 13.1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Learning supplies one declared part, no more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13.1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What the Data Can Tell</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The floor.</a:t>
            </a:r>
            <a:r>
              <a:rPr lang="en-US" sz="1500" dirty="0">
                <a:solidFill>
                  <a:schemeClr val="tx1"/>
                </a:solidFill>
              </a:rPr>
              <a:t> The conditional mean attains it under squared loss; predicting 1 when the chance is at least ½ attains it under 0–1 loss</a:t>
            </a:r>
            <a:endParaRPr lang="en-US" sz="1500" dirty="0"/>
          </a:p>
          <a:p>
            <a:pPr marL="228600" indent="-228600">
              <a:spcAft>
                <a:spcPts val="600"/>
              </a:spcAft>
              <a:buSzPct val="100000"/>
              <a:buChar char="•"/>
            </a:pPr>
            <a:r>
              <a:rPr lang="en-US" sz="1500" b="1" dirty="0">
                <a:solidFill>
                  <a:schemeClr val="tx1"/>
                </a:solidFill>
              </a:rPr>
              <a:t>(ii) Computed features.</a:t>
            </a:r>
            <a:r>
              <a:rPr lang="en-US" sz="1500" dirty="0">
                <a:solidFill>
                  <a:schemeClr val="tx1"/>
                </a:solidFill>
              </a:rPr>
              <a:t> A feature computed from the readings never lowers the floor; only new information can</a:t>
            </a:r>
            <a:endParaRPr lang="en-US" sz="1500" dirty="0"/>
          </a:p>
          <a:p>
            <a:pPr marL="228600" indent="-228600">
              <a:spcAft>
                <a:spcPts val="600"/>
              </a:spcAft>
              <a:buSzPct val="100000"/>
              <a:buChar char="•"/>
            </a:pPr>
            <a:r>
              <a:rPr lang="en-US" sz="1500" b="1" dirty="0">
                <a:solidFill>
                  <a:schemeClr val="tx1"/>
                </a:solidFill>
              </a:rPr>
              <a:t>(iii) Association is not intervention.</a:t>
            </a:r>
            <a:r>
              <a:rPr lang="en-US" sz="1500" dirty="0">
                <a:solidFill>
                  <a:schemeClr val="tx1"/>
                </a:solidFill>
              </a:rPr>
              <a:t> A record's conditional mean need not be the effect of setting the feature by decision</a:t>
            </a:r>
            <a:endParaRPr lang="en-US" sz="1500" dirty="0"/>
          </a:p>
          <a:p>
            <a:pPr marL="228600" indent="-228600">
              <a:spcAft>
                <a:spcPts val="600"/>
              </a:spcAft>
              <a:buSzPct val="100000"/>
              <a:buChar char="•"/>
            </a:pPr>
            <a:r>
              <a:rPr lang="en-US" sz="1500" b="1" dirty="0">
                <a:solidFill>
                  <a:schemeClr val="tx1"/>
                </a:solidFill>
              </a:rPr>
              <a:t>(iv) Leakage.</a:t>
            </a:r>
            <a:r>
              <a:rPr lang="en-US" sz="1500" dirty="0">
                <a:solidFill>
                  <a:schemeClr val="tx1"/>
                </a:solidFill>
              </a:rPr>
              <a:t> A field recorded after the outcome can make a record's error zero, and the model useless when the decision is made</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Three conditions, and Meridian's desk</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Learning supplies a declared part of the model and nothing else, is judged on data it has not seen, and leaves the commitments to the optimizer</a:t>
            </a:r>
            <a:endParaRPr lang="en-US" sz="1600" dirty="0"/>
          </a:p>
          <a:p>
            <a:pPr marL="228600" indent="-228600">
              <a:spcAft>
                <a:spcPts val="800"/>
              </a:spcAft>
              <a:buSzPct val="100000"/>
              <a:buChar char="•"/>
            </a:pPr>
            <a:r>
              <a:rPr lang="en-US" sz="1600" dirty="0">
                <a:solidFill>
                  <a:schemeClr val="tx1"/>
                </a:solidFill>
              </a:rPr>
              <a:t>The desk's warning supplies one part: whether a funding window will close in the program's three years</a:t>
            </a:r>
            <a:endParaRPr lang="en-US" sz="1600" dirty="0"/>
          </a:p>
          <a:p>
            <a:pPr marL="228600" indent="-228600">
              <a:spcAft>
                <a:spcPts val="800"/>
              </a:spcAft>
              <a:buSzPct val="100000"/>
              <a:buChar char="•"/>
            </a:pPr>
            <a:r>
              <a:rPr lang="en-US" sz="1600" dirty="0">
                <a:solidFill>
                  <a:schemeClr val="tx1"/>
                </a:solidFill>
              </a:rPr>
              <a:t>Its five readings are known when the board signs; given closure or not they say nothing more, so Chapter 9's law stands</a:t>
            </a:r>
            <a:endParaRPr lang="en-US" sz="1600" dirty="0"/>
          </a:p>
          <a:p>
            <a:pPr marL="228600" indent="-228600">
              <a:spcAft>
                <a:spcPts val="800"/>
              </a:spcAft>
              <a:buSzPct val="100000"/>
              <a:buChar char="•"/>
            </a:pPr>
            <a:r>
              <a:rPr lang="en-US" sz="1600" dirty="0">
                <a:solidFill>
                  <a:schemeClr val="tx1"/>
                </a:solidFill>
              </a:rPr>
              <a:t>Every field in a record must be one the board would know at the moment it decides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§13.2 · THEOREM 13.1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record's score is not evidence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13.1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Learning from a Record</a:t>
            </a:r>
            <a:endParaRPr lang="en-US" sz="2100" dirty="0"/>
          </a:p>
        </p:txBody>
      </p:sp>
      <p:pic>
        <p:nvPicPr>
          <p:cNvPr id="8" name="Equation" descr="Equation: \hat h \in \arg\min_{h \in \mathcal{H}}\; \hat R_N(h) = \frac{1}{N}\sum_{i=1}^{N} \ell\bigl(h(x_i),\, y_i\bigr)">    </p:cNvPr>
          <p:cNvPicPr>
            <a:picLocks noChangeAspect="1"/>
          </p:cNvPicPr>
          <p:nvPr/>
        </p:nvPicPr>
        <p:blipFill>
          <a:blip r:embed="rId1"/>
          <a:stretch>
            <a:fillRect/>
          </a:stretch>
        </p:blipFill>
        <p:spPr>
          <a:xfrm>
            <a:off x="822960" y="2743200"/>
            <a:ext cx="2529782"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Two gaps.</a:t>
            </a:r>
            <a:r>
              <a:rPr lang="en-US" sz="1400" dirty="0">
                <a:solidFill>
                  <a:schemeClr val="tx1"/>
                </a:solidFill>
              </a:rPr>
              <a:t> The record's best predictor is within twice the largest record-to-risk gap of the class's best</a:t>
            </a:r>
            <a:endParaRPr lang="en-US" sz="1400" dirty="0"/>
          </a:p>
          <a:p>
            <a:pPr marL="228600" indent="-228600">
              <a:spcAft>
                <a:spcPts val="600"/>
              </a:spcAft>
              <a:buSzPct val="100000"/>
              <a:buChar char="•"/>
            </a:pPr>
            <a:r>
              <a:rPr lang="en-US" sz="1400" b="1" dirty="0">
                <a:solidFill>
                  <a:schemeClr val="tx1"/>
                </a:solidFill>
              </a:rPr>
              <a:t>(ii) Finite classes.</a:t>
            </a:r>
            <a:r>
              <a:rPr lang="en-US" sz="1400" dirty="0">
                <a:solidFill>
                  <a:schemeClr val="tx1"/>
                </a:solidFill>
              </a:rPr>
              <a:t> That gap is at most √(ln(2|H|/δ)/(2N)) with probability 1 − δ</a:t>
            </a:r>
            <a:endParaRPr lang="en-US" sz="1400" dirty="0"/>
          </a:p>
          <a:p>
            <a:pPr marL="228600" indent="-228600">
              <a:spcAft>
                <a:spcPts val="600"/>
              </a:spcAft>
              <a:buSzPct val="100000"/>
              <a:buChar char="•"/>
            </a:pPr>
            <a:r>
              <a:rPr lang="en-US" sz="1400" b="1" dirty="0">
                <a:solidFill>
                  <a:schemeClr val="tx1"/>
                </a:solidFill>
              </a:rPr>
              <a:t>(iii) Rich classes.</a:t>
            </a:r>
            <a:r>
              <a:rPr lang="en-US" sz="1400" dirty="0">
                <a:solidFill>
                  <a:schemeClr val="tx1"/>
                </a:solidFill>
              </a:rPr>
              <a:t> Risk ≤ record risk + 2 × Rademacher complexity + √(ln(1/δ)/(2N)); with VC dimension d, the complexity is at most √(2d ln(eN/d)/N)</a:t>
            </a:r>
            <a:endParaRPr lang="en-US" sz="1400" dirty="0"/>
          </a:p>
          <a:p>
            <a:pPr marL="228600" indent="-228600">
              <a:spcAft>
                <a:spcPts val="600"/>
              </a:spcAft>
              <a:buSzPct val="100000"/>
              <a:buChar char="•"/>
            </a:pPr>
            <a:r>
              <a:rPr lang="en-US" sz="1400" b="1" dirty="0">
                <a:solidFill>
                  <a:schemeClr val="tx1"/>
                </a:solidFill>
              </a:rPr>
              <a:t>(iv) Growing classes.</a:t>
            </a:r>
            <a:r>
              <a:rPr lang="en-US" sz="1400" dirty="0">
                <a:solidFill>
                  <a:schemeClr val="tx1"/>
                </a:solidFill>
              </a:rPr>
              <a:t> The risk tends to the floor if the class reaches it slowly enough that d ln N/N → 0</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desk: 1,000 windows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Empirical risk minimization is Chapter 9's sample average approximation, with predictors in place of packages</a:t>
            </a:r>
            <a:endParaRPr lang="en-US" sz="1600" dirty="0"/>
          </a:p>
          <a:p>
            <a:pPr marL="228600" indent="-228600">
              <a:spcAft>
                <a:spcPts val="800"/>
              </a:spcAft>
              <a:buSzPct val="100000"/>
              <a:buChar char="•"/>
            </a:pPr>
            <a:r>
              <a:rPr lang="en-US" sz="1600" dirty="0">
                <a:solidFill>
                  <a:schemeClr val="tx1"/>
                </a:solidFill>
              </a:rPr>
              <a:t>Boosting, 500 stages of trees, fits every window: AUC </a:t>
            </a:r>
            <a:r>
              <a:rPr lang="en-US" sz="1600" b="1" dirty="0">
                <a:solidFill>
                  <a:schemeClr val="tx1"/>
                </a:solidFill>
              </a:rPr>
              <a:t>1.00</a:t>
            </a:r>
            <a:r>
              <a:rPr lang="en-US" sz="1600" dirty="0">
                <a:solidFill>
                  <a:schemeClr val="tx1"/>
                </a:solidFill>
              </a:rPr>
              <a:t> on the record, </a:t>
            </a:r>
            <a:r>
              <a:rPr lang="en-US" sz="1600" b="1" dirty="0">
                <a:solidFill>
                  <a:schemeClr val="tx1"/>
                </a:solidFill>
              </a:rPr>
              <a:t>0.89</a:t>
            </a:r>
            <a:r>
              <a:rPr lang="en-US" sz="1600" dirty="0">
                <a:solidFill>
                  <a:schemeClr val="tx1"/>
                </a:solidFill>
              </a:rPr>
              <a:t> on fresh programs</a:t>
            </a:r>
            <a:endParaRPr lang="en-US" sz="1600" dirty="0"/>
          </a:p>
          <a:p>
            <a:pPr marL="228600" indent="-228600">
              <a:spcAft>
                <a:spcPts val="800"/>
              </a:spcAft>
              <a:buSzPct val="100000"/>
              <a:buChar char="•"/>
            </a:pPr>
            <a:r>
              <a:rPr lang="en-US" sz="1600" dirty="0">
                <a:solidFill>
                  <a:schemeClr val="tx1"/>
                </a:solidFill>
              </a:rPr>
              <a:t>A logistic model with six parameters is a small class: AUC </a:t>
            </a:r>
            <a:r>
              <a:rPr lang="en-US" sz="1600" b="1" dirty="0">
                <a:solidFill>
                  <a:schemeClr val="tx1"/>
                </a:solidFill>
              </a:rPr>
              <a:t>0.94</a:t>
            </a:r>
            <a:r>
              <a:rPr lang="en-US" sz="1600" dirty="0">
                <a:solidFill>
                  <a:schemeClr val="tx1"/>
                </a:solidFill>
              </a:rPr>
              <a:t> on the record, </a:t>
            </a:r>
            <a:r>
              <a:rPr lang="en-US" sz="1600" b="1" dirty="0">
                <a:solidFill>
                  <a:schemeClr val="tx1"/>
                </a:solidFill>
              </a:rPr>
              <a:t>0.92</a:t>
            </a:r>
            <a:r>
              <a:rPr lang="en-US" sz="1600" dirty="0">
                <a:solidFill>
                  <a:schemeClr val="tx1"/>
                </a:solidFill>
              </a:rPr>
              <a:t> fresh</a:t>
            </a:r>
            <a:endParaRPr lang="en-US" sz="1600" dirty="0"/>
          </a:p>
          <a:p>
            <a:pPr marL="228600" indent="-228600">
              <a:spcAft>
                <a:spcPts val="800"/>
              </a:spcAft>
              <a:buSzPct val="100000"/>
              <a:buChar char="•"/>
            </a:pPr>
            <a:r>
              <a:rPr lang="en-US" sz="1600" dirty="0">
                <a:solidFill>
                  <a:schemeClr val="tx1"/>
                </a:solidFill>
              </a:rPr>
              <a:t>Fermi's elephant is part (iii) with the parameters counted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§13.2 · TABLE 13.1 · PROPOSITION 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Richer classes fit more and promise less</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505191"/>
                <a:gridCol w="2326248"/>
                <a:gridCol w="3936728"/>
                <a:gridCol w="2326248"/>
              </a:tblGrid>
              <a:tr h="60350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Class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Richness set by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What it promises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0350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Linear and logistic models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number of features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small gap between record and fresh error (Theorem 13.1(ii)–(iii))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features that miss the signal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Trees and forests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depth, leaves, members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averages cut variance (Proposition 13.2(ii))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correlated members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Boosting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stages, depth, learning rate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record loss falls at every stage (Proposition 13.2(iv))</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perfect record score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Neural networks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layers and width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can approximate any continuous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approximation is not learning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Principal components, clusters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components, clusters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summaries of the features, not of the outcome (Proposition 13.3)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variance mistaken for relevance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13.2.</a:t>
            </a:r>
            <a:r>
              <a:rPr lang="en-US" sz="1600" dirty="0">
                <a:solidFill>
                  <a:schemeClr val="accent2"/>
                </a:solidFill>
              </a:rPr>
              <a:t> Error = floor + bias² + variance; B members with correlation ρ leave ρσ² + (1 − ρ)σ²/B.</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§13.3 · DEFINITION 13.2 · THEOREM 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prediction is worth the decision it changes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13.2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From Predictions to Decisions</a:t>
            </a:r>
            <a:endParaRPr lang="en-US" sz="2100" dirty="0"/>
          </a:p>
        </p:txBody>
      </p:sp>
      <p:pic>
        <p:nvPicPr>
          <p:cNvPr id="8" name="Equation" descr="Equation: \text{warn when}\quad \Pr(Y = 1 \mid X = x) \;\ge\; \frac{A}{A + B}">    </p:cNvPr>
          <p:cNvPicPr>
            <a:picLocks noChangeAspect="1"/>
          </p:cNvPicPr>
          <p:nvPr/>
        </p:nvPicPr>
        <p:blipFill>
          <a:blip r:embed="rId1"/>
          <a:stretch>
            <a:fillRect/>
          </a:stretch>
        </p:blipFill>
        <p:spPr>
          <a:xfrm>
            <a:off x="822960" y="2743200"/>
            <a:ext cx="3441032"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Regret.</a:t>
            </a:r>
            <a:r>
              <a:rPr lang="en-US" sz="1400" dirty="0">
                <a:solidFill>
                  <a:schemeClr val="tx1"/>
                </a:solidFill>
              </a:rPr>
              <a:t> If costs move by at most L per unit of error, the plug-in decision's regret is at most 2L times the error; the 2 is sharp</a:t>
            </a:r>
            <a:endParaRPr lang="en-US" sz="1400" dirty="0"/>
          </a:p>
          <a:p>
            <a:pPr marL="228600" indent="-228600">
              <a:spcAft>
                <a:spcPts val="600"/>
              </a:spcAft>
              <a:buSzPct val="100000"/>
              <a:buChar char="•"/>
            </a:pPr>
            <a:r>
              <a:rPr lang="en-US" sz="1400" b="1" dirty="0">
                <a:solidFill>
                  <a:schemeClr val="tx1"/>
                </a:solidFill>
              </a:rPr>
              <a:t>(ii) Costs set thresholds.</a:t>
            </a:r>
            <a:r>
              <a:rPr lang="en-US" sz="1400" dirty="0">
                <a:solidFill>
                  <a:schemeClr val="tx1"/>
                </a:solidFill>
              </a:rPr>
              <a:t> A: a false alarm's cost, B: a miss's; accuracy's ½ is best only when they are equal; an appetite is priced into the costs</a:t>
            </a:r>
            <a:endParaRPr lang="en-US" sz="1400" dirty="0"/>
          </a:p>
          <a:p>
            <a:pPr marL="228600" indent="-228600">
              <a:spcAft>
                <a:spcPts val="600"/>
              </a:spcAft>
              <a:buSzPct val="100000"/>
              <a:buChar char="•"/>
            </a:pPr>
            <a:r>
              <a:rPr lang="en-US" sz="1400" b="1" dirty="0">
                <a:solidFill>
                  <a:schemeClr val="tx1"/>
                </a:solidFill>
              </a:rPr>
              <a:t>(iii) The information ceiling.</a:t>
            </a:r>
            <a:r>
              <a:rPr lang="en-US" sz="1400" dirty="0">
                <a:solidFill>
                  <a:schemeClr val="tx1"/>
                </a:solidFill>
              </a:rPr>
              <a:t> No rule on a function of the features beats the best rule on the features, nor that a clairvoyant</a:t>
            </a:r>
            <a:endParaRPr lang="en-US" sz="1400" dirty="0"/>
          </a:p>
          <a:p>
            <a:pPr marL="228600" indent="-228600">
              <a:spcAft>
                <a:spcPts val="600"/>
              </a:spcAft>
              <a:buSzPct val="100000"/>
              <a:buChar char="•"/>
            </a:pPr>
            <a:r>
              <a:rPr lang="en-US" sz="1400" b="1" dirty="0">
                <a:solidFill>
                  <a:schemeClr val="tx1"/>
                </a:solidFill>
              </a:rPr>
              <a:t>(iv) Plug-in.</a:t>
            </a:r>
            <a:r>
              <a:rPr lang="en-US" sz="1400" dirty="0">
                <a:solidFill>
                  <a:schemeClr val="tx1"/>
                </a:solidFill>
              </a:rPr>
              <a:t> Plugging in the conditional mean is optimal when the cost is affine in the outcome; otherwise it need not be</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warning, priced by its packages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At accuracy's threshold, 0.5: right </a:t>
            </a:r>
            <a:r>
              <a:rPr lang="en-US" sz="1600" b="1" dirty="0">
                <a:solidFill>
                  <a:schemeClr val="tx1"/>
                </a:solidFill>
              </a:rPr>
              <a:t>87.3%</a:t>
            </a:r>
            <a:r>
              <a:rPr lang="en-US" sz="1600" dirty="0">
                <a:solidFill>
                  <a:schemeClr val="tx1"/>
                </a:solidFill>
              </a:rPr>
              <a:t> of the time, worth </a:t>
            </a:r>
            <a:r>
              <a:rPr lang="en-US" sz="1600" b="1" dirty="0">
                <a:solidFill>
                  <a:schemeClr val="tx1"/>
                </a:solidFill>
              </a:rPr>
              <a:t>$0.53m</a:t>
            </a:r>
            <a:endParaRPr lang="en-US" sz="1600" dirty="0"/>
          </a:p>
          <a:p>
            <a:pPr marL="228600" indent="-228600">
              <a:spcAft>
                <a:spcPts val="800"/>
              </a:spcAft>
              <a:buSzPct val="100000"/>
              <a:buChar char="•"/>
            </a:pPr>
            <a:r>
              <a:rPr lang="en-US" sz="1600" dirty="0">
                <a:solidFill>
                  <a:schemeClr val="tx1"/>
                </a:solidFill>
              </a:rPr>
              <a:t>Where the packages are cheapest, a </a:t>
            </a:r>
            <a:r>
              <a:rPr lang="en-US" sz="1600" b="1" dirty="0">
                <a:solidFill>
                  <a:schemeClr val="tx1"/>
                </a:solidFill>
              </a:rPr>
              <a:t>4.1%</a:t>
            </a:r>
            <a:r>
              <a:rPr lang="en-US" sz="1600" dirty="0">
                <a:solidFill>
                  <a:schemeClr val="tx1"/>
                </a:solidFill>
              </a:rPr>
              <a:t> chance: right </a:t>
            </a:r>
            <a:r>
              <a:rPr lang="en-US" sz="1600" b="1" dirty="0">
                <a:solidFill>
                  <a:schemeClr val="tx1"/>
                </a:solidFill>
              </a:rPr>
              <a:t>65.9%</a:t>
            </a:r>
            <a:r>
              <a:rPr lang="en-US" sz="1600" dirty="0">
                <a:solidFill>
                  <a:schemeClr val="tx1"/>
                </a:solidFill>
              </a:rPr>
              <a:t>, less than never warning (</a:t>
            </a:r>
            <a:r>
              <a:rPr lang="en-US" sz="1600" b="1" dirty="0">
                <a:solidFill>
                  <a:schemeClr val="tx1"/>
                </a:solidFill>
              </a:rPr>
              <a:t>74.0%</a:t>
            </a:r>
            <a:r>
              <a:rPr lang="en-US" sz="1600" dirty="0">
                <a:solidFill>
                  <a:schemeClr val="tx1"/>
                </a:solidFill>
              </a:rPr>
              <a:t>), worth </a:t>
            </a:r>
            <a:r>
              <a:rPr lang="en-US" sz="1600" b="1" dirty="0">
                <a:solidFill>
                  <a:schemeClr val="tx1"/>
                </a:solidFill>
              </a:rPr>
              <a:t>$1.44m</a:t>
            </a:r>
            <a:endParaRPr lang="en-US" sz="1600" dirty="0"/>
          </a:p>
          <a:p>
            <a:pPr marL="228600" indent="-228600">
              <a:spcAft>
                <a:spcPts val="800"/>
              </a:spcAft>
              <a:buSzPct val="100000"/>
              <a:buChar char="•"/>
            </a:pPr>
            <a:r>
              <a:rPr lang="en-US" sz="1600" dirty="0">
                <a:solidFill>
                  <a:schemeClr val="tx1"/>
                </a:solidFill>
              </a:rPr>
              <a:t>The desk's five readings allow at most </a:t>
            </a:r>
            <a:r>
              <a:rPr lang="en-US" sz="1600" b="1" dirty="0">
                <a:solidFill>
                  <a:schemeClr val="tx1"/>
                </a:solidFill>
              </a:rPr>
              <a:t>$1.44m</a:t>
            </a:r>
            <a:r>
              <a:rPr lang="en-US" sz="1600" dirty="0">
                <a:solidFill>
                  <a:schemeClr val="tx1"/>
                </a:solidFill>
              </a:rPr>
              <a:t>, against </a:t>
            </a:r>
            <a:r>
              <a:rPr lang="en-US" sz="1600" b="1" dirty="0">
                <a:solidFill>
                  <a:schemeClr val="tx1"/>
                </a:solidFill>
              </a:rPr>
              <a:t>$4.12m</a:t>
            </a:r>
            <a:r>
              <a:rPr lang="en-US" sz="1600" dirty="0">
                <a:solidFill>
                  <a:schemeClr val="tx1"/>
                </a:solidFill>
              </a:rPr>
              <a:t> for a perfect warning</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§13.3 · FIGURE 13.1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valuable warning is the less accurate one</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At 0.5 the warning is right </a:t>
            </a:r>
            <a:r>
              <a:rPr lang="en-US" sz="1500" b="1" dirty="0">
                <a:solidFill>
                  <a:schemeClr val="tx1"/>
                </a:solidFill>
              </a:rPr>
              <a:t>87.3%</a:t>
            </a:r>
            <a:r>
              <a:rPr lang="en-US" sz="1500" dirty="0">
                <a:solidFill>
                  <a:schemeClr val="tx1"/>
                </a:solidFill>
              </a:rPr>
              <a:t> of the time and worth </a:t>
            </a:r>
            <a:r>
              <a:rPr lang="en-US" sz="1500" b="1" dirty="0">
                <a:solidFill>
                  <a:schemeClr val="tx1"/>
                </a:solidFill>
              </a:rPr>
              <a:t>$0.53m</a:t>
            </a:r>
            <a:r>
              <a:rPr lang="en-US" sz="1500" dirty="0">
                <a:solidFill>
                  <a:schemeClr val="tx1"/>
                </a:solidFill>
              </a:rPr>
              <a:t>: its all-clear group still sees closures </a:t>
            </a:r>
            <a:r>
              <a:rPr lang="en-US" sz="1500" b="1" dirty="0">
                <a:solidFill>
                  <a:schemeClr val="tx1"/>
                </a:solidFill>
              </a:rPr>
              <a:t>10.2%</a:t>
            </a:r>
            <a:r>
              <a:rPr lang="en-US" sz="1500" dirty="0">
                <a:solidFill>
                  <a:schemeClr val="tx1"/>
                </a:solidFill>
              </a:rPr>
              <a:t> of the time and needs a </a:t>
            </a:r>
            <a:r>
              <a:rPr lang="en-US" sz="1500" b="1" dirty="0">
                <a:solidFill>
                  <a:schemeClr val="tx1"/>
                </a:solidFill>
              </a:rPr>
              <a:t>$125m</a:t>
            </a:r>
            <a:r>
              <a:rPr lang="en-US" sz="1500" dirty="0">
                <a:solidFill>
                  <a:schemeClr val="tx1"/>
                </a:solidFill>
              </a:rPr>
              <a:t> line</a:t>
            </a:r>
            <a:endParaRPr lang="en-US" sz="1500" dirty="0"/>
          </a:p>
          <a:p>
            <a:pPr marL="228600" indent="-228600">
              <a:spcAft>
                <a:spcPts val="800"/>
              </a:spcAft>
              <a:buSzPct val="100000"/>
              <a:buChar char="•"/>
            </a:pPr>
            <a:r>
              <a:rPr lang="en-US" sz="1500" dirty="0">
                <a:solidFill>
                  <a:schemeClr val="tx1"/>
                </a:solidFill>
              </a:rPr>
              <a:t>At a </a:t>
            </a:r>
            <a:r>
              <a:rPr lang="en-US" sz="1500" b="1" dirty="0">
                <a:solidFill>
                  <a:schemeClr val="tx1"/>
                </a:solidFill>
              </a:rPr>
              <a:t>4.1%</a:t>
            </a:r>
            <a:r>
              <a:rPr lang="en-US" sz="1500" dirty="0">
                <a:solidFill>
                  <a:schemeClr val="tx1"/>
                </a:solidFill>
              </a:rPr>
              <a:t> chance it warns </a:t>
            </a:r>
            <a:r>
              <a:rPr lang="en-US" sz="1500" b="1" dirty="0">
                <a:solidFill>
                  <a:schemeClr val="tx1"/>
                </a:solidFill>
              </a:rPr>
              <a:t>59%</a:t>
            </a:r>
            <a:r>
              <a:rPr lang="en-US" sz="1500" dirty="0">
                <a:solidFill>
                  <a:schemeClr val="tx1"/>
                </a:solidFill>
              </a:rPr>
              <a:t> of programs, is right </a:t>
            </a:r>
            <a:r>
              <a:rPr lang="en-US" sz="1500" b="1" dirty="0">
                <a:solidFill>
                  <a:schemeClr val="tx1"/>
                </a:solidFill>
              </a:rPr>
              <a:t>65.9%</a:t>
            </a:r>
            <a:r>
              <a:rPr lang="en-US" sz="1500" dirty="0">
                <a:solidFill>
                  <a:schemeClr val="tx1"/>
                </a:solidFill>
              </a:rPr>
              <a:t> of the time, and is worth </a:t>
            </a:r>
            <a:r>
              <a:rPr lang="en-US" sz="1500" b="1" dirty="0">
                <a:solidFill>
                  <a:schemeClr val="tx1"/>
                </a:solidFill>
              </a:rPr>
              <a:t>$1.44m</a:t>
            </a:r>
            <a:r>
              <a:rPr lang="en-US" sz="1500" dirty="0">
                <a:solidFill>
                  <a:schemeClr val="tx1"/>
                </a:solidFill>
              </a:rPr>
              <a:t>, with no line for the all-clear group</a:t>
            </a:r>
            <a:endParaRPr lang="en-US" sz="1500" dirty="0"/>
          </a:p>
          <a:p>
            <a:pPr marL="228600" indent="-228600">
              <a:spcAft>
                <a:spcPts val="800"/>
              </a:spcAft>
              <a:buSzPct val="100000"/>
              <a:buChar char="•"/>
            </a:pPr>
            <a:r>
              <a:rPr lang="en-US" sz="1500" dirty="0">
                <a:solidFill>
                  <a:schemeClr val="tx1"/>
                </a:solidFill>
              </a:rPr>
              <a:t>(b) Value rises steeply with separation: </a:t>
            </a:r>
            <a:r>
              <a:rPr lang="en-US" sz="1500" b="1" dirty="0">
                <a:solidFill>
                  <a:schemeClr val="tx1"/>
                </a:solidFill>
              </a:rPr>
              <a:t>$0.63m</a:t>
            </a:r>
            <a:r>
              <a:rPr lang="en-US" sz="1500" dirty="0">
                <a:solidFill>
                  <a:schemeClr val="tx1"/>
                </a:solidFill>
              </a:rPr>
              <a:t> at an AUC of 0.86, </a:t>
            </a:r>
            <a:r>
              <a:rPr lang="en-US" sz="1500" b="1" dirty="0">
                <a:solidFill>
                  <a:schemeClr val="tx1"/>
                </a:solidFill>
              </a:rPr>
              <a:t>$2.24m</a:t>
            </a:r>
            <a:r>
              <a:rPr lang="en-US" sz="1500" dirty="0">
                <a:solidFill>
                  <a:schemeClr val="tx1"/>
                </a:solidFill>
              </a:rPr>
              <a:t> at 0.96</a:t>
            </a:r>
            <a:endParaRPr lang="en-US" sz="1500" dirty="0"/>
          </a:p>
        </p:txBody>
      </p:sp>
      <p:pic>
        <p:nvPicPr>
          <p:cNvPr id="6" name="Figure" descr="Figure 13.1: accuracy is not value">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13.1. (a) The desk's logistic warning at every threshold: the value of its two packages and its accuracy on fresh paths. (b) The most a warning can be worth against its readings' AUC.</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§13.4 · THEOREM 13.3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Certify a design on bounds, not estimates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13.3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Honest Checks</a:t>
            </a:r>
            <a:endParaRPr lang="en-US" sz="2100" dirty="0"/>
          </a:p>
        </p:txBody>
      </p:sp>
      <p:pic>
        <p:nvPicPr>
          <p:cNvPr id="8" name="Equation" descr="Equation: \Pr\bigl\{R(h) \le p_U(K)\bigr\} \ge 1 - \delta, \qquad p_U(k) = \text{the } (1 - \delta)\text{ quantile of } \mathrm{Beta}(k + 1,\, m - k)">    </p:cNvPr>
          <p:cNvPicPr>
            <a:picLocks noChangeAspect="1"/>
          </p:cNvPicPr>
          <p:nvPr/>
        </p:nvPicPr>
        <p:blipFill>
          <a:blip r:embed="rId1"/>
          <a:stretch>
            <a:fillRect/>
          </a:stretch>
        </p:blipFill>
        <p:spPr>
          <a:xfrm>
            <a:off x="822960" y="2845741"/>
            <a:ext cx="5394960" cy="252119"/>
          </a:xfrm>
          <a:prstGeom prst="rect">
            <a:avLst/>
          </a:prstGeom>
        </p:spPr>
      </p:pic>
      <p:sp>
        <p:nvSpPr>
          <p:cNvPr id="9" name="Bullets"/>
          <p:cNvSpPr txBox="1"/>
          <p:nvPr/>
        </p:nvSpPr>
        <p:spPr>
          <a:xfrm>
            <a:off x="822960" y="3262451"/>
            <a:ext cx="5394960" cy="2772589"/>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Fresh data.</a:t>
            </a:r>
            <a:r>
              <a:rPr lang="en-US" sz="1400" dirty="0">
                <a:solidFill>
                  <a:schemeClr val="tx1"/>
                </a:solidFill>
              </a:rPr>
              <a:t> For a predictor fixed before m fresh cases, the fresh average is unbiased; Hoeffding bounds it, Clopper–Pearson bounds a chance</a:t>
            </a:r>
            <a:endParaRPr lang="en-US" sz="1400" dirty="0"/>
          </a:p>
          <a:p>
            <a:pPr marL="228600" indent="-228600">
              <a:spcAft>
                <a:spcPts val="600"/>
              </a:spcAft>
              <a:buSzPct val="100000"/>
              <a:buChar char="•"/>
            </a:pPr>
            <a:r>
              <a:rPr lang="en-US" sz="1400" b="1" dirty="0">
                <a:solidFill>
                  <a:schemeClr val="tx1"/>
                </a:solidFill>
              </a:rPr>
              <a:t>(ii) Many candidates.</a:t>
            </a:r>
            <a:r>
              <a:rPr lang="en-US" sz="1400" dirty="0">
                <a:solidFill>
                  <a:schemeClr val="tx1"/>
                </a:solidFill>
              </a:rPr>
              <a:t> With K fixed in advance, every estimate is within √(ln(2K/δ)/(2m)); one chosen by its fresh score is not covered</a:t>
            </a:r>
            <a:endParaRPr lang="en-US" sz="1400" dirty="0"/>
          </a:p>
          <a:p>
            <a:pPr marL="228600" indent="-228600">
              <a:spcAft>
                <a:spcPts val="600"/>
              </a:spcAft>
              <a:buSzPct val="100000"/>
              <a:buChar char="•"/>
            </a:pPr>
            <a:r>
              <a:rPr lang="en-US" sz="1400" b="1" dirty="0">
                <a:solidFill>
                  <a:schemeClr val="tx1"/>
                </a:solidFill>
              </a:rPr>
              <a:t>(iii) Conformal sets.</a:t>
            </a:r>
            <a:r>
              <a:rPr lang="en-US" sz="1400" dirty="0">
                <a:solidFill>
                  <a:schemeClr val="tx1"/>
                </a:solidFill>
              </a:rPr>
              <a:t> Coverage between 1 − α and 1 − α + 1/(n + 1), whatever the law, when cases are exchangeable</a:t>
            </a:r>
            <a:endParaRPr lang="en-US" sz="1400" dirty="0"/>
          </a:p>
          <a:p>
            <a:pPr marL="228600" indent="-228600">
              <a:spcAft>
                <a:spcPts val="600"/>
              </a:spcAft>
              <a:buSzPct val="100000"/>
              <a:buChar char="•"/>
            </a:pPr>
            <a:r>
              <a:rPr lang="en-US" sz="1400" b="1" dirty="0">
                <a:solidFill>
                  <a:schemeClr val="tx1"/>
                </a:solidFill>
              </a:rPr>
              <a:t>(iv) Limits.</a:t>
            </a:r>
            <a:r>
              <a:rPr lang="en-US" sz="1400" dirty="0">
                <a:solidFill>
                  <a:schemeClr val="tx1"/>
                </a:solidFill>
              </a:rPr>
              <a:t> Averages over cases, not promises for each; they assume new cases come from the record's law</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audit committee's rule</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Score a model on cases held out from its fitting, and certify a design on bounds, not point estimates</a:t>
            </a:r>
            <a:endParaRPr lang="en-US" sz="1600" dirty="0"/>
          </a:p>
          <a:p>
            <a:pPr marL="228600" indent="-228600">
              <a:spcAft>
                <a:spcPts val="800"/>
              </a:spcAft>
              <a:buSzPct val="100000"/>
              <a:buChar char="•"/>
            </a:pPr>
            <a:r>
              <a:rPr lang="en-US" sz="1600" dirty="0">
                <a:solidFill>
                  <a:schemeClr val="tx1"/>
                </a:solidFill>
              </a:rPr>
              <a:t>Designed from held-out estimates, the warning promises </a:t>
            </a:r>
            <a:r>
              <a:rPr lang="en-US" sz="1600" b="1" dirty="0">
                <a:solidFill>
                  <a:schemeClr val="tx1"/>
                </a:solidFill>
              </a:rPr>
              <a:t>$1.73m</a:t>
            </a:r>
            <a:r>
              <a:rPr lang="en-US" sz="1600" dirty="0">
                <a:solidFill>
                  <a:schemeClr val="tx1"/>
                </a:solidFill>
              </a:rPr>
              <a:t> and breaches </a:t>
            </a:r>
            <a:r>
              <a:rPr lang="en-US" sz="1600" b="1" dirty="0">
                <a:solidFill>
                  <a:schemeClr val="tx1"/>
                </a:solidFill>
              </a:rPr>
              <a:t>5.02%</a:t>
            </a:r>
            <a:r>
              <a:rPr lang="en-US" sz="1600" dirty="0">
                <a:solidFill>
                  <a:schemeClr val="tx1"/>
                </a:solidFill>
              </a:rPr>
              <a:t> on fresh paths</a:t>
            </a:r>
            <a:endParaRPr lang="en-US" sz="1600" dirty="0"/>
          </a:p>
          <a:p>
            <a:pPr marL="228600" indent="-228600">
              <a:spcAft>
                <a:spcPts val="800"/>
              </a:spcAft>
              <a:buSzPct val="100000"/>
              <a:buChar char="•"/>
            </a:pPr>
            <a:r>
              <a:rPr lang="en-US" sz="1600" dirty="0">
                <a:solidFill>
                  <a:schemeClr val="tx1"/>
                </a:solidFill>
              </a:rPr>
              <a:t>Over 200 records such designs keep the appetite only half the time; designed on one-sided 95% bounds, in </a:t>
            </a:r>
            <a:r>
              <a:rPr lang="en-US" sz="1600" b="1" dirty="0">
                <a:solidFill>
                  <a:schemeClr val="tx1"/>
                </a:solidFill>
              </a:rPr>
              <a:t>98%</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§13.4 · TABLE 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Each measure says one thing and misses another</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057835"/>
                <a:gridCol w="3220959"/>
                <a:gridCol w="3042017"/>
                <a:gridCol w="2773604"/>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Says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Misses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Desk's warning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RMSE, MAE, MAPE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size of a numerical error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which errors cost money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Accuracy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share of cases right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costs of misses and false alarms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87.3% at 0.5, 65.9% where cheapest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AUC</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ranking of cases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threshold, and calibration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0.924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Calibration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stated chances match frequencies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ranking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Decision value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saving in the board's own costs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nothing the costs omit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$1.44m at most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Fresh breach</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whether the appetite holds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whether the record was typical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4.73% certified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6235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13.2: what each measure says, and what it misses (Worked Example 13.1, fresh paths).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§13.4 · FIGURE 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perfect record score breaks the appetite</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Boosting's AUC on the record climbs to </a:t>
            </a:r>
            <a:r>
              <a:rPr lang="en-US" sz="1500" b="1" dirty="0">
                <a:solidFill>
                  <a:schemeClr val="tx1"/>
                </a:solidFill>
              </a:rPr>
              <a:t>1.00</a:t>
            </a:r>
            <a:r>
              <a:rPr lang="en-US" sz="1500" dirty="0">
                <a:solidFill>
                  <a:schemeClr val="tx1"/>
                </a:solidFill>
              </a:rPr>
              <a:t>; on fresh programs it peaks at </a:t>
            </a:r>
            <a:r>
              <a:rPr lang="en-US" sz="1500" b="1" dirty="0">
                <a:solidFill>
                  <a:schemeClr val="tx1"/>
                </a:solidFill>
              </a:rPr>
              <a:t>0.910</a:t>
            </a:r>
            <a:r>
              <a:rPr lang="en-US" sz="1500" dirty="0">
                <a:solidFill>
                  <a:schemeClr val="tx1"/>
                </a:solidFill>
              </a:rPr>
              <a:t> after </a:t>
            </a:r>
            <a:r>
              <a:rPr lang="en-US" sz="1500" b="1" dirty="0">
                <a:solidFill>
                  <a:schemeClr val="tx1"/>
                </a:solidFill>
              </a:rPr>
              <a:t>24</a:t>
            </a:r>
            <a:r>
              <a:rPr lang="en-US" sz="1500" dirty="0">
                <a:solidFill>
                  <a:schemeClr val="tx1"/>
                </a:solidFill>
              </a:rPr>
              <a:t> stages and falls to </a:t>
            </a:r>
            <a:r>
              <a:rPr lang="en-US" sz="1500" b="1" dirty="0">
                <a:solidFill>
                  <a:schemeClr val="tx1"/>
                </a:solidFill>
              </a:rPr>
              <a:t>0.888</a:t>
            </a:r>
            <a:endParaRPr lang="en-US" sz="1500" dirty="0"/>
          </a:p>
          <a:p>
            <a:pPr marL="228600" indent="-228600">
              <a:spcAft>
                <a:spcPts val="800"/>
              </a:spcAft>
              <a:buSzPct val="100000"/>
              <a:buChar char="•"/>
            </a:pPr>
            <a:r>
              <a:rPr lang="en-US" sz="1500" dirty="0">
                <a:solidFill>
                  <a:schemeClr val="tx1"/>
                </a:solidFill>
              </a:rPr>
              <a:t>Trusted, its packages promise </a:t>
            </a:r>
            <a:r>
              <a:rPr lang="en-US" sz="1500" b="1" dirty="0">
                <a:solidFill>
                  <a:schemeClr val="tx1"/>
                </a:solidFill>
              </a:rPr>
              <a:t>$4.04m</a:t>
            </a:r>
            <a:r>
              <a:rPr lang="en-US" sz="1500" dirty="0">
                <a:solidFill>
                  <a:schemeClr val="tx1"/>
                </a:solidFill>
              </a:rPr>
              <a:t>, nearly a perfect warning; on fresh paths they breach </a:t>
            </a:r>
            <a:r>
              <a:rPr lang="en-US" sz="1500" b="1" dirty="0">
                <a:solidFill>
                  <a:schemeClr val="tx1"/>
                </a:solidFill>
              </a:rPr>
              <a:t>7.68%</a:t>
            </a:r>
            <a:endParaRPr lang="en-US" sz="1500" dirty="0"/>
          </a:p>
          <a:p>
            <a:pPr marL="228600" indent="-228600">
              <a:spcAft>
                <a:spcPts val="800"/>
              </a:spcAft>
              <a:buSzPct val="100000"/>
              <a:buChar char="•"/>
            </a:pPr>
            <a:r>
              <a:rPr lang="en-US" sz="1500" dirty="0">
                <a:solidFill>
                  <a:schemeClr val="tx1"/>
                </a:solidFill>
              </a:rPr>
              <a:t>(b) Over 200 records, designs from held-out shares keep 5% in </a:t>
            </a:r>
            <a:r>
              <a:rPr lang="en-US" sz="1500" b="1" dirty="0">
                <a:solidFill>
                  <a:schemeClr val="tx1"/>
                </a:solidFill>
              </a:rPr>
              <a:t>47.5%</a:t>
            </a:r>
            <a:r>
              <a:rPr lang="en-US" sz="1500" dirty="0">
                <a:solidFill>
                  <a:schemeClr val="tx1"/>
                </a:solidFill>
              </a:rPr>
              <a:t>; certified designs in </a:t>
            </a:r>
            <a:r>
              <a:rPr lang="en-US" sz="1500" b="1" dirty="0">
                <a:solidFill>
                  <a:schemeClr val="tx1"/>
                </a:solidFill>
              </a:rPr>
              <a:t>98.0%</a:t>
            </a:r>
            <a:r>
              <a:rPr lang="en-US" sz="1500" dirty="0">
                <a:solidFill>
                  <a:schemeClr val="tx1"/>
                </a:solidFill>
              </a:rPr>
              <a:t>, worth </a:t>
            </a:r>
            <a:r>
              <a:rPr lang="en-US" sz="1500" b="1" dirty="0">
                <a:solidFill>
                  <a:schemeClr val="tx1"/>
                </a:solidFill>
              </a:rPr>
              <a:t>$0.95m</a:t>
            </a:r>
            <a:r>
              <a:rPr lang="en-US" sz="1500" dirty="0">
                <a:solidFill>
                  <a:schemeClr val="tx1"/>
                </a:solidFill>
              </a:rPr>
              <a:t> on average</a:t>
            </a:r>
            <a:endParaRPr lang="en-US" sz="1500" dirty="0"/>
          </a:p>
        </p:txBody>
      </p:sp>
      <p:pic>
        <p:nvPicPr>
          <p:cNvPr id="6" name="Figure" descr="Figure 13.2: a record's score is not evidence">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13.2. (a) Boosting on the desk's record: AUC on the record and on fresh programs by number of stages. (b) 200 records of 1,000 windows: held-out and certified designs, checked on fresh paths.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§13.5 · DEFINITION 13.3 · PROPOSITION 13.3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Components keep variance; attributions need a game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13.3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Reading a Model</a:t>
            </a:r>
            <a:endParaRPr lang="en-US" sz="2100" dirty="0"/>
          </a:p>
        </p:txBody>
      </p:sp>
      <p:pic>
        <p:nvPicPr>
          <p:cNvPr id="8" name="Equation" descr="Equation: \phi_j = \sum_{S \subseteq \{1, \dots, k\} \setminus \{j\}} \frac{|S|!\,(k - |S| - 1)!}{k!}\bigl(v(S \cup \{j\}) - v(S)\bigr)">    </p:cNvPr>
          <p:cNvPicPr>
            <a:picLocks noChangeAspect="1"/>
          </p:cNvPicPr>
          <p:nvPr/>
        </p:nvPicPr>
        <p:blipFill>
          <a:blip r:embed="rId1"/>
          <a:stretch>
            <a:fillRect/>
          </a:stretch>
        </p:blipFill>
        <p:spPr>
          <a:xfrm>
            <a:off x="822960" y="2743200"/>
            <a:ext cx="3823980" cy="548640"/>
          </a:xfrm>
          <a:prstGeom prst="rect">
            <a:avLst/>
          </a:prstGeom>
        </p:spPr>
      </p:pic>
      <p:sp>
        <p:nvSpPr>
          <p:cNvPr id="9" name="Bullets"/>
          <p:cNvSpPr txBox="1"/>
          <p:nvPr/>
        </p:nvSpPr>
        <p:spPr>
          <a:xfrm>
            <a:off x="822960" y="3456432"/>
            <a:ext cx="5394960" cy="257860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Components.</a:t>
            </a:r>
            <a:r>
              <a:rPr lang="en-US" sz="1400" dirty="0">
                <a:solidFill>
                  <a:schemeClr val="tx1"/>
                </a:solidFill>
              </a:rPr>
              <a:t> The top r principal components keep more variance than any other r directions</a:t>
            </a:r>
            <a:endParaRPr lang="en-US" sz="1400" dirty="0"/>
          </a:p>
          <a:p>
            <a:pPr marL="228600" indent="-228600">
              <a:spcAft>
                <a:spcPts val="600"/>
              </a:spcAft>
              <a:buSzPct val="100000"/>
              <a:buChar char="•"/>
            </a:pPr>
            <a:r>
              <a:rPr lang="en-US" sz="1400" b="1" dirty="0">
                <a:solidFill>
                  <a:schemeClr val="tx1"/>
                </a:solidFill>
              </a:rPr>
              <a:t>(ii) Variance is not relevance.</a:t>
            </a:r>
            <a:r>
              <a:rPr lang="en-US" sz="1400" dirty="0">
                <a:solidFill>
                  <a:schemeClr val="tx1"/>
                </a:solidFill>
              </a:rPr>
              <a:t> The top component can carry none of the information about the outcome; a discarded one, all of it</a:t>
            </a:r>
            <a:endParaRPr lang="en-US" sz="1400" dirty="0"/>
          </a:p>
          <a:p>
            <a:pPr marL="228600" indent="-228600">
              <a:spcAft>
                <a:spcPts val="600"/>
              </a:spcAft>
              <a:buSzPct val="100000"/>
              <a:buChar char="•"/>
            </a:pPr>
            <a:r>
              <a:rPr lang="en-US" sz="1400" b="1" dirty="0">
                <a:solidFill>
                  <a:schemeClr val="tx1"/>
                </a:solidFill>
              </a:rPr>
              <a:t>(iii) Shapley values.</a:t>
            </a:r>
            <a:r>
              <a:rPr lang="en-US" sz="1400" dirty="0">
                <a:solidFill>
                  <a:schemeClr val="tx1"/>
                </a:solidFill>
              </a:rPr>
              <a:t> The only efficient, symmetric, null and additive attribution; for a linear model under the interventional game, each coefficient times the reading's distance from its mean</a:t>
            </a:r>
            <a:endParaRPr lang="en-US" sz="1400" dirty="0"/>
          </a:p>
          <a:p>
            <a:pPr marL="228600" indent="-228600">
              <a:spcAft>
                <a:spcPts val="600"/>
              </a:spcAft>
              <a:buSzPct val="100000"/>
              <a:buChar char="•"/>
            </a:pPr>
            <a:r>
              <a:rPr lang="en-US" sz="1400" b="1" dirty="0">
                <a:solidFill>
                  <a:schemeClr val="tx1"/>
                </a:solidFill>
              </a:rPr>
              <a:t>(iv) The game decides.</a:t>
            </a:r>
            <a:r>
              <a:rPr lang="en-US" sz="1400" dirty="0">
                <a:solidFill>
                  <a:schemeClr val="tx1"/>
                </a:solidFill>
              </a:rPr>
              <a:t> Conditional: an ignored feature can get credit; interventional: a proxy carries what it stands for</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five readings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record's first component, an equal-weighted index, keeps </a:t>
            </a:r>
            <a:r>
              <a:rPr lang="en-US" sz="1600" b="1" dirty="0">
                <a:solidFill>
                  <a:schemeClr val="tx1"/>
                </a:solidFill>
              </a:rPr>
              <a:t>56%</a:t>
            </a:r>
            <a:r>
              <a:rPr lang="en-US" sz="1600" dirty="0">
                <a:solidFill>
                  <a:schemeClr val="tx1"/>
                </a:solidFill>
              </a:rPr>
              <a:t> of the variance and allows at most </a:t>
            </a:r>
            <a:r>
              <a:rPr lang="en-US" sz="1600" b="1" dirty="0">
                <a:solidFill>
                  <a:schemeClr val="tx1"/>
                </a:solidFill>
              </a:rPr>
              <a:t>$0.14m</a:t>
            </a:r>
            <a:endParaRPr lang="en-US" sz="1600" dirty="0"/>
          </a:p>
          <a:p>
            <a:pPr marL="228600" indent="-228600">
              <a:spcAft>
                <a:spcPts val="800"/>
              </a:spcAft>
              <a:buSzPct val="100000"/>
              <a:buChar char="•"/>
            </a:pPr>
            <a:r>
              <a:rPr lang="en-US" sz="1600" dirty="0">
                <a:solidFill>
                  <a:schemeClr val="tx1"/>
                </a:solidFill>
              </a:rPr>
              <a:t>The funding spread alone keeps </a:t>
            </a:r>
            <a:r>
              <a:rPr lang="en-US" sz="1600" b="1" dirty="0">
                <a:solidFill>
                  <a:schemeClr val="tx1"/>
                </a:solidFill>
              </a:rPr>
              <a:t>30%</a:t>
            </a:r>
            <a:r>
              <a:rPr lang="en-US" sz="1600" dirty="0">
                <a:solidFill>
                  <a:schemeClr val="tx1"/>
                </a:solidFill>
              </a:rPr>
              <a:t> and allows </a:t>
            </a:r>
            <a:r>
              <a:rPr lang="en-US" sz="1600" b="1" dirty="0">
                <a:solidFill>
                  <a:schemeClr val="tx1"/>
                </a:solidFill>
              </a:rPr>
              <a:t>$1.21m</a:t>
            </a:r>
            <a:endParaRPr lang="en-US" sz="1600" dirty="0"/>
          </a:p>
          <a:p>
            <a:pPr marL="228600" indent="-228600">
              <a:spcAft>
                <a:spcPts val="800"/>
              </a:spcAft>
              <a:buSzPct val="100000"/>
              <a:buChar char="•"/>
            </a:pPr>
            <a:r>
              <a:rPr lang="en-US" sz="1600" dirty="0">
                <a:solidFill>
                  <a:schemeClr val="tx1"/>
                </a:solidFill>
              </a:rPr>
              <a:t>Attributions describe a model under a declared game, not causes: before reading one, ask which game it plays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Is the market desk's warning worth paying for?</a:t>
            </a:r>
            <a:endParaRPr lang="en-US" sz="3200" dirty="0"/>
          </a:p>
        </p:txBody>
      </p:sp>
      <p:sp>
        <p:nvSpPr>
          <p:cNvPr id="5" name="Card"/>
          <p:cNvSpPr/>
          <p:nvPr/>
        </p:nvSpPr>
        <p:spPr>
          <a:xfrm>
            <a:off x="548640" y="1691640"/>
            <a:ext cx="3515258" cy="2788920"/>
          </a:xfrm>
          <a:prstGeom prst="roundRect">
            <a:avLst>
              <a:gd name="adj" fmla="val 262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Chapter 9</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 perfect warning is worth $4.12m</a:t>
            </a:r>
            <a:endParaRPr lang="en-US" sz="1900" dirty="0"/>
          </a:p>
        </p:txBody>
      </p:sp>
      <p:sp>
        <p:nvSpPr>
          <p:cNvPr id="8" name="Card text"/>
          <p:cNvSpPr txBox="1"/>
          <p:nvPr/>
        </p:nvSpPr>
        <p:spPr>
          <a:xfrm>
            <a:off x="731520" y="3026664"/>
            <a:ext cx="3149498" cy="1325880"/>
          </a:xfrm>
          <a:prstGeom prst="rect">
            <a:avLst/>
          </a:prstGeom>
          <a:noFill/>
          <a:ln/>
        </p:spPr>
        <p:txBody>
          <a:bodyPr wrap="square" lIns="0" tIns="0" rIns="0" bIns="0" rtlCol="0" anchor="t"/>
          <a:lstStyle/>
          <a:p>
            <a:pPr indent="0" marL="0">
              <a:buNone/>
            </a:pPr>
            <a:r>
              <a:rPr lang="en-US" sz="1400" dirty="0">
                <a:solidFill>
                  <a:schemeClr val="tx2"/>
                </a:solidFill>
              </a:rPr>
              <a:t>No line and 0.61 quarter of delay without a closure ahead; a $215m line and half a quarter with one: $6.32m against Volume I's $10.44m.</a:t>
            </a:r>
            <a:endParaRPr lang="en-US" sz="1400" dirty="0"/>
          </a:p>
        </p:txBody>
      </p:sp>
      <p:sp>
        <p:nvSpPr>
          <p:cNvPr id="9" name="Card"/>
          <p:cNvSpPr/>
          <p:nvPr/>
        </p:nvSpPr>
        <p:spPr>
          <a:xfrm>
            <a:off x="4338218" y="1691640"/>
            <a:ext cx="3515258" cy="2788920"/>
          </a:xfrm>
          <a:prstGeom prst="roundRect">
            <a:avLst>
              <a:gd name="adj" fmla="val 262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treasury's market desk</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Five readings and a record</a:t>
            </a:r>
            <a:endParaRPr lang="en-US" sz="1900" dirty="0"/>
          </a:p>
        </p:txBody>
      </p:sp>
      <p:sp>
        <p:nvSpPr>
          <p:cNvPr id="12" name="Card text"/>
          <p:cNvSpPr txBox="1"/>
          <p:nvPr/>
        </p:nvSpPr>
        <p:spPr>
          <a:xfrm>
            <a:off x="4521098" y="3026664"/>
            <a:ext cx="3149498" cy="1325880"/>
          </a:xfrm>
          <a:prstGeom prst="rect">
            <a:avLst/>
          </a:prstGeom>
          <a:noFill/>
          <a:ln/>
        </p:spPr>
        <p:txBody>
          <a:bodyPr wrap="square" lIns="0" tIns="0" rIns="0" bIns="0" rtlCol="0" anchor="t"/>
          <a:lstStyle/>
          <a:p>
            <a:pPr indent="0" marL="0">
              <a:buNone/>
            </a:pPr>
            <a:r>
              <a:rPr lang="en-US" sz="1400" dirty="0">
                <a:solidFill>
                  <a:schemeClr val="tx2"/>
                </a:solidFill>
              </a:rPr>
              <a:t>Meridian's bond spread, the high-yield spread, equity volatility, lending standards, the bank-funding spread; 1,000 windows, 268 with a closure.</a:t>
            </a:r>
            <a:endParaRPr lang="en-US" sz="1400" dirty="0"/>
          </a:p>
        </p:txBody>
      </p:sp>
      <p:sp>
        <p:nvSpPr>
          <p:cNvPr id="13" name="Card"/>
          <p:cNvSpPr/>
          <p:nvPr/>
        </p:nvSpPr>
        <p:spPr>
          <a:xfrm>
            <a:off x="8127797" y="1691640"/>
            <a:ext cx="3515258" cy="2788920"/>
          </a:xfrm>
          <a:prstGeom prst="roundRect">
            <a:avLst>
              <a:gd name="adj" fmla="val 262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board's terms</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Two packages, one appetite</a:t>
            </a:r>
            <a:endParaRPr lang="en-US" sz="1900" dirty="0"/>
          </a:p>
        </p:txBody>
      </p:sp>
      <p:sp>
        <p:nvSpPr>
          <p:cNvPr id="16" name="Card text"/>
          <p:cNvSpPr txBox="1"/>
          <p:nvPr/>
        </p:nvSpPr>
        <p:spPr>
          <a:xfrm>
            <a:off x="8310677" y="3026664"/>
            <a:ext cx="3149498" cy="1325880"/>
          </a:xfrm>
          <a:prstGeom prst="rect">
            <a:avLst/>
          </a:prstGeom>
          <a:noFill/>
          <a:ln/>
        </p:spPr>
        <p:txBody>
          <a:bodyPr wrap="square" lIns="0" tIns="0" rIns="0" bIns="0" rtlCol="0" anchor="t"/>
          <a:lstStyle/>
          <a:p>
            <a:pPr indent="0" marL="0">
              <a:buNone/>
            </a:pPr>
            <a:r>
              <a:rPr lang="en-US" sz="1400" dirty="0">
                <a:solidFill>
                  <a:schemeClr val="bg2"/>
                </a:solidFill>
              </a:rPr>
              <a:t>One package for warning, one for all clear, 5% counted over both; the audit committee certifies at one-sided 95%.</a:t>
            </a:r>
            <a:endParaRPr lang="en-US" sz="1400" dirty="0"/>
          </a:p>
        </p:txBody>
      </p:sp>
      <p:sp>
        <p:nvSpPr>
          <p:cNvPr id="17" name="Lead"/>
          <p:cNvSpPr txBox="1"/>
          <p:nvPr/>
        </p:nvSpPr>
        <p:spPr>
          <a:xfrm>
            <a:off x="548640" y="475488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Chapter 9 asked how to test a warning before paying for it. The desk now offers one, learned from data.</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STEPS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steps from a ceiling to a certified price</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and price the ceiling</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Read by the declared law, the readings separate closures with an AUC of 0.924; the best warning is worth $1.44m.</a:t>
            </a:r>
            <a:endParaRPr lang="en-US" sz="14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Accuracy is not value</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At 0.5: 23% warned, 87.3% right, $0.53m. At a 4.1% chance: 59% warned, 65.9% right, $1.44m, the ceiling.</a:t>
            </a:r>
            <a:endParaRPr lang="en-US" sz="14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 perfect record, a broken appetite</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Boosting is right on every window; trusted, it promises $4.04m and breaches 7.68% on fresh paths.</a:t>
            </a:r>
            <a:endParaRPr lang="en-US" sz="14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Certify before paying</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Held-out shares: $1.73m, 5.02%, 47.5% of records keep 5%. Certified: 98.0%; $1.06m on the desk's record.</a:t>
            </a:r>
            <a:endParaRPr lang="en-US" sz="14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One number or five</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The first component keeps 56% of the variance, worth $0.14m; the funding spread alone 30%, worth $1.21m.</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TABLE 13.3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promise is checked on fresh paths</a:t>
            </a:r>
            <a:endParaRPr lang="en-US" sz="32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86929"/>
                <a:gridCol w="1126777"/>
                <a:gridCol w="1733502"/>
                <a:gridCol w="1733502"/>
                <a:gridCol w="1300127"/>
                <a:gridCol w="1386802"/>
                <a:gridCol w="1126777"/>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Warning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Warned (%)</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All clear: line, delay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Warned: line, delay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Promised 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Fresh breach (%)</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Fresh 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None (Volume 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170, 0.67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Perfect (Chapter 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26.0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0, 0.61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215, 0.50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Declared law (ceiling)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58.9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190, 0.73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Logistic, at 0.5 (law)</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22.9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125, 0.71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205, 0.67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0.53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0.53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Logistic, cheapest (law)</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58.6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0, 0.67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190, 0.73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1.46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Logistic, held-out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60.9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0, 0.68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185, 0.68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Logistic, certified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60.9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0, 0.73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190, 0.74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4.73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Boosting, trusted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35.7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0, 0.61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215, 0.51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4.04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7.68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Boosting, held-out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68.3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0, 0.76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190, 0.74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1.16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4.96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0.59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6235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(law): each group's closure share as the law gives it; the other logistic and boosting rows estimate it from the desk's record. $ million; delays in quarters. A fresh value is shown only where the fresh breach is near the appetite.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FIGURE 13.3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index keeps the variance, not the warning</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The first principal component keeps </a:t>
            </a:r>
            <a:r>
              <a:rPr lang="en-US" sz="1500" b="1" dirty="0">
                <a:solidFill>
                  <a:schemeClr val="tx1"/>
                </a:solidFill>
              </a:rPr>
              <a:t>56%</a:t>
            </a:r>
            <a:r>
              <a:rPr lang="en-US" sz="1500" dirty="0">
                <a:solidFill>
                  <a:schemeClr val="tx1"/>
                </a:solidFill>
              </a:rPr>
              <a:t> of the readings' variance and allows at most </a:t>
            </a:r>
            <a:r>
              <a:rPr lang="en-US" sz="1500" b="1" dirty="0">
                <a:solidFill>
                  <a:schemeClr val="tx1"/>
                </a:solidFill>
              </a:rPr>
              <a:t>$0.14m</a:t>
            </a:r>
            <a:endParaRPr lang="en-US" sz="1500" dirty="0"/>
          </a:p>
          <a:p>
            <a:pPr marL="228600" indent="-228600">
              <a:spcAft>
                <a:spcPts val="800"/>
              </a:spcAft>
              <a:buSzPct val="100000"/>
              <a:buChar char="•"/>
            </a:pPr>
            <a:r>
              <a:rPr lang="en-US" sz="1500" dirty="0">
                <a:solidFill>
                  <a:schemeClr val="tx1"/>
                </a:solidFill>
              </a:rPr>
              <a:t>The three market readings hold </a:t>
            </a:r>
            <a:r>
              <a:rPr lang="en-US" sz="1500" b="1" dirty="0">
                <a:solidFill>
                  <a:schemeClr val="tx1"/>
                </a:solidFill>
              </a:rPr>
              <a:t>51%</a:t>
            </a:r>
            <a:r>
              <a:rPr lang="en-US" sz="1500" dirty="0">
                <a:solidFill>
                  <a:schemeClr val="tx1"/>
                </a:solidFill>
              </a:rPr>
              <a:t> and allow </a:t>
            </a:r>
            <a:r>
              <a:rPr lang="en-US" sz="1500" b="1" dirty="0">
                <a:solidFill>
                  <a:schemeClr val="tx1"/>
                </a:solidFill>
              </a:rPr>
              <a:t>$0.02m</a:t>
            </a:r>
            <a:r>
              <a:rPr lang="en-US" sz="1500" dirty="0">
                <a:solidFill>
                  <a:schemeClr val="tx1"/>
                </a:solidFill>
              </a:rPr>
              <a:t>; the funding spread alone </a:t>
            </a:r>
            <a:r>
              <a:rPr lang="en-US" sz="1500" b="1" dirty="0">
                <a:solidFill>
                  <a:schemeClr val="tx1"/>
                </a:solidFill>
              </a:rPr>
              <a:t>30%</a:t>
            </a:r>
            <a:r>
              <a:rPr lang="en-US" sz="1500" dirty="0">
                <a:solidFill>
                  <a:schemeClr val="tx1"/>
                </a:solidFill>
              </a:rPr>
              <a:t> and </a:t>
            </a:r>
            <a:r>
              <a:rPr lang="en-US" sz="1500" b="1" dirty="0">
                <a:solidFill>
                  <a:schemeClr val="tx1"/>
                </a:solidFill>
              </a:rPr>
              <a:t>$1.21m</a:t>
            </a:r>
            <a:endParaRPr lang="en-US" sz="1500" dirty="0"/>
          </a:p>
          <a:p>
            <a:pPr marL="228600" indent="-228600">
              <a:spcAft>
                <a:spcPts val="800"/>
              </a:spcAft>
              <a:buSzPct val="100000"/>
              <a:buChar char="•"/>
            </a:pPr>
            <a:r>
              <a:rPr lang="en-US" sz="1500" dirty="0">
                <a:solidFill>
                  <a:schemeClr val="tx1"/>
                </a:solidFill>
              </a:rPr>
              <a:t>(b) The model weighs the funding spread at </a:t>
            </a:r>
            <a:r>
              <a:rPr lang="en-US" sz="1500" b="1" dirty="0">
                <a:solidFill>
                  <a:schemeClr val="tx1"/>
                </a:solidFill>
              </a:rPr>
              <a:t>2.18</a:t>
            </a:r>
            <a:r>
              <a:rPr lang="en-US" sz="1500" dirty="0">
                <a:solidFill>
                  <a:schemeClr val="tx1"/>
                </a:solidFill>
              </a:rPr>
              <a:t>, lending at </a:t>
            </a:r>
            <a:r>
              <a:rPr lang="en-US" sz="1500" b="1" dirty="0">
                <a:solidFill>
                  <a:schemeClr val="tx1"/>
                </a:solidFill>
              </a:rPr>
              <a:t>0.97</a:t>
            </a:r>
            <a:r>
              <a:rPr lang="en-US" sz="1500" dirty="0">
                <a:solidFill>
                  <a:schemeClr val="tx1"/>
                </a:solidFill>
              </a:rPr>
              <a:t>, the market readings negatively: they net out the common factor</a:t>
            </a:r>
            <a:endParaRPr lang="en-US" sz="1500" dirty="0"/>
          </a:p>
          <a:p>
            <a:pPr marL="228600" indent="-228600">
              <a:spcAft>
                <a:spcPts val="800"/>
              </a:spcAft>
              <a:buSzPct val="100000"/>
              <a:buChar char="•"/>
            </a:pPr>
            <a:r>
              <a:rPr lang="en-US" sz="1500" dirty="0">
                <a:solidFill>
                  <a:schemeClr val="tx1"/>
                </a:solidFill>
              </a:rPr>
              <a:t>Interventional credit: </a:t>
            </a:r>
            <a:r>
              <a:rPr lang="en-US" sz="1500" b="1" dirty="0">
                <a:solidFill>
                  <a:schemeClr val="tx1"/>
                </a:solidFill>
              </a:rPr>
              <a:t>2.13</a:t>
            </a:r>
            <a:r>
              <a:rPr lang="en-US" sz="1500" dirty="0">
                <a:solidFill>
                  <a:schemeClr val="tx1"/>
                </a:solidFill>
              </a:rPr>
              <a:t> to funding, </a:t>
            </a:r>
            <a:r>
              <a:rPr lang="en-US" sz="1500" b="1" dirty="0">
                <a:solidFill>
                  <a:schemeClr val="tx1"/>
                </a:solidFill>
              </a:rPr>
              <a:t>−0.83</a:t>
            </a:r>
            <a:r>
              <a:rPr lang="en-US" sz="1500" dirty="0">
                <a:solidFill>
                  <a:schemeClr val="tx1"/>
                </a:solidFill>
              </a:rPr>
              <a:t> to the market readings; conditional: all positive</a:t>
            </a:r>
            <a:endParaRPr lang="en-US" sz="1500" dirty="0"/>
          </a:p>
        </p:txBody>
      </p:sp>
      <p:pic>
        <p:nvPicPr>
          <p:cNvPr id="6" name="Figure" descr="Figure 13.3: reading the model">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13.3. (a) Variance kept against the most the warning is worth: top 1–5 principal components and subsets. (b) Attributions of one warned reading under the interventional and the conditional game.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Pay for the warning, but certify it first</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$1.44m</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most the desk's warning can be worth: a third of a perfect warning</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4.1%</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threshold the packages set, not accuracy's 0.5: wrong more often than never warning</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$1.06m</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the certified warning on the desk's record: about $1 million</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A model that is perfect on its record promises nearly $4 million and breaks the appetite</a:t>
            </a:r>
            <a:endParaRPr lang="en-US" sz="1700" dirty="0"/>
          </a:p>
          <a:p>
            <a:pPr marL="228600" indent="-228600">
              <a:spcAft>
                <a:spcPts val="800"/>
              </a:spcAft>
              <a:buSzPct val="100000"/>
              <a:buChar char="•"/>
            </a:pPr>
            <a:r>
              <a:rPr lang="en-US" sz="1700" dirty="0">
                <a:solidFill>
                  <a:schemeClr val="tx1"/>
                </a:solidFill>
              </a:rPr>
              <a:t>The information sits in the funding spread; the credit a reading receives depends on the declared game</a:t>
            </a:r>
            <a:endParaRPr lang="en-US" sz="1700" dirty="0"/>
          </a:p>
          <a:p>
            <a:pPr marL="228600" indent="-228600">
              <a:spcAft>
                <a:spcPts val="800"/>
              </a:spcAft>
              <a:buSzPct val="100000"/>
              <a:buChar char="•"/>
            </a:pPr>
            <a:r>
              <a:rPr lang="en-US" sz="1700" dirty="0">
                <a:solidFill>
                  <a:schemeClr val="tx1"/>
                </a:solidFill>
              </a:rPr>
              <a:t>For discussion: who should own the threshold, the desk or the board? How large a record before the certified warning is worth most of its ceiling?</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NETFLIX PRIZE</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Netflix paid $1m for ten percent</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Is better accuracy worth $1m?</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A 10 percent cut in rating-prediction error over Cinematch, judged on data the teams never saw.</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 hidden test set</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A public leaderboard on half the withheld ratings; the prize decided on the other half.</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Won in 2009, not deployed</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Two 2007 methods went into production; the final blend's gains did not justify the engineering.</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objective moved</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Streaming changed what mattered; engagement and retention, tested in experiments, decide.</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Value a warning by decisions</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Worked Example 13.1 values the desk's warning by what it does to the liquidity packages.</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Judged on what data?</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And what could our data reveal about individuals before we share it?</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2.13 · MODULE AXIOM-13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Pricing a learned warning,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audit committee will not pay for the desk's warning until it knows what the warning can be worth, at which threshold to read it, and whether its promise survives fresh data. Open AXIOM, choose Lab 2.13 and load the Meridian warning instance.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the record</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Compare readings with and without a closure; compute the ceiling.</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Train and validate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Fit a logistic and a boosted model; score them on the record, held-out folds and fresh programs.</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the warning</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Sweep the threshold; mark best accuracy and best value.</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Check and certify</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Trusted, held-out and certified designs on fresh paths; repeat on 200 records.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Compress and explain</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Price one index and subsets; compare two games of attribution.</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what the warning can be worth, the threshold and packages it should use, its certified value and fresh check, and what the desk should record next.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Learning supplies a declared part of the model, is judged on data it has not seen, and leaves the commitments to the optimizer; computed features never lower the floor, and leaked fields fake it.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Learning from a record is sample average approximation over predictors: a rich class can fit any record, so its record score is not evidence.</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prediction is worth the decisions it changes. Its threshold comes from the decision's costs, and its value is capped by the information in its inputs.</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Fresh data, confidence bounds, and conformal sets give guarantees while the future resembles the record; certify designs on bounds, not point estimates.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Principal components keep variance, not relevance, and attributions describe a model under a declared game. The desk's warning is worth at most $1.44 million and, certified, about $1 million.</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376</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203</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26213</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AXIOM-13</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2.13</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DCT_V2_Ch13_Lab.ipynb: Worked Example 13.1 and the lab's five steps in eight panels, on Chapter 9's paths and the book's seeds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DCT_V2_Ch13_Lab.xlsx: the declared law, the shares and bounds, the two-package arithmetic and Table 13.3,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Next, Chapter 14 continues Part IV</a:t>
            </a:r>
            <a:endParaRPr lang="en-US" sz="3200" dirty="0"/>
          </a:p>
        </p:txBody>
      </p:sp>
      <p:pic>
        <p:nvPicPr>
          <p:cNvPr id="5" name="Equation" descr="Equation: \min_{u \in \mathcal{U}(g(X))} \mathrm{E}\,J(u, Y) \;\ge\; \min_{u \in \mathcal{U}(X)} \mathrm{E}\,J(u, Y) \;\ge\; \min_{u \in \mathcal{U}(X,\,Y)} \mathrm{E}\,J(u, Y)">    </p:cNvPr>
          <p:cNvPicPr>
            <a:picLocks noChangeAspect="1"/>
          </p:cNvPicPr>
          <p:nvPr/>
        </p:nvPicPr>
        <p:blipFill>
          <a:blip r:embed="rId1"/>
          <a:stretch>
            <a:fillRect/>
          </a:stretch>
        </p:blipFill>
        <p:spPr>
          <a:xfrm>
            <a:off x="2217268" y="1691640"/>
            <a:ext cx="7757160"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Parts I–III declared every part of their models; this chapter let data supply one part, on the framework's terms</a:t>
            </a:r>
            <a:endParaRPr lang="en-US" sz="1800" dirty="0"/>
          </a:p>
          <a:p>
            <a:pPr marL="228600" indent="-228600">
              <a:spcAft>
                <a:spcPts val="800"/>
              </a:spcAft>
              <a:buSzPct val="100000"/>
              <a:buChar char="•"/>
            </a:pPr>
            <a:r>
              <a:rPr lang="en-US" sz="1800" dirty="0">
                <a:solidFill>
                  <a:schemeClr val="bg1"/>
                </a:solidFill>
              </a:rPr>
              <a:t>Learning proposes, fresh data checks, and the optimizer keeps the commitments; no rule that reads less does better than the best rule that reads more (Theorem 13.2(iii))</a:t>
            </a:r>
            <a:endParaRPr lang="en-US" sz="1800" dirty="0"/>
          </a:p>
          <a:p>
            <a:pPr marL="228600" indent="-228600">
              <a:spcAft>
                <a:spcPts val="800"/>
              </a:spcAft>
              <a:buSzPct val="100000"/>
              <a:buChar char="•"/>
            </a:pPr>
            <a:r>
              <a:rPr lang="en-US" sz="1800" dirty="0">
                <a:solidFill>
                  <a:schemeClr val="bg1"/>
                </a:solidFill>
              </a:rPr>
              <a:t>Chapter 14, Artificial Intelligence for Enterprise Optimization, continues Part IV, Multi-Objective and Intelligent Enterprise Optimization</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13: Machine Learning for Enterprise Transformation</dc:title>
  <dc:subject>Slides for Volume II, Chapter 13 (V56)</dc:subject>
  <dc:creator>Samir Asaf</dc:creator>
  <cp:lastModifiedBy>Samir Asaf</cp:lastModifiedBy>
  <cp:revision>1</cp:revision>
  <dcterms:created xsi:type="dcterms:W3CDTF">2026-10-06T07:09:16Z</dcterms:created>
  <dcterms:modified xsi:type="dcterms:W3CDTF">2026-10-06T07:09:16Z</dcterms:modified>
</cp:coreProperties>
</file>