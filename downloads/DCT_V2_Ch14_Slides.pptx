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5ab994a-26ce-1b8f-b43e-5447d1638129}">
          <p14:sldIdLst>
            <p14:sldId id="256"/>
            <p14:sldId id="257"/>
            <p14:sldId id="258"/>
            <p14:sldId id="259"/>
          </p14:sldIdLst>
        </p14:section>
        <p14:section name="14.1 Learning from Acting" id="{2fca0353-cfc5-87d0-978b-1dd5ccb549c0}">
          <p14:sldIdLst>
            <p14:sldId id="260"/>
            <p14:sldId id="261"/>
          </p14:sldIdLst>
        </p14:section>
        <p14:section name="14.2 Learning a Rule by Trial" id="{033ec7e0-c0e2-5b4f-94e9-ba22f813427e}">
          <p14:sldIdLst>
            <p14:sldId id="262"/>
            <p14:sldId id="263"/>
            <p14:sldId id="264"/>
          </p14:sldIdLst>
        </p14:section>
        <p14:section name="14.3 The Price of Exploration" id="{4fe57c14-4190-20e7-b6cb-2172f9d85999}">
          <p14:sldIdLst>
            <p14:sldId id="265"/>
            <p14:sldId id="266"/>
          </p14:sldIdLst>
        </p14:section>
        <p14:section name="14.4 Learning with a Simulator" id="{6528f4ef-56dc-64b9-3f88-2025b0383830}">
          <p14:sldIdLst>
            <p14:sldId id="267"/>
            <p14:sldId id="268"/>
          </p14:sldIdLst>
        </p14:section>
        <p14:section name="14.5 Keeping the Commitments" id="{0545fa47-5973-0dbb-c313-7a2133a5329d}">
          <p14:sldIdLst>
            <p14:sldId id="269"/>
            <p14:sldId id="270"/>
          </p14:sldIdLst>
        </p14:section>
        <p14:section name="Worked Example 14.1" id="{b4fcabee-793e-8d05-8660-02c0e4d1be27}">
          <p14:sldIdLst>
            <p14:sldId id="271"/>
            <p14:sldId id="272"/>
            <p14:sldId id="273"/>
            <p14:sldId id="274"/>
          </p14:sldIdLst>
        </p14:section>
        <p14:section name="AXIOM Lab 2.14" id="{729dd5b1-5c62-59a2-daf9-4039375376b6}">
          <p14:sldIdLst>
            <p14:sldId id="275"/>
          </p14:sldIdLst>
        </p14:section>
        <p14:section name="Close" id="{799e08c9-64e7-f79b-36f4-d1aa277cc817}">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14. Chapter 7 computed the best rule from a declared law, and Chapter 13 learned a part of a model from a record that decisions do not change. This chapter learns rules by acting, where each decision changes the data that follow. The Worked Example lets an agent learn Meridian's hiring rule: in a simulator it needs a million quarters to come within $1.26 million of the best rule; learning on the company would cost $545.5 million, and $1.2 million inside the board's guardrail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Simon and Newell's forecast for game-playing computers. Many systems now sold as artificial intelligence learn a rule by acting, as a game-playing program learns from the games it plays against itself; this chapter treats such learning on the framework's terms (Section 14.1).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14.1-14.3 are in Appendix 14.A; Propositions 14.1-14.3, how the Worked Example is computed (Remark 14.B.1) and every number of the Worked Example and the figures (Example 14.B.2) are in Online Appendix 14.B. Table 14.2 lists the methods of learning by 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14.1. Equation 14.1 is Chapter 7's Bellman equation (Definition 7.2) written for decisions instead of states: Q*(s, a) is the value of deciding a in s and acting best afterwards. Learning by trial needs only the ability to try decisions and see what follows, in a simulator or on the company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14.1: where a rule comes from, and what judges it. The chapter treats decision processes with finitely many states and decisions, observed exactly, and one learner at a time until the last section (Scope and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14.1; formal statement and proof in Appendix 14.A. Watkins and Dayan proved that Q-learning converges. The uniform bound multiplies the largest error by the effective horizon, 1/(1 − β) = 42 quarters at Meridian's discount (Section 14.2). Steps of 1/n^0.7 leave $31.9 million after a million quarters (Online Appendix Example 14.B.2).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14.1 and Worked Example 14.1, Step 2. By 100,000 quarters the agents have tried 2,104 of the 2,113 decisions; their decision values are still wrong by $615.6 million at low capabilities, where they seldom went (Online Appendix Example 14.B.2).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14.1; formal statement and proof in Online Appendix 14.B. Table 14.2 lists the methods and what they promise. Part (i) is why the AI team's rule can be poor where Meridian never goes and still cost little from 58. Part (ii) drives actor–critic methods, proximal policy optimization, and the fine-tuning of language models from human preferences. Part (iii) is a caution for a board told that a learned rule 'has converged'.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14.2; formal statement and proof in Appendix 14.A. Part (iv) is a law of learning, not a weakness of a method: whoever learns by trying pays at least a logarithm of the trials. Lai and Robbins proved the lower bound; Auer, Cesa-Bianchi and Fischer the optimistic rule's bound. The optimistic rule's bonus is scaled to the decades'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14.2 and Worked Example 14.1, Steps 3 and 5. Starting untried decisions at zero makes every untried decision look best, and ties go to hiring nothing. Optimism that pays in a bandit is ruinous when every new state invites a new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14.3; formal statement and proof in Appendix 14.A. Kearns and Singh gave the simulation lemma, Weissman and coauthors the deviation of a learned law. Part (ii) is the cheap route, because the engineering office's record of swings is a record of an outside event, not of the board's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14.3 and Worked Example 14.1, Step 4. Offline learning from logged decisions meets the same wall; the repair is a record that tried other decisions, or a declaration (Section 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14.2 and Proposition 14.2; formal statement and proof in Online Appendix 14.B. A fluent proposal can be wrong. For a convex program, a proposed plan comes with its own proof when it comes with prices whose dual value matches its value (Theorem 3.4(iii)). Part (iii) is Chapter 13's warning about many candidates, now for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14.3 and Proposition 14.3; formal statement and proof in Online Appendix 14.B. Part (iii) is the framework's answer, the one Part I gave for capital. The author's papers study equilibria of many agents who watch one another: institutions that track their peers and guard against tail risk allocate in a mean-field equilibrium.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14.1, the situation. The agent reads capability in quarter-points and hires in quarter-point steps; it knows the costs, $4 million a point hired and $1.6 million a point-quarter short, and the discount, but not the law of the swings. It takes a random decision one time in ten, uses the step size 1/(1 + (1 − β)n), and starts untried decisions at zero, its software's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14.1, Steps 1-6; Online Appendix Example 14.B.2. Step 1: the best rule on the quarter-point grid costs $0.42 million more than Chapter 7's, targets planned capability of about 55.85, and starts 5.8 percent of quarters below the floor. Step 6: the breaches all lie below 54.5, where the best rule spends at most 2.8 percent of its quarters; policy iteration from any learned rule reaches the best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14.3. Ten agents learn in the simulator, 200 records feed each simulator, and 400 companies learn on the company. Inside the guardrail the agent spends 18 percent of quarters below the floor, against 5.8 percent for the best rule, and ends at 55.7.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14.1, what the board should take away, and the discussion questions. With the law declared, the agent adds nothing that Chapter 7's recursion does not compute at once; its use is where no law is declared, and there it is the agent's simulator that must be certified.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2.14. What to look for: slow convergence, and a rule good where the company goes while its values are wrong elsewhere (Theorem 14.1); greedy learners that stop exploring (Theorem 14.2(ii)); regret that grows like a logarithm for the optimistic rule (Theorem 14.2(iii)); a cheap simulator from the swings and a misleading one from practice (Theorem 14.3); and the guardrail's bound (Proposition 14.2(i)).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inequality is the certificate of Proposition 14.2(ii): values whose largest Bellman residual is e lie within e/(1 − β) of the best values (Theorem 7.3(ii)). Chapter 15, Enterprise Digital Twins and Autonomous Enterprise Transformation, is the next chapter of Part IV, Multi-Objective and Intelligent Enterprise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14</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14</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14 · WEEK 14</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Artificial Intelligence for Enterprise Optimization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Learn rules by acting, on the framework's terms: the learner proposes, a declared model or fresh trials judge, and guardrails and certificates keep the commitments</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26214 · AXIOM Lab 2.14 (AXIOM-14)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“[W]ithin ten years a digital computer will be the world's chess champion, unless the rules bar it from competition.”</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Herbert A. Simon</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1978; with Allen Newell, “Heuristic Problem Solving,” Operations Research (1958)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how learning from acting differs from learning from a record, and write an enterprise decision as a decision process with decision values.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Judge when learning a rule by trial converges, how fast, and how it fails.</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Price exploration: regret, the failure of greedy learning, and the optimism that bounds the loss.</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Learn with a simulator: what a learned law costs, and what a record kept under one rule cannot tell.</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14.5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Keep the commitments when AI proposes: guardrails, certificates, and coordination among many agents.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sections, a worked example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§14.1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Learning from Acting</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14.1 · Table 14.1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§14.2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Learning a Rule by Trial</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14.1 · Proposition 14.1 · Figure 14.1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§14.3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Price of Exploration</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14.2 · Figure 14.2</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§14.4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Learning with a Simulator</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14.3 · Figure 14.3</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§14.5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Keeping the Commitments</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Definitions 14.2–14.3 · Propositions 14.2–14.3</a:t>
            </a:r>
            <a:endParaRPr lang="en-US" sz="1300" dirty="0"/>
          </a:p>
        </p:txBody>
      </p:sp>
      <p:sp>
        <p:nvSpPr>
          <p:cNvPr id="25" name="Card"/>
          <p:cNvSpPr/>
          <p:nvPr/>
        </p:nvSpPr>
        <p:spPr>
          <a:xfrm>
            <a:off x="3390824" y="4069080"/>
            <a:ext cx="2567864" cy="2103120"/>
          </a:xfrm>
          <a:prstGeom prst="roundRect">
            <a:avLst>
              <a:gd name="adj" fmla="val 3478"/>
            </a:avLst>
          </a:prstGeom>
          <a:solidFill>
            <a:schemeClr val="tx1"/>
          </a:solidFill>
          <a:ln w="9525">
            <a:solidFill>
              <a:srgbClr val="0F1E3D"/>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14.1</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Should Meridian Let an Agent Learn Its Hiring Rule?</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14.3 · Figures 14.1–14.3</a:t>
            </a:r>
            <a:endParaRPr lang="en-US" sz="1300" dirty="0"/>
          </a:p>
        </p:txBody>
      </p:sp>
      <p:sp>
        <p:nvSpPr>
          <p:cNvPr id="29" name="Card"/>
          <p:cNvSpPr/>
          <p:nvPr/>
        </p:nvSpPr>
        <p:spPr>
          <a:xfrm>
            <a:off x="6233008" y="4069080"/>
            <a:ext cx="2567864" cy="2103120"/>
          </a:xfrm>
          <a:prstGeom prst="roundRect">
            <a:avLst>
              <a:gd name="adj" fmla="val 3478"/>
            </a:avLst>
          </a:prstGeom>
          <a:solidFill>
            <a:schemeClr val="bg2"/>
          </a:solidFill>
          <a:ln w="9525">
            <a:solidFill>
              <a:srgbClr val="C4CBD8"/>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2.14</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Learning a Rule by Trial: Simulators, Exploration, and Guardrails</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AXIOM-14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§14.1 · DEFINITION 14.1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Learning from acting writes a decision process</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 14.1</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Decision Process, Decision Values, and Regret</a:t>
            </a:r>
            <a:endParaRPr lang="en-US" sz="2100" dirty="0"/>
          </a:p>
        </p:txBody>
      </p:sp>
      <p:pic>
        <p:nvPicPr>
          <p:cNvPr id="8" name="Equation" descr="Equation: Q^{*}(s,a) \;=\; r(s,a) \;+\; \beta \sum_{s'} p(s' \mid s,a)\, \max_{a' \in A(s')} Q^{*}(s',a')">    </p:cNvPr>
          <p:cNvPicPr>
            <a:picLocks noChangeAspect="1"/>
          </p:cNvPicPr>
          <p:nvPr/>
        </p:nvPicPr>
        <p:blipFill>
          <a:blip r:embed="rId1"/>
          <a:stretch>
            <a:fillRect/>
          </a:stretch>
        </p:blipFill>
        <p:spPr>
          <a:xfrm>
            <a:off x="822960" y="2743200"/>
            <a:ext cx="4054288" cy="457200"/>
          </a:xfrm>
          <a:prstGeom prst="rect">
            <a:avLst/>
          </a:prstGeom>
        </p:spPr>
      </p:pic>
      <p:sp>
        <p:nvSpPr>
          <p:cNvPr id="9" name="Bullets"/>
          <p:cNvSpPr txBox="1"/>
          <p:nvPr/>
        </p:nvSpPr>
        <p:spPr>
          <a:xfrm>
            <a:off x="822960" y="3364992"/>
            <a:ext cx="6126480" cy="2670048"/>
          </a:xfrm>
          <a:prstGeom prst="rect">
            <a:avLst/>
          </a:prstGeom>
          <a:noFill/>
          <a:ln/>
        </p:spPr>
        <p:txBody>
          <a:bodyPr wrap="square" lIns="635" tIns="635" rIns="635" bIns="635" rtlCol="0" anchor="t"/>
          <a:lstStyle/>
          <a:p>
            <a:pPr marL="228600" indent="-228600">
              <a:spcAft>
                <a:spcPts val="600"/>
              </a:spcAft>
              <a:buSzPct val="100000"/>
              <a:buChar char="•"/>
            </a:pPr>
            <a:r>
              <a:rPr lang="en-US" sz="1400" dirty="0">
                <a:solidFill>
                  <a:schemeClr val="tx1"/>
                </a:solidFill>
              </a:rPr>
              <a:t>A </a:t>
            </a:r>
            <a:r>
              <a:rPr lang="en-US" sz="1400" b="1" dirty="0">
                <a:solidFill>
                  <a:schemeClr val="tx1"/>
                </a:solidFill>
              </a:rPr>
              <a:t>decision process</a:t>
            </a:r>
            <a:r>
              <a:rPr lang="en-US" sz="1400" dirty="0">
                <a:solidFill>
                  <a:schemeClr val="tx1"/>
                </a:solidFill>
              </a:rPr>
              <a:t> declares states s, decisions a ∈ A(s), a period's expected value r(s, a), a law p(s′ | s, a) of the next state, and a discount β &lt; 1</a:t>
            </a:r>
            <a:endParaRPr lang="en-US" sz="1400" dirty="0"/>
          </a:p>
          <a:p>
            <a:pPr marL="228600" indent="-228600">
              <a:spcAft>
                <a:spcPts val="600"/>
              </a:spcAft>
              <a:buSzPct val="100000"/>
              <a:buChar char="•"/>
            </a:pPr>
            <a:r>
              <a:rPr lang="en-US" sz="1400" dirty="0">
                <a:solidFill>
                  <a:schemeClr val="tx1"/>
                </a:solidFill>
              </a:rPr>
              <a:t>A </a:t>
            </a:r>
            <a:r>
              <a:rPr lang="en-US" sz="1400" b="1" dirty="0">
                <a:solidFill>
                  <a:schemeClr val="tx1"/>
                </a:solidFill>
              </a:rPr>
              <a:t>rule</a:t>
            </a:r>
            <a:r>
              <a:rPr lang="en-US" sz="1400" dirty="0">
                <a:solidFill>
                  <a:schemeClr val="tx1"/>
                </a:solidFill>
              </a:rPr>
              <a:t> chooses a decision in each state; its </a:t>
            </a:r>
            <a:r>
              <a:rPr lang="en-US" sz="1400" b="1" dirty="0">
                <a:solidFill>
                  <a:schemeClr val="tx1"/>
                </a:solidFill>
              </a:rPr>
              <a:t>values</a:t>
            </a:r>
            <a:r>
              <a:rPr lang="en-US" sz="1400" dirty="0">
                <a:solidFill>
                  <a:schemeClr val="tx1"/>
                </a:solidFill>
              </a:rPr>
              <a:t> are the expected discounted sum of the periods' values, and the best rules' </a:t>
            </a:r>
            <a:r>
              <a:rPr lang="en-US" sz="1400" b="1" dirty="0">
                <a:solidFill>
                  <a:schemeClr val="tx1"/>
                </a:solidFill>
              </a:rPr>
              <a:t>decision values</a:t>
            </a:r>
            <a:r>
              <a:rPr lang="en-US" sz="1400" dirty="0">
                <a:solidFill>
                  <a:schemeClr val="tx1"/>
                </a:solidFill>
              </a:rPr>
              <a:t> solve Equation 14.1</a:t>
            </a:r>
            <a:endParaRPr lang="en-US" sz="1400" dirty="0"/>
          </a:p>
          <a:p>
            <a:pPr marL="228600" indent="-228600">
              <a:spcAft>
                <a:spcPts val="600"/>
              </a:spcAft>
              <a:buSzPct val="100000"/>
              <a:buChar char="•"/>
            </a:pPr>
            <a:r>
              <a:rPr lang="en-US" sz="1400" b="1" dirty="0">
                <a:solidFill>
                  <a:schemeClr val="tx1"/>
                </a:solidFill>
              </a:rPr>
              <a:t>Learning by trial</a:t>
            </a:r>
            <a:r>
              <a:rPr lang="en-US" sz="1400" dirty="0">
                <a:solidFill>
                  <a:schemeClr val="tx1"/>
                </a:solidFill>
              </a:rPr>
              <a:t> (Q-learning) tries a in s, sees the value R and the next state s′, and moves Q(s, a) toward R + β max Q(s′, a′) by a step set by the pair's trials</a:t>
            </a:r>
            <a:endParaRPr lang="en-US" sz="1400" dirty="0"/>
          </a:p>
          <a:p>
            <a:pPr marL="228600" indent="-228600">
              <a:spcAft>
                <a:spcPts val="600"/>
              </a:spcAft>
              <a:buSzPct val="100000"/>
              <a:buChar char="•"/>
            </a:pPr>
            <a:r>
              <a:rPr lang="en-US" sz="1400" dirty="0">
                <a:solidFill>
                  <a:schemeClr val="tx1"/>
                </a:solidFill>
              </a:rPr>
              <a:t>A learner's </a:t>
            </a:r>
            <a:r>
              <a:rPr lang="en-US" sz="1400" b="1" dirty="0">
                <a:solidFill>
                  <a:schemeClr val="tx1"/>
                </a:solidFill>
              </a:rPr>
              <a:t>regret</a:t>
            </a:r>
            <a:r>
              <a:rPr lang="en-US" sz="1400" dirty="0">
                <a:solidFill>
                  <a:schemeClr val="tx1"/>
                </a:solidFill>
              </a:rPr>
              <a:t> over T trials is the expected value its decisions lose against the best rule's</a:t>
            </a:r>
            <a:endParaRPr lang="en-US" sz="1400" dirty="0"/>
          </a:p>
        </p:txBody>
      </p:sp>
      <p:sp>
        <p:nvSpPr>
          <p:cNvPr id="10"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hiring program</a:t>
            </a:r>
            <a:endParaRPr lang="en-US" sz="1600" dirty="0"/>
          </a:p>
        </p:txBody>
      </p:sp>
      <p:sp>
        <p:nvSpPr>
          <p:cNvPr id="11"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State: capability c; decision: the points h hired; a quarter's value −4h − 1.6(55 − c)</a:t>
            </a:r>
            <a:r>
              <a:rPr lang="en-US" sz="1500" baseline="30000" dirty="0">
                <a:solidFill>
                  <a:schemeClr val="tx1"/>
                </a:solidFill>
              </a:rPr>
              <a:t>+</a:t>
            </a:r>
            <a:endParaRPr lang="en-US" sz="1500" dirty="0"/>
          </a:p>
          <a:p>
            <a:pPr marL="228600" indent="-228600">
              <a:spcAft>
                <a:spcPts val="800"/>
              </a:spcAft>
              <a:buSzPct val="100000"/>
              <a:buChar char="•"/>
            </a:pPr>
            <a:r>
              <a:rPr lang="en-US" sz="1500" dirty="0">
                <a:solidFill>
                  <a:schemeClr val="tx1"/>
                </a:solidFill>
              </a:rPr>
              <a:t>Law: c′ = 0.975c + h − w, with the engineering office's swings w</a:t>
            </a:r>
            <a:endParaRPr lang="en-US" sz="1500" dirty="0"/>
          </a:p>
          <a:p>
            <a:pPr marL="228600" indent="-228600">
              <a:spcAft>
                <a:spcPts val="800"/>
              </a:spcAft>
              <a:buSzPct val="100000"/>
              <a:buChar char="•"/>
            </a:pPr>
            <a:r>
              <a:rPr lang="en-US" sz="1500" dirty="0">
                <a:solidFill>
                  <a:schemeClr val="tx1"/>
                </a:solidFill>
              </a:rPr>
              <a:t>Dynamic programming needs the law; learning by trial only tries decisions</a:t>
            </a:r>
            <a:endParaRPr lang="en-US" sz="1500" dirty="0"/>
          </a:p>
          <a:p>
            <a:pPr marL="228600" indent="-228600">
              <a:spcAft>
                <a:spcPts val="800"/>
              </a:spcAft>
              <a:buSzPct val="100000"/>
              <a:buChar char="•"/>
            </a:pPr>
            <a:r>
              <a:rPr lang="en-US" sz="1500" dirty="0">
                <a:solidFill>
                  <a:schemeClr val="tx1"/>
                </a:solidFill>
              </a:rPr>
              <a:t>Each decision changes the data that follow, so the learner must choose what to try</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§14.1 · TABLE 14.1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source of a rule needs its own judge</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00254"/>
                <a:gridCol w="2686929"/>
                <a:gridCol w="3120304"/>
                <a:gridCol w="2686929"/>
              </a:tblGrid>
              <a:tr h="621792">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Source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Needs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Guarantee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Watch for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Dynamic programming (Chapter 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declared law</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best rule, exactly (Theorem 7.3)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law nobody can declare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record of practice (Chapter 13)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decisions and outcomes kept under one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associations under that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decisions it never tried (Theorem 14.3(iii))</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Trials in a simulator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simulator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simulator's best rule, in the limit (Theorem 14.1)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wrong simulator (Theorem 14.3(i))</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Trials on the company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company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regret that grows slowly (Theorem 14.2)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losses paid in money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217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Proposals from AI systems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an agent, a language model, rules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none of their own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certificate (Proposition 14.2)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learner proposes; a declared model or fresh trials judge; guardrails and certificates keep the commitments.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§14.2 · THEOREM 14.1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Learning by trial works, slowly, and can fail</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14.1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Learning a Rule by Trial</a:t>
            </a:r>
            <a:endParaRPr lang="en-US" sz="2100" dirty="0"/>
          </a:p>
        </p:txBody>
      </p:sp>
      <p:pic>
        <p:nvPicPr>
          <p:cNvPr id="8" name="Equation" descr="Equation: Q(s,a) \;\leftarrow\; Q(s,a) + \alpha_{n}\bigl[R + \beta \max_{a'} Q(s',a') - Q(s,a)\bigr]">    </p:cNvPr>
          <p:cNvPicPr>
            <a:picLocks noChangeAspect="1"/>
          </p:cNvPicPr>
          <p:nvPr/>
        </p:nvPicPr>
        <p:blipFill>
          <a:blip r:embed="rId1"/>
          <a:stretch>
            <a:fillRect/>
          </a:stretch>
        </p:blipFill>
        <p:spPr>
          <a:xfrm>
            <a:off x="822960" y="2743200"/>
            <a:ext cx="4086892" cy="384048"/>
          </a:xfrm>
          <a:prstGeom prst="rect">
            <a:avLst/>
          </a:prstGeom>
        </p:spPr>
      </p:pic>
      <p:sp>
        <p:nvSpPr>
          <p:cNvPr id="9" name="Bullets"/>
          <p:cNvSpPr txBox="1"/>
          <p:nvPr/>
        </p:nvSpPr>
        <p:spPr>
          <a:xfrm>
            <a:off x="822960" y="3291840"/>
            <a:ext cx="5394960" cy="2743200"/>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Convergence.</a:t>
            </a:r>
            <a:r>
              <a:rPr lang="en-US" sz="1400" dirty="0">
                <a:solidFill>
                  <a:schemeClr val="tx1"/>
                </a:solidFill>
              </a:rPr>
              <a:t> If every pair is tried infinitely often and its steps sum to infinity while their squares do not, the decision values converge to Q*</a:t>
            </a:r>
            <a:endParaRPr lang="en-US" sz="1400" dirty="0"/>
          </a:p>
          <a:p>
            <a:pPr marL="228600" indent="-228600">
              <a:spcAft>
                <a:spcPts val="600"/>
              </a:spcAft>
              <a:buSzPct val="100000"/>
              <a:buChar char="•"/>
            </a:pPr>
            <a:r>
              <a:rPr lang="en-US" sz="1400" b="1" dirty="0">
                <a:solidFill>
                  <a:schemeClr val="tx1"/>
                </a:solidFill>
              </a:rPr>
              <a:t>(ii) Where the error matters.</a:t>
            </a:r>
            <a:r>
              <a:rPr lang="en-US" sz="1400" dirty="0">
                <a:solidFill>
                  <a:schemeClr val="tx1"/>
                </a:solidFill>
              </a:rPr>
              <a:t> A rule greedy for values within ε of Q* loses at most 2ε/(1 − β); more sharply, twice the discounted errors where the rule goes</a:t>
            </a:r>
            <a:endParaRPr lang="en-US" sz="1400" dirty="0"/>
          </a:p>
          <a:p>
            <a:pPr marL="228600" indent="-228600">
              <a:spcAft>
                <a:spcPts val="600"/>
              </a:spcAft>
              <a:buSzPct val="100000"/>
              <a:buChar char="•"/>
            </a:pPr>
            <a:r>
              <a:rPr lang="en-US" sz="1400" b="1" dirty="0">
                <a:solidFill>
                  <a:schemeClr val="tx1"/>
                </a:solidFill>
              </a:rPr>
              <a:t>(iii) Failures.</a:t>
            </a:r>
            <a:r>
              <a:rPr lang="en-US" sz="1400" dirty="0">
                <a:solidFill>
                  <a:schemeClr val="tx1"/>
                </a:solidFill>
              </a:rPr>
              <a:t> A pair never tried keeps its starting value; a constant step never settles; fitted values updated off the rule's path can grow without bound</a:t>
            </a:r>
            <a:endParaRPr lang="en-US" sz="14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agent, in a simulator</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million simulated quarters to come within </a:t>
            </a:r>
            <a:r>
              <a:rPr lang="en-US" sz="1600" b="1" dirty="0">
                <a:solidFill>
                  <a:schemeClr val="tx1"/>
                </a:solidFill>
              </a:rPr>
              <a:t>$1.26m</a:t>
            </a:r>
            <a:r>
              <a:rPr lang="en-US" sz="1600" dirty="0">
                <a:solidFill>
                  <a:schemeClr val="tx1"/>
                </a:solidFill>
              </a:rPr>
              <a:t> of the best rule; two million for </a:t>
            </a:r>
            <a:r>
              <a:rPr lang="en-US" sz="1600" b="1" dirty="0">
                <a:solidFill>
                  <a:schemeClr val="tx1"/>
                </a:solidFill>
              </a:rPr>
              <a:t>$0.55m</a:t>
            </a:r>
            <a:endParaRPr lang="en-US" sz="1600" dirty="0"/>
          </a:p>
          <a:p>
            <a:pPr marL="228600" indent="-228600">
              <a:spcAft>
                <a:spcPts val="800"/>
              </a:spcAft>
              <a:buSzPct val="100000"/>
              <a:buChar char="•"/>
            </a:pPr>
            <a:r>
              <a:rPr lang="en-US" sz="1600" dirty="0">
                <a:solidFill>
                  <a:schemeClr val="tx1"/>
                </a:solidFill>
              </a:rPr>
              <a:t>Its values are wrong by up to </a:t>
            </a:r>
            <a:r>
              <a:rPr lang="en-US" sz="1600" b="1" dirty="0">
                <a:solidFill>
                  <a:schemeClr val="tx1"/>
                </a:solidFill>
              </a:rPr>
              <a:t>$615.6m</a:t>
            </a:r>
            <a:r>
              <a:rPr lang="en-US" sz="1600" dirty="0">
                <a:solidFill>
                  <a:schemeClr val="tx1"/>
                </a:solidFill>
              </a:rPr>
              <a:t> where Meridian never goes: a uniform bound of </a:t>
            </a:r>
            <a:r>
              <a:rPr lang="en-US" sz="1600" b="1" dirty="0">
                <a:solidFill>
                  <a:schemeClr val="tx1"/>
                </a:solidFill>
              </a:rPr>
              <a:t>$52 billion</a:t>
            </a:r>
            <a:endParaRPr lang="en-US" sz="1600" dirty="0"/>
          </a:p>
          <a:p>
            <a:pPr marL="228600" indent="-228600">
              <a:spcAft>
                <a:spcPts val="800"/>
              </a:spcAft>
              <a:buSzPct val="100000"/>
              <a:buChar char="•"/>
            </a:pPr>
            <a:r>
              <a:rPr lang="en-US" sz="1600" dirty="0">
                <a:solidFill>
                  <a:schemeClr val="tx1"/>
                </a:solidFill>
              </a:rPr>
              <a:t>At 58 the error is </a:t>
            </a:r>
            <a:r>
              <a:rPr lang="en-US" sz="1600" b="1" dirty="0">
                <a:solidFill>
                  <a:schemeClr val="tx1"/>
                </a:solidFill>
              </a:rPr>
              <a:t>$0.79m</a:t>
            </a:r>
            <a:r>
              <a:rPr lang="en-US" sz="1600" dirty="0">
                <a:solidFill>
                  <a:schemeClr val="tx1"/>
                </a:solidFill>
              </a:rPr>
              <a:t>: the rule is good where the company goes</a:t>
            </a:r>
            <a:endParaRPr lang="en-US" sz="1600" dirty="0"/>
          </a:p>
          <a:p>
            <a:pPr marL="228600" indent="-228600">
              <a:spcAft>
                <a:spcPts val="800"/>
              </a:spcAft>
              <a:buSzPct val="100000"/>
              <a:buChar char="•"/>
            </a:pPr>
            <a:r>
              <a:rPr lang="en-US" sz="1600" dirty="0">
                <a:solidFill>
                  <a:schemeClr val="tx1"/>
                </a:solidFill>
              </a:rPr>
              <a:t>After a million quarters, steps of 1/n leave </a:t>
            </a:r>
            <a:r>
              <a:rPr lang="en-US" sz="1600" b="1" dirty="0">
                <a:solidFill>
                  <a:schemeClr val="tx1"/>
                </a:solidFill>
              </a:rPr>
              <a:t>$21.7m</a:t>
            </a:r>
            <a:r>
              <a:rPr lang="en-US" sz="1600" dirty="0">
                <a:solidFill>
                  <a:schemeClr val="tx1"/>
                </a:solidFill>
              </a:rPr>
              <a:t> and a constant step of 0.1 leaves </a:t>
            </a:r>
            <a:r>
              <a:rPr lang="en-US" sz="1600" b="1" dirty="0">
                <a:solidFill>
                  <a:schemeClr val="tx1"/>
                </a:solidFill>
              </a:rPr>
              <a:t>$11.9m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§14.2 · FIGURE 14.1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agent's rule is good where the company goes</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Ten agents' rules cost </a:t>
            </a:r>
            <a:r>
              <a:rPr lang="en-US" sz="1500" b="1" dirty="0">
                <a:solidFill>
                  <a:schemeClr val="tx1"/>
                </a:solidFill>
              </a:rPr>
              <a:t>$493.4m</a:t>
            </a:r>
            <a:r>
              <a:rPr lang="en-US" sz="1500" dirty="0">
                <a:solidFill>
                  <a:schemeClr val="tx1"/>
                </a:solidFill>
              </a:rPr>
              <a:t>, </a:t>
            </a:r>
            <a:r>
              <a:rPr lang="en-US" sz="1500" b="1" dirty="0">
                <a:solidFill>
                  <a:schemeClr val="tx1"/>
                </a:solidFill>
              </a:rPr>
              <a:t>$56.7m</a:t>
            </a:r>
            <a:r>
              <a:rPr lang="en-US" sz="1500" dirty="0">
                <a:solidFill>
                  <a:schemeClr val="tx1"/>
                </a:solidFill>
              </a:rPr>
              <a:t>, </a:t>
            </a:r>
            <a:r>
              <a:rPr lang="en-US" sz="1500" b="1" dirty="0">
                <a:solidFill>
                  <a:schemeClr val="tx1"/>
                </a:solidFill>
              </a:rPr>
              <a:t>$22.0m</a:t>
            </a:r>
            <a:r>
              <a:rPr lang="en-US" sz="1500" dirty="0">
                <a:solidFill>
                  <a:schemeClr val="tx1"/>
                </a:solidFill>
              </a:rPr>
              <a:t>, </a:t>
            </a:r>
            <a:r>
              <a:rPr lang="en-US" sz="1500" b="1" dirty="0">
                <a:solidFill>
                  <a:schemeClr val="tx1"/>
                </a:solidFill>
              </a:rPr>
              <a:t>$1.26m</a:t>
            </a:r>
            <a:r>
              <a:rPr lang="en-US" sz="1500" dirty="0">
                <a:solidFill>
                  <a:schemeClr val="tx1"/>
                </a:solidFill>
              </a:rPr>
              <a:t> and </a:t>
            </a:r>
            <a:r>
              <a:rPr lang="en-US" sz="1500" b="1" dirty="0">
                <a:solidFill>
                  <a:schemeClr val="tx1"/>
                </a:solidFill>
              </a:rPr>
              <a:t>$0.55m</a:t>
            </a:r>
            <a:r>
              <a:rPr lang="en-US" sz="1500" dirty="0">
                <a:solidFill>
                  <a:schemeClr val="tx1"/>
                </a:solidFill>
              </a:rPr>
              <a:t> more than the best after 1,000 to two million quarters</a:t>
            </a:r>
            <a:endParaRPr lang="en-US" sz="1500" dirty="0"/>
          </a:p>
          <a:p>
            <a:pPr marL="228600" indent="-228600">
              <a:spcAft>
                <a:spcPts val="800"/>
              </a:spcAft>
              <a:buSzPct val="100000"/>
              <a:buChar char="•"/>
            </a:pPr>
            <a:r>
              <a:rPr lang="en-US" sz="1500" dirty="0">
                <a:solidFill>
                  <a:schemeClr val="tx1"/>
                </a:solidFill>
              </a:rPr>
              <a:t>Nine of ten end within </a:t>
            </a:r>
            <a:r>
              <a:rPr lang="en-US" sz="1500" b="1" dirty="0">
                <a:solidFill>
                  <a:schemeClr val="tx1"/>
                </a:solidFill>
              </a:rPr>
              <a:t>$1m</a:t>
            </a:r>
            <a:r>
              <a:rPr lang="en-US" sz="1500" dirty="0">
                <a:solidFill>
                  <a:schemeClr val="tx1"/>
                </a:solidFill>
              </a:rPr>
              <a:t>; after a million quarters other step sizes leave </a:t>
            </a:r>
            <a:r>
              <a:rPr lang="en-US" sz="1500" b="1" dirty="0">
                <a:solidFill>
                  <a:schemeClr val="tx1"/>
                </a:solidFill>
              </a:rPr>
              <a:t>$11.9m</a:t>
            </a:r>
            <a:r>
              <a:rPr lang="en-US" sz="1500" dirty="0">
                <a:solidFill>
                  <a:schemeClr val="tx1"/>
                </a:solidFill>
              </a:rPr>
              <a:t> to </a:t>
            </a:r>
            <a:r>
              <a:rPr lang="en-US" sz="1500" b="1" dirty="0">
                <a:solidFill>
                  <a:schemeClr val="tx1"/>
                </a:solidFill>
              </a:rPr>
              <a:t>$31.9m</a:t>
            </a:r>
            <a:endParaRPr lang="en-US" sz="1500" dirty="0"/>
          </a:p>
          <a:p>
            <a:pPr marL="228600" indent="-228600">
              <a:spcAft>
                <a:spcPts val="800"/>
              </a:spcAft>
              <a:buSzPct val="100000"/>
              <a:buChar char="•"/>
            </a:pPr>
            <a:r>
              <a:rPr lang="en-US" sz="1500" dirty="0">
                <a:solidFill>
                  <a:schemeClr val="tx1"/>
                </a:solidFill>
              </a:rPr>
              <a:t>(b) One agent's rule, by starting capability: poor where Meridian never goes, close to the best where the best rule lives</a:t>
            </a:r>
            <a:endParaRPr lang="en-US" sz="1500" dirty="0"/>
          </a:p>
          <a:p>
            <a:pPr marL="228600" indent="-228600">
              <a:spcAft>
                <a:spcPts val="800"/>
              </a:spcAft>
              <a:buSzPct val="100000"/>
              <a:buChar char="•"/>
            </a:pPr>
            <a:r>
              <a:rPr lang="en-US" sz="1500" dirty="0">
                <a:solidFill>
                  <a:schemeClr val="tx1"/>
                </a:solidFill>
              </a:rPr>
              <a:t>Two million quarters is half a million years; with the law, policy iteration needs three evaluations</a:t>
            </a:r>
            <a:endParaRPr lang="en-US" sz="1500" dirty="0"/>
          </a:p>
        </p:txBody>
      </p:sp>
      <p:pic>
        <p:nvPicPr>
          <p:cNvPr id="6" name="Figure" descr="Figure 14.1: learning a rule by trial">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14.1. (a) Q-learning in a simulator of Chapter 7's law: excess cost from 58 against simulated quarters, by step size. (b) One agent's excess by starting capability; shaded, where the best rule lives.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§14.2 · PROPOSITION 14.1 · TABLE 14.2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Gradients improve a rule where it goes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14.1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Improving a Rule</a:t>
            </a:r>
            <a:endParaRPr lang="en-US" sz="2100" dirty="0"/>
          </a:p>
        </p:txBody>
      </p:sp>
      <p:pic>
        <p:nvPicPr>
          <p:cNvPr id="8" name="Equation" descr="Equation: \nabla_{\theta} V^{\pi_\theta}(s_0) = \frac{1}{1-\beta}\, \mathrm{E}_{s \sim d^{\pi_\theta}_{s_0},\, a \sim \pi_\theta}\bigl[ Q^{\pi_\theta}(s,a)\, \nabla_{\theta} \ln \pi_\theta(a \mid s) \bigr]">    </p:cNvPr>
          <p:cNvPicPr>
            <a:picLocks noChangeAspect="1"/>
          </p:cNvPicPr>
          <p:nvPr/>
        </p:nvPicPr>
        <p:blipFill>
          <a:blip r:embed="rId1"/>
          <a:stretch>
            <a:fillRect/>
          </a:stretch>
        </p:blipFill>
        <p:spPr>
          <a:xfrm>
            <a:off x="822960" y="2743200"/>
            <a:ext cx="4071356" cy="457200"/>
          </a:xfrm>
          <a:prstGeom prst="rect">
            <a:avLst/>
          </a:prstGeom>
        </p:spPr>
      </p:pic>
      <p:sp>
        <p:nvSpPr>
          <p:cNvPr id="9" name="Bullets"/>
          <p:cNvSpPr txBox="1"/>
          <p:nvPr/>
        </p:nvSpPr>
        <p:spPr>
          <a:xfrm>
            <a:off x="822960" y="3364992"/>
            <a:ext cx="5394960" cy="2670048"/>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Performance difference.</a:t>
            </a:r>
            <a:r>
              <a:rPr lang="en-US" sz="1400" dirty="0">
                <a:solidFill>
                  <a:schemeClr val="tx1"/>
                </a:solidFill>
              </a:rPr>
              <a:t> One rule's value less another's is 1/(1 − β) times its discounted advantage where it goes: changing a rule where it never goes changes nothing</a:t>
            </a:r>
            <a:endParaRPr lang="en-US" sz="1400" dirty="0"/>
          </a:p>
          <a:p>
            <a:pPr marL="228600" indent="-228600">
              <a:spcAft>
                <a:spcPts val="600"/>
              </a:spcAft>
              <a:buSzPct val="100000"/>
              <a:buChar char="•"/>
            </a:pPr>
            <a:r>
              <a:rPr lang="en-US" sz="1400" b="1" dirty="0">
                <a:solidFill>
                  <a:schemeClr val="tx1"/>
                </a:solidFill>
              </a:rPr>
              <a:t>(ii) Policy gradient.</a:t>
            </a:r>
            <a:r>
              <a:rPr lang="en-US" sz="1400" dirty="0">
                <a:solidFill>
                  <a:schemeClr val="tx1"/>
                </a:solidFill>
              </a:rPr>
              <a:t> For smooth randomized rules the gradient averages Q times the gradient of the rule's log-chances; a baseline leaves it unchanged</a:t>
            </a:r>
            <a:endParaRPr lang="en-US" sz="1400" dirty="0"/>
          </a:p>
          <a:p>
            <a:pPr marL="228600" indent="-228600">
              <a:spcAft>
                <a:spcPts val="600"/>
              </a:spcAft>
              <a:buSzPct val="100000"/>
              <a:buChar char="•"/>
            </a:pPr>
            <a:r>
              <a:rPr lang="en-US" sz="1400" b="1" dirty="0">
                <a:solidFill>
                  <a:schemeClr val="tx1"/>
                </a:solidFill>
              </a:rPr>
              <a:t>(iii) Local maxima.</a:t>
            </a:r>
            <a:r>
              <a:rPr lang="en-US" sz="1400" dirty="0">
                <a:solidFill>
                  <a:schemeClr val="tx1"/>
                </a:solidFill>
              </a:rPr>
              <a:t> When rules cannot tell states apart, gradient steps can stop at a rule that only its neighbours cannot beat</a:t>
            </a:r>
            <a:endParaRPr lang="en-US" sz="14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Methods of learning by acting</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400" b="1" dirty="0">
                <a:solidFill>
                  <a:schemeClr val="tx1"/>
                </a:solidFill>
              </a:rPr>
              <a:t>Q-learning with a table:</a:t>
            </a:r>
            <a:r>
              <a:rPr lang="en-US" sz="1400" dirty="0">
                <a:solidFill>
                  <a:schemeClr val="tx1"/>
                </a:solidFill>
              </a:rPr>
              <a:t> the best rule in the limit; watch untried pairs</a:t>
            </a:r>
            <a:endParaRPr lang="en-US" sz="1400" dirty="0"/>
          </a:p>
          <a:p>
            <a:pPr marL="228600" indent="-228600">
              <a:spcAft>
                <a:spcPts val="800"/>
              </a:spcAft>
              <a:buSzPct val="100000"/>
              <a:buChar char="•"/>
            </a:pPr>
            <a:r>
              <a:rPr lang="en-US" sz="1400" b="1" dirty="0">
                <a:solidFill>
                  <a:schemeClr val="tx1"/>
                </a:solidFill>
              </a:rPr>
              <a:t>Fitted and deep Q-learning:</a:t>
            </a:r>
            <a:r>
              <a:rPr lang="en-US" sz="1400" dirty="0">
                <a:solidFill>
                  <a:schemeClr val="tx1"/>
                </a:solidFill>
              </a:rPr>
              <a:t> scale; watch divergence</a:t>
            </a:r>
            <a:endParaRPr lang="en-US" sz="1400" dirty="0"/>
          </a:p>
          <a:p>
            <a:pPr marL="228600" indent="-228600">
              <a:spcAft>
                <a:spcPts val="800"/>
              </a:spcAft>
              <a:buSzPct val="100000"/>
              <a:buChar char="•"/>
            </a:pPr>
            <a:r>
              <a:rPr lang="en-US" sz="1400" b="1" dirty="0">
                <a:solidFill>
                  <a:schemeClr val="tx1"/>
                </a:solidFill>
              </a:rPr>
              <a:t>Policy gradient, actor–critic:</a:t>
            </a:r>
            <a:r>
              <a:rPr lang="en-US" sz="1400" dirty="0">
                <a:solidFill>
                  <a:schemeClr val="tx1"/>
                </a:solidFill>
              </a:rPr>
              <a:t> ascent on the value; watch local maxima</a:t>
            </a:r>
            <a:endParaRPr lang="en-US" sz="1400" dirty="0"/>
          </a:p>
          <a:p>
            <a:pPr marL="228600" indent="-228600">
              <a:spcAft>
                <a:spcPts val="800"/>
              </a:spcAft>
              <a:buSzPct val="100000"/>
              <a:buChar char="•"/>
            </a:pPr>
            <a:r>
              <a:rPr lang="en-US" sz="1400" b="1" dirty="0">
                <a:solidFill>
                  <a:schemeClr val="tx1"/>
                </a:solidFill>
              </a:rPr>
              <a:t>Bandit rules:</a:t>
            </a:r>
            <a:r>
              <a:rPr lang="en-US" sz="1400" dirty="0">
                <a:solidFill>
                  <a:schemeClr val="tx1"/>
                </a:solidFill>
              </a:rPr>
              <a:t> regret like ln T; watch many options and drifting payoffs</a:t>
            </a:r>
            <a:endParaRPr lang="en-US" sz="1400" dirty="0"/>
          </a:p>
          <a:p>
            <a:pPr marL="228600" indent="-228600">
              <a:spcAft>
                <a:spcPts val="800"/>
              </a:spcAft>
              <a:buSzPct val="100000"/>
              <a:buChar char="•"/>
            </a:pPr>
            <a:r>
              <a:rPr lang="en-US" sz="1400" b="1" dirty="0">
                <a:solidFill>
                  <a:schemeClr val="tx1"/>
                </a:solidFill>
              </a:rPr>
              <a:t>Learn a simulator, then plan:</a:t>
            </a:r>
            <a:r>
              <a:rPr lang="en-US" sz="1400" dirty="0">
                <a:solidFill>
                  <a:schemeClr val="tx1"/>
                </a:solidFill>
              </a:rPr>
              <a:t> watch records kept under one rule</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§14.3 · THEOREM 14.2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Exploration has a price no learner escapes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14.2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The Price of Exploration</a:t>
            </a:r>
            <a:endParaRPr lang="en-US" sz="2100" dirty="0"/>
          </a:p>
        </p:txBody>
      </p:sp>
      <p:pic>
        <p:nvPicPr>
          <p:cNvPr id="8" name="Equation" descr="Equation: \mathcal{R}_T = \sum_{k} \Delta_k\, \mathrm{E}\, n_k(T), \qquad \mathrm{E}\, n_k(T) \le \frac{8 \ln T}{\Delta_k^{2}} + 1 + \frac{\pi^{2}}{3}">    </p:cNvPr>
          <p:cNvPicPr>
            <a:picLocks noChangeAspect="1"/>
          </p:cNvPicPr>
          <p:nvPr/>
        </p:nvPicPr>
        <p:blipFill>
          <a:blip r:embed="rId1"/>
          <a:stretch>
            <a:fillRect/>
          </a:stretch>
        </p:blipFill>
        <p:spPr>
          <a:xfrm>
            <a:off x="822960" y="2743200"/>
            <a:ext cx="3469561" cy="502920"/>
          </a:xfrm>
          <a:prstGeom prst="rect">
            <a:avLst/>
          </a:prstGeom>
        </p:spPr>
      </p:pic>
      <p:sp>
        <p:nvSpPr>
          <p:cNvPr id="9" name="Bullets"/>
          <p:cNvSpPr txBox="1"/>
          <p:nvPr/>
        </p:nvSpPr>
        <p:spPr>
          <a:xfrm>
            <a:off x="822960" y="3410712"/>
            <a:ext cx="5394960" cy="2624328"/>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Regret.</a:t>
            </a:r>
            <a:r>
              <a:rPr lang="en-US" sz="1400" dirty="0">
                <a:solidFill>
                  <a:schemeClr val="tx1"/>
                </a:solidFill>
              </a:rPr>
              <a:t> Every trial of a worse option costs its shortfall</a:t>
            </a:r>
            <a:endParaRPr lang="en-US" sz="1400" dirty="0"/>
          </a:p>
          <a:p>
            <a:pPr marL="228600" indent="-228600">
              <a:spcAft>
                <a:spcPts val="600"/>
              </a:spcAft>
              <a:buSzPct val="100000"/>
              <a:buChar char="•"/>
            </a:pPr>
            <a:r>
              <a:rPr lang="en-US" sz="1400" b="1" dirty="0">
                <a:solidFill>
                  <a:schemeClr val="tx1"/>
                </a:solidFill>
              </a:rPr>
              <a:t>(ii) Greed fails.</a:t>
            </a:r>
            <a:r>
              <a:rPr lang="en-US" sz="1400" dirty="0">
                <a:solidFill>
                  <a:schemeClr val="tx1"/>
                </a:solidFill>
              </a:rPr>
              <a:t> Always taking the best average can stop trying the best option after one unlucky trial: regret grows in proportion to T</a:t>
            </a:r>
            <a:endParaRPr lang="en-US" sz="1400" dirty="0"/>
          </a:p>
          <a:p>
            <a:pPr marL="228600" indent="-228600">
              <a:spcAft>
                <a:spcPts val="600"/>
              </a:spcAft>
              <a:buSzPct val="100000"/>
              <a:buChar char="•"/>
            </a:pPr>
            <a:r>
              <a:rPr lang="en-US" sz="1400" b="1" dirty="0">
                <a:solidFill>
                  <a:schemeClr val="tx1"/>
                </a:solidFill>
              </a:rPr>
              <a:t>(iii) Optimism works.</a:t>
            </a:r>
            <a:r>
              <a:rPr lang="en-US" sz="1400" dirty="0">
                <a:solidFill>
                  <a:schemeClr val="tx1"/>
                </a:solidFill>
              </a:rPr>
              <a:t> The largest average plus √(2 ln t/n), n an option's trials so far, tries each worse option at most 8 ln T/Δ² + 1 + π²/3 times on average</a:t>
            </a:r>
            <a:endParaRPr lang="en-US" sz="1400" dirty="0"/>
          </a:p>
          <a:p>
            <a:pPr marL="228600" indent="-228600">
              <a:spcAft>
                <a:spcPts val="600"/>
              </a:spcAft>
              <a:buSzPct val="100000"/>
              <a:buChar char="•"/>
            </a:pPr>
            <a:r>
              <a:rPr lang="en-US" sz="1400" b="1" dirty="0">
                <a:solidFill>
                  <a:schemeClr val="tx1"/>
                </a:solidFill>
              </a:rPr>
              <a:t>(iv) No learner does better.</a:t>
            </a:r>
            <a:r>
              <a:rPr lang="en-US" sz="1400" dirty="0">
                <a:solidFill>
                  <a:schemeClr val="tx1"/>
                </a:solidFill>
              </a:rPr>
              <a:t> Regret grows at least like ln T</a:t>
            </a:r>
            <a:endParaRPr lang="en-US" sz="14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thirteen target rules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Tried a decade at a time from 58, the best target, </a:t>
            </a:r>
            <a:r>
              <a:rPr lang="en-US" sz="1600" b="1" dirty="0">
                <a:solidFill>
                  <a:schemeClr val="tx1"/>
                </a:solidFill>
              </a:rPr>
              <a:t>55.75</a:t>
            </a:r>
            <a:r>
              <a:rPr lang="en-US" sz="1600" dirty="0">
                <a:solidFill>
                  <a:schemeClr val="tx1"/>
                </a:solidFill>
              </a:rPr>
              <a:t>, beats its neighbours by </a:t>
            </a:r>
            <a:r>
              <a:rPr lang="en-US" sz="1600" b="1" dirty="0">
                <a:solidFill>
                  <a:schemeClr val="tx1"/>
                </a:solidFill>
              </a:rPr>
              <a:t>$0.16m</a:t>
            </a:r>
            <a:r>
              <a:rPr lang="en-US" sz="1600" dirty="0">
                <a:solidFill>
                  <a:schemeClr val="tx1"/>
                </a:solidFill>
              </a:rPr>
              <a:t> and </a:t>
            </a:r>
            <a:r>
              <a:rPr lang="en-US" sz="1600" b="1" dirty="0">
                <a:solidFill>
                  <a:schemeClr val="tx1"/>
                </a:solidFill>
              </a:rPr>
              <a:t>$1.01m</a:t>
            </a:r>
            <a:endParaRPr lang="en-US" sz="1600" dirty="0"/>
          </a:p>
          <a:p>
            <a:pPr marL="228600" indent="-228600">
              <a:spcAft>
                <a:spcPts val="800"/>
              </a:spcAft>
              <a:buSzPct val="100000"/>
              <a:buChar char="•"/>
            </a:pPr>
            <a:r>
              <a:rPr lang="en-US" sz="1600" dirty="0">
                <a:solidFill>
                  <a:schemeClr val="tx1"/>
                </a:solidFill>
              </a:rPr>
              <a:t>A decade's cost has a standard deviation of about </a:t>
            </a:r>
            <a:r>
              <a:rPr lang="en-US" sz="1600" b="1" dirty="0">
                <a:solidFill>
                  <a:schemeClr val="tx1"/>
                </a:solidFill>
              </a:rPr>
              <a:t>$12m</a:t>
            </a:r>
            <a:endParaRPr lang="en-US" sz="1600" dirty="0"/>
          </a:p>
          <a:p>
            <a:pPr marL="228600" indent="-228600">
              <a:spcAft>
                <a:spcPts val="800"/>
              </a:spcAft>
              <a:buSzPct val="100000"/>
              <a:buChar char="•"/>
            </a:pPr>
            <a:r>
              <a:rPr lang="en-US" sz="1600" dirty="0">
                <a:solidFill>
                  <a:schemeClr val="tx1"/>
                </a:solidFill>
              </a:rPr>
              <a:t>Over 20,000 decades optimism ends on the best target in </a:t>
            </a:r>
            <a:r>
              <a:rPr lang="en-US" sz="1600" b="1" dirty="0">
                <a:solidFill>
                  <a:schemeClr val="tx1"/>
                </a:solidFill>
              </a:rPr>
              <a:t>84%</a:t>
            </a:r>
            <a:r>
              <a:rPr lang="en-US" sz="1600" dirty="0">
                <a:solidFill>
                  <a:schemeClr val="tx1"/>
                </a:solidFill>
              </a:rPr>
              <a:t> of runs, greedy choice in </a:t>
            </a:r>
            <a:r>
              <a:rPr lang="en-US" sz="1600" b="1" dirty="0">
                <a:solidFill>
                  <a:schemeClr val="tx1"/>
                </a:solidFill>
              </a:rPr>
              <a:t>20%</a:t>
            </a:r>
            <a:endParaRPr lang="en-US" sz="1600" dirty="0"/>
          </a:p>
          <a:p>
            <a:pPr marL="228600" indent="-228600">
              <a:spcAft>
                <a:spcPts val="800"/>
              </a:spcAft>
              <a:buSzPct val="100000"/>
              <a:buChar char="•"/>
            </a:pPr>
            <a:r>
              <a:rPr lang="en-US" sz="1600" dirty="0">
                <a:solidFill>
                  <a:schemeClr val="tx1"/>
                </a:solidFill>
              </a:rPr>
              <a:t>Twenty thousand decades is 200,000 years; on the company the price is paid in money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§14.3 · FIGURE 14.2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 the company, exploration is paid in money</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Over the last 2,000 decades greedy choice still loses </a:t>
            </a:r>
            <a:r>
              <a:rPr lang="en-US" sz="1500" b="1" dirty="0">
                <a:solidFill>
                  <a:schemeClr val="tx1"/>
                </a:solidFill>
              </a:rPr>
              <a:t>$1.01m</a:t>
            </a:r>
            <a:r>
              <a:rPr lang="en-US" sz="1500" dirty="0">
                <a:solidFill>
                  <a:schemeClr val="tx1"/>
                </a:solidFill>
              </a:rPr>
              <a:t> a decade, one random target in ten </a:t>
            </a:r>
            <a:r>
              <a:rPr lang="en-US" sz="1500" b="1" dirty="0">
                <a:solidFill>
                  <a:schemeClr val="tx1"/>
                </a:solidFill>
              </a:rPr>
              <a:t>$0.55m</a:t>
            </a:r>
            <a:r>
              <a:rPr lang="en-US" sz="1500" dirty="0">
                <a:solidFill>
                  <a:schemeClr val="tx1"/>
                </a:solidFill>
              </a:rPr>
              <a:t>, optimism </a:t>
            </a:r>
            <a:r>
              <a:rPr lang="en-US" sz="1500" b="1" dirty="0">
                <a:solidFill>
                  <a:schemeClr val="tx1"/>
                </a:solidFill>
              </a:rPr>
              <a:t>$0.15m</a:t>
            </a:r>
            <a:endParaRPr lang="en-US" sz="1500" dirty="0"/>
          </a:p>
          <a:p>
            <a:pPr marL="228600" indent="-228600">
              <a:spcAft>
                <a:spcPts val="800"/>
              </a:spcAft>
              <a:buSzPct val="100000"/>
              <a:buChar char="•"/>
            </a:pPr>
            <a:r>
              <a:rPr lang="en-US" sz="1500" dirty="0">
                <a:solidFill>
                  <a:schemeClr val="tx1"/>
                </a:solidFill>
              </a:rPr>
              <a:t>(b) Learning on Meridian from its software's defaults, the agent hires nothing in every capability it has not yet seen</a:t>
            </a:r>
            <a:endParaRPr lang="en-US" sz="1500" dirty="0"/>
          </a:p>
          <a:p>
            <a:pPr marL="228600" indent="-228600">
              <a:spcAft>
                <a:spcPts val="800"/>
              </a:spcAft>
              <a:buSzPct val="100000"/>
              <a:buChar char="•"/>
            </a:pPr>
            <a:r>
              <a:rPr lang="en-US" sz="1500" dirty="0">
                <a:solidFill>
                  <a:schemeClr val="tx1"/>
                </a:solidFill>
              </a:rPr>
              <a:t>Capability falls to </a:t>
            </a:r>
            <a:r>
              <a:rPr lang="en-US" sz="1500" b="1" dirty="0">
                <a:solidFill>
                  <a:schemeClr val="tx1"/>
                </a:solidFill>
              </a:rPr>
              <a:t>32</a:t>
            </a:r>
            <a:r>
              <a:rPr lang="en-US" sz="1500" dirty="0">
                <a:solidFill>
                  <a:schemeClr val="tx1"/>
                </a:solidFill>
              </a:rPr>
              <a:t> points in ten years; inside the guardrail it ends at </a:t>
            </a:r>
            <a:r>
              <a:rPr lang="en-US" sz="1500" b="1" dirty="0">
                <a:solidFill>
                  <a:schemeClr val="tx1"/>
                </a:solidFill>
              </a:rPr>
              <a:t>55.7</a:t>
            </a:r>
            <a:endParaRPr lang="en-US" sz="1500" dirty="0"/>
          </a:p>
        </p:txBody>
      </p:sp>
      <p:pic>
        <p:nvPicPr>
          <p:cNvPr id="6" name="Figure" descr="Figure 14.2: the price of exploration">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14.2. (a) Choosing among thirteen target rules a decade at a time: cumulative regret, the mean of 100 runs. (b) Learning on the company for 40 quarters from 58, without and with the guardrail.</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§14.4 · THEOREM 14.3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Learn the outside events, not the decisions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14.3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Learning with a Simulator</a:t>
            </a:r>
            <a:endParaRPr lang="en-US" sz="2100" dirty="0"/>
          </a:p>
        </p:txBody>
      </p:sp>
      <p:pic>
        <p:nvPicPr>
          <p:cNvPr id="8" name="Equation" descr="Equation: \bigl\| V^{\pi} - \hat V^{\pi} \bigr\|_{\infty} \;\le\; \frac{\beta\, \delta\, \bar r}{(1-\beta)^{2}}">    </p:cNvPr>
          <p:cNvPicPr>
            <a:picLocks noChangeAspect="1"/>
          </p:cNvPicPr>
          <p:nvPr/>
        </p:nvPicPr>
        <p:blipFill>
          <a:blip r:embed="rId1"/>
          <a:stretch>
            <a:fillRect/>
          </a:stretch>
        </p:blipFill>
        <p:spPr>
          <a:xfrm>
            <a:off x="822960" y="2743200"/>
            <a:ext cx="1985326" cy="502920"/>
          </a:xfrm>
          <a:prstGeom prst="rect">
            <a:avLst/>
          </a:prstGeom>
        </p:spPr>
      </p:pic>
      <p:sp>
        <p:nvSpPr>
          <p:cNvPr id="9" name="Bullets"/>
          <p:cNvSpPr txBox="1"/>
          <p:nvPr/>
        </p:nvSpPr>
        <p:spPr>
          <a:xfrm>
            <a:off x="822960" y="3410712"/>
            <a:ext cx="5394960" cy="2624328"/>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What a wrong simulator costs.</a:t>
            </a:r>
            <a:r>
              <a:rPr lang="en-US" sz="1400" dirty="0">
                <a:solidFill>
                  <a:schemeClr val="tx1"/>
                </a:solidFill>
              </a:rPr>
              <a:t> A law within δ moves every rule's values by at most βδr̄/(1 − β)²; the simulator's best rule loses at most twice that</a:t>
            </a:r>
            <a:endParaRPr lang="en-US" sz="1400" dirty="0"/>
          </a:p>
          <a:p>
            <a:pPr marL="228600" indent="-228600">
              <a:spcAft>
                <a:spcPts val="600"/>
              </a:spcAft>
              <a:buSzPct val="100000"/>
              <a:buChar char="•"/>
            </a:pPr>
            <a:r>
              <a:rPr lang="en-US" sz="1400" b="1" dirty="0">
                <a:solidFill>
                  <a:schemeClr val="tx1"/>
                </a:solidFill>
              </a:rPr>
              <a:t>(ii) Learning the law of the outside events.</a:t>
            </a:r>
            <a:r>
              <a:rPr lang="en-US" sz="1400" dirty="0">
                <a:solidFill>
                  <a:schemeClr val="tx1"/>
                </a:solidFill>
              </a:rPr>
              <a:t> Frequencies from n independent periods are within δ with probability at least 1 − (2</a:t>
            </a:r>
            <a:r>
              <a:rPr lang="en-US" sz="1400" baseline="30000" dirty="0">
                <a:solidFill>
                  <a:schemeClr val="tx1"/>
                </a:solidFill>
              </a:rPr>
              <a:t>k</a:t>
            </a:r>
            <a:r>
              <a:rPr lang="en-US" sz="1400" dirty="0">
                <a:solidFill>
                  <a:schemeClr val="tx1"/>
                </a:solidFill>
              </a:rPr>
              <a:t> − 2)e</a:t>
            </a:r>
            <a:r>
              <a:rPr lang="en-US" sz="1400" baseline="30000" dirty="0">
                <a:solidFill>
                  <a:schemeClr val="tx1"/>
                </a:solidFill>
              </a:rPr>
              <a:t>−2nδ²</a:t>
            </a:r>
            <a:endParaRPr lang="en-US" sz="1400" dirty="0"/>
          </a:p>
          <a:p>
            <a:pPr marL="228600" indent="-228600">
              <a:spcAft>
                <a:spcPts val="600"/>
              </a:spcAft>
              <a:buSzPct val="100000"/>
              <a:buChar char="•"/>
            </a:pPr>
            <a:r>
              <a:rPr lang="en-US" sz="1400" b="1" dirty="0">
                <a:solidFill>
                  <a:schemeClr val="tx1"/>
                </a:solidFill>
              </a:rPr>
              <a:t>(iii) A record kept under one rule.</a:t>
            </a:r>
            <a:r>
              <a:rPr lang="en-US" sz="1400" dirty="0">
                <a:solidFill>
                  <a:schemeClr val="tx1"/>
                </a:solidFill>
              </a:rPr>
              <a:t> Laws that agree on the decisions it took give the record the same law: no method learns what other decisions do</a:t>
            </a:r>
            <a:endParaRPr lang="en-US" sz="14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simulators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Part (i)'s bound is about </a:t>
            </a:r>
            <a:r>
              <a:rPr lang="en-US" sz="1600" b="1" dirty="0">
                <a:solidFill>
                  <a:schemeClr val="tx1"/>
                </a:solidFill>
              </a:rPr>
              <a:t>$88 billion</a:t>
            </a:r>
            <a:r>
              <a:rPr lang="en-US" sz="1600" dirty="0">
                <a:solidFill>
                  <a:schemeClr val="tx1"/>
                </a:solidFill>
              </a:rPr>
              <a:t> times δ: consistency, not a forecast</a:t>
            </a:r>
            <a:endParaRPr lang="en-US" sz="1600" dirty="0"/>
          </a:p>
          <a:p>
            <a:pPr marL="228600" indent="-228600">
              <a:spcAft>
                <a:spcPts val="800"/>
              </a:spcAft>
              <a:buSzPct val="100000"/>
              <a:buChar char="•"/>
            </a:pPr>
            <a:r>
              <a:rPr lang="en-US" sz="1600" dirty="0">
                <a:solidFill>
                  <a:schemeClr val="tx1"/>
                </a:solidFill>
              </a:rPr>
              <a:t>Learned from 40 quarters of swings, the simulator's rule costs </a:t>
            </a:r>
            <a:r>
              <a:rPr lang="en-US" sz="1600" b="1" dirty="0">
                <a:solidFill>
                  <a:schemeClr val="tx1"/>
                </a:solidFill>
              </a:rPr>
              <a:t>$0.30m</a:t>
            </a:r>
            <a:r>
              <a:rPr lang="en-US" sz="1600" dirty="0">
                <a:solidFill>
                  <a:schemeClr val="tx1"/>
                </a:solidFill>
              </a:rPr>
              <a:t> more than the best on average</a:t>
            </a:r>
            <a:endParaRPr lang="en-US" sz="1600" dirty="0"/>
          </a:p>
          <a:p>
            <a:pPr marL="228600" indent="-228600">
              <a:spcAft>
                <a:spcPts val="800"/>
              </a:spcAft>
              <a:buSzPct val="100000"/>
              <a:buChar char="•"/>
            </a:pPr>
            <a:r>
              <a:rPr lang="en-US" sz="1600" dirty="0">
                <a:solidFill>
                  <a:schemeClr val="tx1"/>
                </a:solidFill>
              </a:rPr>
              <a:t>Fitted to records kept under Volume I's rule, a point hired moves capability by </a:t>
            </a:r>
            <a:r>
              <a:rPr lang="en-US" sz="1600" b="1" dirty="0">
                <a:solidFill>
                  <a:schemeClr val="tx1"/>
                </a:solidFill>
              </a:rPr>
              <a:t>−4.5</a:t>
            </a:r>
            <a:r>
              <a:rPr lang="en-US" sz="1600" dirty="0">
                <a:solidFill>
                  <a:schemeClr val="tx1"/>
                </a:solidFill>
              </a:rPr>
              <a:t> to </a:t>
            </a:r>
            <a:r>
              <a:rPr lang="en-US" sz="1600" b="1" dirty="0">
                <a:solidFill>
                  <a:schemeClr val="tx1"/>
                </a:solidFill>
              </a:rPr>
              <a:t>5.4</a:t>
            </a:r>
            <a:r>
              <a:rPr lang="en-US" sz="1600" dirty="0">
                <a:solidFill>
                  <a:schemeClr val="tx1"/>
                </a:solidFill>
              </a:rPr>
              <a:t> points (truth 1)</a:t>
            </a:r>
            <a:endParaRPr lang="en-US" sz="1600" dirty="0"/>
          </a:p>
          <a:p>
            <a:pPr marL="228600" indent="-228600">
              <a:spcAft>
                <a:spcPts val="800"/>
              </a:spcAft>
              <a:buSzPct val="100000"/>
              <a:buChar char="•"/>
            </a:pPr>
            <a:r>
              <a:rPr lang="en-US" sz="1600" dirty="0">
                <a:solidFill>
                  <a:schemeClr val="tx1"/>
                </a:solidFill>
              </a:rPr>
              <a:t>In </a:t>
            </a:r>
            <a:r>
              <a:rPr lang="en-US" sz="1600" b="1" dirty="0">
                <a:solidFill>
                  <a:schemeClr val="tx1"/>
                </a:solidFill>
              </a:rPr>
              <a:t>66</a:t>
            </a:r>
            <a:r>
              <a:rPr lang="en-US" sz="1600" dirty="0">
                <a:solidFill>
                  <a:schemeClr val="tx1"/>
                </a:solidFill>
              </a:rPr>
              <a:t> of 200 such records the simulator recommends the worst rule there is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§14.4 · FIGURE 14.3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record kept under one rule misleads</a:t>
            </a:r>
            <a:endParaRPr lang="en-US" sz="3200" dirty="0"/>
          </a:p>
        </p:txBody>
      </p:sp>
      <p:sp>
        <p:nvSpPr>
          <p:cNvPr id="5" name="Bullets"/>
          <p:cNvSpPr txBox="1"/>
          <p:nvPr/>
        </p:nvSpPr>
        <p:spPr>
          <a:xfrm>
            <a:off x="548640" y="1691640"/>
            <a:ext cx="3811109"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From 12, 40 and 120 quarters of swings: </a:t>
            </a:r>
            <a:r>
              <a:rPr lang="en-US" sz="1500" b="1" dirty="0">
                <a:solidFill>
                  <a:schemeClr val="tx1"/>
                </a:solidFill>
              </a:rPr>
              <a:t>$1.17m</a:t>
            </a:r>
            <a:r>
              <a:rPr lang="en-US" sz="1500" dirty="0">
                <a:solidFill>
                  <a:schemeClr val="tx1"/>
                </a:solidFill>
              </a:rPr>
              <a:t>, </a:t>
            </a:r>
            <a:r>
              <a:rPr lang="en-US" sz="1500" b="1" dirty="0">
                <a:solidFill>
                  <a:schemeClr val="tx1"/>
                </a:solidFill>
              </a:rPr>
              <a:t>$0.30m</a:t>
            </a:r>
            <a:r>
              <a:rPr lang="en-US" sz="1500" dirty="0">
                <a:solidFill>
                  <a:schemeClr val="tx1"/>
                </a:solidFill>
              </a:rPr>
              <a:t> and </a:t>
            </a:r>
            <a:r>
              <a:rPr lang="en-US" sz="1500" b="1" dirty="0">
                <a:solidFill>
                  <a:schemeClr val="tx1"/>
                </a:solidFill>
              </a:rPr>
              <a:t>$0.05m</a:t>
            </a:r>
            <a:r>
              <a:rPr lang="en-US" sz="1500" dirty="0">
                <a:solidFill>
                  <a:schemeClr val="tx1"/>
                </a:solidFill>
              </a:rPr>
              <a:t> on average; the best rule in 86, 137 and 171 of 200 records</a:t>
            </a:r>
            <a:endParaRPr lang="en-US" sz="1500" dirty="0"/>
          </a:p>
          <a:p>
            <a:pPr marL="228600" indent="-228600">
              <a:spcAft>
                <a:spcPts val="800"/>
              </a:spcAft>
              <a:buSzPct val="100000"/>
              <a:buChar char="•"/>
            </a:pPr>
            <a:r>
              <a:rPr lang="en-US" sz="1500" dirty="0">
                <a:solidFill>
                  <a:schemeClr val="tx1"/>
                </a:solidFill>
              </a:rPr>
              <a:t>(b) Under Volume I's rule hiring moved with capability, so a regression cannot tell their effects apart</a:t>
            </a:r>
            <a:endParaRPr lang="en-US" sz="1500" dirty="0"/>
          </a:p>
          <a:p>
            <a:pPr marL="228600" indent="-228600">
              <a:spcAft>
                <a:spcPts val="800"/>
              </a:spcAft>
              <a:buSzPct val="100000"/>
              <a:buChar char="•"/>
            </a:pPr>
            <a:r>
              <a:rPr lang="en-US" sz="1500" dirty="0">
                <a:solidFill>
                  <a:schemeClr val="tx1"/>
                </a:solidFill>
              </a:rPr>
              <a:t>Its rule costs a median </a:t>
            </a:r>
            <a:r>
              <a:rPr lang="en-US" sz="1500" b="1" dirty="0">
                <a:solidFill>
                  <a:schemeClr val="tx1"/>
                </a:solidFill>
              </a:rPr>
              <a:t>$42.7m</a:t>
            </a:r>
            <a:r>
              <a:rPr lang="en-US" sz="1500" dirty="0">
                <a:solidFill>
                  <a:schemeClr val="tx1"/>
                </a:solidFill>
              </a:rPr>
              <a:t> more, within $1m in only 28 records, and </a:t>
            </a:r>
            <a:r>
              <a:rPr lang="en-US" sz="1500" b="1" dirty="0">
                <a:solidFill>
                  <a:schemeClr val="tx1"/>
                </a:solidFill>
              </a:rPr>
              <a:t>$1,029.7m</a:t>
            </a:r>
            <a:r>
              <a:rPr lang="en-US" sz="1500" dirty="0">
                <a:solidFill>
                  <a:schemeClr val="tx1"/>
                </a:solidFill>
              </a:rPr>
              <a:t> in 66</a:t>
            </a:r>
            <a:endParaRPr lang="en-US" sz="1500" dirty="0"/>
          </a:p>
        </p:txBody>
      </p:sp>
      <p:pic>
        <p:nvPicPr>
          <p:cNvPr id="6" name="Figure" descr="Figure 14.3: learned simulators">    </p:cNvPr>
          <p:cNvPicPr>
            <a:picLocks noChangeAspect="1"/>
          </p:cNvPicPr>
          <p:nvPr/>
        </p:nvPicPr>
        <p:blipFill>
          <a:blip r:embed="rId1"/>
          <a:stretch>
            <a:fillRect/>
          </a:stretch>
        </p:blipFill>
        <p:spPr>
          <a:xfrm>
            <a:off x="4725509" y="1813985"/>
            <a:ext cx="6917546" cy="3668941"/>
          </a:xfrm>
          <a:prstGeom prst="rect">
            <a:avLst/>
          </a:prstGeom>
        </p:spPr>
      </p:pic>
      <p:sp>
        <p:nvSpPr>
          <p:cNvPr id="7" name="Caption"/>
          <p:cNvSpPr txBox="1"/>
          <p:nvPr/>
        </p:nvSpPr>
        <p:spPr>
          <a:xfrm>
            <a:off x="4725509" y="5556079"/>
            <a:ext cx="6917546" cy="502920"/>
          </a:xfrm>
          <a:prstGeom prst="rect">
            <a:avLst/>
          </a:prstGeom>
          <a:noFill/>
          <a:ln/>
        </p:spPr>
        <p:txBody>
          <a:bodyPr wrap="square" lIns="0" tIns="0" rIns="0" bIns="0" rtlCol="0" anchor="t"/>
          <a:lstStyle/>
          <a:p>
            <a:pPr indent="0" marL="0">
              <a:buNone/>
            </a:pPr>
            <a:r>
              <a:rPr lang="en-US" sz="1100" i="1" dirty="0">
                <a:solidFill>
                  <a:schemeClr val="tx2"/>
                </a:solidFill>
              </a:rPr>
              <a:t>Figure 14.3. (a) Simulators that learn the law of the swings from 12, 40 or 120 quarters. (b) Simulators fitted to 40 quarters kept under Volume I's rule: the effect of a point hired against excess cost.</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§14.5 · DEFINITION 14.2 · PROPOSITION 14.2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Guardrails and certificates keep the commitments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14.2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Guardrails and Certificates</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Guardrails.</a:t>
            </a:r>
            <a:r>
              <a:rPr lang="en-US" sz="1400" dirty="0">
                <a:solidFill>
                  <a:schemeClr val="tx1"/>
                </a:solidFill>
              </a:rPr>
              <a:t> One that holds a best decision in every state costs nothing at the optimum; whatever a learner does inside it, it does no worse than the worst rule there</a:t>
            </a:r>
            <a:endParaRPr lang="en-US" sz="1400" dirty="0"/>
          </a:p>
          <a:p>
            <a:pPr marL="228600" indent="-228600">
              <a:spcAft>
                <a:spcPts val="600"/>
              </a:spcAft>
              <a:buSzPct val="100000"/>
              <a:buChar char="•"/>
            </a:pPr>
            <a:r>
              <a:rPr lang="en-US" sz="1400" b="1" dirty="0">
                <a:solidFill>
                  <a:schemeClr val="tx1"/>
                </a:solidFill>
              </a:rPr>
              <a:t>(ii) Certificates.</a:t>
            </a:r>
            <a:r>
              <a:rPr lang="en-US" sz="1400" dirty="0">
                <a:solidFill>
                  <a:schemeClr val="tx1"/>
                </a:solidFill>
              </a:rPr>
              <a:t> A proposed rule's value is one linear solve; values whose Bellman residual is e lie within e/(1 − β), and their greedy rule loses at most 2βe/(1 − β)</a:t>
            </a:r>
            <a:endParaRPr lang="en-US" sz="1400" dirty="0"/>
          </a:p>
          <a:p>
            <a:pPr marL="228600" indent="-228600">
              <a:spcAft>
                <a:spcPts val="600"/>
              </a:spcAft>
              <a:buSzPct val="100000"/>
              <a:buChar char="•"/>
            </a:pPr>
            <a:r>
              <a:rPr lang="en-US" sz="1400" b="1" dirty="0">
                <a:solidFill>
                  <a:schemeClr val="tx1"/>
                </a:solidFill>
              </a:rPr>
              <a:t>(iii) The optimizer's curse.</a:t>
            </a:r>
            <a:r>
              <a:rPr lang="en-US" sz="1400" dirty="0">
                <a:solidFill>
                  <a:schemeClr val="tx1"/>
                </a:solidFill>
              </a:rPr>
              <a:t> The best of K noisy estimates overstates the adopted proposal's value; a fresh estimate does not</a:t>
            </a:r>
            <a:endParaRPr lang="en-US" sz="1400" dirty="0"/>
          </a:p>
          <a:p>
            <a:pPr marL="228600" indent="-228600">
              <a:spcAft>
                <a:spcPts val="600"/>
              </a:spcAft>
              <a:buSzPct val="100000"/>
              <a:buChar char="•"/>
            </a:pPr>
            <a:r>
              <a:rPr lang="en-US" sz="1400" dirty="0">
                <a:solidFill>
                  <a:schemeClr val="tx1"/>
                </a:solidFill>
              </a:rPr>
              <a:t>A </a:t>
            </a:r>
            <a:r>
              <a:rPr lang="en-US" sz="1400" b="1" dirty="0">
                <a:solidFill>
                  <a:schemeClr val="tx1"/>
                </a:solidFill>
              </a:rPr>
              <a:t>certificate</a:t>
            </a:r>
            <a:r>
              <a:rPr lang="en-US" sz="1400" dirty="0">
                <a:solidFill>
                  <a:schemeClr val="tx1"/>
                </a:solidFill>
              </a:rPr>
              <a:t> is a computation the board can check without trusting the source: the exact value, every commitment checked, and a bound on what any other rule could add</a:t>
            </a:r>
            <a:endParaRPr lang="en-US" sz="14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guardrail</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Never plan below 55 unless hiring at the cap: </a:t>
            </a:r>
            <a:r>
              <a:rPr lang="en-US" sz="1600" b="1" dirty="0">
                <a:solidFill>
                  <a:schemeClr val="tx1"/>
                </a:solidFill>
              </a:rPr>
              <a:t>1,152</a:t>
            </a:r>
            <a:r>
              <a:rPr lang="en-US" sz="1600" dirty="0">
                <a:solidFill>
                  <a:schemeClr val="tx1"/>
                </a:solidFill>
              </a:rPr>
              <a:t> of </a:t>
            </a:r>
            <a:r>
              <a:rPr lang="en-US" sz="1600" b="1" dirty="0">
                <a:solidFill>
                  <a:schemeClr val="tx1"/>
                </a:solidFill>
              </a:rPr>
              <a:t>2,113</a:t>
            </a:r>
            <a:r>
              <a:rPr lang="en-US" sz="1600" dirty="0">
                <a:solidFill>
                  <a:schemeClr val="tx1"/>
                </a:solidFill>
              </a:rPr>
              <a:t> decisions, the best rule among them</a:t>
            </a:r>
            <a:endParaRPr lang="en-US" sz="1600" dirty="0"/>
          </a:p>
          <a:p>
            <a:pPr marL="228600" indent="-228600">
              <a:spcAft>
                <a:spcPts val="800"/>
              </a:spcAft>
              <a:buSzPct val="100000"/>
              <a:buChar char="•"/>
            </a:pPr>
            <a:r>
              <a:rPr lang="en-US" sz="1600" dirty="0">
                <a:solidFill>
                  <a:schemeClr val="tx1"/>
                </a:solidFill>
              </a:rPr>
              <a:t>The worst rule inside it costs </a:t>
            </a:r>
            <a:r>
              <a:rPr lang="en-US" sz="1600" b="1" dirty="0">
                <a:solidFill>
                  <a:schemeClr val="tx1"/>
                </a:solidFill>
              </a:rPr>
              <a:t>$142.8m</a:t>
            </a:r>
            <a:r>
              <a:rPr lang="en-US" sz="1600" dirty="0">
                <a:solidFill>
                  <a:schemeClr val="tx1"/>
                </a:solidFill>
              </a:rPr>
              <a:t> more than the best; outside it, </a:t>
            </a:r>
            <a:r>
              <a:rPr lang="en-US" sz="1600" b="1" dirty="0">
                <a:solidFill>
                  <a:schemeClr val="tx1"/>
                </a:solidFill>
              </a:rPr>
              <a:t>$1,029.7m</a:t>
            </a:r>
            <a:endParaRPr lang="en-US" sz="1600" dirty="0"/>
          </a:p>
          <a:p>
            <a:pPr marL="228600" indent="-228600">
              <a:spcAft>
                <a:spcPts val="800"/>
              </a:spcAft>
              <a:buSzPct val="100000"/>
              <a:buChar char="•"/>
            </a:pPr>
            <a:r>
              <a:rPr lang="en-US" sz="1600" dirty="0">
                <a:solidFill>
                  <a:schemeClr val="tx1"/>
                </a:solidFill>
              </a:rPr>
              <a:t>The agent that loses </a:t>
            </a:r>
            <a:r>
              <a:rPr lang="en-US" sz="1600" b="1" dirty="0">
                <a:solidFill>
                  <a:schemeClr val="tx1"/>
                </a:solidFill>
              </a:rPr>
              <a:t>$545.5m</a:t>
            </a:r>
            <a:r>
              <a:rPr lang="en-US" sz="1600" dirty="0">
                <a:solidFill>
                  <a:schemeClr val="tx1"/>
                </a:solidFill>
              </a:rPr>
              <a:t> learning on the company loses </a:t>
            </a:r>
            <a:r>
              <a:rPr lang="en-US" sz="1600" b="1" dirty="0">
                <a:solidFill>
                  <a:schemeClr val="tx1"/>
                </a:solidFill>
              </a:rPr>
              <a:t>$1.2m</a:t>
            </a:r>
            <a:r>
              <a:rPr lang="en-US" sz="1600" dirty="0">
                <a:solidFill>
                  <a:schemeClr val="tx1"/>
                </a:solidFill>
              </a:rPr>
              <a:t> inside it</a:t>
            </a:r>
            <a:endParaRPr lang="en-US" sz="1600" dirty="0"/>
          </a:p>
          <a:p>
            <a:pPr marL="228600" indent="-228600">
              <a:spcAft>
                <a:spcPts val="800"/>
              </a:spcAft>
              <a:buSzPct val="100000"/>
              <a:buChar char="•"/>
            </a:pPr>
            <a:r>
              <a:rPr lang="en-US" sz="1600" dirty="0">
                <a:solidFill>
                  <a:schemeClr val="tx1"/>
                </a:solidFill>
              </a:rPr>
              <a:t>A language model's plan or an expert system's rules is a declaration to be checked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§14.5 · DEFINITION 14.3 · PROPOSITION 14.3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Coordinate many agents by a price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14.3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Many Agents</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400" b="1" dirty="0">
                <a:solidFill>
                  <a:schemeClr val="tx1"/>
                </a:solidFill>
              </a:rPr>
              <a:t>(i) Equilibria exist,</a:t>
            </a:r>
            <a:r>
              <a:rPr lang="en-US" sz="1400" dirty="0">
                <a:solidFill>
                  <a:schemeClr val="tx1"/>
                </a:solidFill>
              </a:rPr>
              <a:t> in randomized decisions; for discounted stochastic games, in stationary randomized rules</a:t>
            </a:r>
            <a:endParaRPr lang="en-US" sz="1400" dirty="0"/>
          </a:p>
          <a:p>
            <a:pPr marL="228600" indent="-228600">
              <a:spcAft>
                <a:spcPts val="600"/>
              </a:spcAft>
              <a:buSzPct val="100000"/>
              <a:buChar char="•"/>
            </a:pPr>
            <a:r>
              <a:rPr lang="en-US" sz="1400" b="1" dirty="0">
                <a:solidFill>
                  <a:schemeClr val="tx1"/>
                </a:solidFill>
              </a:rPr>
              <a:t>(ii) Learning need not settle.</a:t>
            </a:r>
            <a:r>
              <a:rPr lang="en-US" sz="1400" dirty="0">
                <a:solidFill>
                  <a:schemeClr val="tx1"/>
                </a:solidFill>
              </a:rPr>
              <a:t> In fictitious play the frequencies approach equilibrium in zero-sum and common-value games, yet the play can miscoordinate every round; elsewhere they can cycle</a:t>
            </a:r>
            <a:endParaRPr lang="en-US" sz="1400" dirty="0"/>
          </a:p>
          <a:p>
            <a:pPr marL="228600" indent="-228600">
              <a:spcAft>
                <a:spcPts val="600"/>
              </a:spcAft>
              <a:buSzPct val="100000"/>
              <a:buChar char="•"/>
            </a:pPr>
            <a:r>
              <a:rPr lang="en-US" sz="1400" b="1" dirty="0">
                <a:solidFill>
                  <a:schemeClr val="tx1"/>
                </a:solidFill>
              </a:rPr>
              <a:t>(iii) Prices coordinate; selfish agents need not.</a:t>
            </a:r>
            <a:r>
              <a:rPr lang="en-US" sz="1400" dirty="0">
                <a:solidFill>
                  <a:schemeClr val="tx1"/>
                </a:solidFill>
              </a:rPr>
              <a:t> The price that clears a shared resource makes the units' choices the company's best plan; without it, selfish units can do worse</a:t>
            </a:r>
            <a:endParaRPr lang="en-US" sz="14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The Online Appendix's examples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Two agents paid only for differing agree in every round, earning 0, as their frequencies approach ½</a:t>
            </a:r>
            <a:endParaRPr lang="en-US" sz="1600" dirty="0"/>
          </a:p>
          <a:p>
            <a:pPr marL="228600" indent="-228600">
              <a:spcAft>
                <a:spcPts val="800"/>
              </a:spcAft>
              <a:buSzPct val="100000"/>
              <a:buChar char="•"/>
            </a:pPr>
            <a:r>
              <a:rPr lang="en-US" sz="1600" dirty="0">
                <a:solidFill>
                  <a:schemeClr val="tx1"/>
                </a:solidFill>
              </a:rPr>
              <a:t>Two units that share or hoard: both hoard, worth </a:t>
            </a:r>
            <a:r>
              <a:rPr lang="en-US" sz="1600" b="1" dirty="0">
                <a:solidFill>
                  <a:schemeClr val="tx1"/>
                </a:solidFill>
              </a:rPr>
              <a:t>2</a:t>
            </a:r>
            <a:r>
              <a:rPr lang="en-US" sz="1600" dirty="0">
                <a:solidFill>
                  <a:schemeClr val="tx1"/>
                </a:solidFill>
              </a:rPr>
              <a:t> to the company against </a:t>
            </a:r>
            <a:r>
              <a:rPr lang="en-US" sz="1600" b="1" dirty="0">
                <a:solidFill>
                  <a:schemeClr val="tx1"/>
                </a:solidFill>
              </a:rPr>
              <a:t>6</a:t>
            </a:r>
            <a:endParaRPr lang="en-US" sz="1600" dirty="0"/>
          </a:p>
          <a:p>
            <a:pPr marL="228600" indent="-228600">
              <a:spcAft>
                <a:spcPts val="800"/>
              </a:spcAft>
              <a:buSzPct val="100000"/>
              <a:buChar char="•"/>
            </a:pPr>
            <a:r>
              <a:rPr lang="en-US" sz="1600" dirty="0">
                <a:solidFill>
                  <a:schemeClr val="tx1"/>
                </a:solidFill>
              </a:rPr>
              <a:t>Shapley's example cycles forever: agents trained against one another need not settle</a:t>
            </a:r>
            <a:endParaRPr lang="en-US" sz="1600" dirty="0"/>
          </a:p>
          <a:p>
            <a:pPr marL="228600" indent="-228600">
              <a:spcAft>
                <a:spcPts val="800"/>
              </a:spcAft>
              <a:buSzPct val="100000"/>
              <a:buChar char="•"/>
            </a:pPr>
            <a:r>
              <a:rPr lang="en-US" sz="1600" dirty="0">
                <a:solidFill>
                  <a:schemeClr val="tx1"/>
                </a:solidFill>
              </a:rPr>
              <a:t>Coordinate units by a price the center computes and certifies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14.1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Should an agent learn Meridian's hiring rule?</a:t>
            </a:r>
            <a:endParaRPr lang="en-US" sz="3200" dirty="0"/>
          </a:p>
        </p:txBody>
      </p:sp>
      <p:sp>
        <p:nvSpPr>
          <p:cNvPr id="5" name="Card"/>
          <p:cNvSpPr/>
          <p:nvPr/>
        </p:nvSpPr>
        <p:spPr>
          <a:xfrm>
            <a:off x="548640" y="1691640"/>
            <a:ext cx="3515258" cy="2743200"/>
          </a:xfrm>
          <a:prstGeom prst="roundRect">
            <a:avLst>
              <a:gd name="adj" fmla="val 2667"/>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Digital Solutions' AI team</a:t>
            </a:r>
            <a:endParaRPr lang="en-US" sz="1300" dirty="0"/>
          </a:p>
        </p:txBody>
      </p:sp>
      <p:sp>
        <p:nvSpPr>
          <p:cNvPr id="7" name="Card head"/>
          <p:cNvSpPr txBox="1"/>
          <p:nvPr/>
        </p:nvSpPr>
        <p:spPr>
          <a:xfrm>
            <a:off x="731520" y="2148840"/>
            <a:ext cx="3149498" cy="89611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An agent that learns the rule by itself</a:t>
            </a:r>
            <a:endParaRPr lang="en-US" sz="1900" dirty="0"/>
          </a:p>
        </p:txBody>
      </p:sp>
      <p:sp>
        <p:nvSpPr>
          <p:cNvPr id="8" name="Card text"/>
          <p:cNvSpPr txBox="1"/>
          <p:nvPr/>
        </p:nvSpPr>
        <p:spPr>
          <a:xfrm>
            <a:off x="731520" y="3118104"/>
            <a:ext cx="3149498" cy="1188720"/>
          </a:xfrm>
          <a:prstGeom prst="rect">
            <a:avLst/>
          </a:prstGeom>
          <a:noFill/>
          <a:ln/>
        </p:spPr>
        <p:txBody>
          <a:bodyPr wrap="square" lIns="0" tIns="0" rIns="0" bIns="0" rtlCol="0" anchor="t"/>
          <a:lstStyle/>
          <a:p>
            <a:pPr indent="0" marL="0">
              <a:buNone/>
            </a:pPr>
            <a:r>
              <a:rPr lang="en-US" sz="1500" dirty="0">
                <a:solidFill>
                  <a:schemeClr val="tx2"/>
                </a:solidFill>
              </a:rPr>
              <a:t>Without being told the law of the swings, and learning on as the company changes.</a:t>
            </a:r>
            <a:endParaRPr lang="en-US" sz="1500" dirty="0"/>
          </a:p>
        </p:txBody>
      </p:sp>
      <p:sp>
        <p:nvSpPr>
          <p:cNvPr id="9" name="Card"/>
          <p:cNvSpPr/>
          <p:nvPr/>
        </p:nvSpPr>
        <p:spPr>
          <a:xfrm>
            <a:off x="4338218" y="1691640"/>
            <a:ext cx="3515258" cy="2743200"/>
          </a:xfrm>
          <a:prstGeom prst="roundRect">
            <a:avLst>
              <a:gd name="adj" fmla="val 2667"/>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human resources officer</a:t>
            </a:r>
            <a:endParaRPr lang="en-US" sz="1300" dirty="0"/>
          </a:p>
        </p:txBody>
      </p:sp>
      <p:sp>
        <p:nvSpPr>
          <p:cNvPr id="11" name="Card head"/>
          <p:cNvSpPr txBox="1"/>
          <p:nvPr/>
        </p:nvSpPr>
        <p:spPr>
          <a:xfrm>
            <a:off x="4521098" y="2148840"/>
            <a:ext cx="3149498" cy="89611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Should we let it?</a:t>
            </a:r>
            <a:endParaRPr lang="en-US" sz="1900" dirty="0"/>
          </a:p>
        </p:txBody>
      </p:sp>
      <p:sp>
        <p:nvSpPr>
          <p:cNvPr id="12" name="Card text"/>
          <p:cNvSpPr txBox="1"/>
          <p:nvPr/>
        </p:nvSpPr>
        <p:spPr>
          <a:xfrm>
            <a:off x="4521098" y="3118104"/>
            <a:ext cx="3149498" cy="1188720"/>
          </a:xfrm>
          <a:prstGeom prst="rect">
            <a:avLst/>
          </a:prstGeom>
          <a:noFill/>
          <a:ln/>
        </p:spPr>
        <p:txBody>
          <a:bodyPr wrap="square" lIns="0" tIns="0" rIns="0" bIns="0" rtlCol="0" anchor="t"/>
          <a:lstStyle/>
          <a:p>
            <a:pPr indent="0" marL="0">
              <a:buNone/>
            </a:pPr>
            <a:r>
              <a:rPr lang="en-US" sz="1500" dirty="0">
                <a:solidFill>
                  <a:schemeClr val="tx2"/>
                </a:solidFill>
              </a:rPr>
              <a:t>Chapter 7's rule plans capability to 55.75 each quarter, at $230.8m of cost from 58.</a:t>
            </a:r>
            <a:endParaRPr lang="en-US" sz="1500" dirty="0"/>
          </a:p>
        </p:txBody>
      </p:sp>
      <p:sp>
        <p:nvSpPr>
          <p:cNvPr id="13" name="Card"/>
          <p:cNvSpPr/>
          <p:nvPr/>
        </p:nvSpPr>
        <p:spPr>
          <a:xfrm>
            <a:off x="8127797" y="1691640"/>
            <a:ext cx="3515258" cy="2743200"/>
          </a:xfrm>
          <a:prstGeom prst="roundRect">
            <a:avLst>
              <a:gd name="adj" fmla="val 2667"/>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audit committee</a:t>
            </a:r>
            <a:endParaRPr lang="en-US" sz="1300" dirty="0"/>
          </a:p>
        </p:txBody>
      </p:sp>
      <p:sp>
        <p:nvSpPr>
          <p:cNvPr id="15" name="Card head"/>
          <p:cNvSpPr txBox="1"/>
          <p:nvPr/>
        </p:nvSpPr>
        <p:spPr>
          <a:xfrm>
            <a:off x="8310677" y="2148840"/>
            <a:ext cx="3149498" cy="896112"/>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What must it show before adoption?</a:t>
            </a:r>
            <a:endParaRPr lang="en-US" sz="1900" dirty="0"/>
          </a:p>
        </p:txBody>
      </p:sp>
      <p:sp>
        <p:nvSpPr>
          <p:cNvPr id="16" name="Card text"/>
          <p:cNvSpPr txBox="1"/>
          <p:nvPr/>
        </p:nvSpPr>
        <p:spPr>
          <a:xfrm>
            <a:off x="8310677" y="3118104"/>
            <a:ext cx="3149498" cy="1188720"/>
          </a:xfrm>
          <a:prstGeom prst="rect">
            <a:avLst/>
          </a:prstGeom>
          <a:noFill/>
          <a:ln/>
        </p:spPr>
        <p:txBody>
          <a:bodyPr wrap="square" lIns="0" tIns="0" rIns="0" bIns="0" rtlCol="0" anchor="t"/>
          <a:lstStyle/>
          <a:p>
            <a:pPr indent="0" marL="0">
              <a:buNone/>
            </a:pPr>
            <a:r>
              <a:rPr lang="en-US" sz="1500" dirty="0">
                <a:solidFill>
                  <a:schemeClr val="bg2"/>
                </a:solidFill>
              </a:rPr>
              <a:t>An exact price under the declared model, and the guardrail checked at every capability.</a:t>
            </a:r>
            <a:endParaRPr lang="en-US" sz="1500" dirty="0"/>
          </a:p>
        </p:txBody>
      </p:sp>
      <p:sp>
        <p:nvSpPr>
          <p:cNvPr id="17" name="Lead"/>
          <p:cNvSpPr txBox="1"/>
          <p:nvPr/>
        </p:nvSpPr>
        <p:spPr>
          <a:xfrm>
            <a:off x="548640" y="47091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board adds a guardrail: never plan below 55 unless hiring at the cap.</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14.1 · STEPS 1–6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steps from a simulator to a certificate</a:t>
            </a:r>
            <a:endParaRPr lang="en-US" sz="3200" dirty="0"/>
          </a:p>
        </p:txBody>
      </p:sp>
      <p:sp>
        <p:nvSpPr>
          <p:cNvPr id="5" name="Step 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Number"/>
          <p:cNvSpPr/>
          <p:nvPr/>
        </p:nvSpPr>
        <p:spPr>
          <a:xfrm>
            <a:off x="731520" y="1874520"/>
            <a:ext cx="457200" cy="457200"/>
          </a:xfrm>
          <a:prstGeom prst="ellipse">
            <a:avLst/>
          </a:prstGeom>
          <a:solidFill>
            <a:schemeClr val="accent1"/>
          </a:solidFill>
          <a:ln w="6350">
            <a:solidFill>
              <a:schemeClr val="accent1"/>
            </a:solidFill>
            <a:prstDash val="solid"/>
          </a:ln>
        </p:spPr>
      </p:sp>
      <p:sp>
        <p:nvSpPr>
          <p:cNvPr id="7"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8" name="Step head"/>
          <p:cNvSpPr txBox="1"/>
          <p:nvPr/>
        </p:nvSpPr>
        <p:spPr>
          <a:xfrm>
            <a:off x="1325880"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Declare the agent and its world</a:t>
            </a:r>
            <a:endParaRPr lang="en-US" sz="1700" dirty="0"/>
          </a:p>
        </p:txBody>
      </p:sp>
      <p:sp>
        <p:nvSpPr>
          <p:cNvPr id="9" name="Step text"/>
          <p:cNvSpPr txBox="1"/>
          <p:nvPr/>
        </p:nvSpPr>
        <p:spPr>
          <a:xfrm>
            <a:off x="731520"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201 levels, 2,113 decisions. The best rule on this grid costs $231.18m from 58; the guardrail keeps 1,152.</a:t>
            </a:r>
            <a:endParaRPr lang="en-US" sz="1400" dirty="0"/>
          </a:p>
        </p:txBody>
      </p:sp>
      <p:sp>
        <p:nvSpPr>
          <p:cNvPr id="10" name="Step 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1" name="Number"/>
          <p:cNvSpPr/>
          <p:nvPr/>
        </p:nvSpPr>
        <p:spPr>
          <a:xfrm>
            <a:off x="4521098" y="1874520"/>
            <a:ext cx="457200" cy="457200"/>
          </a:xfrm>
          <a:prstGeom prst="ellipse">
            <a:avLst/>
          </a:prstGeom>
          <a:solidFill>
            <a:schemeClr val="accent1"/>
          </a:solidFill>
          <a:ln w="6350">
            <a:solidFill>
              <a:schemeClr val="accent1"/>
            </a:solidFill>
            <a:prstDash val="solid"/>
          </a:ln>
        </p:spPr>
      </p:sp>
      <p:sp>
        <p:nvSpPr>
          <p:cNvPr id="12" name="Text 9"/>
          <p:cNvSpPr txBox="1"/>
          <p:nvPr/>
        </p:nvSpPr>
        <p:spPr>
          <a:xfrm>
            <a:off x="4521098"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3" name="Step head"/>
          <p:cNvSpPr txBox="1"/>
          <p:nvPr/>
        </p:nvSpPr>
        <p:spPr>
          <a:xfrm>
            <a:off x="5115458"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Learn by trial in a simulator</a:t>
            </a:r>
            <a:endParaRPr lang="en-US" sz="1700" dirty="0"/>
          </a:p>
        </p:txBody>
      </p:sp>
      <p:sp>
        <p:nvSpPr>
          <p:cNvPr id="14" name="Step text"/>
          <p:cNvSpPr txBox="1"/>
          <p:nvPr/>
        </p:nvSpPr>
        <p:spPr>
          <a:xfrm>
            <a:off x="4521098"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$493.4m above the best after 1,000 quarters, $1.26m after a million, $0.55m after two million.</a:t>
            </a:r>
            <a:endParaRPr lang="en-US" sz="1400" dirty="0"/>
          </a:p>
        </p:txBody>
      </p:sp>
      <p:sp>
        <p:nvSpPr>
          <p:cNvPr id="15" name="Step card"/>
          <p:cNvSpPr/>
          <p:nvPr/>
        </p:nvSpPr>
        <p:spPr>
          <a:xfrm>
            <a:off x="8127797" y="1691640"/>
            <a:ext cx="3515258" cy="2103120"/>
          </a:xfrm>
          <a:prstGeom prst="roundRect">
            <a:avLst>
              <a:gd name="adj" fmla="val 3478"/>
            </a:avLst>
          </a:prstGeom>
          <a:solidFill>
            <a:schemeClr val="bg2"/>
          </a:solidFill>
          <a:ln w="9525">
            <a:solidFill>
              <a:srgbClr val="C4CBD8"/>
            </a:solidFill>
            <a:prstDash val="solid"/>
          </a:ln>
        </p:spPr>
      </p:sp>
      <p:sp>
        <p:nvSpPr>
          <p:cNvPr id="16" name="Number"/>
          <p:cNvSpPr/>
          <p:nvPr/>
        </p:nvSpPr>
        <p:spPr>
          <a:xfrm>
            <a:off x="8310677" y="1874520"/>
            <a:ext cx="457200" cy="457200"/>
          </a:xfrm>
          <a:prstGeom prst="ellipse">
            <a:avLst/>
          </a:prstGeom>
          <a:solidFill>
            <a:schemeClr val="accent1"/>
          </a:solidFill>
          <a:ln w="6350">
            <a:solidFill>
              <a:schemeClr val="accent1"/>
            </a:solidFill>
            <a:prstDash val="solid"/>
          </a:ln>
        </p:spPr>
      </p:sp>
      <p:sp>
        <p:nvSpPr>
          <p:cNvPr id="17" name="Text 14"/>
          <p:cNvSpPr txBox="1"/>
          <p:nvPr/>
        </p:nvSpPr>
        <p:spPr>
          <a:xfrm>
            <a:off x="8310677" y="1874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8" name="Step head"/>
          <p:cNvSpPr txBox="1"/>
          <p:nvPr/>
        </p:nvSpPr>
        <p:spPr>
          <a:xfrm>
            <a:off x="8905037" y="185623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The price of exploration</a:t>
            </a:r>
            <a:endParaRPr lang="en-US" sz="1700" dirty="0"/>
          </a:p>
        </p:txBody>
      </p:sp>
      <p:sp>
        <p:nvSpPr>
          <p:cNvPr id="19" name="Step text"/>
          <p:cNvSpPr txBox="1"/>
          <p:nvPr/>
        </p:nvSpPr>
        <p:spPr>
          <a:xfrm>
            <a:off x="8310677" y="2468880"/>
            <a:ext cx="3149498" cy="1234440"/>
          </a:xfrm>
          <a:prstGeom prst="rect">
            <a:avLst/>
          </a:prstGeom>
          <a:noFill/>
          <a:ln/>
        </p:spPr>
        <p:txBody>
          <a:bodyPr wrap="square" lIns="0" tIns="0" rIns="0" bIns="0" rtlCol="0" anchor="t"/>
          <a:lstStyle/>
          <a:p>
            <a:pPr indent="0" marL="0">
              <a:buNone/>
            </a:pPr>
            <a:r>
              <a:rPr lang="en-US" sz="1400" dirty="0">
                <a:solidFill>
                  <a:schemeClr val="tx1"/>
                </a:solidFill>
              </a:rPr>
              <a:t>Greedy learners stall at $121.2m. Optimism ends on the best target in 84% of runs, greedy choice in 20%.</a:t>
            </a:r>
            <a:endParaRPr lang="en-US" sz="1400" dirty="0"/>
          </a:p>
        </p:txBody>
      </p:sp>
      <p:sp>
        <p:nvSpPr>
          <p:cNvPr id="20" name="Step 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21" name="Number"/>
          <p:cNvSpPr/>
          <p:nvPr/>
        </p:nvSpPr>
        <p:spPr>
          <a:xfrm>
            <a:off x="731520" y="4251960"/>
            <a:ext cx="457200" cy="457200"/>
          </a:xfrm>
          <a:prstGeom prst="ellipse">
            <a:avLst/>
          </a:prstGeom>
          <a:solidFill>
            <a:schemeClr val="accent1"/>
          </a:solidFill>
          <a:ln w="6350">
            <a:solidFill>
              <a:schemeClr val="accent1"/>
            </a:solidFill>
            <a:prstDash val="solid"/>
          </a:ln>
        </p:spPr>
      </p:sp>
      <p:sp>
        <p:nvSpPr>
          <p:cNvPr id="22" name="Text 19"/>
          <p:cNvSpPr txBox="1"/>
          <p:nvPr/>
        </p:nvSpPr>
        <p:spPr>
          <a:xfrm>
            <a:off x="731520"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23" name="Step head"/>
          <p:cNvSpPr txBox="1"/>
          <p:nvPr/>
        </p:nvSpPr>
        <p:spPr>
          <a:xfrm>
            <a:off x="1325880"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Learn the simulator instead</a:t>
            </a:r>
            <a:endParaRPr lang="en-US" sz="1700" dirty="0"/>
          </a:p>
        </p:txBody>
      </p:sp>
      <p:sp>
        <p:nvSpPr>
          <p:cNvPr id="24" name="Step text"/>
          <p:cNvSpPr txBox="1"/>
          <p:nvPr/>
        </p:nvSpPr>
        <p:spPr>
          <a:xfrm>
            <a:off x="731520"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From 40 quarters of swings: $0.30m. Fitted to practice: $42.7m in the median, the worst rule in 66 records.</a:t>
            </a:r>
            <a:endParaRPr lang="en-US" sz="1400" dirty="0"/>
          </a:p>
        </p:txBody>
      </p:sp>
      <p:sp>
        <p:nvSpPr>
          <p:cNvPr id="25" name="Step 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6" name="Number"/>
          <p:cNvSpPr/>
          <p:nvPr/>
        </p:nvSpPr>
        <p:spPr>
          <a:xfrm>
            <a:off x="4521098" y="4251960"/>
            <a:ext cx="457200" cy="457200"/>
          </a:xfrm>
          <a:prstGeom prst="ellipse">
            <a:avLst/>
          </a:prstGeom>
          <a:solidFill>
            <a:schemeClr val="accent1"/>
          </a:solidFill>
          <a:ln w="6350">
            <a:solidFill>
              <a:schemeClr val="accent1"/>
            </a:solidFill>
            <a:prstDash val="solid"/>
          </a:ln>
        </p:spPr>
      </p:sp>
      <p:sp>
        <p:nvSpPr>
          <p:cNvPr id="27" name="Text 24"/>
          <p:cNvSpPr txBox="1"/>
          <p:nvPr/>
        </p:nvSpPr>
        <p:spPr>
          <a:xfrm>
            <a:off x="4521098"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8" name="Step head"/>
          <p:cNvSpPr txBox="1"/>
          <p:nvPr/>
        </p:nvSpPr>
        <p:spPr>
          <a:xfrm>
            <a:off x="5115458"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Learn inside a guardrail</a:t>
            </a:r>
            <a:endParaRPr lang="en-US" sz="1700" dirty="0"/>
          </a:p>
        </p:txBody>
      </p:sp>
      <p:sp>
        <p:nvSpPr>
          <p:cNvPr id="29" name="Step text"/>
          <p:cNvSpPr txBox="1"/>
          <p:nvPr/>
        </p:nvSpPr>
        <p:spPr>
          <a:xfrm>
            <a:off x="4521098"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On the company: $545.5m lost, 92% of quarters below 55. Inside the guardrail: $1.2m, at most $142.8m.</a:t>
            </a:r>
            <a:endParaRPr lang="en-US" sz="1400" dirty="0"/>
          </a:p>
        </p:txBody>
      </p:sp>
      <p:sp>
        <p:nvSpPr>
          <p:cNvPr id="30" name="Step 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31" name="Number"/>
          <p:cNvSpPr/>
          <p:nvPr/>
        </p:nvSpPr>
        <p:spPr>
          <a:xfrm>
            <a:off x="8310677" y="4251960"/>
            <a:ext cx="457200" cy="457200"/>
          </a:xfrm>
          <a:prstGeom prst="ellipse">
            <a:avLst/>
          </a:prstGeom>
          <a:solidFill>
            <a:schemeClr val="accent1"/>
          </a:solidFill>
          <a:ln w="6350">
            <a:solidFill>
              <a:schemeClr val="accent1"/>
            </a:solidFill>
            <a:prstDash val="solid"/>
          </a:ln>
        </p:spPr>
      </p:sp>
      <p:sp>
        <p:nvSpPr>
          <p:cNvPr id="32" name="Text 29"/>
          <p:cNvSpPr txBox="1"/>
          <p:nvPr/>
        </p:nvSpPr>
        <p:spPr>
          <a:xfrm>
            <a:off x="8310677" y="42519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33" name="Step head"/>
          <p:cNvSpPr txBox="1"/>
          <p:nvPr/>
        </p:nvSpPr>
        <p:spPr>
          <a:xfrm>
            <a:off x="8905037" y="4233672"/>
            <a:ext cx="2600858" cy="50292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Certify before adopting</a:t>
            </a:r>
            <a:endParaRPr lang="en-US" sz="1700" dirty="0"/>
          </a:p>
        </p:txBody>
      </p:sp>
      <p:sp>
        <p:nvSpPr>
          <p:cNvPr id="34" name="Step text"/>
          <p:cNvSpPr txBox="1"/>
          <p:nvPr/>
        </p:nvSpPr>
        <p:spPr>
          <a:xfrm>
            <a:off x="8310677" y="4846320"/>
            <a:ext cx="3149498" cy="1234440"/>
          </a:xfrm>
          <a:prstGeom prst="rect">
            <a:avLst/>
          </a:prstGeom>
          <a:noFill/>
          <a:ln/>
        </p:spPr>
        <p:txBody>
          <a:bodyPr wrap="square" lIns="0" tIns="0" rIns="0" bIns="0" rtlCol="0" anchor="t"/>
          <a:lstStyle/>
          <a:p>
            <a:pPr indent="0" marL="0">
              <a:buNone/>
            </a:pPr>
            <a:r>
              <a:rPr lang="en-US" sz="1400" dirty="0">
                <a:solidFill>
                  <a:schemeClr val="tx1"/>
                </a:solidFill>
              </a:rPr>
              <a:t>Ten rules cost $0.17m to $1.40m more; each breaks the guardrail at 74 to 84 levels. Three or four evaluations.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14.1 · TABLE 14.3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each learner learned, priced exactly</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347453"/>
                <a:gridCol w="2582321"/>
                <a:gridCol w="1721547"/>
                <a:gridCol w="1625906"/>
                <a:gridCol w="1817189"/>
              </a:tblGrid>
              <a:tr h="29260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Learner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Experience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Excess (mean)</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90th pct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Below floor (%)</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29260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Best rule (declared law)</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9260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Volume I's rule (hold 58)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15.37</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9260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Q-learning, simulator</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10,000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56.69</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86.11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50.9*</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92608">
                <a:tc>
                  <a:txBody>
                    <a:bodyPr/>
                    <a:lstStyle/>
                    <a:p>
                      <a:pPr algn="l" indent="0" marL="0">
                        <a:buNone/>
                      </a:pP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100,000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21.97</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31.63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92608">
                <a:tc>
                  <a:txBody>
                    <a:bodyPr/>
                    <a:lstStyle/>
                    <a:p>
                      <a:pPr algn="l" indent="0" marL="0">
                        <a:buNone/>
                      </a:pP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1,000,000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1.26</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1.75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92608">
                <a:tc>
                  <a:txBody>
                    <a:bodyPr/>
                    <a:lstStyle/>
                    <a:p>
                      <a:pPr algn="l" indent="0" marL="0">
                        <a:buNone/>
                      </a:pP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2,000,000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0.73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9260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Greedy, pessimistic start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100,000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121.19*</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133.51†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99.5*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9260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Simulator from swings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12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1.17</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5.04</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92608">
                <a:tc>
                  <a:txBody>
                    <a:bodyPr/>
                    <a:lstStyle/>
                    <a:p>
                      <a:pPr algn="l" indent="0" marL="0">
                        <a:buNone/>
                      </a:pP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40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0.30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0.71</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92608">
                <a:tc>
                  <a:txBody>
                    <a:bodyPr/>
                    <a:lstStyle/>
                    <a:p>
                      <a:pPr algn="l" indent="0" marL="0">
                        <a:buNone/>
                      </a:pP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120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0.05</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0.12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9260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Simulator from practice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40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42.70*</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1,029.74</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292608">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On the company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40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545.54</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622.59</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92.2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292608">
                <a:tc>
                  <a:txBody>
                    <a:bodyPr/>
                    <a:lstStyle/>
                    <a:p>
                      <a:pPr algn="l" indent="0" marL="0">
                        <a:buNone/>
                      </a:pPr>
                      <a:r>
                        <a:rPr lang="en-US" sz="1300" b="1" dirty="0">
                          <a:solidFill>
                            <a:srgbClr val="0F1E3D"/>
                          </a:solidFill>
                          <a:latin typeface="Calibri" pitchFamily="34" charset="0"/>
                          <a:ea typeface="Calibri" pitchFamily="34" charset="-122"/>
                          <a:cs typeface="Calibri" pitchFamily="34" charset="-120"/>
                        </a:rPr>
                        <a:t>On the company, guardrail</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40 quarters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1.18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19.04</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300" dirty="0">
                          <a:solidFill>
                            <a:srgbClr val="0F1E3D"/>
                          </a:solidFill>
                          <a:latin typeface="Calibri" pitchFamily="34" charset="0"/>
                          <a:ea typeface="Calibri" pitchFamily="34" charset="-122"/>
                          <a:cs typeface="Calibri" pitchFamily="34" charset="-120"/>
                        </a:rPr>
                        <a:t>17.8</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5870448"/>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Excess: cost from 58 above the best rule's $231.18m, $ million; the mean (* median) and 90th percentile over agents, records or companies († the largest of 20). Below floor: long-run share of quarters below 55, or over the 40 quarters on the company.</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14.1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Learn the law, guard the company, certify</a:t>
            </a:r>
            <a:endParaRPr lang="en-US" sz="3200" dirty="0"/>
          </a:p>
        </p:txBody>
      </p:sp>
      <p:sp>
        <p:nvSpPr>
          <p:cNvPr id="5" name="Stat card"/>
          <p:cNvSpPr/>
          <p:nvPr/>
        </p:nvSpPr>
        <p:spPr>
          <a:xfrm>
            <a:off x="548640" y="1691640"/>
            <a:ext cx="3515258" cy="1874520"/>
          </a:xfrm>
          <a:prstGeom prst="roundRect">
            <a:avLst>
              <a:gd name="adj" fmla="val 3902"/>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$545.5m</a:t>
            </a:r>
            <a:endParaRPr lang="en-US" sz="4400" dirty="0"/>
          </a:p>
        </p:txBody>
      </p:sp>
      <p:sp>
        <p:nvSpPr>
          <p:cNvPr id="7" name="Stat label"/>
          <p:cNvSpPr txBox="1"/>
          <p:nvPr/>
        </p:nvSpPr>
        <p:spPr>
          <a:xfrm>
            <a:off x="685800"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lost over ten years by an agent learning on the company from its software's defaults</a:t>
            </a:r>
            <a:endParaRPr lang="en-US" sz="1400" dirty="0"/>
          </a:p>
        </p:txBody>
      </p:sp>
      <p:sp>
        <p:nvSpPr>
          <p:cNvPr id="8" name="Stat card"/>
          <p:cNvSpPr/>
          <p:nvPr/>
        </p:nvSpPr>
        <p:spPr>
          <a:xfrm>
            <a:off x="4338218" y="1691640"/>
            <a:ext cx="3515258" cy="1874520"/>
          </a:xfrm>
          <a:prstGeom prst="roundRect">
            <a:avLst>
              <a:gd name="adj" fmla="val 3902"/>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$1.2m</a:t>
            </a:r>
            <a:endParaRPr lang="en-US" sz="4400" dirty="0"/>
          </a:p>
        </p:txBody>
      </p:sp>
      <p:sp>
        <p:nvSpPr>
          <p:cNvPr id="10" name="Stat label"/>
          <p:cNvSpPr txBox="1"/>
          <p:nvPr/>
        </p:nvSpPr>
        <p:spPr>
          <a:xfrm>
            <a:off x="4475378" y="2697480"/>
            <a:ext cx="3240938" cy="795528"/>
          </a:xfrm>
          <a:prstGeom prst="rect">
            <a:avLst/>
          </a:prstGeom>
          <a:noFill/>
          <a:ln/>
        </p:spPr>
        <p:txBody>
          <a:bodyPr wrap="square" lIns="0" tIns="0" rIns="0" bIns="0" rtlCol="0" anchor="t"/>
          <a:lstStyle/>
          <a:p>
            <a:pPr algn="ctr" indent="0" marL="0">
              <a:buNone/>
            </a:pPr>
            <a:r>
              <a:rPr lang="en-US" sz="1400" dirty="0">
                <a:solidFill>
                  <a:schemeClr val="bg2"/>
                </a:solidFill>
              </a:rPr>
              <a:t>lost by the same agent inside the guardrail, which costs nothing at the best rule</a:t>
            </a:r>
            <a:endParaRPr lang="en-US" sz="1400" dirty="0"/>
          </a:p>
        </p:txBody>
      </p:sp>
      <p:sp>
        <p:nvSpPr>
          <p:cNvPr id="11" name="Stat card"/>
          <p:cNvSpPr/>
          <p:nvPr/>
        </p:nvSpPr>
        <p:spPr>
          <a:xfrm>
            <a:off x="8127797" y="1691640"/>
            <a:ext cx="3515258" cy="1874520"/>
          </a:xfrm>
          <a:prstGeom prst="roundRect">
            <a:avLst>
              <a:gd name="adj" fmla="val 3902"/>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3600" b="1" dirty="0">
                <a:solidFill>
                  <a:schemeClr val="tx1"/>
                </a:solidFill>
                <a:latin typeface="Cambria" pitchFamily="34" charset="0"/>
                <a:ea typeface="Cambria" pitchFamily="34" charset="-122"/>
                <a:cs typeface="Cambria" pitchFamily="34" charset="-120"/>
              </a:rPr>
              <a:t>1,000,000</a:t>
            </a:r>
            <a:endParaRPr lang="en-US" sz="3600" dirty="0"/>
          </a:p>
        </p:txBody>
      </p:sp>
      <p:sp>
        <p:nvSpPr>
          <p:cNvPr id="13" name="Stat label"/>
          <p:cNvSpPr txBox="1"/>
          <p:nvPr/>
        </p:nvSpPr>
        <p:spPr>
          <a:xfrm>
            <a:off x="8264957"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simulated quarters to approach a rule dynamic programming computes at once from the same law</a:t>
            </a:r>
            <a:endParaRPr lang="en-US" sz="1400" dirty="0"/>
          </a:p>
        </p:txBody>
      </p:sp>
      <p:sp>
        <p:nvSpPr>
          <p:cNvPr id="14" name="Bullets"/>
          <p:cNvSpPr txBox="1"/>
          <p:nvPr/>
        </p:nvSpPr>
        <p:spPr>
          <a:xfrm>
            <a:off x="548640" y="3886200"/>
            <a:ext cx="11094415" cy="228600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Learn the law of the swings from the engineering office's record, never the effect of hiring from a record kept under one rule</a:t>
            </a:r>
            <a:endParaRPr lang="en-US" sz="1700" dirty="0"/>
          </a:p>
          <a:p>
            <a:pPr marL="228600" indent="-228600">
              <a:spcAft>
                <a:spcPts val="800"/>
              </a:spcAft>
              <a:buSzPct val="100000"/>
              <a:buChar char="•"/>
            </a:pPr>
            <a:r>
              <a:rPr lang="en-US" sz="1700" dirty="0">
                <a:solidFill>
                  <a:schemeClr val="tx1"/>
                </a:solidFill>
              </a:rPr>
              <a:t>Let any agent act only inside the guardrail, and adopt its rule only after exact evaluation</a:t>
            </a:r>
            <a:endParaRPr lang="en-US" sz="1700" dirty="0"/>
          </a:p>
          <a:p>
            <a:pPr marL="228600" indent="-228600">
              <a:spcAft>
                <a:spcPts val="800"/>
              </a:spcAft>
              <a:buSzPct val="100000"/>
              <a:buChar char="•"/>
            </a:pPr>
            <a:r>
              <a:rPr lang="en-US" sz="1700" dirty="0">
                <a:solidFill>
                  <a:schemeClr val="tx1"/>
                </a:solidFill>
              </a:rPr>
              <a:t>For discussion: who should own the agent's defaults, the AI team or the board? What should the guardrail be if the floor itself were uncertain?</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2.14 · MODULE AXIOM-14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Learning a rule by trial,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Digital Solutions' AI team proposes an agent that learns Meridian's hiring rule by acting. The chief human resources officer and the audit committee must decide whether, where, and within what limits it may learn. Open AXIOM, choose Lab 2.14 and load the Meridian hiring instance.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Benchmark</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Solve the declared program by policy iteration: the best rule, its cost, the guardrail.</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Train by trial</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Q-learning in the simulator to a million quarters with several step sizes; price each rule.</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 exploration</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Greedy, randomized and optimistic choice among the target rules.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Learn a simulator</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Learn the swings from 12, 40 and 120 quarters; fit the dynamics to practice.</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Learn on the company</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Forty quarters with and without the guardrail, against the worst rule inside it.</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whether and where the agent may learn, the guardrail and what it costs, the certificate the audit committee requires, and the records the engineering office should keep.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Learning from acting writes the decision as a decision process; each decision changes the data that follow, so the learner must choose what to try.</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Learning by trial finds the best rule if every decision keeps being tried and the steps shrink at the right pace, but slowly; errors count where the rule goes, and untried decisions, constant steps, and fitted values off the rule's path break it.</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Exploration has a price: greed can lose in proportion to the trials, optimism only in their logarithm, and no learner does better. On the company the price is paid in money.</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simulator learned from records of the outside events makes trials cheap and improves as the record grows; a record kept under one rule cannot reveal what other decisions do.</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guardrail that holds a best rule costs nothing and caps the damage; every proposal is certified under the declared model, and many agents are coordinated by a price. Meridian's agent would lose $545.5 million learning on the company, and $1.2 million inside the guardrail.</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211</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115</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26214</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AXIOM-14</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2.14</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DCT_V2_Ch14_Lab.ipynb: Worked Example 14.1 and the lab's five steps in eight panels, with the book's seeds,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DCT_V2_Ch14_Lab.xlsx: the grid and the guardrail, one Bellman step at 201 levels, the learners' summaries, the regret decomposition and Table 14.3, in formulas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Next, the enterprise's digital twin</a:t>
            </a:r>
            <a:endParaRPr lang="en-US" sz="3200" dirty="0"/>
          </a:p>
        </p:txBody>
      </p:sp>
      <p:pic>
        <p:nvPicPr>
          <p:cNvPr id="5" name="Equation" descr="Equation: \bigl\| V - V^{*} \bigr\|_{\infty} \;\le\; \frac{\bigl\| \mathcal{T} V - V \bigr\|_{\infty}}{1-\beta}">    </p:cNvPr>
          <p:cNvPicPr>
            <a:picLocks noChangeAspect="1"/>
          </p:cNvPicPr>
          <p:nvPr/>
        </p:nvPicPr>
        <p:blipFill>
          <a:blip r:embed="rId1"/>
          <a:stretch>
            <a:fillRect/>
          </a:stretch>
        </p:blipFill>
        <p:spPr>
          <a:xfrm>
            <a:off x="4507921" y="1691640"/>
            <a:ext cx="3175854" cy="777240"/>
          </a:xfrm>
          <a:prstGeom prst="rect">
            <a:avLst/>
          </a:prstGeom>
        </p:spPr>
      </p:pic>
      <p:sp>
        <p:nvSpPr>
          <p:cNvPr id="6" name="Bullets"/>
          <p:cNvSpPr txBox="1"/>
          <p:nvPr/>
        </p:nvSpPr>
        <p:spPr>
          <a:xfrm>
            <a:off x="548640" y="2788920"/>
            <a:ext cx="11094415" cy="338328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This chapter learned rules by acting and judged every learned rule exactly under the declared model</a:t>
            </a:r>
            <a:endParaRPr lang="en-US" sz="1800" dirty="0"/>
          </a:p>
          <a:p>
            <a:pPr marL="228600" indent="-228600">
              <a:spcAft>
                <a:spcPts val="800"/>
              </a:spcAft>
              <a:buSzPct val="100000"/>
              <a:buChar char="•"/>
            </a:pPr>
            <a:r>
              <a:rPr lang="en-US" sz="1800" dirty="0">
                <a:solidFill>
                  <a:schemeClr val="bg1"/>
                </a:solidFill>
              </a:rPr>
              <a:t>Whoever proposes a rule, an agent, a language model or an expert system, the board checks it with a certificate and keeps it inside a guardrail</a:t>
            </a:r>
            <a:endParaRPr lang="en-US" sz="1800" dirty="0"/>
          </a:p>
          <a:p>
            <a:pPr marL="228600" indent="-228600">
              <a:spcAft>
                <a:spcPts val="800"/>
              </a:spcAft>
              <a:buSzPct val="100000"/>
              <a:buChar char="•"/>
            </a:pPr>
            <a:r>
              <a:rPr lang="en-US" sz="1800" dirty="0">
                <a:solidFill>
                  <a:schemeClr val="bg1"/>
                </a:solidFill>
              </a:rPr>
              <a:t>Chapter 15, Enterprise Digital Twins and Autonomous Enterprise Transformation, continues Part IV</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14: Artificial Intelligence for Enterprise Optimization</dc:title>
  <dc:subject>Slides for Volume II, Chapter 14 (V56)</dc:subject>
  <dc:creator>Samir Asaf</dc:creator>
  <cp:lastModifiedBy>Samir Asaf</cp:lastModifiedBy>
  <cp:revision>1</cp:revision>
  <dcterms:created xsi:type="dcterms:W3CDTF">2026-10-06T00:30:14Z</dcterms:created>
  <dcterms:modified xsi:type="dcterms:W3CDTF">2026-10-06T00:30:14Z</dcterms:modified>
</cp:coreProperties>
</file>