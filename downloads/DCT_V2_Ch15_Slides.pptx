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573717b-773e-17f7-f79e-427e75426d2f}">
          <p14:sldIdLst>
            <p14:sldId id="256"/>
            <p14:sldId id="257"/>
            <p14:sldId id="258"/>
            <p14:sldId id="259"/>
          </p14:sldIdLst>
        </p14:section>
        <p14:section name="15.1 The Twin as a Declared Model" id="{33507b22-43f2-ab4c-dc3a-6a686ef0e071}">
          <p14:sldIdLst>
            <p14:sldId id="260"/>
            <p14:sldId id="261"/>
          </p14:sldIdLst>
        </p14:section>
        <p14:section name="15.2 Synchronizing the Twin" id="{3228c13f-feee-35a3-e176-3290dcb231ab}">
          <p14:sldIdLst>
            <p14:sldId id="262"/>
            <p14:sldId id="263"/>
            <p14:sldId id="264"/>
          </p14:sldIdLst>
        </p14:section>
        <p14:section name="15.3 Deciding on the Twin" id="{81c1e59f-5575-61a5-1898-9938bc0369bf}">
          <p14:sldIdLst>
            <p14:sldId id="265"/>
            <p14:sldId id="266"/>
            <p14:sldId id="267"/>
          </p14:sldIdLst>
        </p14:section>
        <p14:section name="15.4 Monitoring the Twin" id="{b5659fab-9358-7f12-415b-f0edf3214ed9}">
          <p14:sldIdLst>
            <p14:sldId id="268"/>
            <p14:sldId id="269"/>
          </p14:sldIdLst>
        </p14:section>
        <p14:section name="15.5 Autonomy and Governance" id="{51c68813-f577-80d1-3599-d51340ef0133}">
          <p14:sldIdLst>
            <p14:sldId id="270"/>
          </p14:sldIdLst>
        </p14:section>
        <p14:section name="Worked Example 15.1" id="{555cdc4e-7e2f-2ca7-0394-4cbc2d52ff5f}">
          <p14:sldIdLst>
            <p14:sldId id="271"/>
            <p14:sldId id="272"/>
            <p14:sldId id="273"/>
            <p14:sldId id="274"/>
          </p14:sldIdLst>
        </p14:section>
        <p14:section name="In Practice" id="{fd6164f3-d488-7443-111d-5e812a186464}">
          <p14:sldIdLst>
            <p14:sldId id="275"/>
          </p14:sldIdLst>
        </p14:section>
        <p14:section name="AXIOM Lab 2.15" id="{0362b841-bbb4-6897-f96e-2171a7ec2333}">
          <p14:sldIdLst>
            <p14:sldId id="276"/>
          </p14:sldIdLst>
        </p14:section>
        <p14:section name="Close" id="{1785089a-4871-31c1-8f7b-6be69edcfc43}">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15. Every chapter so far solved a model once, from a state the board took as known. A digital twin is the model kept running: it reads the company, keeps what the readings imply about the state, re-decides as they arrive, and says when its own model has stopped fitting. The Worked Example asks whether a twin fed by the skills survey can replace the engineering office's count of capability: it costs $11.1 million more than the count, $4.8 million less than reading the survey as exact, and finds a tighter labor market in a median of 12 quarters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Feynman's observations on the reliability of the Shuttle, in the Rogers Commission report. A twin is only as good as its law, and laws change: a twin that never questions its law keeps deciding with growing confidence on a world that has gone, and its readings are its only witness (Section 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15.1-15.3 are in Appendix 15.A; Propositions 15.1-15.3, how the Worked Example is computed (Remark 15.B.1) and every number of the Worked Example and the figures (Example 15.B.2) are in Online Appendix 15.B. Table 15.2 lists the methods for running a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15.1. A company does not stand still while its model is solved: the state moves, the readings arrive late and with error, and the law itself can change (Section 15.1). Volume I asked for this discipline (Volume I, Theorem 15.4(iv)): a plan re-solved each period keeps the company feasible only if each re-solve ends where the company can still be kept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15.1. Scope and limits: the chapter treats a twin of one company whose readings and decisions it declares. A twin of a market, whose state is a population of agents each reacting to the others, keeps a belief about a distribution; its law is a McKean–Vlasov equation (Section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15.2 and Theorem 15.1; formal statement and proof in Appendix 15.A. Equation 15.1 is the Kalman filter: predict through the law and the decisions, then correct by the reading; the innovation y − Cx̂⁻ is the part of a reading the twin did not expect, and K the gain that weighs it. Part (i) is Chapter 7's promise kept: a rule that acts on what the readings say is a rule on the belief. For the swings' discrete law the best linear estimate is, here, as good as the best estimate (Section 15.2).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15.1; formal statement and proof in Online Appendix 15.B. The twin's innovations show only part of a reading's bias, and none when the stock keeps all of itself. LOS Guidance 15.2: a common mistake is to read each new reading as the truth and discard what the law and earlier readings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15.1 and Worked Example 15.1, Step 2; the error column of Table 15.3. Reading the survey as exact and carrying it forward by hires and decay, as the count would without its team leads, leaves an error of 2.50 to 2.53 points; with no readings it would reach 3.0 (Theorem 15.1(iv)).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15.2; formal statement and proof in Appendix 15.A. Keeping Chapter 7's target on the twin is certainty equivalence outside its quadratic world (Section 15.3). Volume I's theorem on the value of information and authority is part (i) in general (Volume I, Theorem 15.4(iii)).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15.2; formal statement and proof in Online Appendix 15.B; Table 15.2 lists the methods. In the Worked Example each design's target is chosen on 20,000 design paths and valued on 100,000 fresh ones, all on common random numbers: the twin's target costs $241.85 million on the design paths and $241.94 million on the fresh ones, within the simulation's error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15.2 and Worked Example 15.1, Steps 3 and 4; Table 15.3. Guarding against the survey's whole error, the five planned points Chapter 7 priced, with a target of 60.75 costs $34.4 million more than the count; the survey read as exact at Chapter 7's 55.75, $27.5 million. With no readings after the audit the best target is 57.80, close to Chapter 7's best committed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15.3; formal statement and proof in Appendix 15.A. Page proposed the test, Lorden bounded its delay, and Moustakides proved that no test does better (Section 15.4). Unmonitored, the twin's innovations' mean settles at −1.045 standard deviations (Online Appendix Example 15.B.2). A rolling window without a terminal condition can keep every window feasible while the company runs out of room (Volume I, Theorem 15.4(iv)).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15.3 and Worked Example 15.1, Step 5. With the count, and the law re-estimated at once, the program costs $302.0 million from 58. On an alarm the engineering office audits capability, the estimate is set to it, and once the drift has begun the law's mean is re-estimated and the target raised by it (Online Appendix Remark 15.B.1).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15.3 and Proposition 15.3; formal statement and proof in Online Appendix 15.B. An audit reads the state exactly, at a cost, and resets the belief. LOS Guidance 15.5: a common mistake is to escalate on the twin's uncertainty instead of on its surprises. A twin of a market faces the same tasks with a harder state: the author's papers model many investors who each react to the distribution of the others, a McKean–Vlasov law with prices that clear (Section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the situation. Chapter 7's rule acts on capability as the engineering office counts it each quarter, a count the board took as exact, and asked what the rule would need if capability were known only through the skills survey (Worked Example 7.1, Step 6). The twin knows the law and its own hires but not the swings; it keeps its estimate by the Kalman filter and runs Chapter 7's rule as a target for planned capability on its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Steps 1-6; Online Appendix Remark 15.B.1 and Example 15.B.2. Step 3: the survey read as exact costs $15.95 million more than the count at its best target, 57.35 (Table 15.3), and $27.5 million at Chapter 7's; with no readings after the audit the best target is 57.80, $25.4 million more. Step 5: the monitor detects the change in a median of 12 quarters (10th to 90th percentile, 4 to 22), escalates, and after the engineering office's audit resumes with the law re-estimated.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15.3. The twin is $4.8 million cheaper than the survey read as exact on the same surveys, because it weighs each survey against the law and the earlier surveys. A survey twice as sharp, a quarterly one, or both buy back part of the count's value; a twin without a monitor turns a tighter labor market into years below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what the board should take away, and the discussion questions. The twin knows capability to about a point and a half, and its margin must cover that as well as the swings; a twin that escalates on its surprises finds the change in about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15: Rolls-Royce Watches Every Engine in Flight. A real organization's decision of this chapter's kind, told from its published record; every figure is cited in the book. The lesson for Meridian: Monitoring detects change; it did not make the Trent 1000 durable, and selling outcomes means owning their risks. Sources: Rolls-Royce (2012, 2018, 2020, 2021, c. 2024); Waters (2009), Ingenia; Hayton et al. (2007); CIO.com (2021); McGee and Schmidt (1985), NASA.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2.15. What to look for: an error that settles between surveys (Theorem 15.1); a margin that must grow with the twin's error (Theorem 15.2(iii)); readings priced by what they save (Theorem 15.2(i)); a monitor that trades false alarms for speed (Theorem 15.3(ii)); and an uncertainty that runs on a calendar (Proposition 15.3(iii)).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15 (Definition 15.1 and Table 15.1; Theorem 15.1 and Proposition 15.1; Theorem 15.2; Theorem 15.3; Proposition 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inequality is Theorem 15.2(i): readings never cost, and each gap is the value of the information it adds. Chapter 16, Enterprise Applications and Integrated Transformation Case Studies, opens Part V, Applications and Synthesis; its Worked Example 16.1 puts Volume II's pieces, the twin among them, into one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15 · WEEK 14</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Digital Twins and Autonomous Enterprise Transformation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Keep a declared model in step with the company: filter its readings into a belief, size margins to its error, watch its surprises, and act alone only inside an envelope</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26215 · AXIOM Lab 2.15 (AXIOM-15)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“For a successful technology, reality must take precedence over public relations, for nature cannot be fooled.”</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Richard P. Feynman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Physics 1965; “Personal Observations on the Reliability of the Shuttle,” Rogers Commission Report, Appendix F (1986)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a digital twin declares and how it differs from a model solved once: state, law, readings, belief, rule, and envelope.</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Synchronize a twin: filter readings into a belief, and judge the error at which it settles.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Decide on a twin: value its readings, and size margins to its error.</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Monitor a twin: test its innovations, and detect a changed law.</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Govern a twin's autonomy: envelopes, escalation, and stability.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Twin as a Declared Model</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15.1 · Table 15.1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Synchronizing the Twin</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15.1 · Proposition 15.1 · Figure 15.1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Deciding on the Twin</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15.2 · Proposition 15.2 · Figure 15.2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Monitoring the Twin</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15.3 · Figure 15.3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Autonomy and Governance</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15.3 · Proposition 15.3</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15.1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Can a Digital Twin Replace the Engineering Office's Count?</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15.3 · Figures 15.1–15.3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Rolls-Royce Watches Every Engine in Flight</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2.15</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 Twin for Capability: Synchronize, Decide, Monitor</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AXIOM-15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§15.1 · DEFINITION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twin is a declared model kept running</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15.1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Digital Twin</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A </a:t>
            </a:r>
            <a:r>
              <a:rPr lang="en-US" sz="1500" b="1" dirty="0">
                <a:solidFill>
                  <a:schemeClr val="tx1"/>
                </a:solidFill>
              </a:rPr>
              <a:t>digital twin</a:t>
            </a:r>
            <a:r>
              <a:rPr lang="en-US" sz="1500" dirty="0">
                <a:solidFill>
                  <a:schemeClr val="tx1"/>
                </a:solidFill>
              </a:rPr>
              <a:t> of an enterprise declares a state and its law, the decisions, and the readings with the laws of their errors</a:t>
            </a:r>
            <a:endParaRPr lang="en-US" sz="1500" dirty="0"/>
          </a:p>
          <a:p>
            <a:pPr marL="228600" indent="-228600">
              <a:spcAft>
                <a:spcPts val="600"/>
              </a:spcAft>
              <a:buSzPct val="100000"/>
              <a:buChar char="•"/>
            </a:pPr>
            <a:r>
              <a:rPr lang="en-US" sz="1500" dirty="0">
                <a:solidFill>
                  <a:schemeClr val="tx1"/>
                </a:solidFill>
              </a:rPr>
              <a:t>It keeps a </a:t>
            </a:r>
            <a:r>
              <a:rPr lang="en-US" sz="1500" b="1" dirty="0">
                <a:solidFill>
                  <a:schemeClr val="tx1"/>
                </a:solidFill>
              </a:rPr>
              <a:t>belief</a:t>
            </a:r>
            <a:r>
              <a:rPr lang="en-US" sz="1500" dirty="0">
                <a:solidFill>
                  <a:schemeClr val="tx1"/>
                </a:solidFill>
              </a:rPr>
              <a:t>, the law of the state given the readings and decisions so far, and acts by a </a:t>
            </a:r>
            <a:r>
              <a:rPr lang="en-US" sz="1500" b="1" dirty="0">
                <a:solidFill>
                  <a:schemeClr val="tx1"/>
                </a:solidFill>
              </a:rPr>
              <a:t>rule</a:t>
            </a:r>
            <a:r>
              <a:rPr lang="en-US" sz="1500" dirty="0">
                <a:solidFill>
                  <a:schemeClr val="tx1"/>
                </a:solidFill>
              </a:rPr>
              <a:t> on it</a:t>
            </a:r>
            <a:endParaRPr lang="en-US" sz="1500" dirty="0"/>
          </a:p>
          <a:p>
            <a:pPr marL="228600" indent="-228600">
              <a:spcAft>
                <a:spcPts val="600"/>
              </a:spcAft>
              <a:buSzPct val="100000"/>
              <a:buChar char="•"/>
            </a:pPr>
            <a:r>
              <a:rPr lang="en-US" sz="1500" dirty="0">
                <a:solidFill>
                  <a:schemeClr val="tx1"/>
                </a:solidFill>
              </a:rPr>
              <a:t>Its </a:t>
            </a:r>
            <a:r>
              <a:rPr lang="en-US" sz="1500" b="1" dirty="0">
                <a:solidFill>
                  <a:schemeClr val="tx1"/>
                </a:solidFill>
              </a:rPr>
              <a:t>envelope</a:t>
            </a:r>
            <a:r>
              <a:rPr lang="en-US" sz="1500" dirty="0">
                <a:solidFill>
                  <a:schemeClr val="tx1"/>
                </a:solidFill>
              </a:rPr>
              <a:t> declares the decisions it may take alone and the triggers on which it refers a decision to an owner</a:t>
            </a:r>
            <a:endParaRPr lang="en-US" sz="1500" dirty="0"/>
          </a:p>
          <a:p>
            <a:pPr marL="228600" indent="-228600">
              <a:spcAft>
                <a:spcPts val="600"/>
              </a:spcAft>
              <a:buSzPct val="100000"/>
              <a:buChar char="•"/>
            </a:pPr>
            <a:r>
              <a:rPr lang="en-US" sz="1500" dirty="0">
                <a:solidFill>
                  <a:schemeClr val="tx1"/>
                </a:solidFill>
              </a:rPr>
              <a:t>It is </a:t>
            </a:r>
            <a:r>
              <a:rPr lang="en-US" sz="1500" b="1" dirty="0">
                <a:solidFill>
                  <a:schemeClr val="tx1"/>
                </a:solidFill>
              </a:rPr>
              <a:t>synchronized</a:t>
            </a:r>
            <a:r>
              <a:rPr lang="en-US" sz="1500" dirty="0">
                <a:solidFill>
                  <a:schemeClr val="tx1"/>
                </a:solidFill>
              </a:rPr>
              <a:t> when its belief is the one its readings imply under its law</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capability twin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 = 0.975c + h − w: Chapter 7's law for capability, the state</a:t>
            </a:r>
            <a:endParaRPr lang="en-US" sz="1600" dirty="0"/>
          </a:p>
          <a:p>
            <a:pPr marL="228600" indent="-228600">
              <a:spcAft>
                <a:spcPts val="800"/>
              </a:spcAft>
              <a:buSzPct val="100000"/>
              <a:buChar char="•"/>
            </a:pPr>
            <a:r>
              <a:rPr lang="en-US" sz="1600" dirty="0">
                <a:solidFill>
                  <a:schemeClr val="tx1"/>
                </a:solidFill>
              </a:rPr>
              <a:t>Readings: the skills survey, good to ±5 points (Volume I, Table 5.2)</a:t>
            </a:r>
            <a:endParaRPr lang="en-US" sz="1600" dirty="0"/>
          </a:p>
          <a:p>
            <a:pPr marL="228600" indent="-228600">
              <a:spcAft>
                <a:spcPts val="800"/>
              </a:spcAft>
              <a:buSzPct val="100000"/>
              <a:buChar char="•"/>
            </a:pPr>
            <a:r>
              <a:rPr lang="en-US" sz="1600" dirty="0">
                <a:solidFill>
                  <a:schemeClr val="tx1"/>
                </a:solidFill>
              </a:rPr>
              <a:t>Rule: Chapter 7's target rule, run on the twin's estimate</a:t>
            </a:r>
            <a:endParaRPr lang="en-US" sz="1600" dirty="0"/>
          </a:p>
          <a:p>
            <a:pPr marL="228600" indent="-228600">
              <a:spcAft>
                <a:spcPts val="800"/>
              </a:spcAft>
              <a:buSzPct val="100000"/>
              <a:buChar char="•"/>
            </a:pPr>
            <a:r>
              <a:rPr lang="en-US" sz="1600" dirty="0">
                <a:solidFill>
                  <a:schemeClr val="tx1"/>
                </a:solidFill>
              </a:rPr>
              <a:t>Envelope: inside Chapter 14's guardrail</a:t>
            </a:r>
            <a:endParaRPr lang="en-US" sz="1600" dirty="0"/>
          </a:p>
          <a:p>
            <a:pPr marL="228600" indent="-228600">
              <a:spcAft>
                <a:spcPts val="800"/>
              </a:spcAft>
              <a:buSzPct val="100000"/>
              <a:buChar char="•"/>
            </a:pPr>
            <a:r>
              <a:rPr lang="en-US" sz="1600" dirty="0">
                <a:solidFill>
                  <a:schemeClr val="tx1"/>
                </a:solidFill>
              </a:rPr>
              <a:t>Not a new kind of model, but a discipline for running a declared one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§15.1 · TABLE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block of a twin has an owner</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64077"/>
                <a:gridCol w="3698138"/>
                <a:gridCol w="2924109"/>
                <a:gridCol w="2408090"/>
              </a:tblGrid>
              <a:tr h="54864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Block</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Declares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Supplied by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Meridian's owner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State and law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what moves and how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Chapter 7; Part III</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engineering office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Readings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what is read, how often, with what error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Volume I, Table 5.2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survey's owner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Belief</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what the readings imply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Theorem 15.1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twin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decision for each belief</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Chapter 7; Theorem 15.2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human resources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Envelope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what the twin may do alone; when it escalates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Chapter 14; Definition 15.3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board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Monitor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when the law has stopped fitting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Theorem 15.3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audit committee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15.1 turns a slogan into a list of declarations, each with an owner.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DEFINITION 15.2 · THEOREM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twin's error settles between surveys</a:t>
            </a:r>
            <a:endParaRPr lang="en-US" sz="3200" dirty="0"/>
          </a:p>
        </p:txBody>
      </p:sp>
      <p:sp>
        <p:nvSpPr>
          <p:cNvPr id="5" name="Result card"/>
          <p:cNvSpPr/>
          <p:nvPr/>
        </p:nvSpPr>
        <p:spPr>
          <a:xfrm>
            <a:off x="548640" y="1691640"/>
            <a:ext cx="67665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2179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15.1</a:t>
            </a:r>
            <a:endParaRPr lang="en-US" sz="1200" dirty="0"/>
          </a:p>
        </p:txBody>
      </p:sp>
      <p:sp>
        <p:nvSpPr>
          <p:cNvPr id="7" name="Text 4"/>
          <p:cNvSpPr txBox="1"/>
          <p:nvPr/>
        </p:nvSpPr>
        <p:spPr>
          <a:xfrm>
            <a:off x="822960" y="2194560"/>
            <a:ext cx="62179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Synchronizing a Twin</a:t>
            </a:r>
            <a:endParaRPr lang="en-US" sz="2100" dirty="0"/>
          </a:p>
        </p:txBody>
      </p:sp>
      <p:pic>
        <p:nvPicPr>
          <p:cNvPr id="8" name="Equation" descr="Equation: \begin{aligned}&amp;\hat{x}^{-} = A\hat{x} + Bu,\quad P^{-} = APA^{\top} + Q,\quad K = P^{-}C^{\top}(CP^{-}C^{\top} + R)^{-1}\\&amp;\hat{x} \leftarrow \hat{x}^{-} + K\,(y - C\hat{x}^{-}),\qquad P \leftarrow (I - KC)\,P^{-}\end{aligned}">    </p:cNvPr>
          <p:cNvPicPr>
            <a:picLocks noChangeAspect="1"/>
          </p:cNvPicPr>
          <p:nvPr/>
        </p:nvPicPr>
        <p:blipFill>
          <a:blip r:embed="rId1"/>
          <a:stretch>
            <a:fillRect/>
          </a:stretch>
        </p:blipFill>
        <p:spPr>
          <a:xfrm>
            <a:off x="822960" y="2743200"/>
            <a:ext cx="4520940" cy="566928"/>
          </a:xfrm>
          <a:prstGeom prst="rect">
            <a:avLst/>
          </a:prstGeom>
        </p:spPr>
      </p:pic>
      <p:sp>
        <p:nvSpPr>
          <p:cNvPr id="9" name="Bullets"/>
          <p:cNvSpPr txBox="1"/>
          <p:nvPr/>
        </p:nvSpPr>
        <p:spPr>
          <a:xfrm>
            <a:off x="822960" y="3474720"/>
            <a:ext cx="6217920" cy="256032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The belief is enough.</a:t>
            </a:r>
            <a:r>
              <a:rPr lang="en-US" sz="1400" dirty="0">
                <a:solidFill>
                  <a:schemeClr val="tx1"/>
                </a:solidFill>
              </a:rPr>
              <a:t> A problem read with error is a dynamic program whose state is the belief</a:t>
            </a:r>
            <a:endParaRPr lang="en-US" sz="1400" dirty="0"/>
          </a:p>
          <a:p>
            <a:pPr marL="228600" indent="-228600">
              <a:spcAft>
                <a:spcPts val="600"/>
              </a:spcAft>
              <a:buSzPct val="100000"/>
              <a:buChar char="•"/>
            </a:pPr>
            <a:r>
              <a:rPr lang="en-US" sz="1400" b="1" dirty="0">
                <a:solidFill>
                  <a:schemeClr val="tx1"/>
                </a:solidFill>
              </a:rPr>
              <a:t>(ii) The Kalman filter</a:t>
            </a:r>
            <a:r>
              <a:rPr lang="en-US" sz="1400" dirty="0">
                <a:solidFill>
                  <a:schemeClr val="tx1"/>
                </a:solidFill>
              </a:rPr>
              <a:t> computes the belief for linear laws with Gaussian noises; with any noises of those means and covariances, and decisions linear in the readings, the best linear estimate</a:t>
            </a:r>
            <a:endParaRPr lang="en-US" sz="1400" dirty="0"/>
          </a:p>
          <a:p>
            <a:pPr marL="228600" indent="-228600">
              <a:spcAft>
                <a:spcPts val="600"/>
              </a:spcAft>
              <a:buSzPct val="100000"/>
              <a:buChar char="•"/>
            </a:pPr>
            <a:r>
              <a:rPr lang="en-US" sz="1400" b="1" dirty="0">
                <a:solidFill>
                  <a:schemeClr val="tx1"/>
                </a:solidFill>
              </a:rPr>
              <a:t>(iii) The twin settles.</a:t>
            </a:r>
            <a:r>
              <a:rPr lang="en-US" sz="1400" dirty="0">
                <a:solidFill>
                  <a:schemeClr val="tx1"/>
                </a:solidFill>
              </a:rPr>
              <a:t> With readings every k periods, the variance just after a reading converges to one positive fixed point</a:t>
            </a:r>
            <a:endParaRPr lang="en-US" sz="1400" dirty="0"/>
          </a:p>
          <a:p>
            <a:pPr marL="228600" indent="-228600">
              <a:spcAft>
                <a:spcPts val="600"/>
              </a:spcAft>
              <a:buSzPct val="100000"/>
              <a:buChar char="•"/>
            </a:pPr>
            <a:r>
              <a:rPr lang="en-US" sz="1400" b="1" dirty="0">
                <a:solidFill>
                  <a:schemeClr val="tx1"/>
                </a:solidFill>
              </a:rPr>
              <a:t>(iv) Feedback bounds the error.</a:t>
            </a:r>
            <a:r>
              <a:rPr lang="en-US" sz="1400" dirty="0">
                <a:solidFill>
                  <a:schemeClr val="tx1"/>
                </a:solidFill>
              </a:rPr>
              <a:t> Without readings the variance tends to q/(1 − a²); every reading lowers it</a:t>
            </a:r>
            <a:endParaRPr lang="en-US" sz="1400" dirty="0"/>
          </a:p>
        </p:txBody>
      </p:sp>
      <p:sp>
        <p:nvSpPr>
          <p:cNvPr id="10" name="Text 6"/>
          <p:cNvSpPr txBox="1"/>
          <p:nvPr/>
        </p:nvSpPr>
        <p:spPr>
          <a:xfrm>
            <a:off x="7726680" y="1737360"/>
            <a:ext cx="391637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twin</a:t>
            </a:r>
            <a:endParaRPr lang="en-US" sz="1600" dirty="0"/>
          </a:p>
        </p:txBody>
      </p:sp>
      <p:sp>
        <p:nvSpPr>
          <p:cNvPr id="11" name="Bullets"/>
          <p:cNvSpPr txBox="1"/>
          <p:nvPr/>
        </p:nvSpPr>
        <p:spPr>
          <a:xfrm>
            <a:off x="7726680" y="2194560"/>
            <a:ext cx="391637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Capability keeps 97.5% of itself and swings by </a:t>
            </a:r>
            <a:r>
              <a:rPr lang="en-US" sz="1600" b="1" dirty="0">
                <a:solidFill>
                  <a:schemeClr val="tx1"/>
                </a:solidFill>
              </a:rPr>
              <a:t>0.67</a:t>
            </a:r>
            <a:r>
              <a:rPr lang="en-US" sz="1600" dirty="0">
                <a:solidFill>
                  <a:schemeClr val="tx1"/>
                </a:solidFill>
              </a:rPr>
              <a:t> points a quarter</a:t>
            </a:r>
            <a:endParaRPr lang="en-US" sz="1600" dirty="0"/>
          </a:p>
          <a:p>
            <a:pPr marL="228600" indent="-228600">
              <a:spcAft>
                <a:spcPts val="800"/>
              </a:spcAft>
              <a:buSzPct val="100000"/>
              <a:buChar char="•"/>
            </a:pPr>
            <a:r>
              <a:rPr lang="en-US" sz="1600" dirty="0">
                <a:solidFill>
                  <a:schemeClr val="tx1"/>
                </a:solidFill>
              </a:rPr>
              <a:t>With no readings after the audit the error settles at </a:t>
            </a:r>
            <a:r>
              <a:rPr lang="en-US" sz="1600" b="1" dirty="0">
                <a:solidFill>
                  <a:schemeClr val="tx1"/>
                </a:solidFill>
              </a:rPr>
              <a:t>3.0</a:t>
            </a:r>
            <a:r>
              <a:rPr lang="en-US" sz="1600" dirty="0">
                <a:solidFill>
                  <a:schemeClr val="tx1"/>
                </a:solidFill>
              </a:rPr>
              <a:t> points; the survey read as exact is good to </a:t>
            </a:r>
            <a:r>
              <a:rPr lang="en-US" sz="1600" b="1" dirty="0">
                <a:solidFill>
                  <a:schemeClr val="tx1"/>
                </a:solidFill>
              </a:rPr>
              <a:t>2.5</a:t>
            </a:r>
            <a:endParaRPr lang="en-US" sz="1600" dirty="0"/>
          </a:p>
          <a:p>
            <a:pPr marL="228600" indent="-228600">
              <a:spcAft>
                <a:spcPts val="800"/>
              </a:spcAft>
              <a:buSzPct val="100000"/>
              <a:buChar char="•"/>
            </a:pPr>
            <a:r>
              <a:rPr lang="en-US" sz="1600" dirty="0">
                <a:solidFill>
                  <a:schemeClr val="tx1"/>
                </a:solidFill>
              </a:rPr>
              <a:t>The twin settles at </a:t>
            </a:r>
            <a:r>
              <a:rPr lang="en-US" sz="1600" b="1" dirty="0">
                <a:solidFill>
                  <a:schemeClr val="tx1"/>
                </a:solidFill>
              </a:rPr>
              <a:t>1.33</a:t>
            </a:r>
            <a:r>
              <a:rPr lang="en-US" sz="1600" dirty="0">
                <a:solidFill>
                  <a:schemeClr val="tx1"/>
                </a:solidFill>
              </a:rPr>
              <a:t> just after a survey and </a:t>
            </a:r>
            <a:r>
              <a:rPr lang="en-US" sz="1600" b="1" dirty="0">
                <a:solidFill>
                  <a:schemeClr val="tx1"/>
                </a:solidFill>
              </a:rPr>
              <a:t>1.58</a:t>
            </a:r>
            <a:r>
              <a:rPr lang="en-US" sz="1600" dirty="0">
                <a:solidFill>
                  <a:schemeClr val="tx1"/>
                </a:solidFill>
              </a:rPr>
              <a:t> just before the next, with a gain of </a:t>
            </a:r>
            <a:r>
              <a:rPr lang="en-US" sz="1600" b="1" dirty="0">
                <a:solidFill>
                  <a:schemeClr val="tx1"/>
                </a:solidFill>
              </a:rPr>
              <a:t>0.28</a:t>
            </a:r>
            <a:endParaRPr lang="en-US" sz="1600" dirty="0"/>
          </a:p>
          <a:p>
            <a:pPr marL="228600" indent="-228600">
              <a:spcAft>
                <a:spcPts val="800"/>
              </a:spcAft>
              <a:buSzPct val="100000"/>
              <a:buChar char="•"/>
            </a:pPr>
            <a:r>
              <a:rPr lang="en-US" sz="1600" dirty="0">
                <a:solidFill>
                  <a:schemeClr val="tx1"/>
                </a:solidFill>
              </a:rPr>
              <a:t>The exact belief's mean is within </a:t>
            </a:r>
            <a:r>
              <a:rPr lang="en-US" sz="1600" b="1" dirty="0">
                <a:solidFill>
                  <a:schemeClr val="tx1"/>
                </a:solidFill>
              </a:rPr>
              <a:t>0.012</a:t>
            </a:r>
            <a:r>
              <a:rPr lang="en-US" sz="1600" dirty="0">
                <a:solidFill>
                  <a:schemeClr val="tx1"/>
                </a:solidFill>
              </a:rPr>
              <a:t> points of the filter's in all 5,700 surveys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PROPOSITION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Precisions add; bias survives fusion</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Fusing Readings</a:t>
            </a:r>
            <a:endParaRPr lang="en-US" sz="2100" dirty="0"/>
          </a:p>
        </p:txBody>
      </p:sp>
      <p:pic>
        <p:nvPicPr>
          <p:cNvPr id="8" name="Equation" descr="Equation: P \;\mapsto\; \frac{P\,r}{P + r} \;=\; \Bigl(\frac{1}{P} + \frac{1}{r}\Bigr)^{-1}">    </p:cNvPr>
          <p:cNvPicPr>
            <a:picLocks noChangeAspect="1"/>
          </p:cNvPicPr>
          <p:nvPr/>
        </p:nvPicPr>
        <p:blipFill>
          <a:blip r:embed="rId1"/>
          <a:stretch>
            <a:fillRect/>
          </a:stretch>
        </p:blipFill>
        <p:spPr>
          <a:xfrm>
            <a:off x="822960" y="2743200"/>
            <a:ext cx="2626766" cy="566928"/>
          </a:xfrm>
          <a:prstGeom prst="rect">
            <a:avLst/>
          </a:prstGeom>
        </p:spPr>
      </p:pic>
      <p:sp>
        <p:nvSpPr>
          <p:cNvPr id="9" name="Bullets"/>
          <p:cNvSpPr txBox="1"/>
          <p:nvPr/>
        </p:nvSpPr>
        <p:spPr>
          <a:xfrm>
            <a:off x="822960" y="3474720"/>
            <a:ext cx="5394960" cy="256032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Precisions add.</a:t>
            </a:r>
            <a:r>
              <a:rPr lang="en-US" sz="1500" dirty="0">
                <a:solidFill>
                  <a:schemeClr val="tx1"/>
                </a:solidFill>
              </a:rPr>
              <a:t> Independent unbiased readings, weighted by their precisions 1/r, give the least-variance unbiased linear estimate</a:t>
            </a:r>
            <a:endParaRPr lang="en-US" sz="1500" dirty="0"/>
          </a:p>
          <a:p>
            <a:pPr marL="228600" indent="-228600">
              <a:spcAft>
                <a:spcPts val="600"/>
              </a:spcAft>
              <a:buSzPct val="100000"/>
              <a:buChar char="•"/>
            </a:pPr>
            <a:r>
              <a:rPr lang="en-US" sz="1500" b="1" dirty="0">
                <a:solidFill>
                  <a:schemeClr val="tx1"/>
                </a:solidFill>
              </a:rPr>
              <a:t>(ii) A reading's worth depends on what the twin knows:</a:t>
            </a:r>
            <a:r>
              <a:rPr lang="en-US" sz="1500" dirty="0">
                <a:solidFill>
                  <a:schemeClr val="tx1"/>
                </a:solidFill>
              </a:rPr>
              <a:t> by a lot when it knows little, by little when it knows much</a:t>
            </a:r>
            <a:endParaRPr lang="en-US" sz="1500" dirty="0"/>
          </a:p>
          <a:p>
            <a:pPr marL="228600" indent="-228600">
              <a:spcAft>
                <a:spcPts val="600"/>
              </a:spcAft>
              <a:buSzPct val="100000"/>
              <a:buChar char="•"/>
            </a:pPr>
            <a:r>
              <a:rPr lang="en-US" sz="1500" b="1" dirty="0">
                <a:solidFill>
                  <a:schemeClr val="tx1"/>
                </a:solidFill>
              </a:rPr>
              <a:t>(iii) Bias survives fusion.</a:t>
            </a:r>
            <a:r>
              <a:rPr lang="en-US" sz="1500" dirty="0">
                <a:solidFill>
                  <a:schemeClr val="tx1"/>
                </a:solidFill>
              </a:rPr>
              <a:t> A biased reading leaves a bias no averaging removes, and the innovations show only part of it</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At Meridian's survey</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Just before a survey the law knows capability to </a:t>
            </a:r>
            <a:r>
              <a:rPr lang="en-US" sz="1600" b="1" dirty="0">
                <a:solidFill>
                  <a:schemeClr val="tx1"/>
                </a:solidFill>
              </a:rPr>
              <a:t>1.58</a:t>
            </a:r>
            <a:r>
              <a:rPr lang="en-US" sz="1600" dirty="0">
                <a:solidFill>
                  <a:schemeClr val="tx1"/>
                </a:solidFill>
              </a:rPr>
              <a:t> points, the survey to </a:t>
            </a:r>
            <a:r>
              <a:rPr lang="en-US" sz="1600" b="1" dirty="0">
                <a:solidFill>
                  <a:schemeClr val="tx1"/>
                </a:solidFill>
              </a:rPr>
              <a:t>2.5</a:t>
            </a:r>
            <a:endParaRPr lang="en-US" sz="1600" dirty="0"/>
          </a:p>
          <a:p>
            <a:pPr marL="228600" indent="-228600">
              <a:spcAft>
                <a:spcPts val="800"/>
              </a:spcAft>
              <a:buSzPct val="100000"/>
              <a:buChar char="•"/>
            </a:pPr>
            <a:r>
              <a:rPr lang="en-US" sz="1600" dirty="0">
                <a:solidFill>
                  <a:schemeClr val="tx1"/>
                </a:solidFill>
              </a:rPr>
              <a:t>Their precisions add to an error of </a:t>
            </a:r>
            <a:r>
              <a:rPr lang="en-US" sz="1600" b="1" dirty="0">
                <a:solidFill>
                  <a:schemeClr val="tx1"/>
                </a:solidFill>
              </a:rPr>
              <a:t>1.33</a:t>
            </a:r>
            <a:r>
              <a:rPr lang="en-US" sz="1600" dirty="0">
                <a:solidFill>
                  <a:schemeClr val="tx1"/>
                </a:solidFill>
              </a:rPr>
              <a:t>: the twin weighs the survey by </a:t>
            </a:r>
            <a:r>
              <a:rPr lang="en-US" sz="1600" b="1" dirty="0">
                <a:solidFill>
                  <a:schemeClr val="tx1"/>
                </a:solidFill>
              </a:rPr>
              <a:t>0.28</a:t>
            </a:r>
            <a:endParaRPr lang="en-US" sz="1600" dirty="0"/>
          </a:p>
          <a:p>
            <a:pPr marL="228600" indent="-228600">
              <a:spcAft>
                <a:spcPts val="800"/>
              </a:spcAft>
              <a:buSzPct val="100000"/>
              <a:buChar char="•"/>
            </a:pPr>
            <a:r>
              <a:rPr lang="en-US" sz="1600" dirty="0">
                <a:solidFill>
                  <a:schemeClr val="tx1"/>
                </a:solidFill>
              </a:rPr>
              <a:t>The survey read as exact throws away what the law and earlier surveys say</a:t>
            </a:r>
            <a:endParaRPr lang="en-US" sz="1600" dirty="0"/>
          </a:p>
          <a:p>
            <a:pPr marL="228600" indent="-228600">
              <a:spcAft>
                <a:spcPts val="800"/>
              </a:spcAft>
              <a:buSzPct val="100000"/>
              <a:buChar char="•"/>
            </a:pPr>
            <a:r>
              <a:rPr lang="en-US" sz="1600" dirty="0">
                <a:solidFill>
                  <a:schemeClr val="tx1"/>
                </a:solidFill>
              </a:rPr>
              <a:t>Finding a bias in the survey takes an independent reading, an audit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FIGURE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twin settles at 1.33 to 1.58 points</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One program from an audited 58: the twin's estimate stays near capability; the survey read as exact jumps with every reading</a:t>
            </a:r>
            <a:endParaRPr lang="en-US" sz="1500" dirty="0"/>
          </a:p>
          <a:p>
            <a:pPr marL="228600" indent="-228600">
              <a:spcAft>
                <a:spcPts val="800"/>
              </a:spcAft>
              <a:buSzPct val="100000"/>
              <a:buChar char="•"/>
            </a:pPr>
            <a:r>
              <a:rPr lang="en-US" sz="1500" dirty="0">
                <a:solidFill>
                  <a:schemeClr val="tx1"/>
                </a:solidFill>
              </a:rPr>
              <a:t>(b) The twin settles at </a:t>
            </a:r>
            <a:r>
              <a:rPr lang="en-US" sz="1500" b="1" dirty="0">
                <a:solidFill>
                  <a:schemeClr val="tx1"/>
                </a:solidFill>
              </a:rPr>
              <a:t>1.33</a:t>
            </a:r>
            <a:r>
              <a:rPr lang="en-US" sz="1500" dirty="0">
                <a:solidFill>
                  <a:schemeClr val="tx1"/>
                </a:solidFill>
              </a:rPr>
              <a:t> to </a:t>
            </a:r>
            <a:r>
              <a:rPr lang="en-US" sz="1500" b="1" dirty="0">
                <a:solidFill>
                  <a:schemeClr val="tx1"/>
                </a:solidFill>
              </a:rPr>
              <a:t>1.58</a:t>
            </a:r>
            <a:r>
              <a:rPr lang="en-US" sz="1500" dirty="0">
                <a:solidFill>
                  <a:schemeClr val="tx1"/>
                </a:solidFill>
              </a:rPr>
              <a:t> points; the survey read as exact at </a:t>
            </a:r>
            <a:r>
              <a:rPr lang="en-US" sz="1500" b="1" dirty="0">
                <a:solidFill>
                  <a:schemeClr val="tx1"/>
                </a:solidFill>
              </a:rPr>
              <a:t>2.50</a:t>
            </a:r>
            <a:r>
              <a:rPr lang="en-US" sz="1500" dirty="0">
                <a:solidFill>
                  <a:schemeClr val="tx1"/>
                </a:solidFill>
              </a:rPr>
              <a:t> to </a:t>
            </a:r>
            <a:r>
              <a:rPr lang="en-US" sz="1500" b="1" dirty="0">
                <a:solidFill>
                  <a:schemeClr val="tx1"/>
                </a:solidFill>
              </a:rPr>
              <a:t>2.53</a:t>
            </a:r>
            <a:r>
              <a:rPr lang="en-US" sz="1500" dirty="0">
                <a:solidFill>
                  <a:schemeClr val="tx1"/>
                </a:solidFill>
              </a:rPr>
              <a:t>; with no readings the error climbs toward </a:t>
            </a:r>
            <a:r>
              <a:rPr lang="en-US" sz="1500" b="1" dirty="0">
                <a:solidFill>
                  <a:schemeClr val="tx1"/>
                </a:solidFill>
              </a:rPr>
              <a:t>3.02</a:t>
            </a:r>
            <a:endParaRPr lang="en-US" sz="1500" dirty="0"/>
          </a:p>
          <a:p>
            <a:pPr marL="228600" indent="-228600">
              <a:spcAft>
                <a:spcPts val="800"/>
              </a:spcAft>
              <a:buSzPct val="100000"/>
              <a:buChar char="•"/>
            </a:pPr>
            <a:r>
              <a:rPr lang="en-US" sz="1500" dirty="0">
                <a:solidFill>
                  <a:schemeClr val="tx1"/>
                </a:solidFill>
              </a:rPr>
              <a:t>A quarterly survey settles at </a:t>
            </a:r>
            <a:r>
              <a:rPr lang="en-US" sz="1500" b="1" dirty="0">
                <a:solidFill>
                  <a:schemeClr val="tx1"/>
                </a:solidFill>
              </a:rPr>
              <a:t>1.17</a:t>
            </a:r>
            <a:r>
              <a:rPr lang="en-US" sz="1500" dirty="0">
                <a:solidFill>
                  <a:schemeClr val="tx1"/>
                </a:solidFill>
              </a:rPr>
              <a:t> to </a:t>
            </a:r>
            <a:r>
              <a:rPr lang="en-US" sz="1500" b="1" dirty="0">
                <a:solidFill>
                  <a:schemeClr val="tx1"/>
                </a:solidFill>
              </a:rPr>
              <a:t>1.32</a:t>
            </a:r>
            <a:r>
              <a:rPr lang="en-US" sz="1500" dirty="0">
                <a:solidFill>
                  <a:schemeClr val="tx1"/>
                </a:solidFill>
              </a:rPr>
              <a:t>, one twice as sharp at </a:t>
            </a:r>
            <a:r>
              <a:rPr lang="en-US" sz="1500" b="1" dirty="0">
                <a:solidFill>
                  <a:schemeClr val="tx1"/>
                </a:solidFill>
              </a:rPr>
              <a:t>0.89</a:t>
            </a:r>
            <a:r>
              <a:rPr lang="en-US" sz="1500" dirty="0">
                <a:solidFill>
                  <a:schemeClr val="tx1"/>
                </a:solidFill>
              </a:rPr>
              <a:t> to </a:t>
            </a:r>
            <a:r>
              <a:rPr lang="en-US" sz="1500" b="1" dirty="0">
                <a:solidFill>
                  <a:schemeClr val="tx1"/>
                </a:solidFill>
              </a:rPr>
              <a:t>1.26</a:t>
            </a:r>
            <a:r>
              <a:rPr lang="en-US" sz="1500" dirty="0">
                <a:solidFill>
                  <a:schemeClr val="tx1"/>
                </a:solidFill>
              </a:rPr>
              <a:t>, both at </a:t>
            </a:r>
            <a:r>
              <a:rPr lang="en-US" sz="1500" b="1" dirty="0">
                <a:solidFill>
                  <a:schemeClr val="tx1"/>
                </a:solidFill>
              </a:rPr>
              <a:t>0.79</a:t>
            </a:r>
            <a:r>
              <a:rPr lang="en-US" sz="1500" dirty="0">
                <a:solidFill>
                  <a:schemeClr val="tx1"/>
                </a:solidFill>
              </a:rPr>
              <a:t> to </a:t>
            </a:r>
            <a:r>
              <a:rPr lang="en-US" sz="1500" b="1" dirty="0">
                <a:solidFill>
                  <a:schemeClr val="tx1"/>
                </a:solidFill>
              </a:rPr>
              <a:t>1.02</a:t>
            </a:r>
            <a:endParaRPr lang="en-US" sz="1500" dirty="0"/>
          </a:p>
        </p:txBody>
      </p:sp>
      <p:pic>
        <p:nvPicPr>
          <p:cNvPr id="6" name="Figure" descr="Figure 15.1: synchronizing the twin">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15.1. (a) One simulated program from an audited 58: capability, the survey's readings, the twin's estimate with a band of two standard deviations, and the survey read as exact. (b) The estimate's error by quarter.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§15.3 · THEOREM 15.2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Margins must grow with the twin's error</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15.2</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Deciding on a Twin</a:t>
            </a:r>
            <a:endParaRPr lang="en-US" sz="2100" dirty="0"/>
          </a:p>
        </p:txBody>
      </p:sp>
      <p:pic>
        <p:nvPicPr>
          <p:cNvPr id="8" name="Equation" descr="Equation: y^{*} = F + q_{D}\bigl(1 - k/b\bigr),\qquad \text{normal: } y^{*} = F + z_{1-k/b}\sqrt{\sigma^{2} + s^{2}}">    </p:cNvPr>
          <p:cNvPicPr>
            <a:picLocks noChangeAspect="1"/>
          </p:cNvPicPr>
          <p:nvPr/>
        </p:nvPicPr>
        <p:blipFill>
          <a:blip r:embed="rId1"/>
          <a:stretch>
            <a:fillRect/>
          </a:stretch>
        </p:blipFill>
        <p:spPr>
          <a:xfrm>
            <a:off x="822960" y="2744893"/>
            <a:ext cx="6126480" cy="453813"/>
          </a:xfrm>
          <a:prstGeom prst="rect">
            <a:avLst/>
          </a:prstGeom>
        </p:spPr>
      </p:pic>
      <p:sp>
        <p:nvSpPr>
          <p:cNvPr id="9" name="Bullets"/>
          <p:cNvSpPr txBox="1"/>
          <p:nvPr/>
        </p:nvSpPr>
        <p:spPr>
          <a:xfrm>
            <a:off x="822960" y="3363299"/>
            <a:ext cx="6126480" cy="2671741"/>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Readings never cost.</a:t>
            </a:r>
            <a:r>
              <a:rPr lang="en-US" sz="1400" dirty="0">
                <a:solidFill>
                  <a:schemeClr val="tx1"/>
                </a:solidFill>
              </a:rPr>
              <a:t> The least cost on the true state is at most that on the twin's readings, on coarser readings, or on none; each gap is a value of information</a:t>
            </a:r>
            <a:endParaRPr lang="en-US" sz="1400" dirty="0"/>
          </a:p>
          <a:p>
            <a:pPr marL="228600" indent="-228600">
              <a:spcAft>
                <a:spcPts val="600"/>
              </a:spcAft>
              <a:buSzPct val="100000"/>
              <a:buChar char="•"/>
            </a:pPr>
            <a:r>
              <a:rPr lang="en-US" sz="1400" b="1" dirty="0">
                <a:solidFill>
                  <a:schemeClr val="tx1"/>
                </a:solidFill>
              </a:rPr>
              <a:t>(ii) Certainty equivalence.</a:t>
            </a:r>
            <a:r>
              <a:rPr lang="en-US" sz="1400" dirty="0">
                <a:solidFill>
                  <a:schemeClr val="tx1"/>
                </a:solidFill>
              </a:rPr>
              <a:t> For linear laws, quadratic costs and Gaussian noises, the best rule applies the true-state rule to the twin's mean</a:t>
            </a:r>
            <a:endParaRPr lang="en-US" sz="1400" dirty="0"/>
          </a:p>
          <a:p>
            <a:pPr marL="228600" indent="-228600">
              <a:spcAft>
                <a:spcPts val="600"/>
              </a:spcAft>
              <a:buSzPct val="100000"/>
              <a:buChar char="•"/>
            </a:pPr>
            <a:r>
              <a:rPr lang="en-US" sz="1400" b="1" dirty="0">
                <a:solidFill>
                  <a:schemeClr val="tx1"/>
                </a:solidFill>
              </a:rPr>
              <a:t>(iii) Margins grow with the twin's error.</a:t>
            </a:r>
            <a:r>
              <a:rPr lang="en-US" sz="1400" dirty="0">
                <a:solidFill>
                  <a:schemeClr val="tx1"/>
                </a:solidFill>
              </a:rPr>
              <a:t> With shortfalls at b &gt; 2k a unit, plan to the floor plus the (1 − k/b)-quantile of the swing less the twin's error; as if exact, the margin covers the swing alone</a:t>
            </a:r>
            <a:endParaRPr lang="en-US" sz="14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rule on the twin</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On the count, Chapter 7's rule costs </a:t>
            </a:r>
            <a:r>
              <a:rPr lang="en-US" sz="1600" b="1" dirty="0">
                <a:solidFill>
                  <a:schemeClr val="tx1"/>
                </a:solidFill>
              </a:rPr>
              <a:t>$230.8m</a:t>
            </a:r>
            <a:r>
              <a:rPr lang="en-US" sz="1600" dirty="0">
                <a:solidFill>
                  <a:schemeClr val="tx1"/>
                </a:solidFill>
              </a:rPr>
              <a:t> from 58; on the twin, </a:t>
            </a:r>
            <a:r>
              <a:rPr lang="en-US" sz="1600" b="1" dirty="0">
                <a:solidFill>
                  <a:schemeClr val="tx1"/>
                </a:solidFill>
              </a:rPr>
              <a:t>$241.9m</a:t>
            </a:r>
            <a:endParaRPr lang="en-US" sz="1600" dirty="0"/>
          </a:p>
          <a:p>
            <a:pPr marL="228600" indent="-228600">
              <a:spcAft>
                <a:spcPts val="800"/>
              </a:spcAft>
              <a:buSzPct val="100000"/>
              <a:buChar char="•"/>
            </a:pPr>
            <a:r>
              <a:rPr lang="en-US" sz="1600" dirty="0">
                <a:solidFill>
                  <a:schemeClr val="tx1"/>
                </a:solidFill>
              </a:rPr>
              <a:t>The count is worth </a:t>
            </a:r>
            <a:r>
              <a:rPr lang="en-US" sz="1600" b="1" dirty="0">
                <a:solidFill>
                  <a:schemeClr val="tx1"/>
                </a:solidFill>
              </a:rPr>
              <a:t>$11.1m</a:t>
            </a:r>
            <a:r>
              <a:rPr lang="en-US" sz="1600" dirty="0">
                <a:solidFill>
                  <a:schemeClr val="tx1"/>
                </a:solidFill>
              </a:rPr>
              <a:t> in present value, about </a:t>
            </a:r>
            <a:r>
              <a:rPr lang="en-US" sz="1600" b="1" dirty="0">
                <a:solidFill>
                  <a:schemeClr val="tx1"/>
                </a:solidFill>
              </a:rPr>
              <a:t>$1.0m</a:t>
            </a:r>
            <a:r>
              <a:rPr lang="en-US" sz="1600" dirty="0">
                <a:solidFill>
                  <a:schemeClr val="tx1"/>
                </a:solidFill>
              </a:rPr>
              <a:t> a year</a:t>
            </a:r>
            <a:endParaRPr lang="en-US" sz="1600" dirty="0"/>
          </a:p>
          <a:p>
            <a:pPr marL="228600" indent="-228600">
              <a:spcAft>
                <a:spcPts val="800"/>
              </a:spcAft>
              <a:buSzPct val="100000"/>
              <a:buChar char="•"/>
            </a:pPr>
            <a:r>
              <a:rPr lang="en-US" sz="1600" dirty="0">
                <a:solidFill>
                  <a:schemeClr val="tx1"/>
                </a:solidFill>
              </a:rPr>
              <a:t>The twin's best target is </a:t>
            </a:r>
            <a:r>
              <a:rPr lang="en-US" sz="1600" b="1" dirty="0">
                <a:solidFill>
                  <a:schemeClr val="tx1"/>
                </a:solidFill>
              </a:rPr>
              <a:t>56.70</a:t>
            </a:r>
            <a:r>
              <a:rPr lang="en-US" sz="1600" dirty="0">
                <a:solidFill>
                  <a:schemeClr val="tx1"/>
                </a:solidFill>
              </a:rPr>
              <a:t>: a margin of </a:t>
            </a:r>
            <a:r>
              <a:rPr lang="en-US" sz="1600" b="1" dirty="0">
                <a:solidFill>
                  <a:schemeClr val="tx1"/>
                </a:solidFill>
              </a:rPr>
              <a:t>1.70</a:t>
            </a:r>
            <a:r>
              <a:rPr lang="en-US" sz="1600" dirty="0">
                <a:solidFill>
                  <a:schemeClr val="tx1"/>
                </a:solidFill>
              </a:rPr>
              <a:t> points where the count needs </a:t>
            </a:r>
            <a:r>
              <a:rPr lang="en-US" sz="1600" b="1" dirty="0">
                <a:solidFill>
                  <a:schemeClr val="tx1"/>
                </a:solidFill>
              </a:rPr>
              <a:t>0.75</a:t>
            </a:r>
            <a:endParaRPr lang="en-US" sz="1600" dirty="0"/>
          </a:p>
          <a:p>
            <a:pPr marL="228600" indent="-228600">
              <a:spcAft>
                <a:spcPts val="800"/>
              </a:spcAft>
              <a:buSzPct val="100000"/>
              <a:buChar char="•"/>
            </a:pPr>
            <a:r>
              <a:rPr lang="en-US" sz="1600" dirty="0">
                <a:solidFill>
                  <a:schemeClr val="tx1"/>
                </a:solidFill>
              </a:rPr>
              <a:t>Chapter 7's target on the twin costs </a:t>
            </a:r>
            <a:r>
              <a:rPr lang="en-US" sz="1600" b="1" dirty="0">
                <a:solidFill>
                  <a:schemeClr val="tx1"/>
                </a:solidFill>
              </a:rPr>
              <a:t>$16.3m</a:t>
            </a:r>
            <a:r>
              <a:rPr lang="en-US" sz="1600" dirty="0">
                <a:solidFill>
                  <a:schemeClr val="tx1"/>
                </a:solidFill>
              </a:rPr>
              <a:t> more and leaves capability short in </a:t>
            </a:r>
            <a:r>
              <a:rPr lang="en-US" sz="1600" b="1" dirty="0">
                <a:solidFill>
                  <a:schemeClr val="tx1"/>
                </a:solidFill>
              </a:rPr>
              <a:t>31%</a:t>
            </a:r>
            <a:r>
              <a:rPr lang="en-US" sz="1600" dirty="0">
                <a:solidFill>
                  <a:schemeClr val="tx1"/>
                </a:solidFill>
              </a:rPr>
              <a:t> of quarters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§15.3 · PROPOSITION 15.2 · TABLE 15.2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Choose on design paths, value on fresh ones</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15.2</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Simulation Inside the Twin</a:t>
            </a:r>
            <a:endParaRPr lang="en-US" sz="2100" dirty="0"/>
          </a:p>
        </p:txBody>
      </p:sp>
      <p:pic>
        <p:nvPicPr>
          <p:cNvPr id="8" name="Equation" descr="Equation: \operatorname{Var}(\bar F_{A} - \bar F_{B}) = \frac{\operatorname{Var}F_{A} + \operatorname{Var}F_{B} - 2\operatorname{Cov}(F_{A}, F_{B})}{N}">    </p:cNvPr>
          <p:cNvPicPr>
            <a:picLocks noChangeAspect="1"/>
          </p:cNvPicPr>
          <p:nvPr/>
        </p:nvPicPr>
        <p:blipFill>
          <a:blip r:embed="rId1"/>
          <a:stretch>
            <a:fillRect/>
          </a:stretch>
        </p:blipFill>
        <p:spPr>
          <a:xfrm>
            <a:off x="822960" y="2743200"/>
            <a:ext cx="3899418" cy="502920"/>
          </a:xfrm>
          <a:prstGeom prst="rect">
            <a:avLst/>
          </a:prstGeom>
        </p:spPr>
      </p:pic>
      <p:sp>
        <p:nvSpPr>
          <p:cNvPr id="9" name="Bullets"/>
          <p:cNvSpPr txBox="1"/>
          <p:nvPr/>
        </p:nvSpPr>
        <p:spPr>
          <a:xfrm>
            <a:off x="822960" y="3410712"/>
            <a:ext cx="5852160" cy="262432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Choose on design paths, value on fresh ones.</a:t>
            </a:r>
            <a:r>
              <a:rPr lang="en-US" sz="1400" dirty="0">
                <a:solidFill>
                  <a:schemeClr val="tx1"/>
                </a:solidFill>
              </a:rPr>
              <a:t> The least of several averages is biased toward optimism; the chosen candidate's average on fresh paths is unbiased again</a:t>
            </a:r>
            <a:endParaRPr lang="en-US" sz="1400" dirty="0"/>
          </a:p>
          <a:p>
            <a:pPr marL="228600" indent="-228600">
              <a:spcAft>
                <a:spcPts val="600"/>
              </a:spcAft>
              <a:buSzPct val="100000"/>
              <a:buChar char="•"/>
            </a:pPr>
            <a:r>
              <a:rPr lang="en-US" sz="1400" b="1" dirty="0">
                <a:solidFill>
                  <a:schemeClr val="tx1"/>
                </a:solidFill>
              </a:rPr>
              <a:t>(ii) Common random numbers.</a:t>
            </a:r>
            <a:r>
              <a:rPr lang="en-US" sz="1400" dirty="0">
                <a:solidFill>
                  <a:schemeClr val="tx1"/>
                </a:solidFill>
              </a:rPr>
              <a:t> On the same paths, candidates whose costs move together are told apart with far fewer paths</a:t>
            </a:r>
            <a:endParaRPr lang="en-US" sz="1400" dirty="0"/>
          </a:p>
          <a:p>
            <a:pPr marL="228600" indent="-228600">
              <a:spcAft>
                <a:spcPts val="600"/>
              </a:spcAft>
              <a:buSzPct val="100000"/>
              <a:buChar char="•"/>
            </a:pPr>
            <a:r>
              <a:rPr lang="en-US" sz="1400" b="1" dirty="0">
                <a:solidFill>
                  <a:schemeClr val="tx1"/>
                </a:solidFill>
              </a:rPr>
              <a:t>(iii) The twin's simulator is its law.</a:t>
            </a:r>
            <a:r>
              <a:rPr lang="en-US" sz="1400" dirty="0">
                <a:solidFill>
                  <a:schemeClr val="tx1"/>
                </a:solidFill>
              </a:rPr>
              <a:t> A simulation inside the twin inherits every error of its law and belief</a:t>
            </a:r>
            <a:endParaRPr lang="en-US" sz="1400" dirty="0"/>
          </a:p>
        </p:txBody>
      </p:sp>
      <p:sp>
        <p:nvSpPr>
          <p:cNvPr id="10"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Methods for running a twin</a:t>
            </a:r>
            <a:endParaRPr lang="en-US" sz="1600" dirty="0"/>
          </a:p>
        </p:txBody>
      </p:sp>
      <p:sp>
        <p:nvSpPr>
          <p:cNvPr id="11"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Kalman filter:</a:t>
            </a:r>
            <a:r>
              <a:rPr lang="en-US" sz="1400" dirty="0">
                <a:solidFill>
                  <a:schemeClr val="tx1"/>
                </a:solidFill>
              </a:rPr>
              <a:t> exact for linear Gaussian laws; watch a law that is not linear</a:t>
            </a:r>
            <a:endParaRPr lang="en-US" sz="1400" dirty="0"/>
          </a:p>
          <a:p>
            <a:pPr marL="228600" indent="-228600">
              <a:spcAft>
                <a:spcPts val="800"/>
              </a:spcAft>
              <a:buSzPct val="100000"/>
              <a:buChar char="•"/>
            </a:pPr>
            <a:r>
              <a:rPr lang="en-US" sz="1400" b="1" dirty="0">
                <a:solidFill>
                  <a:schemeClr val="tx1"/>
                </a:solidFill>
              </a:rPr>
              <a:t>Grid and particle filters:</a:t>
            </a:r>
            <a:r>
              <a:rPr lang="en-US" sz="1400" dirty="0">
                <a:solidFill>
                  <a:schemeClr val="tx1"/>
                </a:solidFill>
              </a:rPr>
              <a:t> any belief; watch the curse of dimensionality</a:t>
            </a:r>
            <a:endParaRPr lang="en-US" sz="1400" dirty="0"/>
          </a:p>
          <a:p>
            <a:pPr marL="228600" indent="-228600">
              <a:spcAft>
                <a:spcPts val="800"/>
              </a:spcAft>
              <a:buSzPct val="100000"/>
              <a:buChar char="•"/>
            </a:pPr>
            <a:r>
              <a:rPr lang="en-US" sz="1400" b="1" dirty="0">
                <a:solidFill>
                  <a:schemeClr val="tx1"/>
                </a:solidFill>
              </a:rPr>
              <a:t>Simulation on the belief:</a:t>
            </a:r>
            <a:r>
              <a:rPr lang="en-US" sz="1400" dirty="0">
                <a:solidFill>
                  <a:schemeClr val="tx1"/>
                </a:solidFill>
              </a:rPr>
              <a:t> unbiased on fresh paths; watch the optimism of design paths</a:t>
            </a:r>
            <a:endParaRPr lang="en-US" sz="1400" dirty="0"/>
          </a:p>
          <a:p>
            <a:pPr marL="228600" indent="-228600">
              <a:spcAft>
                <a:spcPts val="800"/>
              </a:spcAft>
              <a:buSzPct val="100000"/>
              <a:buChar char="•"/>
            </a:pPr>
            <a:r>
              <a:rPr lang="en-US" sz="1400" b="1" dirty="0">
                <a:solidFill>
                  <a:schemeClr val="tx1"/>
                </a:solidFill>
              </a:rPr>
              <a:t>Re-solving each period:</a:t>
            </a:r>
            <a:r>
              <a:rPr lang="en-US" sz="1400" dirty="0">
                <a:solidFill>
                  <a:schemeClr val="tx1"/>
                </a:solidFill>
              </a:rPr>
              <a:t> the best rule, given a terminal value; watch a window that ends nowhere safe</a:t>
            </a:r>
            <a:endParaRPr lang="en-US" sz="1400" dirty="0"/>
          </a:p>
          <a:p>
            <a:pPr marL="228600" indent="-228600">
              <a:spcAft>
                <a:spcPts val="800"/>
              </a:spcAft>
              <a:buSzPct val="100000"/>
              <a:buChar char="•"/>
            </a:pPr>
            <a:r>
              <a:rPr lang="en-US" sz="1400" b="1" dirty="0">
                <a:solidFill>
                  <a:schemeClr val="tx1"/>
                </a:solidFill>
              </a:rPr>
              <a:t>Innovation tests (CUSUM):</a:t>
            </a:r>
            <a:r>
              <a:rPr lang="en-US" sz="1400" dirty="0">
                <a:solidFill>
                  <a:schemeClr val="tx1"/>
                </a:solidFill>
              </a:rPr>
              <a:t> fastest detection; watch thresholds set by habit</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§15.3 · FIGURE 15.2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count is worth $11.1m, about $1.0m a year</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Best targets: </a:t>
            </a:r>
            <a:r>
              <a:rPr lang="en-US" sz="1500" b="1" dirty="0">
                <a:solidFill>
                  <a:schemeClr val="tx1"/>
                </a:solidFill>
              </a:rPr>
              <a:t>55.75</a:t>
            </a:r>
            <a:r>
              <a:rPr lang="en-US" sz="1500" dirty="0">
                <a:solidFill>
                  <a:schemeClr val="tx1"/>
                </a:solidFill>
              </a:rPr>
              <a:t> on the count, </a:t>
            </a:r>
            <a:r>
              <a:rPr lang="en-US" sz="1500" b="1" dirty="0">
                <a:solidFill>
                  <a:schemeClr val="tx1"/>
                </a:solidFill>
              </a:rPr>
              <a:t>56.70</a:t>
            </a:r>
            <a:r>
              <a:rPr lang="en-US" sz="1500" dirty="0">
                <a:solidFill>
                  <a:schemeClr val="tx1"/>
                </a:solidFill>
              </a:rPr>
              <a:t> on the twin, </a:t>
            </a:r>
            <a:r>
              <a:rPr lang="en-US" sz="1500" b="1" dirty="0">
                <a:solidFill>
                  <a:schemeClr val="tx1"/>
                </a:solidFill>
              </a:rPr>
              <a:t>57.35</a:t>
            </a:r>
            <a:r>
              <a:rPr lang="en-US" sz="1500" dirty="0">
                <a:solidFill>
                  <a:schemeClr val="tx1"/>
                </a:solidFill>
              </a:rPr>
              <a:t> for the survey read as exact, </a:t>
            </a:r>
            <a:r>
              <a:rPr lang="en-US" sz="1500" b="1" dirty="0">
                <a:solidFill>
                  <a:schemeClr val="tx1"/>
                </a:solidFill>
              </a:rPr>
              <a:t>57.80</a:t>
            </a:r>
            <a:r>
              <a:rPr lang="en-US" sz="1500" dirty="0">
                <a:solidFill>
                  <a:schemeClr val="tx1"/>
                </a:solidFill>
              </a:rPr>
              <a:t> with no readings</a:t>
            </a:r>
            <a:endParaRPr lang="en-US" sz="1500" dirty="0"/>
          </a:p>
          <a:p>
            <a:pPr marL="228600" indent="-228600">
              <a:spcAft>
                <a:spcPts val="800"/>
              </a:spcAft>
              <a:buSzPct val="100000"/>
              <a:buChar char="•"/>
            </a:pPr>
            <a:r>
              <a:rPr lang="en-US" sz="1500" dirty="0">
                <a:solidFill>
                  <a:schemeClr val="tx1"/>
                </a:solidFill>
              </a:rPr>
              <a:t>Above the count: the twin </a:t>
            </a:r>
            <a:r>
              <a:rPr lang="en-US" sz="1500" b="1" dirty="0">
                <a:solidFill>
                  <a:schemeClr val="tx1"/>
                </a:solidFill>
              </a:rPr>
              <a:t>$11.10m</a:t>
            </a:r>
            <a:r>
              <a:rPr lang="en-US" sz="1500" dirty="0">
                <a:solidFill>
                  <a:schemeClr val="tx1"/>
                </a:solidFill>
              </a:rPr>
              <a:t>, the survey read as exact </a:t>
            </a:r>
            <a:r>
              <a:rPr lang="en-US" sz="1500" b="1" dirty="0">
                <a:solidFill>
                  <a:schemeClr val="tx1"/>
                </a:solidFill>
              </a:rPr>
              <a:t>$15.95m</a:t>
            </a:r>
            <a:r>
              <a:rPr lang="en-US" sz="1500" dirty="0">
                <a:solidFill>
                  <a:schemeClr val="tx1"/>
                </a:solidFill>
              </a:rPr>
              <a:t>, no readings </a:t>
            </a:r>
            <a:r>
              <a:rPr lang="en-US" sz="1500" b="1" dirty="0">
                <a:solidFill>
                  <a:schemeClr val="tx1"/>
                </a:solidFill>
              </a:rPr>
              <a:t>$25.43m</a:t>
            </a:r>
            <a:endParaRPr lang="en-US" sz="1500" dirty="0"/>
          </a:p>
          <a:p>
            <a:pPr marL="228600" indent="-228600">
              <a:spcAft>
                <a:spcPts val="800"/>
              </a:spcAft>
              <a:buSzPct val="100000"/>
              <a:buChar char="•"/>
            </a:pPr>
            <a:r>
              <a:rPr lang="en-US" sz="1500" dirty="0">
                <a:solidFill>
                  <a:schemeClr val="tx1"/>
                </a:solidFill>
              </a:rPr>
              <a:t>(b) A quarterly survey cuts the twin's cost above the count to </a:t>
            </a:r>
            <a:r>
              <a:rPr lang="en-US" sz="1500" b="1" dirty="0">
                <a:solidFill>
                  <a:schemeClr val="tx1"/>
                </a:solidFill>
              </a:rPr>
              <a:t>$8.6m</a:t>
            </a:r>
            <a:r>
              <a:rPr lang="en-US" sz="1500" dirty="0">
                <a:solidFill>
                  <a:schemeClr val="tx1"/>
                </a:solidFill>
              </a:rPr>
              <a:t>, one twice as sharp to </a:t>
            </a:r>
            <a:r>
              <a:rPr lang="en-US" sz="1500" b="1" dirty="0">
                <a:solidFill>
                  <a:schemeClr val="tx1"/>
                </a:solidFill>
              </a:rPr>
              <a:t>$7.0m</a:t>
            </a:r>
            <a:r>
              <a:rPr lang="en-US" sz="1500" dirty="0">
                <a:solidFill>
                  <a:schemeClr val="tx1"/>
                </a:solidFill>
              </a:rPr>
              <a:t>, both to </a:t>
            </a:r>
            <a:r>
              <a:rPr lang="en-US" sz="1500" b="1" dirty="0">
                <a:solidFill>
                  <a:schemeClr val="tx1"/>
                </a:solidFill>
              </a:rPr>
              <a:t>$4.9m</a:t>
            </a:r>
            <a:endParaRPr lang="en-US" sz="1500" dirty="0"/>
          </a:p>
          <a:p>
            <a:pPr marL="228600" indent="-228600">
              <a:spcAft>
                <a:spcPts val="800"/>
              </a:spcAft>
              <a:buSzPct val="100000"/>
              <a:buChar char="•"/>
            </a:pPr>
            <a:r>
              <a:rPr lang="en-US" sz="1500" dirty="0">
                <a:solidFill>
                  <a:schemeClr val="tx1"/>
                </a:solidFill>
              </a:rPr>
              <a:t>A year: up to </a:t>
            </a:r>
            <a:r>
              <a:rPr lang="en-US" sz="1500" b="1" dirty="0">
                <a:solidFill>
                  <a:schemeClr val="tx1"/>
                </a:solidFill>
              </a:rPr>
              <a:t>$0.23m</a:t>
            </a:r>
            <a:r>
              <a:rPr lang="en-US" sz="1500" dirty="0">
                <a:solidFill>
                  <a:schemeClr val="tx1"/>
                </a:solidFill>
              </a:rPr>
              <a:t>, </a:t>
            </a:r>
            <a:r>
              <a:rPr lang="en-US" sz="1500" b="1" dirty="0">
                <a:solidFill>
                  <a:schemeClr val="tx1"/>
                </a:solidFill>
              </a:rPr>
              <a:t>$0.39m</a:t>
            </a:r>
            <a:r>
              <a:rPr lang="en-US" sz="1500" dirty="0">
                <a:solidFill>
                  <a:schemeClr val="tx1"/>
                </a:solidFill>
              </a:rPr>
              <a:t> and </a:t>
            </a:r>
            <a:r>
              <a:rPr lang="en-US" sz="1500" b="1" dirty="0">
                <a:solidFill>
                  <a:schemeClr val="tx1"/>
                </a:solidFill>
              </a:rPr>
              <a:t>$0.58m</a:t>
            </a:r>
            <a:endParaRPr lang="en-US" sz="1500" dirty="0"/>
          </a:p>
        </p:txBody>
      </p:sp>
      <p:pic>
        <p:nvPicPr>
          <p:cNvPr id="6" name="Figure" descr="Figure 15.2: deciding on the twin">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15.2. (a) Expected cost from 58 against the target for planned capability, on common design paths; dots mark each design's best target. (b) The twin's cost above the count's, at its best target, against the survey's error.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§15.4 · THEOREM 15.3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correct twin is unpredictable to itself</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15.3</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Monitoring a Twin</a:t>
            </a:r>
            <a:endParaRPr lang="en-US" sz="2100" dirty="0"/>
          </a:p>
        </p:txBody>
      </p:sp>
      <p:pic>
        <p:nvPicPr>
          <p:cNvPr id="8" name="Equation" descr="Equation: G_{k} = \max\{0,\; G_{k-1} - z_{k} - \kappa\},\qquad \text{alarm when } G_{k} &gt; H">    </p:cNvPr>
          <p:cNvPicPr>
            <a:picLocks noChangeAspect="1"/>
          </p:cNvPicPr>
          <p:nvPr/>
        </p:nvPicPr>
        <p:blipFill>
          <a:blip r:embed="rId1"/>
          <a:stretch>
            <a:fillRect/>
          </a:stretch>
        </p:blipFill>
        <p:spPr>
          <a:xfrm>
            <a:off x="822960" y="2745913"/>
            <a:ext cx="6126480" cy="378621"/>
          </a:xfrm>
          <a:prstGeom prst="rect">
            <a:avLst/>
          </a:prstGeom>
        </p:spPr>
      </p:pic>
      <p:sp>
        <p:nvSpPr>
          <p:cNvPr id="9" name="Bullets"/>
          <p:cNvSpPr txBox="1"/>
          <p:nvPr/>
        </p:nvSpPr>
        <p:spPr>
          <a:xfrm>
            <a:off x="822960" y="3289127"/>
            <a:ext cx="6126480" cy="2745913"/>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Innovations.</a:t>
            </a:r>
            <a:r>
              <a:rPr lang="en-US" sz="1400" dirty="0">
                <a:solidFill>
                  <a:schemeClr val="tx1"/>
                </a:solidFill>
              </a:rPr>
              <a:t> A correct twin's have mean zero, are uncorrelated, and have the variances the filter computes; a shifted law leaves a bias that settles</a:t>
            </a:r>
            <a:endParaRPr lang="en-US" sz="1400" dirty="0"/>
          </a:p>
          <a:p>
            <a:pPr marL="228600" indent="-228600">
              <a:spcAft>
                <a:spcPts val="600"/>
              </a:spcAft>
              <a:buSzPct val="100000"/>
              <a:buChar char="•"/>
            </a:pPr>
            <a:r>
              <a:rPr lang="en-US" sz="1400" b="1" dirty="0">
                <a:solidFill>
                  <a:schemeClr val="tx1"/>
                </a:solidFill>
              </a:rPr>
              <a:t>(ii) Cumulative sums detect fastest.</a:t>
            </a:r>
            <a:r>
              <a:rPr lang="en-US" sz="1400" dirty="0">
                <a:solidFill>
                  <a:schemeClr val="tx1"/>
                </a:solidFill>
              </a:rPr>
              <a:t> With κ = δ/2 and H = ln γ/δ, at most one false alarm in γ readings on average, and no test with as few is faster</a:t>
            </a:r>
            <a:endParaRPr lang="en-US" sz="1400" dirty="0"/>
          </a:p>
          <a:p>
            <a:pPr marL="228600" indent="-228600">
              <a:spcAft>
                <a:spcPts val="600"/>
              </a:spcAft>
              <a:buSzPct val="100000"/>
              <a:buChar char="•"/>
            </a:pPr>
            <a:r>
              <a:rPr lang="en-US" sz="1400" b="1" dirty="0">
                <a:solidFill>
                  <a:schemeClr val="tx1"/>
                </a:solidFill>
              </a:rPr>
              <a:t>(iii) Re-planning on the twin.</a:t>
            </a:r>
            <a:r>
              <a:rPr lang="en-US" sz="1400" dirty="0">
                <a:solidFill>
                  <a:schemeClr val="tx1"/>
                </a:solidFill>
              </a:rPr>
              <a:t> Re-solving each period with the declared value function as terminal value applies the best rule on beliefs</a:t>
            </a:r>
            <a:endParaRPr lang="en-US" sz="14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A tighter labor market</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From year 3 each quarter loses an extra half point; a twin that keeps its law overestimates capability by </a:t>
            </a:r>
            <a:r>
              <a:rPr lang="en-US" sz="1600" b="1" dirty="0">
                <a:solidFill>
                  <a:schemeClr val="tx1"/>
                </a:solidFill>
              </a:rPr>
              <a:t>2.2</a:t>
            </a:r>
            <a:r>
              <a:rPr lang="en-US" sz="1600" dirty="0">
                <a:solidFill>
                  <a:schemeClr val="tx1"/>
                </a:solidFill>
              </a:rPr>
              <a:t> to </a:t>
            </a:r>
            <a:r>
              <a:rPr lang="en-US" sz="1600" b="1" dirty="0">
                <a:solidFill>
                  <a:schemeClr val="tx1"/>
                </a:solidFill>
              </a:rPr>
              <a:t>3.1</a:t>
            </a:r>
            <a:r>
              <a:rPr lang="en-US" sz="1600" dirty="0">
                <a:solidFill>
                  <a:schemeClr val="tx1"/>
                </a:solidFill>
              </a:rPr>
              <a:t> points</a:t>
            </a:r>
            <a:endParaRPr lang="en-US" sz="1600" dirty="0"/>
          </a:p>
          <a:p>
            <a:pPr marL="228600" indent="-228600">
              <a:spcAft>
                <a:spcPts val="800"/>
              </a:spcAft>
              <a:buSzPct val="100000"/>
              <a:buChar char="•"/>
            </a:pPr>
            <a:r>
              <a:rPr lang="en-US" sz="1600" dirty="0">
                <a:solidFill>
                  <a:schemeClr val="tx1"/>
                </a:solidFill>
              </a:rPr>
              <a:t>Its rule leaves capability below the floor in </a:t>
            </a:r>
            <a:r>
              <a:rPr lang="en-US" sz="1600" b="1" dirty="0">
                <a:solidFill>
                  <a:schemeClr val="tx1"/>
                </a:solidFill>
              </a:rPr>
              <a:t>80%</a:t>
            </a:r>
            <a:r>
              <a:rPr lang="en-US" sz="1600" dirty="0">
                <a:solidFill>
                  <a:schemeClr val="tx1"/>
                </a:solidFill>
              </a:rPr>
              <a:t> of quarters</a:t>
            </a:r>
            <a:endParaRPr lang="en-US" sz="1600" dirty="0"/>
          </a:p>
          <a:p>
            <a:pPr marL="228600" indent="-228600">
              <a:spcAft>
                <a:spcPts val="800"/>
              </a:spcAft>
              <a:buSzPct val="100000"/>
              <a:buChar char="•"/>
            </a:pPr>
            <a:r>
              <a:rPr lang="en-US" sz="1600" dirty="0">
                <a:solidFill>
                  <a:schemeClr val="tx1"/>
                </a:solidFill>
              </a:rPr>
              <a:t>A cumulative sum of the surveys' surprises, reference </a:t>
            </a:r>
            <a:r>
              <a:rPr lang="en-US" sz="1600" b="1" dirty="0">
                <a:solidFill>
                  <a:schemeClr val="tx1"/>
                </a:solidFill>
              </a:rPr>
              <a:t>0.5</a:t>
            </a:r>
            <a:r>
              <a:rPr lang="en-US" sz="1600" dirty="0">
                <a:solidFill>
                  <a:schemeClr val="tx1"/>
                </a:solidFill>
              </a:rPr>
              <a:t>, threshold </a:t>
            </a:r>
            <a:r>
              <a:rPr lang="en-US" sz="1600" b="1" dirty="0">
                <a:solidFill>
                  <a:schemeClr val="tx1"/>
                </a:solidFill>
              </a:rPr>
              <a:t>2.25</a:t>
            </a:r>
            <a:r>
              <a:rPr lang="en-US" sz="1600" dirty="0">
                <a:solidFill>
                  <a:schemeClr val="tx1"/>
                </a:solidFill>
              </a:rPr>
              <a:t>: a false alarm about once in </a:t>
            </a:r>
            <a:r>
              <a:rPr lang="en-US" sz="1600" b="1" dirty="0">
                <a:solidFill>
                  <a:schemeClr val="tx1"/>
                </a:solidFill>
              </a:rPr>
              <a:t>26</a:t>
            </a:r>
            <a:r>
              <a:rPr lang="en-US" sz="1600" dirty="0">
                <a:solidFill>
                  <a:schemeClr val="tx1"/>
                </a:solidFill>
              </a:rPr>
              <a:t> years</a:t>
            </a:r>
            <a:endParaRPr lang="en-US" sz="1600" dirty="0"/>
          </a:p>
          <a:p>
            <a:pPr marL="228600" indent="-228600">
              <a:spcAft>
                <a:spcPts val="800"/>
              </a:spcAft>
              <a:buSzPct val="100000"/>
              <a:buChar char="•"/>
            </a:pPr>
            <a:r>
              <a:rPr lang="en-US" sz="1600" dirty="0">
                <a:solidFill>
                  <a:schemeClr val="tx1"/>
                </a:solidFill>
              </a:rPr>
              <a:t>It finds the change in a median of </a:t>
            </a:r>
            <a:r>
              <a:rPr lang="en-US" sz="1600" b="1" dirty="0">
                <a:solidFill>
                  <a:schemeClr val="tx1"/>
                </a:solidFill>
              </a:rPr>
              <a:t>12</a:t>
            </a:r>
            <a:r>
              <a:rPr lang="en-US" sz="1600" dirty="0">
                <a:solidFill>
                  <a:schemeClr val="tx1"/>
                </a:solidFill>
              </a:rPr>
              <a:t> quarters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§15.4 · FIGURE 15.3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monitor finds the drift in 12 quarters</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The monitor detects the drift on every program, after </a:t>
            </a:r>
            <a:r>
              <a:rPr lang="en-US" sz="1500" b="1" dirty="0">
                <a:solidFill>
                  <a:schemeClr val="tx1"/>
                </a:solidFill>
              </a:rPr>
              <a:t>12</a:t>
            </a:r>
            <a:r>
              <a:rPr lang="en-US" sz="1500" dirty="0">
                <a:solidFill>
                  <a:schemeClr val="tx1"/>
                </a:solidFill>
              </a:rPr>
              <a:t> quarters in the median, </a:t>
            </a:r>
            <a:r>
              <a:rPr lang="en-US" sz="1500" b="1" dirty="0">
                <a:solidFill>
                  <a:schemeClr val="tx1"/>
                </a:solidFill>
              </a:rPr>
              <a:t>4</a:t>
            </a:r>
            <a:r>
              <a:rPr lang="en-US" sz="1500" dirty="0">
                <a:solidFill>
                  <a:schemeClr val="tx1"/>
                </a:solidFill>
              </a:rPr>
              <a:t> to </a:t>
            </a:r>
            <a:r>
              <a:rPr lang="en-US" sz="1500" b="1" dirty="0">
                <a:solidFill>
                  <a:schemeClr val="tx1"/>
                </a:solidFill>
              </a:rPr>
              <a:t>22</a:t>
            </a:r>
            <a:r>
              <a:rPr lang="en-US" sz="1500" dirty="0">
                <a:solidFill>
                  <a:schemeClr val="tx1"/>
                </a:solidFill>
              </a:rPr>
              <a:t> from the 10th to the 90th percentile</a:t>
            </a:r>
            <a:endParaRPr lang="en-US" sz="1500" dirty="0"/>
          </a:p>
          <a:p>
            <a:pPr marL="228600" indent="-228600">
              <a:spcAft>
                <a:spcPts val="800"/>
              </a:spcAft>
              <a:buSzPct val="100000"/>
              <a:buChar char="•"/>
            </a:pPr>
            <a:r>
              <a:rPr lang="en-US" sz="1500" dirty="0">
                <a:solidFill>
                  <a:schemeClr val="tx1"/>
                </a:solidFill>
              </a:rPr>
              <a:t>(b) A twin that never questions its law costs </a:t>
            </a:r>
            <a:r>
              <a:rPr lang="en-US" sz="1500" b="1" dirty="0">
                <a:solidFill>
                  <a:schemeClr val="tx1"/>
                </a:solidFill>
              </a:rPr>
              <a:t>$56.5m</a:t>
            </a:r>
            <a:r>
              <a:rPr lang="en-US" sz="1500" dirty="0">
                <a:solidFill>
                  <a:schemeClr val="tx1"/>
                </a:solidFill>
              </a:rPr>
              <a:t> more than the count and spends </a:t>
            </a:r>
            <a:r>
              <a:rPr lang="en-US" sz="1500" b="1" dirty="0">
                <a:solidFill>
                  <a:schemeClr val="tx1"/>
                </a:solidFill>
              </a:rPr>
              <a:t>80%</a:t>
            </a:r>
            <a:r>
              <a:rPr lang="en-US" sz="1500" dirty="0">
                <a:solidFill>
                  <a:schemeClr val="tx1"/>
                </a:solidFill>
              </a:rPr>
              <a:t> of quarters below 55</a:t>
            </a:r>
            <a:endParaRPr lang="en-US" sz="1500" dirty="0"/>
          </a:p>
          <a:p>
            <a:pPr marL="228600" indent="-228600">
              <a:spcAft>
                <a:spcPts val="800"/>
              </a:spcAft>
              <a:buSzPct val="100000"/>
              <a:buChar char="•"/>
            </a:pPr>
            <a:r>
              <a:rPr lang="en-US" sz="1500" dirty="0">
                <a:solidFill>
                  <a:schemeClr val="tx1"/>
                </a:solidFill>
              </a:rPr>
              <a:t>Escalating on the alarm to the engineering office's audit: </a:t>
            </a:r>
            <a:r>
              <a:rPr lang="en-US" sz="1500" b="1" dirty="0">
                <a:solidFill>
                  <a:schemeClr val="tx1"/>
                </a:solidFill>
              </a:rPr>
              <a:t>$18.2m</a:t>
            </a:r>
            <a:r>
              <a:rPr lang="en-US" sz="1500" dirty="0">
                <a:solidFill>
                  <a:schemeClr val="tx1"/>
                </a:solidFill>
              </a:rPr>
              <a:t>; told of the drift when it begins: </a:t>
            </a:r>
            <a:r>
              <a:rPr lang="en-US" sz="1500" b="1" dirty="0">
                <a:solidFill>
                  <a:schemeClr val="tx1"/>
                </a:solidFill>
              </a:rPr>
              <a:t>$10.3m</a:t>
            </a:r>
            <a:endParaRPr lang="en-US" sz="1500" dirty="0"/>
          </a:p>
        </p:txBody>
      </p:sp>
      <p:pic>
        <p:nvPicPr>
          <p:cNvPr id="6" name="Figure" descr="Figure 15.3: monitoring the twin">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15.3. (a) The share of programs whose monitor has raised an alarm, by quarter, with the drift from quarter 8 and, as false alarms, without it. (b) Mean capability under the drift.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§15.5 · DEFINITION 15.3 · PROPOSITION 15.3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Escalate on surprises, not on uncertainty</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15.3</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Autonomy within an Envelope</a:t>
            </a:r>
            <a:endParaRPr lang="en-US" sz="2100" dirty="0"/>
          </a:p>
        </p:txBody>
      </p:sp>
      <p:pic>
        <p:nvPicPr>
          <p:cNvPr id="8" name="Equation" descr="Equation: \begin{pmatrix} x_{t+1} \\ e_{t+1} \end{pmatrix} = \begin{pmatrix} A - BF &amp; BF \\ 0 &amp; A - LC \end{pmatrix}\begin{pmatrix} x_{t} \\ e_{t} \end{pmatrix} + \begin{pmatrix} w_{t} \\ w_{t} - Lv_{t} \end{pmatrix}">    </p:cNvPr>
          <p:cNvPicPr>
            <a:picLocks noChangeAspect="1"/>
          </p:cNvPicPr>
          <p:nvPr/>
        </p:nvPicPr>
        <p:blipFill>
          <a:blip r:embed="rId1"/>
          <a:stretch>
            <a:fillRect/>
          </a:stretch>
        </p:blipFill>
        <p:spPr>
          <a:xfrm>
            <a:off x="822960" y="2743200"/>
            <a:ext cx="4287241" cy="566928"/>
          </a:xfrm>
          <a:prstGeom prst="rect">
            <a:avLst/>
          </a:prstGeom>
        </p:spPr>
      </p:pic>
      <p:sp>
        <p:nvSpPr>
          <p:cNvPr id="9" name="Bullets"/>
          <p:cNvSpPr txBox="1"/>
          <p:nvPr/>
        </p:nvSpPr>
        <p:spPr>
          <a:xfrm>
            <a:off x="822960" y="3474720"/>
            <a:ext cx="6126480" cy="256032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Separation and stability.</a:t>
            </a:r>
            <a:r>
              <a:rPr lang="en-US" sz="1400" dirty="0">
                <a:solidFill>
                  <a:schemeClr val="tx1"/>
                </a:solidFill>
              </a:rPr>
              <a:t> The loop's modes are the rule's and the estimation error's: stable exactly when both are</a:t>
            </a:r>
            <a:endParaRPr lang="en-US" sz="1400" dirty="0"/>
          </a:p>
          <a:p>
            <a:pPr marL="228600" indent="-228600">
              <a:spcAft>
                <a:spcPts val="600"/>
              </a:spcAft>
              <a:buSzPct val="100000"/>
              <a:buChar char="•"/>
            </a:pPr>
            <a:r>
              <a:rPr lang="en-US" sz="1400" b="1" dirty="0">
                <a:solidFill>
                  <a:schemeClr val="tx1"/>
                </a:solidFill>
              </a:rPr>
              <a:t>(ii) Envelopes cost nothing at the best rule.</a:t>
            </a:r>
            <a:r>
              <a:rPr lang="en-US" sz="1400" dirty="0">
                <a:solidFill>
                  <a:schemeClr val="tx1"/>
                </a:solidFill>
              </a:rPr>
              <a:t> A guardrail holding a best decision for every belief loses nothing, and caps the damage</a:t>
            </a:r>
            <a:endParaRPr lang="en-US" sz="1400" dirty="0"/>
          </a:p>
          <a:p>
            <a:pPr marL="228600" indent="-228600">
              <a:spcAft>
                <a:spcPts val="600"/>
              </a:spcAft>
              <a:buSzPct val="100000"/>
              <a:buChar char="•"/>
            </a:pPr>
            <a:r>
              <a:rPr lang="en-US" sz="1400" b="1" dirty="0">
                <a:solidFill>
                  <a:schemeClr val="tx1"/>
                </a:solidFill>
              </a:rPr>
              <a:t>(iii) Uncertainty runs on a calendar.</a:t>
            </a:r>
            <a:r>
              <a:rPr lang="en-US" sz="1400" dirty="0">
                <a:solidFill>
                  <a:schemeClr val="tx1"/>
                </a:solidFill>
              </a:rPr>
              <a:t> The error variances do not depend on the readings; only triggers on the readings catch a change in the law</a:t>
            </a:r>
            <a:endParaRPr lang="en-US" sz="14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envelope</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An </a:t>
            </a:r>
            <a:r>
              <a:rPr lang="en-US" sz="1600" b="1" dirty="0">
                <a:solidFill>
                  <a:schemeClr val="tx1"/>
                </a:solidFill>
              </a:rPr>
              <a:t>envelope</a:t>
            </a:r>
            <a:r>
              <a:rPr lang="en-US" sz="1600" dirty="0">
                <a:solidFill>
                  <a:schemeClr val="tx1"/>
                </a:solidFill>
              </a:rPr>
              <a:t> (Definition 15.3): the decisions the twin may take alone, and when it escalates</a:t>
            </a:r>
            <a:endParaRPr lang="en-US" sz="1600" dirty="0"/>
          </a:p>
          <a:p>
            <a:pPr marL="228600" indent="-228600">
              <a:spcAft>
                <a:spcPts val="800"/>
              </a:spcAft>
              <a:buSzPct val="100000"/>
              <a:buChar char="•"/>
            </a:pPr>
            <a:r>
              <a:rPr lang="en-US" sz="1600" dirty="0">
                <a:solidFill>
                  <a:schemeClr val="tx1"/>
                </a:solidFill>
              </a:rPr>
              <a:t>Hire alone inside Chapter 14's guardrail, which every target here keeps</a:t>
            </a:r>
            <a:endParaRPr lang="en-US" sz="1600" dirty="0"/>
          </a:p>
          <a:p>
            <a:pPr marL="228600" indent="-228600">
              <a:spcAft>
                <a:spcPts val="800"/>
              </a:spcAft>
              <a:buSzPct val="100000"/>
              <a:buChar char="•"/>
            </a:pPr>
            <a:r>
              <a:rPr lang="en-US" sz="1600" dirty="0">
                <a:solidFill>
                  <a:schemeClr val="tx1"/>
                </a:solidFill>
              </a:rPr>
              <a:t>The twin is least sure just before each survey, </a:t>
            </a:r>
            <a:r>
              <a:rPr lang="en-US" sz="1600" b="1" dirty="0">
                <a:solidFill>
                  <a:schemeClr val="tx1"/>
                </a:solidFill>
              </a:rPr>
              <a:t>1.58</a:t>
            </a:r>
            <a:r>
              <a:rPr lang="en-US" sz="1600" dirty="0">
                <a:solidFill>
                  <a:schemeClr val="tx1"/>
                </a:solidFill>
              </a:rPr>
              <a:t> points, most sure just after, </a:t>
            </a:r>
            <a:r>
              <a:rPr lang="en-US" sz="1600" b="1" dirty="0">
                <a:solidFill>
                  <a:schemeClr val="tx1"/>
                </a:solidFill>
              </a:rPr>
              <a:t>1.33</a:t>
            </a:r>
            <a:r>
              <a:rPr lang="en-US" sz="1600" dirty="0">
                <a:solidFill>
                  <a:schemeClr val="tx1"/>
                </a:solidFill>
              </a:rPr>
              <a:t>: a calendar</a:t>
            </a:r>
            <a:endParaRPr lang="en-US" sz="1600" dirty="0"/>
          </a:p>
          <a:p>
            <a:pPr marL="228600" indent="-228600">
              <a:spcAft>
                <a:spcPts val="800"/>
              </a:spcAft>
              <a:buSzPct val="100000"/>
              <a:buChar char="•"/>
            </a:pPr>
            <a:r>
              <a:rPr lang="en-US" sz="1600" dirty="0">
                <a:solidFill>
                  <a:schemeClr val="tx1"/>
                </a:solidFill>
              </a:rPr>
              <a:t>Escalate on the monitor's alarm: the engineering office audits, the law is re-estimated, the twin resumes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a twin replace the engineering office's count?</a:t>
            </a:r>
            <a:endParaRPr lang="en-US" sz="3200" dirty="0"/>
          </a:p>
        </p:txBody>
      </p:sp>
      <p:sp>
        <p:nvSpPr>
          <p:cNvPr id="5" name="Card"/>
          <p:cNvSpPr/>
          <p:nvPr/>
        </p:nvSpPr>
        <p:spPr>
          <a:xfrm>
            <a:off x="548640" y="1691640"/>
            <a:ext cx="3515258" cy="2743200"/>
          </a:xfrm>
          <a:prstGeom prst="roundRect">
            <a:avLst>
              <a:gd name="adj" fmla="val 2667"/>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operating officer</a:t>
            </a:r>
            <a:endParaRPr lang="en-US" sz="1300" dirty="0"/>
          </a:p>
        </p:txBody>
      </p:sp>
      <p:sp>
        <p:nvSpPr>
          <p:cNvPr id="7" name="Card head"/>
          <p:cNvSpPr txBox="1"/>
          <p:nvPr/>
        </p:nvSpPr>
        <p:spPr>
          <a:xfrm>
            <a:off x="731520" y="2148840"/>
            <a:ext cx="3149498" cy="89611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Retire the count and run the rule on a twin</a:t>
            </a:r>
            <a:endParaRPr lang="en-US" sz="1900" dirty="0"/>
          </a:p>
        </p:txBody>
      </p:sp>
      <p:sp>
        <p:nvSpPr>
          <p:cNvPr id="8" name="Card text"/>
          <p:cNvSpPr txBox="1"/>
          <p:nvPr/>
        </p:nvSpPr>
        <p:spPr>
          <a:xfrm>
            <a:off x="731520" y="3118104"/>
            <a:ext cx="3149498" cy="1188720"/>
          </a:xfrm>
          <a:prstGeom prst="rect">
            <a:avLst/>
          </a:prstGeom>
          <a:noFill/>
          <a:ln/>
        </p:spPr>
        <p:txBody>
          <a:bodyPr wrap="square" lIns="0" tIns="0" rIns="0" bIns="0" rtlCol="0" anchor="t"/>
          <a:lstStyle/>
          <a:p>
            <a:pPr indent="0" marL="0">
              <a:buNone/>
            </a:pPr>
            <a:r>
              <a:rPr lang="en-US" sz="1500" dirty="0">
                <a:solidFill>
                  <a:schemeClr val="tx2"/>
                </a:solidFill>
              </a:rPr>
              <a:t>The count is a manual assessment by team leads; the twin would read the skills survey.</a:t>
            </a:r>
            <a:endParaRPr lang="en-US" sz="1500" dirty="0"/>
          </a:p>
        </p:txBody>
      </p:sp>
      <p:sp>
        <p:nvSpPr>
          <p:cNvPr id="9" name="Card"/>
          <p:cNvSpPr/>
          <p:nvPr/>
        </p:nvSpPr>
        <p:spPr>
          <a:xfrm>
            <a:off x="4338218" y="1691640"/>
            <a:ext cx="3515258" cy="2743200"/>
          </a:xfrm>
          <a:prstGeom prst="roundRect">
            <a:avLst>
              <a:gd name="adj" fmla="val 2667"/>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benchmark</a:t>
            </a:r>
            <a:endParaRPr lang="en-US" sz="1300" dirty="0"/>
          </a:p>
        </p:txBody>
      </p:sp>
      <p:sp>
        <p:nvSpPr>
          <p:cNvPr id="11" name="Card head"/>
          <p:cNvSpPr txBox="1"/>
          <p:nvPr/>
        </p:nvSpPr>
        <p:spPr>
          <a:xfrm>
            <a:off x="4521098" y="2148840"/>
            <a:ext cx="3149498" cy="89611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Chapter 7's rule on the count</a:t>
            </a:r>
            <a:endParaRPr lang="en-US" sz="1900" dirty="0"/>
          </a:p>
        </p:txBody>
      </p:sp>
      <p:sp>
        <p:nvSpPr>
          <p:cNvPr id="12" name="Card text"/>
          <p:cNvSpPr txBox="1"/>
          <p:nvPr/>
        </p:nvSpPr>
        <p:spPr>
          <a:xfrm>
            <a:off x="4521098" y="3118104"/>
            <a:ext cx="3149498" cy="1188720"/>
          </a:xfrm>
          <a:prstGeom prst="rect">
            <a:avLst/>
          </a:prstGeom>
          <a:noFill/>
          <a:ln/>
        </p:spPr>
        <p:txBody>
          <a:bodyPr wrap="square" lIns="0" tIns="0" rIns="0" bIns="0" rtlCol="0" anchor="t"/>
          <a:lstStyle/>
          <a:p>
            <a:pPr indent="0" marL="0">
              <a:buNone/>
            </a:pPr>
            <a:r>
              <a:rPr lang="en-US" sz="1500" dirty="0">
                <a:solidFill>
                  <a:schemeClr val="tx2"/>
                </a:solidFill>
              </a:rPr>
              <a:t>Plan capability to 55.75 each quarter: $230.8m of cost from 58.</a:t>
            </a:r>
            <a:endParaRPr lang="en-US" sz="1500" dirty="0"/>
          </a:p>
        </p:txBody>
      </p:sp>
      <p:sp>
        <p:nvSpPr>
          <p:cNvPr id="13" name="Card"/>
          <p:cNvSpPr/>
          <p:nvPr/>
        </p:nvSpPr>
        <p:spPr>
          <a:xfrm>
            <a:off x="8127797" y="1691640"/>
            <a:ext cx="3515258" cy="2743200"/>
          </a:xfrm>
          <a:prstGeom prst="roundRect">
            <a:avLst>
              <a:gd name="adj" fmla="val 2667"/>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audit committee</a:t>
            </a:r>
            <a:endParaRPr lang="en-US" sz="1300" dirty="0"/>
          </a:p>
        </p:txBody>
      </p:sp>
      <p:sp>
        <p:nvSpPr>
          <p:cNvPr id="15" name="Card head"/>
          <p:cNvSpPr txBox="1"/>
          <p:nvPr/>
        </p:nvSpPr>
        <p:spPr>
          <a:xfrm>
            <a:off x="8310677" y="2148840"/>
            <a:ext cx="3149498" cy="89611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What would the twin cost, and how would it know?</a:t>
            </a:r>
            <a:endParaRPr lang="en-US" sz="1900" dirty="0"/>
          </a:p>
        </p:txBody>
      </p:sp>
      <p:sp>
        <p:nvSpPr>
          <p:cNvPr id="16" name="Card text"/>
          <p:cNvSpPr txBox="1"/>
          <p:nvPr/>
        </p:nvSpPr>
        <p:spPr>
          <a:xfrm>
            <a:off x="8310677" y="3118104"/>
            <a:ext cx="3149498" cy="1188720"/>
          </a:xfrm>
          <a:prstGeom prst="rect">
            <a:avLst/>
          </a:prstGeom>
          <a:noFill/>
          <a:ln/>
        </p:spPr>
        <p:txBody>
          <a:bodyPr wrap="square" lIns="0" tIns="0" rIns="0" bIns="0" rtlCol="0" anchor="t"/>
          <a:lstStyle/>
          <a:p>
            <a:pPr indent="0" marL="0">
              <a:buNone/>
            </a:pPr>
            <a:r>
              <a:rPr lang="en-US" sz="1500" dirty="0">
                <a:solidFill>
                  <a:schemeClr val="bg2"/>
                </a:solidFill>
              </a:rPr>
              <a:t>What are better readings worth, and how would the twin notice a change in the world?</a:t>
            </a:r>
            <a:endParaRPr lang="en-US" sz="1500" dirty="0"/>
          </a:p>
        </p:txBody>
      </p:sp>
      <p:sp>
        <p:nvSpPr>
          <p:cNvPr id="17" name="Lead"/>
          <p:cNvSpPr txBox="1"/>
          <p:nvPr/>
        </p:nvSpPr>
        <p:spPr>
          <a:xfrm>
            <a:off x="548640" y="47091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program starts from an audited 58; the survey runs twice a year, good to ±5 points.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STEPS 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steps from the survey to an envelope</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the twin</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Chapter 7's law and costs; the survey twice a year, error 2.5 points; targets chosen on 20,000 design paths, valued on 100,000 fresh ones.</a:t>
            </a:r>
            <a:endParaRPr lang="en-US" sz="14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Synchronize</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The twin settles at 1.33 points just after a survey and 1.58 just before; read as exact, 2.50 to 2.53; no readings, 3.0.</a:t>
            </a:r>
            <a:endParaRPr lang="en-US" sz="14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Decide on the twin</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Best target 56.70, $11.1m above the count. Chapter 7's 55.75 costs $16.3m and leaves 31% of quarters short.</a:t>
            </a:r>
            <a:endParaRPr lang="en-US" sz="14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Price better readings</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Above the count: quarterly $8.6m, twice as sharp $7.0m, both $4.9m; worth up to $0.23m, $0.39m and $0.58m a year.</a:t>
            </a:r>
            <a:endParaRPr lang="en-US" sz="14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Monitor the law</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Threshold 2.25: a false alarm once in 26 years. A tighter market: never questioned $56.5m, monitored $18.2m, told $10.3m.</a:t>
            </a:r>
            <a:endParaRPr lang="en-US" sz="1400" dirty="0"/>
          </a:p>
        </p:txBody>
      </p:sp>
      <p:sp>
        <p:nvSpPr>
          <p:cNvPr id="30" name="Step 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31" name="Number"/>
          <p:cNvSpPr/>
          <p:nvPr/>
        </p:nvSpPr>
        <p:spPr>
          <a:xfrm>
            <a:off x="8310677" y="4251960"/>
            <a:ext cx="457200" cy="457200"/>
          </a:xfrm>
          <a:prstGeom prst="ellipse">
            <a:avLst/>
          </a:prstGeom>
          <a:solidFill>
            <a:schemeClr val="accent1"/>
          </a:solidFill>
          <a:ln w="6350">
            <a:solidFill>
              <a:schemeClr val="accent1"/>
            </a:solidFill>
            <a:prstDash val="solid"/>
          </a:ln>
        </p:spPr>
      </p:sp>
      <p:sp>
        <p:nvSpPr>
          <p:cNvPr id="32" name="Text 29"/>
          <p:cNvSpPr txBox="1"/>
          <p:nvPr/>
        </p:nvSpPr>
        <p:spPr>
          <a:xfrm>
            <a:off x="8310677"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3" name="Step head"/>
          <p:cNvSpPr txBox="1"/>
          <p:nvPr/>
        </p:nvSpPr>
        <p:spPr>
          <a:xfrm>
            <a:off x="8905037"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Set the envelope</a:t>
            </a:r>
            <a:endParaRPr lang="en-US" sz="1700" dirty="0"/>
          </a:p>
        </p:txBody>
      </p:sp>
      <p:sp>
        <p:nvSpPr>
          <p:cNvPr id="34" name="Step text"/>
          <p:cNvSpPr txBox="1"/>
          <p:nvPr/>
        </p:nvSpPr>
        <p:spPr>
          <a:xfrm>
            <a:off x="8310677"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Hire inside Chapter 14's guardrail; escalate on the alarm. The target costs $241.85m on design paths, $241.94m on fresh.</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TABLE 15.3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Designs for knowing capability, priced</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003000"/>
                <a:gridCol w="1835166"/>
                <a:gridCol w="1167833"/>
                <a:gridCol w="1418083"/>
                <a:gridCol w="2002000"/>
                <a:gridCol w="1668333"/>
              </a:tblGrid>
              <a:tr h="2743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Survey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Error (sd)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Cost above the count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Below floor (%)</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Count (Chapter 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55.75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 readings after the audit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57.80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3.02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25.43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17.6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Survey read as exact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55.75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2.50–2.53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27.51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38.6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  whole error guarded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60.75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2.50–2.53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34.40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  best target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57.35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2.50–2.53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15.95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 Chapter 7's target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55.75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1.33–1.58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16.31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31.3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b="1" dirty="0">
                          <a:solidFill>
                            <a:srgbClr val="0F1E3D"/>
                          </a:solidFill>
                          <a:latin typeface="Calibri" pitchFamily="34" charset="0"/>
                          <a:ea typeface="Calibri" pitchFamily="34" charset="-122"/>
                          <a:cs typeface="Calibri" pitchFamily="34" charset="-120"/>
                        </a:rPr>
                        <a:t>Twin, best target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56.70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1.33–1.58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11.10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quarterly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56.50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1.17–1.32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8.63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as sharp</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56.40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0.89–1.26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7.01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12.1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both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56.20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0.79–1.02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4.92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 law never questioned*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56.70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56.47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79.9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 with monitor*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56.70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18.18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14.4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7432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Twin told of the drift*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twice a year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56.70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10.29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14.6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6235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Target: planned capability (points). Error: the estimate's standard deviation just after and just before a survey. Cost above the count: present value at 10%, $ million, on 100,000 fresh paths. Below floor: long-run share of quarters below 55. * An extra half point lost each quarter from quarter 8: cost above the count with the drift.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Keep a monitor; size the margin to the error</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a year: what the count is worth against the twin; retire it only if it costs more</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1.70</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points of margin for the twin, against Chapter 7's 0.75 on the count</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quarters, in the median, for the monitor to find a tighter labor market</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Run the rule on a twin, not on the survey read as exact; a sharper or more frequent survey buys back part of the count's value</a:t>
            </a:r>
            <a:endParaRPr lang="en-US" sz="1700" dirty="0"/>
          </a:p>
          <a:p>
            <a:pPr marL="228600" indent="-228600">
              <a:spcAft>
                <a:spcPts val="800"/>
              </a:spcAft>
              <a:buSzPct val="100000"/>
              <a:buChar char="•"/>
            </a:pPr>
            <a:r>
              <a:rPr lang="en-US" sz="1700" dirty="0">
                <a:solidFill>
                  <a:schemeClr val="tx1"/>
                </a:solidFill>
              </a:rPr>
              <a:t>Above all, give the twin a monitor: one that never questions its law turns a tighter labor market into years below the floor</a:t>
            </a:r>
            <a:endParaRPr lang="en-US" sz="1700" dirty="0"/>
          </a:p>
          <a:p>
            <a:pPr marL="228600" indent="-228600">
              <a:spcAft>
                <a:spcPts val="800"/>
              </a:spcAft>
              <a:buSzPct val="100000"/>
              <a:buChar char="•"/>
            </a:pPr>
            <a:r>
              <a:rPr lang="en-US" sz="1700" dirty="0">
                <a:solidFill>
                  <a:schemeClr val="tx1"/>
                </a:solidFill>
              </a:rPr>
              <a:t>For discussion: who should own the twin's law, the engineering office or the team that runs the twin? What should an alarm cost before the board raises the threshold?</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ROLLS-ROYCE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Rolls-Royce watches every engine in flight</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Act on an engine, or not</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Paid by the flying hour, the company decides when an engine's readings call for action.</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Trend the readings, escalate change</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Snapshots of 20–30 parameters a flight, trended; an analyst confirms a change before the airline is told.</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By the company's account</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75 percent of potential in-flight events mitigated in 2008; some maintenance intervals up to 50 percent longer.</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People, and limits</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Analysts confirm what the algorithms flag; the Trent 1000 and 2020 showed the risks of selling hours.</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twin with a monitor</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15.1: give the twin a margin, and a monitor that questions its law.</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do we read, and how soon?</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Which decisions may our systems take alone, and which must go to a named owner?</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2.15 · MODULE AXIOM-15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twin for capability,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chief operating officer proposes to retire the engineering office's count and run Chapter 7's hiring rule on a digital twin fed by the skills survey. The audit committee wants to know what the twin would cost, which readings are worth buying, and how it would notice a change. Open AXIOM, choose Lab 2.15 and load the Meridian capability twin.</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Synchronize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Kalman filter on simulated surveys; compare its error with the survey read as exact and with no readings.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Decide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Sweep the target for the count, the twin and the survey read as exact; mark each best target and its cost on fresh paths.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readings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Vary the survey's frequency and error, and price each design against the count.</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Monitor</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Set the cumulative sum's threshold for a false-alarm rate, and test it on a drift in the law.</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Set the envelope</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Decide what the twin may do alone and when it escalates.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whether to retire the count, the twin's rule and margin, the readings worth buying, and the monitor and envelope the twin should run under.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digital twin is a declared model kept running: state, law, readings, belief, rule, and envelope, each with an owner.</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belief holds all the readings say; for linear laws the Kalman filter computes it, and its error settles where the law and the readings balance.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Deciding on a twin costs the value of the information it lacks, and its margins must grow with its error; certainty equivalence holds only in the quadratic world.</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correct twin is never surprised on average; a cumulative sum of its surprises finds a changed law as fast as any test with as few false alarms.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Autonomy is a declared envelope: a guardrail, escalation on the monitor's alarm, and stability when both loops are stable. Meridian's twin costs $11.1 million more than the count, and its monitor is what keeps it honest.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202</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95</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26215</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AXIOM-15</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2.15</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DCT_V2_Ch15_Lab.ipynb: Worked Example 15.1 and the lab's five steps in six panels, with the book's seeds,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DCT_V2_Ch15_Lab.xlsx: the filter's variances, one program, Table 15.3, the margins, the bias and the cumulative sum,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Meridian runs its whole program</a:t>
            </a:r>
            <a:endParaRPr lang="en-US" sz="3200" dirty="0"/>
          </a:p>
        </p:txBody>
      </p:sp>
      <p:pic>
        <p:nvPicPr>
          <p:cNvPr id="5" name="Equation" descr="Equation: J^{*}(\text{state}) \;\le\; J^{*}(\text{twin's readings}) \;\le\; J^{*}(\text{coarser readings}) \;\le\; J^{*}(\text{none})">    </p:cNvPr>
          <p:cNvPicPr>
            <a:picLocks noChangeAspect="1"/>
          </p:cNvPicPr>
          <p:nvPr/>
        </p:nvPicPr>
        <p:blipFill>
          <a:blip r:embed="rId1"/>
          <a:stretch>
            <a:fillRect/>
          </a:stretch>
        </p:blipFill>
        <p:spPr>
          <a:xfrm>
            <a:off x="548640" y="1691995"/>
            <a:ext cx="11094415" cy="547930"/>
          </a:xfrm>
          <a:prstGeom prst="rect">
            <a:avLst/>
          </a:prstGeom>
        </p:spPr>
      </p:pic>
      <p:sp>
        <p:nvSpPr>
          <p:cNvPr id="6" name="Bullets"/>
          <p:cNvSpPr txBox="1"/>
          <p:nvPr/>
        </p:nvSpPr>
        <p:spPr>
          <a:xfrm>
            <a:off x="548640" y="2559965"/>
            <a:ext cx="11094415" cy="3612235"/>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This chapter kept a declared model running: a belief from the readings, margins sized to its error, a monitor, and an envelope</a:t>
            </a:r>
            <a:endParaRPr lang="en-US" sz="1800" dirty="0"/>
          </a:p>
          <a:p>
            <a:pPr marL="228600" indent="-228600">
              <a:spcAft>
                <a:spcPts val="800"/>
              </a:spcAft>
              <a:buSzPct val="100000"/>
              <a:buChar char="•"/>
            </a:pPr>
            <a:r>
              <a:rPr lang="en-US" sz="1800" dirty="0">
                <a:solidFill>
                  <a:schemeClr val="bg1"/>
                </a:solidFill>
              </a:rPr>
              <a:t>Chapter 16, Enterprise Applications and Integrated Transformation Case Studies, opens Part V, Applications and Synthesis</a:t>
            </a:r>
            <a:endParaRPr lang="en-US" sz="1800" dirty="0"/>
          </a:p>
          <a:p>
            <a:pPr marL="228600" indent="-228600">
              <a:spcAft>
                <a:spcPts val="800"/>
              </a:spcAft>
              <a:buSzPct val="100000"/>
              <a:buChar char="•"/>
            </a:pPr>
            <a:r>
              <a:rPr lang="en-US" sz="1800" dirty="0">
                <a:solidFill>
                  <a:schemeClr val="bg1"/>
                </a:solidFill>
              </a:rPr>
              <a:t>Its Worked Example 16.1 asks: Can Meridian Run Its Whole Program?</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15: Enterprise Digital Twins and Autonomous Enterprise Transformation</dc:title>
  <dc:subject>Slides for Volume II, Chapter 15 (V56)</dc:subject>
  <dc:creator>Samir Asaf</dc:creator>
  <cp:lastModifiedBy>Samir Asaf</cp:lastModifiedBy>
  <cp:revision>1</cp:revision>
  <dcterms:created xsi:type="dcterms:W3CDTF">2026-10-06T07:09:19Z</dcterms:created>
  <dcterms:modified xsi:type="dcterms:W3CDTF">2026-10-06T07:09:19Z</dcterms:modified>
</cp:coreProperties>
</file>