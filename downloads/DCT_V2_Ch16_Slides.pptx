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46420945-22a3-8ee7-fa16-4bf9779f9771}">
          <p14:sldIdLst>
            <p14:sldId id="256"/>
            <p14:sldId id="257"/>
            <p14:sldId id="258"/>
            <p14:sldId id="259"/>
          </p14:sldIdLst>
        </p14:section>
        <p14:section name="16.1 One Program from Many Pieces" id="{99d69ee7-7f35-b971-6686-3123e00851d8}">
          <p14:sldIdLst>
            <p14:sldId id="260"/>
            <p14:sldId id="261"/>
          </p14:sldIdLst>
        </p14:section>
        <p14:section name="16.2 Roadmaps: Order and Timing Are Computed" id="{9673894e-0075-1982-e979-846c7b27cb41}">
          <p14:sldIdLst>
            <p14:sldId id="262"/>
            <p14:sldId id="263"/>
          </p14:sldIdLst>
        </p14:section>
        <p14:section name="16.3 Capital Allocation by Internal Prices" id="{0c783a61-e01f-5eff-ec79-52ea7e3f08d1}">
          <p14:sldIdLst>
            <p14:sldId id="264"/>
            <p14:sldId id="265"/>
          </p14:sldIdLst>
        </p14:section>
        <p14:section name="16.4 Certified Decisions and Triggers" id="{7be1fd8a-f794-6da0-d4bc-5866ccb2e9fd}">
          <p14:sldIdLst>
            <p14:sldId id="266"/>
            <p14:sldId id="267"/>
          </p14:sldIdLst>
        </p14:section>
        <p14:section name="16.5 Seven Enterprises, One Method" id="{2d7b4a60-14c5-76dc-f535-9ca2b83d587f}">
          <p14:sldIdLst>
            <p14:sldId id="268"/>
          </p14:sldIdLst>
        </p14:section>
        <p14:section name="Worked Example 16.1" id="{4f862384-0cf6-c2c8-5fe3-86fb9b86ad87}">
          <p14:sldIdLst>
            <p14:sldId id="269"/>
            <p14:sldId id="270"/>
            <p14:sldId id="271"/>
            <p14:sldId id="272"/>
            <p14:sldId id="273"/>
          </p14:sldIdLst>
        </p14:section>
        <p14:section name="In Practice" id="{6a9a7f06-778b-4ae8-f435-a335b492538a}">
          <p14:sldIdLst>
            <p14:sldId id="274"/>
          </p14:sldIdLst>
        </p14:section>
        <p14:section name="AXIOM Lab 2.16" id="{e9cbcf0b-5b71-bd5e-1d8a-79a30c4ad09d}">
          <p14:sldIdLst>
            <p14:sldId id="275"/>
          </p14:sldIdLst>
        </p14:section>
        <p14:section name="Close" id="{4009245f-b836-ca3b-f45f-24817e51b4a3}">
          <p14:sldIdLst>
            <p14:sldId id="276"/>
            <p14:sldId id="277"/>
            <p14:sldId id="27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Volume II, Chapter 16, the last chapter of Volume II and of the series. Volume II certified Meridian's decisions one piece at a time: the build's financing, the sale, the automation rounds, the capability rule, and the twin that runs it. This chapter puts the pieces into one program and delivers what the framework promised: a roadmap, internal prices, and a certified decision. The Worked Example signs Meridian's program: the sale first, rounds in years 1 to 3, payouts held for two years, and a $21.4 million package, worth $1,039.4 million; Chapter 5's plan and Volume I's package, signed together, would breach the floor on 74 percent of paths (abstract).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Robert Solow's remark named the productivity paradox (Further Reading). Pieces that each work need not show up in the whole; this chapter certifies the whole (Section 16.1).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five learning outcome statements; LOS Guidance at the end of the chapter.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Formal statements and proofs of Theorems 16.1-16.3 are in Appendix 16.A; Propositions 16.1-16.3, how the program is computed on one account (Remark 16.B.1) and every number of the Worked Example and the figures (Example 16.B.2) are in Online Appendix 16.B. The four outputs Volume I's map promised: roadmaps, capital allocation, execution on a twin, and certified decisions.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Definition 16.1: a program is a set of pieces, each with its decisions, value, commitments and owner, acting on shared stocks such as liquidity or capability; a piece's claim is what it uses of a stock's room; the joint check asks whether all the claims fit the room together, at every date, with the declared chance. Theorem 16.1; formal statement and proof in Appendix 16.A. The claims at quarter 9 are the build's draw, the rounds less their savings, the payouts made, and the closure buffer the line leaves uncovered (Figure 16.1(b)); with no deviations and no closures the plan itself keeps $7 million (Step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Table 16.1: Meridian's program, the pieces, where each was certified, and the stocks they share. The rounds and the build draw on the same cash, the sale changes the cash both use, and the rounds and the build both need capability. A program whose pieces disagree about what they share fails Volume I's consistency gate before any joint check (Scope and limits; Volume I, Theorem 16.4).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Definition 16.2 and Theorem 16.2; formal statement and proof in Appendix 16.A. Held and Karp solved sequencing by dynamic programming over subsets; Arrow and Fisher and Henry found the irreversibility effect. Sold with its engineers the sale would take capability to 53, below the 55 the build and the rounds need, and its order would matter (Volume I, Worked Example 3.1). The sale first is worth $100.5 million: $69.1 million paid out at the end of year 3 and $31.3 million of levers it makes unnecessary (Worked Example 16.1, Step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Proposition 16.1 and Proposition 16.2; formal statements and proofs in Online Appendix 16.B. Stable start and end do not make the phases between them stable: add the link first and the core passes through 1.025; trim first and it passes through 0.61. The milestone is 'link and trim together, or trim first', and it traces to a viability condition. Waiting: the project costs 100 and will be worth 150 or 60 with equal odds; the expected loss waiting avoids, 20, exceeds what waiting costs, 2.27 (Online Appendix 16.B).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Proposition 16.3; formal statement and proof in Online Appendix 16.B. Each price is the value of one more unit of a stock where it binds: a dollar of room at the build's trough, a point of the appetite, a point of capability on its floor. Part (iii) is Chapter 5's war chest worked out (Proposition 5.3): a dollar paid in year 1 rather than at the end of year 3 earns β − β³ = 0.158 and spends 0.204 points of chance (Online Appendix 16.B). Everett, Dantzig and Wolfe, and Arrow and Hurwicz read prices as decentralization.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 16.2 and Worked Example 16.1, Steps 3-4. The rounds in years 4-6 and the payouts after the build touch only the planned path, so a war chest prices them exactly; only the rounds in years 1-3 and the payouts in years 1-2 meet the build's paths, and for each the cheapest package is a quantile of the paths' critical depths, on 100,000 paths (Section 16.3, Computational note).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Definition 16.3 and Theorem 16.3; formal statement and proof in Appendix 16.A. The region is computed along the doubts Chapter 11 declared, the closure rate and the spread; a doubt the board has not declared has no region and no trigger. How fast an estimate notices a change is the monitor's business (Theorem 15.3). Fiacco, Bonnans and Shapiro, and Ben-Tal, El Ghaoui and Nemirovski develop sensitivity and regions.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 16.3 and Worked Example 16.1, Steps 5-6. The records' family is Chapter 11's: the treasury's two closures in twenty years and the engineering office's forty quarters of deviations, at their one-sided 95 percent bounds. At the corner the best program keeps the rounds in years 1-3 with a $200 million line and 3.44 quarters, $33.52 million, against $21.37 million at the declared law; Chapter 11's price of ambiguity for the build alone was $13.56 million (Step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Table 16.2 holds no numbers on purpose: each enterprise must declare its own. The three lessons that travel (Section 16.5): the shared stocks decide the program's shape; the commitments decide the method, since a probability, a bounded set, or a family of laws are different problems and several owners' objectives are a frontier before they are a choice; and learned parts and twins enter under the same terms as everything else. The author's work applies the same discipline to private capital, where a fund's cash, its investors' calls and its holdings' illiquid values are shared stocks of one program.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Worked Example 16.1, the situation and Step 1. The treasury puts everything on one account: liquidity is Volume I's plan for the build plus the automation program's cash and the sale's proceeds; Volume I's Worked Example 6.1 had assumed the rest of Meridian's cash flows left liquidity unchanged. The sale closes at the start with the engineers kept, for $92 million. The program's value is Chapter 5's, payouts at 10 percent plus the year-6 savings forever at the board's $5.645 a dollar a year, less the levers' cost.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Worked Example 16.1, Steps 1-6; Online Appendix Example 16.B.2. Step 4: the payouts then run $189.9, $160.4, $158.8 and $32.7 million in years 3-6, and the program meets the appetite at 5.00 percent (fresh paths 4.99 percent). Step 6: the certificate chain is each chapter's certificate plus the joint check; the triggers are the region's edges, the twin's monitor, and Volume I's feedback core, whose new link lands with its trim.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 16.1 and Worked Example 16.1, Step 2. The claims at quarter 9 are the build's draw, the rounds less their savings, the payouts made, and the closure buffer the line leaves uncovered, against the room above the floor: $270 million, or $362 million with the sale (Online Appendix Example 16.B.2).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Table 16.3. Every answer is checked on 100,000 fresh paths: the best program breaches on 4.99 percent of them, round 3 on its trigger on 5.00 percent (Online Appendix Example 16.B.2).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Worked Example 16.1, what the board should take away, and the discussion questions: the best program delays the platform by two quarters to keep round 3 in year 3; which owner should decide that trade, and at what price? What would change if the board split its appetite between the build and the rounds?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Practice, Chapter 16: Banks Put a Price on Their Liquidity. A real organization's decision of this chapter's kind, told from its published record; every figure is cited in the book. The lesson for Meridian: UBS funded every line at one favorable rate: certify the sum, not the parts, and price the shared stock. Sources: Grant (2011), BIS FSI; Basel Committee (2008); Senior Supervisors Group (2008, 2009); Swiss Federal Banking Commission (2008); CEBS (2010); SR 16-3 (2016).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AXIOM Lab 2.16. What to look for: pieces that fail together (Theorem 16.1(i)); a sale that must come first (Theorem 16.2(ii)); levers bought at the appetite's price and payouts held below it (Theorem 16.1(iii)); a trigger worth more than any commitment (Theorem 16.2(iii)); and a program with no slack until a margin buys a region (Theorem 16.3).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Takeaways, Chapter 16.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notebook and workbook are on the course website, www.dynamiccorporatetransformation.com. The paths are Chapter 9's, drawn from Volume I's stream with seed 8 and checked on fresh paths drawn with seed 26209; the lab's seed is used only for new draws.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last slide of the series. Volume I's last chapter ran the seven moves of the DCT Map as a loop, the transformation lifecycle, with readiness gates before optimizing. Volume II's last chapter closes the loop for Meridian: a roadmap whose order and milestones are computed (Execute), a twin that watches the certificates (Monitor), and triggers stated in advance (Adapt): keep the program while the estimates stay inside the certified region of Theorem 16.3, and re-certify at the first exit or alarm.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image" Target="../media/image-1005-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CT Title">
    <p:bg>
      <p:bgPr>
        <a:solidFill>
          <a:srgbClr val="0F1E3D"/>
        </a:solidFill>
      </p:bgPr>
    </p:bg>
    <p:spTree>
      <p:nvGrpSpPr>
        <p:cNvPr id="1" name=""/>
        <p:cNvGrpSpPr/>
        <p:nvPr/>
      </p:nvGrpSpPr>
      <p:grpSpPr>
        <a:xfrm>
          <a:off x="0" y="0"/>
          <a:ext cx="0" cy="0"/>
          <a:chOff x="0" y="0"/>
          <a:chExt cx="0" cy="0"/>
        </a:xfrm>
      </p:grpSpPr>
      <p:pic>
        <p:nvPicPr>
          <p:cNvPr id="2" name="Image 0" descr="/home/claude/pixel-perfect-show-8533/public/brand/dct-logo-dark.png">    </p:cNvPr>
          <p:cNvPicPr>
            <a:picLocks noChangeAspect="1"/>
          </p:cNvPicPr>
          <p:nvPr/>
        </p:nvPicPr>
        <p:blipFill>
          <a:blip r:embed="rId1"/>
          <a:stretch>
            <a:fillRect/>
          </a:stretch>
        </p:blipFill>
        <p:spPr>
          <a:xfrm>
            <a:off x="731520" y="640080"/>
            <a:ext cx="4389120" cy="363931"/>
          </a:xfrm>
          <a:prstGeom prst="rect">
            <a:avLst/>
          </a:prstGeom>
        </p:spPr>
      </p:pic>
      <p:sp>
        <p:nvSpPr>
          <p:cNvPr id="3" name="Text 0"/>
          <p:cNvSpPr/>
          <p:nvPr>
            <p:ph idx="101" type="body" hasCustomPrompt="1"/>
          </p:nvPr>
        </p:nvSpPr>
        <p:spPr>
          <a:xfrm>
            <a:off x="731520" y="1874520"/>
            <a:ext cx="10607040" cy="411480"/>
          </a:xfrm>
          <a:prstGeom prst="rect">
            <a:avLst/>
          </a:prstGeom>
          <a:noFill/>
          <a:ln/>
        </p:spPr>
        <p:txBody>
          <a:bodyPr wrap="square" rtlCol="0"/>
          <a:lstStyle>
            <a:lvl1pPr indent="0" marL="0">
              <a:buNone/>
              <a:defRPr lang="en-US" sz="1500" b="1" spc="300" kern="0" dirty="0">
                <a:solidFill>
                  <a:schemeClr val="accent1"/>
                </a:solidFill>
              </a:defRPr>
            </a:lvl1pPr>
          </a:lstStyle>
          <a:p>
            <a:pPr indent="0" marL="0">
              <a:buNone/>
            </a:pPr>
            <a:endParaRPr lang="en-US" sz="1500" dirty="0"/>
          </a:p>
        </p:txBody>
      </p:sp>
      <p:sp>
        <p:nvSpPr>
          <p:cNvPr id="4" name="Text 0"/>
          <p:cNvSpPr/>
          <p:nvPr>
            <p:ph idx="102" type="title" hasCustomPrompt="1"/>
          </p:nvPr>
        </p:nvSpPr>
        <p:spPr>
          <a:xfrm>
            <a:off x="731520" y="2331720"/>
            <a:ext cx="10607040" cy="1737360"/>
          </a:xfrm>
          <a:prstGeom prst="rect">
            <a:avLst/>
          </a:prstGeom>
          <a:noFill/>
          <a:ln/>
        </p:spPr>
        <p:txBody>
          <a:bodyPr wrap="square" rtlCol="0"/>
          <a:lstStyle>
            <a:lvl1pPr algn="l" indent="0" marL="0">
              <a:buNone/>
              <a:defRPr lang="en-US" sz="44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4400" dirty="0"/>
          </a:p>
        </p:txBody>
      </p:sp>
      <p:sp>
        <p:nvSpPr>
          <p:cNvPr id="5" name="Text 0"/>
          <p:cNvSpPr/>
          <p:nvPr>
            <p:ph idx="103" type="body" hasCustomPrompt="1"/>
          </p:nvPr>
        </p:nvSpPr>
        <p:spPr>
          <a:xfrm>
            <a:off x="731520" y="4160520"/>
            <a:ext cx="10241280" cy="914400"/>
          </a:xfrm>
          <a:prstGeom prst="rect">
            <a:avLst/>
          </a:prstGeom>
          <a:noFill/>
          <a:ln/>
        </p:spPr>
        <p:txBody>
          <a:bodyPr wrap="square" rtlCol="0"/>
          <a:lstStyle>
            <a:lvl1pPr indent="0" marL="0">
              <a:buNone/>
              <a:defRPr lang="en-US" sz="2000" dirty="0">
                <a:solidFill>
                  <a:schemeClr val="bg2"/>
                </a:solidFill>
              </a:defRPr>
            </a:lvl1pPr>
          </a:lstStyle>
          <a:p>
            <a:pPr indent="0" marL="0">
              <a:buNone/>
            </a:pPr>
            <a:endParaRPr lang="en-US" sz="2000" dirty="0"/>
          </a:p>
        </p:txBody>
      </p:sp>
      <p:sp>
        <p:nvSpPr>
          <p:cNvPr id="6" name="Text 0"/>
          <p:cNvSpPr/>
          <p:nvPr>
            <p:ph idx="104" type="body" hasCustomPrompt="1"/>
          </p:nvPr>
        </p:nvSpPr>
        <p:spPr>
          <a:xfrm>
            <a:off x="731520" y="5897880"/>
            <a:ext cx="10607040" cy="365760"/>
          </a:xfrm>
          <a:prstGeom prst="rect">
            <a:avLst/>
          </a:prstGeom>
          <a:noFill/>
          <a:ln/>
        </p:spPr>
        <p:txBody>
          <a:bodyPr wrap="square" rtlCol="0"/>
          <a:lstStyle>
            <a:lvl1pPr indent="0" marL="0">
              <a:buNone/>
              <a:defRPr lang="en-US" sz="1200" dirty="0">
                <a:solidFill>
                  <a:schemeClr val="accent4"/>
                </a:solidFill>
              </a:defRPr>
            </a:lvl1pPr>
          </a:lstStyle>
          <a:p>
            <a:pPr indent="0" marL="0">
              <a:buNone/>
            </a:pPr>
            <a:endParaRPr lang="en-US" sz="1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CT Quote">
    <p:bg>
      <p:bgPr>
        <a:solidFill>
          <a:srgbClr val="0F1E3D"/>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1280160" y="1371600"/>
            <a:ext cx="9601200" cy="3017520"/>
          </a:xfrm>
          <a:prstGeom prst="rect">
            <a:avLst/>
          </a:prstGeom>
          <a:noFill/>
          <a:ln/>
        </p:spPr>
        <p:txBody>
          <a:bodyPr wrap="square" rtlCol="0"/>
          <a:lstStyle>
            <a:lvl1pPr indent="0" marL="0">
              <a:buNone/>
              <a:defRPr lang="en-US" sz="3000" i="1" dirty="0">
                <a:solidFill>
                  <a:schemeClr val="bg1"/>
                </a:solidFill>
                <a:latin typeface="Cambria" pitchFamily="34" charset="0"/>
                <a:ea typeface="Cambria" pitchFamily="34" charset="-122"/>
                <a:cs typeface="Cambria" pitchFamily="34" charset="-120"/>
              </a:defRPr>
            </a:lvl1pPr>
          </a:lstStyle>
          <a:p>
            <a:pPr indent="0" marL="0">
              <a:buNone/>
            </a:pPr>
            <a:endParaRPr lang="en-US" sz="3000" dirty="0"/>
          </a:p>
        </p:txBody>
      </p:sp>
      <p:sp>
        <p:nvSpPr>
          <p:cNvPr id="3" name="Text 0"/>
          <p:cNvSpPr/>
          <p:nvPr>
            <p:ph idx="101" type="body" hasCustomPrompt="1"/>
          </p:nvPr>
        </p:nvSpPr>
        <p:spPr>
          <a:xfrm>
            <a:off x="1280160" y="4617720"/>
            <a:ext cx="9601200" cy="457200"/>
          </a:xfrm>
          <a:prstGeom prst="rect">
            <a:avLst/>
          </a:prstGeom>
          <a:noFill/>
          <a:ln/>
        </p:spPr>
        <p:txBody>
          <a:bodyPr wrap="square" rtlCol="0"/>
          <a:lstStyle>
            <a:lvl1pPr indent="0" marL="0">
              <a:buNone/>
              <a:defRPr lang="en-US" sz="1800" b="1" dirty="0">
                <a:solidFill>
                  <a:schemeClr val="accent1"/>
                </a:solidFill>
              </a:defRPr>
            </a:lvl1pPr>
          </a:lstStyle>
          <a:p>
            <a:pPr indent="0" marL="0">
              <a:buNone/>
            </a:pPr>
            <a:endParaRPr lang="en-US" sz="1800" dirty="0"/>
          </a:p>
        </p:txBody>
      </p:sp>
      <p:sp>
        <p:nvSpPr>
          <p:cNvPr id="4" name="Text 0"/>
          <p:cNvSpPr/>
          <p:nvPr>
            <p:ph idx="102" type="body" hasCustomPrompt="1"/>
          </p:nvPr>
        </p:nvSpPr>
        <p:spPr>
          <a:xfrm>
            <a:off x="1280160" y="5074920"/>
            <a:ext cx="9601200" cy="731520"/>
          </a:xfrm>
          <a:prstGeom prst="rect">
            <a:avLst/>
          </a:prstGeom>
          <a:noFill/>
          <a:ln/>
        </p:spPr>
        <p:txBody>
          <a:bodyPr wrap="square" rtlCol="0"/>
          <a:lstStyle>
            <a:lvl1pPr indent="0" marL="0">
              <a:buNone/>
              <a:defRPr lang="en-US" sz="1400" dirty="0">
                <a:solidFill>
                  <a:schemeClr val="accent4"/>
                </a:solidFill>
              </a:defRPr>
            </a:lvl1pPr>
          </a:lstStyle>
          <a:p>
            <a:pPr indent="0" marL="0">
              <a:buNone/>
            </a:pPr>
            <a:endParaRPr lang="en-US" sz="14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CT Content">
    <p:bg>
      <p:bgPr>
        <a:solidFill>
          <a:srgbClr val="FFFFFF"/>
        </a:solidFill>
      </p:bgPr>
    </p:bg>
    <p:spTree>
      <p:nvGrpSpPr>
        <p:cNvPr id="1" name=""/>
        <p:cNvGrpSpPr/>
        <p:nvPr/>
      </p:nvGrpSpPr>
      <p:grpSpPr>
        <a:xfrm>
          <a:off x="0" y="0"/>
          <a:ext cx="0" cy="0"/>
          <a:chOff x="0" y="0"/>
          <a:chExt cx="0" cy="0"/>
        </a:xfrm>
      </p:grpSpPr>
      <p:pic>
        <p:nvPicPr>
          <p:cNvPr id="2" name="Image 0" descr="/home/claude/pixel-perfect-show-8533/public/brand/dct-mark.png">    </p:cNvPr>
          <p:cNvPicPr>
            <a:picLocks noChangeAspect="1"/>
          </p:cNvPicPr>
          <p:nvPr/>
        </p:nvPicPr>
        <p:blipFill>
          <a:blip r:embed="rId1"/>
          <a:stretch>
            <a:fillRect/>
          </a:stretch>
        </p:blipFill>
        <p:spPr>
          <a:xfrm>
            <a:off x="548640" y="6391656"/>
            <a:ext cx="155448" cy="188390"/>
          </a:xfrm>
          <a:prstGeom prst="rect">
            <a:avLst/>
          </a:prstGeom>
        </p:spPr>
      </p:pic>
      <p:sp>
        <p:nvSpPr>
          <p:cNvPr id="3" name="Text 0"/>
          <p:cNvSpPr/>
          <p:nvPr/>
        </p:nvSpPr>
        <p:spPr>
          <a:xfrm>
            <a:off x="822960" y="6382512"/>
            <a:ext cx="8686800" cy="237744"/>
          </a:xfrm>
          <a:prstGeom prst="rect">
            <a:avLst/>
          </a:prstGeom>
          <a:noFill/>
          <a:ln/>
        </p:spPr>
        <p:txBody>
          <a:bodyPr wrap="square" lIns="0" tIns="0" rIns="0" bIns="0" rtlCol="0" anchor="ctr"/>
          <a:lstStyle/>
          <a:p>
            <a:pPr indent="0" marL="0">
              <a:buNone/>
            </a:pPr>
            <a:r>
              <a:rPr lang="en-US" sz="1000" dirty="0">
                <a:solidFill>
                  <a:schemeClr val="tx2"/>
                </a:solidFill>
              </a:rPr>
              <a:t>Dynamic Corporate Transformation · Volume II · Chapter 16</a:t>
            </a:r>
            <a:endParaRPr lang="en-US" sz="1000" dirty="0"/>
          </a:p>
        </p:txBody>
      </p:sp>
      <p:sp>
        <p:nvSpPr>
          <p:cNvPr id="4" name="Text 1"/>
          <p:cNvSpPr/>
          <p:nvPr>
            <p:ph idx="102" type="body" hasCustomPrompt="1"/>
          </p:nvPr>
        </p:nvSpPr>
        <p:spPr>
          <a:xfrm>
            <a:off x="548640" y="347472"/>
            <a:ext cx="11094415" cy="292608"/>
          </a:xfrm>
          <a:prstGeom prst="rect">
            <a:avLst/>
          </a:prstGeom>
          <a:noFill/>
          <a:ln/>
        </p:spPr>
        <p:txBody>
          <a:bodyPr wrap="square" rtlCol="0"/>
          <a:lstStyle>
            <a:lvl1pPr indent="0" marL="0">
              <a:buNone/>
              <a:defRPr lang="en-US" sz="1200" b="1" spc="200" kern="0" dirty="0">
                <a:solidFill>
                  <a:schemeClr val="accent1"/>
                </a:solidFill>
              </a:defRPr>
            </a:lvl1pPr>
          </a:lstStyle>
          <a:p>
            <a:pPr indent="0" marL="0">
              <a:buNone/>
            </a:pPr>
            <a:endParaRPr lang="en-US" sz="1200" dirty="0"/>
          </a:p>
        </p:txBody>
      </p:sp>
      <p:sp>
        <p:nvSpPr>
          <p:cNvPr id="5" name="Text 1"/>
          <p:cNvSpPr/>
          <p:nvPr>
            <p:ph idx="103" type="title" hasCustomPrompt="1"/>
          </p:nvPr>
        </p:nvSpPr>
        <p:spPr>
          <a:xfrm>
            <a:off x="548640" y="658368"/>
            <a:ext cx="11094415" cy="868680"/>
          </a:xfrm>
          <a:prstGeom prst="rect">
            <a:avLst/>
          </a:prstGeom>
          <a:noFill/>
          <a:ln/>
        </p:spPr>
        <p:txBody>
          <a:bodyPr wrap="square" rtlCol="0"/>
          <a:lstStyle>
            <a:lvl1pPr algn="l" indent="0" marL="0">
              <a:buNone/>
              <a:defRPr lang="en-US" sz="32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DCT Dark Content">
    <p:bg>
      <p:bgPr>
        <a:solidFill>
          <a:srgbClr val="0F1E3D"/>
        </a:solidFill>
      </p:bgPr>
    </p:bg>
    <p:spTree>
      <p:nvGrpSpPr>
        <p:cNvPr id="1" name=""/>
        <p:cNvGrpSpPr/>
        <p:nvPr/>
      </p:nvGrpSpPr>
      <p:grpSpPr>
        <a:xfrm>
          <a:off x="0" y="0"/>
          <a:ext cx="0" cy="0"/>
          <a:chOff x="0" y="0"/>
          <a:chExt cx="0" cy="0"/>
        </a:xfrm>
      </p:grpSpPr>
      <p:pic>
        <p:nvPicPr>
          <p:cNvPr id="2" name="Image 0" descr="/home/claude/pixel-perfect-show-8533/public/brand/dct-mark-dark.png">    </p:cNvPr>
          <p:cNvPicPr>
            <a:picLocks noChangeAspect="1"/>
          </p:cNvPicPr>
          <p:nvPr/>
        </p:nvPicPr>
        <p:blipFill>
          <a:blip r:embed="rId1"/>
          <a:stretch>
            <a:fillRect/>
          </a:stretch>
        </p:blipFill>
        <p:spPr>
          <a:xfrm>
            <a:off x="548640" y="6391656"/>
            <a:ext cx="155448" cy="188390"/>
          </a:xfrm>
          <a:prstGeom prst="rect">
            <a:avLst/>
          </a:prstGeom>
        </p:spPr>
      </p:pic>
      <p:sp>
        <p:nvSpPr>
          <p:cNvPr id="3" name="Text 0"/>
          <p:cNvSpPr/>
          <p:nvPr/>
        </p:nvSpPr>
        <p:spPr>
          <a:xfrm>
            <a:off x="822960" y="6382512"/>
            <a:ext cx="8686800" cy="237744"/>
          </a:xfrm>
          <a:prstGeom prst="rect">
            <a:avLst/>
          </a:prstGeom>
          <a:noFill/>
          <a:ln/>
        </p:spPr>
        <p:txBody>
          <a:bodyPr wrap="square" lIns="0" tIns="0" rIns="0" bIns="0" rtlCol="0" anchor="ctr"/>
          <a:lstStyle/>
          <a:p>
            <a:pPr indent="0" marL="0">
              <a:buNone/>
            </a:pPr>
            <a:r>
              <a:rPr lang="en-US" sz="1000" dirty="0">
                <a:solidFill>
                  <a:schemeClr val="accent4"/>
                </a:solidFill>
              </a:rPr>
              <a:t>Dynamic Corporate Transformation · Volume II · Chapter 16</a:t>
            </a:r>
            <a:endParaRPr lang="en-US" sz="1000" dirty="0"/>
          </a:p>
        </p:txBody>
      </p:sp>
      <p:sp>
        <p:nvSpPr>
          <p:cNvPr id="4" name="Text 1"/>
          <p:cNvSpPr/>
          <p:nvPr>
            <p:ph idx="102" type="body" hasCustomPrompt="1"/>
          </p:nvPr>
        </p:nvSpPr>
        <p:spPr>
          <a:xfrm>
            <a:off x="548640" y="347472"/>
            <a:ext cx="11094415" cy="292608"/>
          </a:xfrm>
          <a:prstGeom prst="rect">
            <a:avLst/>
          </a:prstGeom>
          <a:noFill/>
          <a:ln/>
        </p:spPr>
        <p:txBody>
          <a:bodyPr wrap="square" rtlCol="0"/>
          <a:lstStyle>
            <a:lvl1pPr indent="0" marL="0">
              <a:buNone/>
              <a:defRPr lang="en-US" sz="1200" b="1" spc="200" kern="0" dirty="0">
                <a:solidFill>
                  <a:schemeClr val="accent1"/>
                </a:solidFill>
              </a:defRPr>
            </a:lvl1pPr>
          </a:lstStyle>
          <a:p>
            <a:pPr indent="0" marL="0">
              <a:buNone/>
            </a:pPr>
            <a:endParaRPr lang="en-US" sz="1200" dirty="0"/>
          </a:p>
        </p:txBody>
      </p:sp>
      <p:sp>
        <p:nvSpPr>
          <p:cNvPr id="5" name="Text 1"/>
          <p:cNvSpPr/>
          <p:nvPr>
            <p:ph idx="103" type="title" hasCustomPrompt="1"/>
          </p:nvPr>
        </p:nvSpPr>
        <p:spPr>
          <a:xfrm>
            <a:off x="548640" y="658368"/>
            <a:ext cx="11094415" cy="868680"/>
          </a:xfrm>
          <a:prstGeom prst="rect">
            <a:avLst/>
          </a:prstGeom>
          <a:noFill/>
          <a:ln/>
        </p:spPr>
        <p:txBody>
          <a:bodyPr wrap="square" rtlCol="0"/>
          <a:lstStyle>
            <a:lvl1pPr algn="l" indent="0" marL="0">
              <a:buNone/>
              <a:defRPr lang="en-US" sz="32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C4CBD8"/>
                </a:solidFill>
              </a:defRPr>
            </a:lvl1pPr>
          </a:lstStyle>
          <a:p>
            <a:pPr algn="r"/>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4.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4.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4.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4.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4.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4.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4.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4.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5.xml"/><Relationship Id="rId3"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ext 0"/>
          <p:cNvSpPr/>
          <p:nvPr>
            <p:ph idx="101" type="body" hasCustomPrompt="1"/>
          </p:nvPr>
        </p:nvSpPr>
        <p:spPr>
          <a:xfrm>
            <a:off x="731520" y="1874520"/>
            <a:ext cx="10607040" cy="411480"/>
          </a:xfrm>
          <a:prstGeom prst="rect">
            <a:avLst/>
          </a:prstGeom>
          <a:noFill/>
          <a:ln/>
        </p:spPr>
        <p:txBody>
          <a:bodyPr wrap="square" lIns="0" tIns="0" rIns="0" bIns="0" rtlCol="0"/>
          <a:lstStyle/>
          <a:p>
            <a:pPr indent="0" marL="0">
              <a:buNone/>
            </a:pPr>
            <a:r>
              <a:rPr lang="en-US" sz="1500" b="1" spc="300" kern="0" dirty="0">
                <a:solidFill>
                  <a:schemeClr val="accent1"/>
                </a:solidFill>
              </a:rPr>
              <a:t>VOLUME II · CHAPTER 16 · WEEK 14</a:t>
            </a:r>
            <a:endParaRPr lang="en-US" sz="1500" dirty="0"/>
          </a:p>
        </p:txBody>
      </p:sp>
      <p:sp>
        <p:nvSpPr>
          <p:cNvPr id="4" name="Text 0"/>
          <p:cNvSpPr/>
          <p:nvPr>
            <p:ph idx="102" type="title" hasCustomPrompt="1"/>
          </p:nvPr>
        </p:nvSpPr>
        <p:spPr>
          <a:xfrm>
            <a:off x="731520" y="2331720"/>
            <a:ext cx="10607040" cy="1737360"/>
          </a:xfrm>
          <a:prstGeom prst="rect">
            <a:avLst/>
          </a:prstGeom>
          <a:noFill/>
          <a:ln/>
        </p:spPr>
        <p:txBody>
          <a:bodyPr wrap="square" lIns="0" tIns="0" rIns="0" bIns="0" rtlCol="0" anchor="t"/>
          <a:lstStyle/>
          <a:p>
            <a:pPr algn="l" indent="0" marL="0">
              <a:buNone/>
            </a:pPr>
            <a:r>
              <a:rPr lang="en-US" sz="4400" b="1" dirty="0">
                <a:solidFill>
                  <a:schemeClr val="bg1"/>
                </a:solidFill>
                <a:latin typeface="Cambria" pitchFamily="34" charset="0"/>
                <a:ea typeface="Cambria" pitchFamily="34" charset="-122"/>
                <a:cs typeface="Cambria" pitchFamily="34" charset="-120"/>
              </a:rPr>
              <a:t>Enterprise Applications and Integrated Transformation Case Studies</a:t>
            </a:r>
            <a:endParaRPr lang="en-US" sz="4400" dirty="0"/>
          </a:p>
        </p:txBody>
      </p:sp>
      <p:sp>
        <p:nvSpPr>
          <p:cNvPr id="5" name="Text 0"/>
          <p:cNvSpPr/>
          <p:nvPr>
            <p:ph idx="103" type="body" hasCustomPrompt="1"/>
          </p:nvPr>
        </p:nvSpPr>
        <p:spPr>
          <a:xfrm>
            <a:off x="731520" y="4160520"/>
            <a:ext cx="10241280" cy="914400"/>
          </a:xfrm>
          <a:prstGeom prst="rect">
            <a:avLst/>
          </a:prstGeom>
          <a:noFill/>
          <a:ln/>
        </p:spPr>
        <p:txBody>
          <a:bodyPr wrap="square" lIns="0" tIns="0" rIns="0" bIns="0" rtlCol="0" anchor="t"/>
          <a:lstStyle/>
          <a:p>
            <a:pPr indent="0" marL="0">
              <a:buNone/>
            </a:pPr>
            <a:r>
              <a:rPr lang="en-US" sz="2000" dirty="0">
                <a:solidFill>
                  <a:schemeClr val="bg2"/>
                </a:solidFill>
              </a:rPr>
              <a:t>Put the pieces certified one chapter at a time into one program on one account: check them jointly, compute the order and timing, allocate by internal prices, and certify a region with its triggers</a:t>
            </a:r>
            <a:endParaRPr lang="en-US" sz="2000" dirty="0"/>
          </a:p>
        </p:txBody>
      </p:sp>
      <p:sp>
        <p:nvSpPr>
          <p:cNvPr id="6" name="Text 0"/>
          <p:cNvSpPr/>
          <p:nvPr>
            <p:ph idx="104" type="body" hasCustomPrompt="1"/>
          </p:nvPr>
        </p:nvSpPr>
        <p:spPr>
          <a:xfrm>
            <a:off x="731520" y="5897880"/>
            <a:ext cx="10607040" cy="365760"/>
          </a:xfrm>
          <a:prstGeom prst="rect">
            <a:avLst/>
          </a:prstGeom>
          <a:noFill/>
          <a:ln/>
        </p:spPr>
        <p:txBody>
          <a:bodyPr wrap="square" lIns="0" tIns="0" rIns="0" bIns="0" rtlCol="0"/>
          <a:lstStyle/>
          <a:p>
            <a:pPr indent="0" marL="0">
              <a:buNone/>
            </a:pPr>
            <a:r>
              <a:rPr lang="en-US" sz="1200" dirty="0">
                <a:solidFill>
                  <a:schemeClr val="accent4"/>
                </a:solidFill>
              </a:rPr>
              <a:t>Graduate course companion · Lab seed 26216 · AXIOM Lab 2.16 (AXIOM-16)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ext 0"/>
          <p:cNvSpPr/>
          <p:nvPr>
            <p:ph idx="100" type="body" hasCustomPrompt="1"/>
          </p:nvPr>
        </p:nvSpPr>
        <p:spPr>
          <a:xfrm>
            <a:off x="1280160" y="1371600"/>
            <a:ext cx="9601200" cy="3017520"/>
          </a:xfrm>
          <a:prstGeom prst="rect">
            <a:avLst/>
          </a:prstGeom>
          <a:noFill/>
          <a:ln/>
        </p:spPr>
        <p:txBody>
          <a:bodyPr wrap="square" lIns="0" tIns="0" rIns="0" bIns="0" rtlCol="0" anchor="b"/>
          <a:lstStyle/>
          <a:p>
            <a:pPr indent="0" marL="0">
              <a:buNone/>
            </a:pPr>
            <a:r>
              <a:rPr lang="en-US" sz="3000" i="1" dirty="0">
                <a:solidFill>
                  <a:schemeClr val="bg1"/>
                </a:solidFill>
                <a:latin typeface="Cambria" pitchFamily="34" charset="0"/>
                <a:ea typeface="Cambria" pitchFamily="34" charset="-122"/>
                <a:cs typeface="Cambria" pitchFamily="34" charset="-120"/>
              </a:rPr>
              <a:t>“You can see the computer age everywhere but in the productivity statistics.”</a:t>
            </a:r>
            <a:endParaRPr lang="en-US" sz="3000" dirty="0"/>
          </a:p>
        </p:txBody>
      </p:sp>
      <p:sp>
        <p:nvSpPr>
          <p:cNvPr id="4" name="Text 0"/>
          <p:cNvSpPr/>
          <p:nvPr>
            <p:ph idx="101" type="body" hasCustomPrompt="1"/>
          </p:nvPr>
        </p:nvSpPr>
        <p:spPr>
          <a:xfrm>
            <a:off x="1280160" y="4617720"/>
            <a:ext cx="9601200" cy="457200"/>
          </a:xfrm>
          <a:prstGeom prst="rect">
            <a:avLst/>
          </a:prstGeom>
          <a:noFill/>
          <a:ln/>
        </p:spPr>
        <p:txBody>
          <a:bodyPr wrap="square" lIns="0" tIns="0" rIns="0" bIns="0" rtlCol="0"/>
          <a:lstStyle/>
          <a:p>
            <a:pPr indent="0" marL="0">
              <a:buNone/>
            </a:pPr>
            <a:r>
              <a:rPr lang="en-US" sz="1800" b="1" dirty="0">
                <a:solidFill>
                  <a:schemeClr val="accent1"/>
                </a:solidFill>
              </a:rPr>
              <a:t>Robert M. Solow</a:t>
            </a:r>
            <a:endParaRPr lang="en-US" sz="1800" dirty="0"/>
          </a:p>
        </p:txBody>
      </p:sp>
      <p:sp>
        <p:nvSpPr>
          <p:cNvPr id="5" name="Text 0"/>
          <p:cNvSpPr/>
          <p:nvPr>
            <p:ph idx="102" type="body" hasCustomPrompt="1"/>
          </p:nvPr>
        </p:nvSpPr>
        <p:spPr>
          <a:xfrm>
            <a:off x="1280160" y="5074920"/>
            <a:ext cx="9601200" cy="731520"/>
          </a:xfrm>
          <a:prstGeom prst="rect">
            <a:avLst/>
          </a:prstGeom>
          <a:noFill/>
          <a:ln/>
        </p:spPr>
        <p:txBody>
          <a:bodyPr wrap="square" lIns="0" tIns="0" rIns="0" bIns="0" rtlCol="0" anchor="t"/>
          <a:lstStyle/>
          <a:p>
            <a:pPr indent="0" marL="0">
              <a:buNone/>
            </a:pPr>
            <a:r>
              <a:rPr lang="en-US" sz="1400" dirty="0">
                <a:solidFill>
                  <a:schemeClr val="accent4"/>
                </a:solidFill>
              </a:rPr>
              <a:t>Nobel Prize in Economic Sciences 1987; “We'd Better Watch Out,” New York Times Book Review (1987)</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LEARNING OUTCOME STATEMENTS</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After this chapter, you can</a:t>
            </a:r>
            <a:endParaRPr lang="en-US" sz="3200" dirty="0"/>
          </a:p>
        </p:txBody>
      </p:sp>
      <p:sp>
        <p:nvSpPr>
          <p:cNvPr id="5" name="Number"/>
          <p:cNvSpPr/>
          <p:nvPr/>
        </p:nvSpPr>
        <p:spPr>
          <a:xfrm>
            <a:off x="548640" y="1737360"/>
            <a:ext cx="566928" cy="566928"/>
          </a:xfrm>
          <a:prstGeom prst="ellipse">
            <a:avLst/>
          </a:prstGeom>
          <a:solidFill>
            <a:schemeClr val="accent1"/>
          </a:solidFill>
          <a:ln w="6350">
            <a:solidFill>
              <a:schemeClr val="accent1"/>
            </a:solidFill>
            <a:prstDash val="solid"/>
          </a:ln>
        </p:spPr>
      </p:sp>
      <p:sp>
        <p:nvSpPr>
          <p:cNvPr id="6" name="Text 3"/>
          <p:cNvSpPr txBox="1"/>
          <p:nvPr/>
        </p:nvSpPr>
        <p:spPr>
          <a:xfrm>
            <a:off x="548640" y="1737360"/>
            <a:ext cx="566928" cy="566928"/>
          </a:xfrm>
          <a:prstGeom prst="rect">
            <a:avLst/>
          </a:prstGeom>
          <a:noFill/>
          <a:ln/>
        </p:spPr>
        <p:txBody>
          <a:bodyPr wrap="square" lIns="0" tIns="0" rIns="0" bIns="0" rtlCol="0" anchor="ctr"/>
          <a:lstStyle/>
          <a:p>
            <a:pPr algn="ctr" indent="0" marL="0">
              <a:buNone/>
            </a:pPr>
            <a:r>
              <a:rPr lang="en-US" sz="1300" b="1" dirty="0">
                <a:solidFill>
                  <a:schemeClr val="bg1"/>
                </a:solidFill>
                <a:latin typeface="Calibri" pitchFamily="34" charset="0"/>
                <a:ea typeface="Calibri" pitchFamily="34" charset="-122"/>
                <a:cs typeface="Calibri" pitchFamily="34" charset="-120"/>
              </a:rPr>
              <a:t>16.1</a:t>
            </a:r>
            <a:endParaRPr lang="en-US" sz="1300" dirty="0"/>
          </a:p>
        </p:txBody>
      </p:sp>
      <p:sp>
        <p:nvSpPr>
          <p:cNvPr id="7" name="Row text"/>
          <p:cNvSpPr txBox="1"/>
          <p:nvPr/>
        </p:nvSpPr>
        <p:spPr>
          <a:xfrm>
            <a:off x="1325880" y="1691640"/>
            <a:ext cx="10317175" cy="841248"/>
          </a:xfrm>
          <a:prstGeom prst="rect">
            <a:avLst/>
          </a:prstGeom>
          <a:noFill/>
          <a:ln/>
        </p:spPr>
        <p:txBody>
          <a:bodyPr wrap="square" lIns="0" tIns="0" rIns="0" bIns="0" rtlCol="0" anchor="ctr"/>
          <a:lstStyle/>
          <a:p>
            <a:pPr indent="0" marL="0">
              <a:buNone/>
            </a:pPr>
            <a:r>
              <a:rPr lang="en-US" sz="1600" dirty="0">
                <a:solidFill>
                  <a:schemeClr val="tx1"/>
                </a:solidFill>
              </a:rPr>
              <a:t>Assemble one program from pieces certified separately: declare its shared stocks and their room, and run the joint check.</a:t>
            </a:r>
            <a:endParaRPr lang="en-US" sz="1600" dirty="0"/>
          </a:p>
        </p:txBody>
      </p:sp>
      <p:sp>
        <p:nvSpPr>
          <p:cNvPr id="8" name="Number"/>
          <p:cNvSpPr/>
          <p:nvPr/>
        </p:nvSpPr>
        <p:spPr>
          <a:xfrm>
            <a:off x="548640" y="2633472"/>
            <a:ext cx="566928" cy="566928"/>
          </a:xfrm>
          <a:prstGeom prst="ellipse">
            <a:avLst/>
          </a:prstGeom>
          <a:solidFill>
            <a:schemeClr val="accent1"/>
          </a:solidFill>
          <a:ln w="6350">
            <a:solidFill>
              <a:schemeClr val="accent1"/>
            </a:solidFill>
            <a:prstDash val="solid"/>
          </a:ln>
        </p:spPr>
      </p:sp>
      <p:sp>
        <p:nvSpPr>
          <p:cNvPr id="9" name="Text 6"/>
          <p:cNvSpPr txBox="1"/>
          <p:nvPr/>
        </p:nvSpPr>
        <p:spPr>
          <a:xfrm>
            <a:off x="548640" y="2633472"/>
            <a:ext cx="566928" cy="566928"/>
          </a:xfrm>
          <a:prstGeom prst="rect">
            <a:avLst/>
          </a:prstGeom>
          <a:noFill/>
          <a:ln/>
        </p:spPr>
        <p:txBody>
          <a:bodyPr wrap="square" lIns="0" tIns="0" rIns="0" bIns="0" rtlCol="0" anchor="ctr"/>
          <a:lstStyle/>
          <a:p>
            <a:pPr algn="ctr" indent="0" marL="0">
              <a:buNone/>
            </a:pPr>
            <a:r>
              <a:rPr lang="en-US" sz="1300" b="1" dirty="0">
                <a:solidFill>
                  <a:schemeClr val="bg1"/>
                </a:solidFill>
                <a:latin typeface="Calibri" pitchFamily="34" charset="0"/>
                <a:ea typeface="Calibri" pitchFamily="34" charset="-122"/>
                <a:cs typeface="Calibri" pitchFamily="34" charset="-120"/>
              </a:rPr>
              <a:t>16.2</a:t>
            </a:r>
            <a:endParaRPr lang="en-US" sz="1300" dirty="0"/>
          </a:p>
        </p:txBody>
      </p:sp>
      <p:sp>
        <p:nvSpPr>
          <p:cNvPr id="10" name="Row text"/>
          <p:cNvSpPr txBox="1"/>
          <p:nvPr/>
        </p:nvSpPr>
        <p:spPr>
          <a:xfrm>
            <a:off x="1325880" y="2587752"/>
            <a:ext cx="10317175" cy="841248"/>
          </a:xfrm>
          <a:prstGeom prst="rect">
            <a:avLst/>
          </a:prstGeom>
          <a:noFill/>
          <a:ln/>
        </p:spPr>
        <p:txBody>
          <a:bodyPr wrap="square" lIns="0" tIns="0" rIns="0" bIns="0" rtlCol="0" anchor="ctr"/>
          <a:lstStyle/>
          <a:p>
            <a:pPr indent="0" marL="0">
              <a:buNone/>
            </a:pPr>
            <a:r>
              <a:rPr lang="en-US" sz="1600" dirty="0">
                <a:solidFill>
                  <a:schemeClr val="tx1"/>
                </a:solidFill>
              </a:rPr>
              <a:t>Compute a roadmap: the order of moves, the timing of lumpy moves, and when a choice is worth keeping open.</a:t>
            </a:r>
            <a:endParaRPr lang="en-US" sz="1600" dirty="0"/>
          </a:p>
        </p:txBody>
      </p:sp>
      <p:sp>
        <p:nvSpPr>
          <p:cNvPr id="11" name="Number"/>
          <p:cNvSpPr/>
          <p:nvPr/>
        </p:nvSpPr>
        <p:spPr>
          <a:xfrm>
            <a:off x="548640" y="3529584"/>
            <a:ext cx="566928" cy="566928"/>
          </a:xfrm>
          <a:prstGeom prst="ellipse">
            <a:avLst/>
          </a:prstGeom>
          <a:solidFill>
            <a:schemeClr val="accent1"/>
          </a:solidFill>
          <a:ln w="6350">
            <a:solidFill>
              <a:schemeClr val="accent1"/>
            </a:solidFill>
            <a:prstDash val="solid"/>
          </a:ln>
        </p:spPr>
      </p:sp>
      <p:sp>
        <p:nvSpPr>
          <p:cNvPr id="12" name="Text 9"/>
          <p:cNvSpPr txBox="1"/>
          <p:nvPr/>
        </p:nvSpPr>
        <p:spPr>
          <a:xfrm>
            <a:off x="548640" y="3529584"/>
            <a:ext cx="566928" cy="566928"/>
          </a:xfrm>
          <a:prstGeom prst="rect">
            <a:avLst/>
          </a:prstGeom>
          <a:noFill/>
          <a:ln/>
        </p:spPr>
        <p:txBody>
          <a:bodyPr wrap="square" lIns="0" tIns="0" rIns="0" bIns="0" rtlCol="0" anchor="ctr"/>
          <a:lstStyle/>
          <a:p>
            <a:pPr algn="ctr" indent="0" marL="0">
              <a:buNone/>
            </a:pPr>
            <a:r>
              <a:rPr lang="en-US" sz="1300" b="1" dirty="0">
                <a:solidFill>
                  <a:schemeClr val="bg1"/>
                </a:solidFill>
                <a:latin typeface="Calibri" pitchFamily="34" charset="0"/>
                <a:ea typeface="Calibri" pitchFamily="34" charset="-122"/>
                <a:cs typeface="Calibri" pitchFamily="34" charset="-120"/>
              </a:rPr>
              <a:t>16.3</a:t>
            </a:r>
            <a:endParaRPr lang="en-US" sz="1300" dirty="0"/>
          </a:p>
        </p:txBody>
      </p:sp>
      <p:sp>
        <p:nvSpPr>
          <p:cNvPr id="13" name="Row text"/>
          <p:cNvSpPr txBox="1"/>
          <p:nvPr/>
        </p:nvSpPr>
        <p:spPr>
          <a:xfrm>
            <a:off x="1325880" y="3483864"/>
            <a:ext cx="10317175" cy="841248"/>
          </a:xfrm>
          <a:prstGeom prst="rect">
            <a:avLst/>
          </a:prstGeom>
          <a:noFill/>
          <a:ln/>
        </p:spPr>
        <p:txBody>
          <a:bodyPr wrap="square" lIns="0" tIns="0" rIns="0" bIns="0" rtlCol="0" anchor="ctr"/>
          <a:lstStyle/>
          <a:p>
            <a:pPr indent="0" marL="0">
              <a:buNone/>
            </a:pPr>
            <a:r>
              <a:rPr lang="en-US" sz="1600" dirty="0">
                <a:solidFill>
                  <a:schemeClr val="tx1"/>
                </a:solidFill>
              </a:rPr>
              <a:t>Allocate capital by internal prices: price the shared stocks and the appetite, and judge every use of them against the price.</a:t>
            </a:r>
            <a:endParaRPr lang="en-US" sz="1600" dirty="0"/>
          </a:p>
        </p:txBody>
      </p:sp>
      <p:sp>
        <p:nvSpPr>
          <p:cNvPr id="14" name="Number"/>
          <p:cNvSpPr/>
          <p:nvPr/>
        </p:nvSpPr>
        <p:spPr>
          <a:xfrm>
            <a:off x="548640" y="4425696"/>
            <a:ext cx="566928" cy="566928"/>
          </a:xfrm>
          <a:prstGeom prst="ellipse">
            <a:avLst/>
          </a:prstGeom>
          <a:solidFill>
            <a:schemeClr val="accent1"/>
          </a:solidFill>
          <a:ln w="6350">
            <a:solidFill>
              <a:schemeClr val="accent1"/>
            </a:solidFill>
            <a:prstDash val="solid"/>
          </a:ln>
        </p:spPr>
      </p:sp>
      <p:sp>
        <p:nvSpPr>
          <p:cNvPr id="15" name="Text 12"/>
          <p:cNvSpPr txBox="1"/>
          <p:nvPr/>
        </p:nvSpPr>
        <p:spPr>
          <a:xfrm>
            <a:off x="548640" y="4425696"/>
            <a:ext cx="566928" cy="566928"/>
          </a:xfrm>
          <a:prstGeom prst="rect">
            <a:avLst/>
          </a:prstGeom>
          <a:noFill/>
          <a:ln/>
        </p:spPr>
        <p:txBody>
          <a:bodyPr wrap="square" lIns="0" tIns="0" rIns="0" bIns="0" rtlCol="0" anchor="ctr"/>
          <a:lstStyle/>
          <a:p>
            <a:pPr algn="ctr" indent="0" marL="0">
              <a:buNone/>
            </a:pPr>
            <a:r>
              <a:rPr lang="en-US" sz="1300" b="1" dirty="0">
                <a:solidFill>
                  <a:schemeClr val="bg1"/>
                </a:solidFill>
                <a:latin typeface="Calibri" pitchFamily="34" charset="0"/>
                <a:ea typeface="Calibri" pitchFamily="34" charset="-122"/>
                <a:cs typeface="Calibri" pitchFamily="34" charset="-120"/>
              </a:rPr>
              <a:t>16.4</a:t>
            </a:r>
            <a:endParaRPr lang="en-US" sz="1300" dirty="0"/>
          </a:p>
        </p:txBody>
      </p:sp>
      <p:sp>
        <p:nvSpPr>
          <p:cNvPr id="16" name="Row text"/>
          <p:cNvSpPr txBox="1"/>
          <p:nvPr/>
        </p:nvSpPr>
        <p:spPr>
          <a:xfrm>
            <a:off x="1325880" y="4379976"/>
            <a:ext cx="10317175" cy="841248"/>
          </a:xfrm>
          <a:prstGeom prst="rect">
            <a:avLst/>
          </a:prstGeom>
          <a:noFill/>
          <a:ln/>
        </p:spPr>
        <p:txBody>
          <a:bodyPr wrap="square" lIns="0" tIns="0" rIns="0" bIns="0" rtlCol="0" anchor="ctr"/>
          <a:lstStyle/>
          <a:p>
            <a:pPr indent="0" marL="0">
              <a:buNone/>
            </a:pPr>
            <a:r>
              <a:rPr lang="en-US" sz="1600" dirty="0">
                <a:solidFill>
                  <a:schemeClr val="tx1"/>
                </a:solidFill>
              </a:rPr>
              <a:t>Certify a program: its certificate chain, the region over which it holds, and the triggers that call for re-certification.</a:t>
            </a:r>
            <a:endParaRPr lang="en-US" sz="1600" dirty="0"/>
          </a:p>
        </p:txBody>
      </p:sp>
      <p:sp>
        <p:nvSpPr>
          <p:cNvPr id="17" name="Number"/>
          <p:cNvSpPr/>
          <p:nvPr/>
        </p:nvSpPr>
        <p:spPr>
          <a:xfrm>
            <a:off x="548640" y="5321808"/>
            <a:ext cx="566928" cy="566928"/>
          </a:xfrm>
          <a:prstGeom prst="ellipse">
            <a:avLst/>
          </a:prstGeom>
          <a:solidFill>
            <a:schemeClr val="accent1"/>
          </a:solidFill>
          <a:ln w="6350">
            <a:solidFill>
              <a:schemeClr val="accent1"/>
            </a:solidFill>
            <a:prstDash val="solid"/>
          </a:ln>
        </p:spPr>
      </p:sp>
      <p:sp>
        <p:nvSpPr>
          <p:cNvPr id="18" name="Text 15"/>
          <p:cNvSpPr txBox="1"/>
          <p:nvPr/>
        </p:nvSpPr>
        <p:spPr>
          <a:xfrm>
            <a:off x="548640" y="5321808"/>
            <a:ext cx="566928" cy="566928"/>
          </a:xfrm>
          <a:prstGeom prst="rect">
            <a:avLst/>
          </a:prstGeom>
          <a:noFill/>
          <a:ln/>
        </p:spPr>
        <p:txBody>
          <a:bodyPr wrap="square" lIns="0" tIns="0" rIns="0" bIns="0" rtlCol="0" anchor="ctr"/>
          <a:lstStyle/>
          <a:p>
            <a:pPr algn="ctr" indent="0" marL="0">
              <a:buNone/>
            </a:pPr>
            <a:r>
              <a:rPr lang="en-US" sz="1300" b="1" dirty="0">
                <a:solidFill>
                  <a:schemeClr val="bg1"/>
                </a:solidFill>
                <a:latin typeface="Calibri" pitchFamily="34" charset="0"/>
                <a:ea typeface="Calibri" pitchFamily="34" charset="-122"/>
                <a:cs typeface="Calibri" pitchFamily="34" charset="-120"/>
              </a:rPr>
              <a:t>16.5</a:t>
            </a:r>
            <a:endParaRPr lang="en-US" sz="1300" dirty="0"/>
          </a:p>
        </p:txBody>
      </p:sp>
      <p:sp>
        <p:nvSpPr>
          <p:cNvPr id="19" name="Row text"/>
          <p:cNvSpPr txBox="1"/>
          <p:nvPr/>
        </p:nvSpPr>
        <p:spPr>
          <a:xfrm>
            <a:off x="1325880" y="5276088"/>
            <a:ext cx="10317175" cy="841248"/>
          </a:xfrm>
          <a:prstGeom prst="rect">
            <a:avLst/>
          </a:prstGeom>
          <a:noFill/>
          <a:ln/>
        </p:spPr>
        <p:txBody>
          <a:bodyPr wrap="square" lIns="0" tIns="0" rIns="0" bIns="0" rtlCol="0" anchor="ctr"/>
          <a:lstStyle/>
          <a:p>
            <a:pPr indent="0" marL="0">
              <a:buNone/>
            </a:pPr>
            <a:r>
              <a:rPr lang="en-US" sz="1600" dirty="0">
                <a:solidFill>
                  <a:schemeClr val="tx1"/>
                </a:solidFill>
              </a:rPr>
              <a:t>Apply the method to other enterprises: find the program's shared stocks and choose methods by the problem's shape.</a:t>
            </a:r>
            <a:endParaRPr lang="en-US" sz="16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ROADMAP</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Five sections, a worked example, a case and a lab</a:t>
            </a:r>
            <a:endParaRPr lang="en-US" sz="3200" dirty="0"/>
          </a:p>
        </p:txBody>
      </p:sp>
      <p:sp>
        <p:nvSpPr>
          <p:cNvPr id="5" name="Card"/>
          <p:cNvSpPr/>
          <p:nvPr/>
        </p:nvSpPr>
        <p:spPr>
          <a:xfrm>
            <a:off x="548640" y="1691640"/>
            <a:ext cx="2567864" cy="2103120"/>
          </a:xfrm>
          <a:prstGeom prst="roundRect">
            <a:avLst>
              <a:gd name="adj" fmla="val 3478"/>
            </a:avLst>
          </a:prstGeom>
          <a:solidFill>
            <a:schemeClr val="bg2"/>
          </a:solidFill>
          <a:ln w="9525">
            <a:solidFill>
              <a:srgbClr val="C4CBD8"/>
            </a:solidFill>
            <a:prstDash val="solid"/>
          </a:ln>
        </p:spPr>
      </p:sp>
      <p:sp>
        <p:nvSpPr>
          <p:cNvPr id="6" name="Card label"/>
          <p:cNvSpPr txBox="1"/>
          <p:nvPr/>
        </p:nvSpPr>
        <p:spPr>
          <a:xfrm>
            <a:off x="731520" y="1819656"/>
            <a:ext cx="2202104" cy="310896"/>
          </a:xfrm>
          <a:prstGeom prst="rect">
            <a:avLst/>
          </a:prstGeom>
          <a:noFill/>
          <a:ln/>
        </p:spPr>
        <p:txBody>
          <a:bodyPr wrap="square" lIns="0" tIns="0" rIns="0" bIns="0" rtlCol="0" anchor="ctr"/>
          <a:lstStyle/>
          <a:p>
            <a:pPr indent="0" marL="0">
              <a:buNone/>
            </a:pPr>
            <a:r>
              <a:rPr lang="en-US" sz="1300" b="1" dirty="0">
                <a:solidFill>
                  <a:schemeClr val="accent1"/>
                </a:solidFill>
              </a:rPr>
              <a:t>§16.1</a:t>
            </a:r>
            <a:endParaRPr lang="en-US" sz="1300" dirty="0"/>
          </a:p>
        </p:txBody>
      </p:sp>
      <p:sp>
        <p:nvSpPr>
          <p:cNvPr id="7" name="Card head"/>
          <p:cNvSpPr txBox="1"/>
          <p:nvPr/>
        </p:nvSpPr>
        <p:spPr>
          <a:xfrm>
            <a:off x="731520" y="2148840"/>
            <a:ext cx="2202104" cy="1060704"/>
          </a:xfrm>
          <a:prstGeom prst="rect">
            <a:avLst/>
          </a:prstGeom>
          <a:noFill/>
          <a:ln/>
        </p:spPr>
        <p:txBody>
          <a:bodyPr wrap="square" lIns="0" tIns="0" rIns="0" bIns="0" rtlCol="0" anchor="t"/>
          <a:lstStyle/>
          <a:p>
            <a:pPr indent="0" marL="0">
              <a:buNone/>
            </a:pPr>
            <a:r>
              <a:rPr lang="en-US" sz="1500" b="1" dirty="0">
                <a:solidFill>
                  <a:schemeClr val="tx1"/>
                </a:solidFill>
                <a:latin typeface="Cambria" pitchFamily="34" charset="0"/>
                <a:ea typeface="Cambria" pitchFamily="34" charset="-122"/>
                <a:cs typeface="Cambria" pitchFamily="34" charset="-120"/>
              </a:rPr>
              <a:t>One Program from Many Pieces</a:t>
            </a:r>
            <a:endParaRPr lang="en-US" sz="1500" dirty="0"/>
          </a:p>
        </p:txBody>
      </p:sp>
      <p:sp>
        <p:nvSpPr>
          <p:cNvPr id="8" name="Card text"/>
          <p:cNvSpPr txBox="1"/>
          <p:nvPr/>
        </p:nvSpPr>
        <p:spPr>
          <a:xfrm>
            <a:off x="731520" y="3282696"/>
            <a:ext cx="2202104" cy="384048"/>
          </a:xfrm>
          <a:prstGeom prst="rect">
            <a:avLst/>
          </a:prstGeom>
          <a:noFill/>
          <a:ln/>
        </p:spPr>
        <p:txBody>
          <a:bodyPr wrap="square" lIns="0" tIns="0" rIns="0" bIns="0" rtlCol="0" anchor="t"/>
          <a:lstStyle/>
          <a:p>
            <a:pPr indent="0" marL="0">
              <a:buNone/>
            </a:pPr>
            <a:r>
              <a:rPr lang="en-US" sz="1300" dirty="0">
                <a:solidFill>
                  <a:schemeClr val="tx2"/>
                </a:solidFill>
              </a:rPr>
              <a:t>Definition 16.1 · Theorem 16.1 · Table 16.1</a:t>
            </a:r>
            <a:endParaRPr lang="en-US" sz="1300" dirty="0"/>
          </a:p>
        </p:txBody>
      </p:sp>
      <p:sp>
        <p:nvSpPr>
          <p:cNvPr id="9" name="Card"/>
          <p:cNvSpPr/>
          <p:nvPr/>
        </p:nvSpPr>
        <p:spPr>
          <a:xfrm>
            <a:off x="3390824" y="1691640"/>
            <a:ext cx="2567864" cy="2103120"/>
          </a:xfrm>
          <a:prstGeom prst="roundRect">
            <a:avLst>
              <a:gd name="adj" fmla="val 3478"/>
            </a:avLst>
          </a:prstGeom>
          <a:solidFill>
            <a:schemeClr val="bg2"/>
          </a:solidFill>
          <a:ln w="9525">
            <a:solidFill>
              <a:srgbClr val="C4CBD8"/>
            </a:solidFill>
            <a:prstDash val="solid"/>
          </a:ln>
        </p:spPr>
      </p:sp>
      <p:sp>
        <p:nvSpPr>
          <p:cNvPr id="10" name="Card label"/>
          <p:cNvSpPr txBox="1"/>
          <p:nvPr/>
        </p:nvSpPr>
        <p:spPr>
          <a:xfrm>
            <a:off x="3573704" y="1819656"/>
            <a:ext cx="2202104" cy="310896"/>
          </a:xfrm>
          <a:prstGeom prst="rect">
            <a:avLst/>
          </a:prstGeom>
          <a:noFill/>
          <a:ln/>
        </p:spPr>
        <p:txBody>
          <a:bodyPr wrap="square" lIns="0" tIns="0" rIns="0" bIns="0" rtlCol="0" anchor="ctr"/>
          <a:lstStyle/>
          <a:p>
            <a:pPr indent="0" marL="0">
              <a:buNone/>
            </a:pPr>
            <a:r>
              <a:rPr lang="en-US" sz="1300" b="1" dirty="0">
                <a:solidFill>
                  <a:schemeClr val="accent1"/>
                </a:solidFill>
              </a:rPr>
              <a:t>§16.2</a:t>
            </a:r>
            <a:endParaRPr lang="en-US" sz="1300" dirty="0"/>
          </a:p>
        </p:txBody>
      </p:sp>
      <p:sp>
        <p:nvSpPr>
          <p:cNvPr id="11" name="Card head"/>
          <p:cNvSpPr txBox="1"/>
          <p:nvPr/>
        </p:nvSpPr>
        <p:spPr>
          <a:xfrm>
            <a:off x="3573704" y="2148840"/>
            <a:ext cx="2202104" cy="1060704"/>
          </a:xfrm>
          <a:prstGeom prst="rect">
            <a:avLst/>
          </a:prstGeom>
          <a:noFill/>
          <a:ln/>
        </p:spPr>
        <p:txBody>
          <a:bodyPr wrap="square" lIns="0" tIns="0" rIns="0" bIns="0" rtlCol="0" anchor="t"/>
          <a:lstStyle/>
          <a:p>
            <a:pPr indent="0" marL="0">
              <a:buNone/>
            </a:pPr>
            <a:r>
              <a:rPr lang="en-US" sz="1500" b="1" dirty="0">
                <a:solidFill>
                  <a:schemeClr val="tx1"/>
                </a:solidFill>
                <a:latin typeface="Cambria" pitchFamily="34" charset="0"/>
                <a:ea typeface="Cambria" pitchFamily="34" charset="-122"/>
                <a:cs typeface="Cambria" pitchFamily="34" charset="-120"/>
              </a:rPr>
              <a:t>Roadmaps: Order and Timing Are Computed</a:t>
            </a:r>
            <a:endParaRPr lang="en-US" sz="1500" dirty="0"/>
          </a:p>
        </p:txBody>
      </p:sp>
      <p:sp>
        <p:nvSpPr>
          <p:cNvPr id="12" name="Card text"/>
          <p:cNvSpPr txBox="1"/>
          <p:nvPr/>
        </p:nvSpPr>
        <p:spPr>
          <a:xfrm>
            <a:off x="3573704" y="3282696"/>
            <a:ext cx="2202104" cy="384048"/>
          </a:xfrm>
          <a:prstGeom prst="rect">
            <a:avLst/>
          </a:prstGeom>
          <a:noFill/>
          <a:ln/>
        </p:spPr>
        <p:txBody>
          <a:bodyPr wrap="square" lIns="0" tIns="0" rIns="0" bIns="0" rtlCol="0" anchor="t"/>
          <a:lstStyle/>
          <a:p>
            <a:pPr indent="0" marL="0">
              <a:buNone/>
            </a:pPr>
            <a:r>
              <a:rPr lang="en-US" sz="1300" dirty="0">
                <a:solidFill>
                  <a:schemeClr val="tx2"/>
                </a:solidFill>
              </a:rPr>
              <a:t>Definition 16.2 · Theorem 16.2 · Propositions 16.1–16.2</a:t>
            </a:r>
            <a:endParaRPr lang="en-US" sz="1300" dirty="0"/>
          </a:p>
        </p:txBody>
      </p:sp>
      <p:sp>
        <p:nvSpPr>
          <p:cNvPr id="13" name="Card"/>
          <p:cNvSpPr/>
          <p:nvPr/>
        </p:nvSpPr>
        <p:spPr>
          <a:xfrm>
            <a:off x="6233008" y="1691640"/>
            <a:ext cx="2567864" cy="2103120"/>
          </a:xfrm>
          <a:prstGeom prst="roundRect">
            <a:avLst>
              <a:gd name="adj" fmla="val 3478"/>
            </a:avLst>
          </a:prstGeom>
          <a:solidFill>
            <a:schemeClr val="bg2"/>
          </a:solidFill>
          <a:ln w="9525">
            <a:solidFill>
              <a:srgbClr val="C4CBD8"/>
            </a:solidFill>
            <a:prstDash val="solid"/>
          </a:ln>
        </p:spPr>
      </p:sp>
      <p:sp>
        <p:nvSpPr>
          <p:cNvPr id="14" name="Card label"/>
          <p:cNvSpPr txBox="1"/>
          <p:nvPr/>
        </p:nvSpPr>
        <p:spPr>
          <a:xfrm>
            <a:off x="6415888" y="1819656"/>
            <a:ext cx="2202104" cy="310896"/>
          </a:xfrm>
          <a:prstGeom prst="rect">
            <a:avLst/>
          </a:prstGeom>
          <a:noFill/>
          <a:ln/>
        </p:spPr>
        <p:txBody>
          <a:bodyPr wrap="square" lIns="0" tIns="0" rIns="0" bIns="0" rtlCol="0" anchor="ctr"/>
          <a:lstStyle/>
          <a:p>
            <a:pPr indent="0" marL="0">
              <a:buNone/>
            </a:pPr>
            <a:r>
              <a:rPr lang="en-US" sz="1300" b="1" dirty="0">
                <a:solidFill>
                  <a:schemeClr val="accent1"/>
                </a:solidFill>
              </a:rPr>
              <a:t>§16.3</a:t>
            </a:r>
            <a:endParaRPr lang="en-US" sz="1300" dirty="0"/>
          </a:p>
        </p:txBody>
      </p:sp>
      <p:sp>
        <p:nvSpPr>
          <p:cNvPr id="15" name="Card head"/>
          <p:cNvSpPr txBox="1"/>
          <p:nvPr/>
        </p:nvSpPr>
        <p:spPr>
          <a:xfrm>
            <a:off x="6415888" y="2148840"/>
            <a:ext cx="2202104" cy="1060704"/>
          </a:xfrm>
          <a:prstGeom prst="rect">
            <a:avLst/>
          </a:prstGeom>
          <a:noFill/>
          <a:ln/>
        </p:spPr>
        <p:txBody>
          <a:bodyPr wrap="square" lIns="0" tIns="0" rIns="0" bIns="0" rtlCol="0" anchor="t"/>
          <a:lstStyle/>
          <a:p>
            <a:pPr indent="0" marL="0">
              <a:buNone/>
            </a:pPr>
            <a:r>
              <a:rPr lang="en-US" sz="1500" b="1" dirty="0">
                <a:solidFill>
                  <a:schemeClr val="tx1"/>
                </a:solidFill>
                <a:latin typeface="Cambria" pitchFamily="34" charset="0"/>
                <a:ea typeface="Cambria" pitchFamily="34" charset="-122"/>
                <a:cs typeface="Cambria" pitchFamily="34" charset="-120"/>
              </a:rPr>
              <a:t>Capital Allocation by Internal Prices</a:t>
            </a:r>
            <a:endParaRPr lang="en-US" sz="1500" dirty="0"/>
          </a:p>
        </p:txBody>
      </p:sp>
      <p:sp>
        <p:nvSpPr>
          <p:cNvPr id="16" name="Card text"/>
          <p:cNvSpPr txBox="1"/>
          <p:nvPr/>
        </p:nvSpPr>
        <p:spPr>
          <a:xfrm>
            <a:off x="6415888" y="3282696"/>
            <a:ext cx="2202104" cy="384048"/>
          </a:xfrm>
          <a:prstGeom prst="rect">
            <a:avLst/>
          </a:prstGeom>
          <a:noFill/>
          <a:ln/>
        </p:spPr>
        <p:txBody>
          <a:bodyPr wrap="square" lIns="0" tIns="0" rIns="0" bIns="0" rtlCol="0" anchor="t"/>
          <a:lstStyle/>
          <a:p>
            <a:pPr indent="0" marL="0">
              <a:buNone/>
            </a:pPr>
            <a:r>
              <a:rPr lang="en-US" sz="1300" dirty="0">
                <a:solidFill>
                  <a:schemeClr val="tx2"/>
                </a:solidFill>
              </a:rPr>
              <a:t>Proposition 16.3 · Figure 16.2</a:t>
            </a:r>
            <a:endParaRPr lang="en-US" sz="1300" dirty="0"/>
          </a:p>
        </p:txBody>
      </p:sp>
      <p:sp>
        <p:nvSpPr>
          <p:cNvPr id="17" name="Card"/>
          <p:cNvSpPr/>
          <p:nvPr/>
        </p:nvSpPr>
        <p:spPr>
          <a:xfrm>
            <a:off x="9075191" y="1691640"/>
            <a:ext cx="2567864" cy="2103120"/>
          </a:xfrm>
          <a:prstGeom prst="roundRect">
            <a:avLst>
              <a:gd name="adj" fmla="val 3478"/>
            </a:avLst>
          </a:prstGeom>
          <a:solidFill>
            <a:schemeClr val="bg2"/>
          </a:solidFill>
          <a:ln w="9525">
            <a:solidFill>
              <a:srgbClr val="C4CBD8"/>
            </a:solidFill>
            <a:prstDash val="solid"/>
          </a:ln>
        </p:spPr>
      </p:sp>
      <p:sp>
        <p:nvSpPr>
          <p:cNvPr id="18" name="Card label"/>
          <p:cNvSpPr txBox="1"/>
          <p:nvPr/>
        </p:nvSpPr>
        <p:spPr>
          <a:xfrm>
            <a:off x="9258071" y="1819656"/>
            <a:ext cx="2202104" cy="310896"/>
          </a:xfrm>
          <a:prstGeom prst="rect">
            <a:avLst/>
          </a:prstGeom>
          <a:noFill/>
          <a:ln/>
        </p:spPr>
        <p:txBody>
          <a:bodyPr wrap="square" lIns="0" tIns="0" rIns="0" bIns="0" rtlCol="0" anchor="ctr"/>
          <a:lstStyle/>
          <a:p>
            <a:pPr indent="0" marL="0">
              <a:buNone/>
            </a:pPr>
            <a:r>
              <a:rPr lang="en-US" sz="1300" b="1" dirty="0">
                <a:solidFill>
                  <a:schemeClr val="accent1"/>
                </a:solidFill>
              </a:rPr>
              <a:t>§16.4</a:t>
            </a:r>
            <a:endParaRPr lang="en-US" sz="1300" dirty="0"/>
          </a:p>
        </p:txBody>
      </p:sp>
      <p:sp>
        <p:nvSpPr>
          <p:cNvPr id="19" name="Card head"/>
          <p:cNvSpPr txBox="1"/>
          <p:nvPr/>
        </p:nvSpPr>
        <p:spPr>
          <a:xfrm>
            <a:off x="9258071" y="2148840"/>
            <a:ext cx="2202104" cy="1060704"/>
          </a:xfrm>
          <a:prstGeom prst="rect">
            <a:avLst/>
          </a:prstGeom>
          <a:noFill/>
          <a:ln/>
        </p:spPr>
        <p:txBody>
          <a:bodyPr wrap="square" lIns="0" tIns="0" rIns="0" bIns="0" rtlCol="0" anchor="t"/>
          <a:lstStyle/>
          <a:p>
            <a:pPr indent="0" marL="0">
              <a:buNone/>
            </a:pPr>
            <a:r>
              <a:rPr lang="en-US" sz="1500" b="1" dirty="0">
                <a:solidFill>
                  <a:schemeClr val="tx1"/>
                </a:solidFill>
                <a:latin typeface="Cambria" pitchFamily="34" charset="0"/>
                <a:ea typeface="Cambria" pitchFamily="34" charset="-122"/>
                <a:cs typeface="Cambria" pitchFamily="34" charset="-120"/>
              </a:rPr>
              <a:t>Certified Decisions and Triggers</a:t>
            </a:r>
            <a:endParaRPr lang="en-US" sz="1500" dirty="0"/>
          </a:p>
        </p:txBody>
      </p:sp>
      <p:sp>
        <p:nvSpPr>
          <p:cNvPr id="20" name="Card text"/>
          <p:cNvSpPr txBox="1"/>
          <p:nvPr/>
        </p:nvSpPr>
        <p:spPr>
          <a:xfrm>
            <a:off x="9258071" y="3282696"/>
            <a:ext cx="2202104" cy="384048"/>
          </a:xfrm>
          <a:prstGeom prst="rect">
            <a:avLst/>
          </a:prstGeom>
          <a:noFill/>
          <a:ln/>
        </p:spPr>
        <p:txBody>
          <a:bodyPr wrap="square" lIns="0" tIns="0" rIns="0" bIns="0" rtlCol="0" anchor="t"/>
          <a:lstStyle/>
          <a:p>
            <a:pPr indent="0" marL="0">
              <a:buNone/>
            </a:pPr>
            <a:r>
              <a:rPr lang="en-US" sz="1300" dirty="0">
                <a:solidFill>
                  <a:schemeClr val="tx2"/>
                </a:solidFill>
              </a:rPr>
              <a:t>Definition 16.3 · Theorem 16.3 · Figure 16.3</a:t>
            </a:r>
            <a:endParaRPr lang="en-US" sz="1300" dirty="0"/>
          </a:p>
        </p:txBody>
      </p:sp>
      <p:sp>
        <p:nvSpPr>
          <p:cNvPr id="21" name="Card"/>
          <p:cNvSpPr/>
          <p:nvPr/>
        </p:nvSpPr>
        <p:spPr>
          <a:xfrm>
            <a:off x="548640" y="4069080"/>
            <a:ext cx="2567864" cy="2103120"/>
          </a:xfrm>
          <a:prstGeom prst="roundRect">
            <a:avLst>
              <a:gd name="adj" fmla="val 3478"/>
            </a:avLst>
          </a:prstGeom>
          <a:solidFill>
            <a:schemeClr val="bg2"/>
          </a:solidFill>
          <a:ln w="9525">
            <a:solidFill>
              <a:srgbClr val="C4CBD8"/>
            </a:solidFill>
            <a:prstDash val="solid"/>
          </a:ln>
        </p:spPr>
      </p:sp>
      <p:sp>
        <p:nvSpPr>
          <p:cNvPr id="22" name="Card label"/>
          <p:cNvSpPr txBox="1"/>
          <p:nvPr/>
        </p:nvSpPr>
        <p:spPr>
          <a:xfrm>
            <a:off x="731520" y="4197096"/>
            <a:ext cx="2202104" cy="310896"/>
          </a:xfrm>
          <a:prstGeom prst="rect">
            <a:avLst/>
          </a:prstGeom>
          <a:noFill/>
          <a:ln/>
        </p:spPr>
        <p:txBody>
          <a:bodyPr wrap="square" lIns="0" tIns="0" rIns="0" bIns="0" rtlCol="0" anchor="ctr"/>
          <a:lstStyle/>
          <a:p>
            <a:pPr indent="0" marL="0">
              <a:buNone/>
            </a:pPr>
            <a:r>
              <a:rPr lang="en-US" sz="1300" b="1" dirty="0">
                <a:solidFill>
                  <a:schemeClr val="accent1"/>
                </a:solidFill>
              </a:rPr>
              <a:t>§16.5</a:t>
            </a:r>
            <a:endParaRPr lang="en-US" sz="1300" dirty="0"/>
          </a:p>
        </p:txBody>
      </p:sp>
      <p:sp>
        <p:nvSpPr>
          <p:cNvPr id="23" name="Card head"/>
          <p:cNvSpPr txBox="1"/>
          <p:nvPr/>
        </p:nvSpPr>
        <p:spPr>
          <a:xfrm>
            <a:off x="731520" y="4526280"/>
            <a:ext cx="2202104" cy="1060704"/>
          </a:xfrm>
          <a:prstGeom prst="rect">
            <a:avLst/>
          </a:prstGeom>
          <a:noFill/>
          <a:ln/>
        </p:spPr>
        <p:txBody>
          <a:bodyPr wrap="square" lIns="0" tIns="0" rIns="0" bIns="0" rtlCol="0" anchor="t"/>
          <a:lstStyle/>
          <a:p>
            <a:pPr indent="0" marL="0">
              <a:buNone/>
            </a:pPr>
            <a:r>
              <a:rPr lang="en-US" sz="1500" b="1" dirty="0">
                <a:solidFill>
                  <a:schemeClr val="tx1"/>
                </a:solidFill>
                <a:latin typeface="Cambria" pitchFamily="34" charset="0"/>
                <a:ea typeface="Cambria" pitchFamily="34" charset="-122"/>
                <a:cs typeface="Cambria" pitchFamily="34" charset="-120"/>
              </a:rPr>
              <a:t>Seven Enterprises, One Method</a:t>
            </a:r>
            <a:endParaRPr lang="en-US" sz="1500" dirty="0"/>
          </a:p>
        </p:txBody>
      </p:sp>
      <p:sp>
        <p:nvSpPr>
          <p:cNvPr id="24" name="Card text"/>
          <p:cNvSpPr txBox="1"/>
          <p:nvPr/>
        </p:nvSpPr>
        <p:spPr>
          <a:xfrm>
            <a:off x="731520" y="5660136"/>
            <a:ext cx="2202104" cy="384048"/>
          </a:xfrm>
          <a:prstGeom prst="rect">
            <a:avLst/>
          </a:prstGeom>
          <a:noFill/>
          <a:ln/>
        </p:spPr>
        <p:txBody>
          <a:bodyPr wrap="square" lIns="0" tIns="0" rIns="0" bIns="0" rtlCol="0" anchor="t"/>
          <a:lstStyle/>
          <a:p>
            <a:pPr indent="0" marL="0">
              <a:buNone/>
            </a:pPr>
            <a:r>
              <a:rPr lang="en-US" sz="1300" dirty="0">
                <a:solidFill>
                  <a:schemeClr val="tx2"/>
                </a:solidFill>
              </a:rPr>
              <a:t>Table 16.2 · three lessons</a:t>
            </a:r>
            <a:endParaRPr lang="en-US" sz="1300" dirty="0"/>
          </a:p>
        </p:txBody>
      </p:sp>
      <p:sp>
        <p:nvSpPr>
          <p:cNvPr id="25" name="Card"/>
          <p:cNvSpPr/>
          <p:nvPr/>
        </p:nvSpPr>
        <p:spPr>
          <a:xfrm>
            <a:off x="3390824" y="4069080"/>
            <a:ext cx="2567864" cy="2103120"/>
          </a:xfrm>
          <a:prstGeom prst="roundRect">
            <a:avLst>
              <a:gd name="adj" fmla="val 3478"/>
            </a:avLst>
          </a:prstGeom>
          <a:solidFill>
            <a:schemeClr val="tx1"/>
          </a:solidFill>
          <a:ln w="9525">
            <a:solidFill>
              <a:srgbClr val="0F1E3D"/>
            </a:solidFill>
            <a:prstDash val="solid"/>
          </a:ln>
        </p:spPr>
      </p:sp>
      <p:sp>
        <p:nvSpPr>
          <p:cNvPr id="26" name="Card label"/>
          <p:cNvSpPr txBox="1"/>
          <p:nvPr/>
        </p:nvSpPr>
        <p:spPr>
          <a:xfrm>
            <a:off x="3573704" y="4197096"/>
            <a:ext cx="2202104" cy="310896"/>
          </a:xfrm>
          <a:prstGeom prst="rect">
            <a:avLst/>
          </a:prstGeom>
          <a:noFill/>
          <a:ln/>
        </p:spPr>
        <p:txBody>
          <a:bodyPr wrap="square" lIns="0" tIns="0" rIns="0" bIns="0" rtlCol="0" anchor="ctr"/>
          <a:lstStyle/>
          <a:p>
            <a:pPr indent="0" marL="0">
              <a:buNone/>
            </a:pPr>
            <a:r>
              <a:rPr lang="en-US" sz="1300" b="1" dirty="0">
                <a:solidFill>
                  <a:schemeClr val="accent1"/>
                </a:solidFill>
              </a:rPr>
              <a:t>Worked Example 16.1</a:t>
            </a:r>
            <a:endParaRPr lang="en-US" sz="1300" dirty="0"/>
          </a:p>
        </p:txBody>
      </p:sp>
      <p:sp>
        <p:nvSpPr>
          <p:cNvPr id="27" name="Card head"/>
          <p:cNvSpPr txBox="1"/>
          <p:nvPr/>
        </p:nvSpPr>
        <p:spPr>
          <a:xfrm>
            <a:off x="3573704" y="4526280"/>
            <a:ext cx="2202104" cy="1060704"/>
          </a:xfrm>
          <a:prstGeom prst="rect">
            <a:avLst/>
          </a:prstGeom>
          <a:noFill/>
          <a:ln/>
        </p:spPr>
        <p:txBody>
          <a:bodyPr wrap="square" lIns="0" tIns="0" rIns="0" bIns="0" rtlCol="0" anchor="t"/>
          <a:lstStyle/>
          <a:p>
            <a:pPr indent="0" marL="0">
              <a:buNone/>
            </a:pPr>
            <a:r>
              <a:rPr lang="en-US" sz="1500" b="1" dirty="0">
                <a:solidFill>
                  <a:schemeClr val="bg1"/>
                </a:solidFill>
                <a:latin typeface="Cambria" pitchFamily="34" charset="0"/>
                <a:ea typeface="Cambria" pitchFamily="34" charset="-122"/>
                <a:cs typeface="Cambria" pitchFamily="34" charset="-120"/>
              </a:rPr>
              <a:t>Can Meridian Run Its Whole Program?</a:t>
            </a:r>
            <a:endParaRPr lang="en-US" sz="1500" dirty="0"/>
          </a:p>
        </p:txBody>
      </p:sp>
      <p:sp>
        <p:nvSpPr>
          <p:cNvPr id="28" name="Card text"/>
          <p:cNvSpPr txBox="1"/>
          <p:nvPr/>
        </p:nvSpPr>
        <p:spPr>
          <a:xfrm>
            <a:off x="3573704" y="5660136"/>
            <a:ext cx="2202104" cy="384048"/>
          </a:xfrm>
          <a:prstGeom prst="rect">
            <a:avLst/>
          </a:prstGeom>
          <a:noFill/>
          <a:ln/>
        </p:spPr>
        <p:txBody>
          <a:bodyPr wrap="square" lIns="0" tIns="0" rIns="0" bIns="0" rtlCol="0" anchor="t"/>
          <a:lstStyle/>
          <a:p>
            <a:pPr indent="0" marL="0">
              <a:buNone/>
            </a:pPr>
            <a:r>
              <a:rPr lang="en-US" sz="1300" dirty="0">
                <a:solidFill>
                  <a:schemeClr val="bg2"/>
                </a:solidFill>
              </a:rPr>
              <a:t>Table 16.3 · Figures 16.1–16.3</a:t>
            </a:r>
            <a:endParaRPr lang="en-US" sz="1300" dirty="0"/>
          </a:p>
        </p:txBody>
      </p:sp>
      <p:sp>
        <p:nvSpPr>
          <p:cNvPr id="29" name="Card"/>
          <p:cNvSpPr/>
          <p:nvPr/>
        </p:nvSpPr>
        <p:spPr>
          <a:xfrm>
            <a:off x="6233008" y="4069080"/>
            <a:ext cx="2567864" cy="2103120"/>
          </a:xfrm>
          <a:prstGeom prst="roundRect">
            <a:avLst>
              <a:gd name="adj" fmla="val 3478"/>
            </a:avLst>
          </a:prstGeom>
          <a:solidFill>
            <a:schemeClr val="bg2"/>
          </a:solidFill>
          <a:ln w="9525">
            <a:solidFill>
              <a:srgbClr val="C4CBD8"/>
            </a:solidFill>
            <a:prstDash val="solid"/>
          </a:ln>
        </p:spPr>
      </p:sp>
      <p:sp>
        <p:nvSpPr>
          <p:cNvPr id="30" name="Card label"/>
          <p:cNvSpPr txBox="1"/>
          <p:nvPr/>
        </p:nvSpPr>
        <p:spPr>
          <a:xfrm>
            <a:off x="6415888" y="4197096"/>
            <a:ext cx="2202104" cy="310896"/>
          </a:xfrm>
          <a:prstGeom prst="rect">
            <a:avLst/>
          </a:prstGeom>
          <a:noFill/>
          <a:ln/>
        </p:spPr>
        <p:txBody>
          <a:bodyPr wrap="square" lIns="0" tIns="0" rIns="0" bIns="0" rtlCol="0" anchor="ctr"/>
          <a:lstStyle/>
          <a:p>
            <a:pPr indent="0" marL="0">
              <a:buNone/>
            </a:pPr>
            <a:r>
              <a:rPr lang="en-US" sz="1300" b="1" dirty="0">
                <a:solidFill>
                  <a:schemeClr val="accent1"/>
                </a:solidFill>
              </a:rPr>
              <a:t>In Practice</a:t>
            </a:r>
            <a:endParaRPr lang="en-US" sz="1300" dirty="0"/>
          </a:p>
        </p:txBody>
      </p:sp>
      <p:sp>
        <p:nvSpPr>
          <p:cNvPr id="31" name="Card head"/>
          <p:cNvSpPr txBox="1"/>
          <p:nvPr/>
        </p:nvSpPr>
        <p:spPr>
          <a:xfrm>
            <a:off x="6415888" y="4526280"/>
            <a:ext cx="2202104" cy="1060704"/>
          </a:xfrm>
          <a:prstGeom prst="rect">
            <a:avLst/>
          </a:prstGeom>
          <a:noFill/>
          <a:ln/>
        </p:spPr>
        <p:txBody>
          <a:bodyPr wrap="square" lIns="0" tIns="0" rIns="0" bIns="0" rtlCol="0" anchor="t"/>
          <a:lstStyle/>
          <a:p>
            <a:pPr indent="0" marL="0">
              <a:buNone/>
            </a:pPr>
            <a:r>
              <a:rPr lang="en-US" sz="1500" b="1" dirty="0">
                <a:solidFill>
                  <a:schemeClr val="tx1"/>
                </a:solidFill>
                <a:latin typeface="Cambria" pitchFamily="34" charset="0"/>
                <a:ea typeface="Cambria" pitchFamily="34" charset="-122"/>
                <a:cs typeface="Cambria" pitchFamily="34" charset="-120"/>
              </a:rPr>
              <a:t>Banks Put a Price on Their Liquidity</a:t>
            </a:r>
            <a:endParaRPr lang="en-US" sz="1500" dirty="0"/>
          </a:p>
        </p:txBody>
      </p:sp>
      <p:sp>
        <p:nvSpPr>
          <p:cNvPr id="32" name="Card text"/>
          <p:cNvSpPr txBox="1"/>
          <p:nvPr/>
        </p:nvSpPr>
        <p:spPr>
          <a:xfrm>
            <a:off x="6415888" y="5660136"/>
            <a:ext cx="2202104" cy="384048"/>
          </a:xfrm>
          <a:prstGeom prst="rect">
            <a:avLst/>
          </a:prstGeom>
          <a:noFill/>
          <a:ln/>
        </p:spPr>
        <p:txBody>
          <a:bodyPr wrap="square" lIns="0" tIns="0" rIns="0" bIns="0" rtlCol="0" anchor="t"/>
          <a:lstStyle/>
          <a:p>
            <a:pPr indent="0" marL="0">
              <a:buNone/>
            </a:pPr>
            <a:r>
              <a:rPr lang="en-US" sz="1300" dirty="0">
                <a:solidFill>
                  <a:schemeClr val="tx2"/>
                </a:solidFill>
              </a:rPr>
              <a:t>At a Glance · board questions</a:t>
            </a:r>
            <a:endParaRPr lang="en-US" sz="1300" dirty="0"/>
          </a:p>
        </p:txBody>
      </p:sp>
      <p:sp>
        <p:nvSpPr>
          <p:cNvPr id="33" name="Card"/>
          <p:cNvSpPr/>
          <p:nvPr/>
        </p:nvSpPr>
        <p:spPr>
          <a:xfrm>
            <a:off x="9075191" y="4069080"/>
            <a:ext cx="2567864" cy="2103120"/>
          </a:xfrm>
          <a:prstGeom prst="roundRect">
            <a:avLst>
              <a:gd name="adj" fmla="val 3478"/>
            </a:avLst>
          </a:prstGeom>
          <a:solidFill>
            <a:schemeClr val="bg2"/>
          </a:solidFill>
          <a:ln w="9525">
            <a:solidFill>
              <a:srgbClr val="C4CBD8"/>
            </a:solidFill>
            <a:prstDash val="solid"/>
          </a:ln>
        </p:spPr>
      </p:sp>
      <p:sp>
        <p:nvSpPr>
          <p:cNvPr id="34" name="Card label"/>
          <p:cNvSpPr txBox="1"/>
          <p:nvPr/>
        </p:nvSpPr>
        <p:spPr>
          <a:xfrm>
            <a:off x="9258071" y="4197096"/>
            <a:ext cx="2202104" cy="310896"/>
          </a:xfrm>
          <a:prstGeom prst="rect">
            <a:avLst/>
          </a:prstGeom>
          <a:noFill/>
          <a:ln/>
        </p:spPr>
        <p:txBody>
          <a:bodyPr wrap="square" lIns="0" tIns="0" rIns="0" bIns="0" rtlCol="0" anchor="ctr"/>
          <a:lstStyle/>
          <a:p>
            <a:pPr indent="0" marL="0">
              <a:buNone/>
            </a:pPr>
            <a:r>
              <a:rPr lang="en-US" sz="1300" b="1" dirty="0">
                <a:solidFill>
                  <a:schemeClr val="accent1"/>
                </a:solidFill>
              </a:rPr>
              <a:t>AXIOM Lab 2.16</a:t>
            </a:r>
            <a:endParaRPr lang="en-US" sz="1300" dirty="0"/>
          </a:p>
        </p:txBody>
      </p:sp>
      <p:sp>
        <p:nvSpPr>
          <p:cNvPr id="35" name="Card head"/>
          <p:cNvSpPr txBox="1"/>
          <p:nvPr/>
        </p:nvSpPr>
        <p:spPr>
          <a:xfrm>
            <a:off x="9258071" y="4526280"/>
            <a:ext cx="2202104" cy="1060704"/>
          </a:xfrm>
          <a:prstGeom prst="rect">
            <a:avLst/>
          </a:prstGeom>
          <a:noFill/>
          <a:ln/>
        </p:spPr>
        <p:txBody>
          <a:bodyPr wrap="square" lIns="0" tIns="0" rIns="0" bIns="0" rtlCol="0" anchor="t"/>
          <a:lstStyle/>
          <a:p>
            <a:pPr indent="0" marL="0">
              <a:buNone/>
            </a:pPr>
            <a:r>
              <a:rPr lang="en-US" sz="1500" b="1" dirty="0">
                <a:solidFill>
                  <a:schemeClr val="tx1"/>
                </a:solidFill>
                <a:latin typeface="Cambria" pitchFamily="34" charset="0"/>
                <a:ea typeface="Cambria" pitchFamily="34" charset="-122"/>
                <a:cs typeface="Cambria" pitchFamily="34" charset="-120"/>
              </a:rPr>
              <a:t>One Program: Check, Order, Price, Certify</a:t>
            </a:r>
            <a:endParaRPr lang="en-US" sz="1500" dirty="0"/>
          </a:p>
        </p:txBody>
      </p:sp>
      <p:sp>
        <p:nvSpPr>
          <p:cNvPr id="36" name="Card text"/>
          <p:cNvSpPr txBox="1"/>
          <p:nvPr/>
        </p:nvSpPr>
        <p:spPr>
          <a:xfrm>
            <a:off x="9258071" y="5660136"/>
            <a:ext cx="2202104" cy="384048"/>
          </a:xfrm>
          <a:prstGeom prst="rect">
            <a:avLst/>
          </a:prstGeom>
          <a:noFill/>
          <a:ln/>
        </p:spPr>
        <p:txBody>
          <a:bodyPr wrap="square" lIns="0" tIns="0" rIns="0" bIns="0" rtlCol="0" anchor="t"/>
          <a:lstStyle/>
          <a:p>
            <a:pPr indent="0" marL="0">
              <a:buNone/>
            </a:pPr>
            <a:r>
              <a:rPr lang="en-US" sz="1300" dirty="0">
                <a:solidFill>
                  <a:schemeClr val="tx2"/>
                </a:solidFill>
              </a:rPr>
              <a:t>AXIOM-16 · five steps</a:t>
            </a:r>
            <a:endParaRPr lang="en-US" sz="13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§16.1 · DEFINITION 16.1 · THEOREM 16.1</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Certify the sum of the claims, not the parts</a:t>
            </a:r>
            <a:endParaRPr lang="en-US" sz="3200" dirty="0"/>
          </a:p>
        </p:txBody>
      </p:sp>
      <p:sp>
        <p:nvSpPr>
          <p:cNvPr id="5" name="Result card"/>
          <p:cNvSpPr/>
          <p:nvPr/>
        </p:nvSpPr>
        <p:spPr>
          <a:xfrm>
            <a:off x="548640" y="1691640"/>
            <a:ext cx="6492240" cy="4480560"/>
          </a:xfrm>
          <a:prstGeom prst="roundRect">
            <a:avLst>
              <a:gd name="adj" fmla="val 1633"/>
            </a:avLst>
          </a:prstGeom>
          <a:solidFill>
            <a:schemeClr val="bg2"/>
          </a:solidFill>
          <a:ln w="9525">
            <a:solidFill>
              <a:srgbClr val="C4CBD8"/>
            </a:solidFill>
            <a:prstDash val="solid"/>
          </a:ln>
        </p:spPr>
      </p:sp>
      <p:sp>
        <p:nvSpPr>
          <p:cNvPr id="6" name="Text 3"/>
          <p:cNvSpPr txBox="1"/>
          <p:nvPr/>
        </p:nvSpPr>
        <p:spPr>
          <a:xfrm>
            <a:off x="822960" y="1892808"/>
            <a:ext cx="5943600" cy="292608"/>
          </a:xfrm>
          <a:prstGeom prst="rect">
            <a:avLst/>
          </a:prstGeom>
          <a:noFill/>
          <a:ln/>
        </p:spPr>
        <p:txBody>
          <a:bodyPr wrap="square" lIns="0" tIns="0" rIns="0" bIns="0" rtlCol="0" anchor="ctr"/>
          <a:lstStyle/>
          <a:p>
            <a:pPr indent="0" marL="0">
              <a:buNone/>
            </a:pPr>
            <a:r>
              <a:rPr lang="en-US" sz="1200" b="1" spc="200" kern="0" dirty="0">
                <a:solidFill>
                  <a:schemeClr val="accent1"/>
                </a:solidFill>
              </a:rPr>
              <a:t>THEOREM 16.1</a:t>
            </a:r>
            <a:endParaRPr lang="en-US" sz="1200" dirty="0"/>
          </a:p>
        </p:txBody>
      </p:sp>
      <p:sp>
        <p:nvSpPr>
          <p:cNvPr id="7" name="Text 4"/>
          <p:cNvSpPr txBox="1"/>
          <p:nvPr/>
        </p:nvSpPr>
        <p:spPr>
          <a:xfrm>
            <a:off x="822960" y="2194560"/>
            <a:ext cx="5943600" cy="457200"/>
          </a:xfrm>
          <a:prstGeom prst="rect">
            <a:avLst/>
          </a:prstGeom>
          <a:noFill/>
          <a:ln/>
        </p:spPr>
        <p:txBody>
          <a:bodyPr wrap="square" lIns="0" tIns="0" rIns="0" bIns="0" rtlCol="0" anchor="ctr"/>
          <a:lstStyle/>
          <a:p>
            <a:pPr indent="0" marL="0">
              <a:buNone/>
            </a:pPr>
            <a:r>
              <a:rPr lang="en-US" sz="2100" b="1" dirty="0">
                <a:solidFill>
                  <a:schemeClr val="tx1"/>
                </a:solidFill>
                <a:latin typeface="Cambria" pitchFamily="34" charset="0"/>
                <a:ea typeface="Cambria" pitchFamily="34" charset="-122"/>
                <a:cs typeface="Cambria" pitchFamily="34" charset="-120"/>
              </a:rPr>
              <a:t>One Program from Many Pieces</a:t>
            </a:r>
            <a:endParaRPr lang="en-US" sz="2100" dirty="0"/>
          </a:p>
        </p:txBody>
      </p:sp>
      <p:pic>
        <p:nvPicPr>
          <p:cNvPr id="8" name="Equation" descr="Equation: V^{*} \;\le\; D(\lambda) \;=\; \lambda^{\top} b \;+\; \sum_{i} \sup_{x_i \in X_i} \bigl[\, v_i(x_i) - \lambda^{\top} c_i(x_i) \,\bigr]">    </p:cNvPr>
          <p:cNvPicPr>
            <a:picLocks noChangeAspect="1"/>
          </p:cNvPicPr>
          <p:nvPr/>
        </p:nvPicPr>
        <p:blipFill>
          <a:blip r:embed="rId1"/>
          <a:stretch>
            <a:fillRect/>
          </a:stretch>
        </p:blipFill>
        <p:spPr>
          <a:xfrm>
            <a:off x="822960" y="2743200"/>
            <a:ext cx="4277285" cy="502920"/>
          </a:xfrm>
          <a:prstGeom prst="rect">
            <a:avLst/>
          </a:prstGeom>
        </p:spPr>
      </p:pic>
      <p:sp>
        <p:nvSpPr>
          <p:cNvPr id="9" name="Bullets"/>
          <p:cNvSpPr txBox="1"/>
          <p:nvPr/>
        </p:nvSpPr>
        <p:spPr>
          <a:xfrm>
            <a:off x="822960" y="3410712"/>
            <a:ext cx="5943600" cy="2624328"/>
          </a:xfrm>
          <a:prstGeom prst="rect">
            <a:avLst/>
          </a:prstGeom>
          <a:noFill/>
          <a:ln/>
        </p:spPr>
        <p:txBody>
          <a:bodyPr wrap="square" lIns="635" tIns="635" rIns="635" bIns="635" rtlCol="0" anchor="t"/>
          <a:lstStyle/>
          <a:p>
            <a:pPr marL="228600" indent="-228600">
              <a:spcAft>
                <a:spcPts val="600"/>
              </a:spcAft>
              <a:buSzPct val="100000"/>
              <a:buChar char="•"/>
            </a:pPr>
            <a:r>
              <a:rPr lang="en-US" sz="1500" b="1" dirty="0">
                <a:solidFill>
                  <a:schemeClr val="tx1"/>
                </a:solidFill>
              </a:rPr>
              <a:t>(i) Certify the sum, not the parts.</a:t>
            </a:r>
            <a:r>
              <a:rPr lang="en-US" sz="1500" dirty="0">
                <a:solidFill>
                  <a:schemeClr val="tx1"/>
                </a:solidFill>
              </a:rPr>
              <a:t> Feasible exactly when the claims' sum fits the room at every date; a piece certified on the whole room certifies nothing about the program</a:t>
            </a:r>
            <a:endParaRPr lang="en-US" sz="1500" dirty="0"/>
          </a:p>
          <a:p>
            <a:pPr marL="228600" indent="-228600">
              <a:spcAft>
                <a:spcPts val="600"/>
              </a:spcAft>
              <a:buSzPct val="100000"/>
              <a:buChar char="•"/>
            </a:pPr>
            <a:r>
              <a:rPr lang="en-US" sz="1500" b="1" dirty="0">
                <a:solidFill>
                  <a:schemeClr val="tx1"/>
                </a:solidFill>
              </a:rPr>
              <a:t>(ii) Appetites add when the room is split.</a:t>
            </a:r>
            <a:r>
              <a:rPr lang="en-US" sz="1500" dirty="0">
                <a:solidFill>
                  <a:schemeClr val="tx1"/>
                </a:solidFill>
              </a:rPr>
              <a:t> Shares kept with chances 1 − αᵢ keep the program with 1 − Σαᵢ; certifying jointly never needs more room</a:t>
            </a:r>
            <a:endParaRPr lang="en-US" sz="1500" dirty="0"/>
          </a:p>
          <a:p>
            <a:pPr marL="228600" indent="-228600">
              <a:spcAft>
                <a:spcPts val="600"/>
              </a:spcAft>
              <a:buSzPct val="100000"/>
              <a:buChar char="•"/>
            </a:pPr>
            <a:r>
              <a:rPr lang="en-US" sz="1500" b="1" dirty="0">
                <a:solidFill>
                  <a:schemeClr val="tx1"/>
                </a:solidFill>
              </a:rPr>
              <a:t>(iii) Internal prices.</a:t>
            </a:r>
            <a:r>
              <a:rPr lang="en-US" sz="1500" dirty="0">
                <a:solidFill>
                  <a:schemeClr val="tx1"/>
                </a:solidFill>
              </a:rPr>
              <a:t> Prices on the shared stocks give a ceiling each owner computes alone; at a best program every lever in use buys chance at the appetite's price</a:t>
            </a:r>
            <a:endParaRPr lang="en-US" sz="1500" dirty="0"/>
          </a:p>
        </p:txBody>
      </p:sp>
      <p:sp>
        <p:nvSpPr>
          <p:cNvPr id="10" name="Text 6"/>
          <p:cNvSpPr txBox="1"/>
          <p:nvPr/>
        </p:nvSpPr>
        <p:spPr>
          <a:xfrm>
            <a:off x="7452360" y="1737360"/>
            <a:ext cx="4190695" cy="365760"/>
          </a:xfrm>
          <a:prstGeom prst="rect">
            <a:avLst/>
          </a:prstGeom>
          <a:noFill/>
          <a:ln/>
        </p:spPr>
        <p:txBody>
          <a:bodyPr wrap="square" lIns="0" tIns="0" rIns="0" bIns="0" rtlCol="0" anchor="ctr"/>
          <a:lstStyle/>
          <a:p>
            <a:pPr indent="0" marL="0">
              <a:buNone/>
            </a:pPr>
            <a:r>
              <a:rPr lang="en-US" sz="1600" b="1" dirty="0">
                <a:solidFill>
                  <a:schemeClr val="accent2"/>
                </a:solidFill>
              </a:rPr>
              <a:t>Meridian's pieces, signed together</a:t>
            </a:r>
            <a:endParaRPr lang="en-US" sz="1600" dirty="0"/>
          </a:p>
        </p:txBody>
      </p:sp>
      <p:sp>
        <p:nvSpPr>
          <p:cNvPr id="11" name="Bullets"/>
          <p:cNvSpPr txBox="1"/>
          <p:nvPr/>
        </p:nvSpPr>
        <p:spPr>
          <a:xfrm>
            <a:off x="7452360" y="2194560"/>
            <a:ext cx="4190695" cy="3977640"/>
          </a:xfrm>
          <a:prstGeom prst="rect">
            <a:avLst/>
          </a:prstGeom>
          <a:noFill/>
          <a:ln/>
        </p:spPr>
        <p:txBody>
          <a:bodyPr wrap="square" lIns="635" tIns="635" rIns="635" bIns="635" rtlCol="0" anchor="t"/>
          <a:lstStyle/>
          <a:p>
            <a:pPr marL="228600" indent="-228600">
              <a:spcAft>
                <a:spcPts val="800"/>
              </a:spcAft>
              <a:buSzPct val="100000"/>
              <a:buChar char="•"/>
            </a:pPr>
            <a:r>
              <a:rPr lang="en-US" sz="1500" dirty="0">
                <a:solidFill>
                  <a:schemeClr val="tx1"/>
                </a:solidFill>
              </a:rPr>
              <a:t>Chapter 5's plan and Volume I's package, with the sale, breach on </a:t>
            </a:r>
            <a:r>
              <a:rPr lang="en-US" sz="1500" b="1" dirty="0">
                <a:solidFill>
                  <a:schemeClr val="tx1"/>
                </a:solidFill>
              </a:rPr>
              <a:t>74%</a:t>
            </a:r>
            <a:r>
              <a:rPr lang="en-US" sz="1500" dirty="0">
                <a:solidFill>
                  <a:schemeClr val="tx1"/>
                </a:solidFill>
              </a:rPr>
              <a:t> of paths; </a:t>
            </a:r>
            <a:r>
              <a:rPr lang="en-US" sz="1500" b="1" dirty="0">
                <a:solidFill>
                  <a:schemeClr val="tx1"/>
                </a:solidFill>
              </a:rPr>
              <a:t>99.6%</a:t>
            </a:r>
            <a:r>
              <a:rPr lang="en-US" sz="1500" dirty="0">
                <a:solidFill>
                  <a:schemeClr val="tx1"/>
                </a:solidFill>
              </a:rPr>
              <a:t> without it</a:t>
            </a:r>
            <a:endParaRPr lang="en-US" sz="1500" dirty="0"/>
          </a:p>
          <a:p>
            <a:pPr marL="228600" indent="-228600">
              <a:spcAft>
                <a:spcPts val="800"/>
              </a:spcAft>
              <a:buSzPct val="100000"/>
              <a:buChar char="•"/>
            </a:pPr>
            <a:r>
              <a:rPr lang="en-US" sz="1500" dirty="0">
                <a:solidFill>
                  <a:schemeClr val="tx1"/>
                </a:solidFill>
              </a:rPr>
              <a:t>With no deviations and no closures the plan keeps </a:t>
            </a:r>
            <a:r>
              <a:rPr lang="en-US" sz="1500" b="1" dirty="0">
                <a:solidFill>
                  <a:schemeClr val="tx1"/>
                </a:solidFill>
              </a:rPr>
              <a:t>$7m</a:t>
            </a:r>
            <a:r>
              <a:rPr lang="en-US" sz="1500" dirty="0">
                <a:solidFill>
                  <a:schemeClr val="tx1"/>
                </a:solidFill>
              </a:rPr>
              <a:t> above the floor at quarter 9</a:t>
            </a:r>
            <a:endParaRPr lang="en-US" sz="1500" dirty="0"/>
          </a:p>
          <a:p>
            <a:pPr marL="228600" indent="-228600">
              <a:spcAft>
                <a:spcPts val="800"/>
              </a:spcAft>
              <a:buSzPct val="100000"/>
              <a:buChar char="•"/>
            </a:pPr>
            <a:r>
              <a:rPr lang="en-US" sz="1500" dirty="0">
                <a:solidFill>
                  <a:schemeClr val="tx1"/>
                </a:solidFill>
              </a:rPr>
              <a:t>With Volume I's closure buffer the claims there exceed the room by </a:t>
            </a:r>
            <a:r>
              <a:rPr lang="en-US" sz="1500" b="1" dirty="0">
                <a:solidFill>
                  <a:schemeClr val="tx1"/>
                </a:solidFill>
              </a:rPr>
              <a:t>$9.6m</a:t>
            </a:r>
            <a:endParaRPr lang="en-US" sz="1500" dirty="0"/>
          </a:p>
          <a:p>
            <a:pPr marL="228600" indent="-228600">
              <a:spcAft>
                <a:spcPts val="800"/>
              </a:spcAft>
              <a:buSzPct val="100000"/>
              <a:buChar char="•"/>
            </a:pPr>
            <a:r>
              <a:rPr lang="en-US" sz="1500" dirty="0">
                <a:solidFill>
                  <a:schemeClr val="tx1"/>
                </a:solidFill>
              </a:rPr>
              <a:t>Keeping the pieces as certified would need </a:t>
            </a:r>
            <a:r>
              <a:rPr lang="en-US" sz="1500" b="1" dirty="0">
                <a:solidFill>
                  <a:schemeClr val="tx1"/>
                </a:solidFill>
              </a:rPr>
              <a:t>5.6 quarters</a:t>
            </a:r>
            <a:r>
              <a:rPr lang="en-US" sz="1500" dirty="0">
                <a:solidFill>
                  <a:schemeClr val="tx1"/>
                </a:solidFill>
              </a:rPr>
              <a:t> of delay, </a:t>
            </a:r>
            <a:r>
              <a:rPr lang="en-US" sz="1500" b="1" dirty="0">
                <a:solidFill>
                  <a:schemeClr val="tx1"/>
                </a:solidFill>
              </a:rPr>
              <a:t>$50.0m</a:t>
            </a:r>
            <a:r>
              <a:rPr lang="en-US" sz="1500" dirty="0">
                <a:solidFill>
                  <a:schemeClr val="tx1"/>
                </a:solidFill>
              </a:rPr>
              <a:t> of levers</a:t>
            </a:r>
            <a:endParaRPr lang="en-US" sz="1500" dirty="0"/>
          </a:p>
          <a:p>
            <a:pPr marL="228600" indent="-228600">
              <a:spcAft>
                <a:spcPts val="800"/>
              </a:spcAft>
              <a:buSzPct val="100000"/>
              <a:buChar char="•"/>
            </a:pPr>
            <a:r>
              <a:rPr lang="en-US" sz="1500" dirty="0">
                <a:solidFill>
                  <a:schemeClr val="tx1"/>
                </a:solidFill>
              </a:rPr>
              <a:t>The program's appetite is worth </a:t>
            </a:r>
            <a:r>
              <a:rPr lang="en-US" sz="1500" b="1" dirty="0">
                <a:solidFill>
                  <a:schemeClr val="tx1"/>
                </a:solidFill>
              </a:rPr>
              <a:t>$1.83m</a:t>
            </a:r>
            <a:r>
              <a:rPr lang="en-US" sz="1500" dirty="0">
                <a:solidFill>
                  <a:schemeClr val="tx1"/>
                </a:solidFill>
              </a:rPr>
              <a:t> a point, near Volume I's </a:t>
            </a:r>
            <a:r>
              <a:rPr lang="en-US" sz="1500" b="1" dirty="0">
                <a:solidFill>
                  <a:schemeClr val="tx1"/>
                </a:solidFill>
              </a:rPr>
              <a:t>$1.81m</a:t>
            </a:r>
            <a:r>
              <a:rPr lang="en-US" sz="1500" dirty="0">
                <a:solidFill>
                  <a:schemeClr val="tx1"/>
                </a:solidFill>
              </a:rPr>
              <a:t> for the build alone</a:t>
            </a:r>
            <a:endParaRPr lang="en-US" sz="15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§16.1 · TABLE 16.1</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Five pieces, two shared stocks</a:t>
            </a:r>
            <a:endParaRPr lang="en-US" sz="3200" dirty="0"/>
          </a:p>
        </p:txBody>
      </p:sp>
      <p:graphicFrame>
        <p:nvGraphicFramePr>
          <p:cNvPr id="7" name="Table"/>
          <p:cNvGraphicFramePr>
            <a:graphicFrameLocks noGrp="1"/>
          </p:cNvGraphicFramePr>
          <p:nvPr>
            <p:extLst>
              <p:ext uri="{D42A27DB-BD31-4B8C-83A1-F6EECF244321}">
                <p14:modId xmlns:p14="http://schemas.microsoft.com/office/powerpoint/2010/main" val="1579011935"/>
              </p:ext>
            </p:extLst>
          </p:nvPr>
        </p:nvGraphicFramePr>
        <p:xfrm>
          <a:off x="548640" y="1691640"/>
          <a:ext cx="11094415" cy="914400"/>
        </p:xfrm>
        <a:graphic>
          <a:graphicData uri="http://schemas.openxmlformats.org/drawingml/2006/table">
            <a:tbl>
              <a:tblPr/>
              <a:tblGrid>
                <a:gridCol w="2600254"/>
                <a:gridCol w="2253553"/>
                <a:gridCol w="2946954"/>
                <a:gridCol w="3293655"/>
              </a:tblGrid>
              <a:tr h="640080">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Piece</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Owner</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Certified in</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Claims on</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r>
              <a:tr h="640080">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Build and its package</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transformation office; CFO</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Volume I, WE 15.1; Chapters 1, 4, 9–11, 13</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liquidity (the draw); capability of 55 to start</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r h="640080">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Sale, engineers kept</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board</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Volume I, WE 3.1; Chapters 6–7</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adds $92 million of liquidity</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r>
              <a:tr h="640080">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Automation rounds and payouts</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COO; CFO</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Volume I, WE 6.1; Chapters 2–5, 12</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liquidity ($120 million a round); capability of 55 at a round</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r h="640080">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Capability rule and twin</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human resources; audit committee</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Chapters 6–8, 14–15</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capability (floor 55)</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r>
              <a:tr h="640080">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Appetite</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board</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Volume I, Chapter 8; Chapter 9</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the joint check</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bl>
          </a:graphicData>
        </a:graphic>
      </p:graphicFrame>
      <p:sp>
        <p:nvSpPr>
          <p:cNvPr id="6" name="Lead"/>
          <p:cNvSpPr txBox="1"/>
          <p:nvPr/>
        </p:nvSpPr>
        <p:spPr>
          <a:xfrm>
            <a:off x="548640" y="5760720"/>
            <a:ext cx="11094415" cy="411480"/>
          </a:xfrm>
          <a:prstGeom prst="rect">
            <a:avLst/>
          </a:prstGeom>
          <a:noFill/>
          <a:ln/>
        </p:spPr>
        <p:txBody>
          <a:bodyPr wrap="square" lIns="0" tIns="0" rIns="0" bIns="0" rtlCol="0" anchor="ctr"/>
          <a:lstStyle/>
          <a:p>
            <a:pPr indent="0" marL="0">
              <a:buNone/>
            </a:pPr>
            <a:r>
              <a:rPr lang="en-US" sz="1600" dirty="0">
                <a:solidFill>
                  <a:schemeClr val="accent2"/>
                </a:solidFill>
              </a:rPr>
              <a:t>Pieces that share a stock are one program, and a program is certified only as a whole.</a:t>
            </a:r>
            <a:endParaRPr lang="en-US" sz="16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§16.2 · DEFINITION 16.2 · THEOREM 16.2</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Order and timing are computed, not negotiated</a:t>
            </a:r>
            <a:endParaRPr lang="en-US" sz="3200" dirty="0"/>
          </a:p>
        </p:txBody>
      </p:sp>
      <p:sp>
        <p:nvSpPr>
          <p:cNvPr id="5" name="Result card"/>
          <p:cNvSpPr/>
          <p:nvPr/>
        </p:nvSpPr>
        <p:spPr>
          <a:xfrm>
            <a:off x="548640" y="1691640"/>
            <a:ext cx="6492240" cy="4480560"/>
          </a:xfrm>
          <a:prstGeom prst="roundRect">
            <a:avLst>
              <a:gd name="adj" fmla="val 1633"/>
            </a:avLst>
          </a:prstGeom>
          <a:solidFill>
            <a:schemeClr val="bg2"/>
          </a:solidFill>
          <a:ln w="9525">
            <a:solidFill>
              <a:srgbClr val="C4CBD8"/>
            </a:solidFill>
            <a:prstDash val="solid"/>
          </a:ln>
        </p:spPr>
      </p:sp>
      <p:sp>
        <p:nvSpPr>
          <p:cNvPr id="6" name="Text 3"/>
          <p:cNvSpPr txBox="1"/>
          <p:nvPr/>
        </p:nvSpPr>
        <p:spPr>
          <a:xfrm>
            <a:off x="822960" y="1892808"/>
            <a:ext cx="5943600" cy="292608"/>
          </a:xfrm>
          <a:prstGeom prst="rect">
            <a:avLst/>
          </a:prstGeom>
          <a:noFill/>
          <a:ln/>
        </p:spPr>
        <p:txBody>
          <a:bodyPr wrap="square" lIns="0" tIns="0" rIns="0" bIns="0" rtlCol="0" anchor="ctr"/>
          <a:lstStyle/>
          <a:p>
            <a:pPr indent="0" marL="0">
              <a:buNone/>
            </a:pPr>
            <a:r>
              <a:rPr lang="en-US" sz="1200" b="1" spc="200" kern="0" dirty="0">
                <a:solidFill>
                  <a:schemeClr val="accent1"/>
                </a:solidFill>
              </a:rPr>
              <a:t>THEOREM 16.2</a:t>
            </a:r>
            <a:endParaRPr lang="en-US" sz="1200" dirty="0"/>
          </a:p>
        </p:txBody>
      </p:sp>
      <p:sp>
        <p:nvSpPr>
          <p:cNvPr id="7" name="Text 4"/>
          <p:cNvSpPr txBox="1"/>
          <p:nvPr/>
        </p:nvSpPr>
        <p:spPr>
          <a:xfrm>
            <a:off x="822960" y="2194560"/>
            <a:ext cx="5943600" cy="457200"/>
          </a:xfrm>
          <a:prstGeom prst="rect">
            <a:avLst/>
          </a:prstGeom>
          <a:noFill/>
          <a:ln/>
        </p:spPr>
        <p:txBody>
          <a:bodyPr wrap="square" lIns="0" tIns="0" rIns="0" bIns="0" rtlCol="0" anchor="ctr"/>
          <a:lstStyle/>
          <a:p>
            <a:pPr indent="0" marL="0">
              <a:buNone/>
            </a:pPr>
            <a:r>
              <a:rPr lang="en-US" sz="2100" b="1" dirty="0">
                <a:solidFill>
                  <a:schemeClr val="tx1"/>
                </a:solidFill>
                <a:latin typeface="Cambria" pitchFamily="34" charset="0"/>
                <a:ea typeface="Cambria" pitchFamily="34" charset="-122"/>
                <a:cs typeface="Cambria" pitchFamily="34" charset="-120"/>
              </a:rPr>
              <a:t>Order and Timing</a:t>
            </a:r>
            <a:endParaRPr lang="en-US" sz="2100" dirty="0"/>
          </a:p>
        </p:txBody>
      </p:sp>
      <p:pic>
        <p:nvPicPr>
          <p:cNvPr id="8" name="Equation" descr="Equation: \sup_{\tau(\cdot)} \mathrm{E}\, f\bigl(\tau(Y), Y\bigr) \;=\; \mathrm{E} \max_{\tau \in A} f(\tau, Y) \;\ge\; \max_{\tau \in A} \mathrm{E}\, f(\tau, Y)">    </p:cNvPr>
          <p:cNvPicPr>
            <a:picLocks noChangeAspect="1"/>
          </p:cNvPicPr>
          <p:nvPr/>
        </p:nvPicPr>
        <p:blipFill>
          <a:blip r:embed="rId1"/>
          <a:stretch>
            <a:fillRect/>
          </a:stretch>
        </p:blipFill>
        <p:spPr>
          <a:xfrm>
            <a:off x="822960" y="2743200"/>
            <a:ext cx="3923930" cy="457200"/>
          </a:xfrm>
          <a:prstGeom prst="rect">
            <a:avLst/>
          </a:prstGeom>
        </p:spPr>
      </p:pic>
      <p:sp>
        <p:nvSpPr>
          <p:cNvPr id="9" name="Bullets"/>
          <p:cNvSpPr txBox="1"/>
          <p:nvPr/>
        </p:nvSpPr>
        <p:spPr>
          <a:xfrm>
            <a:off x="822960" y="3364992"/>
            <a:ext cx="5943600" cy="2670048"/>
          </a:xfrm>
          <a:prstGeom prst="rect">
            <a:avLst/>
          </a:prstGeom>
          <a:noFill/>
          <a:ln/>
        </p:spPr>
        <p:txBody>
          <a:bodyPr wrap="square" lIns="635" tIns="635" rIns="635" bIns="635" rtlCol="0" anchor="t"/>
          <a:lstStyle/>
          <a:p>
            <a:pPr marL="228600" indent="-228600">
              <a:spcAft>
                <a:spcPts val="600"/>
              </a:spcAft>
              <a:buSzPct val="100000"/>
              <a:buChar char="•"/>
            </a:pPr>
            <a:r>
              <a:rPr lang="en-US" sz="1500" b="1" dirty="0">
                <a:solidFill>
                  <a:schemeClr val="tx1"/>
                </a:solidFill>
              </a:rPr>
              <a:t>(i) Order is a decision.</a:t>
            </a:r>
            <a:r>
              <a:rPr lang="en-US" sz="1500" dirty="0">
                <a:solidFill>
                  <a:schemeClr val="tx1"/>
                </a:solidFill>
              </a:rPr>
              <a:t> The best order solves a dynamic program over the moves taken and the stocks they left</a:t>
            </a:r>
            <a:endParaRPr lang="en-US" sz="1500" dirty="0"/>
          </a:p>
          <a:p>
            <a:pPr marL="228600" indent="-228600">
              <a:spcAft>
                <a:spcPts val="600"/>
              </a:spcAft>
              <a:buSzPct val="100000"/>
              <a:buChar char="•"/>
            </a:pPr>
            <a:r>
              <a:rPr lang="en-US" sz="1500" b="1" dirty="0">
                <a:solidFill>
                  <a:schemeClr val="tx1"/>
                </a:solidFill>
              </a:rPr>
              <a:t>(ii) What only adds goes first.</a:t>
            </a:r>
            <a:r>
              <a:rPr lang="en-US" sz="1500" dirty="0">
                <a:solidFill>
                  <a:schemeClr val="tx1"/>
                </a:solidFill>
              </a:rPr>
              <a:t> A move always available, that keeps the others in their domains and commutes with them, can go first without loss</a:t>
            </a:r>
            <a:endParaRPr lang="en-US" sz="1500" dirty="0"/>
          </a:p>
          <a:p>
            <a:pPr marL="228600" indent="-228600">
              <a:spcAft>
                <a:spcPts val="600"/>
              </a:spcAft>
              <a:buSzPct val="100000"/>
              <a:buChar char="•"/>
            </a:pPr>
            <a:r>
              <a:rPr lang="en-US" sz="1500" b="1" dirty="0">
                <a:solidFill>
                  <a:schemeClr val="tx1"/>
                </a:solidFill>
              </a:rPr>
              <a:t>(iii) Keeping a choice open.</a:t>
            </a:r>
            <a:r>
              <a:rPr lang="en-US" sz="1500" dirty="0">
                <a:solidFill>
                  <a:schemeClr val="tx1"/>
                </a:solidFill>
              </a:rPr>
              <a:t> Timing an irreversible move on a reading is worth at least the best committed timing; more when the best timing depends on the reading</a:t>
            </a:r>
            <a:endParaRPr lang="en-US" sz="1500" dirty="0"/>
          </a:p>
          <a:p>
            <a:pPr marL="228600" indent="-228600">
              <a:spcAft>
                <a:spcPts val="600"/>
              </a:spcAft>
              <a:buSzPct val="100000"/>
              <a:buChar char="•"/>
            </a:pPr>
            <a:r>
              <a:rPr lang="en-US" sz="1500" dirty="0">
                <a:solidFill>
                  <a:schemeClr val="tx1"/>
                </a:solidFill>
              </a:rPr>
              <a:t>A </a:t>
            </a:r>
            <a:r>
              <a:rPr lang="en-US" sz="1500" b="1" dirty="0">
                <a:solidFill>
                  <a:schemeClr val="tx1"/>
                </a:solidFill>
              </a:rPr>
              <a:t>roadmap</a:t>
            </a:r>
            <a:r>
              <a:rPr lang="en-US" sz="1500" dirty="0">
                <a:solidFill>
                  <a:schemeClr val="tx1"/>
                </a:solidFill>
              </a:rPr>
              <a:t> is the moves in their computed order; a </a:t>
            </a:r>
            <a:r>
              <a:rPr lang="en-US" sz="1500" b="1" dirty="0">
                <a:solidFill>
                  <a:schemeClr val="tx1"/>
                </a:solidFill>
              </a:rPr>
              <a:t>milestone</a:t>
            </a:r>
            <a:r>
              <a:rPr lang="en-US" sz="1500" dirty="0">
                <a:solidFill>
                  <a:schemeClr val="tx1"/>
                </a:solidFill>
              </a:rPr>
              <a:t> records why decisions change there</a:t>
            </a:r>
            <a:endParaRPr lang="en-US" sz="1500" dirty="0"/>
          </a:p>
        </p:txBody>
      </p:sp>
      <p:sp>
        <p:nvSpPr>
          <p:cNvPr id="10" name="Text 6"/>
          <p:cNvSpPr txBox="1"/>
          <p:nvPr/>
        </p:nvSpPr>
        <p:spPr>
          <a:xfrm>
            <a:off x="7452360" y="1737360"/>
            <a:ext cx="4190695" cy="365760"/>
          </a:xfrm>
          <a:prstGeom prst="rect">
            <a:avLst/>
          </a:prstGeom>
          <a:noFill/>
          <a:ln/>
        </p:spPr>
        <p:txBody>
          <a:bodyPr wrap="square" lIns="0" tIns="0" rIns="0" bIns="0" rtlCol="0" anchor="ctr"/>
          <a:lstStyle/>
          <a:p>
            <a:pPr indent="0" marL="0">
              <a:buNone/>
            </a:pPr>
            <a:r>
              <a:rPr lang="en-US" sz="1600" b="1" dirty="0">
                <a:solidFill>
                  <a:schemeClr val="accent2"/>
                </a:solidFill>
              </a:rPr>
              <a:t>Meridian's roadmap</a:t>
            </a:r>
            <a:endParaRPr lang="en-US" sz="1600" dirty="0"/>
          </a:p>
        </p:txBody>
      </p:sp>
      <p:sp>
        <p:nvSpPr>
          <p:cNvPr id="11" name="Bullets"/>
          <p:cNvSpPr txBox="1"/>
          <p:nvPr/>
        </p:nvSpPr>
        <p:spPr>
          <a:xfrm>
            <a:off x="7452360" y="2194560"/>
            <a:ext cx="4190695" cy="3977640"/>
          </a:xfrm>
          <a:prstGeom prst="rect">
            <a:avLst/>
          </a:prstGeom>
          <a:noFill/>
          <a:ln/>
        </p:spPr>
        <p:txBody>
          <a:bodyPr wrap="square" lIns="635" tIns="635" rIns="635" bIns="635" rtlCol="0" anchor="t"/>
          <a:lstStyle/>
          <a:p>
            <a:pPr marL="228600" indent="-228600">
              <a:spcAft>
                <a:spcPts val="800"/>
              </a:spcAft>
              <a:buSzPct val="100000"/>
              <a:buChar char="•"/>
            </a:pPr>
            <a:r>
              <a:rPr lang="en-US" sz="1500" dirty="0">
                <a:solidFill>
                  <a:schemeClr val="tx1"/>
                </a:solidFill>
              </a:rPr>
              <a:t>Kept with its engineers, the sale only adds cash, so it goes first: worth </a:t>
            </a:r>
            <a:r>
              <a:rPr lang="en-US" sz="1500" b="1" dirty="0">
                <a:solidFill>
                  <a:schemeClr val="tx1"/>
                </a:solidFill>
              </a:rPr>
              <a:t>$100.5m</a:t>
            </a:r>
            <a:r>
              <a:rPr lang="en-US" sz="1500" dirty="0">
                <a:solidFill>
                  <a:schemeClr val="tx1"/>
                </a:solidFill>
              </a:rPr>
              <a:t>, </a:t>
            </a:r>
            <a:r>
              <a:rPr lang="en-US" sz="1500" b="1" dirty="0">
                <a:solidFill>
                  <a:schemeClr val="tx1"/>
                </a:solidFill>
              </a:rPr>
              <a:t>$37.6m</a:t>
            </a:r>
            <a:r>
              <a:rPr lang="en-US" sz="1500" dirty="0">
                <a:solidFill>
                  <a:schemeClr val="tx1"/>
                </a:solidFill>
              </a:rPr>
              <a:t> more than after the build</a:t>
            </a:r>
            <a:endParaRPr lang="en-US" sz="1500" dirty="0"/>
          </a:p>
          <a:p>
            <a:pPr marL="228600" indent="-228600">
              <a:spcAft>
                <a:spcPts val="800"/>
              </a:spcAft>
              <a:buSzPct val="100000"/>
              <a:buChar char="•"/>
            </a:pPr>
            <a:r>
              <a:rPr lang="en-US" sz="1500" dirty="0">
                <a:solidFill>
                  <a:schemeClr val="tx1"/>
                </a:solidFill>
              </a:rPr>
              <a:t>Rounds in years 1–3: round 3 in year 4 costs </a:t>
            </a:r>
            <a:r>
              <a:rPr lang="en-US" sz="1500" b="1" dirty="0">
                <a:solidFill>
                  <a:schemeClr val="tx1"/>
                </a:solidFill>
              </a:rPr>
              <a:t>$2.6m</a:t>
            </a:r>
            <a:r>
              <a:rPr lang="en-US" sz="1500" dirty="0">
                <a:solidFill>
                  <a:schemeClr val="tx1"/>
                </a:solidFill>
              </a:rPr>
              <a:t>, starting in year 2 </a:t>
            </a:r>
            <a:r>
              <a:rPr lang="en-US" sz="1500" b="1" dirty="0">
                <a:solidFill>
                  <a:schemeClr val="tx1"/>
                </a:solidFill>
              </a:rPr>
              <a:t>$85.8m</a:t>
            </a:r>
            <a:endParaRPr lang="en-US" sz="1500" dirty="0"/>
          </a:p>
          <a:p>
            <a:pPr marL="228600" indent="-228600">
              <a:spcAft>
                <a:spcPts val="800"/>
              </a:spcAft>
              <a:buSzPct val="100000"/>
              <a:buChar char="•"/>
            </a:pPr>
            <a:r>
              <a:rPr lang="en-US" sz="1500" dirty="0">
                <a:solidFill>
                  <a:schemeClr val="tx1"/>
                </a:solidFill>
              </a:rPr>
              <a:t>Round 3 run in year 3 only if cash after the year-2 payout is at least </a:t>
            </a:r>
            <a:r>
              <a:rPr lang="en-US" sz="1500" b="1" dirty="0">
                <a:solidFill>
                  <a:schemeClr val="tx1"/>
                </a:solidFill>
              </a:rPr>
              <a:t>$490m</a:t>
            </a:r>
            <a:r>
              <a:rPr lang="en-US" sz="1500" dirty="0">
                <a:solidFill>
                  <a:schemeClr val="tx1"/>
                </a:solidFill>
              </a:rPr>
              <a:t>: </a:t>
            </a:r>
            <a:r>
              <a:rPr lang="en-US" sz="1500" b="1" dirty="0">
                <a:solidFill>
                  <a:schemeClr val="tx1"/>
                </a:solidFill>
              </a:rPr>
              <a:t>$1.35m</a:t>
            </a:r>
            <a:r>
              <a:rPr lang="en-US" sz="1500" dirty="0">
                <a:solidFill>
                  <a:schemeClr val="tx1"/>
                </a:solidFill>
              </a:rPr>
              <a:t> more than committing it to year 3</a:t>
            </a:r>
            <a:endParaRPr lang="en-US" sz="15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§16.2 · PROPOSITIONS 16.1–16.2</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Phase the core so every phase is stable</a:t>
            </a:r>
            <a:endParaRPr lang="en-US" sz="3200" dirty="0"/>
          </a:p>
        </p:txBody>
      </p:sp>
      <p:graphicFrame>
        <p:nvGraphicFramePr>
          <p:cNvPr id="9" name="Table"/>
          <p:cNvGraphicFramePr>
            <a:graphicFrameLocks noGrp="1"/>
          </p:cNvGraphicFramePr>
          <p:nvPr>
            <p:extLst>
              <p:ext uri="{D42A27DB-BD31-4B8C-83A1-F6EECF244321}">
                <p14:modId xmlns:p14="http://schemas.microsoft.com/office/powerpoint/2010/main" val="1579011935"/>
              </p:ext>
            </p:extLst>
          </p:nvPr>
        </p:nvGraphicFramePr>
        <p:xfrm>
          <a:off x="548640" y="1691640"/>
          <a:ext cx="11094415" cy="914400"/>
        </p:xfrm>
        <a:graphic>
          <a:graphicData uri="http://schemas.openxmlformats.org/drawingml/2006/table">
            <a:tbl>
              <a:tblPr/>
              <a:tblGrid>
                <a:gridCol w="3120304"/>
                <a:gridCol w="2253553"/>
                <a:gridCol w="1473477"/>
                <a:gridCol w="1646827"/>
                <a:gridCol w="2600254"/>
              </a:tblGrid>
              <a:tr h="512064">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Phase of the build</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Engineering and treasury links</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New link</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Spectral radius</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Half-life</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r>
              <a:tr h="512064">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Today</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0F1E3D"/>
                          </a:solidFill>
                          <a:latin typeface="Calibri" pitchFamily="34" charset="0"/>
                          <a:ea typeface="Calibri" pitchFamily="34" charset="-122"/>
                          <a:cs typeface="Calibri" pitchFamily="34" charset="-120"/>
                        </a:rPr>
                        <a:t>0.40</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0F1E3D"/>
                          </a:solidFill>
                          <a:latin typeface="Calibri" pitchFamily="34" charset="0"/>
                          <a:ea typeface="Calibri" pitchFamily="34" charset="-122"/>
                          <a:cs typeface="Calibri" pitchFamily="34" charset="-120"/>
                        </a:rPr>
                        <a:t>none</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0F1E3D"/>
                          </a:solidFill>
                          <a:latin typeface="Calibri" pitchFamily="34" charset="0"/>
                          <a:ea typeface="Calibri" pitchFamily="34" charset="-122"/>
                          <a:cs typeface="Calibri" pitchFamily="34" charset="-120"/>
                        </a:rPr>
                        <a:t>0.800</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0F1E3D"/>
                          </a:solidFill>
                          <a:latin typeface="Calibri" pitchFamily="34" charset="0"/>
                          <a:ea typeface="Calibri" pitchFamily="34" charset="-122"/>
                          <a:cs typeface="Calibri" pitchFamily="34" charset="-120"/>
                        </a:rPr>
                        <a:t>3.1 quarters</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r h="512064">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Phase two, the link added first</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ctr" indent="0" marL="0">
                        <a:buNone/>
                      </a:pPr>
                      <a:r>
                        <a:rPr lang="en-US" sz="1500" dirty="0">
                          <a:solidFill>
                            <a:srgbClr val="0F1E3D"/>
                          </a:solidFill>
                          <a:latin typeface="Calibri" pitchFamily="34" charset="0"/>
                          <a:ea typeface="Calibri" pitchFamily="34" charset="-122"/>
                          <a:cs typeface="Calibri" pitchFamily="34" charset="-120"/>
                        </a:rPr>
                        <a:t>0.40</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ctr" indent="0" marL="0">
                        <a:buNone/>
                      </a:pPr>
                      <a:r>
                        <a:rPr lang="en-US" sz="1500" dirty="0">
                          <a:solidFill>
                            <a:srgbClr val="0F1E3D"/>
                          </a:solidFill>
                          <a:latin typeface="Calibri" pitchFamily="34" charset="0"/>
                          <a:ea typeface="Calibri" pitchFamily="34" charset="-122"/>
                          <a:cs typeface="Calibri" pitchFamily="34" charset="-120"/>
                        </a:rPr>
                        <a:t>0.40</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ctr" indent="0" marL="0">
                        <a:buNone/>
                      </a:pPr>
                      <a:r>
                        <a:rPr lang="en-US" sz="1500" dirty="0">
                          <a:solidFill>
                            <a:srgbClr val="0F1E3D"/>
                          </a:solidFill>
                          <a:latin typeface="Calibri" pitchFamily="34" charset="0"/>
                          <a:ea typeface="Calibri" pitchFamily="34" charset="-122"/>
                          <a:cs typeface="Calibri" pitchFamily="34" charset="-120"/>
                        </a:rPr>
                        <a:t>1.025</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ctr" indent="0" marL="0">
                        <a:buNone/>
                      </a:pPr>
                      <a:r>
                        <a:rPr lang="en-US" sz="1500" dirty="0">
                          <a:solidFill>
                            <a:srgbClr val="0F1E3D"/>
                          </a:solidFill>
                          <a:latin typeface="Calibri" pitchFamily="34" charset="0"/>
                          <a:ea typeface="Calibri" pitchFamily="34" charset="-122"/>
                          <a:cs typeface="Calibri" pitchFamily="34" charset="-120"/>
                        </a:rPr>
                        <a:t>none: deviations grow</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r>
              <a:tr h="512064">
                <a:tc>
                  <a:txBody>
                    <a:bodyPr/>
                    <a:lstStyle/>
                    <a:p>
                      <a:pPr algn="l" indent="0" marL="0">
                        <a:buNone/>
                      </a:pPr>
                      <a:r>
                        <a:rPr lang="en-US" sz="1500" b="1" dirty="0">
                          <a:solidFill>
                            <a:srgbClr val="0F1E3D"/>
                          </a:solidFill>
                          <a:latin typeface="Calibri" pitchFamily="34" charset="0"/>
                          <a:ea typeface="Calibri" pitchFamily="34" charset="-122"/>
                          <a:cs typeface="Calibri" pitchFamily="34" charset="-120"/>
                        </a:rPr>
                        <a:t>Phase two, every link trimmed</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EFE4D0"/>
                    </a:solidFill>
                  </a:tcPr>
                </a:tc>
                <a:tc>
                  <a:txBody>
                    <a:bodyPr/>
                    <a:lstStyle/>
                    <a:p>
                      <a:pPr algn="ctr" indent="0" marL="0">
                        <a:buNone/>
                      </a:pPr>
                      <a:r>
                        <a:rPr lang="en-US" sz="1500" dirty="0">
                          <a:solidFill>
                            <a:srgbClr val="0F1E3D"/>
                          </a:solidFill>
                          <a:latin typeface="Calibri" pitchFamily="34" charset="0"/>
                          <a:ea typeface="Calibri" pitchFamily="34" charset="-122"/>
                          <a:cs typeface="Calibri" pitchFamily="34" charset="-120"/>
                        </a:rPr>
                        <a:t>0.304</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EFE4D0"/>
                    </a:solidFill>
                  </a:tcPr>
                </a:tc>
                <a:tc>
                  <a:txBody>
                    <a:bodyPr/>
                    <a:lstStyle/>
                    <a:p>
                      <a:pPr algn="ctr" indent="0" marL="0">
                        <a:buNone/>
                      </a:pPr>
                      <a:r>
                        <a:rPr lang="en-US" sz="1500" dirty="0">
                          <a:solidFill>
                            <a:srgbClr val="0F1E3D"/>
                          </a:solidFill>
                          <a:latin typeface="Calibri" pitchFamily="34" charset="0"/>
                          <a:ea typeface="Calibri" pitchFamily="34" charset="-122"/>
                          <a:cs typeface="Calibri" pitchFamily="34" charset="-120"/>
                        </a:rPr>
                        <a:t>0.40</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EFE4D0"/>
                    </a:solidFill>
                  </a:tcPr>
                </a:tc>
                <a:tc>
                  <a:txBody>
                    <a:bodyPr/>
                    <a:lstStyle/>
                    <a:p>
                      <a:pPr algn="ctr" indent="0" marL="0">
                        <a:buNone/>
                      </a:pPr>
                      <a:r>
                        <a:rPr lang="en-US" sz="1500" dirty="0">
                          <a:solidFill>
                            <a:srgbClr val="0F1E3D"/>
                          </a:solidFill>
                          <a:latin typeface="Calibri" pitchFamily="34" charset="0"/>
                          <a:ea typeface="Calibri" pitchFamily="34" charset="-122"/>
                          <a:cs typeface="Calibri" pitchFamily="34" charset="-120"/>
                        </a:rPr>
                        <a:t>0.841</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EFE4D0"/>
                    </a:solidFill>
                  </a:tcPr>
                </a:tc>
                <a:tc>
                  <a:txBody>
                    <a:bodyPr/>
                    <a:lstStyle/>
                    <a:p>
                      <a:pPr algn="ctr" indent="0" marL="0">
                        <a:buNone/>
                      </a:pPr>
                      <a:r>
                        <a:rPr lang="en-US" sz="1500" dirty="0">
                          <a:solidFill>
                            <a:srgbClr val="0F1E3D"/>
                          </a:solidFill>
                          <a:latin typeface="Calibri" pitchFamily="34" charset="0"/>
                          <a:ea typeface="Calibri" pitchFamily="34" charset="-122"/>
                          <a:cs typeface="Calibri" pitchFamily="34" charset="-120"/>
                        </a:rPr>
                        <a:t>4.00 quarters</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EFE4D0"/>
                    </a:solidFill>
                  </a:tcPr>
                </a:tc>
              </a:tr>
              <a:tr h="512064">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Trim first, the link later</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ctr" indent="0" marL="0">
                        <a:buNone/>
                      </a:pPr>
                      <a:r>
                        <a:rPr lang="en-US" sz="1500" dirty="0">
                          <a:solidFill>
                            <a:srgbClr val="0F1E3D"/>
                          </a:solidFill>
                          <a:latin typeface="Calibri" pitchFamily="34" charset="0"/>
                          <a:ea typeface="Calibri" pitchFamily="34" charset="-122"/>
                          <a:cs typeface="Calibri" pitchFamily="34" charset="-120"/>
                        </a:rPr>
                        <a:t>0.304</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ctr" indent="0" marL="0">
                        <a:buNone/>
                      </a:pPr>
                      <a:r>
                        <a:rPr lang="en-US" sz="1500" dirty="0">
                          <a:solidFill>
                            <a:srgbClr val="0F1E3D"/>
                          </a:solidFill>
                          <a:latin typeface="Calibri" pitchFamily="34" charset="0"/>
                          <a:ea typeface="Calibri" pitchFamily="34" charset="-122"/>
                          <a:cs typeface="Calibri" pitchFamily="34" charset="-120"/>
                        </a:rPr>
                        <a:t>none</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ctr" indent="0" marL="0">
                        <a:buNone/>
                      </a:pPr>
                      <a:r>
                        <a:rPr lang="en-US" sz="1500" dirty="0">
                          <a:solidFill>
                            <a:srgbClr val="0F1E3D"/>
                          </a:solidFill>
                          <a:latin typeface="Calibri" pitchFamily="34" charset="0"/>
                          <a:ea typeface="Calibri" pitchFamily="34" charset="-122"/>
                          <a:cs typeface="Calibri" pitchFamily="34" charset="-120"/>
                        </a:rPr>
                        <a:t>0.609</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ctr" indent="0" marL="0">
                        <a:buNone/>
                      </a:pPr>
                      <a:r>
                        <a:rPr lang="en-US" sz="1500" dirty="0">
                          <a:solidFill>
                            <a:srgbClr val="0F1E3D"/>
                          </a:solidFill>
                          <a:latin typeface="Calibri" pitchFamily="34" charset="0"/>
                          <a:ea typeface="Calibri" pitchFamily="34" charset="-122"/>
                          <a:cs typeface="Calibri" pitchFamily="34" charset="-120"/>
                        </a:rPr>
                        <a:t>1.40 quarters</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r>
              <a:tr h="512064">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Phase two, the link run light</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0F1E3D"/>
                          </a:solidFill>
                          <a:latin typeface="Calibri" pitchFamily="34" charset="0"/>
                          <a:ea typeface="Calibri" pitchFamily="34" charset="-122"/>
                          <a:cs typeface="Calibri" pitchFamily="34" charset="-120"/>
                        </a:rPr>
                        <a:t>0.40</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0F1E3D"/>
                          </a:solidFill>
                          <a:latin typeface="Calibri" pitchFamily="34" charset="0"/>
                          <a:ea typeface="Calibri" pitchFamily="34" charset="-122"/>
                          <a:cs typeface="Calibri" pitchFamily="34" charset="-120"/>
                        </a:rPr>
                        <a:t>0.080</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0F1E3D"/>
                          </a:solidFill>
                          <a:latin typeface="Calibri" pitchFamily="34" charset="0"/>
                          <a:ea typeface="Calibri" pitchFamily="34" charset="-122"/>
                          <a:cs typeface="Calibri" pitchFamily="34" charset="-120"/>
                        </a:rPr>
                        <a:t>0.841</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0F1E3D"/>
                          </a:solidFill>
                          <a:latin typeface="Calibri" pitchFamily="34" charset="0"/>
                          <a:ea typeface="Calibri" pitchFamily="34" charset="-122"/>
                          <a:cs typeface="Calibri" pitchFamily="34" charset="-120"/>
                        </a:rPr>
                        <a:t>4.00 quarters</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bl>
          </a:graphicData>
        </a:graphic>
      </p:graphicFrame>
      <p:sp>
        <p:nvSpPr>
          <p:cNvPr id="6" name="Table note"/>
          <p:cNvSpPr txBox="1"/>
          <p:nvPr/>
        </p:nvSpPr>
        <p:spPr>
          <a:xfrm>
            <a:off x="548640" y="4892040"/>
            <a:ext cx="11094415" cy="320040"/>
          </a:xfrm>
          <a:prstGeom prst="rect">
            <a:avLst/>
          </a:prstGeom>
          <a:noFill/>
          <a:ln/>
        </p:spPr>
        <p:txBody>
          <a:bodyPr wrap="square" lIns="0" tIns="0" rIns="0" bIns="0" rtlCol="0" anchor="ctr"/>
          <a:lstStyle/>
          <a:p>
            <a:pPr indent="0" marL="0">
              <a:buNone/>
            </a:pPr>
            <a:r>
              <a:rPr lang="en-US" sz="1100" i="1" dirty="0">
                <a:solidFill>
                  <a:schemeClr val="tx2"/>
                </a:solidFill>
              </a:rPr>
              <a:t>Volume I's register (Worked Example 14.1): radius (h + √(h² + 8(e² + t²)))/2; the board's rule 0.841, deviations halving within a year.</a:t>
            </a:r>
            <a:endParaRPr lang="en-US" sz="1100" dirty="0"/>
          </a:p>
        </p:txBody>
      </p:sp>
      <p:sp>
        <p:nvSpPr>
          <p:cNvPr id="7" name="Lead"/>
          <p:cNvSpPr txBox="1"/>
          <p:nvPr/>
        </p:nvSpPr>
        <p:spPr>
          <a:xfrm>
            <a:off x="548640" y="5760720"/>
            <a:ext cx="11094415" cy="411480"/>
          </a:xfrm>
          <a:prstGeom prst="rect">
            <a:avLst/>
          </a:prstGeom>
          <a:noFill/>
          <a:ln/>
        </p:spPr>
        <p:txBody>
          <a:bodyPr wrap="square" lIns="0" tIns="0" rIns="0" bIns="0" rtlCol="0" anchor="ctr"/>
          <a:lstStyle/>
          <a:p>
            <a:pPr indent="0" marL="0">
              <a:buNone/>
            </a:pPr>
            <a:r>
              <a:rPr lang="en-US" sz="1600" dirty="0">
                <a:solidFill>
                  <a:schemeClr val="accent2"/>
                </a:solidFill>
              </a:rPr>
              <a:t>Waiting (Proposition 16.2): Chapter 7's project is worth 5.00 started now and 22.73 if it waits a year.</a:t>
            </a:r>
            <a:endParaRPr lang="en-US" sz="16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§16.3 · PROPOSITION 16.3</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Every use of a stock is judged by its price</a:t>
            </a:r>
            <a:endParaRPr lang="en-US" sz="3200" dirty="0"/>
          </a:p>
        </p:txBody>
      </p:sp>
      <p:sp>
        <p:nvSpPr>
          <p:cNvPr id="5" name="Result card"/>
          <p:cNvSpPr/>
          <p:nvPr/>
        </p:nvSpPr>
        <p:spPr>
          <a:xfrm>
            <a:off x="548640" y="1691640"/>
            <a:ext cx="6492240" cy="4480560"/>
          </a:xfrm>
          <a:prstGeom prst="roundRect">
            <a:avLst>
              <a:gd name="adj" fmla="val 1633"/>
            </a:avLst>
          </a:prstGeom>
          <a:solidFill>
            <a:schemeClr val="bg2"/>
          </a:solidFill>
          <a:ln w="9525">
            <a:solidFill>
              <a:srgbClr val="C4CBD8"/>
            </a:solidFill>
            <a:prstDash val="solid"/>
          </a:ln>
        </p:spPr>
      </p:sp>
      <p:sp>
        <p:nvSpPr>
          <p:cNvPr id="6" name="Text 3"/>
          <p:cNvSpPr txBox="1"/>
          <p:nvPr/>
        </p:nvSpPr>
        <p:spPr>
          <a:xfrm>
            <a:off x="822960" y="1892808"/>
            <a:ext cx="5943600" cy="292608"/>
          </a:xfrm>
          <a:prstGeom prst="rect">
            <a:avLst/>
          </a:prstGeom>
          <a:noFill/>
          <a:ln/>
        </p:spPr>
        <p:txBody>
          <a:bodyPr wrap="square" lIns="0" tIns="0" rIns="0" bIns="0" rtlCol="0" anchor="ctr"/>
          <a:lstStyle/>
          <a:p>
            <a:pPr indent="0" marL="0">
              <a:buNone/>
            </a:pPr>
            <a:r>
              <a:rPr lang="en-US" sz="1200" b="1" spc="200" kern="0" dirty="0">
                <a:solidFill>
                  <a:schemeClr val="accent1"/>
                </a:solidFill>
              </a:rPr>
              <a:t>PROPOSITION 16.3</a:t>
            </a:r>
            <a:endParaRPr lang="en-US" sz="1200" dirty="0"/>
          </a:p>
        </p:txBody>
      </p:sp>
      <p:sp>
        <p:nvSpPr>
          <p:cNvPr id="7" name="Text 4"/>
          <p:cNvSpPr txBox="1"/>
          <p:nvPr/>
        </p:nvSpPr>
        <p:spPr>
          <a:xfrm>
            <a:off x="822960" y="2194560"/>
            <a:ext cx="5943600" cy="457200"/>
          </a:xfrm>
          <a:prstGeom prst="rect">
            <a:avLst/>
          </a:prstGeom>
          <a:noFill/>
          <a:ln/>
        </p:spPr>
        <p:txBody>
          <a:bodyPr wrap="square" lIns="0" tIns="0" rIns="0" bIns="0" rtlCol="0" anchor="ctr"/>
          <a:lstStyle/>
          <a:p>
            <a:pPr indent="0" marL="0">
              <a:buNone/>
            </a:pPr>
            <a:r>
              <a:rPr lang="en-US" sz="2100" b="1" dirty="0">
                <a:solidFill>
                  <a:schemeClr val="tx1"/>
                </a:solidFill>
                <a:latin typeface="Cambria" pitchFamily="34" charset="0"/>
                <a:ea typeface="Cambria" pitchFamily="34" charset="-122"/>
                <a:cs typeface="Cambria" pitchFamily="34" charset="-120"/>
              </a:rPr>
              <a:t>What Internal Prices Say</a:t>
            </a:r>
            <a:endParaRPr lang="en-US" sz="2100" dirty="0"/>
          </a:p>
        </p:txBody>
      </p:sp>
      <p:pic>
        <p:nvPicPr>
          <p:cNvPr id="8" name="Equation" descr="Equation: \beta^{k} \;\le\; \sum_{j \ge k} \pi_j, \qquad \text{with equality wherever } p_k &gt; 0">    </p:cNvPr>
          <p:cNvPicPr>
            <a:picLocks noChangeAspect="1"/>
          </p:cNvPicPr>
          <p:nvPr/>
        </p:nvPicPr>
        <p:blipFill>
          <a:blip r:embed="rId1"/>
          <a:stretch>
            <a:fillRect/>
          </a:stretch>
        </p:blipFill>
        <p:spPr>
          <a:xfrm>
            <a:off x="822960" y="2743200"/>
            <a:ext cx="3470945" cy="457200"/>
          </a:xfrm>
          <a:prstGeom prst="rect">
            <a:avLst/>
          </a:prstGeom>
        </p:spPr>
      </p:pic>
      <p:sp>
        <p:nvSpPr>
          <p:cNvPr id="9" name="Bullets"/>
          <p:cNvSpPr txBox="1"/>
          <p:nvPr/>
        </p:nvSpPr>
        <p:spPr>
          <a:xfrm>
            <a:off x="822960" y="3364992"/>
            <a:ext cx="5943600" cy="2670048"/>
          </a:xfrm>
          <a:prstGeom prst="rect">
            <a:avLst/>
          </a:prstGeom>
          <a:noFill/>
          <a:ln/>
        </p:spPr>
        <p:txBody>
          <a:bodyPr wrap="square" lIns="635" tIns="635" rIns="635" bIns="635" rtlCol="0" anchor="t"/>
          <a:lstStyle/>
          <a:p>
            <a:pPr marL="228600" indent="-228600">
              <a:spcAft>
                <a:spcPts val="600"/>
              </a:spcAft>
              <a:buSzPct val="100000"/>
              <a:buChar char="•"/>
            </a:pPr>
            <a:r>
              <a:rPr lang="en-US" sz="1500" b="1" dirty="0">
                <a:solidFill>
                  <a:schemeClr val="tx1"/>
                </a:solidFill>
              </a:rPr>
              <a:t>(i) Room.</a:t>
            </a:r>
            <a:r>
              <a:rPr lang="en-US" sz="1500" dirty="0">
                <a:solidFill>
                  <a:schemeClr val="tx1"/>
                </a:solidFill>
              </a:rPr>
              <a:t> One more unit of a shared stock's room adds at most its price to the best value; exactly its price for small changes when prices are unique</a:t>
            </a:r>
            <a:endParaRPr lang="en-US" sz="1500" dirty="0"/>
          </a:p>
          <a:p>
            <a:pPr marL="228600" indent="-228600">
              <a:spcAft>
                <a:spcPts val="600"/>
              </a:spcAft>
              <a:buSzPct val="100000"/>
              <a:buChar char="•"/>
            </a:pPr>
            <a:r>
              <a:rPr lang="en-US" sz="1500" b="1" dirty="0">
                <a:solidFill>
                  <a:schemeClr val="tx1"/>
                </a:solidFill>
              </a:rPr>
              <a:t>(ii) Use.</a:t>
            </a:r>
            <a:r>
              <a:rPr lang="en-US" sz="1500" dirty="0">
                <a:solidFill>
                  <a:schemeClr val="tx1"/>
                </a:solidFill>
              </a:rPr>
              <a:t> A lumpy move is worth taking when its value exceeds its claims at the program's prices; its date moves only when a price crosses that line</a:t>
            </a:r>
            <a:endParaRPr lang="en-US" sz="1500" dirty="0"/>
          </a:p>
          <a:p>
            <a:pPr marL="228600" indent="-228600">
              <a:spcAft>
                <a:spcPts val="600"/>
              </a:spcAft>
              <a:buSzPct val="100000"/>
              <a:buChar char="•"/>
            </a:pPr>
            <a:r>
              <a:rPr lang="en-US" sz="1500" b="1" dirty="0">
                <a:solidFill>
                  <a:schemeClr val="tx1"/>
                </a:solidFill>
              </a:rPr>
              <a:t>(iii) Payouts.</a:t>
            </a:r>
            <a:r>
              <a:rPr lang="en-US" sz="1500" dirty="0">
                <a:solidFill>
                  <a:schemeClr val="tx1"/>
                </a:solidFill>
              </a:rPr>
              <a:t> Cash earning nothing, a best program pays out as early as its commitments allow; a payout waits while the cash is priced above what paying earns</a:t>
            </a:r>
            <a:endParaRPr lang="en-US" sz="1500" dirty="0"/>
          </a:p>
        </p:txBody>
      </p:sp>
      <p:sp>
        <p:nvSpPr>
          <p:cNvPr id="10" name="Text 6"/>
          <p:cNvSpPr txBox="1"/>
          <p:nvPr/>
        </p:nvSpPr>
        <p:spPr>
          <a:xfrm>
            <a:off x="7452360" y="1737360"/>
            <a:ext cx="4190695" cy="365760"/>
          </a:xfrm>
          <a:prstGeom prst="rect">
            <a:avLst/>
          </a:prstGeom>
          <a:noFill/>
          <a:ln/>
        </p:spPr>
        <p:txBody>
          <a:bodyPr wrap="square" lIns="0" tIns="0" rIns="0" bIns="0" rtlCol="0" anchor="ctr"/>
          <a:lstStyle/>
          <a:p>
            <a:pPr indent="0" marL="0">
              <a:buNone/>
            </a:pPr>
            <a:r>
              <a:rPr lang="en-US" sz="1600" b="1" dirty="0">
                <a:solidFill>
                  <a:schemeClr val="accent2"/>
                </a:solidFill>
              </a:rPr>
              <a:t>Meridian's prices</a:t>
            </a:r>
            <a:endParaRPr lang="en-US" sz="1600" dirty="0"/>
          </a:p>
        </p:txBody>
      </p:sp>
      <p:sp>
        <p:nvSpPr>
          <p:cNvPr id="11" name="Bullets"/>
          <p:cNvSpPr txBox="1"/>
          <p:nvPr/>
        </p:nvSpPr>
        <p:spPr>
          <a:xfrm>
            <a:off x="7452360" y="2194560"/>
            <a:ext cx="4190695" cy="3977640"/>
          </a:xfrm>
          <a:prstGeom prst="rect">
            <a:avLst/>
          </a:prstGeom>
          <a:noFill/>
          <a:ln/>
        </p:spPr>
        <p:txBody>
          <a:bodyPr wrap="square" lIns="635" tIns="635" rIns="635" bIns="635" rtlCol="0" anchor="t"/>
          <a:lstStyle/>
          <a:p>
            <a:pPr marL="228600" indent="-228600">
              <a:spcAft>
                <a:spcPts val="800"/>
              </a:spcAft>
              <a:buSzPct val="100000"/>
              <a:buChar char="•"/>
            </a:pPr>
            <a:r>
              <a:rPr lang="en-US" sz="1500" dirty="0">
                <a:solidFill>
                  <a:schemeClr val="tx1"/>
                </a:solidFill>
              </a:rPr>
              <a:t>A dollar of room at the start is worth </a:t>
            </a:r>
            <a:r>
              <a:rPr lang="en-US" sz="1500" b="1" dirty="0">
                <a:solidFill>
                  <a:schemeClr val="tx1"/>
                </a:solidFill>
              </a:rPr>
              <a:t>$1.09</a:t>
            </a:r>
            <a:r>
              <a:rPr lang="en-US" sz="1500" dirty="0">
                <a:solidFill>
                  <a:schemeClr val="tx1"/>
                </a:solidFill>
              </a:rPr>
              <a:t>: </a:t>
            </a:r>
            <a:r>
              <a:rPr lang="en-US" sz="1500" b="1" dirty="0">
                <a:solidFill>
                  <a:schemeClr val="tx1"/>
                </a:solidFill>
              </a:rPr>
              <a:t>$0.75</a:t>
            </a:r>
            <a:r>
              <a:rPr lang="en-US" sz="1500" dirty="0">
                <a:solidFill>
                  <a:schemeClr val="tx1"/>
                </a:solidFill>
              </a:rPr>
              <a:t> paid out in year 3, </a:t>
            </a:r>
            <a:r>
              <a:rPr lang="en-US" sz="1500" b="1" dirty="0">
                <a:solidFill>
                  <a:schemeClr val="tx1"/>
                </a:solidFill>
              </a:rPr>
              <a:t>$0.34</a:t>
            </a:r>
            <a:r>
              <a:rPr lang="en-US" sz="1500" dirty="0">
                <a:solidFill>
                  <a:schemeClr val="tx1"/>
                </a:solidFill>
              </a:rPr>
              <a:t> of levers</a:t>
            </a:r>
            <a:endParaRPr lang="en-US" sz="1500" dirty="0"/>
          </a:p>
          <a:p>
            <a:pPr marL="228600" indent="-228600">
              <a:spcAft>
                <a:spcPts val="800"/>
              </a:spcAft>
              <a:buSzPct val="100000"/>
              <a:buChar char="•"/>
            </a:pPr>
            <a:r>
              <a:rPr lang="en-US" sz="1500" dirty="0">
                <a:solidFill>
                  <a:schemeClr val="tx1"/>
                </a:solidFill>
              </a:rPr>
              <a:t>The line buys a point of chance for </a:t>
            </a:r>
            <a:r>
              <a:rPr lang="en-US" sz="1500" b="1" dirty="0">
                <a:solidFill>
                  <a:schemeClr val="tx1"/>
                </a:solidFill>
              </a:rPr>
              <a:t>$1.76m</a:t>
            </a:r>
            <a:r>
              <a:rPr lang="en-US" sz="1500" dirty="0">
                <a:solidFill>
                  <a:schemeClr val="tx1"/>
                </a:solidFill>
              </a:rPr>
              <a:t>, the delay for </a:t>
            </a:r>
            <a:r>
              <a:rPr lang="en-US" sz="1500" b="1" dirty="0">
                <a:solidFill>
                  <a:schemeClr val="tx1"/>
                </a:solidFill>
              </a:rPr>
              <a:t>$2.29m</a:t>
            </a:r>
            <a:r>
              <a:rPr lang="en-US" sz="1500" dirty="0">
                <a:solidFill>
                  <a:schemeClr val="tx1"/>
                </a:solidFill>
              </a:rPr>
              <a:t>: near the appetite's </a:t>
            </a:r>
            <a:r>
              <a:rPr lang="en-US" sz="1500" b="1" dirty="0">
                <a:solidFill>
                  <a:schemeClr val="tx1"/>
                </a:solidFill>
              </a:rPr>
              <a:t>$1.83m</a:t>
            </a:r>
            <a:endParaRPr lang="en-US" sz="1500" dirty="0"/>
          </a:p>
          <a:p>
            <a:pPr marL="228600" indent="-228600">
              <a:spcAft>
                <a:spcPts val="800"/>
              </a:spcAft>
              <a:buSzPct val="100000"/>
              <a:buChar char="•"/>
            </a:pPr>
            <a:r>
              <a:rPr lang="en-US" sz="1500" dirty="0">
                <a:solidFill>
                  <a:schemeClr val="tx1"/>
                </a:solidFill>
              </a:rPr>
              <a:t>Paying a dollar in year 1 earns </a:t>
            </a:r>
            <a:r>
              <a:rPr lang="en-US" sz="1500" b="1" dirty="0">
                <a:solidFill>
                  <a:schemeClr val="tx1"/>
                </a:solidFill>
              </a:rPr>
              <a:t>$0.77m</a:t>
            </a:r>
            <a:r>
              <a:rPr lang="en-US" sz="1500" dirty="0">
                <a:solidFill>
                  <a:schemeClr val="tx1"/>
                </a:solidFill>
              </a:rPr>
              <a:t> a point, in year 2 </a:t>
            </a:r>
            <a:r>
              <a:rPr lang="en-US" sz="1500" b="1" dirty="0">
                <a:solidFill>
                  <a:schemeClr val="tx1"/>
                </a:solidFill>
              </a:rPr>
              <a:t>$0.67m</a:t>
            </a:r>
            <a:r>
              <a:rPr lang="en-US" sz="1500" dirty="0">
                <a:solidFill>
                  <a:schemeClr val="tx1"/>
                </a:solidFill>
              </a:rPr>
              <a:t>: below the price, so payouts wait</a:t>
            </a:r>
            <a:endParaRPr lang="en-US" sz="1500" dirty="0"/>
          </a:p>
          <a:p>
            <a:pPr marL="228600" indent="-228600">
              <a:spcAft>
                <a:spcPts val="800"/>
              </a:spcAft>
              <a:buSzPct val="100000"/>
              <a:buChar char="•"/>
            </a:pPr>
            <a:r>
              <a:rPr lang="en-US" sz="1500" dirty="0">
                <a:solidFill>
                  <a:schemeClr val="tx1"/>
                </a:solidFill>
              </a:rPr>
              <a:t>A round adds a point of capability, </a:t>
            </a:r>
            <a:r>
              <a:rPr lang="en-US" sz="1500" b="1" dirty="0">
                <a:solidFill>
                  <a:schemeClr val="tx1"/>
                </a:solidFill>
              </a:rPr>
              <a:t>$3.90m</a:t>
            </a:r>
            <a:r>
              <a:rPr lang="en-US" sz="1500" dirty="0">
                <a:solidFill>
                  <a:schemeClr val="tx1"/>
                </a:solidFill>
              </a:rPr>
              <a:t> at Chapter 7's price: </a:t>
            </a:r>
            <a:r>
              <a:rPr lang="en-US" sz="1500" b="1" dirty="0">
                <a:solidFill>
                  <a:schemeClr val="tx1"/>
                </a:solidFill>
              </a:rPr>
              <a:t>$10.7m</a:t>
            </a:r>
            <a:r>
              <a:rPr lang="en-US" sz="1500" dirty="0">
                <a:solidFill>
                  <a:schemeClr val="tx1"/>
                </a:solidFill>
              </a:rPr>
              <a:t> for rounds in years 1–3</a:t>
            </a:r>
            <a:endParaRPr lang="en-US" sz="15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§16.3 · FIGURE 16.2</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Rounds in years 1–3, and the payouts wait</a:t>
            </a:r>
            <a:endParaRPr lang="en-US" sz="3200" dirty="0"/>
          </a:p>
        </p:txBody>
      </p:sp>
      <p:sp>
        <p:nvSpPr>
          <p:cNvPr id="5" name="Bullets"/>
          <p:cNvSpPr txBox="1"/>
          <p:nvPr/>
        </p:nvSpPr>
        <p:spPr>
          <a:xfrm>
            <a:off x="548640" y="1691640"/>
            <a:ext cx="3811109" cy="4480560"/>
          </a:xfrm>
          <a:prstGeom prst="rect">
            <a:avLst/>
          </a:prstGeom>
          <a:noFill/>
          <a:ln/>
        </p:spPr>
        <p:txBody>
          <a:bodyPr wrap="square" lIns="635" tIns="635" rIns="635" bIns="635" rtlCol="0" anchor="t"/>
          <a:lstStyle/>
          <a:p>
            <a:pPr marL="228600" indent="-228600">
              <a:spcAft>
                <a:spcPts val="800"/>
              </a:spcAft>
              <a:buSzPct val="100000"/>
              <a:buChar char="•"/>
            </a:pPr>
            <a:r>
              <a:rPr lang="en-US" sz="1500" dirty="0">
                <a:solidFill>
                  <a:schemeClr val="tx1"/>
                </a:solidFill>
              </a:rPr>
              <a:t>(a) Each timing of the three rounds, its payouts and package re-optimized: years 1–3 are best, years 1, 2, 4 </a:t>
            </a:r>
            <a:r>
              <a:rPr lang="en-US" sz="1500" b="1" dirty="0">
                <a:solidFill>
                  <a:schemeClr val="tx1"/>
                </a:solidFill>
              </a:rPr>
              <a:t>$2.6m</a:t>
            </a:r>
            <a:r>
              <a:rPr lang="en-US" sz="1500" dirty="0">
                <a:solidFill>
                  <a:schemeClr val="tx1"/>
                </a:solidFill>
              </a:rPr>
              <a:t> below</a:t>
            </a:r>
            <a:endParaRPr lang="en-US" sz="1500" dirty="0"/>
          </a:p>
          <a:p>
            <a:pPr marL="228600" indent="-228600">
              <a:spcAft>
                <a:spcPts val="800"/>
              </a:spcAft>
              <a:buSzPct val="100000"/>
              <a:buChar char="•"/>
            </a:pPr>
            <a:r>
              <a:rPr lang="en-US" sz="1500" dirty="0">
                <a:solidFill>
                  <a:schemeClr val="tx1"/>
                </a:solidFill>
              </a:rPr>
              <a:t>(b) The line and the delay buy a point of chance near the appetite's </a:t>
            </a:r>
            <a:r>
              <a:rPr lang="en-US" sz="1500" b="1" dirty="0">
                <a:solidFill>
                  <a:schemeClr val="tx1"/>
                </a:solidFill>
              </a:rPr>
              <a:t>$1.83m</a:t>
            </a:r>
            <a:endParaRPr lang="en-US" sz="1500" dirty="0"/>
          </a:p>
          <a:p>
            <a:pPr marL="228600" indent="-228600">
              <a:spcAft>
                <a:spcPts val="800"/>
              </a:spcAft>
              <a:buSzPct val="100000"/>
              <a:buChar char="•"/>
            </a:pPr>
            <a:r>
              <a:rPr lang="en-US" sz="1500" dirty="0">
                <a:solidFill>
                  <a:schemeClr val="tx1"/>
                </a:solidFill>
              </a:rPr>
              <a:t>Paying early earns </a:t>
            </a:r>
            <a:r>
              <a:rPr lang="en-US" sz="1500" b="1" dirty="0">
                <a:solidFill>
                  <a:schemeClr val="tx1"/>
                </a:solidFill>
              </a:rPr>
              <a:t>$0.77m</a:t>
            </a:r>
            <a:r>
              <a:rPr lang="en-US" sz="1500" dirty="0">
                <a:solidFill>
                  <a:schemeClr val="tx1"/>
                </a:solidFill>
              </a:rPr>
              <a:t> or </a:t>
            </a:r>
            <a:r>
              <a:rPr lang="en-US" sz="1500" b="1" dirty="0">
                <a:solidFill>
                  <a:schemeClr val="tx1"/>
                </a:solidFill>
              </a:rPr>
              <a:t>$0.67m</a:t>
            </a:r>
            <a:r>
              <a:rPr lang="en-US" sz="1500" dirty="0">
                <a:solidFill>
                  <a:schemeClr val="tx1"/>
                </a:solidFill>
              </a:rPr>
              <a:t> a point: below the price, so the payouts are held</a:t>
            </a:r>
            <a:endParaRPr lang="en-US" sz="1500" dirty="0"/>
          </a:p>
          <a:p>
            <a:pPr marL="228600" indent="-228600">
              <a:spcAft>
                <a:spcPts val="800"/>
              </a:spcAft>
              <a:buSzPct val="100000"/>
              <a:buChar char="•"/>
            </a:pPr>
            <a:r>
              <a:rPr lang="en-US" sz="1500" dirty="0">
                <a:solidFill>
                  <a:schemeClr val="tx1"/>
                </a:solidFill>
              </a:rPr>
              <a:t>The prices separate the search: checking a signed program takes a second</a:t>
            </a:r>
            <a:endParaRPr lang="en-US" sz="1500" dirty="0"/>
          </a:p>
        </p:txBody>
      </p:sp>
      <p:pic>
        <p:nvPicPr>
          <p:cNvPr id="6" name="Figure" descr="Figure 16.2: order, timing, and internal prices">    </p:cNvPr>
          <p:cNvPicPr>
            <a:picLocks noChangeAspect="1"/>
          </p:cNvPicPr>
          <p:nvPr/>
        </p:nvPicPr>
        <p:blipFill>
          <a:blip r:embed="rId1"/>
          <a:stretch>
            <a:fillRect/>
          </a:stretch>
        </p:blipFill>
        <p:spPr>
          <a:xfrm>
            <a:off x="4725509" y="1813985"/>
            <a:ext cx="6917546" cy="3668941"/>
          </a:xfrm>
          <a:prstGeom prst="rect">
            <a:avLst/>
          </a:prstGeom>
        </p:spPr>
      </p:pic>
      <p:sp>
        <p:nvSpPr>
          <p:cNvPr id="7" name="Caption"/>
          <p:cNvSpPr txBox="1"/>
          <p:nvPr/>
        </p:nvSpPr>
        <p:spPr>
          <a:xfrm>
            <a:off x="4725509" y="5556079"/>
            <a:ext cx="6917546" cy="502920"/>
          </a:xfrm>
          <a:prstGeom prst="rect">
            <a:avLst/>
          </a:prstGeom>
          <a:noFill/>
          <a:ln/>
        </p:spPr>
        <p:txBody>
          <a:bodyPr wrap="square" lIns="0" tIns="0" rIns="0" bIns="0" rtlCol="0" anchor="t"/>
          <a:lstStyle/>
          <a:p>
            <a:pPr indent="0" marL="0">
              <a:buNone/>
            </a:pPr>
            <a:r>
              <a:rPr lang="en-US" sz="1100" i="1" dirty="0">
                <a:solidFill>
                  <a:schemeClr val="tx2"/>
                </a:solidFill>
              </a:rPr>
              <a:t>Figure 16.2. (a) The best program for each timing of the three rounds, below the best. (b) At the best program: what the line and the delay cost per point of chance, and what paying in year 1 or 2 instead of year 3 would earn; the appetite's price between them.</a:t>
            </a:r>
            <a:endParaRPr lang="en-US" sz="11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§16.4 · DEFINITION 16.3 · THEOREM 16.3</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An optimized program has no slack</a:t>
            </a:r>
            <a:endParaRPr lang="en-US" sz="3200" dirty="0"/>
          </a:p>
        </p:txBody>
      </p:sp>
      <p:sp>
        <p:nvSpPr>
          <p:cNvPr id="5" name="Result card"/>
          <p:cNvSpPr/>
          <p:nvPr/>
        </p:nvSpPr>
        <p:spPr>
          <a:xfrm>
            <a:off x="548640" y="1691640"/>
            <a:ext cx="6492240" cy="4480560"/>
          </a:xfrm>
          <a:prstGeom prst="roundRect">
            <a:avLst>
              <a:gd name="adj" fmla="val 1633"/>
            </a:avLst>
          </a:prstGeom>
          <a:solidFill>
            <a:schemeClr val="bg2"/>
          </a:solidFill>
          <a:ln w="9525">
            <a:solidFill>
              <a:srgbClr val="C4CBD8"/>
            </a:solidFill>
            <a:prstDash val="solid"/>
          </a:ln>
        </p:spPr>
      </p:sp>
      <p:sp>
        <p:nvSpPr>
          <p:cNvPr id="6" name="Text 3"/>
          <p:cNvSpPr txBox="1"/>
          <p:nvPr/>
        </p:nvSpPr>
        <p:spPr>
          <a:xfrm>
            <a:off x="822960" y="1892808"/>
            <a:ext cx="5943600" cy="292608"/>
          </a:xfrm>
          <a:prstGeom prst="rect">
            <a:avLst/>
          </a:prstGeom>
          <a:noFill/>
          <a:ln/>
        </p:spPr>
        <p:txBody>
          <a:bodyPr wrap="square" lIns="0" tIns="0" rIns="0" bIns="0" rtlCol="0" anchor="ctr"/>
          <a:lstStyle/>
          <a:p>
            <a:pPr indent="0" marL="0">
              <a:buNone/>
            </a:pPr>
            <a:r>
              <a:rPr lang="en-US" sz="1200" b="1" spc="200" kern="0" dirty="0">
                <a:solidFill>
                  <a:schemeClr val="accent1"/>
                </a:solidFill>
              </a:rPr>
              <a:t>THEOREM 16.3</a:t>
            </a:r>
            <a:endParaRPr lang="en-US" sz="1200" dirty="0"/>
          </a:p>
        </p:txBody>
      </p:sp>
      <p:sp>
        <p:nvSpPr>
          <p:cNvPr id="7" name="Text 4"/>
          <p:cNvSpPr txBox="1"/>
          <p:nvPr/>
        </p:nvSpPr>
        <p:spPr>
          <a:xfrm>
            <a:off x="822960" y="2194560"/>
            <a:ext cx="5943600" cy="457200"/>
          </a:xfrm>
          <a:prstGeom prst="rect">
            <a:avLst/>
          </a:prstGeom>
          <a:noFill/>
          <a:ln/>
        </p:spPr>
        <p:txBody>
          <a:bodyPr wrap="square" lIns="0" tIns="0" rIns="0" bIns="0" rtlCol="0" anchor="ctr"/>
          <a:lstStyle/>
          <a:p>
            <a:pPr indent="0" marL="0">
              <a:buNone/>
            </a:pPr>
            <a:r>
              <a:rPr lang="en-US" sz="2100" b="1" dirty="0">
                <a:solidFill>
                  <a:schemeClr val="tx1"/>
                </a:solidFill>
                <a:latin typeface="Cambria" pitchFamily="34" charset="0"/>
                <a:ea typeface="Cambria" pitchFamily="34" charset="-122"/>
                <a:cs typeface="Cambria" pitchFamily="34" charset="-120"/>
              </a:rPr>
              <a:t>Certified Decisions and Triggers</a:t>
            </a:r>
            <a:endParaRPr lang="en-US" sz="2100" dirty="0"/>
          </a:p>
        </p:txBody>
      </p:sp>
      <p:pic>
        <p:nvPicPr>
          <p:cNvPr id="8" name="Equation" descr="Equation: C = \bigl\{\theta : P_{\pi_{\alpha'}}(\theta) \le \alpha \bigr\}, \qquad \bar\theta_i = \sup\bigl\{ s : P_{\pi_{\alpha'}}(\theta_0 + s\, e_i) \le \alpha \bigr\}">    </p:cNvPr>
          <p:cNvPicPr>
            <a:picLocks noChangeAspect="1"/>
          </p:cNvPicPr>
          <p:nvPr/>
        </p:nvPicPr>
        <p:blipFill>
          <a:blip r:embed="rId1"/>
          <a:stretch>
            <a:fillRect/>
          </a:stretch>
        </p:blipFill>
        <p:spPr>
          <a:xfrm>
            <a:off x="822960" y="2754207"/>
            <a:ext cx="5943600" cy="389467"/>
          </a:xfrm>
          <a:prstGeom prst="rect">
            <a:avLst/>
          </a:prstGeom>
        </p:spPr>
      </p:pic>
      <p:sp>
        <p:nvSpPr>
          <p:cNvPr id="9" name="Bullets"/>
          <p:cNvSpPr txBox="1"/>
          <p:nvPr/>
        </p:nvSpPr>
        <p:spPr>
          <a:xfrm>
            <a:off x="822960" y="3308265"/>
            <a:ext cx="5943600" cy="2726775"/>
          </a:xfrm>
          <a:prstGeom prst="rect">
            <a:avLst/>
          </a:prstGeom>
          <a:noFill/>
          <a:ln/>
        </p:spPr>
        <p:txBody>
          <a:bodyPr wrap="square" lIns="635" tIns="635" rIns="635" bIns="635" rtlCol="0" anchor="t"/>
          <a:lstStyle/>
          <a:p>
            <a:pPr marL="228600" indent="-228600">
              <a:spcAft>
                <a:spcPts val="600"/>
              </a:spcAft>
              <a:buSzPct val="100000"/>
              <a:buChar char="•"/>
            </a:pPr>
            <a:r>
              <a:rPr lang="en-US" sz="1500" b="1" dirty="0">
                <a:solidFill>
                  <a:schemeClr val="tx1"/>
                </a:solidFill>
              </a:rPr>
              <a:t>(i) No slack.</a:t>
            </a:r>
            <a:r>
              <a:rPr lang="en-US" sz="1500" dirty="0">
                <a:solidFill>
                  <a:schemeClr val="tx1"/>
                </a:solidFill>
              </a:rPr>
              <a:t> A best program uses its whole appetite: at the declared law its chance equals the appetite, so if the chance rises strictly with an adverse parameter, any adverse change breaks it</a:t>
            </a:r>
            <a:endParaRPr lang="en-US" sz="1500" dirty="0"/>
          </a:p>
          <a:p>
            <a:pPr marL="228600" indent="-228600">
              <a:spcAft>
                <a:spcPts val="600"/>
              </a:spcAft>
              <a:buSzPct val="100000"/>
              <a:buChar char="•"/>
            </a:pPr>
            <a:r>
              <a:rPr lang="en-US" sz="1500" b="1" dirty="0">
                <a:solidFill>
                  <a:schemeClr val="tx1"/>
                </a:solidFill>
              </a:rPr>
              <a:t>(ii) A margin buys a region.</a:t>
            </a:r>
            <a:r>
              <a:rPr lang="en-US" sz="1500" dirty="0">
                <a:solidFill>
                  <a:schemeClr val="tx1"/>
                </a:solidFill>
              </a:rPr>
              <a:t> Designed for a smaller appetite, it keeps the board's on a region with computable edges; the margin costs the difference in value</a:t>
            </a:r>
            <a:endParaRPr lang="en-US" sz="1500" dirty="0"/>
          </a:p>
          <a:p>
            <a:pPr marL="228600" indent="-228600">
              <a:spcAft>
                <a:spcPts val="600"/>
              </a:spcAft>
              <a:buSzPct val="100000"/>
              <a:buChar char="•"/>
            </a:pPr>
            <a:r>
              <a:rPr lang="en-US" sz="1500" b="1" dirty="0">
                <a:solidFill>
                  <a:schemeClr val="tx1"/>
                </a:solidFill>
              </a:rPr>
              <a:t>(iii) Triggers come from the region.</a:t>
            </a:r>
            <a:r>
              <a:rPr lang="en-US" sz="1500" dirty="0">
                <a:solidFill>
                  <a:schemeClr val="tx1"/>
                </a:solidFill>
              </a:rPr>
              <a:t> Keep the program while the estimates stay inside; re-certify at the first exit or alarm</a:t>
            </a:r>
            <a:endParaRPr lang="en-US" sz="1500" dirty="0"/>
          </a:p>
          <a:p>
            <a:pPr marL="228600" indent="-228600">
              <a:spcAft>
                <a:spcPts val="600"/>
              </a:spcAft>
              <a:buSzPct val="100000"/>
              <a:buChar char="•"/>
            </a:pPr>
            <a:r>
              <a:rPr lang="en-US" sz="1500" dirty="0">
                <a:solidFill>
                  <a:schemeClr val="tx1"/>
                </a:solidFill>
              </a:rPr>
              <a:t>A </a:t>
            </a:r>
            <a:r>
              <a:rPr lang="en-US" sz="1500" b="1" dirty="0">
                <a:solidFill>
                  <a:schemeClr val="tx1"/>
                </a:solidFill>
              </a:rPr>
              <a:t>certified decision</a:t>
            </a:r>
            <a:r>
              <a:rPr lang="en-US" sz="1500" dirty="0">
                <a:solidFill>
                  <a:schemeClr val="tx1"/>
                </a:solidFill>
              </a:rPr>
              <a:t> is a program, its certificate chain, and its certified region</a:t>
            </a:r>
            <a:endParaRPr lang="en-US" sz="1500" dirty="0"/>
          </a:p>
        </p:txBody>
      </p:sp>
      <p:sp>
        <p:nvSpPr>
          <p:cNvPr id="10" name="Text 6"/>
          <p:cNvSpPr txBox="1"/>
          <p:nvPr/>
        </p:nvSpPr>
        <p:spPr>
          <a:xfrm>
            <a:off x="7452360" y="1737360"/>
            <a:ext cx="4190695" cy="365760"/>
          </a:xfrm>
          <a:prstGeom prst="rect">
            <a:avLst/>
          </a:prstGeom>
          <a:noFill/>
          <a:ln/>
        </p:spPr>
        <p:txBody>
          <a:bodyPr wrap="square" lIns="0" tIns="0" rIns="0" bIns="0" rtlCol="0" anchor="ctr"/>
          <a:lstStyle/>
          <a:p>
            <a:pPr indent="0" marL="0">
              <a:buNone/>
            </a:pPr>
            <a:r>
              <a:rPr lang="en-US" sz="1600" b="1" dirty="0">
                <a:solidFill>
                  <a:schemeClr val="accent2"/>
                </a:solidFill>
              </a:rPr>
              <a:t>Meridian's region</a:t>
            </a:r>
            <a:endParaRPr lang="en-US" sz="1600" dirty="0"/>
          </a:p>
        </p:txBody>
      </p:sp>
      <p:sp>
        <p:nvSpPr>
          <p:cNvPr id="11" name="Bullets"/>
          <p:cNvSpPr txBox="1"/>
          <p:nvPr/>
        </p:nvSpPr>
        <p:spPr>
          <a:xfrm>
            <a:off x="7452360" y="2194560"/>
            <a:ext cx="4190695" cy="3977640"/>
          </a:xfrm>
          <a:prstGeom prst="rect">
            <a:avLst/>
          </a:prstGeom>
          <a:noFill/>
          <a:ln/>
        </p:spPr>
        <p:txBody>
          <a:bodyPr wrap="square" lIns="635" tIns="635" rIns="635" bIns="635" rtlCol="0" anchor="t"/>
          <a:lstStyle/>
          <a:p>
            <a:pPr marL="228600" indent="-228600">
              <a:spcAft>
                <a:spcPts val="800"/>
              </a:spcAft>
              <a:buSzPct val="100000"/>
              <a:buChar char="•"/>
            </a:pPr>
            <a:r>
              <a:rPr lang="en-US" sz="1500" dirty="0">
                <a:solidFill>
                  <a:schemeClr val="tx1"/>
                </a:solidFill>
              </a:rPr>
              <a:t>At 5% the program meets the appetite exactly: a closure rate or spread any higher breaks it</a:t>
            </a:r>
            <a:endParaRPr lang="en-US" sz="1500" dirty="0"/>
          </a:p>
          <a:p>
            <a:pPr marL="228600" indent="-228600">
              <a:spcAft>
                <a:spcPts val="800"/>
              </a:spcAft>
              <a:buSzPct val="100000"/>
              <a:buChar char="•"/>
            </a:pPr>
            <a:r>
              <a:rPr lang="en-US" sz="1500" dirty="0">
                <a:solidFill>
                  <a:schemeClr val="tx1"/>
                </a:solidFill>
              </a:rPr>
              <a:t>Designed for 4%: </a:t>
            </a:r>
            <a:r>
              <a:rPr lang="en-US" sz="1500" b="1" dirty="0">
                <a:solidFill>
                  <a:schemeClr val="tx1"/>
                </a:solidFill>
              </a:rPr>
              <a:t>$2.07m</a:t>
            </a:r>
            <a:r>
              <a:rPr lang="en-US" sz="1500" dirty="0">
                <a:solidFill>
                  <a:schemeClr val="tx1"/>
                </a:solidFill>
              </a:rPr>
              <a:t> more; it keeps 5% for closure rates to </a:t>
            </a:r>
            <a:r>
              <a:rPr lang="en-US" sz="1500" b="1" dirty="0">
                <a:solidFill>
                  <a:schemeClr val="tx1"/>
                </a:solidFill>
              </a:rPr>
              <a:t>0.30</a:t>
            </a:r>
            <a:r>
              <a:rPr lang="en-US" sz="1500" dirty="0">
                <a:solidFill>
                  <a:schemeClr val="tx1"/>
                </a:solidFill>
              </a:rPr>
              <a:t> and spreads to </a:t>
            </a:r>
            <a:r>
              <a:rPr lang="en-US" sz="1500" b="1" dirty="0">
                <a:solidFill>
                  <a:schemeClr val="tx1"/>
                </a:solidFill>
              </a:rPr>
              <a:t>$52.2m</a:t>
            </a:r>
            <a:endParaRPr lang="en-US" sz="1500" dirty="0"/>
          </a:p>
          <a:p>
            <a:pPr marL="228600" indent="-228600">
              <a:spcAft>
                <a:spcPts val="800"/>
              </a:spcAft>
              <a:buSzPct val="100000"/>
              <a:buChar char="•"/>
            </a:pPr>
            <a:r>
              <a:rPr lang="en-US" sz="1500" dirty="0">
                <a:solidFill>
                  <a:schemeClr val="tx1"/>
                </a:solidFill>
              </a:rPr>
              <a:t>Designed for 3%: </a:t>
            </a:r>
            <a:r>
              <a:rPr lang="en-US" sz="1500" b="1" dirty="0">
                <a:solidFill>
                  <a:schemeClr val="tx1"/>
                </a:solidFill>
              </a:rPr>
              <a:t>$4.65m</a:t>
            </a:r>
            <a:r>
              <a:rPr lang="en-US" sz="1500" dirty="0">
                <a:solidFill>
                  <a:schemeClr val="tx1"/>
                </a:solidFill>
              </a:rPr>
              <a:t>, and spreads to </a:t>
            </a:r>
            <a:r>
              <a:rPr lang="en-US" sz="1500" b="1" dirty="0">
                <a:solidFill>
                  <a:schemeClr val="tx1"/>
                </a:solidFill>
              </a:rPr>
              <a:t>$55.0m</a:t>
            </a:r>
            <a:endParaRPr lang="en-US" sz="1500" dirty="0"/>
          </a:p>
          <a:p>
            <a:pPr marL="228600" indent="-228600">
              <a:spcAft>
                <a:spcPts val="800"/>
              </a:spcAft>
              <a:buSzPct val="100000"/>
              <a:buChar char="•"/>
            </a:pPr>
            <a:r>
              <a:rPr lang="en-US" sz="1500" dirty="0">
                <a:solidFill>
                  <a:schemeClr val="tx1"/>
                </a:solidFill>
              </a:rPr>
              <a:t>Triggers: the treasury's or the engineering office's estimate leaving the region, or the twin's monitor</a:t>
            </a:r>
            <a:endParaRPr lang="en-US" sz="15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§16.4 · FIGURE 16.3</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A margin buys a region; a trigger buys value</a:t>
            </a:r>
            <a:endParaRPr lang="en-US" sz="3200" dirty="0"/>
          </a:p>
        </p:txBody>
      </p:sp>
      <p:sp>
        <p:nvSpPr>
          <p:cNvPr id="5" name="Bullets"/>
          <p:cNvSpPr txBox="1"/>
          <p:nvPr/>
        </p:nvSpPr>
        <p:spPr>
          <a:xfrm>
            <a:off x="548640" y="1691640"/>
            <a:ext cx="3811109" cy="4480560"/>
          </a:xfrm>
          <a:prstGeom prst="rect">
            <a:avLst/>
          </a:prstGeom>
          <a:noFill/>
          <a:ln/>
        </p:spPr>
        <p:txBody>
          <a:bodyPr wrap="square" lIns="635" tIns="635" rIns="635" bIns="635" rtlCol="0" anchor="t"/>
          <a:lstStyle/>
          <a:p>
            <a:pPr marL="228600" indent="-228600">
              <a:spcAft>
                <a:spcPts val="800"/>
              </a:spcAft>
              <a:buSzPct val="100000"/>
              <a:buChar char="•"/>
            </a:pPr>
            <a:r>
              <a:rPr lang="en-US" sz="1500" dirty="0">
                <a:solidFill>
                  <a:schemeClr val="tx1"/>
                </a:solidFill>
              </a:rPr>
              <a:t>(a) Re-designed for 4.5% to 2%, the program keeps 5% for spreads from </a:t>
            </a:r>
            <a:r>
              <a:rPr lang="en-US" sz="1500" b="1" dirty="0">
                <a:solidFill>
                  <a:schemeClr val="tx1"/>
                </a:solidFill>
              </a:rPr>
              <a:t>$51.0m</a:t>
            </a:r>
            <a:r>
              <a:rPr lang="en-US" sz="1500" dirty="0">
                <a:solidFill>
                  <a:schemeClr val="tx1"/>
                </a:solidFill>
              </a:rPr>
              <a:t> to </a:t>
            </a:r>
            <a:r>
              <a:rPr lang="en-US" sz="1500" b="1" dirty="0">
                <a:solidFill>
                  <a:schemeClr val="tx1"/>
                </a:solidFill>
              </a:rPr>
              <a:t>$58.4m</a:t>
            </a:r>
            <a:r>
              <a:rPr lang="en-US" sz="1500" dirty="0">
                <a:solidFill>
                  <a:schemeClr val="tx1"/>
                </a:solidFill>
              </a:rPr>
              <a:t>; the record's bound is </a:t>
            </a:r>
            <a:r>
              <a:rPr lang="en-US" sz="1500" b="1" dirty="0">
                <a:solidFill>
                  <a:schemeClr val="tx1"/>
                </a:solidFill>
              </a:rPr>
              <a:t>$61.6m</a:t>
            </a:r>
            <a:endParaRPr lang="en-US" sz="1500" dirty="0"/>
          </a:p>
          <a:p>
            <a:pPr marL="228600" indent="-228600">
              <a:spcAft>
                <a:spcPts val="800"/>
              </a:spcAft>
              <a:buSzPct val="100000"/>
              <a:buChar char="•"/>
            </a:pPr>
            <a:r>
              <a:rPr lang="en-US" sz="1500" dirty="0">
                <a:solidFill>
                  <a:schemeClr val="tx1"/>
                </a:solidFill>
              </a:rPr>
              <a:t>At the records' corner, rate </a:t>
            </a:r>
            <a:r>
              <a:rPr lang="en-US" sz="1500" b="1" dirty="0">
                <a:solidFill>
                  <a:schemeClr val="tx1"/>
                </a:solidFill>
              </a:rPr>
              <a:t>0.315</a:t>
            </a:r>
            <a:r>
              <a:rPr lang="en-US" sz="1500" dirty="0">
                <a:solidFill>
                  <a:schemeClr val="tx1"/>
                </a:solidFill>
              </a:rPr>
              <a:t> and spread </a:t>
            </a:r>
            <a:r>
              <a:rPr lang="en-US" sz="1500" b="1" dirty="0">
                <a:solidFill>
                  <a:schemeClr val="tx1"/>
                </a:solidFill>
              </a:rPr>
              <a:t>$61.6m</a:t>
            </a:r>
            <a:r>
              <a:rPr lang="en-US" sz="1500" dirty="0">
                <a:solidFill>
                  <a:schemeClr val="tx1"/>
                </a:solidFill>
              </a:rPr>
              <a:t>, it breaches on </a:t>
            </a:r>
            <a:r>
              <a:rPr lang="en-US" sz="1500" b="1" dirty="0">
                <a:solidFill>
                  <a:schemeClr val="tx1"/>
                </a:solidFill>
              </a:rPr>
              <a:t>13.9%</a:t>
            </a:r>
            <a:r>
              <a:rPr lang="en-US" sz="1500" dirty="0">
                <a:solidFill>
                  <a:schemeClr val="tx1"/>
                </a:solidFill>
              </a:rPr>
              <a:t> of paths; </a:t>
            </a:r>
            <a:r>
              <a:rPr lang="en-US" sz="1500" b="1" dirty="0">
                <a:solidFill>
                  <a:schemeClr val="tx1"/>
                </a:solidFill>
              </a:rPr>
              <a:t>$33.52m</a:t>
            </a:r>
            <a:r>
              <a:rPr lang="en-US" sz="1500" dirty="0">
                <a:solidFill>
                  <a:schemeClr val="tx1"/>
                </a:solidFill>
              </a:rPr>
              <a:t> of levers keep it there</a:t>
            </a:r>
            <a:endParaRPr lang="en-US" sz="1500" dirty="0"/>
          </a:p>
          <a:p>
            <a:pPr marL="228600" indent="-228600">
              <a:spcAft>
                <a:spcPts val="800"/>
              </a:spcAft>
              <a:buSzPct val="100000"/>
              <a:buChar char="•"/>
            </a:pPr>
            <a:r>
              <a:rPr lang="en-US" sz="1500" dirty="0">
                <a:solidFill>
                  <a:schemeClr val="tx1"/>
                </a:solidFill>
              </a:rPr>
              <a:t>(b) Round 3 on a </a:t>
            </a:r>
            <a:r>
              <a:rPr lang="en-US" sz="1500" b="1" dirty="0">
                <a:solidFill>
                  <a:schemeClr val="tx1"/>
                </a:solidFill>
              </a:rPr>
              <a:t>$490m</a:t>
            </a:r>
            <a:r>
              <a:rPr lang="en-US" sz="1500" dirty="0">
                <a:solidFill>
                  <a:schemeClr val="tx1"/>
                </a:solidFill>
              </a:rPr>
              <a:t> trigger: </a:t>
            </a:r>
            <a:r>
              <a:rPr lang="en-US" sz="1500" b="1" dirty="0">
                <a:solidFill>
                  <a:schemeClr val="tx1"/>
                </a:solidFill>
              </a:rPr>
              <a:t>$1,040.76m</a:t>
            </a:r>
            <a:r>
              <a:rPr lang="en-US" sz="1500" dirty="0">
                <a:solidFill>
                  <a:schemeClr val="tx1"/>
                </a:solidFill>
              </a:rPr>
              <a:t>, against </a:t>
            </a:r>
            <a:r>
              <a:rPr lang="en-US" sz="1500" b="1" dirty="0">
                <a:solidFill>
                  <a:schemeClr val="tx1"/>
                </a:solidFill>
              </a:rPr>
              <a:t>$1,039.41m</a:t>
            </a:r>
            <a:r>
              <a:rPr lang="en-US" sz="1500" dirty="0">
                <a:solidFill>
                  <a:schemeClr val="tx1"/>
                </a:solidFill>
              </a:rPr>
              <a:t> committed to year 3</a:t>
            </a:r>
            <a:endParaRPr lang="en-US" sz="1500" dirty="0"/>
          </a:p>
        </p:txBody>
      </p:sp>
      <p:pic>
        <p:nvPicPr>
          <p:cNvPr id="6" name="Figure" descr="Figure 16.3: certifying and adapting the program">    </p:cNvPr>
          <p:cNvPicPr>
            <a:picLocks noChangeAspect="1"/>
          </p:cNvPicPr>
          <p:nvPr/>
        </p:nvPicPr>
        <p:blipFill>
          <a:blip r:embed="rId1"/>
          <a:stretch>
            <a:fillRect/>
          </a:stretch>
        </p:blipFill>
        <p:spPr>
          <a:xfrm>
            <a:off x="4725509" y="1813985"/>
            <a:ext cx="6917546" cy="3668941"/>
          </a:xfrm>
          <a:prstGeom prst="rect">
            <a:avLst/>
          </a:prstGeom>
        </p:spPr>
      </p:pic>
      <p:sp>
        <p:nvSpPr>
          <p:cNvPr id="7" name="Caption"/>
          <p:cNvSpPr txBox="1"/>
          <p:nvPr/>
        </p:nvSpPr>
        <p:spPr>
          <a:xfrm>
            <a:off x="4725509" y="5556079"/>
            <a:ext cx="6917546" cy="502920"/>
          </a:xfrm>
          <a:prstGeom prst="rect">
            <a:avLst/>
          </a:prstGeom>
          <a:noFill/>
          <a:ln/>
        </p:spPr>
        <p:txBody>
          <a:bodyPr wrap="square" lIns="0" tIns="0" rIns="0" bIns="0" rtlCol="0" anchor="t"/>
          <a:lstStyle/>
          <a:p>
            <a:pPr indent="0" marL="0">
              <a:buNone/>
            </a:pPr>
            <a:r>
              <a:rPr lang="en-US" sz="1100" i="1" dirty="0">
                <a:solidFill>
                  <a:schemeClr val="tx2"/>
                </a:solidFill>
              </a:rPr>
              <a:t>Figure 16.3. (a) What a margin of appetite certifies: the spread up to which the re-designed program keeps 5 percent, against the margin's cost. (b) Round 3 on a trigger: the program's value by trigger, against the two committed timings.</a:t>
            </a:r>
            <a:endParaRPr lang="en-US" sz="11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§16.5 · TABLE 16.2</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Seven enterprises, one method</a:t>
            </a:r>
            <a:endParaRPr lang="en-US" sz="3200" dirty="0"/>
          </a:p>
        </p:txBody>
      </p:sp>
      <p:graphicFrame>
        <p:nvGraphicFramePr>
          <p:cNvPr id="14" name="Table"/>
          <p:cNvGraphicFramePr>
            <a:graphicFrameLocks noGrp="1"/>
          </p:cNvGraphicFramePr>
          <p:nvPr>
            <p:extLst>
              <p:ext uri="{D42A27DB-BD31-4B8C-83A1-F6EECF244321}">
                <p14:modId xmlns:p14="http://schemas.microsoft.com/office/powerpoint/2010/main" val="1579011935"/>
              </p:ext>
            </p:extLst>
          </p:nvPr>
        </p:nvGraphicFramePr>
        <p:xfrm>
          <a:off x="548640" y="1691640"/>
          <a:ext cx="11094415" cy="914400"/>
        </p:xfrm>
        <a:graphic>
          <a:graphicData uri="http://schemas.openxmlformats.org/drawingml/2006/table">
            <a:tbl>
              <a:tblPr/>
              <a:tblGrid>
                <a:gridCol w="1646827"/>
                <a:gridCol w="3120304"/>
                <a:gridCol w="3467005"/>
                <a:gridCol w="2860279"/>
              </a:tblGrid>
              <a:tr h="475488">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Enterprise</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Pieces and shared stocks</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Method by shape</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Certificate</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r>
              <a:tr h="475488">
                <a:tc>
                  <a:txBody>
                    <a:bodyPr/>
                    <a:lstStyle/>
                    <a:p>
                      <a:pPr algn="l" indent="0" marL="0">
                        <a:buNone/>
                      </a:pPr>
                      <a:r>
                        <a:rPr lang="en-US" sz="1300" dirty="0">
                          <a:solidFill>
                            <a:srgbClr val="0F1E3D"/>
                          </a:solidFill>
                          <a:latin typeface="Calibri" pitchFamily="34" charset="0"/>
                          <a:ea typeface="Calibri" pitchFamily="34" charset="-122"/>
                          <a:cs typeface="Calibri" pitchFamily="34" charset="-120"/>
                        </a:rPr>
                        <a:t>Manufacturer</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300" dirty="0">
                          <a:solidFill>
                            <a:srgbClr val="0F1E3D"/>
                          </a:solidFill>
                          <a:latin typeface="Calibri" pitchFamily="34" charset="0"/>
                          <a:ea typeface="Calibri" pitchFamily="34" charset="-122"/>
                          <a:cs typeface="Calibri" pitchFamily="34" charset="-120"/>
                        </a:rPr>
                        <a:t>capacity, emissions, financing; cash and an emissions budget</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300" dirty="0">
                          <a:solidFill>
                            <a:srgbClr val="0F1E3D"/>
                          </a:solidFill>
                          <a:latin typeface="Calibri" pitchFamily="34" charset="0"/>
                          <a:ea typeface="Calibri" pitchFamily="34" charset="-122"/>
                          <a:cs typeface="Calibri" pitchFamily="34" charset="-120"/>
                        </a:rPr>
                        <a:t>lumpy capacity (Ch. 4); demand as a law (Ch. 9)</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300" dirty="0">
                          <a:solidFill>
                            <a:srgbClr val="0F1E3D"/>
                          </a:solidFill>
                          <a:latin typeface="Calibri" pitchFamily="34" charset="0"/>
                          <a:ea typeface="Calibri" pitchFamily="34" charset="-122"/>
                          <a:cs typeface="Calibri" pitchFamily="34" charset="-120"/>
                        </a:rPr>
                        <a:t>gap of the lumpy plan; chance on fresh paths</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r h="475488">
                <a:tc>
                  <a:txBody>
                    <a:bodyPr/>
                    <a:lstStyle/>
                    <a:p>
                      <a:pPr algn="l" indent="0" marL="0">
                        <a:buNone/>
                      </a:pPr>
                      <a:r>
                        <a:rPr lang="en-US" sz="1300" dirty="0">
                          <a:solidFill>
                            <a:srgbClr val="0F1E3D"/>
                          </a:solidFill>
                          <a:latin typeface="Calibri" pitchFamily="34" charset="0"/>
                          <a:ea typeface="Calibri" pitchFamily="34" charset="-122"/>
                          <a:cs typeface="Calibri" pitchFamily="34" charset="-120"/>
                        </a:rPr>
                        <a:t>Commercial bank</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300" dirty="0">
                          <a:solidFill>
                            <a:srgbClr val="0F1E3D"/>
                          </a:solidFill>
                          <a:latin typeface="Calibri" pitchFamily="34" charset="0"/>
                          <a:ea typeface="Calibri" pitchFamily="34" charset="-122"/>
                          <a:cs typeface="Calibri" pitchFamily="34" charset="-120"/>
                        </a:rPr>
                        <a:t>business lines; capital and a risk budget</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300" dirty="0">
                          <a:solidFill>
                            <a:srgbClr val="0F1E3D"/>
                          </a:solidFill>
                          <a:latin typeface="Calibri" pitchFamily="34" charset="0"/>
                          <a:ea typeface="Calibri" pitchFamily="34" charset="-122"/>
                          <a:cs typeface="Calibri" pitchFamily="34" charset="-120"/>
                        </a:rPr>
                        <a:t>convex allocation with prices (Ch. 3); a set of shocks (Ch. 10)</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300" dirty="0">
                          <a:solidFill>
                            <a:srgbClr val="0F1E3D"/>
                          </a:solidFill>
                          <a:latin typeface="Calibri" pitchFamily="34" charset="0"/>
                          <a:ea typeface="Calibri" pitchFamily="34" charset="-122"/>
                          <a:cs typeface="Calibri" pitchFamily="34" charset="-120"/>
                        </a:rPr>
                        <a:t>prices of capital; split or pooled appetite (Thm. 16.1)</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r>
              <a:tr h="475488">
                <a:tc>
                  <a:txBody>
                    <a:bodyPr/>
                    <a:lstStyle/>
                    <a:p>
                      <a:pPr algn="l" indent="0" marL="0">
                        <a:buNone/>
                      </a:pPr>
                      <a:r>
                        <a:rPr lang="en-US" sz="1300" dirty="0">
                          <a:solidFill>
                            <a:srgbClr val="0F1E3D"/>
                          </a:solidFill>
                          <a:latin typeface="Calibri" pitchFamily="34" charset="0"/>
                          <a:ea typeface="Calibri" pitchFamily="34" charset="-122"/>
                          <a:cs typeface="Calibri" pitchFamily="34" charset="-120"/>
                        </a:rPr>
                        <a:t>Hospital system</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300" dirty="0">
                          <a:solidFill>
                            <a:srgbClr val="0F1E3D"/>
                          </a:solidFill>
                          <a:latin typeface="Calibri" pitchFamily="34" charset="0"/>
                          <a:ea typeface="Calibri" pitchFamily="34" charset="-122"/>
                          <a:cs typeface="Calibri" pitchFamily="34" charset="-120"/>
                        </a:rPr>
                        <a:t>units and shifts; staff by skill</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300" dirty="0">
                          <a:solidFill>
                            <a:srgbClr val="0F1E3D"/>
                          </a:solidFill>
                          <a:latin typeface="Calibri" pitchFamily="34" charset="0"/>
                          <a:ea typeface="Calibri" pitchFamily="34" charset="-122"/>
                          <a:cs typeface="Calibri" pitchFamily="34" charset="-120"/>
                        </a:rPr>
                        <a:t>rules on queues and staff (Chs. 7–8); a twin (Ch. 15)</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300" dirty="0">
                          <a:solidFill>
                            <a:srgbClr val="0F1E3D"/>
                          </a:solidFill>
                          <a:latin typeface="Calibri" pitchFamily="34" charset="0"/>
                          <a:ea typeface="Calibri" pitchFamily="34" charset="-122"/>
                          <a:cs typeface="Calibri" pitchFamily="34" charset="-120"/>
                        </a:rPr>
                        <a:t>residual of the rule; the twin's monitor</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r h="475488">
                <a:tc>
                  <a:txBody>
                    <a:bodyPr/>
                    <a:lstStyle/>
                    <a:p>
                      <a:pPr algn="l" indent="0" marL="0">
                        <a:buNone/>
                      </a:pPr>
                      <a:r>
                        <a:rPr lang="en-US" sz="1300" dirty="0">
                          <a:solidFill>
                            <a:srgbClr val="0F1E3D"/>
                          </a:solidFill>
                          <a:latin typeface="Calibri" pitchFamily="34" charset="0"/>
                          <a:ea typeface="Calibri" pitchFamily="34" charset="-122"/>
                          <a:cs typeface="Calibri" pitchFamily="34" charset="-120"/>
                        </a:rPr>
                        <a:t>Energy utility</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300" dirty="0">
                          <a:solidFill>
                            <a:srgbClr val="0F1E3D"/>
                          </a:solidFill>
                          <a:latin typeface="Calibri" pitchFamily="34" charset="0"/>
                          <a:ea typeface="Calibri" pitchFamily="34" charset="-122"/>
                          <a:cs typeface="Calibri" pitchFamily="34" charset="-120"/>
                        </a:rPr>
                        <a:t>retirements and builds; capital and a carbon budget</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300" dirty="0">
                          <a:solidFill>
                            <a:srgbClr val="0F1E3D"/>
                          </a:solidFill>
                          <a:latin typeface="Calibri" pitchFamily="34" charset="0"/>
                          <a:ea typeface="Calibri" pitchFamily="34" charset="-122"/>
                          <a:cs typeface="Calibri" pitchFamily="34" charset="-120"/>
                        </a:rPr>
                        <a:t>law, set, or family for carbon prices (Chs. 9–11)</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300" dirty="0">
                          <a:solidFill>
                            <a:srgbClr val="0F1E3D"/>
                          </a:solidFill>
                          <a:latin typeface="Calibri" pitchFamily="34" charset="0"/>
                          <a:ea typeface="Calibri" pitchFamily="34" charset="-122"/>
                          <a:cs typeface="Calibri" pitchFamily="34" charset="-120"/>
                        </a:rPr>
                        <a:t>price of ambiguity; certified region (Thm. 16.3)</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r>
              <a:tr h="475488">
                <a:tc>
                  <a:txBody>
                    <a:bodyPr/>
                    <a:lstStyle/>
                    <a:p>
                      <a:pPr algn="l" indent="0" marL="0">
                        <a:buNone/>
                      </a:pPr>
                      <a:r>
                        <a:rPr lang="en-US" sz="1300" dirty="0">
                          <a:solidFill>
                            <a:srgbClr val="0F1E3D"/>
                          </a:solidFill>
                          <a:latin typeface="Calibri" pitchFamily="34" charset="0"/>
                          <a:ea typeface="Calibri" pitchFamily="34" charset="-122"/>
                          <a:cs typeface="Calibri" pitchFamily="34" charset="-120"/>
                        </a:rPr>
                        <a:t>Technology firm</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300" dirty="0">
                          <a:solidFill>
                            <a:srgbClr val="0F1E3D"/>
                          </a:solidFill>
                          <a:latin typeface="Calibri" pitchFamily="34" charset="0"/>
                          <a:ea typeface="Calibri" pitchFamily="34" charset="-122"/>
                          <a:cs typeface="Calibri" pitchFamily="34" charset="-120"/>
                        </a:rPr>
                        <a:t>projects; budget and engineers</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300" dirty="0">
                          <a:solidFill>
                            <a:srgbClr val="0F1E3D"/>
                          </a:solidFill>
                          <a:latin typeface="Calibri" pitchFamily="34" charset="0"/>
                          <a:ea typeface="Calibri" pitchFamily="34" charset="-122"/>
                          <a:cs typeface="Calibri" pitchFamily="34" charset="-120"/>
                        </a:rPr>
                        <a:t>lumpy portfolio (Ch. 4); options to wait (Prop. 16.2)</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300" dirty="0">
                          <a:solidFill>
                            <a:srgbClr val="0F1E3D"/>
                          </a:solidFill>
                          <a:latin typeface="Calibri" pitchFamily="34" charset="0"/>
                          <a:ea typeface="Calibri" pitchFamily="34" charset="-122"/>
                          <a:cs typeface="Calibri" pitchFamily="34" charset="-120"/>
                        </a:rPr>
                        <a:t>gap of the portfolio; value of keeping choices open</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r h="475488">
                <a:tc>
                  <a:txBody>
                    <a:bodyPr/>
                    <a:lstStyle/>
                    <a:p>
                      <a:pPr algn="l" indent="0" marL="0">
                        <a:buNone/>
                      </a:pPr>
                      <a:r>
                        <a:rPr lang="en-US" sz="1300" dirty="0">
                          <a:solidFill>
                            <a:srgbClr val="0F1E3D"/>
                          </a:solidFill>
                          <a:latin typeface="Calibri" pitchFamily="34" charset="0"/>
                          <a:ea typeface="Calibri" pitchFamily="34" charset="-122"/>
                          <a:cs typeface="Calibri" pitchFamily="34" charset="-120"/>
                        </a:rPr>
                        <a:t>Government</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300" dirty="0">
                          <a:solidFill>
                            <a:srgbClr val="0F1E3D"/>
                          </a:solidFill>
                          <a:latin typeface="Calibri" pitchFamily="34" charset="0"/>
                          <a:ea typeface="Calibri" pitchFamily="34" charset="-122"/>
                          <a:cs typeface="Calibri" pitchFamily="34" charset="-120"/>
                        </a:rPr>
                        <a:t>programs; one budget, several objectives</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300" dirty="0">
                          <a:solidFill>
                            <a:srgbClr val="0F1E3D"/>
                          </a:solidFill>
                          <a:latin typeface="Calibri" pitchFamily="34" charset="0"/>
                          <a:ea typeface="Calibri" pitchFamily="34" charset="-122"/>
                          <a:cs typeface="Calibri" pitchFamily="34" charset="-120"/>
                        </a:rPr>
                        <a:t>frontier first, choice second (Ch. 12)</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300" dirty="0">
                          <a:solidFill>
                            <a:srgbClr val="0F1E3D"/>
                          </a:solidFill>
                          <a:latin typeface="Calibri" pitchFamily="34" charset="0"/>
                          <a:ea typeface="Calibri" pitchFamily="34" charset="-122"/>
                          <a:cs typeface="Calibri" pitchFamily="34" charset="-120"/>
                        </a:rPr>
                        <a:t>the frontier's prices; the weights declared</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r>
              <a:tr h="475488">
                <a:tc>
                  <a:txBody>
                    <a:bodyPr/>
                    <a:lstStyle/>
                    <a:p>
                      <a:pPr algn="l" indent="0" marL="0">
                        <a:buNone/>
                      </a:pPr>
                      <a:r>
                        <a:rPr lang="en-US" sz="1300" dirty="0">
                          <a:solidFill>
                            <a:srgbClr val="0F1E3D"/>
                          </a:solidFill>
                          <a:latin typeface="Calibri" pitchFamily="34" charset="0"/>
                          <a:ea typeface="Calibri" pitchFamily="34" charset="-122"/>
                          <a:cs typeface="Calibri" pitchFamily="34" charset="-120"/>
                        </a:rPr>
                        <a:t>Private equity fund</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300" dirty="0">
                          <a:solidFill>
                            <a:srgbClr val="0F1E3D"/>
                          </a:solidFill>
                          <a:latin typeface="Calibri" pitchFamily="34" charset="0"/>
                          <a:ea typeface="Calibri" pitchFamily="34" charset="-122"/>
                          <a:cs typeface="Calibri" pitchFamily="34" charset="-120"/>
                        </a:rPr>
                        <a:t>exits and follow-ons; the fund's cash</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300" dirty="0">
                          <a:solidFill>
                            <a:srgbClr val="0F1E3D"/>
                          </a:solidFill>
                          <a:latin typeface="Calibri" pitchFamily="34" charset="0"/>
                          <a:ea typeface="Calibri" pitchFamily="34" charset="-122"/>
                          <a:cs typeface="Calibri" pitchFamily="34" charset="-120"/>
                        </a:rPr>
                        <a:t>stopping rules (Ch. 7); learned values held to their records (Chs. 13–14)</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300" dirty="0">
                          <a:solidFill>
                            <a:srgbClr val="0F1E3D"/>
                          </a:solidFill>
                          <a:latin typeface="Calibri" pitchFamily="34" charset="0"/>
                          <a:ea typeface="Calibri" pitchFamily="34" charset="-122"/>
                          <a:cs typeface="Calibri" pitchFamily="34" charset="-120"/>
                        </a:rPr>
                        <a:t>the exit rule's residual; joint check of the calls</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bl>
          </a:graphicData>
        </a:graphic>
      </p:graphicFrame>
      <p:sp>
        <p:nvSpPr>
          <p:cNvPr id="6" name="Lead"/>
          <p:cNvSpPr txBox="1"/>
          <p:nvPr/>
        </p:nvSpPr>
        <p:spPr>
          <a:xfrm>
            <a:off x="548640" y="5760720"/>
            <a:ext cx="11094415" cy="411480"/>
          </a:xfrm>
          <a:prstGeom prst="rect">
            <a:avLst/>
          </a:prstGeom>
          <a:noFill/>
          <a:ln/>
        </p:spPr>
        <p:txBody>
          <a:bodyPr wrap="square" lIns="0" tIns="0" rIns="0" bIns="0" rtlCol="0" anchor="ctr"/>
          <a:lstStyle/>
          <a:p>
            <a:pPr indent="0" marL="0">
              <a:buNone/>
            </a:pPr>
            <a:r>
              <a:rPr lang="en-US" sz="1600" dirty="0">
                <a:solidFill>
                  <a:schemeClr val="accent2"/>
                </a:solidFill>
              </a:rPr>
              <a:t>Find the shared stocks first; let the commitments choose the method; admit learned parts under the same certificates.</a:t>
            </a:r>
            <a:endParaRPr lang="en-US" sz="16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WORKED EXAMPLE 16.1 · THE SITUATION</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Can Meridian run its whole program?</a:t>
            </a:r>
            <a:endParaRPr lang="en-US" sz="3200" dirty="0"/>
          </a:p>
        </p:txBody>
      </p:sp>
      <p:sp>
        <p:nvSpPr>
          <p:cNvPr id="5" name="Card"/>
          <p:cNvSpPr/>
          <p:nvPr/>
        </p:nvSpPr>
        <p:spPr>
          <a:xfrm>
            <a:off x="548640" y="1691640"/>
            <a:ext cx="3515258" cy="2240280"/>
          </a:xfrm>
          <a:prstGeom prst="roundRect">
            <a:avLst>
              <a:gd name="adj" fmla="val 3265"/>
            </a:avLst>
          </a:prstGeom>
          <a:solidFill>
            <a:schemeClr val="bg2"/>
          </a:solidFill>
          <a:ln w="9525">
            <a:solidFill>
              <a:srgbClr val="C4CBD8"/>
            </a:solidFill>
            <a:prstDash val="solid"/>
          </a:ln>
        </p:spPr>
      </p:sp>
      <p:sp>
        <p:nvSpPr>
          <p:cNvPr id="6" name="Card label"/>
          <p:cNvSpPr txBox="1"/>
          <p:nvPr/>
        </p:nvSpPr>
        <p:spPr>
          <a:xfrm>
            <a:off x="731520" y="1819656"/>
            <a:ext cx="3149498" cy="310896"/>
          </a:xfrm>
          <a:prstGeom prst="rect">
            <a:avLst/>
          </a:prstGeom>
          <a:noFill/>
          <a:ln/>
        </p:spPr>
        <p:txBody>
          <a:bodyPr wrap="square" lIns="0" tIns="0" rIns="0" bIns="0" rtlCol="0" anchor="ctr"/>
          <a:lstStyle/>
          <a:p>
            <a:pPr indent="0" marL="0">
              <a:buNone/>
            </a:pPr>
            <a:r>
              <a:rPr lang="en-US" sz="1300" b="1" dirty="0">
                <a:solidFill>
                  <a:schemeClr val="accent1"/>
                </a:solidFill>
              </a:rPr>
              <a:t>Volume I's three options</a:t>
            </a:r>
            <a:endParaRPr lang="en-US" sz="1300" dirty="0"/>
          </a:p>
        </p:txBody>
      </p:sp>
      <p:sp>
        <p:nvSpPr>
          <p:cNvPr id="7" name="Card head"/>
          <p:cNvSpPr txBox="1"/>
          <p:nvPr/>
        </p:nvSpPr>
        <p:spPr>
          <a:xfrm>
            <a:off x="731520" y="2148840"/>
            <a:ext cx="3149498" cy="758952"/>
          </a:xfrm>
          <a:prstGeom prst="rect">
            <a:avLst/>
          </a:prstGeom>
          <a:noFill/>
          <a:ln/>
        </p:spPr>
        <p:txBody>
          <a:bodyPr wrap="square" lIns="0" tIns="0" rIns="0" bIns="0" rtlCol="0" anchor="t"/>
          <a:lstStyle/>
          <a:p>
            <a:pPr indent="0" marL="0">
              <a:buNone/>
            </a:pPr>
            <a:r>
              <a:rPr lang="en-US" sz="1900" b="1" dirty="0">
                <a:solidFill>
                  <a:schemeClr val="tx1"/>
                </a:solidFill>
                <a:latin typeface="Cambria" pitchFamily="34" charset="0"/>
                <a:ea typeface="Cambria" pitchFamily="34" charset="-122"/>
                <a:cs typeface="Cambria" pitchFamily="34" charset="-120"/>
              </a:rPr>
              <a:t>The build, the sale, the automation rounds</a:t>
            </a:r>
            <a:endParaRPr lang="en-US" sz="1900" dirty="0"/>
          </a:p>
        </p:txBody>
      </p:sp>
      <p:sp>
        <p:nvSpPr>
          <p:cNvPr id="8" name="Card text"/>
          <p:cNvSpPr txBox="1"/>
          <p:nvPr/>
        </p:nvSpPr>
        <p:spPr>
          <a:xfrm>
            <a:off x="731520" y="2980944"/>
            <a:ext cx="3149498" cy="822960"/>
          </a:xfrm>
          <a:prstGeom prst="rect">
            <a:avLst/>
          </a:prstGeom>
          <a:noFill/>
          <a:ln/>
        </p:spPr>
        <p:txBody>
          <a:bodyPr wrap="square" lIns="0" tIns="0" rIns="0" bIns="0" rtlCol="0" anchor="t"/>
          <a:lstStyle/>
          <a:p>
            <a:pPr indent="0" marL="0">
              <a:buNone/>
            </a:pPr>
            <a:r>
              <a:rPr lang="en-US" sz="1500" dirty="0">
                <a:solidFill>
                  <a:schemeClr val="tx2"/>
                </a:solidFill>
              </a:rPr>
              <a:t>Volume II certified each one on its own account.</a:t>
            </a:r>
            <a:endParaRPr lang="en-US" sz="1500" dirty="0"/>
          </a:p>
        </p:txBody>
      </p:sp>
      <p:sp>
        <p:nvSpPr>
          <p:cNvPr id="9" name="Card"/>
          <p:cNvSpPr/>
          <p:nvPr/>
        </p:nvSpPr>
        <p:spPr>
          <a:xfrm>
            <a:off x="4338218" y="1691640"/>
            <a:ext cx="3515258" cy="2240280"/>
          </a:xfrm>
          <a:prstGeom prst="roundRect">
            <a:avLst>
              <a:gd name="adj" fmla="val 3265"/>
            </a:avLst>
          </a:prstGeom>
          <a:solidFill>
            <a:schemeClr val="bg2"/>
          </a:solidFill>
          <a:ln w="9525">
            <a:solidFill>
              <a:srgbClr val="C4CBD8"/>
            </a:solidFill>
            <a:prstDash val="solid"/>
          </a:ln>
        </p:spPr>
      </p:sp>
      <p:sp>
        <p:nvSpPr>
          <p:cNvPr id="10" name="Card label"/>
          <p:cNvSpPr txBox="1"/>
          <p:nvPr/>
        </p:nvSpPr>
        <p:spPr>
          <a:xfrm>
            <a:off x="4521098" y="1819656"/>
            <a:ext cx="3149498" cy="310896"/>
          </a:xfrm>
          <a:prstGeom prst="rect">
            <a:avLst/>
          </a:prstGeom>
          <a:noFill/>
          <a:ln/>
        </p:spPr>
        <p:txBody>
          <a:bodyPr wrap="square" lIns="0" tIns="0" rIns="0" bIns="0" rtlCol="0" anchor="ctr"/>
          <a:lstStyle/>
          <a:p>
            <a:pPr indent="0" marL="0">
              <a:buNone/>
            </a:pPr>
            <a:r>
              <a:rPr lang="en-US" sz="1300" b="1" dirty="0">
                <a:solidFill>
                  <a:schemeClr val="accent1"/>
                </a:solidFill>
              </a:rPr>
              <a:t>The board</a:t>
            </a:r>
            <a:endParaRPr lang="en-US" sz="1300" dirty="0"/>
          </a:p>
        </p:txBody>
      </p:sp>
      <p:sp>
        <p:nvSpPr>
          <p:cNvPr id="11" name="Card head"/>
          <p:cNvSpPr txBox="1"/>
          <p:nvPr/>
        </p:nvSpPr>
        <p:spPr>
          <a:xfrm>
            <a:off x="4521098" y="2148840"/>
            <a:ext cx="3149498" cy="758952"/>
          </a:xfrm>
          <a:prstGeom prst="rect">
            <a:avLst/>
          </a:prstGeom>
          <a:noFill/>
          <a:ln/>
        </p:spPr>
        <p:txBody>
          <a:bodyPr wrap="square" lIns="0" tIns="0" rIns="0" bIns="0" rtlCol="0" anchor="t"/>
          <a:lstStyle/>
          <a:p>
            <a:pPr indent="0" marL="0">
              <a:buNone/>
            </a:pPr>
            <a:r>
              <a:rPr lang="en-US" sz="1900" b="1" dirty="0">
                <a:solidFill>
                  <a:schemeClr val="tx1"/>
                </a:solidFill>
                <a:latin typeface="Cambria" pitchFamily="34" charset="0"/>
                <a:ea typeface="Cambria" pitchFamily="34" charset="-122"/>
                <a:cs typeface="Cambria" pitchFamily="34" charset="-120"/>
              </a:rPr>
              <a:t>Sign one program</a:t>
            </a:r>
            <a:endParaRPr lang="en-US" sz="1900" dirty="0"/>
          </a:p>
        </p:txBody>
      </p:sp>
      <p:sp>
        <p:nvSpPr>
          <p:cNvPr id="12" name="Card text"/>
          <p:cNvSpPr txBox="1"/>
          <p:nvPr/>
        </p:nvSpPr>
        <p:spPr>
          <a:xfrm>
            <a:off x="4521098" y="2980944"/>
            <a:ext cx="3149498" cy="822960"/>
          </a:xfrm>
          <a:prstGeom prst="rect">
            <a:avLst/>
          </a:prstGeom>
          <a:noFill/>
          <a:ln/>
        </p:spPr>
        <p:txBody>
          <a:bodyPr wrap="square" lIns="0" tIns="0" rIns="0" bIns="0" rtlCol="0" anchor="t"/>
          <a:lstStyle/>
          <a:p>
            <a:pPr indent="0" marL="0">
              <a:buNone/>
            </a:pPr>
            <a:r>
              <a:rPr lang="en-US" sz="1500" dirty="0">
                <a:solidFill>
                  <a:schemeClr val="tx2"/>
                </a:solidFill>
              </a:rPr>
              <a:t>The sale, the build with its financing, the rounds with their payouts.</a:t>
            </a:r>
            <a:endParaRPr lang="en-US" sz="1500" dirty="0"/>
          </a:p>
        </p:txBody>
      </p:sp>
      <p:sp>
        <p:nvSpPr>
          <p:cNvPr id="13" name="Card"/>
          <p:cNvSpPr/>
          <p:nvPr/>
        </p:nvSpPr>
        <p:spPr>
          <a:xfrm>
            <a:off x="8127797" y="1691640"/>
            <a:ext cx="3515258" cy="2240280"/>
          </a:xfrm>
          <a:prstGeom prst="roundRect">
            <a:avLst>
              <a:gd name="adj" fmla="val 3265"/>
            </a:avLst>
          </a:prstGeom>
          <a:solidFill>
            <a:schemeClr val="tx1"/>
          </a:solidFill>
          <a:ln w="9525">
            <a:solidFill>
              <a:srgbClr val="0F1E3D"/>
            </a:solidFill>
            <a:prstDash val="solid"/>
          </a:ln>
        </p:spPr>
      </p:sp>
      <p:sp>
        <p:nvSpPr>
          <p:cNvPr id="14" name="Card label"/>
          <p:cNvSpPr txBox="1"/>
          <p:nvPr/>
        </p:nvSpPr>
        <p:spPr>
          <a:xfrm>
            <a:off x="8310677" y="1819656"/>
            <a:ext cx="3149498" cy="310896"/>
          </a:xfrm>
          <a:prstGeom prst="rect">
            <a:avLst/>
          </a:prstGeom>
          <a:noFill/>
          <a:ln/>
        </p:spPr>
        <p:txBody>
          <a:bodyPr wrap="square" lIns="0" tIns="0" rIns="0" bIns="0" rtlCol="0" anchor="ctr"/>
          <a:lstStyle/>
          <a:p>
            <a:pPr indent="0" marL="0">
              <a:buNone/>
            </a:pPr>
            <a:r>
              <a:rPr lang="en-US" sz="1300" b="1" dirty="0">
                <a:solidFill>
                  <a:schemeClr val="accent1"/>
                </a:solidFill>
              </a:rPr>
              <a:t>The CFO</a:t>
            </a:r>
            <a:endParaRPr lang="en-US" sz="1300" dirty="0"/>
          </a:p>
        </p:txBody>
      </p:sp>
      <p:sp>
        <p:nvSpPr>
          <p:cNvPr id="15" name="Card head"/>
          <p:cNvSpPr txBox="1"/>
          <p:nvPr/>
        </p:nvSpPr>
        <p:spPr>
          <a:xfrm>
            <a:off x="8310677" y="2148840"/>
            <a:ext cx="3149498" cy="758952"/>
          </a:xfrm>
          <a:prstGeom prst="rect">
            <a:avLst/>
          </a:prstGeom>
          <a:noFill/>
          <a:ln/>
        </p:spPr>
        <p:txBody>
          <a:bodyPr wrap="square" lIns="0" tIns="0" rIns="0" bIns="0" rtlCol="0" anchor="t"/>
          <a:lstStyle/>
          <a:p>
            <a:pPr indent="0" marL="0">
              <a:buNone/>
            </a:pPr>
            <a:r>
              <a:rPr lang="en-US" sz="1900" b="1" dirty="0">
                <a:solidFill>
                  <a:schemeClr val="bg1"/>
                </a:solidFill>
                <a:latin typeface="Cambria" pitchFamily="34" charset="0"/>
                <a:ea typeface="Cambria" pitchFamily="34" charset="-122"/>
                <a:cs typeface="Cambria" pitchFamily="34" charset="-120"/>
              </a:rPr>
              <a:t>Do the pieces fit, in what order, at what cost?</a:t>
            </a:r>
            <a:endParaRPr lang="en-US" sz="1900" dirty="0"/>
          </a:p>
        </p:txBody>
      </p:sp>
      <p:sp>
        <p:nvSpPr>
          <p:cNvPr id="16" name="Card text"/>
          <p:cNvSpPr txBox="1"/>
          <p:nvPr/>
        </p:nvSpPr>
        <p:spPr>
          <a:xfrm>
            <a:off x="8310677" y="2980944"/>
            <a:ext cx="3149498" cy="822960"/>
          </a:xfrm>
          <a:prstGeom prst="rect">
            <a:avLst/>
          </a:prstGeom>
          <a:noFill/>
          <a:ln/>
        </p:spPr>
        <p:txBody>
          <a:bodyPr wrap="square" lIns="0" tIns="0" rIns="0" bIns="0" rtlCol="0" anchor="t"/>
          <a:lstStyle/>
          <a:p>
            <a:pPr indent="0" marL="0">
              <a:buNone/>
            </a:pPr>
            <a:r>
              <a:rPr lang="en-US" sz="1500" dirty="0">
                <a:solidFill>
                  <a:schemeClr val="bg2"/>
                </a:solidFill>
              </a:rPr>
              <a:t>And on what terms does the program stay certified?</a:t>
            </a:r>
            <a:endParaRPr lang="en-US" sz="1500" dirty="0"/>
          </a:p>
        </p:txBody>
      </p:sp>
      <p:sp>
        <p:nvSpPr>
          <p:cNvPr id="17" name="Lead"/>
          <p:cNvSpPr txBox="1"/>
          <p:nvPr/>
        </p:nvSpPr>
        <p:spPr>
          <a:xfrm>
            <a:off x="548640" y="4206240"/>
            <a:ext cx="11094415" cy="457200"/>
          </a:xfrm>
          <a:prstGeom prst="rect">
            <a:avLst/>
          </a:prstGeom>
          <a:noFill/>
          <a:ln/>
        </p:spPr>
        <p:txBody>
          <a:bodyPr wrap="square" lIns="0" tIns="0" rIns="0" bIns="0" rtlCol="0" anchor="ctr"/>
          <a:lstStyle/>
          <a:p>
            <a:pPr indent="0" marL="0">
              <a:buNone/>
            </a:pPr>
            <a:r>
              <a:rPr lang="en-US" sz="1600" i="1" dirty="0">
                <a:solidFill>
                  <a:schemeClr val="accent2"/>
                </a:solidFill>
              </a:rPr>
              <a:t>New declarations: one account, the timing of rounds and payouts, the sale at the start, the appetite over the build.</a:t>
            </a:r>
            <a:endParaRPr lang="en-US" sz="16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WORKED EXAMPLE 16.1 · STEPS 1–6</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Six steps from the pieces to a signed program</a:t>
            </a:r>
            <a:endParaRPr lang="en-US" sz="3200" dirty="0"/>
          </a:p>
        </p:txBody>
      </p:sp>
      <p:sp>
        <p:nvSpPr>
          <p:cNvPr id="5" name="Step card"/>
          <p:cNvSpPr/>
          <p:nvPr/>
        </p:nvSpPr>
        <p:spPr>
          <a:xfrm>
            <a:off x="548640" y="1691640"/>
            <a:ext cx="3515258" cy="2103120"/>
          </a:xfrm>
          <a:prstGeom prst="roundRect">
            <a:avLst>
              <a:gd name="adj" fmla="val 3478"/>
            </a:avLst>
          </a:prstGeom>
          <a:solidFill>
            <a:schemeClr val="bg2"/>
          </a:solidFill>
          <a:ln w="9525">
            <a:solidFill>
              <a:srgbClr val="C4CBD8"/>
            </a:solidFill>
            <a:prstDash val="solid"/>
          </a:ln>
        </p:spPr>
      </p:sp>
      <p:sp>
        <p:nvSpPr>
          <p:cNvPr id="6" name="Number"/>
          <p:cNvSpPr/>
          <p:nvPr/>
        </p:nvSpPr>
        <p:spPr>
          <a:xfrm>
            <a:off x="731520" y="1874520"/>
            <a:ext cx="457200" cy="457200"/>
          </a:xfrm>
          <a:prstGeom prst="ellipse">
            <a:avLst/>
          </a:prstGeom>
          <a:solidFill>
            <a:schemeClr val="accent1"/>
          </a:solidFill>
          <a:ln w="6350">
            <a:solidFill>
              <a:schemeClr val="accent1"/>
            </a:solidFill>
            <a:prstDash val="solid"/>
          </a:ln>
        </p:spPr>
      </p:sp>
      <p:sp>
        <p:nvSpPr>
          <p:cNvPr id="7" name="Text 4"/>
          <p:cNvSpPr txBox="1"/>
          <p:nvPr/>
        </p:nvSpPr>
        <p:spPr>
          <a:xfrm>
            <a:off x="731520" y="187452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1</a:t>
            </a:r>
            <a:endParaRPr lang="en-US" sz="1500" dirty="0"/>
          </a:p>
        </p:txBody>
      </p:sp>
      <p:sp>
        <p:nvSpPr>
          <p:cNvPr id="8" name="Step head"/>
          <p:cNvSpPr txBox="1"/>
          <p:nvPr/>
        </p:nvSpPr>
        <p:spPr>
          <a:xfrm>
            <a:off x="1325880" y="1856232"/>
            <a:ext cx="2600858" cy="502920"/>
          </a:xfrm>
          <a:prstGeom prst="rect">
            <a:avLst/>
          </a:prstGeom>
          <a:noFill/>
          <a:ln/>
        </p:spPr>
        <p:txBody>
          <a:bodyPr wrap="square" lIns="0" tIns="0" rIns="0" bIns="0" rtlCol="0" anchor="ctr"/>
          <a:lstStyle/>
          <a:p>
            <a:pPr indent="0" marL="0">
              <a:buNone/>
            </a:pPr>
            <a:r>
              <a:rPr lang="en-US" sz="1700" b="1" dirty="0">
                <a:solidFill>
                  <a:schemeClr val="tx1"/>
                </a:solidFill>
                <a:latin typeface="Cambria" pitchFamily="34" charset="0"/>
                <a:ea typeface="Cambria" pitchFamily="34" charset="-122"/>
                <a:cs typeface="Cambria" pitchFamily="34" charset="-120"/>
              </a:rPr>
              <a:t>Declare one program</a:t>
            </a:r>
            <a:endParaRPr lang="en-US" sz="1700" dirty="0"/>
          </a:p>
        </p:txBody>
      </p:sp>
      <p:sp>
        <p:nvSpPr>
          <p:cNvPr id="9" name="Step text"/>
          <p:cNvSpPr txBox="1"/>
          <p:nvPr/>
        </p:nvSpPr>
        <p:spPr>
          <a:xfrm>
            <a:off x="731520" y="2468880"/>
            <a:ext cx="3149498" cy="1234440"/>
          </a:xfrm>
          <a:prstGeom prst="rect">
            <a:avLst/>
          </a:prstGeom>
          <a:noFill/>
          <a:ln/>
        </p:spPr>
        <p:txBody>
          <a:bodyPr wrap="square" lIns="0" tIns="0" rIns="0" bIns="0" rtlCol="0" anchor="t"/>
          <a:lstStyle/>
          <a:p>
            <a:pPr indent="0" marL="0">
              <a:buNone/>
            </a:pPr>
            <a:r>
              <a:rPr lang="en-US" sz="1500" dirty="0">
                <a:solidFill>
                  <a:schemeClr val="tx1"/>
                </a:solidFill>
              </a:rPr>
              <a:t>One account: Volume I's plan, the automation program's cash and the sale's $92m. Value: payouts at 10% and savings, less levers.</a:t>
            </a:r>
            <a:endParaRPr lang="en-US" sz="1500" dirty="0"/>
          </a:p>
        </p:txBody>
      </p:sp>
      <p:sp>
        <p:nvSpPr>
          <p:cNvPr id="10" name="Step card"/>
          <p:cNvSpPr/>
          <p:nvPr/>
        </p:nvSpPr>
        <p:spPr>
          <a:xfrm>
            <a:off x="4338218" y="1691640"/>
            <a:ext cx="3515258" cy="2103120"/>
          </a:xfrm>
          <a:prstGeom prst="roundRect">
            <a:avLst>
              <a:gd name="adj" fmla="val 3478"/>
            </a:avLst>
          </a:prstGeom>
          <a:solidFill>
            <a:schemeClr val="bg2"/>
          </a:solidFill>
          <a:ln w="9525">
            <a:solidFill>
              <a:srgbClr val="C4CBD8"/>
            </a:solidFill>
            <a:prstDash val="solid"/>
          </a:ln>
        </p:spPr>
      </p:sp>
      <p:sp>
        <p:nvSpPr>
          <p:cNvPr id="11" name="Number"/>
          <p:cNvSpPr/>
          <p:nvPr/>
        </p:nvSpPr>
        <p:spPr>
          <a:xfrm>
            <a:off x="4521098" y="1874520"/>
            <a:ext cx="457200" cy="457200"/>
          </a:xfrm>
          <a:prstGeom prst="ellipse">
            <a:avLst/>
          </a:prstGeom>
          <a:solidFill>
            <a:schemeClr val="accent1"/>
          </a:solidFill>
          <a:ln w="6350">
            <a:solidFill>
              <a:schemeClr val="accent1"/>
            </a:solidFill>
            <a:prstDash val="solid"/>
          </a:ln>
        </p:spPr>
      </p:sp>
      <p:sp>
        <p:nvSpPr>
          <p:cNvPr id="12" name="Text 9"/>
          <p:cNvSpPr txBox="1"/>
          <p:nvPr/>
        </p:nvSpPr>
        <p:spPr>
          <a:xfrm>
            <a:off x="4521098" y="187452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2</a:t>
            </a:r>
            <a:endParaRPr lang="en-US" sz="1500" dirty="0"/>
          </a:p>
        </p:txBody>
      </p:sp>
      <p:sp>
        <p:nvSpPr>
          <p:cNvPr id="13" name="Step head"/>
          <p:cNvSpPr txBox="1"/>
          <p:nvPr/>
        </p:nvSpPr>
        <p:spPr>
          <a:xfrm>
            <a:off x="5115458" y="1856232"/>
            <a:ext cx="2600858" cy="502920"/>
          </a:xfrm>
          <a:prstGeom prst="rect">
            <a:avLst/>
          </a:prstGeom>
          <a:noFill/>
          <a:ln/>
        </p:spPr>
        <p:txBody>
          <a:bodyPr wrap="square" lIns="0" tIns="0" rIns="0" bIns="0" rtlCol="0" anchor="ctr"/>
          <a:lstStyle/>
          <a:p>
            <a:pPr indent="0" marL="0">
              <a:buNone/>
            </a:pPr>
            <a:r>
              <a:rPr lang="en-US" sz="1700" b="1" dirty="0">
                <a:solidFill>
                  <a:schemeClr val="tx1"/>
                </a:solidFill>
                <a:latin typeface="Cambria" pitchFamily="34" charset="0"/>
                <a:ea typeface="Cambria" pitchFamily="34" charset="-122"/>
                <a:cs typeface="Cambria" pitchFamily="34" charset="-120"/>
              </a:rPr>
              <a:t>Check jointly</a:t>
            </a:r>
            <a:endParaRPr lang="en-US" sz="1700" dirty="0"/>
          </a:p>
        </p:txBody>
      </p:sp>
      <p:sp>
        <p:nvSpPr>
          <p:cNvPr id="14" name="Step text"/>
          <p:cNvSpPr txBox="1"/>
          <p:nvPr/>
        </p:nvSpPr>
        <p:spPr>
          <a:xfrm>
            <a:off x="4521098" y="2468880"/>
            <a:ext cx="3149498" cy="1234440"/>
          </a:xfrm>
          <a:prstGeom prst="rect">
            <a:avLst/>
          </a:prstGeom>
          <a:noFill/>
          <a:ln/>
        </p:spPr>
        <p:txBody>
          <a:bodyPr wrap="square" lIns="0" tIns="0" rIns="0" bIns="0" rtlCol="0" anchor="t"/>
          <a:lstStyle/>
          <a:p>
            <a:pPr indent="0" marL="0">
              <a:buNone/>
            </a:pPr>
            <a:r>
              <a:rPr lang="en-US" sz="1500" dirty="0">
                <a:solidFill>
                  <a:schemeClr val="tx1"/>
                </a:solidFill>
              </a:rPr>
              <a:t>Signed together, Chapter 5's plan and Volume I's package breach on 74.3% of paths; keeping them needs $50.0m.</a:t>
            </a:r>
            <a:endParaRPr lang="en-US" sz="1500" dirty="0"/>
          </a:p>
        </p:txBody>
      </p:sp>
      <p:sp>
        <p:nvSpPr>
          <p:cNvPr id="15" name="Step card"/>
          <p:cNvSpPr/>
          <p:nvPr/>
        </p:nvSpPr>
        <p:spPr>
          <a:xfrm>
            <a:off x="8127797" y="1691640"/>
            <a:ext cx="3515258" cy="2103120"/>
          </a:xfrm>
          <a:prstGeom prst="roundRect">
            <a:avLst>
              <a:gd name="adj" fmla="val 3478"/>
            </a:avLst>
          </a:prstGeom>
          <a:solidFill>
            <a:schemeClr val="bg2"/>
          </a:solidFill>
          <a:ln w="9525">
            <a:solidFill>
              <a:srgbClr val="C4CBD8"/>
            </a:solidFill>
            <a:prstDash val="solid"/>
          </a:ln>
        </p:spPr>
      </p:sp>
      <p:sp>
        <p:nvSpPr>
          <p:cNvPr id="16" name="Number"/>
          <p:cNvSpPr/>
          <p:nvPr/>
        </p:nvSpPr>
        <p:spPr>
          <a:xfrm>
            <a:off x="8310677" y="1874520"/>
            <a:ext cx="457200" cy="457200"/>
          </a:xfrm>
          <a:prstGeom prst="ellipse">
            <a:avLst/>
          </a:prstGeom>
          <a:solidFill>
            <a:schemeClr val="accent1"/>
          </a:solidFill>
          <a:ln w="6350">
            <a:solidFill>
              <a:schemeClr val="accent1"/>
            </a:solidFill>
            <a:prstDash val="solid"/>
          </a:ln>
        </p:spPr>
      </p:sp>
      <p:sp>
        <p:nvSpPr>
          <p:cNvPr id="17" name="Text 14"/>
          <p:cNvSpPr txBox="1"/>
          <p:nvPr/>
        </p:nvSpPr>
        <p:spPr>
          <a:xfrm>
            <a:off x="8310677" y="187452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3</a:t>
            </a:r>
            <a:endParaRPr lang="en-US" sz="1500" dirty="0"/>
          </a:p>
        </p:txBody>
      </p:sp>
      <p:sp>
        <p:nvSpPr>
          <p:cNvPr id="18" name="Step head"/>
          <p:cNvSpPr txBox="1"/>
          <p:nvPr/>
        </p:nvSpPr>
        <p:spPr>
          <a:xfrm>
            <a:off x="8905037" y="1856232"/>
            <a:ext cx="2600858" cy="502920"/>
          </a:xfrm>
          <a:prstGeom prst="rect">
            <a:avLst/>
          </a:prstGeom>
          <a:noFill/>
          <a:ln/>
        </p:spPr>
        <p:txBody>
          <a:bodyPr wrap="square" lIns="0" tIns="0" rIns="0" bIns="0" rtlCol="0" anchor="ctr"/>
          <a:lstStyle/>
          <a:p>
            <a:pPr indent="0" marL="0">
              <a:buNone/>
            </a:pPr>
            <a:r>
              <a:rPr lang="en-US" sz="1700" b="1" dirty="0">
                <a:solidFill>
                  <a:schemeClr val="tx1"/>
                </a:solidFill>
                <a:latin typeface="Cambria" pitchFamily="34" charset="0"/>
                <a:ea typeface="Cambria" pitchFamily="34" charset="-122"/>
                <a:cs typeface="Cambria" pitchFamily="34" charset="-120"/>
              </a:rPr>
              <a:t>Order the moves</a:t>
            </a:r>
            <a:endParaRPr lang="en-US" sz="1700" dirty="0"/>
          </a:p>
        </p:txBody>
      </p:sp>
      <p:sp>
        <p:nvSpPr>
          <p:cNvPr id="19" name="Step text"/>
          <p:cNvSpPr txBox="1"/>
          <p:nvPr/>
        </p:nvSpPr>
        <p:spPr>
          <a:xfrm>
            <a:off x="8310677" y="2468880"/>
            <a:ext cx="3149498" cy="1234440"/>
          </a:xfrm>
          <a:prstGeom prst="rect">
            <a:avLst/>
          </a:prstGeom>
          <a:noFill/>
          <a:ln/>
        </p:spPr>
        <p:txBody>
          <a:bodyPr wrap="square" lIns="0" tIns="0" rIns="0" bIns="0" rtlCol="0" anchor="t"/>
          <a:lstStyle/>
          <a:p>
            <a:pPr indent="0" marL="0">
              <a:buNone/>
            </a:pPr>
            <a:r>
              <a:rPr lang="en-US" sz="1500" dirty="0">
                <a:solidFill>
                  <a:schemeClr val="tx1"/>
                </a:solidFill>
              </a:rPr>
              <a:t>The sale goes first, worth $100.5m. Rounds in years 1–3; round 3 in year 4 costs $2.6m.</a:t>
            </a:r>
            <a:endParaRPr lang="en-US" sz="1500" dirty="0"/>
          </a:p>
        </p:txBody>
      </p:sp>
      <p:sp>
        <p:nvSpPr>
          <p:cNvPr id="20" name="Step card"/>
          <p:cNvSpPr/>
          <p:nvPr/>
        </p:nvSpPr>
        <p:spPr>
          <a:xfrm>
            <a:off x="548640" y="4069080"/>
            <a:ext cx="3515258" cy="2103120"/>
          </a:xfrm>
          <a:prstGeom prst="roundRect">
            <a:avLst>
              <a:gd name="adj" fmla="val 3478"/>
            </a:avLst>
          </a:prstGeom>
          <a:solidFill>
            <a:schemeClr val="bg2"/>
          </a:solidFill>
          <a:ln w="9525">
            <a:solidFill>
              <a:srgbClr val="C4CBD8"/>
            </a:solidFill>
            <a:prstDash val="solid"/>
          </a:ln>
        </p:spPr>
      </p:sp>
      <p:sp>
        <p:nvSpPr>
          <p:cNvPr id="21" name="Number"/>
          <p:cNvSpPr/>
          <p:nvPr/>
        </p:nvSpPr>
        <p:spPr>
          <a:xfrm>
            <a:off x="731520" y="4251960"/>
            <a:ext cx="457200" cy="457200"/>
          </a:xfrm>
          <a:prstGeom prst="ellipse">
            <a:avLst/>
          </a:prstGeom>
          <a:solidFill>
            <a:schemeClr val="accent1"/>
          </a:solidFill>
          <a:ln w="6350">
            <a:solidFill>
              <a:schemeClr val="accent1"/>
            </a:solidFill>
            <a:prstDash val="solid"/>
          </a:ln>
        </p:spPr>
      </p:sp>
      <p:sp>
        <p:nvSpPr>
          <p:cNvPr id="22" name="Text 19"/>
          <p:cNvSpPr txBox="1"/>
          <p:nvPr/>
        </p:nvSpPr>
        <p:spPr>
          <a:xfrm>
            <a:off x="731520" y="425196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4</a:t>
            </a:r>
            <a:endParaRPr lang="en-US" sz="1500" dirty="0"/>
          </a:p>
        </p:txBody>
      </p:sp>
      <p:sp>
        <p:nvSpPr>
          <p:cNvPr id="23" name="Step head"/>
          <p:cNvSpPr txBox="1"/>
          <p:nvPr/>
        </p:nvSpPr>
        <p:spPr>
          <a:xfrm>
            <a:off x="1325880" y="4233672"/>
            <a:ext cx="2600858" cy="502920"/>
          </a:xfrm>
          <a:prstGeom prst="rect">
            <a:avLst/>
          </a:prstGeom>
          <a:noFill/>
          <a:ln/>
        </p:spPr>
        <p:txBody>
          <a:bodyPr wrap="square" lIns="0" tIns="0" rIns="0" bIns="0" rtlCol="0" anchor="ctr"/>
          <a:lstStyle/>
          <a:p>
            <a:pPr indent="0" marL="0">
              <a:buNone/>
            </a:pPr>
            <a:r>
              <a:rPr lang="en-US" sz="1700" b="1" dirty="0">
                <a:solidFill>
                  <a:schemeClr val="tx1"/>
                </a:solidFill>
                <a:latin typeface="Cambria" pitchFamily="34" charset="0"/>
                <a:ea typeface="Cambria" pitchFamily="34" charset="-122"/>
                <a:cs typeface="Cambria" pitchFamily="34" charset="-120"/>
              </a:rPr>
              <a:t>Price and allocate</a:t>
            </a:r>
            <a:endParaRPr lang="en-US" sz="1700" dirty="0"/>
          </a:p>
        </p:txBody>
      </p:sp>
      <p:sp>
        <p:nvSpPr>
          <p:cNvPr id="24" name="Step text"/>
          <p:cNvSpPr txBox="1"/>
          <p:nvPr/>
        </p:nvSpPr>
        <p:spPr>
          <a:xfrm>
            <a:off x="731520" y="4846320"/>
            <a:ext cx="3149498" cy="1234440"/>
          </a:xfrm>
          <a:prstGeom prst="rect">
            <a:avLst/>
          </a:prstGeom>
          <a:noFill/>
          <a:ln/>
        </p:spPr>
        <p:txBody>
          <a:bodyPr wrap="square" lIns="0" tIns="0" rIns="0" bIns="0" rtlCol="0" anchor="t"/>
          <a:lstStyle/>
          <a:p>
            <a:pPr indent="0" marL="0">
              <a:buNone/>
            </a:pPr>
            <a:r>
              <a:rPr lang="en-US" sz="1500" dirty="0">
                <a:solidFill>
                  <a:schemeClr val="tx1"/>
                </a:solidFill>
              </a:rPr>
              <a:t>A $160m line and 2.07 quarters, $21.37m: worth $1,039.41m. The appetite $1.83m a point; payouts wait.</a:t>
            </a:r>
            <a:endParaRPr lang="en-US" sz="1500" dirty="0"/>
          </a:p>
        </p:txBody>
      </p:sp>
      <p:sp>
        <p:nvSpPr>
          <p:cNvPr id="25" name="Step card"/>
          <p:cNvSpPr/>
          <p:nvPr/>
        </p:nvSpPr>
        <p:spPr>
          <a:xfrm>
            <a:off x="4338218" y="4069080"/>
            <a:ext cx="3515258" cy="2103120"/>
          </a:xfrm>
          <a:prstGeom prst="roundRect">
            <a:avLst>
              <a:gd name="adj" fmla="val 3478"/>
            </a:avLst>
          </a:prstGeom>
          <a:solidFill>
            <a:schemeClr val="bg2"/>
          </a:solidFill>
          <a:ln w="9525">
            <a:solidFill>
              <a:srgbClr val="C4CBD8"/>
            </a:solidFill>
            <a:prstDash val="solid"/>
          </a:ln>
        </p:spPr>
      </p:sp>
      <p:sp>
        <p:nvSpPr>
          <p:cNvPr id="26" name="Number"/>
          <p:cNvSpPr/>
          <p:nvPr/>
        </p:nvSpPr>
        <p:spPr>
          <a:xfrm>
            <a:off x="4521098" y="4251960"/>
            <a:ext cx="457200" cy="457200"/>
          </a:xfrm>
          <a:prstGeom prst="ellipse">
            <a:avLst/>
          </a:prstGeom>
          <a:solidFill>
            <a:schemeClr val="accent1"/>
          </a:solidFill>
          <a:ln w="6350">
            <a:solidFill>
              <a:schemeClr val="accent1"/>
            </a:solidFill>
            <a:prstDash val="solid"/>
          </a:ln>
        </p:spPr>
      </p:sp>
      <p:sp>
        <p:nvSpPr>
          <p:cNvPr id="27" name="Text 24"/>
          <p:cNvSpPr txBox="1"/>
          <p:nvPr/>
        </p:nvSpPr>
        <p:spPr>
          <a:xfrm>
            <a:off x="4521098" y="425196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5</a:t>
            </a:r>
            <a:endParaRPr lang="en-US" sz="1500" dirty="0"/>
          </a:p>
        </p:txBody>
      </p:sp>
      <p:sp>
        <p:nvSpPr>
          <p:cNvPr id="28" name="Step head"/>
          <p:cNvSpPr txBox="1"/>
          <p:nvPr/>
        </p:nvSpPr>
        <p:spPr>
          <a:xfrm>
            <a:off x="5115458" y="4233672"/>
            <a:ext cx="2600858" cy="502920"/>
          </a:xfrm>
          <a:prstGeom prst="rect">
            <a:avLst/>
          </a:prstGeom>
          <a:noFill/>
          <a:ln/>
        </p:spPr>
        <p:txBody>
          <a:bodyPr wrap="square" lIns="0" tIns="0" rIns="0" bIns="0" rtlCol="0" anchor="ctr"/>
          <a:lstStyle/>
          <a:p>
            <a:pPr indent="0" marL="0">
              <a:buNone/>
            </a:pPr>
            <a:r>
              <a:rPr lang="en-US" sz="1700" b="1" dirty="0">
                <a:solidFill>
                  <a:schemeClr val="tx1"/>
                </a:solidFill>
                <a:latin typeface="Cambria" pitchFamily="34" charset="0"/>
                <a:ea typeface="Cambria" pitchFamily="34" charset="-122"/>
                <a:cs typeface="Cambria" pitchFamily="34" charset="-120"/>
              </a:rPr>
              <a:t>Keep a choice open</a:t>
            </a:r>
            <a:endParaRPr lang="en-US" sz="1700" dirty="0"/>
          </a:p>
        </p:txBody>
      </p:sp>
      <p:sp>
        <p:nvSpPr>
          <p:cNvPr id="29" name="Step text"/>
          <p:cNvSpPr txBox="1"/>
          <p:nvPr/>
        </p:nvSpPr>
        <p:spPr>
          <a:xfrm>
            <a:off x="4521098" y="4846320"/>
            <a:ext cx="3149498" cy="1234440"/>
          </a:xfrm>
          <a:prstGeom prst="rect">
            <a:avLst/>
          </a:prstGeom>
          <a:noFill/>
          <a:ln/>
        </p:spPr>
        <p:txBody>
          <a:bodyPr wrap="square" lIns="0" tIns="0" rIns="0" bIns="0" rtlCol="0" anchor="t"/>
          <a:lstStyle/>
          <a:p>
            <a:pPr indent="0" marL="0">
              <a:buNone/>
            </a:pPr>
            <a:r>
              <a:rPr lang="en-US" sz="1500" dirty="0">
                <a:solidFill>
                  <a:schemeClr val="tx1"/>
                </a:solidFill>
              </a:rPr>
              <a:t>Round 3 in year 3 only if cash after year 2 is at least $490m: $1,040.76m, $1.35m more.</a:t>
            </a:r>
            <a:endParaRPr lang="en-US" sz="1500" dirty="0"/>
          </a:p>
        </p:txBody>
      </p:sp>
      <p:sp>
        <p:nvSpPr>
          <p:cNvPr id="30" name="Step card"/>
          <p:cNvSpPr/>
          <p:nvPr/>
        </p:nvSpPr>
        <p:spPr>
          <a:xfrm>
            <a:off x="8127797" y="4069080"/>
            <a:ext cx="3515258" cy="2103120"/>
          </a:xfrm>
          <a:prstGeom prst="roundRect">
            <a:avLst>
              <a:gd name="adj" fmla="val 3478"/>
            </a:avLst>
          </a:prstGeom>
          <a:solidFill>
            <a:schemeClr val="bg2"/>
          </a:solidFill>
          <a:ln w="9525">
            <a:solidFill>
              <a:srgbClr val="C4CBD8"/>
            </a:solidFill>
            <a:prstDash val="solid"/>
          </a:ln>
        </p:spPr>
      </p:sp>
      <p:sp>
        <p:nvSpPr>
          <p:cNvPr id="31" name="Number"/>
          <p:cNvSpPr/>
          <p:nvPr/>
        </p:nvSpPr>
        <p:spPr>
          <a:xfrm>
            <a:off x="8310677" y="4251960"/>
            <a:ext cx="457200" cy="457200"/>
          </a:xfrm>
          <a:prstGeom prst="ellipse">
            <a:avLst/>
          </a:prstGeom>
          <a:solidFill>
            <a:schemeClr val="accent1"/>
          </a:solidFill>
          <a:ln w="6350">
            <a:solidFill>
              <a:schemeClr val="accent1"/>
            </a:solidFill>
            <a:prstDash val="solid"/>
          </a:ln>
        </p:spPr>
      </p:sp>
      <p:sp>
        <p:nvSpPr>
          <p:cNvPr id="32" name="Text 29"/>
          <p:cNvSpPr txBox="1"/>
          <p:nvPr/>
        </p:nvSpPr>
        <p:spPr>
          <a:xfrm>
            <a:off x="8310677" y="425196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6</a:t>
            </a:r>
            <a:endParaRPr lang="en-US" sz="1500" dirty="0"/>
          </a:p>
        </p:txBody>
      </p:sp>
      <p:sp>
        <p:nvSpPr>
          <p:cNvPr id="33" name="Step head"/>
          <p:cNvSpPr txBox="1"/>
          <p:nvPr/>
        </p:nvSpPr>
        <p:spPr>
          <a:xfrm>
            <a:off x="8905037" y="4233672"/>
            <a:ext cx="2600858" cy="502920"/>
          </a:xfrm>
          <a:prstGeom prst="rect">
            <a:avLst/>
          </a:prstGeom>
          <a:noFill/>
          <a:ln/>
        </p:spPr>
        <p:txBody>
          <a:bodyPr wrap="square" lIns="0" tIns="0" rIns="0" bIns="0" rtlCol="0" anchor="ctr"/>
          <a:lstStyle/>
          <a:p>
            <a:pPr indent="0" marL="0">
              <a:buNone/>
            </a:pPr>
            <a:r>
              <a:rPr lang="en-US" sz="1700" b="1" dirty="0">
                <a:solidFill>
                  <a:schemeClr val="tx1"/>
                </a:solidFill>
                <a:latin typeface="Cambria" pitchFamily="34" charset="0"/>
                <a:ea typeface="Cambria" pitchFamily="34" charset="-122"/>
                <a:cs typeface="Cambria" pitchFamily="34" charset="-120"/>
              </a:rPr>
              <a:t>Certify</a:t>
            </a:r>
            <a:endParaRPr lang="en-US" sz="1700" dirty="0"/>
          </a:p>
        </p:txBody>
      </p:sp>
      <p:sp>
        <p:nvSpPr>
          <p:cNvPr id="34" name="Step text"/>
          <p:cNvSpPr txBox="1"/>
          <p:nvPr/>
        </p:nvSpPr>
        <p:spPr>
          <a:xfrm>
            <a:off x="8310677" y="4846320"/>
            <a:ext cx="3149498" cy="1234440"/>
          </a:xfrm>
          <a:prstGeom prst="rect">
            <a:avLst/>
          </a:prstGeom>
          <a:noFill/>
          <a:ln/>
        </p:spPr>
        <p:txBody>
          <a:bodyPr wrap="square" lIns="0" tIns="0" rIns="0" bIns="0" rtlCol="0" anchor="t"/>
          <a:lstStyle/>
          <a:p>
            <a:pPr indent="0" marL="0">
              <a:buNone/>
            </a:pPr>
            <a:r>
              <a:rPr lang="en-US" sz="1500" dirty="0">
                <a:solidFill>
                  <a:schemeClr val="tx1"/>
                </a:solidFill>
              </a:rPr>
              <a:t>No slack at 5%. Designed for 4%, $2.07m buys rates to 0.30 and spreads to $52.2m. At the corner, $33.52m.</a:t>
            </a:r>
            <a:endParaRPr lang="en-US" sz="15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WORKED EXAMPLE 16.1 · FIGURE 16.1</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Signed side by side, the pieces fail</a:t>
            </a:r>
            <a:endParaRPr lang="en-US" sz="3200" dirty="0"/>
          </a:p>
        </p:txBody>
      </p:sp>
      <p:sp>
        <p:nvSpPr>
          <p:cNvPr id="5" name="Bullets"/>
          <p:cNvSpPr txBox="1"/>
          <p:nvPr/>
        </p:nvSpPr>
        <p:spPr>
          <a:xfrm>
            <a:off x="548640" y="1691640"/>
            <a:ext cx="3811109" cy="4480560"/>
          </a:xfrm>
          <a:prstGeom prst="rect">
            <a:avLst/>
          </a:prstGeom>
          <a:noFill/>
          <a:ln/>
        </p:spPr>
        <p:txBody>
          <a:bodyPr wrap="square" lIns="635" tIns="635" rIns="635" bIns="635" rtlCol="0" anchor="t"/>
          <a:lstStyle/>
          <a:p>
            <a:pPr marL="228600" indent="-228600">
              <a:spcAft>
                <a:spcPts val="800"/>
              </a:spcAft>
              <a:buSzPct val="100000"/>
              <a:buChar char="•"/>
            </a:pPr>
            <a:r>
              <a:rPr lang="en-US" sz="1500" dirty="0">
                <a:solidFill>
                  <a:schemeClr val="tx1"/>
                </a:solidFill>
              </a:rPr>
              <a:t>(a) On one account the pieces' plan comes within </a:t>
            </a:r>
            <a:r>
              <a:rPr lang="en-US" sz="1500" b="1" dirty="0">
                <a:solidFill>
                  <a:schemeClr val="tx1"/>
                </a:solidFill>
              </a:rPr>
              <a:t>$7m</a:t>
            </a:r>
            <a:r>
              <a:rPr lang="en-US" sz="1500" dirty="0">
                <a:solidFill>
                  <a:schemeClr val="tx1"/>
                </a:solidFill>
              </a:rPr>
              <a:t> of the floor at quarter 9, when the third round is paid; 5% of paths fall far below</a:t>
            </a:r>
            <a:endParaRPr lang="en-US" sz="1500" dirty="0"/>
          </a:p>
          <a:p>
            <a:pPr marL="228600" indent="-228600">
              <a:spcAft>
                <a:spcPts val="800"/>
              </a:spcAft>
              <a:buSzPct val="100000"/>
              <a:buChar char="•"/>
            </a:pPr>
            <a:r>
              <a:rPr lang="en-US" sz="1500" dirty="0">
                <a:solidFill>
                  <a:schemeClr val="tx1"/>
                </a:solidFill>
              </a:rPr>
              <a:t>(b) At quarter 9 the claims exceed the room by </a:t>
            </a:r>
            <a:r>
              <a:rPr lang="en-US" sz="1500" b="1" dirty="0">
                <a:solidFill>
                  <a:schemeClr val="tx1"/>
                </a:solidFill>
              </a:rPr>
              <a:t>$9.6m</a:t>
            </a:r>
            <a:r>
              <a:rPr lang="en-US" sz="1500" dirty="0">
                <a:solidFill>
                  <a:schemeClr val="tx1"/>
                </a:solidFill>
              </a:rPr>
              <a:t>; the program's leave </a:t>
            </a:r>
            <a:r>
              <a:rPr lang="en-US" sz="1500" b="1" dirty="0">
                <a:solidFill>
                  <a:schemeClr val="tx1"/>
                </a:solidFill>
              </a:rPr>
              <a:t>$100.0m</a:t>
            </a:r>
            <a:endParaRPr lang="en-US" sz="1500" dirty="0"/>
          </a:p>
          <a:p>
            <a:pPr marL="228600" indent="-228600">
              <a:spcAft>
                <a:spcPts val="800"/>
              </a:spcAft>
              <a:buSzPct val="100000"/>
              <a:buChar char="•"/>
            </a:pPr>
            <a:r>
              <a:rPr lang="en-US" sz="1500" dirty="0">
                <a:solidFill>
                  <a:schemeClr val="tx1"/>
                </a:solidFill>
              </a:rPr>
              <a:t>Without the sale the pieces breach on </a:t>
            </a:r>
            <a:r>
              <a:rPr lang="en-US" sz="1500" b="1" dirty="0">
                <a:solidFill>
                  <a:schemeClr val="tx1"/>
                </a:solidFill>
              </a:rPr>
              <a:t>99.6%</a:t>
            </a:r>
            <a:r>
              <a:rPr lang="en-US" sz="1500" dirty="0">
                <a:solidFill>
                  <a:schemeClr val="tx1"/>
                </a:solidFill>
              </a:rPr>
              <a:t> of paths, and no package keeps them</a:t>
            </a:r>
            <a:endParaRPr lang="en-US" sz="1500" dirty="0"/>
          </a:p>
        </p:txBody>
      </p:sp>
      <p:pic>
        <p:nvPicPr>
          <p:cNvPr id="6" name="Figure" descr="Figure 16.1: one program from many pieces">    </p:cNvPr>
          <p:cNvPicPr>
            <a:picLocks noChangeAspect="1"/>
          </p:cNvPicPr>
          <p:nvPr/>
        </p:nvPicPr>
        <p:blipFill>
          <a:blip r:embed="rId1"/>
          <a:stretch>
            <a:fillRect/>
          </a:stretch>
        </p:blipFill>
        <p:spPr>
          <a:xfrm>
            <a:off x="4725509" y="1756940"/>
            <a:ext cx="6917546" cy="3783033"/>
          </a:xfrm>
          <a:prstGeom prst="rect">
            <a:avLst/>
          </a:prstGeom>
        </p:spPr>
      </p:pic>
      <p:sp>
        <p:nvSpPr>
          <p:cNvPr id="7" name="Caption"/>
          <p:cNvSpPr txBox="1"/>
          <p:nvPr/>
        </p:nvSpPr>
        <p:spPr>
          <a:xfrm>
            <a:off x="4725509" y="5613124"/>
            <a:ext cx="6917546" cy="502920"/>
          </a:xfrm>
          <a:prstGeom prst="rect">
            <a:avLst/>
          </a:prstGeom>
          <a:noFill/>
          <a:ln/>
        </p:spPr>
        <p:txBody>
          <a:bodyPr wrap="square" lIns="0" tIns="0" rIns="0" bIns="0" rtlCol="0" anchor="t"/>
          <a:lstStyle/>
          <a:p>
            <a:pPr indent="0" marL="0">
              <a:buNone/>
            </a:pPr>
            <a:r>
              <a:rPr lang="en-US" sz="1100" i="1" dirty="0">
                <a:solidFill>
                  <a:schemeClr val="tx2"/>
                </a:solidFill>
              </a:rPr>
              <a:t>Figure 16.1. (a) Liquidity by quarter on one account, with the sale: the pieces as certified and the best program, as planned and as the level 5 percent of paths fall below. (b) Claims on the room at quarter 9.</a:t>
            </a:r>
            <a:endParaRPr lang="en-US" sz="11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WORKED EXAMPLE 16.1 · TABLE 16.3</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Programs on one account, priced exactly</a:t>
            </a:r>
            <a:endParaRPr lang="en-US" sz="3200" dirty="0"/>
          </a:p>
        </p:txBody>
      </p:sp>
      <p:graphicFrame>
        <p:nvGraphicFramePr>
          <p:cNvPr id="18" name="Table"/>
          <p:cNvGraphicFramePr>
            <a:graphicFrameLocks noGrp="1"/>
          </p:cNvGraphicFramePr>
          <p:nvPr>
            <p:extLst>
              <p:ext uri="{D42A27DB-BD31-4B8C-83A1-F6EECF244321}">
                <p14:modId xmlns:p14="http://schemas.microsoft.com/office/powerpoint/2010/main" val="1579011935"/>
              </p:ext>
            </p:extLst>
          </p:nvPr>
        </p:nvGraphicFramePr>
        <p:xfrm>
          <a:off x="548640" y="1691640"/>
          <a:ext cx="11094415" cy="914400"/>
        </p:xfrm>
        <a:graphic>
          <a:graphicData uri="http://schemas.openxmlformats.org/drawingml/2006/table">
            <a:tbl>
              <a:tblPr/>
              <a:tblGrid>
                <a:gridCol w="2860279"/>
                <a:gridCol w="1906853"/>
                <a:gridCol w="1040101"/>
                <a:gridCol w="1213452"/>
                <a:gridCol w="1213452"/>
                <a:gridCol w="1473477"/>
                <a:gridCol w="1386802"/>
              </a:tblGrid>
              <a:tr h="365760">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Program</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Rounds (years)</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r" indent="0" marL="0">
                        <a:buNone/>
                      </a:pPr>
                      <a:r>
                        <a:rPr lang="en-US" sz="1400" b="1" dirty="0">
                          <a:solidFill>
                            <a:srgbClr val="FFFFFF"/>
                          </a:solidFill>
                          <a:latin typeface="Calibri" pitchFamily="34" charset="0"/>
                          <a:ea typeface="Calibri" pitchFamily="34" charset="-122"/>
                          <a:cs typeface="Calibri" pitchFamily="34" charset="-120"/>
                        </a:rPr>
                        <a:t>Line</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r" indent="0" marL="0">
                        <a:buNone/>
                      </a:pPr>
                      <a:r>
                        <a:rPr lang="en-US" sz="1400" b="1" dirty="0">
                          <a:solidFill>
                            <a:srgbClr val="FFFFFF"/>
                          </a:solidFill>
                          <a:latin typeface="Calibri" pitchFamily="34" charset="0"/>
                          <a:ea typeface="Calibri" pitchFamily="34" charset="-122"/>
                          <a:cs typeface="Calibri" pitchFamily="34" charset="-120"/>
                        </a:rPr>
                        <a:t>Delay (q)</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r" indent="0" marL="0">
                        <a:buNone/>
                      </a:pPr>
                      <a:r>
                        <a:rPr lang="en-US" sz="1400" b="1" dirty="0">
                          <a:solidFill>
                            <a:srgbClr val="FFFFFF"/>
                          </a:solidFill>
                          <a:latin typeface="Calibri" pitchFamily="34" charset="0"/>
                          <a:ea typeface="Calibri" pitchFamily="34" charset="-122"/>
                          <a:cs typeface="Calibri" pitchFamily="34" charset="-120"/>
                        </a:rPr>
                        <a:t>Levers</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r" indent="0" marL="0">
                        <a:buNone/>
                      </a:pPr>
                      <a:r>
                        <a:rPr lang="en-US" sz="1400" b="1" dirty="0">
                          <a:solidFill>
                            <a:srgbClr val="FFFFFF"/>
                          </a:solidFill>
                          <a:latin typeface="Calibri" pitchFamily="34" charset="0"/>
                          <a:ea typeface="Calibri" pitchFamily="34" charset="-122"/>
                          <a:cs typeface="Calibri" pitchFamily="34" charset="-120"/>
                        </a:rPr>
                        <a:t>Value</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r" indent="0" marL="0">
                        <a:buNone/>
                      </a:pPr>
                      <a:r>
                        <a:rPr lang="en-US" sz="1400" b="1" dirty="0">
                          <a:solidFill>
                            <a:srgbClr val="FFFFFF"/>
                          </a:solidFill>
                          <a:latin typeface="Calibri" pitchFamily="34" charset="0"/>
                          <a:ea typeface="Calibri" pitchFamily="34" charset="-122"/>
                          <a:cs typeface="Calibri" pitchFamily="34" charset="-120"/>
                        </a:rPr>
                        <a:t>Breach (%)</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r>
              <a:tr h="365760">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Pieces as certified</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1–3</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400" dirty="0">
                          <a:solidFill>
                            <a:srgbClr val="0F1E3D"/>
                          </a:solidFill>
                          <a:latin typeface="Calibri" pitchFamily="34" charset="0"/>
                          <a:ea typeface="Calibri" pitchFamily="34" charset="-122"/>
                          <a:cs typeface="Calibri" pitchFamily="34" charset="-120"/>
                        </a:rPr>
                        <a:t>170</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400" dirty="0">
                          <a:solidFill>
                            <a:srgbClr val="0F1E3D"/>
                          </a:solidFill>
                          <a:latin typeface="Calibri" pitchFamily="34" charset="0"/>
                          <a:ea typeface="Calibri" pitchFamily="34" charset="-122"/>
                          <a:cs typeface="Calibri" pitchFamily="34" charset="-120"/>
                        </a:rPr>
                        <a:t>0.67</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400" dirty="0">
                          <a:solidFill>
                            <a:srgbClr val="0F1E3D"/>
                          </a:solidFill>
                          <a:latin typeface="Calibri" pitchFamily="34" charset="0"/>
                          <a:ea typeface="Calibri" pitchFamily="34" charset="-122"/>
                          <a:cs typeface="Calibri" pitchFamily="34" charset="-120"/>
                        </a:rPr>
                        <a:t>10.44</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400" dirty="0">
                          <a:solidFill>
                            <a:srgbClr val="0F1E3D"/>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400" dirty="0">
                          <a:solidFill>
                            <a:srgbClr val="0F1E3D"/>
                          </a:solidFill>
                          <a:latin typeface="Calibri" pitchFamily="34" charset="0"/>
                          <a:ea typeface="Calibri" pitchFamily="34" charset="-122"/>
                          <a:cs typeface="Calibri" pitchFamily="34" charset="-120"/>
                        </a:rPr>
                        <a:t>74.3</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r h="365760">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  levers to keep them</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1–3</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400" dirty="0">
                          <a:solidFill>
                            <a:srgbClr val="0F1E3D"/>
                          </a:solidFill>
                          <a:latin typeface="Calibri" pitchFamily="34" charset="0"/>
                          <a:ea typeface="Calibri" pitchFamily="34" charset="-122"/>
                          <a:cs typeface="Calibri" pitchFamily="34" charset="-120"/>
                        </a:rPr>
                        <a:t>165</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400" dirty="0">
                          <a:solidFill>
                            <a:srgbClr val="0F1E3D"/>
                          </a:solidFill>
                          <a:latin typeface="Calibri" pitchFamily="34" charset="0"/>
                          <a:ea typeface="Calibri" pitchFamily="34" charset="-122"/>
                          <a:cs typeface="Calibri" pitchFamily="34" charset="-120"/>
                        </a:rPr>
                        <a:t>5.63</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400" dirty="0">
                          <a:solidFill>
                            <a:srgbClr val="0F1E3D"/>
                          </a:solidFill>
                          <a:latin typeface="Calibri" pitchFamily="34" charset="0"/>
                          <a:ea typeface="Calibri" pitchFamily="34" charset="-122"/>
                          <a:cs typeface="Calibri" pitchFamily="34" charset="-120"/>
                        </a:rPr>
                        <a:t>50.02</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400" dirty="0">
                          <a:solidFill>
                            <a:srgbClr val="0F1E3D"/>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400" dirty="0">
                          <a:solidFill>
                            <a:srgbClr val="0F1E3D"/>
                          </a:solidFill>
                          <a:latin typeface="Calibri" pitchFamily="34" charset="0"/>
                          <a:ea typeface="Calibri" pitchFamily="34" charset="-122"/>
                          <a:cs typeface="Calibri" pitchFamily="34" charset="-120"/>
                        </a:rPr>
                        <a:t>5.0</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r>
              <a:tr h="365760">
                <a:tc>
                  <a:txBody>
                    <a:bodyPr/>
                    <a:lstStyle/>
                    <a:p>
                      <a:pPr algn="l" indent="0" marL="0">
                        <a:buNone/>
                      </a:pPr>
                      <a:r>
                        <a:rPr lang="en-US" sz="1400" b="1" dirty="0">
                          <a:solidFill>
                            <a:srgbClr val="0F1E3D"/>
                          </a:solidFill>
                          <a:latin typeface="Calibri" pitchFamily="34" charset="0"/>
                          <a:ea typeface="Calibri" pitchFamily="34" charset="-122"/>
                          <a:cs typeface="Calibri" pitchFamily="34" charset="-120"/>
                        </a:rPr>
                        <a:t>Best program</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EFE4D0"/>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1–3</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EFE4D0"/>
                    </a:solidFill>
                  </a:tcPr>
                </a:tc>
                <a:tc>
                  <a:txBody>
                    <a:bodyPr/>
                    <a:lstStyle/>
                    <a:p>
                      <a:pPr algn="r" indent="0" marL="0">
                        <a:buNone/>
                      </a:pPr>
                      <a:r>
                        <a:rPr lang="en-US" sz="1400" dirty="0">
                          <a:solidFill>
                            <a:srgbClr val="0F1E3D"/>
                          </a:solidFill>
                          <a:latin typeface="Calibri" pitchFamily="34" charset="0"/>
                          <a:ea typeface="Calibri" pitchFamily="34" charset="-122"/>
                          <a:cs typeface="Calibri" pitchFamily="34" charset="-120"/>
                        </a:rPr>
                        <a:t>160</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EFE4D0"/>
                    </a:solidFill>
                  </a:tcPr>
                </a:tc>
                <a:tc>
                  <a:txBody>
                    <a:bodyPr/>
                    <a:lstStyle/>
                    <a:p>
                      <a:pPr algn="r" indent="0" marL="0">
                        <a:buNone/>
                      </a:pPr>
                      <a:r>
                        <a:rPr lang="en-US" sz="1400" dirty="0">
                          <a:solidFill>
                            <a:srgbClr val="0F1E3D"/>
                          </a:solidFill>
                          <a:latin typeface="Calibri" pitchFamily="34" charset="0"/>
                          <a:ea typeface="Calibri" pitchFamily="34" charset="-122"/>
                          <a:cs typeface="Calibri" pitchFamily="34" charset="-120"/>
                        </a:rPr>
                        <a:t>2.07</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EFE4D0"/>
                    </a:solidFill>
                  </a:tcPr>
                </a:tc>
                <a:tc>
                  <a:txBody>
                    <a:bodyPr/>
                    <a:lstStyle/>
                    <a:p>
                      <a:pPr algn="r" indent="0" marL="0">
                        <a:buNone/>
                      </a:pPr>
                      <a:r>
                        <a:rPr lang="en-US" sz="1400" dirty="0">
                          <a:solidFill>
                            <a:srgbClr val="0F1E3D"/>
                          </a:solidFill>
                          <a:latin typeface="Calibri" pitchFamily="34" charset="0"/>
                          <a:ea typeface="Calibri" pitchFamily="34" charset="-122"/>
                          <a:cs typeface="Calibri" pitchFamily="34" charset="-120"/>
                        </a:rPr>
                        <a:t>21.37</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EFE4D0"/>
                    </a:solidFill>
                  </a:tcPr>
                </a:tc>
                <a:tc>
                  <a:txBody>
                    <a:bodyPr/>
                    <a:lstStyle/>
                    <a:p>
                      <a:pPr algn="r" indent="0" marL="0">
                        <a:buNone/>
                      </a:pPr>
                      <a:r>
                        <a:rPr lang="en-US" sz="1400" dirty="0">
                          <a:solidFill>
                            <a:srgbClr val="0F1E3D"/>
                          </a:solidFill>
                          <a:latin typeface="Calibri" pitchFamily="34" charset="0"/>
                          <a:ea typeface="Calibri" pitchFamily="34" charset="-122"/>
                          <a:cs typeface="Calibri" pitchFamily="34" charset="-120"/>
                        </a:rPr>
                        <a:t>1,039.41</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EFE4D0"/>
                    </a:solidFill>
                  </a:tcPr>
                </a:tc>
                <a:tc>
                  <a:txBody>
                    <a:bodyPr/>
                    <a:lstStyle/>
                    <a:p>
                      <a:pPr algn="r" indent="0" marL="0">
                        <a:buNone/>
                      </a:pPr>
                      <a:r>
                        <a:rPr lang="en-US" sz="1400" dirty="0">
                          <a:solidFill>
                            <a:srgbClr val="0F1E3D"/>
                          </a:solidFill>
                          <a:latin typeface="Calibri" pitchFamily="34" charset="0"/>
                          <a:ea typeface="Calibri" pitchFamily="34" charset="-122"/>
                          <a:cs typeface="Calibri" pitchFamily="34" charset="-120"/>
                        </a:rPr>
                        <a:t>5.0</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EFE4D0"/>
                    </a:solidFill>
                  </a:tcPr>
                </a:tc>
              </a:tr>
              <a:tr h="365760">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Round 3 in year 4</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1, 2, 4</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400" dirty="0">
                          <a:solidFill>
                            <a:srgbClr val="0F1E3D"/>
                          </a:solidFill>
                          <a:latin typeface="Calibri" pitchFamily="34" charset="0"/>
                          <a:ea typeface="Calibri" pitchFamily="34" charset="-122"/>
                          <a:cs typeface="Calibri" pitchFamily="34" charset="-120"/>
                        </a:rPr>
                        <a:t>160</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400" dirty="0">
                          <a:solidFill>
                            <a:srgbClr val="0F1E3D"/>
                          </a:solidFill>
                          <a:latin typeface="Calibri" pitchFamily="34" charset="0"/>
                          <a:ea typeface="Calibri" pitchFamily="34" charset="-122"/>
                          <a:cs typeface="Calibri" pitchFamily="34" charset="-120"/>
                        </a:rPr>
                        <a:t>1.48</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400" dirty="0">
                          <a:solidFill>
                            <a:srgbClr val="0F1E3D"/>
                          </a:solidFill>
                          <a:latin typeface="Calibri" pitchFamily="34" charset="0"/>
                          <a:ea typeface="Calibri" pitchFamily="34" charset="-122"/>
                          <a:cs typeface="Calibri" pitchFamily="34" charset="-120"/>
                        </a:rPr>
                        <a:t>16.62</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400" dirty="0">
                          <a:solidFill>
                            <a:srgbClr val="0F1E3D"/>
                          </a:solidFill>
                          <a:latin typeface="Calibri" pitchFamily="34" charset="0"/>
                          <a:ea typeface="Calibri" pitchFamily="34" charset="-122"/>
                          <a:cs typeface="Calibri" pitchFamily="34" charset="-120"/>
                        </a:rPr>
                        <a:t>1,036.80</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400" dirty="0">
                          <a:solidFill>
                            <a:srgbClr val="0F1E3D"/>
                          </a:solidFill>
                          <a:latin typeface="Calibri" pitchFamily="34" charset="0"/>
                          <a:ea typeface="Calibri" pitchFamily="34" charset="-122"/>
                          <a:cs typeface="Calibri" pitchFamily="34" charset="-120"/>
                        </a:rPr>
                        <a:t>5.0</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r>
              <a:tr h="365760">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Round 3 on a trigger</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1, 2, 3 or 4</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400" dirty="0">
                          <a:solidFill>
                            <a:srgbClr val="0F1E3D"/>
                          </a:solidFill>
                          <a:latin typeface="Calibri" pitchFamily="34" charset="0"/>
                          <a:ea typeface="Calibri" pitchFamily="34" charset="-122"/>
                          <a:cs typeface="Calibri" pitchFamily="34" charset="-120"/>
                        </a:rPr>
                        <a:t>155</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400" dirty="0">
                          <a:solidFill>
                            <a:srgbClr val="0F1E3D"/>
                          </a:solidFill>
                          <a:latin typeface="Calibri" pitchFamily="34" charset="0"/>
                          <a:ea typeface="Calibri" pitchFamily="34" charset="-122"/>
                          <a:cs typeface="Calibri" pitchFamily="34" charset="-120"/>
                        </a:rPr>
                        <a:t>1.64</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400" dirty="0">
                          <a:solidFill>
                            <a:srgbClr val="0F1E3D"/>
                          </a:solidFill>
                          <a:latin typeface="Calibri" pitchFamily="34" charset="0"/>
                          <a:ea typeface="Calibri" pitchFamily="34" charset="-122"/>
                          <a:cs typeface="Calibri" pitchFamily="34" charset="-120"/>
                        </a:rPr>
                        <a:t>17.79</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400" dirty="0">
                          <a:solidFill>
                            <a:srgbClr val="0F1E3D"/>
                          </a:solidFill>
                          <a:latin typeface="Calibri" pitchFamily="34" charset="0"/>
                          <a:ea typeface="Calibri" pitchFamily="34" charset="-122"/>
                          <a:cs typeface="Calibri" pitchFamily="34" charset="-120"/>
                        </a:rPr>
                        <a:t>1,040.76</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400" dirty="0">
                          <a:solidFill>
                            <a:srgbClr val="0F1E3D"/>
                          </a:solidFill>
                          <a:latin typeface="Calibri" pitchFamily="34" charset="0"/>
                          <a:ea typeface="Calibri" pitchFamily="34" charset="-122"/>
                          <a:cs typeface="Calibri" pitchFamily="34" charset="-120"/>
                        </a:rPr>
                        <a:t>5.0</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r h="365760">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Sale after the build</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1–3</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400" dirty="0">
                          <a:solidFill>
                            <a:srgbClr val="0F1E3D"/>
                          </a:solidFill>
                          <a:latin typeface="Calibri" pitchFamily="34" charset="0"/>
                          <a:ea typeface="Calibri" pitchFamily="34" charset="-122"/>
                          <a:cs typeface="Calibri" pitchFamily="34" charset="-120"/>
                        </a:rPr>
                        <a:t>165</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400" dirty="0">
                          <a:solidFill>
                            <a:srgbClr val="0F1E3D"/>
                          </a:solidFill>
                          <a:latin typeface="Calibri" pitchFamily="34" charset="0"/>
                          <a:ea typeface="Calibri" pitchFamily="34" charset="-122"/>
                          <a:cs typeface="Calibri" pitchFamily="34" charset="-120"/>
                        </a:rPr>
                        <a:t>5.97</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400" dirty="0">
                          <a:solidFill>
                            <a:srgbClr val="0F1E3D"/>
                          </a:solidFill>
                          <a:latin typeface="Calibri" pitchFamily="34" charset="0"/>
                          <a:ea typeface="Calibri" pitchFamily="34" charset="-122"/>
                          <a:cs typeface="Calibri" pitchFamily="34" charset="-120"/>
                        </a:rPr>
                        <a:t>52.71</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400" dirty="0">
                          <a:solidFill>
                            <a:srgbClr val="0F1E3D"/>
                          </a:solidFill>
                          <a:latin typeface="Calibri" pitchFamily="34" charset="0"/>
                          <a:ea typeface="Calibri" pitchFamily="34" charset="-122"/>
                          <a:cs typeface="Calibri" pitchFamily="34" charset="-120"/>
                        </a:rPr>
                        <a:t>1,001.79</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400" dirty="0">
                          <a:solidFill>
                            <a:srgbClr val="0F1E3D"/>
                          </a:solidFill>
                          <a:latin typeface="Calibri" pitchFamily="34" charset="0"/>
                          <a:ea typeface="Calibri" pitchFamily="34" charset="-122"/>
                          <a:cs typeface="Calibri" pitchFamily="34" charset="-120"/>
                        </a:rPr>
                        <a:t>5.0</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r>
              <a:tr h="365760">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No sale</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1–3</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400" dirty="0">
                          <a:solidFill>
                            <a:srgbClr val="0F1E3D"/>
                          </a:solidFill>
                          <a:latin typeface="Calibri" pitchFamily="34" charset="0"/>
                          <a:ea typeface="Calibri" pitchFamily="34" charset="-122"/>
                          <a:cs typeface="Calibri" pitchFamily="34" charset="-120"/>
                        </a:rPr>
                        <a:t>165</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400" dirty="0">
                          <a:solidFill>
                            <a:srgbClr val="0F1E3D"/>
                          </a:solidFill>
                          <a:latin typeface="Calibri" pitchFamily="34" charset="0"/>
                          <a:ea typeface="Calibri" pitchFamily="34" charset="-122"/>
                          <a:cs typeface="Calibri" pitchFamily="34" charset="-120"/>
                        </a:rPr>
                        <a:t>5.97</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400" dirty="0">
                          <a:solidFill>
                            <a:srgbClr val="0F1E3D"/>
                          </a:solidFill>
                          <a:latin typeface="Calibri" pitchFamily="34" charset="0"/>
                          <a:ea typeface="Calibri" pitchFamily="34" charset="-122"/>
                          <a:cs typeface="Calibri" pitchFamily="34" charset="-120"/>
                        </a:rPr>
                        <a:t>52.71</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400" dirty="0">
                          <a:solidFill>
                            <a:srgbClr val="0F1E3D"/>
                          </a:solidFill>
                          <a:latin typeface="Calibri" pitchFamily="34" charset="0"/>
                          <a:ea typeface="Calibri" pitchFamily="34" charset="-122"/>
                          <a:cs typeface="Calibri" pitchFamily="34" charset="-120"/>
                        </a:rPr>
                        <a:t>938.95</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400" dirty="0">
                          <a:solidFill>
                            <a:srgbClr val="0F1E3D"/>
                          </a:solidFill>
                          <a:latin typeface="Calibri" pitchFamily="34" charset="0"/>
                          <a:ea typeface="Calibri" pitchFamily="34" charset="-122"/>
                          <a:cs typeface="Calibri" pitchFamily="34" charset="-120"/>
                        </a:rPr>
                        <a:t>5.0</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r h="365760">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Designed for 4%</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1–3</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400" dirty="0">
                          <a:solidFill>
                            <a:srgbClr val="0F1E3D"/>
                          </a:solidFill>
                          <a:latin typeface="Calibri" pitchFamily="34" charset="0"/>
                          <a:ea typeface="Calibri" pitchFamily="34" charset="-122"/>
                          <a:cs typeface="Calibri" pitchFamily="34" charset="-120"/>
                        </a:rPr>
                        <a:t>165</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400" dirty="0">
                          <a:solidFill>
                            <a:srgbClr val="0F1E3D"/>
                          </a:solidFill>
                          <a:latin typeface="Calibri" pitchFamily="34" charset="0"/>
                          <a:ea typeface="Calibri" pitchFamily="34" charset="-122"/>
                          <a:cs typeface="Calibri" pitchFamily="34" charset="-120"/>
                        </a:rPr>
                        <a:t>2.31</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400" dirty="0">
                          <a:solidFill>
                            <a:srgbClr val="0F1E3D"/>
                          </a:solidFill>
                          <a:latin typeface="Calibri" pitchFamily="34" charset="0"/>
                          <a:ea typeface="Calibri" pitchFamily="34" charset="-122"/>
                          <a:cs typeface="Calibri" pitchFamily="34" charset="-120"/>
                        </a:rPr>
                        <a:t>23.44</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400" dirty="0">
                          <a:solidFill>
                            <a:srgbClr val="0F1E3D"/>
                          </a:solidFill>
                          <a:latin typeface="Calibri" pitchFamily="34" charset="0"/>
                          <a:ea typeface="Calibri" pitchFamily="34" charset="-122"/>
                          <a:cs typeface="Calibri" pitchFamily="34" charset="-120"/>
                        </a:rPr>
                        <a:t>1,037.34</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400" dirty="0">
                          <a:solidFill>
                            <a:srgbClr val="0F1E3D"/>
                          </a:solidFill>
                          <a:latin typeface="Calibri" pitchFamily="34" charset="0"/>
                          <a:ea typeface="Calibri" pitchFamily="34" charset="-122"/>
                          <a:cs typeface="Calibri" pitchFamily="34" charset="-120"/>
                        </a:rPr>
                        <a:t>4.0</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r>
              <a:tr h="365760">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At the records' corner</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1–3</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400" dirty="0">
                          <a:solidFill>
                            <a:srgbClr val="0F1E3D"/>
                          </a:solidFill>
                          <a:latin typeface="Calibri" pitchFamily="34" charset="0"/>
                          <a:ea typeface="Calibri" pitchFamily="34" charset="-122"/>
                          <a:cs typeface="Calibri" pitchFamily="34" charset="-120"/>
                        </a:rPr>
                        <a:t>200</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400" dirty="0">
                          <a:solidFill>
                            <a:srgbClr val="0F1E3D"/>
                          </a:solidFill>
                          <a:latin typeface="Calibri" pitchFamily="34" charset="0"/>
                          <a:ea typeface="Calibri" pitchFamily="34" charset="-122"/>
                          <a:cs typeface="Calibri" pitchFamily="34" charset="-120"/>
                        </a:rPr>
                        <a:t>3.44</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400" dirty="0">
                          <a:solidFill>
                            <a:srgbClr val="0F1E3D"/>
                          </a:solidFill>
                          <a:latin typeface="Calibri" pitchFamily="34" charset="0"/>
                          <a:ea typeface="Calibri" pitchFamily="34" charset="-122"/>
                          <a:cs typeface="Calibri" pitchFamily="34" charset="-120"/>
                        </a:rPr>
                        <a:t>33.52</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400" dirty="0">
                          <a:solidFill>
                            <a:srgbClr val="0F1E3D"/>
                          </a:solidFill>
                          <a:latin typeface="Calibri" pitchFamily="34" charset="0"/>
                          <a:ea typeface="Calibri" pitchFamily="34" charset="-122"/>
                          <a:cs typeface="Calibri" pitchFamily="34" charset="-120"/>
                        </a:rPr>
                        <a:t>1,027.26</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400" dirty="0">
                          <a:solidFill>
                            <a:srgbClr val="0F1E3D"/>
                          </a:solidFill>
                          <a:latin typeface="Calibri" pitchFamily="34" charset="0"/>
                          <a:ea typeface="Calibri" pitchFamily="34" charset="-122"/>
                          <a:cs typeface="Calibri" pitchFamily="34" charset="-120"/>
                        </a:rPr>
                        <a:t>5.0</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bl>
          </a:graphicData>
        </a:graphic>
      </p:graphicFrame>
      <p:sp>
        <p:nvSpPr>
          <p:cNvPr id="6" name="Table note"/>
          <p:cNvSpPr txBox="1"/>
          <p:nvPr/>
        </p:nvSpPr>
        <p:spPr>
          <a:xfrm>
            <a:off x="548640" y="5623560"/>
            <a:ext cx="11094415" cy="320040"/>
          </a:xfrm>
          <a:prstGeom prst="rect">
            <a:avLst/>
          </a:prstGeom>
          <a:noFill/>
          <a:ln/>
        </p:spPr>
        <p:txBody>
          <a:bodyPr wrap="square" lIns="0" tIns="0" rIns="0" bIns="0" rtlCol="0" anchor="ctr"/>
          <a:lstStyle/>
          <a:p>
            <a:pPr indent="0" marL="0">
              <a:buNone/>
            </a:pPr>
            <a:r>
              <a:rPr lang="en-US" sz="1100" i="1" dirty="0">
                <a:solidFill>
                  <a:schemeClr val="tx2"/>
                </a:solidFill>
              </a:rPr>
              <a:t>Levers: the line's fees and the delay's cost; value: payouts at 10 percent plus the year-6 savings forever, less the levers; breach: chance of liquidity below $350 million in some quarter of the build, on the book's 100,000 paths ($ million).</a:t>
            </a:r>
            <a:endParaRPr lang="en-US" sz="11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WORKED EXAMPLE 16.1 · WHAT THE BOARD SHOULD TAKE AWAY</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Sell first, hold the payouts, keep a trigger</a:t>
            </a:r>
            <a:endParaRPr lang="en-US" sz="3200" dirty="0"/>
          </a:p>
        </p:txBody>
      </p:sp>
      <p:sp>
        <p:nvSpPr>
          <p:cNvPr id="5" name="Stat card"/>
          <p:cNvSpPr/>
          <p:nvPr/>
        </p:nvSpPr>
        <p:spPr>
          <a:xfrm>
            <a:off x="548640" y="1691640"/>
            <a:ext cx="3515258" cy="1874520"/>
          </a:xfrm>
          <a:prstGeom prst="roundRect">
            <a:avLst>
              <a:gd name="adj" fmla="val 3902"/>
            </a:avLst>
          </a:prstGeom>
          <a:solidFill>
            <a:schemeClr val="bg2"/>
          </a:solidFill>
          <a:ln w="9525">
            <a:solidFill>
              <a:srgbClr val="C4CBD8"/>
            </a:solidFill>
            <a:prstDash val="solid"/>
          </a:ln>
        </p:spPr>
      </p:sp>
      <p:sp>
        <p:nvSpPr>
          <p:cNvPr id="6" name="Stat value"/>
          <p:cNvSpPr txBox="1"/>
          <p:nvPr/>
        </p:nvSpPr>
        <p:spPr>
          <a:xfrm>
            <a:off x="685800" y="1801368"/>
            <a:ext cx="3240938" cy="914400"/>
          </a:xfrm>
          <a:prstGeom prst="rect">
            <a:avLst/>
          </a:prstGeom>
          <a:noFill/>
          <a:ln/>
        </p:spPr>
        <p:txBody>
          <a:bodyPr wrap="square" lIns="0" tIns="0" rIns="0" bIns="0" rtlCol="0" anchor="ctr"/>
          <a:lstStyle/>
          <a:p>
            <a:pPr algn="ctr" indent="0" marL="0">
              <a:buNone/>
            </a:pPr>
            <a:r>
              <a:rPr lang="en-US" sz="4400" b="1" dirty="0">
                <a:solidFill>
                  <a:schemeClr val="tx1"/>
                </a:solidFill>
                <a:latin typeface="Cambria" pitchFamily="34" charset="0"/>
                <a:ea typeface="Cambria" pitchFamily="34" charset="-122"/>
                <a:cs typeface="Cambria" pitchFamily="34" charset="-120"/>
              </a:rPr>
              <a:t>74%</a:t>
            </a:r>
            <a:endParaRPr lang="en-US" sz="4400" dirty="0"/>
          </a:p>
        </p:txBody>
      </p:sp>
      <p:sp>
        <p:nvSpPr>
          <p:cNvPr id="7" name="Stat label"/>
          <p:cNvSpPr txBox="1"/>
          <p:nvPr/>
        </p:nvSpPr>
        <p:spPr>
          <a:xfrm>
            <a:off x="685800" y="2697480"/>
            <a:ext cx="3240938" cy="795528"/>
          </a:xfrm>
          <a:prstGeom prst="rect">
            <a:avLst/>
          </a:prstGeom>
          <a:noFill/>
          <a:ln/>
        </p:spPr>
        <p:txBody>
          <a:bodyPr wrap="square" lIns="0" tIns="0" rIns="0" bIns="0" rtlCol="0" anchor="t"/>
          <a:lstStyle/>
          <a:p>
            <a:pPr algn="ctr" indent="0" marL="0">
              <a:buNone/>
            </a:pPr>
            <a:r>
              <a:rPr lang="en-US" sz="1400" dirty="0">
                <a:solidFill>
                  <a:schemeClr val="tx2"/>
                </a:solidFill>
              </a:rPr>
              <a:t>of paths breach the floor if the pieces are signed side by side, as certified</a:t>
            </a:r>
            <a:endParaRPr lang="en-US" sz="1400" dirty="0"/>
          </a:p>
        </p:txBody>
      </p:sp>
      <p:sp>
        <p:nvSpPr>
          <p:cNvPr id="8" name="Stat card"/>
          <p:cNvSpPr/>
          <p:nvPr/>
        </p:nvSpPr>
        <p:spPr>
          <a:xfrm>
            <a:off x="4338218" y="1691640"/>
            <a:ext cx="3515258" cy="1874520"/>
          </a:xfrm>
          <a:prstGeom prst="roundRect">
            <a:avLst>
              <a:gd name="adj" fmla="val 3902"/>
            </a:avLst>
          </a:prstGeom>
          <a:solidFill>
            <a:schemeClr val="tx1"/>
          </a:solidFill>
          <a:ln w="9525">
            <a:solidFill>
              <a:srgbClr val="0F1E3D"/>
            </a:solidFill>
            <a:prstDash val="solid"/>
          </a:ln>
        </p:spPr>
      </p:sp>
      <p:sp>
        <p:nvSpPr>
          <p:cNvPr id="9" name="Stat value"/>
          <p:cNvSpPr txBox="1"/>
          <p:nvPr/>
        </p:nvSpPr>
        <p:spPr>
          <a:xfrm>
            <a:off x="4475378" y="1801368"/>
            <a:ext cx="3240938" cy="914400"/>
          </a:xfrm>
          <a:prstGeom prst="rect">
            <a:avLst/>
          </a:prstGeom>
          <a:noFill/>
          <a:ln/>
        </p:spPr>
        <p:txBody>
          <a:bodyPr wrap="square" lIns="0" tIns="0" rIns="0" bIns="0" rtlCol="0" anchor="ctr"/>
          <a:lstStyle/>
          <a:p>
            <a:pPr algn="ctr" indent="0" marL="0">
              <a:buNone/>
            </a:pPr>
            <a:r>
              <a:rPr lang="en-US" sz="3800" b="1" dirty="0">
                <a:solidFill>
                  <a:schemeClr val="accent1"/>
                </a:solidFill>
                <a:latin typeface="Cambria" pitchFamily="34" charset="0"/>
                <a:ea typeface="Cambria" pitchFamily="34" charset="-122"/>
                <a:cs typeface="Cambria" pitchFamily="34" charset="-120"/>
              </a:rPr>
              <a:t>$1,039.4m</a:t>
            </a:r>
            <a:endParaRPr lang="en-US" sz="3800" dirty="0"/>
          </a:p>
        </p:txBody>
      </p:sp>
      <p:sp>
        <p:nvSpPr>
          <p:cNvPr id="10" name="Stat label"/>
          <p:cNvSpPr txBox="1"/>
          <p:nvPr/>
        </p:nvSpPr>
        <p:spPr>
          <a:xfrm>
            <a:off x="4475378" y="2697480"/>
            <a:ext cx="3240938" cy="795528"/>
          </a:xfrm>
          <a:prstGeom prst="rect">
            <a:avLst/>
          </a:prstGeom>
          <a:noFill/>
          <a:ln/>
        </p:spPr>
        <p:txBody>
          <a:bodyPr wrap="square" lIns="0" tIns="0" rIns="0" bIns="0" rtlCol="0" anchor="t"/>
          <a:lstStyle/>
          <a:p>
            <a:pPr algn="ctr" indent="0" marL="0">
              <a:buNone/>
            </a:pPr>
            <a:r>
              <a:rPr lang="en-US" sz="1400" dirty="0">
                <a:solidFill>
                  <a:schemeClr val="bg2"/>
                </a:solidFill>
              </a:rPr>
              <a:t>the program as one: sale first, rounds in years 1–3, payouts held, a $21.4m package</a:t>
            </a:r>
            <a:endParaRPr lang="en-US" sz="1400" dirty="0"/>
          </a:p>
        </p:txBody>
      </p:sp>
      <p:sp>
        <p:nvSpPr>
          <p:cNvPr id="11" name="Stat card"/>
          <p:cNvSpPr/>
          <p:nvPr/>
        </p:nvSpPr>
        <p:spPr>
          <a:xfrm>
            <a:off x="8127797" y="1691640"/>
            <a:ext cx="3515258" cy="1874520"/>
          </a:xfrm>
          <a:prstGeom prst="roundRect">
            <a:avLst>
              <a:gd name="adj" fmla="val 3902"/>
            </a:avLst>
          </a:prstGeom>
          <a:solidFill>
            <a:schemeClr val="bg2"/>
          </a:solidFill>
          <a:ln w="9525">
            <a:solidFill>
              <a:srgbClr val="C4CBD8"/>
            </a:solidFill>
            <a:prstDash val="solid"/>
          </a:ln>
        </p:spPr>
      </p:sp>
      <p:sp>
        <p:nvSpPr>
          <p:cNvPr id="12" name="Stat value"/>
          <p:cNvSpPr txBox="1"/>
          <p:nvPr/>
        </p:nvSpPr>
        <p:spPr>
          <a:xfrm>
            <a:off x="8264957" y="1801368"/>
            <a:ext cx="3240938" cy="914400"/>
          </a:xfrm>
          <a:prstGeom prst="rect">
            <a:avLst/>
          </a:prstGeom>
          <a:noFill/>
          <a:ln/>
        </p:spPr>
        <p:txBody>
          <a:bodyPr wrap="square" lIns="0" tIns="0" rIns="0" bIns="0" rtlCol="0" anchor="ctr"/>
          <a:lstStyle/>
          <a:p>
            <a:pPr algn="ctr" indent="0" marL="0">
              <a:buNone/>
            </a:pPr>
            <a:r>
              <a:rPr lang="en-US" sz="4400" b="1" dirty="0">
                <a:solidFill>
                  <a:schemeClr val="tx1"/>
                </a:solidFill>
                <a:latin typeface="Cambria" pitchFamily="34" charset="0"/>
                <a:ea typeface="Cambria" pitchFamily="34" charset="-122"/>
                <a:cs typeface="Cambria" pitchFamily="34" charset="-120"/>
              </a:rPr>
              <a:t>$2.1m</a:t>
            </a:r>
            <a:endParaRPr lang="en-US" sz="4400" dirty="0"/>
          </a:p>
        </p:txBody>
      </p:sp>
      <p:sp>
        <p:nvSpPr>
          <p:cNvPr id="13" name="Stat label"/>
          <p:cNvSpPr txBox="1"/>
          <p:nvPr/>
        </p:nvSpPr>
        <p:spPr>
          <a:xfrm>
            <a:off x="8264957" y="2697480"/>
            <a:ext cx="3240938" cy="795528"/>
          </a:xfrm>
          <a:prstGeom prst="rect">
            <a:avLst/>
          </a:prstGeom>
          <a:noFill/>
          <a:ln/>
        </p:spPr>
        <p:txBody>
          <a:bodyPr wrap="square" lIns="0" tIns="0" rIns="0" bIns="0" rtlCol="0" anchor="t"/>
          <a:lstStyle/>
          <a:p>
            <a:pPr algn="ctr" indent="0" marL="0">
              <a:buNone/>
            </a:pPr>
            <a:r>
              <a:rPr lang="en-US" sz="1400" dirty="0">
                <a:solidFill>
                  <a:schemeClr val="tx2"/>
                </a:solidFill>
              </a:rPr>
              <a:t>a point of margin of appetite, and the region it certifies</a:t>
            </a:r>
            <a:endParaRPr lang="en-US" sz="1400" dirty="0"/>
          </a:p>
        </p:txBody>
      </p:sp>
      <p:sp>
        <p:nvSpPr>
          <p:cNvPr id="14" name="Bullets"/>
          <p:cNvSpPr txBox="1"/>
          <p:nvPr/>
        </p:nvSpPr>
        <p:spPr>
          <a:xfrm>
            <a:off x="548640" y="3886200"/>
            <a:ext cx="11094415" cy="2286000"/>
          </a:xfrm>
          <a:prstGeom prst="rect">
            <a:avLst/>
          </a:prstGeom>
          <a:noFill/>
          <a:ln/>
        </p:spPr>
        <p:txBody>
          <a:bodyPr wrap="square" lIns="635" tIns="635" rIns="635" bIns="635" rtlCol="0" anchor="t"/>
          <a:lstStyle/>
          <a:p>
            <a:pPr marL="228600" indent="-228600">
              <a:spcAft>
                <a:spcPts val="800"/>
              </a:spcAft>
              <a:buSzPct val="100000"/>
              <a:buChar char="•"/>
            </a:pPr>
            <a:r>
              <a:rPr lang="en-US" sz="1700" dirty="0">
                <a:solidFill>
                  <a:schemeClr val="tx1"/>
                </a:solidFill>
              </a:rPr>
              <a:t>Sell first, keeping the engineers; run the rounds in years 1–3, the third on a trigger; hold the payouts until the trough has passed</a:t>
            </a:r>
            <a:endParaRPr lang="en-US" sz="1700" dirty="0"/>
          </a:p>
          <a:p>
            <a:pPr marL="228600" indent="-228600">
              <a:spcAft>
                <a:spcPts val="800"/>
              </a:spcAft>
              <a:buSzPct val="100000"/>
              <a:buChar char="•"/>
            </a:pPr>
            <a:r>
              <a:rPr lang="en-US" sz="1700" dirty="0">
                <a:solidFill>
                  <a:schemeClr val="tx1"/>
                </a:solidFill>
              </a:rPr>
              <a:t>Buy a line and a delay at </a:t>
            </a:r>
            <a:r>
              <a:rPr lang="en-US" sz="1700" b="1" dirty="0">
                <a:solidFill>
                  <a:schemeClr val="tx1"/>
                </a:solidFill>
              </a:rPr>
              <a:t>$1.8m</a:t>
            </a:r>
            <a:r>
              <a:rPr lang="en-US" sz="1700" dirty="0">
                <a:solidFill>
                  <a:schemeClr val="tx1"/>
                </a:solidFill>
              </a:rPr>
              <a:t> a point of appetite; decide how much doubt to certify, and state the triggers now</a:t>
            </a:r>
            <a:endParaRPr lang="en-US" sz="1700" dirty="0"/>
          </a:p>
          <a:p>
            <a:pPr marL="228600" indent="-228600">
              <a:spcAft>
                <a:spcPts val="800"/>
              </a:spcAft>
              <a:buSzPct val="100000"/>
              <a:buChar char="•"/>
            </a:pPr>
            <a:r>
              <a:rPr lang="en-US" sz="1700" dirty="0">
                <a:solidFill>
                  <a:schemeClr val="tx1"/>
                </a:solidFill>
              </a:rPr>
              <a:t>For discussion: who should decide to delay the platform two quarters to keep round 3 in year 3, and at what price?</a:t>
            </a:r>
            <a:endParaRPr lang="en-US" sz="17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IN PRACTICE · FUNDS TRANSFER PRICING</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Banks put a price on their liquidity</a:t>
            </a:r>
            <a:endParaRPr lang="en-US" sz="3200" dirty="0"/>
          </a:p>
        </p:txBody>
      </p:sp>
      <p:sp>
        <p:nvSpPr>
          <p:cNvPr id="5" name="Card"/>
          <p:cNvSpPr/>
          <p:nvPr/>
        </p:nvSpPr>
        <p:spPr>
          <a:xfrm>
            <a:off x="548640" y="1691640"/>
            <a:ext cx="3515258" cy="2103120"/>
          </a:xfrm>
          <a:prstGeom prst="roundRect">
            <a:avLst>
              <a:gd name="adj" fmla="val 3478"/>
            </a:avLst>
          </a:prstGeom>
          <a:solidFill>
            <a:schemeClr val="bg2"/>
          </a:solidFill>
          <a:ln w="9525">
            <a:solidFill>
              <a:srgbClr val="C4CBD8"/>
            </a:solidFill>
            <a:prstDash val="solid"/>
          </a:ln>
        </p:spPr>
      </p:sp>
      <p:sp>
        <p:nvSpPr>
          <p:cNvPr id="6" name="Card label"/>
          <p:cNvSpPr txBox="1"/>
          <p:nvPr/>
        </p:nvSpPr>
        <p:spPr>
          <a:xfrm>
            <a:off x="731520" y="1819656"/>
            <a:ext cx="3149498" cy="310896"/>
          </a:xfrm>
          <a:prstGeom prst="rect">
            <a:avLst/>
          </a:prstGeom>
          <a:noFill/>
          <a:ln/>
        </p:spPr>
        <p:txBody>
          <a:bodyPr wrap="square" lIns="0" tIns="0" rIns="0" bIns="0" rtlCol="0" anchor="ctr"/>
          <a:lstStyle/>
          <a:p>
            <a:pPr indent="0" marL="0">
              <a:buNone/>
            </a:pPr>
            <a:r>
              <a:rPr lang="en-US" sz="1300" b="1" dirty="0">
                <a:solidFill>
                  <a:schemeClr val="accent1"/>
                </a:solidFill>
              </a:rPr>
              <a:t>The decision</a:t>
            </a:r>
            <a:endParaRPr lang="en-US" sz="1300" dirty="0"/>
          </a:p>
        </p:txBody>
      </p:sp>
      <p:sp>
        <p:nvSpPr>
          <p:cNvPr id="7" name="Card head"/>
          <p:cNvSpPr txBox="1"/>
          <p:nvPr/>
        </p:nvSpPr>
        <p:spPr>
          <a:xfrm>
            <a:off x="731520" y="2148840"/>
            <a:ext cx="3149498" cy="576072"/>
          </a:xfrm>
          <a:prstGeom prst="rect">
            <a:avLst/>
          </a:prstGeom>
          <a:noFill/>
          <a:ln/>
        </p:spPr>
        <p:txBody>
          <a:bodyPr wrap="square" lIns="0" tIns="0" rIns="0" bIns="0" rtlCol="0" anchor="t"/>
          <a:lstStyle/>
          <a:p>
            <a:pPr indent="0" marL="0">
              <a:buNone/>
            </a:pPr>
            <a:r>
              <a:rPr lang="en-US" sz="1600" b="1" dirty="0">
                <a:solidFill>
                  <a:schemeClr val="tx1"/>
                </a:solidFill>
                <a:latin typeface="Cambria" pitchFamily="34" charset="0"/>
                <a:ea typeface="Cambria" pitchFamily="34" charset="-122"/>
                <a:cs typeface="Cambria" pitchFamily="34" charset="-120"/>
              </a:rPr>
              <a:t>What each line pays for liquidity</a:t>
            </a:r>
            <a:endParaRPr lang="en-US" sz="1600" dirty="0"/>
          </a:p>
        </p:txBody>
      </p:sp>
      <p:sp>
        <p:nvSpPr>
          <p:cNvPr id="8" name="Card text"/>
          <p:cNvSpPr txBox="1"/>
          <p:nvPr/>
        </p:nvSpPr>
        <p:spPr>
          <a:xfrm>
            <a:off x="731520" y="2798064"/>
            <a:ext cx="3149498" cy="868680"/>
          </a:xfrm>
          <a:prstGeom prst="rect">
            <a:avLst/>
          </a:prstGeom>
          <a:noFill/>
          <a:ln/>
        </p:spPr>
        <p:txBody>
          <a:bodyPr wrap="square" lIns="0" tIns="0" rIns="0" bIns="0" rtlCol="0" anchor="t"/>
          <a:lstStyle/>
          <a:p>
            <a:pPr indent="0" marL="0">
              <a:buNone/>
            </a:pPr>
            <a:r>
              <a:rPr lang="en-US" sz="1300" dirty="0">
                <a:solidFill>
                  <a:schemeClr val="tx2"/>
                </a:solidFill>
              </a:rPr>
              <a:t>Business lines draw on shared funding and on a shared buffer of liquid assets.</a:t>
            </a:r>
            <a:endParaRPr lang="en-US" sz="1300" dirty="0"/>
          </a:p>
        </p:txBody>
      </p:sp>
      <p:sp>
        <p:nvSpPr>
          <p:cNvPr id="9" name="Card"/>
          <p:cNvSpPr/>
          <p:nvPr/>
        </p:nvSpPr>
        <p:spPr>
          <a:xfrm>
            <a:off x="4338218" y="1691640"/>
            <a:ext cx="3515258" cy="2103120"/>
          </a:xfrm>
          <a:prstGeom prst="roundRect">
            <a:avLst>
              <a:gd name="adj" fmla="val 3478"/>
            </a:avLst>
          </a:prstGeom>
          <a:solidFill>
            <a:schemeClr val="bg2"/>
          </a:solidFill>
          <a:ln w="9525">
            <a:solidFill>
              <a:srgbClr val="C4CBD8"/>
            </a:solidFill>
            <a:prstDash val="solid"/>
          </a:ln>
        </p:spPr>
      </p:sp>
      <p:sp>
        <p:nvSpPr>
          <p:cNvPr id="10" name="Card label"/>
          <p:cNvSpPr txBox="1"/>
          <p:nvPr/>
        </p:nvSpPr>
        <p:spPr>
          <a:xfrm>
            <a:off x="4521098" y="1819656"/>
            <a:ext cx="3149498" cy="310896"/>
          </a:xfrm>
          <a:prstGeom prst="rect">
            <a:avLst/>
          </a:prstGeom>
          <a:noFill/>
          <a:ln/>
        </p:spPr>
        <p:txBody>
          <a:bodyPr wrap="square" lIns="0" tIns="0" rIns="0" bIns="0" rtlCol="0" anchor="ctr"/>
          <a:lstStyle/>
          <a:p>
            <a:pPr indent="0" marL="0">
              <a:buNone/>
            </a:pPr>
            <a:r>
              <a:rPr lang="en-US" sz="1300" b="1" dirty="0">
                <a:solidFill>
                  <a:schemeClr val="accent1"/>
                </a:solidFill>
              </a:rPr>
              <a:t>The method</a:t>
            </a:r>
            <a:endParaRPr lang="en-US" sz="1300" dirty="0"/>
          </a:p>
        </p:txBody>
      </p:sp>
      <p:sp>
        <p:nvSpPr>
          <p:cNvPr id="11" name="Card head"/>
          <p:cNvSpPr txBox="1"/>
          <p:nvPr/>
        </p:nvSpPr>
        <p:spPr>
          <a:xfrm>
            <a:off x="4521098" y="2148840"/>
            <a:ext cx="3149498" cy="576072"/>
          </a:xfrm>
          <a:prstGeom prst="rect">
            <a:avLst/>
          </a:prstGeom>
          <a:noFill/>
          <a:ln/>
        </p:spPr>
        <p:txBody>
          <a:bodyPr wrap="square" lIns="0" tIns="0" rIns="0" bIns="0" rtlCol="0" anchor="t"/>
          <a:lstStyle/>
          <a:p>
            <a:pPr indent="0" marL="0">
              <a:buNone/>
            </a:pPr>
            <a:r>
              <a:rPr lang="en-US" sz="1600" b="1" dirty="0">
                <a:solidFill>
                  <a:schemeClr val="tx1"/>
                </a:solidFill>
                <a:latin typeface="Cambria" pitchFamily="34" charset="0"/>
                <a:ea typeface="Cambria" pitchFamily="34" charset="-122"/>
                <a:cs typeface="Cambria" pitchFamily="34" charset="-120"/>
              </a:rPr>
              <a:t>Marginal, maturity-matched prices</a:t>
            </a:r>
            <a:endParaRPr lang="en-US" sz="1600" dirty="0"/>
          </a:p>
        </p:txBody>
      </p:sp>
      <p:sp>
        <p:nvSpPr>
          <p:cNvPr id="12" name="Card text"/>
          <p:cNvSpPr txBox="1"/>
          <p:nvPr/>
        </p:nvSpPr>
        <p:spPr>
          <a:xfrm>
            <a:off x="4521098" y="2798064"/>
            <a:ext cx="3149498" cy="868680"/>
          </a:xfrm>
          <a:prstGeom prst="rect">
            <a:avLst/>
          </a:prstGeom>
          <a:noFill/>
          <a:ln/>
        </p:spPr>
        <p:txBody>
          <a:bodyPr wrap="square" lIns="0" tIns="0" rIns="0" bIns="0" rtlCol="0" anchor="t"/>
          <a:lstStyle/>
          <a:p>
            <a:pPr indent="0" marL="0">
              <a:buNone/>
            </a:pPr>
            <a:r>
              <a:rPr lang="en-US" sz="1300" dirty="0">
                <a:solidFill>
                  <a:schemeClr val="tx2"/>
                </a:solidFill>
              </a:rPr>
              <a:t>Funds transfer pricing, with the buffer's cost charged to the activities that create the need.</a:t>
            </a:r>
            <a:endParaRPr lang="en-US" sz="1300" dirty="0"/>
          </a:p>
        </p:txBody>
      </p:sp>
      <p:sp>
        <p:nvSpPr>
          <p:cNvPr id="13" name="Card"/>
          <p:cNvSpPr/>
          <p:nvPr/>
        </p:nvSpPr>
        <p:spPr>
          <a:xfrm>
            <a:off x="8127797" y="1691640"/>
            <a:ext cx="3515258" cy="2103120"/>
          </a:xfrm>
          <a:prstGeom prst="roundRect">
            <a:avLst>
              <a:gd name="adj" fmla="val 3478"/>
            </a:avLst>
          </a:prstGeom>
          <a:solidFill>
            <a:schemeClr val="tx1"/>
          </a:solidFill>
          <a:ln w="9525">
            <a:solidFill>
              <a:srgbClr val="0F1E3D"/>
            </a:solidFill>
            <a:prstDash val="solid"/>
          </a:ln>
        </p:spPr>
      </p:sp>
      <p:sp>
        <p:nvSpPr>
          <p:cNvPr id="14" name="Card label"/>
          <p:cNvSpPr txBox="1"/>
          <p:nvPr/>
        </p:nvSpPr>
        <p:spPr>
          <a:xfrm>
            <a:off x="8310677" y="1819656"/>
            <a:ext cx="3149498" cy="310896"/>
          </a:xfrm>
          <a:prstGeom prst="rect">
            <a:avLst/>
          </a:prstGeom>
          <a:noFill/>
          <a:ln/>
        </p:spPr>
        <p:txBody>
          <a:bodyPr wrap="square" lIns="0" tIns="0" rIns="0" bIns="0" rtlCol="0" anchor="ctr"/>
          <a:lstStyle/>
          <a:p>
            <a:pPr indent="0" marL="0">
              <a:buNone/>
            </a:pPr>
            <a:r>
              <a:rPr lang="en-US" sz="1300" b="1" dirty="0">
                <a:solidFill>
                  <a:schemeClr val="accent1"/>
                </a:solidFill>
              </a:rPr>
              <a:t>The result</a:t>
            </a:r>
            <a:endParaRPr lang="en-US" sz="1300" dirty="0"/>
          </a:p>
        </p:txBody>
      </p:sp>
      <p:sp>
        <p:nvSpPr>
          <p:cNvPr id="15" name="Card head"/>
          <p:cNvSpPr txBox="1"/>
          <p:nvPr/>
        </p:nvSpPr>
        <p:spPr>
          <a:xfrm>
            <a:off x="8310677" y="2148840"/>
            <a:ext cx="3149498" cy="576072"/>
          </a:xfrm>
          <a:prstGeom prst="rect">
            <a:avLst/>
          </a:prstGeom>
          <a:noFill/>
          <a:ln/>
        </p:spPr>
        <p:txBody>
          <a:bodyPr wrap="square" lIns="0" tIns="0" rIns="0" bIns="0" rtlCol="0" anchor="t"/>
          <a:lstStyle/>
          <a:p>
            <a:pPr indent="0" marL="0">
              <a:buNone/>
            </a:pPr>
            <a:r>
              <a:rPr lang="en-US" sz="1600" b="1" dirty="0">
                <a:solidFill>
                  <a:schemeClr val="bg1"/>
                </a:solidFill>
                <a:latin typeface="Cambria" pitchFamily="34" charset="0"/>
                <a:ea typeface="Cambria" pitchFamily="34" charset="-122"/>
                <a:cs typeface="Cambria" pitchFamily="34" charset="-120"/>
              </a:rPr>
              <a:t>A supervisory expectation</a:t>
            </a:r>
            <a:endParaRPr lang="en-US" sz="1600" dirty="0"/>
          </a:p>
        </p:txBody>
      </p:sp>
      <p:sp>
        <p:nvSpPr>
          <p:cNvPr id="16" name="Card text"/>
          <p:cNvSpPr txBox="1"/>
          <p:nvPr/>
        </p:nvSpPr>
        <p:spPr>
          <a:xfrm>
            <a:off x="8310677" y="2798064"/>
            <a:ext cx="3149498" cy="868680"/>
          </a:xfrm>
          <a:prstGeom prst="rect">
            <a:avLst/>
          </a:prstGeom>
          <a:noFill/>
          <a:ln/>
        </p:spPr>
        <p:txBody>
          <a:bodyPr wrap="square" lIns="0" tIns="0" rIns="0" bIns="0" rtlCol="0" anchor="t"/>
          <a:lstStyle/>
          <a:p>
            <a:pPr indent="0" marL="0">
              <a:buNone/>
            </a:pPr>
            <a:r>
              <a:rPr lang="en-US" sz="1300" dirty="0">
                <a:solidFill>
                  <a:schemeClr val="bg2"/>
                </a:solidFill>
              </a:rPr>
              <a:t>Basel Principle 4 (2008), European guidelines (2010), and U.S. interagency guidance (2016).</a:t>
            </a:r>
            <a:endParaRPr lang="en-US" sz="1300" dirty="0"/>
          </a:p>
        </p:txBody>
      </p:sp>
      <p:sp>
        <p:nvSpPr>
          <p:cNvPr id="17" name="Card"/>
          <p:cNvSpPr/>
          <p:nvPr/>
        </p:nvSpPr>
        <p:spPr>
          <a:xfrm>
            <a:off x="548640" y="4069080"/>
            <a:ext cx="3515258" cy="2103120"/>
          </a:xfrm>
          <a:prstGeom prst="roundRect">
            <a:avLst>
              <a:gd name="adj" fmla="val 3478"/>
            </a:avLst>
          </a:prstGeom>
          <a:solidFill>
            <a:schemeClr val="bg2"/>
          </a:solidFill>
          <a:ln w="9525">
            <a:solidFill>
              <a:srgbClr val="C4CBD8"/>
            </a:solidFill>
            <a:prstDash val="solid"/>
          </a:ln>
        </p:spPr>
      </p:sp>
      <p:sp>
        <p:nvSpPr>
          <p:cNvPr id="18" name="Card label"/>
          <p:cNvSpPr txBox="1"/>
          <p:nvPr/>
        </p:nvSpPr>
        <p:spPr>
          <a:xfrm>
            <a:off x="731520" y="4197096"/>
            <a:ext cx="3149498" cy="310896"/>
          </a:xfrm>
          <a:prstGeom prst="rect">
            <a:avLst/>
          </a:prstGeom>
          <a:noFill/>
          <a:ln/>
        </p:spPr>
        <p:txBody>
          <a:bodyPr wrap="square" lIns="0" tIns="0" rIns="0" bIns="0" rtlCol="0" anchor="ctr"/>
          <a:lstStyle/>
          <a:p>
            <a:pPr indent="0" marL="0">
              <a:buNone/>
            </a:pPr>
            <a:r>
              <a:rPr lang="en-US" sz="1300" b="1" dirty="0">
                <a:solidFill>
                  <a:schemeClr val="accent1"/>
                </a:solidFill>
              </a:rPr>
              <a:t>Making it work</a:t>
            </a:r>
            <a:endParaRPr lang="en-US" sz="1300" dirty="0"/>
          </a:p>
        </p:txBody>
      </p:sp>
      <p:sp>
        <p:nvSpPr>
          <p:cNvPr id="19" name="Card head"/>
          <p:cNvSpPr txBox="1"/>
          <p:nvPr/>
        </p:nvSpPr>
        <p:spPr>
          <a:xfrm>
            <a:off x="731520" y="4526280"/>
            <a:ext cx="3149498" cy="576072"/>
          </a:xfrm>
          <a:prstGeom prst="rect">
            <a:avLst/>
          </a:prstGeom>
          <a:noFill/>
          <a:ln/>
        </p:spPr>
        <p:txBody>
          <a:bodyPr wrap="square" lIns="0" tIns="0" rIns="0" bIns="0" rtlCol="0" anchor="t"/>
          <a:lstStyle/>
          <a:p>
            <a:pPr indent="0" marL="0">
              <a:buNone/>
            </a:pPr>
            <a:r>
              <a:rPr lang="en-US" sz="1600" b="1" dirty="0">
                <a:solidFill>
                  <a:schemeClr val="tx1"/>
                </a:solidFill>
                <a:latin typeface="Cambria" pitchFamily="34" charset="0"/>
                <a:ea typeface="Cambria" pitchFamily="34" charset="-122"/>
                <a:cs typeface="Cambria" pitchFamily="34" charset="-120"/>
              </a:rPr>
              <a:t>Owners, and limits</a:t>
            </a:r>
            <a:endParaRPr lang="en-US" sz="1600" dirty="0"/>
          </a:p>
        </p:txBody>
      </p:sp>
      <p:sp>
        <p:nvSpPr>
          <p:cNvPr id="20" name="Card text"/>
          <p:cNvSpPr txBox="1"/>
          <p:nvPr/>
        </p:nvSpPr>
        <p:spPr>
          <a:xfrm>
            <a:off x="731520" y="5175504"/>
            <a:ext cx="3149498" cy="868680"/>
          </a:xfrm>
          <a:prstGeom prst="rect">
            <a:avLst/>
          </a:prstGeom>
          <a:noFill/>
          <a:ln/>
        </p:spPr>
        <p:txBody>
          <a:bodyPr wrap="square" lIns="0" tIns="0" rIns="0" bIns="0" rtlCol="0" anchor="t"/>
          <a:lstStyle/>
          <a:p>
            <a:pPr indent="0" marL="0">
              <a:buNone/>
            </a:pPr>
            <a:r>
              <a:rPr lang="en-US" sz="1300" dirty="0">
                <a:solidFill>
                  <a:schemeClr val="tx2"/>
                </a:solidFill>
              </a:rPr>
              <a:t>A central function owns the prices; desks with their own funding sources needed limits as well.</a:t>
            </a:r>
            <a:endParaRPr lang="en-US" sz="1300" dirty="0"/>
          </a:p>
        </p:txBody>
      </p:sp>
      <p:sp>
        <p:nvSpPr>
          <p:cNvPr id="21" name="Card"/>
          <p:cNvSpPr/>
          <p:nvPr/>
        </p:nvSpPr>
        <p:spPr>
          <a:xfrm>
            <a:off x="4338218" y="4069080"/>
            <a:ext cx="3515258" cy="2103120"/>
          </a:xfrm>
          <a:prstGeom prst="roundRect">
            <a:avLst>
              <a:gd name="adj" fmla="val 3478"/>
            </a:avLst>
          </a:prstGeom>
          <a:solidFill>
            <a:schemeClr val="bg2"/>
          </a:solidFill>
          <a:ln w="9525">
            <a:solidFill>
              <a:srgbClr val="C4CBD8"/>
            </a:solidFill>
            <a:prstDash val="solid"/>
          </a:ln>
        </p:spPr>
      </p:sp>
      <p:sp>
        <p:nvSpPr>
          <p:cNvPr id="22" name="Card label"/>
          <p:cNvSpPr txBox="1"/>
          <p:nvPr/>
        </p:nvSpPr>
        <p:spPr>
          <a:xfrm>
            <a:off x="4521098" y="4197096"/>
            <a:ext cx="3149498" cy="310896"/>
          </a:xfrm>
          <a:prstGeom prst="rect">
            <a:avLst/>
          </a:prstGeom>
          <a:noFill/>
          <a:ln/>
        </p:spPr>
        <p:txBody>
          <a:bodyPr wrap="square" lIns="0" tIns="0" rIns="0" bIns="0" rtlCol="0" anchor="ctr"/>
          <a:lstStyle/>
          <a:p>
            <a:pPr indent="0" marL="0">
              <a:buNone/>
            </a:pPr>
            <a:r>
              <a:rPr lang="en-US" sz="1300" b="1" dirty="0">
                <a:solidFill>
                  <a:schemeClr val="accent1"/>
                </a:solidFill>
              </a:rPr>
              <a:t>What Meridian takes</a:t>
            </a:r>
            <a:endParaRPr lang="en-US" sz="1300" dirty="0"/>
          </a:p>
        </p:txBody>
      </p:sp>
      <p:sp>
        <p:nvSpPr>
          <p:cNvPr id="23" name="Card head"/>
          <p:cNvSpPr txBox="1"/>
          <p:nvPr/>
        </p:nvSpPr>
        <p:spPr>
          <a:xfrm>
            <a:off x="4521098" y="4526280"/>
            <a:ext cx="3149498" cy="576072"/>
          </a:xfrm>
          <a:prstGeom prst="rect">
            <a:avLst/>
          </a:prstGeom>
          <a:noFill/>
          <a:ln/>
        </p:spPr>
        <p:txBody>
          <a:bodyPr wrap="square" lIns="0" tIns="0" rIns="0" bIns="0" rtlCol="0" anchor="t"/>
          <a:lstStyle/>
          <a:p>
            <a:pPr indent="0" marL="0">
              <a:buNone/>
            </a:pPr>
            <a:r>
              <a:rPr lang="en-US" sz="1600" b="1" dirty="0">
                <a:solidFill>
                  <a:schemeClr val="tx1"/>
                </a:solidFill>
                <a:latin typeface="Cambria" pitchFamily="34" charset="0"/>
                <a:ea typeface="Cambria" pitchFamily="34" charset="-122"/>
                <a:cs typeface="Cambria" pitchFamily="34" charset="-120"/>
              </a:rPr>
              <a:t>One program, priced</a:t>
            </a:r>
            <a:endParaRPr lang="en-US" sz="1600" dirty="0"/>
          </a:p>
        </p:txBody>
      </p:sp>
      <p:sp>
        <p:nvSpPr>
          <p:cNvPr id="24" name="Card text"/>
          <p:cNvSpPr txBox="1"/>
          <p:nvPr/>
        </p:nvSpPr>
        <p:spPr>
          <a:xfrm>
            <a:off x="4521098" y="5175504"/>
            <a:ext cx="3149498" cy="868680"/>
          </a:xfrm>
          <a:prstGeom prst="rect">
            <a:avLst/>
          </a:prstGeom>
          <a:noFill/>
          <a:ln/>
        </p:spPr>
        <p:txBody>
          <a:bodyPr wrap="square" lIns="0" tIns="0" rIns="0" bIns="0" rtlCol="0" anchor="t"/>
          <a:lstStyle/>
          <a:p>
            <a:pPr indent="0" marL="0">
              <a:buNone/>
            </a:pPr>
            <a:r>
              <a:rPr lang="en-US" sz="1300" dirty="0">
                <a:solidFill>
                  <a:schemeClr val="tx2"/>
                </a:solidFill>
              </a:rPr>
              <a:t>Worked Example 16.1: pieces certified alone breached the floor three times in four together.</a:t>
            </a:r>
            <a:endParaRPr lang="en-US" sz="1300" dirty="0"/>
          </a:p>
        </p:txBody>
      </p:sp>
      <p:sp>
        <p:nvSpPr>
          <p:cNvPr id="25" name="Card"/>
          <p:cNvSpPr/>
          <p:nvPr/>
        </p:nvSpPr>
        <p:spPr>
          <a:xfrm>
            <a:off x="8127797" y="4069080"/>
            <a:ext cx="3515258" cy="2103120"/>
          </a:xfrm>
          <a:prstGeom prst="roundRect">
            <a:avLst>
              <a:gd name="adj" fmla="val 3478"/>
            </a:avLst>
          </a:prstGeom>
          <a:solidFill>
            <a:schemeClr val="bg2"/>
          </a:solidFill>
          <a:ln w="9525">
            <a:solidFill>
              <a:srgbClr val="C4CBD8"/>
            </a:solidFill>
            <a:prstDash val="solid"/>
          </a:ln>
        </p:spPr>
      </p:sp>
      <p:sp>
        <p:nvSpPr>
          <p:cNvPr id="26" name="Card label"/>
          <p:cNvSpPr txBox="1"/>
          <p:nvPr/>
        </p:nvSpPr>
        <p:spPr>
          <a:xfrm>
            <a:off x="8310677" y="4197096"/>
            <a:ext cx="3149498" cy="310896"/>
          </a:xfrm>
          <a:prstGeom prst="rect">
            <a:avLst/>
          </a:prstGeom>
          <a:noFill/>
          <a:ln/>
        </p:spPr>
        <p:txBody>
          <a:bodyPr wrap="square" lIns="0" tIns="0" rIns="0" bIns="0" rtlCol="0" anchor="ctr"/>
          <a:lstStyle/>
          <a:p>
            <a:pPr indent="0" marL="0">
              <a:buNone/>
            </a:pPr>
            <a:r>
              <a:rPr lang="en-US" sz="1300" b="1" dirty="0">
                <a:solidFill>
                  <a:schemeClr val="accent1"/>
                </a:solidFill>
              </a:rPr>
              <a:t>For the board</a:t>
            </a:r>
            <a:endParaRPr lang="en-US" sz="1300" dirty="0"/>
          </a:p>
        </p:txBody>
      </p:sp>
      <p:sp>
        <p:nvSpPr>
          <p:cNvPr id="27" name="Card head"/>
          <p:cNvSpPr txBox="1"/>
          <p:nvPr/>
        </p:nvSpPr>
        <p:spPr>
          <a:xfrm>
            <a:off x="8310677" y="4526280"/>
            <a:ext cx="3149498" cy="576072"/>
          </a:xfrm>
          <a:prstGeom prst="rect">
            <a:avLst/>
          </a:prstGeom>
          <a:noFill/>
          <a:ln/>
        </p:spPr>
        <p:txBody>
          <a:bodyPr wrap="square" lIns="0" tIns="0" rIns="0" bIns="0" rtlCol="0" anchor="t"/>
          <a:lstStyle/>
          <a:p>
            <a:pPr indent="0" marL="0">
              <a:buNone/>
            </a:pPr>
            <a:r>
              <a:rPr lang="en-US" sz="1600" b="1" dirty="0">
                <a:solidFill>
                  <a:schemeClr val="tx1"/>
                </a:solidFill>
                <a:latin typeface="Cambria" pitchFamily="34" charset="0"/>
                <a:ea typeface="Cambria" pitchFamily="34" charset="-122"/>
                <a:cs typeface="Cambria" pitchFamily="34" charset="-120"/>
              </a:rPr>
              <a:t>What does each unit pay?</a:t>
            </a:r>
            <a:endParaRPr lang="en-US" sz="1600" dirty="0"/>
          </a:p>
        </p:txBody>
      </p:sp>
      <p:sp>
        <p:nvSpPr>
          <p:cNvPr id="28" name="Card text"/>
          <p:cNvSpPr txBox="1"/>
          <p:nvPr/>
        </p:nvSpPr>
        <p:spPr>
          <a:xfrm>
            <a:off x="8310677" y="5175504"/>
            <a:ext cx="3149498" cy="868680"/>
          </a:xfrm>
          <a:prstGeom prst="rect">
            <a:avLst/>
          </a:prstGeom>
          <a:noFill/>
          <a:ln/>
        </p:spPr>
        <p:txBody>
          <a:bodyPr wrap="square" lIns="0" tIns="0" rIns="0" bIns="0" rtlCol="0" anchor="t"/>
          <a:lstStyle/>
          <a:p>
            <a:pPr indent="0" marL="0">
              <a:buNone/>
            </a:pPr>
            <a:r>
              <a:rPr lang="en-US" sz="1300" dirty="0">
                <a:solidFill>
                  <a:schemeClr val="tx2"/>
                </a:solidFill>
              </a:rPr>
              <a:t>Is the price the marginal value of the stock to the whole firm, or a convenient average?</a:t>
            </a:r>
            <a:endParaRPr lang="en-US" sz="13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AXIOM LAB 2.16 · MODULE AXIOM-16</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Check, order, price, certify, in AXIOM</a:t>
            </a:r>
            <a:endParaRPr lang="en-US" sz="3200" dirty="0"/>
          </a:p>
        </p:txBody>
      </p:sp>
      <p:pic>
        <p:nvPicPr>
          <p:cNvPr id="5" name="AXIOM logo" descr="AXIOM">    </p:cNvPr>
          <p:cNvPicPr>
            <a:picLocks noChangeAspect="1"/>
          </p:cNvPicPr>
          <p:nvPr/>
        </p:nvPicPr>
        <p:blipFill>
          <a:blip r:embed="rId1"/>
          <a:stretch>
            <a:fillRect/>
          </a:stretch>
        </p:blipFill>
        <p:spPr>
          <a:xfrm>
            <a:off x="9539935" y="310896"/>
            <a:ext cx="2103120" cy="420624"/>
          </a:xfrm>
          <a:prstGeom prst="rect">
            <a:avLst/>
          </a:prstGeom>
        </p:spPr>
      </p:pic>
      <p:sp>
        <p:nvSpPr>
          <p:cNvPr id="6" name="Situation"/>
          <p:cNvSpPr txBox="1"/>
          <p:nvPr/>
        </p:nvSpPr>
        <p:spPr>
          <a:xfrm>
            <a:off x="548640" y="1645920"/>
            <a:ext cx="11094415" cy="777240"/>
          </a:xfrm>
          <a:prstGeom prst="rect">
            <a:avLst/>
          </a:prstGeom>
          <a:noFill/>
          <a:ln/>
        </p:spPr>
        <p:txBody>
          <a:bodyPr wrap="square" lIns="0" tIns="0" rIns="0" bIns="0" rtlCol="0" anchor="t"/>
          <a:lstStyle/>
          <a:p>
            <a:pPr indent="0" marL="0">
              <a:buNone/>
            </a:pPr>
            <a:r>
              <a:rPr lang="en-US" sz="1500" dirty="0">
                <a:solidFill>
                  <a:schemeClr val="tx1"/>
                </a:solidFill>
              </a:rPr>
              <a:t>Meridian's board wants to sign one program: the sale, the build with its financing, and the automation rounds with their payouts. The CFO asks whether the pieces fit together, in what order, at what cost, and on what terms. Open AXIOM, choose Lab 2.16 and load Meridian's program.</a:t>
            </a:r>
            <a:endParaRPr lang="en-US" sz="1500" dirty="0"/>
          </a:p>
        </p:txBody>
      </p:sp>
      <p:sp>
        <p:nvSpPr>
          <p:cNvPr id="7" name="Flow line"/>
          <p:cNvSpPr/>
          <p:nvPr/>
        </p:nvSpPr>
        <p:spPr>
          <a:xfrm>
            <a:off x="1658082" y="2880360"/>
            <a:ext cx="8875532" cy="0"/>
          </a:xfrm>
          <a:prstGeom prst="line">
            <a:avLst/>
          </a:prstGeom>
          <a:noFill/>
          <a:ln w="25400">
            <a:solidFill>
              <a:srgbClr val="C4CBD8"/>
            </a:solidFill>
            <a:prstDash val="solid"/>
          </a:ln>
        </p:spPr>
      </p:sp>
      <p:sp>
        <p:nvSpPr>
          <p:cNvPr id="8" name="Number"/>
          <p:cNvSpPr/>
          <p:nvPr/>
        </p:nvSpPr>
        <p:spPr>
          <a:xfrm>
            <a:off x="1383762" y="2606040"/>
            <a:ext cx="548640" cy="548640"/>
          </a:xfrm>
          <a:prstGeom prst="ellipse">
            <a:avLst/>
          </a:prstGeom>
          <a:solidFill>
            <a:schemeClr val="accent1"/>
          </a:solidFill>
          <a:ln w="6350">
            <a:solidFill>
              <a:schemeClr val="accent1"/>
            </a:solidFill>
            <a:prstDash val="solid"/>
          </a:ln>
        </p:spPr>
      </p:sp>
      <p:sp>
        <p:nvSpPr>
          <p:cNvPr id="9" name="Text 5"/>
          <p:cNvSpPr txBox="1"/>
          <p:nvPr/>
        </p:nvSpPr>
        <p:spPr>
          <a:xfrm>
            <a:off x="1383762" y="260604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1</a:t>
            </a:r>
            <a:endParaRPr lang="en-US" sz="1600" dirty="0"/>
          </a:p>
        </p:txBody>
      </p:sp>
      <p:sp>
        <p:nvSpPr>
          <p:cNvPr id="10" name="Flow head"/>
          <p:cNvSpPr txBox="1"/>
          <p:nvPr/>
        </p:nvSpPr>
        <p:spPr>
          <a:xfrm>
            <a:off x="621792" y="3291840"/>
            <a:ext cx="2072579" cy="548640"/>
          </a:xfrm>
          <a:prstGeom prst="rect">
            <a:avLst/>
          </a:prstGeom>
          <a:noFill/>
          <a:ln/>
        </p:spPr>
        <p:txBody>
          <a:bodyPr wrap="square" lIns="0" tIns="0" rIns="0" bIns="0" rtlCol="0" anchor="t"/>
          <a:lstStyle/>
          <a:p>
            <a:pPr algn="ctr" indent="0" marL="0">
              <a:buNone/>
            </a:pPr>
            <a:r>
              <a:rPr lang="en-US" sz="1600" b="1" dirty="0">
                <a:solidFill>
                  <a:schemeClr val="tx1"/>
                </a:solidFill>
                <a:latin typeface="Cambria" pitchFamily="34" charset="0"/>
                <a:ea typeface="Cambria" pitchFamily="34" charset="-122"/>
                <a:cs typeface="Cambria" pitchFamily="34" charset="-120"/>
              </a:rPr>
              <a:t>Check jointly</a:t>
            </a:r>
            <a:endParaRPr lang="en-US" sz="1600" dirty="0"/>
          </a:p>
        </p:txBody>
      </p:sp>
      <p:sp>
        <p:nvSpPr>
          <p:cNvPr id="11" name="Flow text"/>
          <p:cNvSpPr txBox="1"/>
          <p:nvPr/>
        </p:nvSpPr>
        <p:spPr>
          <a:xfrm>
            <a:off x="640080" y="3867912"/>
            <a:ext cx="2036003" cy="1554480"/>
          </a:xfrm>
          <a:prstGeom prst="rect">
            <a:avLst/>
          </a:prstGeom>
          <a:noFill/>
          <a:ln/>
        </p:spPr>
        <p:txBody>
          <a:bodyPr wrap="square" lIns="0" tIns="0" rIns="0" bIns="0" rtlCol="0" anchor="t"/>
          <a:lstStyle/>
          <a:p>
            <a:pPr algn="ctr" indent="0" marL="0">
              <a:buNone/>
            </a:pPr>
            <a:r>
              <a:rPr lang="en-US" sz="1400" dirty="0">
                <a:solidFill>
                  <a:schemeClr val="tx2"/>
                </a:solidFill>
              </a:rPr>
              <a:t>Sign Chapter 5's plan and Volume I's package together; read the breach chance and the claims.</a:t>
            </a:r>
            <a:endParaRPr lang="en-US" sz="1400" dirty="0"/>
          </a:p>
        </p:txBody>
      </p:sp>
      <p:sp>
        <p:nvSpPr>
          <p:cNvPr id="12" name="Number"/>
          <p:cNvSpPr/>
          <p:nvPr/>
        </p:nvSpPr>
        <p:spPr>
          <a:xfrm>
            <a:off x="3602645" y="2606040"/>
            <a:ext cx="548640" cy="548640"/>
          </a:xfrm>
          <a:prstGeom prst="ellipse">
            <a:avLst/>
          </a:prstGeom>
          <a:solidFill>
            <a:schemeClr val="accent1"/>
          </a:solidFill>
          <a:ln w="6350">
            <a:solidFill>
              <a:schemeClr val="accent1"/>
            </a:solidFill>
            <a:prstDash val="solid"/>
          </a:ln>
        </p:spPr>
      </p:sp>
      <p:sp>
        <p:nvSpPr>
          <p:cNvPr id="13" name="Text 9"/>
          <p:cNvSpPr txBox="1"/>
          <p:nvPr/>
        </p:nvSpPr>
        <p:spPr>
          <a:xfrm>
            <a:off x="3602645" y="260604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2</a:t>
            </a:r>
            <a:endParaRPr lang="en-US" sz="1600" dirty="0"/>
          </a:p>
        </p:txBody>
      </p:sp>
      <p:sp>
        <p:nvSpPr>
          <p:cNvPr id="14" name="Flow head"/>
          <p:cNvSpPr txBox="1"/>
          <p:nvPr/>
        </p:nvSpPr>
        <p:spPr>
          <a:xfrm>
            <a:off x="2840675" y="3291840"/>
            <a:ext cx="2072579" cy="548640"/>
          </a:xfrm>
          <a:prstGeom prst="rect">
            <a:avLst/>
          </a:prstGeom>
          <a:noFill/>
          <a:ln/>
        </p:spPr>
        <p:txBody>
          <a:bodyPr wrap="square" lIns="0" tIns="0" rIns="0" bIns="0" rtlCol="0" anchor="t"/>
          <a:lstStyle/>
          <a:p>
            <a:pPr algn="ctr" indent="0" marL="0">
              <a:buNone/>
            </a:pPr>
            <a:r>
              <a:rPr lang="en-US" sz="1600" b="1" dirty="0">
                <a:solidFill>
                  <a:schemeClr val="tx1"/>
                </a:solidFill>
                <a:latin typeface="Cambria" pitchFamily="34" charset="0"/>
                <a:ea typeface="Cambria" pitchFamily="34" charset="-122"/>
                <a:cs typeface="Cambria" pitchFamily="34" charset="-120"/>
              </a:rPr>
              <a:t>Order</a:t>
            </a:r>
            <a:endParaRPr lang="en-US" sz="1600" dirty="0"/>
          </a:p>
        </p:txBody>
      </p:sp>
      <p:sp>
        <p:nvSpPr>
          <p:cNvPr id="15" name="Flow text"/>
          <p:cNvSpPr txBox="1"/>
          <p:nvPr/>
        </p:nvSpPr>
        <p:spPr>
          <a:xfrm>
            <a:off x="2858963" y="3867912"/>
            <a:ext cx="2036003" cy="1554480"/>
          </a:xfrm>
          <a:prstGeom prst="rect">
            <a:avLst/>
          </a:prstGeom>
          <a:noFill/>
          <a:ln/>
        </p:spPr>
        <p:txBody>
          <a:bodyPr wrap="square" lIns="0" tIns="0" rIns="0" bIns="0" rtlCol="0" anchor="t"/>
          <a:lstStyle/>
          <a:p>
            <a:pPr algn="ctr" indent="0" marL="0">
              <a:buNone/>
            </a:pPr>
            <a:r>
              <a:rPr lang="en-US" sz="1400" dirty="0">
                <a:solidFill>
                  <a:schemeClr val="tx2"/>
                </a:solidFill>
              </a:rPr>
              <a:t>Move the sale before and after the build, and the rounds across years; price each order.</a:t>
            </a:r>
            <a:endParaRPr lang="en-US" sz="1400" dirty="0"/>
          </a:p>
        </p:txBody>
      </p:sp>
      <p:sp>
        <p:nvSpPr>
          <p:cNvPr id="16" name="Number"/>
          <p:cNvSpPr/>
          <p:nvPr/>
        </p:nvSpPr>
        <p:spPr>
          <a:xfrm>
            <a:off x="5821528" y="2606040"/>
            <a:ext cx="548640" cy="548640"/>
          </a:xfrm>
          <a:prstGeom prst="ellipse">
            <a:avLst/>
          </a:prstGeom>
          <a:solidFill>
            <a:schemeClr val="accent1"/>
          </a:solidFill>
          <a:ln w="6350">
            <a:solidFill>
              <a:schemeClr val="accent1"/>
            </a:solidFill>
            <a:prstDash val="solid"/>
          </a:ln>
        </p:spPr>
      </p:sp>
      <p:sp>
        <p:nvSpPr>
          <p:cNvPr id="17" name="Text 13"/>
          <p:cNvSpPr txBox="1"/>
          <p:nvPr/>
        </p:nvSpPr>
        <p:spPr>
          <a:xfrm>
            <a:off x="5821528" y="260604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3</a:t>
            </a:r>
            <a:endParaRPr lang="en-US" sz="1600" dirty="0"/>
          </a:p>
        </p:txBody>
      </p:sp>
      <p:sp>
        <p:nvSpPr>
          <p:cNvPr id="18" name="Flow head"/>
          <p:cNvSpPr txBox="1"/>
          <p:nvPr/>
        </p:nvSpPr>
        <p:spPr>
          <a:xfrm>
            <a:off x="5059558" y="3291840"/>
            <a:ext cx="2072579" cy="548640"/>
          </a:xfrm>
          <a:prstGeom prst="rect">
            <a:avLst/>
          </a:prstGeom>
          <a:noFill/>
          <a:ln/>
        </p:spPr>
        <p:txBody>
          <a:bodyPr wrap="square" lIns="0" tIns="0" rIns="0" bIns="0" rtlCol="0" anchor="t"/>
          <a:lstStyle/>
          <a:p>
            <a:pPr algn="ctr" indent="0" marL="0">
              <a:buNone/>
            </a:pPr>
            <a:r>
              <a:rPr lang="en-US" sz="1600" b="1" dirty="0">
                <a:solidFill>
                  <a:schemeClr val="tx1"/>
                </a:solidFill>
                <a:latin typeface="Cambria" pitchFamily="34" charset="0"/>
                <a:ea typeface="Cambria" pitchFamily="34" charset="-122"/>
                <a:cs typeface="Cambria" pitchFamily="34" charset="-120"/>
              </a:rPr>
              <a:t>Price</a:t>
            </a:r>
            <a:endParaRPr lang="en-US" sz="1600" dirty="0"/>
          </a:p>
        </p:txBody>
      </p:sp>
      <p:sp>
        <p:nvSpPr>
          <p:cNvPr id="19" name="Flow text"/>
          <p:cNvSpPr txBox="1"/>
          <p:nvPr/>
        </p:nvSpPr>
        <p:spPr>
          <a:xfrm>
            <a:off x="5077846" y="3867912"/>
            <a:ext cx="2036003" cy="1554480"/>
          </a:xfrm>
          <a:prstGeom prst="rect">
            <a:avLst/>
          </a:prstGeom>
          <a:noFill/>
          <a:ln/>
        </p:spPr>
        <p:txBody>
          <a:bodyPr wrap="square" lIns="0" tIns="0" rIns="0" bIns="0" rtlCol="0" anchor="t"/>
          <a:lstStyle/>
          <a:p>
            <a:pPr algn="ctr" indent="0" marL="0">
              <a:buNone/>
            </a:pPr>
            <a:r>
              <a:rPr lang="en-US" sz="1400" dirty="0">
                <a:solidFill>
                  <a:schemeClr val="tx2"/>
                </a:solidFill>
              </a:rPr>
              <a:t>Read the appetite's price and each lever's cost per point of chance; hold or release the payouts.</a:t>
            </a:r>
            <a:endParaRPr lang="en-US" sz="1400" dirty="0"/>
          </a:p>
        </p:txBody>
      </p:sp>
      <p:sp>
        <p:nvSpPr>
          <p:cNvPr id="20" name="Number"/>
          <p:cNvSpPr/>
          <p:nvPr/>
        </p:nvSpPr>
        <p:spPr>
          <a:xfrm>
            <a:off x="8040411" y="2606040"/>
            <a:ext cx="548640" cy="548640"/>
          </a:xfrm>
          <a:prstGeom prst="ellipse">
            <a:avLst/>
          </a:prstGeom>
          <a:solidFill>
            <a:schemeClr val="accent1"/>
          </a:solidFill>
          <a:ln w="6350">
            <a:solidFill>
              <a:schemeClr val="accent1"/>
            </a:solidFill>
            <a:prstDash val="solid"/>
          </a:ln>
        </p:spPr>
      </p:sp>
      <p:sp>
        <p:nvSpPr>
          <p:cNvPr id="21" name="Text 17"/>
          <p:cNvSpPr txBox="1"/>
          <p:nvPr/>
        </p:nvSpPr>
        <p:spPr>
          <a:xfrm>
            <a:off x="8040411" y="260604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4</a:t>
            </a:r>
            <a:endParaRPr lang="en-US" sz="1600" dirty="0"/>
          </a:p>
        </p:txBody>
      </p:sp>
      <p:sp>
        <p:nvSpPr>
          <p:cNvPr id="22" name="Flow head"/>
          <p:cNvSpPr txBox="1"/>
          <p:nvPr/>
        </p:nvSpPr>
        <p:spPr>
          <a:xfrm>
            <a:off x="7278441" y="3291840"/>
            <a:ext cx="2072579" cy="548640"/>
          </a:xfrm>
          <a:prstGeom prst="rect">
            <a:avLst/>
          </a:prstGeom>
          <a:noFill/>
          <a:ln/>
        </p:spPr>
        <p:txBody>
          <a:bodyPr wrap="square" lIns="0" tIns="0" rIns="0" bIns="0" rtlCol="0" anchor="t"/>
          <a:lstStyle/>
          <a:p>
            <a:pPr algn="ctr" indent="0" marL="0">
              <a:buNone/>
            </a:pPr>
            <a:r>
              <a:rPr lang="en-US" sz="1600" b="1" dirty="0">
                <a:solidFill>
                  <a:schemeClr val="tx1"/>
                </a:solidFill>
                <a:latin typeface="Cambria" pitchFamily="34" charset="0"/>
                <a:ea typeface="Cambria" pitchFamily="34" charset="-122"/>
                <a:cs typeface="Cambria" pitchFamily="34" charset="-120"/>
              </a:rPr>
              <a:t>Keep a choice open</a:t>
            </a:r>
            <a:endParaRPr lang="en-US" sz="1600" dirty="0"/>
          </a:p>
        </p:txBody>
      </p:sp>
      <p:sp>
        <p:nvSpPr>
          <p:cNvPr id="23" name="Flow text"/>
          <p:cNvSpPr txBox="1"/>
          <p:nvPr/>
        </p:nvSpPr>
        <p:spPr>
          <a:xfrm>
            <a:off x="7296729" y="3867912"/>
            <a:ext cx="2036003" cy="1554480"/>
          </a:xfrm>
          <a:prstGeom prst="rect">
            <a:avLst/>
          </a:prstGeom>
          <a:noFill/>
          <a:ln/>
        </p:spPr>
        <p:txBody>
          <a:bodyPr wrap="square" lIns="0" tIns="0" rIns="0" bIns="0" rtlCol="0" anchor="t"/>
          <a:lstStyle/>
          <a:p>
            <a:pPr algn="ctr" indent="0" marL="0">
              <a:buNone/>
            </a:pPr>
            <a:r>
              <a:rPr lang="en-US" sz="1400" dirty="0">
                <a:solidFill>
                  <a:schemeClr val="tx2"/>
                </a:solidFill>
              </a:rPr>
              <a:t>Put round 3 on a trigger and find the best trigger.</a:t>
            </a:r>
            <a:endParaRPr lang="en-US" sz="1400" dirty="0"/>
          </a:p>
        </p:txBody>
      </p:sp>
      <p:sp>
        <p:nvSpPr>
          <p:cNvPr id="24" name="Number"/>
          <p:cNvSpPr/>
          <p:nvPr/>
        </p:nvSpPr>
        <p:spPr>
          <a:xfrm>
            <a:off x="10259294" y="2606040"/>
            <a:ext cx="548640" cy="548640"/>
          </a:xfrm>
          <a:prstGeom prst="ellipse">
            <a:avLst/>
          </a:prstGeom>
          <a:solidFill>
            <a:schemeClr val="accent1"/>
          </a:solidFill>
          <a:ln w="6350">
            <a:solidFill>
              <a:schemeClr val="accent1"/>
            </a:solidFill>
            <a:prstDash val="solid"/>
          </a:ln>
        </p:spPr>
      </p:sp>
      <p:sp>
        <p:nvSpPr>
          <p:cNvPr id="25" name="Text 21"/>
          <p:cNvSpPr txBox="1"/>
          <p:nvPr/>
        </p:nvSpPr>
        <p:spPr>
          <a:xfrm>
            <a:off x="10259294" y="260604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5</a:t>
            </a:r>
            <a:endParaRPr lang="en-US" sz="1600" dirty="0"/>
          </a:p>
        </p:txBody>
      </p:sp>
      <p:sp>
        <p:nvSpPr>
          <p:cNvPr id="26" name="Flow head"/>
          <p:cNvSpPr txBox="1"/>
          <p:nvPr/>
        </p:nvSpPr>
        <p:spPr>
          <a:xfrm>
            <a:off x="9497324" y="3291840"/>
            <a:ext cx="2072579" cy="548640"/>
          </a:xfrm>
          <a:prstGeom prst="rect">
            <a:avLst/>
          </a:prstGeom>
          <a:noFill/>
          <a:ln/>
        </p:spPr>
        <p:txBody>
          <a:bodyPr wrap="square" lIns="0" tIns="0" rIns="0" bIns="0" rtlCol="0" anchor="t"/>
          <a:lstStyle/>
          <a:p>
            <a:pPr algn="ctr" indent="0" marL="0">
              <a:buNone/>
            </a:pPr>
            <a:r>
              <a:rPr lang="en-US" sz="1600" b="1" dirty="0">
                <a:solidFill>
                  <a:schemeClr val="tx1"/>
                </a:solidFill>
                <a:latin typeface="Cambria" pitchFamily="34" charset="0"/>
                <a:ea typeface="Cambria" pitchFamily="34" charset="-122"/>
                <a:cs typeface="Cambria" pitchFamily="34" charset="-120"/>
              </a:rPr>
              <a:t>Certify</a:t>
            </a:r>
            <a:endParaRPr lang="en-US" sz="1600" dirty="0"/>
          </a:p>
        </p:txBody>
      </p:sp>
      <p:sp>
        <p:nvSpPr>
          <p:cNvPr id="27" name="Flow text"/>
          <p:cNvSpPr txBox="1"/>
          <p:nvPr/>
        </p:nvSpPr>
        <p:spPr>
          <a:xfrm>
            <a:off x="9515612" y="3867912"/>
            <a:ext cx="2036003" cy="1554480"/>
          </a:xfrm>
          <a:prstGeom prst="rect">
            <a:avLst/>
          </a:prstGeom>
          <a:noFill/>
          <a:ln/>
        </p:spPr>
        <p:txBody>
          <a:bodyPr wrap="square" lIns="0" tIns="0" rIns="0" bIns="0" rtlCol="0" anchor="t"/>
          <a:lstStyle/>
          <a:p>
            <a:pPr algn="ctr" indent="0" marL="0">
              <a:buNone/>
            </a:pPr>
            <a:r>
              <a:rPr lang="en-US" sz="1400" dirty="0">
                <a:solidFill>
                  <a:schemeClr val="tx2"/>
                </a:solidFill>
              </a:rPr>
              <a:t>Buy margins of appetite, read the region along the closure rate and the spread, set the triggers.</a:t>
            </a:r>
            <a:endParaRPr lang="en-US" sz="1400" dirty="0"/>
          </a:p>
        </p:txBody>
      </p:sp>
      <p:sp>
        <p:nvSpPr>
          <p:cNvPr id="28" name="Deliverable card"/>
          <p:cNvSpPr/>
          <p:nvPr/>
        </p:nvSpPr>
        <p:spPr>
          <a:xfrm>
            <a:off x="548640" y="5486400"/>
            <a:ext cx="11094415" cy="685800"/>
          </a:xfrm>
          <a:prstGeom prst="roundRect">
            <a:avLst>
              <a:gd name="adj" fmla="val 10667"/>
            </a:avLst>
          </a:prstGeom>
          <a:solidFill>
            <a:schemeClr val="bg2"/>
          </a:solidFill>
          <a:ln w="9525">
            <a:solidFill>
              <a:srgbClr val="C4CBD8"/>
            </a:solidFill>
            <a:prstDash val="solid"/>
          </a:ln>
        </p:spPr>
      </p:sp>
      <p:sp>
        <p:nvSpPr>
          <p:cNvPr id="29" name="Deliverable"/>
          <p:cNvSpPr txBox="1"/>
          <p:nvPr/>
        </p:nvSpPr>
        <p:spPr>
          <a:xfrm>
            <a:off x="777240" y="5559552"/>
            <a:ext cx="10637215" cy="539496"/>
          </a:xfrm>
          <a:prstGeom prst="rect">
            <a:avLst/>
          </a:prstGeom>
          <a:noFill/>
          <a:ln/>
        </p:spPr>
        <p:txBody>
          <a:bodyPr wrap="square" lIns="0" tIns="0" rIns="0" bIns="0" rtlCol="0" anchor="ctr"/>
          <a:lstStyle/>
          <a:p>
            <a:pPr indent="0" marL="0">
              <a:buNone/>
            </a:pPr>
            <a:r>
              <a:rPr lang="en-US" sz="1400" b="1" dirty="0">
                <a:solidFill>
                  <a:schemeClr val="tx1"/>
                </a:solidFill>
              </a:rPr>
              <a:t>Deliverable:</a:t>
            </a:r>
            <a:r>
              <a:rPr lang="en-US" sz="1400" dirty="0">
                <a:solidFill>
                  <a:schemeClr val="tx1"/>
                </a:solidFill>
              </a:rPr>
              <a:t> a one-page note to the board: the program, its roadmap with each milestone's reason, its prices, and its certificate chain with the region and the triggers. About 75 minutes.</a:t>
            </a:r>
            <a:endParaRPr lang="en-US" sz="14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KEY TAKEAWAYS</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What to carry forward</a:t>
            </a:r>
            <a:endParaRPr lang="en-US" sz="3200" dirty="0"/>
          </a:p>
        </p:txBody>
      </p:sp>
      <p:sp>
        <p:nvSpPr>
          <p:cNvPr id="5" name="Number"/>
          <p:cNvSpPr/>
          <p:nvPr/>
        </p:nvSpPr>
        <p:spPr>
          <a:xfrm>
            <a:off x="548640" y="1737360"/>
            <a:ext cx="566928" cy="566928"/>
          </a:xfrm>
          <a:prstGeom prst="ellipse">
            <a:avLst/>
          </a:prstGeom>
          <a:solidFill>
            <a:schemeClr val="accent1"/>
          </a:solidFill>
          <a:ln w="6350">
            <a:solidFill>
              <a:schemeClr val="accent1"/>
            </a:solidFill>
            <a:prstDash val="solid"/>
          </a:ln>
        </p:spPr>
      </p:sp>
      <p:sp>
        <p:nvSpPr>
          <p:cNvPr id="6" name="Text 3"/>
          <p:cNvSpPr txBox="1"/>
          <p:nvPr/>
        </p:nvSpPr>
        <p:spPr>
          <a:xfrm>
            <a:off x="548640" y="1737360"/>
            <a:ext cx="566928" cy="566928"/>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1</a:t>
            </a:r>
            <a:endParaRPr lang="en-US" sz="1500" dirty="0"/>
          </a:p>
        </p:txBody>
      </p:sp>
      <p:sp>
        <p:nvSpPr>
          <p:cNvPr id="7" name="Row text"/>
          <p:cNvSpPr txBox="1"/>
          <p:nvPr/>
        </p:nvSpPr>
        <p:spPr>
          <a:xfrm>
            <a:off x="1325880" y="1691640"/>
            <a:ext cx="10317175" cy="841248"/>
          </a:xfrm>
          <a:prstGeom prst="rect">
            <a:avLst/>
          </a:prstGeom>
          <a:noFill/>
          <a:ln/>
        </p:spPr>
        <p:txBody>
          <a:bodyPr wrap="square" lIns="0" tIns="0" rIns="0" bIns="0" rtlCol="0" anchor="ctr"/>
          <a:lstStyle/>
          <a:p>
            <a:pPr indent="0" marL="0">
              <a:buNone/>
            </a:pPr>
            <a:r>
              <a:rPr lang="en-US" sz="1500" dirty="0">
                <a:solidFill>
                  <a:schemeClr val="tx1"/>
                </a:solidFill>
              </a:rPr>
              <a:t>Pieces that share a stock are one program: certify the sum of their claims, not each piece on the whole room.</a:t>
            </a:r>
            <a:endParaRPr lang="en-US" sz="1500" dirty="0"/>
          </a:p>
        </p:txBody>
      </p:sp>
      <p:sp>
        <p:nvSpPr>
          <p:cNvPr id="8" name="Number"/>
          <p:cNvSpPr/>
          <p:nvPr/>
        </p:nvSpPr>
        <p:spPr>
          <a:xfrm>
            <a:off x="548640" y="2633472"/>
            <a:ext cx="566928" cy="566928"/>
          </a:xfrm>
          <a:prstGeom prst="ellipse">
            <a:avLst/>
          </a:prstGeom>
          <a:solidFill>
            <a:schemeClr val="accent1"/>
          </a:solidFill>
          <a:ln w="6350">
            <a:solidFill>
              <a:schemeClr val="accent1"/>
            </a:solidFill>
            <a:prstDash val="solid"/>
          </a:ln>
        </p:spPr>
      </p:sp>
      <p:sp>
        <p:nvSpPr>
          <p:cNvPr id="9" name="Text 6"/>
          <p:cNvSpPr txBox="1"/>
          <p:nvPr/>
        </p:nvSpPr>
        <p:spPr>
          <a:xfrm>
            <a:off x="548640" y="2633472"/>
            <a:ext cx="566928" cy="566928"/>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2</a:t>
            </a:r>
            <a:endParaRPr lang="en-US" sz="1500" dirty="0"/>
          </a:p>
        </p:txBody>
      </p:sp>
      <p:sp>
        <p:nvSpPr>
          <p:cNvPr id="10" name="Row text"/>
          <p:cNvSpPr txBox="1"/>
          <p:nvPr/>
        </p:nvSpPr>
        <p:spPr>
          <a:xfrm>
            <a:off x="1325880" y="2587752"/>
            <a:ext cx="10317175" cy="841248"/>
          </a:xfrm>
          <a:prstGeom prst="rect">
            <a:avLst/>
          </a:prstGeom>
          <a:noFill/>
          <a:ln/>
        </p:spPr>
        <p:txBody>
          <a:bodyPr wrap="square" lIns="0" tIns="0" rIns="0" bIns="0" rtlCol="0" anchor="ctr"/>
          <a:lstStyle/>
          <a:p>
            <a:pPr indent="0" marL="0">
              <a:buNone/>
            </a:pPr>
            <a:r>
              <a:rPr lang="en-US" sz="1500" dirty="0">
                <a:solidFill>
                  <a:schemeClr val="tx1"/>
                </a:solidFill>
              </a:rPr>
              <a:t>Prices on the shared stocks split the program among its owners, and every use of a stock is judged against its price; levers are bought at about the appetite's price and uses that earn less wait.</a:t>
            </a:r>
            <a:endParaRPr lang="en-US" sz="1500" dirty="0"/>
          </a:p>
        </p:txBody>
      </p:sp>
      <p:sp>
        <p:nvSpPr>
          <p:cNvPr id="11" name="Number"/>
          <p:cNvSpPr/>
          <p:nvPr/>
        </p:nvSpPr>
        <p:spPr>
          <a:xfrm>
            <a:off x="548640" y="3529584"/>
            <a:ext cx="566928" cy="566928"/>
          </a:xfrm>
          <a:prstGeom prst="ellipse">
            <a:avLst/>
          </a:prstGeom>
          <a:solidFill>
            <a:schemeClr val="accent1"/>
          </a:solidFill>
          <a:ln w="6350">
            <a:solidFill>
              <a:schemeClr val="accent1"/>
            </a:solidFill>
            <a:prstDash val="solid"/>
          </a:ln>
        </p:spPr>
      </p:sp>
      <p:sp>
        <p:nvSpPr>
          <p:cNvPr id="12" name="Text 9"/>
          <p:cNvSpPr txBox="1"/>
          <p:nvPr/>
        </p:nvSpPr>
        <p:spPr>
          <a:xfrm>
            <a:off x="548640" y="3529584"/>
            <a:ext cx="566928" cy="566928"/>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3</a:t>
            </a:r>
            <a:endParaRPr lang="en-US" sz="1500" dirty="0"/>
          </a:p>
        </p:txBody>
      </p:sp>
      <p:sp>
        <p:nvSpPr>
          <p:cNvPr id="13" name="Row text"/>
          <p:cNvSpPr txBox="1"/>
          <p:nvPr/>
        </p:nvSpPr>
        <p:spPr>
          <a:xfrm>
            <a:off x="1325880" y="3483864"/>
            <a:ext cx="10317175" cy="841248"/>
          </a:xfrm>
          <a:prstGeom prst="rect">
            <a:avLst/>
          </a:prstGeom>
          <a:noFill/>
          <a:ln/>
        </p:spPr>
        <p:txBody>
          <a:bodyPr wrap="square" lIns="0" tIns="0" rIns="0" bIns="0" rtlCol="0" anchor="ctr"/>
          <a:lstStyle/>
          <a:p>
            <a:pPr indent="0" marL="0">
              <a:buNone/>
            </a:pPr>
            <a:r>
              <a:rPr lang="en-US" sz="1500" dirty="0">
                <a:solidFill>
                  <a:schemeClr val="tx1"/>
                </a:solidFill>
              </a:rPr>
              <a:t>Order and timing are computed: what only adds goes first, a feedback core is phased so every phase is stable, and an irreversible move is worth keeping open when its best timing depends on what will be read.</a:t>
            </a:r>
            <a:endParaRPr lang="en-US" sz="1500" dirty="0"/>
          </a:p>
        </p:txBody>
      </p:sp>
      <p:sp>
        <p:nvSpPr>
          <p:cNvPr id="14" name="Number"/>
          <p:cNvSpPr/>
          <p:nvPr/>
        </p:nvSpPr>
        <p:spPr>
          <a:xfrm>
            <a:off x="548640" y="4425696"/>
            <a:ext cx="566928" cy="566928"/>
          </a:xfrm>
          <a:prstGeom prst="ellipse">
            <a:avLst/>
          </a:prstGeom>
          <a:solidFill>
            <a:schemeClr val="accent1"/>
          </a:solidFill>
          <a:ln w="6350">
            <a:solidFill>
              <a:schemeClr val="accent1"/>
            </a:solidFill>
            <a:prstDash val="solid"/>
          </a:ln>
        </p:spPr>
      </p:sp>
      <p:sp>
        <p:nvSpPr>
          <p:cNvPr id="15" name="Text 12"/>
          <p:cNvSpPr txBox="1"/>
          <p:nvPr/>
        </p:nvSpPr>
        <p:spPr>
          <a:xfrm>
            <a:off x="548640" y="4425696"/>
            <a:ext cx="566928" cy="566928"/>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4</a:t>
            </a:r>
            <a:endParaRPr lang="en-US" sz="1500" dirty="0"/>
          </a:p>
        </p:txBody>
      </p:sp>
      <p:sp>
        <p:nvSpPr>
          <p:cNvPr id="16" name="Row text"/>
          <p:cNvSpPr txBox="1"/>
          <p:nvPr/>
        </p:nvSpPr>
        <p:spPr>
          <a:xfrm>
            <a:off x="1325880" y="4379976"/>
            <a:ext cx="10317175" cy="841248"/>
          </a:xfrm>
          <a:prstGeom prst="rect">
            <a:avLst/>
          </a:prstGeom>
          <a:noFill/>
          <a:ln/>
        </p:spPr>
        <p:txBody>
          <a:bodyPr wrap="square" lIns="0" tIns="0" rIns="0" bIns="0" rtlCol="0" anchor="ctr"/>
          <a:lstStyle/>
          <a:p>
            <a:pPr indent="0" marL="0">
              <a:buNone/>
            </a:pPr>
            <a:r>
              <a:rPr lang="en-US" sz="1500" dirty="0">
                <a:solidFill>
                  <a:schemeClr val="tx1"/>
                </a:solidFill>
              </a:rPr>
              <a:t>A certified decision is a program, its certificate chain, and its certified region; an optimized program has no slack, a margin buys a region, and the region's edges are the triggers.</a:t>
            </a:r>
            <a:endParaRPr lang="en-US" sz="1500" dirty="0"/>
          </a:p>
        </p:txBody>
      </p:sp>
      <p:sp>
        <p:nvSpPr>
          <p:cNvPr id="17" name="Number"/>
          <p:cNvSpPr/>
          <p:nvPr/>
        </p:nvSpPr>
        <p:spPr>
          <a:xfrm>
            <a:off x="548640" y="5321808"/>
            <a:ext cx="566928" cy="566928"/>
          </a:xfrm>
          <a:prstGeom prst="ellipse">
            <a:avLst/>
          </a:prstGeom>
          <a:solidFill>
            <a:schemeClr val="accent1"/>
          </a:solidFill>
          <a:ln w="6350">
            <a:solidFill>
              <a:schemeClr val="accent1"/>
            </a:solidFill>
            <a:prstDash val="solid"/>
          </a:ln>
        </p:spPr>
      </p:sp>
      <p:sp>
        <p:nvSpPr>
          <p:cNvPr id="18" name="Text 15"/>
          <p:cNvSpPr txBox="1"/>
          <p:nvPr/>
        </p:nvSpPr>
        <p:spPr>
          <a:xfrm>
            <a:off x="548640" y="5321808"/>
            <a:ext cx="566928" cy="566928"/>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5</a:t>
            </a:r>
            <a:endParaRPr lang="en-US" sz="1500" dirty="0"/>
          </a:p>
        </p:txBody>
      </p:sp>
      <p:sp>
        <p:nvSpPr>
          <p:cNvPr id="19" name="Row text"/>
          <p:cNvSpPr txBox="1"/>
          <p:nvPr/>
        </p:nvSpPr>
        <p:spPr>
          <a:xfrm>
            <a:off x="1325880" y="5276088"/>
            <a:ext cx="10317175" cy="841248"/>
          </a:xfrm>
          <a:prstGeom prst="rect">
            <a:avLst/>
          </a:prstGeom>
          <a:noFill/>
          <a:ln/>
        </p:spPr>
        <p:txBody>
          <a:bodyPr wrap="square" lIns="0" tIns="0" rIns="0" bIns="0" rtlCol="0" anchor="ctr"/>
          <a:lstStyle/>
          <a:p>
            <a:pPr indent="0" marL="0">
              <a:buNone/>
            </a:pPr>
            <a:r>
              <a:rPr lang="en-US" sz="1500" dirty="0">
                <a:solidFill>
                  <a:schemeClr val="tx1"/>
                </a:solidFill>
              </a:rPr>
              <a:t>Meridian's program—sale first, rounds in years 1–3, payouts held, a $21.37 million package—is worth $1,039.41 million; its pieces as certified would breach the floor on 74 percent of paths.</a:t>
            </a:r>
            <a:endParaRPr lang="en-US" sz="15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THIS WEEK'S LABORATORY</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Notebook and workbook reproduce the book</a:t>
            </a:r>
            <a:endParaRPr lang="en-US" sz="3200" dirty="0"/>
          </a:p>
        </p:txBody>
      </p:sp>
      <p:sp>
        <p:nvSpPr>
          <p:cNvPr id="5" name="Stat card"/>
          <p:cNvSpPr/>
          <p:nvPr/>
        </p:nvSpPr>
        <p:spPr>
          <a:xfrm>
            <a:off x="548640" y="1691640"/>
            <a:ext cx="2567864" cy="1691640"/>
          </a:xfrm>
          <a:prstGeom prst="roundRect">
            <a:avLst>
              <a:gd name="adj" fmla="val 4324"/>
            </a:avLst>
          </a:prstGeom>
          <a:solidFill>
            <a:schemeClr val="tx1"/>
          </a:solidFill>
          <a:ln w="9525">
            <a:solidFill>
              <a:srgbClr val="0F1E3D"/>
            </a:solidFill>
            <a:prstDash val="solid"/>
          </a:ln>
        </p:spPr>
      </p:sp>
      <p:sp>
        <p:nvSpPr>
          <p:cNvPr id="6" name="Stat value"/>
          <p:cNvSpPr txBox="1"/>
          <p:nvPr/>
        </p:nvSpPr>
        <p:spPr>
          <a:xfrm>
            <a:off x="685800" y="1801368"/>
            <a:ext cx="2293544" cy="914400"/>
          </a:xfrm>
          <a:prstGeom prst="rect">
            <a:avLst/>
          </a:prstGeom>
          <a:noFill/>
          <a:ln/>
        </p:spPr>
        <p:txBody>
          <a:bodyPr wrap="square" lIns="0" tIns="0" rIns="0" bIns="0" rtlCol="0" anchor="ctr"/>
          <a:lstStyle/>
          <a:p>
            <a:pPr algn="ctr" indent="0" marL="0">
              <a:buNone/>
            </a:pPr>
            <a:r>
              <a:rPr lang="en-US" sz="4400" b="1" dirty="0">
                <a:solidFill>
                  <a:schemeClr val="accent1"/>
                </a:solidFill>
                <a:latin typeface="Cambria" pitchFamily="34" charset="0"/>
                <a:ea typeface="Cambria" pitchFamily="34" charset="-122"/>
                <a:cs typeface="Cambria" pitchFamily="34" charset="-120"/>
              </a:rPr>
              <a:t>203</a:t>
            </a:r>
            <a:endParaRPr lang="en-US" sz="4400" dirty="0"/>
          </a:p>
        </p:txBody>
      </p:sp>
      <p:sp>
        <p:nvSpPr>
          <p:cNvPr id="7" name="Stat label"/>
          <p:cNvSpPr txBox="1"/>
          <p:nvPr/>
        </p:nvSpPr>
        <p:spPr>
          <a:xfrm>
            <a:off x="685800" y="2697480"/>
            <a:ext cx="2293544" cy="612648"/>
          </a:xfrm>
          <a:prstGeom prst="rect">
            <a:avLst/>
          </a:prstGeom>
          <a:noFill/>
          <a:ln/>
        </p:spPr>
        <p:txBody>
          <a:bodyPr wrap="square" lIns="0" tIns="0" rIns="0" bIns="0" rtlCol="0" anchor="t"/>
          <a:lstStyle/>
          <a:p>
            <a:pPr algn="ctr" indent="0" marL="0">
              <a:buNone/>
            </a:pPr>
            <a:r>
              <a:rPr lang="en-US" sz="1400" dirty="0">
                <a:solidFill>
                  <a:schemeClr val="bg2"/>
                </a:solidFill>
              </a:rPr>
              <a:t>notebook checkpoints, every one PASS</a:t>
            </a:r>
            <a:endParaRPr lang="en-US" sz="1400" dirty="0"/>
          </a:p>
        </p:txBody>
      </p:sp>
      <p:sp>
        <p:nvSpPr>
          <p:cNvPr id="8" name="Stat card"/>
          <p:cNvSpPr/>
          <p:nvPr/>
        </p:nvSpPr>
        <p:spPr>
          <a:xfrm>
            <a:off x="3390824" y="1691640"/>
            <a:ext cx="2567864" cy="1691640"/>
          </a:xfrm>
          <a:prstGeom prst="roundRect">
            <a:avLst>
              <a:gd name="adj" fmla="val 4324"/>
            </a:avLst>
          </a:prstGeom>
          <a:solidFill>
            <a:schemeClr val="bg2"/>
          </a:solidFill>
          <a:ln w="9525">
            <a:solidFill>
              <a:srgbClr val="C4CBD8"/>
            </a:solidFill>
            <a:prstDash val="solid"/>
          </a:ln>
        </p:spPr>
      </p:sp>
      <p:sp>
        <p:nvSpPr>
          <p:cNvPr id="9" name="Stat value"/>
          <p:cNvSpPr txBox="1"/>
          <p:nvPr/>
        </p:nvSpPr>
        <p:spPr>
          <a:xfrm>
            <a:off x="3527984" y="1801368"/>
            <a:ext cx="2293544" cy="914400"/>
          </a:xfrm>
          <a:prstGeom prst="rect">
            <a:avLst/>
          </a:prstGeom>
          <a:noFill/>
          <a:ln/>
        </p:spPr>
        <p:txBody>
          <a:bodyPr wrap="square" lIns="0" tIns="0" rIns="0" bIns="0" rtlCol="0" anchor="ctr"/>
          <a:lstStyle/>
          <a:p>
            <a:pPr algn="ctr" indent="0" marL="0">
              <a:buNone/>
            </a:pPr>
            <a:r>
              <a:rPr lang="en-US" sz="4400" b="1" dirty="0">
                <a:solidFill>
                  <a:schemeClr val="tx1"/>
                </a:solidFill>
                <a:latin typeface="Cambria" pitchFamily="34" charset="0"/>
                <a:ea typeface="Cambria" pitchFamily="34" charset="-122"/>
                <a:cs typeface="Cambria" pitchFamily="34" charset="-120"/>
              </a:rPr>
              <a:t>120</a:t>
            </a:r>
            <a:endParaRPr lang="en-US" sz="4400" dirty="0"/>
          </a:p>
        </p:txBody>
      </p:sp>
      <p:sp>
        <p:nvSpPr>
          <p:cNvPr id="10" name="Stat label"/>
          <p:cNvSpPr txBox="1"/>
          <p:nvPr/>
        </p:nvSpPr>
        <p:spPr>
          <a:xfrm>
            <a:off x="3527984" y="2697480"/>
            <a:ext cx="2293544" cy="612648"/>
          </a:xfrm>
          <a:prstGeom prst="rect">
            <a:avLst/>
          </a:prstGeom>
          <a:noFill/>
          <a:ln/>
        </p:spPr>
        <p:txBody>
          <a:bodyPr wrap="square" lIns="0" tIns="0" rIns="0" bIns="0" rtlCol="0" anchor="t"/>
          <a:lstStyle/>
          <a:p>
            <a:pPr algn="ctr" indent="0" marL="0">
              <a:buNone/>
            </a:pPr>
            <a:r>
              <a:rPr lang="en-US" sz="1400" dirty="0">
                <a:solidFill>
                  <a:schemeClr val="tx2"/>
                </a:solidFill>
              </a:rPr>
              <a:t>workbook checks against the engine, ALL PASS</a:t>
            </a:r>
            <a:endParaRPr lang="en-US" sz="1400" dirty="0"/>
          </a:p>
        </p:txBody>
      </p:sp>
      <p:sp>
        <p:nvSpPr>
          <p:cNvPr id="11" name="Stat card"/>
          <p:cNvSpPr/>
          <p:nvPr/>
        </p:nvSpPr>
        <p:spPr>
          <a:xfrm>
            <a:off x="6233008" y="1691640"/>
            <a:ext cx="2567864" cy="1691640"/>
          </a:xfrm>
          <a:prstGeom prst="roundRect">
            <a:avLst>
              <a:gd name="adj" fmla="val 4324"/>
            </a:avLst>
          </a:prstGeom>
          <a:solidFill>
            <a:schemeClr val="bg2"/>
          </a:solidFill>
          <a:ln w="9525">
            <a:solidFill>
              <a:srgbClr val="C4CBD8"/>
            </a:solidFill>
            <a:prstDash val="solid"/>
          </a:ln>
        </p:spPr>
      </p:sp>
      <p:sp>
        <p:nvSpPr>
          <p:cNvPr id="12" name="Stat value"/>
          <p:cNvSpPr txBox="1"/>
          <p:nvPr/>
        </p:nvSpPr>
        <p:spPr>
          <a:xfrm>
            <a:off x="6370168" y="1801368"/>
            <a:ext cx="2293544" cy="914400"/>
          </a:xfrm>
          <a:prstGeom prst="rect">
            <a:avLst/>
          </a:prstGeom>
          <a:noFill/>
          <a:ln/>
        </p:spPr>
        <p:txBody>
          <a:bodyPr wrap="square" lIns="0" tIns="0" rIns="0" bIns="0" rtlCol="0" anchor="ctr"/>
          <a:lstStyle/>
          <a:p>
            <a:pPr algn="ctr" indent="0" marL="0">
              <a:buNone/>
            </a:pPr>
            <a:r>
              <a:rPr lang="en-US" sz="4400" b="1" dirty="0">
                <a:solidFill>
                  <a:schemeClr val="tx1"/>
                </a:solidFill>
                <a:latin typeface="Cambria" pitchFamily="34" charset="0"/>
                <a:ea typeface="Cambria" pitchFamily="34" charset="-122"/>
                <a:cs typeface="Cambria" pitchFamily="34" charset="-120"/>
              </a:rPr>
              <a:t>26216</a:t>
            </a:r>
            <a:endParaRPr lang="en-US" sz="4400" dirty="0"/>
          </a:p>
        </p:txBody>
      </p:sp>
      <p:sp>
        <p:nvSpPr>
          <p:cNvPr id="13" name="Stat label"/>
          <p:cNvSpPr txBox="1"/>
          <p:nvPr/>
        </p:nvSpPr>
        <p:spPr>
          <a:xfrm>
            <a:off x="6370168" y="2697480"/>
            <a:ext cx="2293544" cy="612648"/>
          </a:xfrm>
          <a:prstGeom prst="rect">
            <a:avLst/>
          </a:prstGeom>
          <a:noFill/>
          <a:ln/>
        </p:spPr>
        <p:txBody>
          <a:bodyPr wrap="square" lIns="0" tIns="0" rIns="0" bIns="0" rtlCol="0" anchor="t"/>
          <a:lstStyle/>
          <a:p>
            <a:pPr algn="ctr" indent="0" marL="0">
              <a:buNone/>
            </a:pPr>
            <a:r>
              <a:rPr lang="en-US" sz="1400" dirty="0">
                <a:solidFill>
                  <a:schemeClr val="tx2"/>
                </a:solidFill>
              </a:rPr>
              <a:t>the lab's seed</a:t>
            </a:r>
            <a:endParaRPr lang="en-US" sz="1400" dirty="0"/>
          </a:p>
        </p:txBody>
      </p:sp>
      <p:sp>
        <p:nvSpPr>
          <p:cNvPr id="14" name="Stat card"/>
          <p:cNvSpPr/>
          <p:nvPr/>
        </p:nvSpPr>
        <p:spPr>
          <a:xfrm>
            <a:off x="9075191" y="1691640"/>
            <a:ext cx="2567864" cy="1691640"/>
          </a:xfrm>
          <a:prstGeom prst="roundRect">
            <a:avLst>
              <a:gd name="adj" fmla="val 4324"/>
            </a:avLst>
          </a:prstGeom>
          <a:solidFill>
            <a:schemeClr val="bg2"/>
          </a:solidFill>
          <a:ln w="9525">
            <a:solidFill>
              <a:srgbClr val="C4CBD8"/>
            </a:solidFill>
            <a:prstDash val="solid"/>
          </a:ln>
        </p:spPr>
      </p:sp>
      <p:sp>
        <p:nvSpPr>
          <p:cNvPr id="15" name="Stat value"/>
          <p:cNvSpPr txBox="1"/>
          <p:nvPr/>
        </p:nvSpPr>
        <p:spPr>
          <a:xfrm>
            <a:off x="9212351" y="1801368"/>
            <a:ext cx="2293544" cy="91440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AXIOM-16</a:t>
            </a:r>
            <a:endParaRPr lang="en-US" sz="3000" dirty="0"/>
          </a:p>
        </p:txBody>
      </p:sp>
      <p:sp>
        <p:nvSpPr>
          <p:cNvPr id="16" name="Stat label"/>
          <p:cNvSpPr txBox="1"/>
          <p:nvPr/>
        </p:nvSpPr>
        <p:spPr>
          <a:xfrm>
            <a:off x="9212351" y="2697480"/>
            <a:ext cx="2293544" cy="612648"/>
          </a:xfrm>
          <a:prstGeom prst="rect">
            <a:avLst/>
          </a:prstGeom>
          <a:noFill/>
          <a:ln/>
        </p:spPr>
        <p:txBody>
          <a:bodyPr wrap="square" lIns="0" tIns="0" rIns="0" bIns="0" rtlCol="0" anchor="t"/>
          <a:lstStyle/>
          <a:p>
            <a:pPr algn="ctr" indent="0" marL="0">
              <a:buNone/>
            </a:pPr>
            <a:r>
              <a:rPr lang="en-US" sz="1400" dirty="0">
                <a:solidFill>
                  <a:schemeClr val="tx2"/>
                </a:solidFill>
              </a:rPr>
              <a:t>AXIOM Lab 2.16</a:t>
            </a:r>
            <a:endParaRPr lang="en-US" sz="1400" dirty="0"/>
          </a:p>
        </p:txBody>
      </p:sp>
      <p:sp>
        <p:nvSpPr>
          <p:cNvPr id="17" name="Bullets"/>
          <p:cNvSpPr txBox="1"/>
          <p:nvPr/>
        </p:nvSpPr>
        <p:spPr>
          <a:xfrm>
            <a:off x="548640" y="3703320"/>
            <a:ext cx="11094415" cy="2468880"/>
          </a:xfrm>
          <a:prstGeom prst="rect">
            <a:avLst/>
          </a:prstGeom>
          <a:noFill/>
          <a:ln/>
        </p:spPr>
        <p:txBody>
          <a:bodyPr wrap="square" lIns="635" tIns="635" rIns="635" bIns="635" rtlCol="0" anchor="t"/>
          <a:lstStyle/>
          <a:p>
            <a:pPr marL="228600" indent="-228600">
              <a:spcAft>
                <a:spcPts val="800"/>
              </a:spcAft>
              <a:buSzPct val="100000"/>
              <a:buChar char="•"/>
            </a:pPr>
            <a:r>
              <a:rPr lang="en-US" sz="1700" b="1" dirty="0">
                <a:solidFill>
                  <a:schemeClr val="tx1"/>
                </a:solidFill>
              </a:rPr>
              <a:t>Notebook</a:t>
            </a:r>
            <a:r>
              <a:rPr lang="en-US" sz="1700" dirty="0">
                <a:solidFill>
                  <a:schemeClr val="tx1"/>
                </a:solidFill>
              </a:rPr>
              <a:t> DCT_V2_Ch16_Lab.ipynb: Worked Example 16.1 and the lab's five steps in seven panels, with the book's seeds, ready for Colab</a:t>
            </a:r>
            <a:endParaRPr lang="en-US" sz="1700" dirty="0"/>
          </a:p>
          <a:p>
            <a:pPr marL="228600" indent="-228600">
              <a:spcAft>
                <a:spcPts val="800"/>
              </a:spcAft>
              <a:buSzPct val="100000"/>
              <a:buChar char="•"/>
            </a:pPr>
            <a:r>
              <a:rPr lang="en-US" sz="1700" b="1" dirty="0">
                <a:solidFill>
                  <a:schemeClr val="tx1"/>
                </a:solidFill>
              </a:rPr>
              <a:t>Workbook</a:t>
            </a:r>
            <a:r>
              <a:rPr lang="en-US" sz="1700" dirty="0">
                <a:solidFill>
                  <a:schemeClr val="tx1"/>
                </a:solidFill>
              </a:rPr>
              <a:t> DCT_V2_Ch16_Lab.xlsx: Chapter 5's war chest, the one account and its joint check, every program's value, the prices, the trigger and the core, in formulas</a:t>
            </a:r>
            <a:endParaRPr lang="en-US" sz="17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CLOSE · THE SERIES</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bg1"/>
                </a:solidFill>
                <a:latin typeface="Cambria" pitchFamily="34" charset="0"/>
                <a:ea typeface="Cambria" pitchFamily="34" charset="-122"/>
                <a:cs typeface="Cambria" pitchFamily="34" charset="-120"/>
              </a:rPr>
              <a:t>The loop runs again: re-certify each cycle</a:t>
            </a:r>
            <a:endParaRPr lang="en-US" sz="3200" dirty="0"/>
          </a:p>
        </p:txBody>
      </p:sp>
      <p:pic>
        <p:nvPicPr>
          <p:cNvPr id="5" name="Equation" descr="Equation: \hat\theta_t \in C \;\Rightarrow\; \text{keep the program}; \qquad \hat\theta_t \notin C \text{ or an alarm} \;\Rightarrow\; \text{re-certify}">    </p:cNvPr>
          <p:cNvPicPr>
            <a:picLocks noChangeAspect="1"/>
          </p:cNvPicPr>
          <p:nvPr/>
        </p:nvPicPr>
        <p:blipFill>
          <a:blip r:embed="rId1"/>
          <a:stretch>
            <a:fillRect/>
          </a:stretch>
        </p:blipFill>
        <p:spPr>
          <a:xfrm>
            <a:off x="1218568" y="1691640"/>
            <a:ext cx="9754560" cy="548640"/>
          </a:xfrm>
          <a:prstGeom prst="rect">
            <a:avLst/>
          </a:prstGeom>
        </p:spPr>
      </p:pic>
      <p:sp>
        <p:nvSpPr>
          <p:cNvPr id="6" name="Bullets"/>
          <p:cNvSpPr txBox="1"/>
          <p:nvPr/>
        </p:nvSpPr>
        <p:spPr>
          <a:xfrm>
            <a:off x="548640" y="2560320"/>
            <a:ext cx="11094415" cy="3611880"/>
          </a:xfrm>
          <a:prstGeom prst="rect">
            <a:avLst/>
          </a:prstGeom>
          <a:noFill/>
          <a:ln/>
        </p:spPr>
        <p:txBody>
          <a:bodyPr wrap="square" lIns="635" tIns="635" rIns="635" bIns="635" rtlCol="0" anchor="t"/>
          <a:lstStyle/>
          <a:p>
            <a:pPr marL="228600" indent="-228600">
              <a:spcAft>
                <a:spcPts val="800"/>
              </a:spcAft>
              <a:buSzPct val="100000"/>
              <a:buChar char="•"/>
            </a:pPr>
            <a:r>
              <a:rPr lang="en-US" sz="1800" dirty="0">
                <a:solidFill>
                  <a:schemeClr val="bg1"/>
                </a:solidFill>
              </a:rPr>
              <a:t>Volume I drew the map: seven moves, from Represent to Adapt, run as a loop, with gates that say when a board is ready to optimize</a:t>
            </a:r>
            <a:endParaRPr lang="en-US" sz="1800" dirty="0"/>
          </a:p>
          <a:p>
            <a:pPr marL="228600" indent="-228600">
              <a:spcAft>
                <a:spcPts val="800"/>
              </a:spcAft>
              <a:buSzPct val="100000"/>
              <a:buChar char="•"/>
            </a:pPr>
            <a:r>
              <a:rPr lang="en-US" sz="1800" dirty="0">
                <a:solidFill>
                  <a:schemeClr val="bg1"/>
                </a:solidFill>
              </a:rPr>
              <a:t>Volume II supplied the methods: each piece optimized and certified on its own terms, then signed as one program on one account</a:t>
            </a:r>
            <a:endParaRPr lang="en-US" sz="1800" dirty="0"/>
          </a:p>
          <a:p>
            <a:pPr marL="228600" indent="-228600">
              <a:spcAft>
                <a:spcPts val="800"/>
              </a:spcAft>
              <a:buSzPct val="100000"/>
              <a:buChar char="•"/>
            </a:pPr>
            <a:r>
              <a:rPr lang="en-US" sz="1800" dirty="0">
                <a:solidFill>
                  <a:schemeClr val="bg1"/>
                </a:solidFill>
              </a:rPr>
              <a:t>The program carries its prices, its region and its triggers: when an estimate leaves the region or a monitor alarms, the loop runs again</a:t>
            </a:r>
            <a:endParaRPr lang="en-US" sz="1800" dirty="0"/>
          </a:p>
          <a:p>
            <a:pPr marL="228600" indent="-228600">
              <a:spcAft>
                <a:spcPts val="800"/>
              </a:spcAft>
              <a:buSzPct val="100000"/>
              <a:buChar char="•"/>
            </a:pPr>
            <a:r>
              <a:rPr lang="en-US" sz="1800" dirty="0">
                <a:solidFill>
                  <a:schemeClr val="bg1"/>
                </a:solidFill>
              </a:rPr>
              <a:t>The method travels: every enterprise's program has pieces with owners, shared stocks with room, and commitments with a declared chance</a:t>
            </a:r>
            <a:endParaRPr lang="en-US" sz="18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C4CBD8"/>
                </a:solidFill>
              </a:defRPr>
            </a:lvl1pPr>
          </a:lstStyle>
          <a:p>
            <a:pPr algn="r"/>
            <a:fld id="{F7021451-1387-4CA6-816F-3879F97B5CBC}" type="slidenum">
              <a:rPr b="0" lang="en-US"/>
              <a:t>23</a:t>
            </a:fld>
            <a:endParaRPr lang="en-US"/>
          </a:p>
        </p:txBody>
      </p:sp>
    </p:spTree>
  </p:cSld>
  <p:clrMapOvr>
    <a:masterClrMapping/>
  </p:clrMapOvr>
</p:sld>
</file>

<file path=ppt/theme/theme1.xml><?xml version="1.0" encoding="utf-8"?>
<a:theme xmlns:a="http://schemas.openxmlformats.org/drawingml/2006/main" name="Dynamic Corporate Transformation">
  <a:themeElements>
    <a:clrScheme name="Dynamic Corporate Transformation">
      <a:dk1>
        <a:srgbClr val="0F1E3D"/>
      </a:dk1>
      <a:lt1>
        <a:srgbClr val="FFFFFF"/>
      </a:lt1>
      <a:dk2>
        <a:srgbClr val="5A6B82"/>
      </a:dk2>
      <a:lt2>
        <a:srgbClr val="F7F4ED"/>
      </a:lt2>
      <a:accent1>
        <a:srgbClr val="B4884A"/>
      </a:accent1>
      <a:accent2>
        <a:srgbClr val="2F6F6B"/>
      </a:accent2>
      <a:accent3>
        <a:srgbClr val="8A6A33"/>
      </a:accent3>
      <a:accent4>
        <a:srgbClr val="C4CBD8"/>
      </a:accent4>
      <a:accent5>
        <a:srgbClr val="1F4FD8"/>
      </a:accent5>
      <a:accent6>
        <a:srgbClr val="16263F"/>
      </a:accent6>
      <a:hlink>
        <a:srgbClr val="1F4FD8"/>
      </a:hlink>
      <a:folHlink>
        <a:srgbClr val="5A6B82"/>
      </a:folHlink>
    </a:clrScheme>
    <a:fontScheme name="Dynamic Corporate Transformation">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Dynamic Corporate Transformation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Dynamic Corporate Transformation, Volume II, Chapter 16: Enterprise Applications and Integrated Transformation Case Studies</dc:title>
  <dc:subject>Slides for Volume II, Chapter 16 (V56)</dc:subject>
  <dc:creator>Samir Asaf</dc:creator>
  <cp:lastModifiedBy>Samir Asaf</cp:lastModifiedBy>
  <cp:revision>1</cp:revision>
  <dcterms:created xsi:type="dcterms:W3CDTF">2026-10-06T07:09:20Z</dcterms:created>
  <dcterms:modified xsi:type="dcterms:W3CDTF">2026-10-06T07:09:20Z</dcterms:modified>
</cp:coreProperties>
</file>